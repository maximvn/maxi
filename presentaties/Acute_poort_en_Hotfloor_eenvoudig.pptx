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Vereenvoudigde versie van de presentatie 'Acute poort en Hotfloor'. Doel: iedereen begrijpt in een kwartier wat er speelt. De cijfers en vragen komen uit de oorspronkelijke presentatie; de details staan in de bijlage.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ICU, CCU/SCU/EHH, SEH en kinderspoed werken nu als losse afdelingen. In de nieuwbouw komen ze samen in twee clusters: de acute poort (SEH, kinderspoed en EHH) en de Hotfloor (ICU, CCU en SCU). De EHH is het onderdeel dat van plek wisselt.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SEH: 11 kamers, exclusief triage en gipsplek. Bij drukte wordt ook de POK gebruikt en liggen patiënten soms op de gang. CCU/SCU/EHH: 15 kamers samen, één fysieke afdeling. ICU: 10 kamers. Kinderspoed: aantal kamers onbekend.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Stap 1: data-analyse van instroom, patiëntaanwezigheid en ligduur, rekenmodel, afstemmen met zorgmanager en teammanagers, definitief advies per afdeling. Stap 2: verpleegkundige norm per dienst, roostersleutels, directe en indirecte uren, fte-berekening per afdeling. Stap 3: urenoverzicht per afdeling, opbouw in Ortec, planning door CPP. Stap 4: bruto arbeidsduur volgens de cao, afwezigheid eraf, benodigde uren vanuit BIC naast het beschikbare.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Bruto arbeidsduur volgens de cao: 36 uur per week, 52,17 weken, 1.878 bruto uur per jaar per fte. Afwezigheid volgens begroting: vakantie 144, ziek 75,1, bijzonder verlof 8, PLB 22, feestdagen 50,4: samen 300 uur (15,9%). Netto inzetbaar: 1.579 uur (84,1%). Per medewerker komen daar scholing en werkoverleg nog bij. Overige afwijkingen bovenop de begroting: zwangerschapsverlof, ouderschapsverlof en ziekteverzuim boven de 4%. Het verschil tussen benodigde uren en de bruto beschikbare formatie is de fte-(mis)match die naar de financiële begroting gaat.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Voor geen enkele afdeling is de norm verpleegkundigen vastgesteld (0 van 4). Alleen CCU/SCU/EHH heeft een (versneld) jaarplan. Huidige inzet: ICU en CCU dag, laat, nacht; SEH dag, tussen, laat, nacht. Zonder vastgestelde norm is de personele inzet niet te onderbouwen.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Berekeningen starten in september 2026: aantal bedden op basis van patiëntaanwezigheid, norm verpleegkundigen per dienst en indirecte uren per afdeling. Oudbouw: oktober 2026 tot mei 2027. Verhuizing en nieuwbouw vanaf juni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Huidige situatie: SEH en kinderspoed werken als afzonderlijke onderdelen; CCU, SCU en EHH vormen samen één fysieke afdeling; de ICU is een zelfstandige afdeling voor hoog complexe zorg. Nieuwbouw: de acute poort bundelt SEH, kinderspoed en EHH achter één poort; de Hotfloor bundelt ICU, CCU en SCU.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Acute poort: 18 SEH-kamers (12 reguliere behandelkamers, 3 fasttrack voor bepaalde fracturen, 1 triage, 2 acute opvang zonder verblijf) en 5 EHH-kamers. Kinderspoed nog niet benoemd. Hotfloor: 16 bedden vastgesteld voor ICU en CCU/SCU samen; de verdeling is nog open en is relevant voor de personele inzet. EPA's kind op de SEH.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Vertrekpunt: geen vastgestelde norm en geen vastgestelde roostersleutel. Vraag voor de oudbouw: hoe gaan we samenwerken? Diensten uitruilen, of fysieke patiëntcategorieën al schuiven? Elk scenario raakt twee dingen: de fysieke capaciteit (aantal plekken, type plek, locatie) en de personele inzet (norm en deskundigheid). Na de keuze: week- en dagplan, roostersleutels, planning CPP,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Acute poort: kind, EHH en SEH zijn samen geanalyseerd op dag- en uurniveau; het jaarpatroon laat seizoensinvloed zien. Doel: de zorg passend maken op de fysieke nieuwe SEH. De analyse is gedeeld; welke acties volgen en wie pakt ze op? Hotfloor: past op zestien bedden. Open: weigerkans, EHH-besluit, personele verdeling. Aandachtspunt: hoe snel is duidelijk dat een EHH-patiënt langer dan 4 uur blijft en door moet naar CCU of kliniek? Dat kan het afkappunt zijn voor overplaatsing.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Oorspronkelijk een open vraag; in de notities van de bronpresentatie staat dat de EHH nu voorlopig bij de acute poort is belegd. Omdat de acute poort te krap is, geeft de EHH bij de acute poort ruimte: de acute opvang van de cardiopatiënt gebeurt op een EHH-bed in plaats van een SEH-bed. Belangrijkste vervolgpunt: het afkapmoment/doorplaatsingsmoment van EHH naar CCU (nu 2 uur; scenario's op 4, 6 en 24 uur). Personele inzet: mogelijk één dedicated CCU-verpleegkundige op de EHH met overloop vanuit de SEH met cardio-EPA.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Blokkerend: 1) Waar valt de EHH onder (blokkeert beide analyses en de personele inzet). 2) Hoeveel plekken krijgt de acute poort (de analyse zegt nu: drie stromen passen niet achter één poort). 3) Wie stelt de norm verpleegkundigen vast (alleen de ICU heeft een vastgestelde norm, inclusief recovery; voor stroke is er ook een norm). Urgent: 4) Welk scenario kiezen we (tot die tijd staat het rooster stil). 5) Wat is de weigerkans bij 16 bedden (nu 2,5%). 6) Wat doen we met de knelpunten uit beide analyses.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Oudbouw, transitie en verhuizing: 1) Wat moeten we meenemen uit lopende projecten, of wordt dit later doorgevoerd in de begroting en het jaarplan? 2) Hoe werken de afdelingen nu al toe naar de nieuwbouwsituatie, en welke impact heeft dat op bedden en personeel? 3) Kunnen we de huidige personele inzet van de SEH aanhouden tot de nieuwbouw? 4) Voor de ICU houden we de landelijke norm aan, maar daar zit bij ons ook recovery in. Welke normering hanteren we? 5) Wat is het uitgangspunt voor de AO-dienst? 6) Per september start de regieverpleegkundige: binnen of buiten de zorg, en wat betekent dat voor de indirecte uren? 7) Verhuisperiode: welke extra diensten zijn nodig en op welke locatie?
Nieuwbouw: 1) Waar komt de personele inzet op de EHH vandaan? 2) Afkapmoment van de acute cardiologiepatiënt: nu 2 uur op een SEH-kamer; scenario's op 4, 6 en 24 uur. 3) Doet Remco een uitspraak over de norm, of leggen we de huidige normen aan hem voor? 4) De scope (CCU) wordt anders ingericht: extra dienst overdag, zwaardere late en nacht. 5) Normenkader ICU: maximaal 10% afwijking van dedicated inzet. 6) Indirecte uren: wat houden we aan, en verlaagt de regieverpleegkundige dit? 7) Inzet regieverpleegkundige in de nieuwbouw. 8) Kinderverpleegkundige dedicated of op afroep? 9) EPA's: vereisten voor SEH, verplicht voor ICU en CCU, en wat betekent dat in de praktijk? 10) Acute poule voor CCU/ICU en CCU/SEH (nu alleen ICU/SEH).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Knelpunten uit de sessie: verpleegkundige norm aanbodgericht in plaats van vraaggestuurd; SEH-artsen: inzet verhoogd, begroting niet aangepast; acute poort: wat komt waar; ICU en CCU wijken structureel af van het jaarplan BIC; personele planning loopt niet volledig via CPP; indirecte uren; uitgangspunten en kaders ontbreken; vakantiegoedkeuringen niet integraal en te ruim vrijgegeven (actie: samen met Remco een vakantiegoedkeuring opstellen, 20 tot 25%). Ook: inzet nieuwbouw SEH-arts, verpleegkundige en secretaresses; moeten we ook rekening houden met de inzet van artsen IC/CCU?
Vervolg: simulatie nieuwbouw met volledige ICU-data; simulatie CCU-data exclusief de eerste 2 uur van CCU-patiënten op de SEH; bedden op dagniveau en seizoenspatronen; versneld jaarplan CCU en het document van Daniek (huidig, transitie, nieuwbouw); aftrap jaarplannen Acuut 2027; integratie ICU en CCU; vragen aan Remco: hoort de EHH bij ICU/CCU of SEH, waar is de opvang van de acute cardiologiepatiënt, hoe lang blijft een patiënt op de SEH voor doorstroom naar de EHH; Masterplan Acuut.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83A"/>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274320"/>
          </a:xfrm>
          <a:prstGeom prst="rect">
            <a:avLst/>
          </a:prstGeom>
          <a:noFill/>
          <a:ln/>
        </p:spPr>
        <p:txBody>
          <a:bodyPr wrap="square" lIns="0" tIns="0" rIns="0" bIns="0" rtlCol="0" anchor="ctr"/>
          <a:lstStyle/>
          <a:p>
            <a:pPr indent="0" marL="0">
              <a:buNone/>
            </a:pPr>
            <a:r>
              <a:rPr lang="en-US" sz="1200" b="1" spc="300" kern="0" dirty="0">
                <a:solidFill>
                  <a:srgbClr val="9FB3C8"/>
                </a:solidFill>
                <a:latin typeface="Calibri" pitchFamily="34" charset="0"/>
                <a:ea typeface="Calibri" pitchFamily="34" charset="-122"/>
                <a:cs typeface="Calibri" pitchFamily="34" charset="-120"/>
              </a:rPr>
              <a:t>INTEGRAAL CAPACITEITSMANAGEMENT</a:t>
            </a:r>
            <a:endParaRPr lang="en-US" sz="1200" dirty="0"/>
          </a:p>
        </p:txBody>
      </p:sp>
      <p:sp>
        <p:nvSpPr>
          <p:cNvPr id="3" name="Text 1"/>
          <p:cNvSpPr txBox="1"/>
          <p:nvPr/>
        </p:nvSpPr>
        <p:spPr>
          <a:xfrm>
            <a:off x="548640" y="1554480"/>
            <a:ext cx="8229600" cy="91440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Acute poort en Hotfloor</a:t>
            </a:r>
            <a:endParaRPr lang="en-US" sz="4800" dirty="0"/>
          </a:p>
        </p:txBody>
      </p:sp>
      <p:sp>
        <p:nvSpPr>
          <p:cNvPr id="4" name="Text 2"/>
          <p:cNvSpPr txBox="1"/>
          <p:nvPr/>
        </p:nvSpPr>
        <p:spPr>
          <a:xfrm>
            <a:off x="548640" y="2514600"/>
            <a:ext cx="7498080" cy="822960"/>
          </a:xfrm>
          <a:prstGeom prst="rect">
            <a:avLst/>
          </a:prstGeom>
          <a:noFill/>
          <a:ln/>
        </p:spPr>
        <p:txBody>
          <a:bodyPr wrap="square" lIns="0" tIns="0" rIns="0" bIns="0" rtlCol="0" anchor="ctr"/>
          <a:lstStyle/>
          <a:p>
            <a:pPr indent="0" marL="0">
              <a:buNone/>
            </a:pPr>
            <a:r>
              <a:rPr lang="en-US" sz="1800" dirty="0">
                <a:solidFill>
                  <a:srgbClr val="CBD5E0"/>
                </a:solidFill>
                <a:latin typeface="Calibri" pitchFamily="34" charset="0"/>
                <a:ea typeface="Calibri" pitchFamily="34" charset="-122"/>
                <a:cs typeface="Calibri" pitchFamily="34" charset="-120"/>
              </a:rPr>
              <a:t>De eenvoudige versie: wat gaat er gebeuren, wat weten we, en wat moet er nog besloten worden</a:t>
            </a:r>
            <a:endParaRPr lang="en-US" sz="1800" dirty="0"/>
          </a:p>
        </p:txBody>
      </p:sp>
      <p:sp>
        <p:nvSpPr>
          <p:cNvPr id="5" name="Text 3"/>
          <p:cNvSpPr txBox="1"/>
          <p:nvPr/>
        </p:nvSpPr>
        <p:spPr>
          <a:xfrm>
            <a:off x="548640" y="3383280"/>
            <a:ext cx="7315200" cy="365760"/>
          </a:xfrm>
          <a:prstGeom prst="rect">
            <a:avLst/>
          </a:prstGeom>
          <a:noFill/>
          <a:ln/>
        </p:spPr>
        <p:txBody>
          <a:bodyPr wrap="square" lIns="0" tIns="0" rIns="0" bIns="0" rtlCol="0" anchor="ctr"/>
          <a:lstStyle/>
          <a:p>
            <a:pPr indent="0" marL="0">
              <a:buNone/>
            </a:pPr>
            <a:r>
              <a:rPr lang="en-US" sz="1400" dirty="0">
                <a:solidFill>
                  <a:srgbClr val="9FB3C8"/>
                </a:solidFill>
                <a:latin typeface="Calibri" pitchFamily="34" charset="0"/>
                <a:ea typeface="Calibri" pitchFamily="34" charset="-122"/>
                <a:cs typeface="Calibri" pitchFamily="34" charset="-120"/>
              </a:rPr>
              <a:t>Van de huidige situatie naar de nieuwbouw  ·  juni 2027</a:t>
            </a:r>
            <a:endParaRPr lang="en-US" sz="1400" dirty="0"/>
          </a:p>
        </p:txBody>
      </p:sp>
      <p:sp>
        <p:nvSpPr>
          <p:cNvPr id="6" name="Text 4"/>
          <p:cNvSpPr txBox="1"/>
          <p:nvPr/>
        </p:nvSpPr>
        <p:spPr>
          <a:xfrm>
            <a:off x="548640" y="4572000"/>
            <a:ext cx="3291840" cy="822960"/>
          </a:xfrm>
          <a:prstGeom prst="rect">
            <a:avLst/>
          </a:prstGeom>
          <a:noFill/>
          <a:ln/>
        </p:spPr>
        <p:txBody>
          <a:bodyPr wrap="square" lIns="0" tIns="0" rIns="0" bIns="0" rtlCol="0" anchor="ctr"/>
          <a:lstStyle/>
          <a:p>
            <a:pPr indent="0" marL="0">
              <a:buNone/>
            </a:pPr>
            <a:r>
              <a:rPr lang="en-US" sz="4800" b="1" dirty="0">
                <a:solidFill>
                  <a:srgbClr val="0E7C86"/>
                </a:solidFill>
                <a:latin typeface="Calibri" pitchFamily="34" charset="0"/>
                <a:ea typeface="Calibri" pitchFamily="34" charset="-122"/>
                <a:cs typeface="Calibri" pitchFamily="34" charset="-120"/>
              </a:rPr>
              <a:t>4 → 2</a:t>
            </a:r>
            <a:endParaRPr lang="en-US" sz="4800" dirty="0"/>
          </a:p>
        </p:txBody>
      </p:sp>
      <p:sp>
        <p:nvSpPr>
          <p:cNvPr id="7" name="Text 5"/>
          <p:cNvSpPr txBox="1"/>
          <p:nvPr/>
        </p:nvSpPr>
        <p:spPr>
          <a:xfrm>
            <a:off x="548640" y="5394960"/>
            <a:ext cx="3291840" cy="365760"/>
          </a:xfrm>
          <a:prstGeom prst="rect">
            <a:avLst/>
          </a:prstGeom>
          <a:noFill/>
          <a:ln/>
        </p:spPr>
        <p:txBody>
          <a:bodyPr wrap="square" lIns="0" tIns="0" rIns="0" bIns="0" rtlCol="0" anchor="ctr"/>
          <a:lstStyle/>
          <a:p>
            <a:pPr indent="0" marL="0">
              <a:buNone/>
            </a:pPr>
            <a:r>
              <a:rPr lang="en-US" sz="1400" dirty="0">
                <a:solidFill>
                  <a:srgbClr val="CBD5E0"/>
                </a:solidFill>
                <a:latin typeface="Calibri" pitchFamily="34" charset="0"/>
                <a:ea typeface="Calibri" pitchFamily="34" charset="-122"/>
                <a:cs typeface="Calibri" pitchFamily="34" charset="-120"/>
              </a:rPr>
              <a:t>afdelingen worden clusters</a:t>
            </a:r>
            <a:endParaRPr lang="en-US" sz="1400" dirty="0"/>
          </a:p>
        </p:txBody>
      </p:sp>
      <p:sp>
        <p:nvSpPr>
          <p:cNvPr id="8" name="Text 6"/>
          <p:cNvSpPr txBox="1"/>
          <p:nvPr/>
        </p:nvSpPr>
        <p:spPr>
          <a:xfrm>
            <a:off x="4114800" y="4572000"/>
            <a:ext cx="3291840" cy="822960"/>
          </a:xfrm>
          <a:prstGeom prst="rect">
            <a:avLst/>
          </a:prstGeom>
          <a:noFill/>
          <a:ln/>
        </p:spPr>
        <p:txBody>
          <a:bodyPr wrap="square" lIns="0" tIns="0" rIns="0" bIns="0" rtlCol="0" anchor="ctr"/>
          <a:lstStyle/>
          <a:p>
            <a:pPr indent="0" marL="0">
              <a:buNone/>
            </a:pPr>
            <a:r>
              <a:rPr lang="en-US" sz="4800" b="1" dirty="0">
                <a:solidFill>
                  <a:srgbClr val="E07A1F"/>
                </a:solidFill>
                <a:latin typeface="Calibri" pitchFamily="34" charset="0"/>
                <a:ea typeface="Calibri" pitchFamily="34" charset="-122"/>
                <a:cs typeface="Calibri" pitchFamily="34" charset="-120"/>
              </a:rPr>
              <a:t>6</a:t>
            </a:r>
            <a:endParaRPr lang="en-US" sz="4800" dirty="0"/>
          </a:p>
        </p:txBody>
      </p:sp>
      <p:sp>
        <p:nvSpPr>
          <p:cNvPr id="9" name="Text 7"/>
          <p:cNvSpPr txBox="1"/>
          <p:nvPr/>
        </p:nvSpPr>
        <p:spPr>
          <a:xfrm>
            <a:off x="4114800" y="5394960"/>
            <a:ext cx="3291840" cy="365760"/>
          </a:xfrm>
          <a:prstGeom prst="rect">
            <a:avLst/>
          </a:prstGeom>
          <a:noFill/>
          <a:ln/>
        </p:spPr>
        <p:txBody>
          <a:bodyPr wrap="square" lIns="0" tIns="0" rIns="0" bIns="0" rtlCol="0" anchor="ctr"/>
          <a:lstStyle/>
          <a:p>
            <a:pPr indent="0" marL="0">
              <a:buNone/>
            </a:pPr>
            <a:r>
              <a:rPr lang="en-US" sz="1400" dirty="0">
                <a:solidFill>
                  <a:srgbClr val="CBD5E0"/>
                </a:solidFill>
                <a:latin typeface="Calibri" pitchFamily="34" charset="0"/>
                <a:ea typeface="Calibri" pitchFamily="34" charset="-122"/>
                <a:cs typeface="Calibri" pitchFamily="34" charset="-120"/>
              </a:rPr>
              <a:t>besluiten die wachten</a:t>
            </a:r>
            <a:endParaRPr lang="en-US" sz="1400" dirty="0"/>
          </a:p>
        </p:txBody>
      </p:sp>
      <p:sp>
        <p:nvSpPr>
          <p:cNvPr id="10" name="Text 8"/>
          <p:cNvSpPr txBox="1"/>
          <p:nvPr/>
        </p:nvSpPr>
        <p:spPr>
          <a:xfrm>
            <a:off x="7680960" y="4572000"/>
            <a:ext cx="3291840" cy="822960"/>
          </a:xfrm>
          <a:prstGeom prst="rect">
            <a:avLst/>
          </a:prstGeom>
          <a:noFill/>
          <a:ln/>
        </p:spPr>
        <p:txBody>
          <a:bodyPr wrap="square" lIns="0" tIns="0" rIns="0" bIns="0" rtlCol="0" anchor="ctr"/>
          <a:lstStyle/>
          <a:p>
            <a:pPr indent="0" marL="0">
              <a:buNone/>
            </a:pPr>
            <a:r>
              <a:rPr lang="en-US" sz="4800" b="1" dirty="0">
                <a:solidFill>
                  <a:srgbClr val="9FB3C8"/>
                </a:solidFill>
                <a:latin typeface="Calibri" pitchFamily="34" charset="0"/>
                <a:ea typeface="Calibri" pitchFamily="34" charset="-122"/>
                <a:cs typeface="Calibri" pitchFamily="34" charset="-120"/>
              </a:rPr>
              <a:t>36</a:t>
            </a:r>
            <a:endParaRPr lang="en-US" sz="4800" dirty="0"/>
          </a:p>
        </p:txBody>
      </p:sp>
      <p:sp>
        <p:nvSpPr>
          <p:cNvPr id="11" name="Text 9"/>
          <p:cNvSpPr txBox="1"/>
          <p:nvPr/>
        </p:nvSpPr>
        <p:spPr>
          <a:xfrm>
            <a:off x="7680960" y="5394960"/>
            <a:ext cx="3291840" cy="365760"/>
          </a:xfrm>
          <a:prstGeom prst="rect">
            <a:avLst/>
          </a:prstGeom>
          <a:noFill/>
          <a:ln/>
        </p:spPr>
        <p:txBody>
          <a:bodyPr wrap="square" lIns="0" tIns="0" rIns="0" bIns="0" rtlCol="0" anchor="ctr"/>
          <a:lstStyle/>
          <a:p>
            <a:pPr indent="0" marL="0">
              <a:buNone/>
            </a:pPr>
            <a:r>
              <a:rPr lang="en-US" sz="1400" dirty="0">
                <a:solidFill>
                  <a:srgbClr val="CBD5E0"/>
                </a:solidFill>
                <a:latin typeface="Calibri" pitchFamily="34" charset="0"/>
                <a:ea typeface="Calibri" pitchFamily="34" charset="-122"/>
                <a:cs typeface="Calibri" pitchFamily="34" charset="-120"/>
              </a:rPr>
              <a:t>open vragen</a:t>
            </a:r>
            <a:endParaRPr lang="en-US" sz="1400" dirty="0"/>
          </a:p>
        </p:txBody>
      </p:sp>
      <p:sp>
        <p:nvSpPr>
          <p:cNvPr id="12" name="Shape 10"/>
          <p:cNvSpPr/>
          <p:nvPr/>
        </p:nvSpPr>
        <p:spPr>
          <a:xfrm>
            <a:off x="9144000" y="1737360"/>
            <a:ext cx="2468880" cy="822960"/>
          </a:xfrm>
          <a:prstGeom prst="roundRect">
            <a:avLst>
              <a:gd name="adj" fmla="val 11111"/>
            </a:avLst>
          </a:prstGeom>
          <a:solidFill>
            <a:srgbClr val="0E7C86"/>
          </a:solidFill>
          <a:ln w="12700">
            <a:solidFill>
              <a:srgbClr val="0E7C86"/>
            </a:solidFill>
            <a:prstDash val="solid"/>
          </a:ln>
        </p:spPr>
      </p:sp>
      <p:sp>
        <p:nvSpPr>
          <p:cNvPr id="13" name="Text 11"/>
          <p:cNvSpPr txBox="1"/>
          <p:nvPr/>
        </p:nvSpPr>
        <p:spPr>
          <a:xfrm>
            <a:off x="9144000" y="1737360"/>
            <a:ext cx="2468880" cy="822960"/>
          </a:xfrm>
          <a:prstGeom prst="rect">
            <a:avLst/>
          </a:prstGeom>
          <a:noFill/>
          <a:ln/>
        </p:spPr>
        <p:txBody>
          <a:bodyPr wrap="square" lIns="635" tIns="635" rIns="635" bIns="635"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Acute poort</a:t>
            </a:r>
            <a:endParaRPr lang="en-US" sz="1800" dirty="0"/>
          </a:p>
        </p:txBody>
      </p:sp>
      <p:sp>
        <p:nvSpPr>
          <p:cNvPr id="14" name="Shape 12"/>
          <p:cNvSpPr/>
          <p:nvPr/>
        </p:nvSpPr>
        <p:spPr>
          <a:xfrm>
            <a:off x="9144000" y="2743200"/>
            <a:ext cx="2468880" cy="822960"/>
          </a:xfrm>
          <a:prstGeom prst="roundRect">
            <a:avLst>
              <a:gd name="adj" fmla="val 11111"/>
            </a:avLst>
          </a:prstGeom>
          <a:solidFill>
            <a:srgbClr val="3F4F9B"/>
          </a:solidFill>
          <a:ln w="12700">
            <a:solidFill>
              <a:srgbClr val="3F4F9B"/>
            </a:solidFill>
            <a:prstDash val="solid"/>
          </a:ln>
        </p:spPr>
      </p:sp>
      <p:sp>
        <p:nvSpPr>
          <p:cNvPr id="15" name="Text 13"/>
          <p:cNvSpPr txBox="1"/>
          <p:nvPr/>
        </p:nvSpPr>
        <p:spPr>
          <a:xfrm>
            <a:off x="9144000" y="2743200"/>
            <a:ext cx="2468880" cy="822960"/>
          </a:xfrm>
          <a:prstGeom prst="rect">
            <a:avLst/>
          </a:prstGeom>
          <a:noFill/>
          <a:ln/>
        </p:spPr>
        <p:txBody>
          <a:bodyPr wrap="square" lIns="635" tIns="635" rIns="635" bIns="635"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Hotfloor</a:t>
            </a:r>
            <a:endParaRPr lang="en-US" sz="1800" dirty="0"/>
          </a:p>
        </p:txBody>
      </p:sp>
      <p:sp>
        <p:nvSpPr>
          <p:cNvPr id="16" name="Shape 14"/>
          <p:cNvSpPr/>
          <p:nvPr/>
        </p:nvSpPr>
        <p:spPr>
          <a:xfrm>
            <a:off x="8869680" y="3749040"/>
            <a:ext cx="2743200" cy="822960"/>
          </a:xfrm>
          <a:prstGeom prst="roundRect">
            <a:avLst>
              <a:gd name="adj" fmla="val 11111"/>
            </a:avLst>
          </a:prstGeom>
          <a:solidFill>
            <a:srgbClr val="E07A1F"/>
          </a:solidFill>
          <a:ln w="12700">
            <a:solidFill>
              <a:srgbClr val="E07A1F"/>
            </a:solidFill>
            <a:prstDash val="solid"/>
          </a:ln>
        </p:spPr>
      </p:sp>
      <p:sp>
        <p:nvSpPr>
          <p:cNvPr id="17" name="Text 15"/>
          <p:cNvSpPr txBox="1"/>
          <p:nvPr/>
        </p:nvSpPr>
        <p:spPr>
          <a:xfrm>
            <a:off x="8869680" y="3749040"/>
            <a:ext cx="2743200" cy="822960"/>
          </a:xfrm>
          <a:prstGeom prst="rect">
            <a:avLst/>
          </a:prstGeom>
          <a:noFill/>
          <a:ln/>
        </p:spPr>
        <p:txBody>
          <a:bodyPr wrap="square" lIns="635" tIns="635" rIns="635" bIns="635"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EHH: waar hoort die bij?</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100" b="1" spc="200" kern="0" dirty="0">
                <a:solidFill>
                  <a:srgbClr val="5F6E7F"/>
                </a:solidFill>
                <a:latin typeface="Calibri" pitchFamily="34" charset="0"/>
                <a:ea typeface="Calibri" pitchFamily="34" charset="-122"/>
                <a:cs typeface="Calibri" pitchFamily="34" charset="-120"/>
              </a:rPr>
              <a:t>WAAR GAAT DIT OVER?</a:t>
            </a:r>
            <a:endParaRPr lang="en-US" sz="11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200" b="1" dirty="0">
                <a:solidFill>
                  <a:srgbClr val="12283A"/>
                </a:solidFill>
                <a:latin typeface="Calibri" pitchFamily="34" charset="0"/>
                <a:ea typeface="Calibri" pitchFamily="34" charset="-122"/>
                <a:cs typeface="Calibri" pitchFamily="34" charset="-120"/>
              </a:rPr>
              <a:t>In één zin</a:t>
            </a:r>
            <a:endParaRPr lang="en-US" sz="3200" dirty="0"/>
          </a:p>
        </p:txBody>
      </p:sp>
      <p:sp>
        <p:nvSpPr>
          <p:cNvPr id="4" name="Text 2"/>
          <p:cNvSpPr txBox="1"/>
          <p:nvPr/>
        </p:nvSpPr>
        <p:spPr>
          <a:xfrm>
            <a:off x="548640" y="1298448"/>
            <a:ext cx="11064240" cy="365760"/>
          </a:xfrm>
          <a:prstGeom prst="rect">
            <a:avLst/>
          </a:prstGeom>
          <a:noFill/>
          <a:ln/>
        </p:spPr>
        <p:txBody>
          <a:bodyPr wrap="square" lIns="0" tIns="0" rIns="0" bIns="0" rtlCol="0" anchor="ctr"/>
          <a:lstStyle/>
          <a:p>
            <a:pPr indent="0" marL="0">
              <a:buNone/>
            </a:pPr>
            <a:r>
              <a:rPr lang="en-US" sz="1600" dirty="0">
                <a:solidFill>
                  <a:srgbClr val="5F6E7F"/>
                </a:solidFill>
                <a:latin typeface="Calibri" pitchFamily="34" charset="0"/>
                <a:ea typeface="Calibri" pitchFamily="34" charset="-122"/>
                <a:cs typeface="Calibri" pitchFamily="34" charset="-120"/>
              </a:rPr>
              <a:t>Vier afdelingen verhuizen in juni 2027 naar de nieuwbouw en worden daar twee clusters</a:t>
            </a:r>
            <a:endParaRPr lang="en-US" sz="1600" dirty="0"/>
          </a:p>
        </p:txBody>
      </p:sp>
      <p:sp>
        <p:nvSpPr>
          <p:cNvPr id="5" name="Text 3"/>
          <p:cNvSpPr txBox="1"/>
          <p:nvPr/>
        </p:nvSpPr>
        <p:spPr>
          <a:xfrm>
            <a:off x="548640" y="6419088"/>
            <a:ext cx="4572000" cy="228600"/>
          </a:xfrm>
          <a:prstGeom prst="rect">
            <a:avLst/>
          </a:prstGeom>
          <a:noFill/>
          <a:ln/>
        </p:spPr>
        <p:txBody>
          <a:bodyPr wrap="square" lIns="0" tIns="0" rIns="0" bIns="0" rtlCol="0" anchor="ctr"/>
          <a:lstStyle/>
          <a:p>
            <a:pPr indent="0" marL="0">
              <a:buNone/>
            </a:pPr>
            <a:r>
              <a:rPr lang="en-US" sz="1000" dirty="0">
                <a:solidFill>
                  <a:srgbClr val="8A97A5"/>
                </a:solidFill>
                <a:latin typeface="Calibri" pitchFamily="34" charset="0"/>
                <a:ea typeface="Calibri" pitchFamily="34" charset="-122"/>
                <a:cs typeface="Calibri" pitchFamily="34" charset="-120"/>
              </a:rPr>
              <a:t>Acute poort en Hotfloor</a:t>
            </a:r>
            <a:endParaRPr lang="en-US" sz="1000" dirty="0"/>
          </a:p>
        </p:txBody>
      </p:sp>
      <p:sp>
        <p:nvSpPr>
          <p:cNvPr id="6" name="Text 4"/>
          <p:cNvSpPr txBox="1"/>
          <p:nvPr/>
        </p:nvSpPr>
        <p:spPr>
          <a:xfrm>
            <a:off x="11091672" y="6419088"/>
            <a:ext cx="548640" cy="228600"/>
          </a:xfrm>
          <a:prstGeom prst="rect">
            <a:avLst/>
          </a:prstGeom>
          <a:noFill/>
          <a:ln/>
        </p:spPr>
        <p:txBody>
          <a:bodyPr wrap="square" lIns="0" tIns="0" rIns="0" bIns="0" rtlCol="0" anchor="ctr"/>
          <a:lstStyle/>
          <a:p>
            <a:pPr algn="r" indent="0" marL="0">
              <a:buNone/>
            </a:pPr>
            <a:r>
              <a:rPr lang="en-US" sz="1000" dirty="0">
                <a:solidFill>
                  <a:srgbClr val="8A97A5"/>
                </a:solidFill>
                <a:latin typeface="Calibri" pitchFamily="34" charset="0"/>
                <a:ea typeface="Calibri" pitchFamily="34" charset="-122"/>
                <a:cs typeface="Calibri" pitchFamily="34" charset="-120"/>
              </a:rPr>
              <a:t>2</a:t>
            </a:r>
            <a:endParaRPr lang="en-US" sz="1000" dirty="0"/>
          </a:p>
        </p:txBody>
      </p:sp>
      <p:sp>
        <p:nvSpPr>
          <p:cNvPr id="7" name="Text 5"/>
          <p:cNvSpPr txBox="1"/>
          <p:nvPr/>
        </p:nvSpPr>
        <p:spPr>
          <a:xfrm>
            <a:off x="548640" y="1965960"/>
            <a:ext cx="2743200" cy="274320"/>
          </a:xfrm>
          <a:prstGeom prst="rect">
            <a:avLst/>
          </a:prstGeom>
          <a:noFill/>
          <a:ln/>
        </p:spPr>
        <p:txBody>
          <a:bodyPr wrap="square" lIns="0" tIns="0" rIns="0" bIns="0" rtlCol="0" anchor="ctr"/>
          <a:lstStyle/>
          <a:p>
            <a:pPr indent="0" marL="0">
              <a:buNone/>
            </a:pPr>
            <a:r>
              <a:rPr lang="en-US" sz="1200" b="1" spc="200" kern="0" dirty="0">
                <a:solidFill>
                  <a:srgbClr val="5F6E7F"/>
                </a:solidFill>
                <a:latin typeface="Calibri" pitchFamily="34" charset="0"/>
                <a:ea typeface="Calibri" pitchFamily="34" charset="-122"/>
                <a:cs typeface="Calibri" pitchFamily="34" charset="-120"/>
              </a:rPr>
              <a:t>NU</a:t>
            </a:r>
            <a:endParaRPr lang="en-US" sz="1200" dirty="0"/>
          </a:p>
        </p:txBody>
      </p:sp>
      <p:sp>
        <p:nvSpPr>
          <p:cNvPr id="8" name="Shape 6"/>
          <p:cNvSpPr/>
          <p:nvPr/>
        </p:nvSpPr>
        <p:spPr>
          <a:xfrm>
            <a:off x="548640" y="2331720"/>
            <a:ext cx="3291840" cy="640080"/>
          </a:xfrm>
          <a:prstGeom prst="roundRect">
            <a:avLst>
              <a:gd name="adj" fmla="val 14286"/>
            </a:avLst>
          </a:prstGeom>
          <a:solidFill>
            <a:srgbClr val="3F4F9B"/>
          </a:solidFill>
          <a:ln w="12700">
            <a:solidFill>
              <a:srgbClr val="3F4F9B"/>
            </a:solidFill>
            <a:prstDash val="solid"/>
          </a:ln>
        </p:spPr>
      </p:sp>
      <p:sp>
        <p:nvSpPr>
          <p:cNvPr id="9" name="Text 7"/>
          <p:cNvSpPr txBox="1"/>
          <p:nvPr/>
        </p:nvSpPr>
        <p:spPr>
          <a:xfrm>
            <a:off x="548640" y="2331720"/>
            <a:ext cx="3291840" cy="640080"/>
          </a:xfrm>
          <a:prstGeom prst="rect">
            <a:avLst/>
          </a:prstGeom>
          <a:noFill/>
          <a:ln/>
        </p:spPr>
        <p:txBody>
          <a:bodyPr wrap="square" lIns="635" tIns="635" rIns="635" bIns="635"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ICU</a:t>
            </a:r>
            <a:endParaRPr lang="en-US" sz="1600" dirty="0"/>
          </a:p>
        </p:txBody>
      </p:sp>
      <p:sp>
        <p:nvSpPr>
          <p:cNvPr id="10" name="Shape 8"/>
          <p:cNvSpPr/>
          <p:nvPr/>
        </p:nvSpPr>
        <p:spPr>
          <a:xfrm>
            <a:off x="548640" y="3108960"/>
            <a:ext cx="3291840" cy="640080"/>
          </a:xfrm>
          <a:prstGeom prst="roundRect">
            <a:avLst>
              <a:gd name="adj" fmla="val 14286"/>
            </a:avLst>
          </a:prstGeom>
          <a:solidFill>
            <a:srgbClr val="3F4F9B"/>
          </a:solidFill>
          <a:ln w="12700">
            <a:solidFill>
              <a:srgbClr val="3F4F9B"/>
            </a:solidFill>
            <a:prstDash val="solid"/>
          </a:ln>
        </p:spPr>
      </p:sp>
      <p:sp>
        <p:nvSpPr>
          <p:cNvPr id="11" name="Text 9"/>
          <p:cNvSpPr txBox="1"/>
          <p:nvPr/>
        </p:nvSpPr>
        <p:spPr>
          <a:xfrm>
            <a:off x="548640" y="3108960"/>
            <a:ext cx="3291840" cy="640080"/>
          </a:xfrm>
          <a:prstGeom prst="rect">
            <a:avLst/>
          </a:prstGeom>
          <a:noFill/>
          <a:ln/>
        </p:spPr>
        <p:txBody>
          <a:bodyPr wrap="square" lIns="635" tIns="635" rIns="635" bIns="635"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CCU / SCU / EHH</a:t>
            </a:r>
            <a:endParaRPr lang="en-US" sz="1600" dirty="0"/>
          </a:p>
        </p:txBody>
      </p:sp>
      <p:sp>
        <p:nvSpPr>
          <p:cNvPr id="12" name="Shape 10"/>
          <p:cNvSpPr/>
          <p:nvPr/>
        </p:nvSpPr>
        <p:spPr>
          <a:xfrm>
            <a:off x="548640" y="3886200"/>
            <a:ext cx="3291840" cy="640080"/>
          </a:xfrm>
          <a:prstGeom prst="roundRect">
            <a:avLst>
              <a:gd name="adj" fmla="val 14286"/>
            </a:avLst>
          </a:prstGeom>
          <a:solidFill>
            <a:srgbClr val="0E7C86"/>
          </a:solidFill>
          <a:ln w="12700">
            <a:solidFill>
              <a:srgbClr val="0E7C86"/>
            </a:solidFill>
            <a:prstDash val="solid"/>
          </a:ln>
        </p:spPr>
      </p:sp>
      <p:sp>
        <p:nvSpPr>
          <p:cNvPr id="13" name="Text 11"/>
          <p:cNvSpPr txBox="1"/>
          <p:nvPr/>
        </p:nvSpPr>
        <p:spPr>
          <a:xfrm>
            <a:off x="548640" y="3886200"/>
            <a:ext cx="3291840" cy="640080"/>
          </a:xfrm>
          <a:prstGeom prst="rect">
            <a:avLst/>
          </a:prstGeom>
          <a:noFill/>
          <a:ln/>
        </p:spPr>
        <p:txBody>
          <a:bodyPr wrap="square" lIns="635" tIns="635" rIns="635" bIns="635"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SEH</a:t>
            </a:r>
            <a:endParaRPr lang="en-US" sz="1600" dirty="0"/>
          </a:p>
        </p:txBody>
      </p:sp>
      <p:sp>
        <p:nvSpPr>
          <p:cNvPr id="14" name="Shape 12"/>
          <p:cNvSpPr/>
          <p:nvPr/>
        </p:nvSpPr>
        <p:spPr>
          <a:xfrm>
            <a:off x="548640" y="4663440"/>
            <a:ext cx="3291840" cy="640080"/>
          </a:xfrm>
          <a:prstGeom prst="roundRect">
            <a:avLst>
              <a:gd name="adj" fmla="val 14286"/>
            </a:avLst>
          </a:prstGeom>
          <a:solidFill>
            <a:srgbClr val="0E7C86"/>
          </a:solidFill>
          <a:ln w="12700">
            <a:solidFill>
              <a:srgbClr val="0E7C86"/>
            </a:solidFill>
            <a:prstDash val="solid"/>
          </a:ln>
        </p:spPr>
      </p:sp>
      <p:sp>
        <p:nvSpPr>
          <p:cNvPr id="15" name="Text 13"/>
          <p:cNvSpPr txBox="1"/>
          <p:nvPr/>
        </p:nvSpPr>
        <p:spPr>
          <a:xfrm>
            <a:off x="548640" y="4663440"/>
            <a:ext cx="3291840" cy="640080"/>
          </a:xfrm>
          <a:prstGeom prst="rect">
            <a:avLst/>
          </a:prstGeom>
          <a:noFill/>
          <a:ln/>
        </p:spPr>
        <p:txBody>
          <a:bodyPr wrap="square" lIns="635" tIns="635" rIns="635" bIns="635"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Kind spoed</a:t>
            </a:r>
            <a:endParaRPr lang="en-US" sz="1600" dirty="0"/>
          </a:p>
        </p:txBody>
      </p:sp>
      <p:sp>
        <p:nvSpPr>
          <p:cNvPr id="16" name="Shape 14"/>
          <p:cNvSpPr/>
          <p:nvPr/>
        </p:nvSpPr>
        <p:spPr>
          <a:xfrm>
            <a:off x="4297680" y="3337560"/>
            <a:ext cx="1097280" cy="640080"/>
          </a:xfrm>
          <a:prstGeom prst="rightArrow">
            <a:avLst/>
          </a:prstGeom>
          <a:solidFill>
            <a:srgbClr val="E1E6EB"/>
          </a:solidFill>
          <a:ln w="12700">
            <a:solidFill>
              <a:srgbClr val="E1E6EB"/>
            </a:solidFill>
            <a:prstDash val="solid"/>
          </a:ln>
        </p:spPr>
      </p:sp>
      <p:sp>
        <p:nvSpPr>
          <p:cNvPr id="17" name="Text 15"/>
          <p:cNvSpPr txBox="1"/>
          <p:nvPr/>
        </p:nvSpPr>
        <p:spPr>
          <a:xfrm>
            <a:off x="5760720" y="1965960"/>
            <a:ext cx="4572000" cy="274320"/>
          </a:xfrm>
          <a:prstGeom prst="rect">
            <a:avLst/>
          </a:prstGeom>
          <a:noFill/>
          <a:ln/>
        </p:spPr>
        <p:txBody>
          <a:bodyPr wrap="square" lIns="0" tIns="0" rIns="0" bIns="0" rtlCol="0" anchor="ctr"/>
          <a:lstStyle/>
          <a:p>
            <a:pPr indent="0" marL="0">
              <a:buNone/>
            </a:pPr>
            <a:r>
              <a:rPr lang="en-US" sz="1200" b="1" spc="200" kern="0" dirty="0">
                <a:solidFill>
                  <a:srgbClr val="5F6E7F"/>
                </a:solidFill>
                <a:latin typeface="Calibri" pitchFamily="34" charset="0"/>
                <a:ea typeface="Calibri" pitchFamily="34" charset="-122"/>
                <a:cs typeface="Calibri" pitchFamily="34" charset="-120"/>
              </a:rPr>
              <a:t>STRAKS (VANAF JUNI 2027)</a:t>
            </a:r>
            <a:endParaRPr lang="en-US" sz="1200" dirty="0"/>
          </a:p>
        </p:txBody>
      </p:sp>
      <p:sp>
        <p:nvSpPr>
          <p:cNvPr id="18" name="Shape 16"/>
          <p:cNvSpPr/>
          <p:nvPr/>
        </p:nvSpPr>
        <p:spPr>
          <a:xfrm>
            <a:off x="5760720" y="2331720"/>
            <a:ext cx="5852160" cy="1417320"/>
          </a:xfrm>
          <a:prstGeom prst="roundRect">
            <a:avLst>
              <a:gd name="adj" fmla="val 7742"/>
            </a:avLst>
          </a:prstGeom>
          <a:solidFill>
            <a:srgbClr val="DCEFF1"/>
          </a:solidFill>
          <a:ln w="12700">
            <a:solidFill>
              <a:srgbClr val="DCEFF1"/>
            </a:solidFill>
            <a:prstDash val="solid"/>
          </a:ln>
        </p:spPr>
      </p:sp>
      <p:sp>
        <p:nvSpPr>
          <p:cNvPr id="19" name="Text 17"/>
          <p:cNvSpPr txBox="1"/>
          <p:nvPr/>
        </p:nvSpPr>
        <p:spPr>
          <a:xfrm>
            <a:off x="5989320" y="2423160"/>
            <a:ext cx="2743200" cy="365760"/>
          </a:xfrm>
          <a:prstGeom prst="rect">
            <a:avLst/>
          </a:prstGeom>
          <a:noFill/>
          <a:ln/>
        </p:spPr>
        <p:txBody>
          <a:bodyPr wrap="square" lIns="0" tIns="0" rIns="0" bIns="0" rtlCol="0" anchor="ctr"/>
          <a:lstStyle/>
          <a:p>
            <a:pPr indent="0" marL="0">
              <a:buNone/>
            </a:pPr>
            <a:r>
              <a:rPr lang="en-US" sz="1800" b="1" dirty="0">
                <a:solidFill>
                  <a:srgbClr val="0E7C86"/>
                </a:solidFill>
                <a:latin typeface="Calibri" pitchFamily="34" charset="0"/>
                <a:ea typeface="Calibri" pitchFamily="34" charset="-122"/>
                <a:cs typeface="Calibri" pitchFamily="34" charset="-120"/>
              </a:rPr>
              <a:t>Acute poort</a:t>
            </a:r>
            <a:endParaRPr lang="en-US" sz="1800" dirty="0"/>
          </a:p>
        </p:txBody>
      </p:sp>
      <p:sp>
        <p:nvSpPr>
          <p:cNvPr id="20" name="Text 18"/>
          <p:cNvSpPr txBox="1"/>
          <p:nvPr/>
        </p:nvSpPr>
        <p:spPr>
          <a:xfrm>
            <a:off x="5989320" y="2743200"/>
            <a:ext cx="2926080" cy="274320"/>
          </a:xfrm>
          <a:prstGeom prst="rect">
            <a:avLst/>
          </a:prstGeom>
          <a:noFill/>
          <a:ln/>
        </p:spPr>
        <p:txBody>
          <a:bodyPr wrap="square" lIns="0" tIns="0" rIns="0" bIns="0" rtlCol="0" anchor="ctr"/>
          <a:lstStyle/>
          <a:p>
            <a:pPr indent="0" marL="0">
              <a:buNone/>
            </a:pPr>
            <a:r>
              <a:rPr lang="en-US" sz="1200" dirty="0">
                <a:solidFill>
                  <a:srgbClr val="5F6E7F"/>
                </a:solidFill>
                <a:latin typeface="Calibri" pitchFamily="34" charset="0"/>
                <a:ea typeface="Calibri" pitchFamily="34" charset="-122"/>
                <a:cs typeface="Calibri" pitchFamily="34" charset="-120"/>
              </a:rPr>
              <a:t>alles wat met spoed binnenkomt</a:t>
            </a:r>
            <a:endParaRPr lang="en-US" sz="1200" dirty="0"/>
          </a:p>
        </p:txBody>
      </p:sp>
      <p:sp>
        <p:nvSpPr>
          <p:cNvPr id="21" name="Shape 19"/>
          <p:cNvSpPr/>
          <p:nvPr/>
        </p:nvSpPr>
        <p:spPr>
          <a:xfrm>
            <a:off x="5989320" y="3108960"/>
            <a:ext cx="1280160" cy="457200"/>
          </a:xfrm>
          <a:prstGeom prst="roundRect">
            <a:avLst>
              <a:gd name="adj" fmla="val 20000"/>
            </a:avLst>
          </a:prstGeom>
          <a:solidFill>
            <a:srgbClr val="0E7C86"/>
          </a:solidFill>
          <a:ln w="12700">
            <a:solidFill>
              <a:srgbClr val="0E7C86"/>
            </a:solidFill>
            <a:prstDash val="solid"/>
          </a:ln>
        </p:spPr>
      </p:sp>
      <p:sp>
        <p:nvSpPr>
          <p:cNvPr id="22" name="Text 20"/>
          <p:cNvSpPr txBox="1"/>
          <p:nvPr/>
        </p:nvSpPr>
        <p:spPr>
          <a:xfrm>
            <a:off x="5989320" y="3108960"/>
            <a:ext cx="1280160" cy="45720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SEH</a:t>
            </a:r>
            <a:endParaRPr lang="en-US" sz="1200" dirty="0"/>
          </a:p>
        </p:txBody>
      </p:sp>
      <p:sp>
        <p:nvSpPr>
          <p:cNvPr id="23" name="Shape 21"/>
          <p:cNvSpPr/>
          <p:nvPr/>
        </p:nvSpPr>
        <p:spPr>
          <a:xfrm>
            <a:off x="7360920" y="3108960"/>
            <a:ext cx="1463040" cy="457200"/>
          </a:xfrm>
          <a:prstGeom prst="roundRect">
            <a:avLst>
              <a:gd name="adj" fmla="val 20000"/>
            </a:avLst>
          </a:prstGeom>
          <a:solidFill>
            <a:srgbClr val="0E7C86"/>
          </a:solidFill>
          <a:ln w="12700">
            <a:solidFill>
              <a:srgbClr val="0E7C86"/>
            </a:solidFill>
            <a:prstDash val="solid"/>
          </a:ln>
        </p:spPr>
      </p:sp>
      <p:sp>
        <p:nvSpPr>
          <p:cNvPr id="24" name="Text 22"/>
          <p:cNvSpPr txBox="1"/>
          <p:nvPr/>
        </p:nvSpPr>
        <p:spPr>
          <a:xfrm>
            <a:off x="7360920" y="3108960"/>
            <a:ext cx="1463040" cy="45720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Kind spoed</a:t>
            </a:r>
            <a:endParaRPr lang="en-US" sz="1200" dirty="0"/>
          </a:p>
        </p:txBody>
      </p:sp>
      <p:sp>
        <p:nvSpPr>
          <p:cNvPr id="25" name="Shape 23"/>
          <p:cNvSpPr/>
          <p:nvPr/>
        </p:nvSpPr>
        <p:spPr>
          <a:xfrm>
            <a:off x="8915400" y="3108960"/>
            <a:ext cx="1280160" cy="457200"/>
          </a:xfrm>
          <a:prstGeom prst="roundRect">
            <a:avLst>
              <a:gd name="adj" fmla="val 20000"/>
            </a:avLst>
          </a:prstGeom>
          <a:solidFill>
            <a:srgbClr val="E07A1F"/>
          </a:solidFill>
          <a:ln w="12700">
            <a:solidFill>
              <a:srgbClr val="E07A1F"/>
            </a:solidFill>
            <a:prstDash val="solid"/>
          </a:ln>
        </p:spPr>
      </p:sp>
      <p:sp>
        <p:nvSpPr>
          <p:cNvPr id="26" name="Text 24"/>
          <p:cNvSpPr txBox="1"/>
          <p:nvPr/>
        </p:nvSpPr>
        <p:spPr>
          <a:xfrm>
            <a:off x="8915400" y="3108960"/>
            <a:ext cx="1280160" cy="45720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EHH</a:t>
            </a:r>
            <a:endParaRPr lang="en-US" sz="1200" dirty="0"/>
          </a:p>
        </p:txBody>
      </p:sp>
      <p:sp>
        <p:nvSpPr>
          <p:cNvPr id="27" name="Shape 25"/>
          <p:cNvSpPr/>
          <p:nvPr/>
        </p:nvSpPr>
        <p:spPr>
          <a:xfrm>
            <a:off x="5760720" y="3931920"/>
            <a:ext cx="5852160" cy="1417320"/>
          </a:xfrm>
          <a:prstGeom prst="roundRect">
            <a:avLst>
              <a:gd name="adj" fmla="val 7742"/>
            </a:avLst>
          </a:prstGeom>
          <a:solidFill>
            <a:srgbClr val="E2E6F5"/>
          </a:solidFill>
          <a:ln w="12700">
            <a:solidFill>
              <a:srgbClr val="E2E6F5"/>
            </a:solidFill>
            <a:prstDash val="solid"/>
          </a:ln>
        </p:spPr>
      </p:sp>
      <p:sp>
        <p:nvSpPr>
          <p:cNvPr id="28" name="Text 26"/>
          <p:cNvSpPr txBox="1"/>
          <p:nvPr/>
        </p:nvSpPr>
        <p:spPr>
          <a:xfrm>
            <a:off x="5989320" y="4023360"/>
            <a:ext cx="2743200" cy="365760"/>
          </a:xfrm>
          <a:prstGeom prst="rect">
            <a:avLst/>
          </a:prstGeom>
          <a:noFill/>
          <a:ln/>
        </p:spPr>
        <p:txBody>
          <a:bodyPr wrap="square" lIns="0" tIns="0" rIns="0" bIns="0" rtlCol="0" anchor="ctr"/>
          <a:lstStyle/>
          <a:p>
            <a:pPr indent="0" marL="0">
              <a:buNone/>
            </a:pPr>
            <a:r>
              <a:rPr lang="en-US" sz="1800" b="1" dirty="0">
                <a:solidFill>
                  <a:srgbClr val="3F4F9B"/>
                </a:solidFill>
                <a:latin typeface="Calibri" pitchFamily="34" charset="0"/>
                <a:ea typeface="Calibri" pitchFamily="34" charset="-122"/>
                <a:cs typeface="Calibri" pitchFamily="34" charset="-120"/>
              </a:rPr>
              <a:t>Hotfloor</a:t>
            </a:r>
            <a:endParaRPr lang="en-US" sz="1800" dirty="0"/>
          </a:p>
        </p:txBody>
      </p:sp>
      <p:sp>
        <p:nvSpPr>
          <p:cNvPr id="29" name="Text 27"/>
          <p:cNvSpPr txBox="1"/>
          <p:nvPr/>
        </p:nvSpPr>
        <p:spPr>
          <a:xfrm>
            <a:off x="5989320" y="4343400"/>
            <a:ext cx="2926080" cy="274320"/>
          </a:xfrm>
          <a:prstGeom prst="rect">
            <a:avLst/>
          </a:prstGeom>
          <a:noFill/>
          <a:ln/>
        </p:spPr>
        <p:txBody>
          <a:bodyPr wrap="square" lIns="0" tIns="0" rIns="0" bIns="0" rtlCol="0" anchor="ctr"/>
          <a:lstStyle/>
          <a:p>
            <a:pPr indent="0" marL="0">
              <a:buNone/>
            </a:pPr>
            <a:r>
              <a:rPr lang="en-US" sz="1200" dirty="0">
                <a:solidFill>
                  <a:srgbClr val="5F6E7F"/>
                </a:solidFill>
                <a:latin typeface="Calibri" pitchFamily="34" charset="0"/>
                <a:ea typeface="Calibri" pitchFamily="34" charset="-122"/>
                <a:cs typeface="Calibri" pitchFamily="34" charset="-120"/>
              </a:rPr>
              <a:t>alle bewakingszorg op één vloer</a:t>
            </a:r>
            <a:endParaRPr lang="en-US" sz="1200" dirty="0"/>
          </a:p>
        </p:txBody>
      </p:sp>
      <p:sp>
        <p:nvSpPr>
          <p:cNvPr id="30" name="Shape 28"/>
          <p:cNvSpPr/>
          <p:nvPr/>
        </p:nvSpPr>
        <p:spPr>
          <a:xfrm>
            <a:off x="5989320" y="4709160"/>
            <a:ext cx="1280160" cy="457200"/>
          </a:xfrm>
          <a:prstGeom prst="roundRect">
            <a:avLst>
              <a:gd name="adj" fmla="val 20000"/>
            </a:avLst>
          </a:prstGeom>
          <a:solidFill>
            <a:srgbClr val="3F4F9B"/>
          </a:solidFill>
          <a:ln w="12700">
            <a:solidFill>
              <a:srgbClr val="3F4F9B"/>
            </a:solidFill>
            <a:prstDash val="solid"/>
          </a:ln>
        </p:spPr>
      </p:sp>
      <p:sp>
        <p:nvSpPr>
          <p:cNvPr id="31" name="Text 29"/>
          <p:cNvSpPr txBox="1"/>
          <p:nvPr/>
        </p:nvSpPr>
        <p:spPr>
          <a:xfrm>
            <a:off x="5989320" y="4709160"/>
            <a:ext cx="1280160" cy="45720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ICU</a:t>
            </a:r>
            <a:endParaRPr lang="en-US" sz="1200" dirty="0"/>
          </a:p>
        </p:txBody>
      </p:sp>
      <p:sp>
        <p:nvSpPr>
          <p:cNvPr id="32" name="Shape 30"/>
          <p:cNvSpPr/>
          <p:nvPr/>
        </p:nvSpPr>
        <p:spPr>
          <a:xfrm>
            <a:off x="7360920" y="4709160"/>
            <a:ext cx="1645920" cy="457200"/>
          </a:xfrm>
          <a:prstGeom prst="roundRect">
            <a:avLst>
              <a:gd name="adj" fmla="val 20000"/>
            </a:avLst>
          </a:prstGeom>
          <a:solidFill>
            <a:srgbClr val="3F4F9B"/>
          </a:solidFill>
          <a:ln w="12700">
            <a:solidFill>
              <a:srgbClr val="3F4F9B"/>
            </a:solidFill>
            <a:prstDash val="solid"/>
          </a:ln>
        </p:spPr>
      </p:sp>
      <p:sp>
        <p:nvSpPr>
          <p:cNvPr id="33" name="Text 31"/>
          <p:cNvSpPr txBox="1"/>
          <p:nvPr/>
        </p:nvSpPr>
        <p:spPr>
          <a:xfrm>
            <a:off x="7360920" y="4709160"/>
            <a:ext cx="1645920" cy="45720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CCU / SCU</a:t>
            </a:r>
            <a:endParaRPr lang="en-US" sz="1200" dirty="0"/>
          </a:p>
        </p:txBody>
      </p:sp>
      <p:sp>
        <p:nvSpPr>
          <p:cNvPr id="34" name="Shape 32"/>
          <p:cNvSpPr/>
          <p:nvPr/>
        </p:nvSpPr>
        <p:spPr>
          <a:xfrm>
            <a:off x="548640" y="5532120"/>
            <a:ext cx="11094415" cy="777240"/>
          </a:xfrm>
          <a:prstGeom prst="roundRect">
            <a:avLst>
              <a:gd name="adj" fmla="val 14118"/>
            </a:avLst>
          </a:prstGeom>
          <a:solidFill>
            <a:srgbClr val="FCE9D9"/>
          </a:solidFill>
          <a:ln w="12700">
            <a:solidFill>
              <a:srgbClr val="FCE9D9"/>
            </a:solidFill>
            <a:prstDash val="solid"/>
          </a:ln>
        </p:spPr>
      </p:sp>
      <p:sp>
        <p:nvSpPr>
          <p:cNvPr id="35" name="Text 33"/>
          <p:cNvSpPr txBox="1"/>
          <p:nvPr/>
        </p:nvSpPr>
        <p:spPr>
          <a:xfrm>
            <a:off x="822960" y="5641848"/>
            <a:ext cx="2926080" cy="548640"/>
          </a:xfrm>
          <a:prstGeom prst="rect">
            <a:avLst/>
          </a:prstGeom>
          <a:noFill/>
          <a:ln/>
        </p:spPr>
        <p:txBody>
          <a:bodyPr wrap="square" lIns="0" tIns="0" rIns="0" bIns="0" rtlCol="0" anchor="ctr"/>
          <a:lstStyle/>
          <a:p>
            <a:pPr indent="0" marL="0">
              <a:buNone/>
            </a:pPr>
            <a:r>
              <a:rPr lang="en-US" sz="1100" b="1" spc="200" kern="0" dirty="0">
                <a:solidFill>
                  <a:srgbClr val="E07A1F"/>
                </a:solidFill>
                <a:latin typeface="Calibri" pitchFamily="34" charset="0"/>
                <a:ea typeface="Calibri" pitchFamily="34" charset="-122"/>
                <a:cs typeface="Calibri" pitchFamily="34" charset="-120"/>
              </a:rPr>
              <a:t>WAAROM DIT LASTIG IS</a:t>
            </a:r>
            <a:endParaRPr lang="en-US" sz="1100" dirty="0"/>
          </a:p>
        </p:txBody>
      </p:sp>
      <p:sp>
        <p:nvSpPr>
          <p:cNvPr id="36" name="Text 34"/>
          <p:cNvSpPr txBox="1"/>
          <p:nvPr/>
        </p:nvSpPr>
        <p:spPr>
          <a:xfrm>
            <a:off x="3657600" y="5623560"/>
            <a:ext cx="7711135" cy="594360"/>
          </a:xfrm>
          <a:prstGeom prst="rect">
            <a:avLst/>
          </a:prstGeom>
          <a:noFill/>
          <a:ln/>
        </p:spPr>
        <p:txBody>
          <a:bodyPr wrap="square" lIns="0" tIns="0" rIns="0" bIns="0" rtlCol="0" anchor="ctr"/>
          <a:lstStyle/>
          <a:p>
            <a:pPr indent="0" marL="0">
              <a:buNone/>
            </a:pPr>
            <a:r>
              <a:rPr lang="en-US" sz="1400" dirty="0">
                <a:solidFill>
                  <a:srgbClr val="12283A"/>
                </a:solidFill>
                <a:latin typeface="Calibri" pitchFamily="34" charset="0"/>
                <a:ea typeface="Calibri" pitchFamily="34" charset="-122"/>
                <a:cs typeface="Calibri" pitchFamily="34" charset="-120"/>
              </a:rPr>
              <a:t>Om te weten hoeveel verpleegkundigen we nodig hebben, moeten we eerst weten wat waar komt. En dat is nog niet overal besloten.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100" b="1" spc="200" kern="0" dirty="0">
                <a:solidFill>
                  <a:srgbClr val="5F6E7F"/>
                </a:solidFill>
                <a:latin typeface="Calibri" pitchFamily="34" charset="0"/>
                <a:ea typeface="Calibri" pitchFamily="34" charset="-122"/>
                <a:cs typeface="Calibri" pitchFamily="34" charset="-120"/>
              </a:rPr>
              <a:t>DE SPELERS</a:t>
            </a:r>
            <a:endParaRPr lang="en-US" sz="11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200" b="1" dirty="0">
                <a:solidFill>
                  <a:srgbClr val="12283A"/>
                </a:solidFill>
                <a:latin typeface="Calibri" pitchFamily="34" charset="0"/>
                <a:ea typeface="Calibri" pitchFamily="34" charset="-122"/>
                <a:cs typeface="Calibri" pitchFamily="34" charset="-120"/>
              </a:rPr>
              <a:t>Wie is wie?</a:t>
            </a:r>
            <a:endParaRPr lang="en-US" sz="3200" dirty="0"/>
          </a:p>
        </p:txBody>
      </p:sp>
      <p:sp>
        <p:nvSpPr>
          <p:cNvPr id="4" name="Text 2"/>
          <p:cNvSpPr txBox="1"/>
          <p:nvPr/>
        </p:nvSpPr>
        <p:spPr>
          <a:xfrm>
            <a:off x="548640" y="1298448"/>
            <a:ext cx="11064240" cy="365760"/>
          </a:xfrm>
          <a:prstGeom prst="rect">
            <a:avLst/>
          </a:prstGeom>
          <a:noFill/>
          <a:ln/>
        </p:spPr>
        <p:txBody>
          <a:bodyPr wrap="square" lIns="0" tIns="0" rIns="0" bIns="0" rtlCol="0" anchor="ctr"/>
          <a:lstStyle/>
          <a:p>
            <a:pPr indent="0" marL="0">
              <a:buNone/>
            </a:pPr>
            <a:r>
              <a:rPr lang="en-US" sz="1600" dirty="0">
                <a:solidFill>
                  <a:srgbClr val="5F6E7F"/>
                </a:solidFill>
                <a:latin typeface="Calibri" pitchFamily="34" charset="0"/>
                <a:ea typeface="Calibri" pitchFamily="34" charset="-122"/>
                <a:cs typeface="Calibri" pitchFamily="34" charset="-120"/>
              </a:rPr>
              <a:t>Vijf afkortingen die je in deze presentatie tegenkomt</a:t>
            </a:r>
            <a:endParaRPr lang="en-US" sz="1600" dirty="0"/>
          </a:p>
        </p:txBody>
      </p:sp>
      <p:sp>
        <p:nvSpPr>
          <p:cNvPr id="5" name="Text 3"/>
          <p:cNvSpPr txBox="1"/>
          <p:nvPr/>
        </p:nvSpPr>
        <p:spPr>
          <a:xfrm>
            <a:off x="548640" y="6419088"/>
            <a:ext cx="4572000" cy="228600"/>
          </a:xfrm>
          <a:prstGeom prst="rect">
            <a:avLst/>
          </a:prstGeom>
          <a:noFill/>
          <a:ln/>
        </p:spPr>
        <p:txBody>
          <a:bodyPr wrap="square" lIns="0" tIns="0" rIns="0" bIns="0" rtlCol="0" anchor="ctr"/>
          <a:lstStyle/>
          <a:p>
            <a:pPr indent="0" marL="0">
              <a:buNone/>
            </a:pPr>
            <a:r>
              <a:rPr lang="en-US" sz="1000" dirty="0">
                <a:solidFill>
                  <a:srgbClr val="8A97A5"/>
                </a:solidFill>
                <a:latin typeface="Calibri" pitchFamily="34" charset="0"/>
                <a:ea typeface="Calibri" pitchFamily="34" charset="-122"/>
                <a:cs typeface="Calibri" pitchFamily="34" charset="-120"/>
              </a:rPr>
              <a:t>Acute poort en Hotfloor</a:t>
            </a:r>
            <a:endParaRPr lang="en-US" sz="1000" dirty="0"/>
          </a:p>
        </p:txBody>
      </p:sp>
      <p:sp>
        <p:nvSpPr>
          <p:cNvPr id="6" name="Text 4"/>
          <p:cNvSpPr txBox="1"/>
          <p:nvPr/>
        </p:nvSpPr>
        <p:spPr>
          <a:xfrm>
            <a:off x="11091672" y="6419088"/>
            <a:ext cx="548640" cy="228600"/>
          </a:xfrm>
          <a:prstGeom prst="rect">
            <a:avLst/>
          </a:prstGeom>
          <a:noFill/>
          <a:ln/>
        </p:spPr>
        <p:txBody>
          <a:bodyPr wrap="square" lIns="0" tIns="0" rIns="0" bIns="0" rtlCol="0" anchor="ctr"/>
          <a:lstStyle/>
          <a:p>
            <a:pPr algn="r" indent="0" marL="0">
              <a:buNone/>
            </a:pPr>
            <a:r>
              <a:rPr lang="en-US" sz="1000" dirty="0">
                <a:solidFill>
                  <a:srgbClr val="8A97A5"/>
                </a:solidFill>
                <a:latin typeface="Calibri" pitchFamily="34" charset="0"/>
                <a:ea typeface="Calibri" pitchFamily="34" charset="-122"/>
                <a:cs typeface="Calibri" pitchFamily="34" charset="-120"/>
              </a:rPr>
              <a:t>3</a:t>
            </a:r>
            <a:endParaRPr lang="en-US" sz="1000" dirty="0"/>
          </a:p>
        </p:txBody>
      </p:sp>
      <p:sp>
        <p:nvSpPr>
          <p:cNvPr id="7" name="Shape 5"/>
          <p:cNvSpPr/>
          <p:nvPr/>
        </p:nvSpPr>
        <p:spPr>
          <a:xfrm>
            <a:off x="548640" y="1874520"/>
            <a:ext cx="640080" cy="640080"/>
          </a:xfrm>
          <a:prstGeom prst="ellipse">
            <a:avLst/>
          </a:prstGeom>
          <a:solidFill>
            <a:srgbClr val="DCEFF1"/>
          </a:solidFill>
          <a:ln w="12700">
            <a:solidFill>
              <a:srgbClr val="DCEFF1"/>
            </a:solidFill>
            <a:prstDash val="solid"/>
          </a:ln>
        </p:spPr>
      </p:sp>
      <p:pic>
        <p:nvPicPr>
          <p:cNvPr id="8" name="Image 0" descr="preencoded.png">    </p:cNvPr>
          <p:cNvPicPr>
            <a:picLocks noChangeAspect="1"/>
          </p:cNvPicPr>
          <p:nvPr/>
        </p:nvPicPr>
        <p:blipFill>
          <a:blip r:embed="rId1"/>
          <a:stretch>
            <a:fillRect/>
          </a:stretch>
        </p:blipFill>
        <p:spPr>
          <a:xfrm>
            <a:off x="708660" y="2034540"/>
            <a:ext cx="320040" cy="320040"/>
          </a:xfrm>
          <a:prstGeom prst="rect">
            <a:avLst/>
          </a:prstGeom>
        </p:spPr>
      </p:pic>
      <p:sp>
        <p:nvSpPr>
          <p:cNvPr id="9" name="Text 6"/>
          <p:cNvSpPr txBox="1"/>
          <p:nvPr/>
        </p:nvSpPr>
        <p:spPr>
          <a:xfrm>
            <a:off x="1417320" y="1892808"/>
            <a:ext cx="2011680" cy="320040"/>
          </a:xfrm>
          <a:prstGeom prst="rect">
            <a:avLst/>
          </a:prstGeom>
          <a:noFill/>
          <a:ln/>
        </p:spPr>
        <p:txBody>
          <a:bodyPr wrap="square" lIns="0" tIns="0" rIns="0" bIns="0" rtlCol="0" anchor="ctr"/>
          <a:lstStyle/>
          <a:p>
            <a:pPr indent="0" marL="0">
              <a:buNone/>
            </a:pPr>
            <a:r>
              <a:rPr lang="en-US" sz="1800" b="1" dirty="0">
                <a:solidFill>
                  <a:srgbClr val="0E7C86"/>
                </a:solidFill>
                <a:latin typeface="Calibri" pitchFamily="34" charset="0"/>
                <a:ea typeface="Calibri" pitchFamily="34" charset="-122"/>
                <a:cs typeface="Calibri" pitchFamily="34" charset="-120"/>
              </a:rPr>
              <a:t>SEH</a:t>
            </a:r>
            <a:endParaRPr lang="en-US" sz="1800" dirty="0"/>
          </a:p>
        </p:txBody>
      </p:sp>
      <p:sp>
        <p:nvSpPr>
          <p:cNvPr id="10" name="Text 7"/>
          <p:cNvSpPr txBox="1"/>
          <p:nvPr/>
        </p:nvSpPr>
        <p:spPr>
          <a:xfrm>
            <a:off x="1417320" y="2221992"/>
            <a:ext cx="2377440" cy="274320"/>
          </a:xfrm>
          <a:prstGeom prst="rect">
            <a:avLst/>
          </a:prstGeom>
          <a:noFill/>
          <a:ln/>
        </p:spPr>
        <p:txBody>
          <a:bodyPr wrap="square" lIns="0" tIns="0" rIns="0" bIns="0" rtlCol="0" anchor="ctr"/>
          <a:lstStyle/>
          <a:p>
            <a:pPr indent="0" marL="0">
              <a:buNone/>
            </a:pPr>
            <a:r>
              <a:rPr lang="en-US" sz="1200" dirty="0">
                <a:solidFill>
                  <a:srgbClr val="5F6E7F"/>
                </a:solidFill>
                <a:latin typeface="Calibri" pitchFamily="34" charset="0"/>
                <a:ea typeface="Calibri" pitchFamily="34" charset="-122"/>
                <a:cs typeface="Calibri" pitchFamily="34" charset="-120"/>
              </a:rPr>
              <a:t>Spoedeisende hulp</a:t>
            </a:r>
            <a:endParaRPr lang="en-US" sz="1200" dirty="0"/>
          </a:p>
        </p:txBody>
      </p:sp>
      <p:sp>
        <p:nvSpPr>
          <p:cNvPr id="11" name="Text 8"/>
          <p:cNvSpPr txBox="1"/>
          <p:nvPr/>
        </p:nvSpPr>
        <p:spPr>
          <a:xfrm>
            <a:off x="4023360" y="1874520"/>
            <a:ext cx="7589520" cy="640080"/>
          </a:xfrm>
          <a:prstGeom prst="rect">
            <a:avLst/>
          </a:prstGeom>
          <a:noFill/>
          <a:ln/>
        </p:spPr>
        <p:txBody>
          <a:bodyPr wrap="square" lIns="0" tIns="0" rIns="0" bIns="0" rtlCol="0" anchor="ctr"/>
          <a:lstStyle/>
          <a:p>
            <a:pPr indent="0" marL="0">
              <a:buNone/>
            </a:pPr>
            <a:r>
              <a:rPr lang="en-US" sz="1400" dirty="0">
                <a:solidFill>
                  <a:srgbClr val="12283A"/>
                </a:solidFill>
                <a:latin typeface="Calibri" pitchFamily="34" charset="0"/>
                <a:ea typeface="Calibri" pitchFamily="34" charset="-122"/>
                <a:cs typeface="Calibri" pitchFamily="34" charset="-120"/>
              </a:rPr>
              <a:t>Iedereen die met spoed binnenkomt. Nu 11 kamers.</a:t>
            </a:r>
            <a:endParaRPr lang="en-US" sz="1400" dirty="0"/>
          </a:p>
        </p:txBody>
      </p:sp>
      <p:sp>
        <p:nvSpPr>
          <p:cNvPr id="12" name="Shape 9"/>
          <p:cNvSpPr/>
          <p:nvPr/>
        </p:nvSpPr>
        <p:spPr>
          <a:xfrm>
            <a:off x="4023360" y="2624328"/>
            <a:ext cx="7589520" cy="0"/>
          </a:xfrm>
          <a:prstGeom prst="line">
            <a:avLst/>
          </a:prstGeom>
          <a:noFill/>
          <a:ln w="9525">
            <a:solidFill>
              <a:srgbClr val="E1E6EB"/>
            </a:solidFill>
            <a:prstDash val="solid"/>
          </a:ln>
        </p:spPr>
      </p:sp>
      <p:sp>
        <p:nvSpPr>
          <p:cNvPr id="13" name="Shape 10"/>
          <p:cNvSpPr/>
          <p:nvPr/>
        </p:nvSpPr>
        <p:spPr>
          <a:xfrm>
            <a:off x="548640" y="2715768"/>
            <a:ext cx="640080" cy="640080"/>
          </a:xfrm>
          <a:prstGeom prst="ellipse">
            <a:avLst/>
          </a:prstGeom>
          <a:solidFill>
            <a:srgbClr val="DCEFF1"/>
          </a:solidFill>
          <a:ln w="12700">
            <a:solidFill>
              <a:srgbClr val="DCEFF1"/>
            </a:solidFill>
            <a:prstDash val="solid"/>
          </a:ln>
        </p:spPr>
      </p:sp>
      <p:pic>
        <p:nvPicPr>
          <p:cNvPr id="14" name="Image 1" descr="preencoded.png">    </p:cNvPr>
          <p:cNvPicPr>
            <a:picLocks noChangeAspect="1"/>
          </p:cNvPicPr>
          <p:nvPr/>
        </p:nvPicPr>
        <p:blipFill>
          <a:blip r:embed="rId2"/>
          <a:stretch>
            <a:fillRect/>
          </a:stretch>
        </p:blipFill>
        <p:spPr>
          <a:xfrm>
            <a:off x="708660" y="2875788"/>
            <a:ext cx="320040" cy="320040"/>
          </a:xfrm>
          <a:prstGeom prst="rect">
            <a:avLst/>
          </a:prstGeom>
        </p:spPr>
      </p:pic>
      <p:sp>
        <p:nvSpPr>
          <p:cNvPr id="15" name="Text 11"/>
          <p:cNvSpPr txBox="1"/>
          <p:nvPr/>
        </p:nvSpPr>
        <p:spPr>
          <a:xfrm>
            <a:off x="1417320" y="2734056"/>
            <a:ext cx="2011680" cy="320040"/>
          </a:xfrm>
          <a:prstGeom prst="rect">
            <a:avLst/>
          </a:prstGeom>
          <a:noFill/>
          <a:ln/>
        </p:spPr>
        <p:txBody>
          <a:bodyPr wrap="square" lIns="0" tIns="0" rIns="0" bIns="0" rtlCol="0" anchor="ctr"/>
          <a:lstStyle/>
          <a:p>
            <a:pPr indent="0" marL="0">
              <a:buNone/>
            </a:pPr>
            <a:r>
              <a:rPr lang="en-US" sz="1800" b="1" dirty="0">
                <a:solidFill>
                  <a:srgbClr val="0E7C86"/>
                </a:solidFill>
                <a:latin typeface="Calibri" pitchFamily="34" charset="0"/>
                <a:ea typeface="Calibri" pitchFamily="34" charset="-122"/>
                <a:cs typeface="Calibri" pitchFamily="34" charset="-120"/>
              </a:rPr>
              <a:t>Kind spoed</a:t>
            </a:r>
            <a:endParaRPr lang="en-US" sz="1800" dirty="0"/>
          </a:p>
        </p:txBody>
      </p:sp>
      <p:sp>
        <p:nvSpPr>
          <p:cNvPr id="16" name="Text 12"/>
          <p:cNvSpPr txBox="1"/>
          <p:nvPr/>
        </p:nvSpPr>
        <p:spPr>
          <a:xfrm>
            <a:off x="1417320" y="3063240"/>
            <a:ext cx="2377440" cy="274320"/>
          </a:xfrm>
          <a:prstGeom prst="rect">
            <a:avLst/>
          </a:prstGeom>
          <a:noFill/>
          <a:ln/>
        </p:spPr>
        <p:txBody>
          <a:bodyPr wrap="square" lIns="0" tIns="0" rIns="0" bIns="0" rtlCol="0" anchor="ctr"/>
          <a:lstStyle/>
          <a:p>
            <a:pPr indent="0" marL="0">
              <a:buNone/>
            </a:pPr>
            <a:r>
              <a:rPr lang="en-US" sz="1200" dirty="0">
                <a:solidFill>
                  <a:srgbClr val="5F6E7F"/>
                </a:solidFill>
                <a:latin typeface="Calibri" pitchFamily="34" charset="0"/>
                <a:ea typeface="Calibri" pitchFamily="34" charset="-122"/>
                <a:cs typeface="Calibri" pitchFamily="34" charset="-120"/>
              </a:rPr>
              <a:t>Spoedzorg voor kinderen</a:t>
            </a:r>
            <a:endParaRPr lang="en-US" sz="1200" dirty="0"/>
          </a:p>
        </p:txBody>
      </p:sp>
      <p:sp>
        <p:nvSpPr>
          <p:cNvPr id="17" name="Text 13"/>
          <p:cNvSpPr txBox="1"/>
          <p:nvPr/>
        </p:nvSpPr>
        <p:spPr>
          <a:xfrm>
            <a:off x="4023360" y="2715768"/>
            <a:ext cx="7589520" cy="640080"/>
          </a:xfrm>
          <a:prstGeom prst="rect">
            <a:avLst/>
          </a:prstGeom>
          <a:noFill/>
          <a:ln/>
        </p:spPr>
        <p:txBody>
          <a:bodyPr wrap="square" lIns="0" tIns="0" rIns="0" bIns="0" rtlCol="0" anchor="ctr"/>
          <a:lstStyle/>
          <a:p>
            <a:pPr indent="0" marL="0">
              <a:buNone/>
            </a:pPr>
            <a:r>
              <a:rPr lang="en-US" sz="1400" dirty="0">
                <a:solidFill>
                  <a:srgbClr val="12283A"/>
                </a:solidFill>
                <a:latin typeface="Calibri" pitchFamily="34" charset="0"/>
                <a:ea typeface="Calibri" pitchFamily="34" charset="-122"/>
                <a:cs typeface="Calibri" pitchFamily="34" charset="-120"/>
              </a:rPr>
              <a:t>Eigen stroom, komt straks bij de SEH. Aantal kamers nog niet in beeld.</a:t>
            </a:r>
            <a:endParaRPr lang="en-US" sz="1400" dirty="0"/>
          </a:p>
        </p:txBody>
      </p:sp>
      <p:sp>
        <p:nvSpPr>
          <p:cNvPr id="18" name="Shape 14"/>
          <p:cNvSpPr/>
          <p:nvPr/>
        </p:nvSpPr>
        <p:spPr>
          <a:xfrm>
            <a:off x="4023360" y="3465576"/>
            <a:ext cx="7589520" cy="0"/>
          </a:xfrm>
          <a:prstGeom prst="line">
            <a:avLst/>
          </a:prstGeom>
          <a:noFill/>
          <a:ln w="9525">
            <a:solidFill>
              <a:srgbClr val="E1E6EB"/>
            </a:solidFill>
            <a:prstDash val="solid"/>
          </a:ln>
        </p:spPr>
      </p:sp>
      <p:sp>
        <p:nvSpPr>
          <p:cNvPr id="19" name="Shape 15"/>
          <p:cNvSpPr/>
          <p:nvPr/>
        </p:nvSpPr>
        <p:spPr>
          <a:xfrm>
            <a:off x="548640" y="3557016"/>
            <a:ext cx="640080" cy="640080"/>
          </a:xfrm>
          <a:prstGeom prst="ellipse">
            <a:avLst/>
          </a:prstGeom>
          <a:solidFill>
            <a:srgbClr val="FCE9D9"/>
          </a:solidFill>
          <a:ln w="12700">
            <a:solidFill>
              <a:srgbClr val="FCE9D9"/>
            </a:solidFill>
            <a:prstDash val="solid"/>
          </a:ln>
        </p:spPr>
      </p:sp>
      <p:pic>
        <p:nvPicPr>
          <p:cNvPr id="20" name="Image 2" descr="preencoded.png">    </p:cNvPr>
          <p:cNvPicPr>
            <a:picLocks noChangeAspect="1"/>
          </p:cNvPicPr>
          <p:nvPr/>
        </p:nvPicPr>
        <p:blipFill>
          <a:blip r:embed="rId3"/>
          <a:stretch>
            <a:fillRect/>
          </a:stretch>
        </p:blipFill>
        <p:spPr>
          <a:xfrm>
            <a:off x="708660" y="3717036"/>
            <a:ext cx="320040" cy="320040"/>
          </a:xfrm>
          <a:prstGeom prst="rect">
            <a:avLst/>
          </a:prstGeom>
        </p:spPr>
      </p:pic>
      <p:sp>
        <p:nvSpPr>
          <p:cNvPr id="21" name="Text 16"/>
          <p:cNvSpPr txBox="1"/>
          <p:nvPr/>
        </p:nvSpPr>
        <p:spPr>
          <a:xfrm>
            <a:off x="1417320" y="3575304"/>
            <a:ext cx="2011680" cy="320040"/>
          </a:xfrm>
          <a:prstGeom prst="rect">
            <a:avLst/>
          </a:prstGeom>
          <a:noFill/>
          <a:ln/>
        </p:spPr>
        <p:txBody>
          <a:bodyPr wrap="square" lIns="0" tIns="0" rIns="0" bIns="0" rtlCol="0" anchor="ctr"/>
          <a:lstStyle/>
          <a:p>
            <a:pPr indent="0" marL="0">
              <a:buNone/>
            </a:pPr>
            <a:r>
              <a:rPr lang="en-US" sz="1800" b="1" dirty="0">
                <a:solidFill>
                  <a:srgbClr val="E07A1F"/>
                </a:solidFill>
                <a:latin typeface="Calibri" pitchFamily="34" charset="0"/>
                <a:ea typeface="Calibri" pitchFamily="34" charset="-122"/>
                <a:cs typeface="Calibri" pitchFamily="34" charset="-120"/>
              </a:rPr>
              <a:t>EHH</a:t>
            </a:r>
            <a:endParaRPr lang="en-US" sz="1800" dirty="0"/>
          </a:p>
        </p:txBody>
      </p:sp>
      <p:sp>
        <p:nvSpPr>
          <p:cNvPr id="22" name="Text 17"/>
          <p:cNvSpPr txBox="1"/>
          <p:nvPr/>
        </p:nvSpPr>
        <p:spPr>
          <a:xfrm>
            <a:off x="1417320" y="3904488"/>
            <a:ext cx="2377440" cy="274320"/>
          </a:xfrm>
          <a:prstGeom prst="rect">
            <a:avLst/>
          </a:prstGeom>
          <a:noFill/>
          <a:ln/>
        </p:spPr>
        <p:txBody>
          <a:bodyPr wrap="square" lIns="0" tIns="0" rIns="0" bIns="0" rtlCol="0" anchor="ctr"/>
          <a:lstStyle/>
          <a:p>
            <a:pPr indent="0" marL="0">
              <a:buNone/>
            </a:pPr>
            <a:r>
              <a:rPr lang="en-US" sz="1200" dirty="0">
                <a:solidFill>
                  <a:srgbClr val="5F6E7F"/>
                </a:solidFill>
                <a:latin typeface="Calibri" pitchFamily="34" charset="0"/>
                <a:ea typeface="Calibri" pitchFamily="34" charset="-122"/>
                <a:cs typeface="Calibri" pitchFamily="34" charset="-120"/>
              </a:rPr>
              <a:t>Eerste hart hulp</a:t>
            </a:r>
            <a:endParaRPr lang="en-US" sz="1200" dirty="0"/>
          </a:p>
        </p:txBody>
      </p:sp>
      <p:sp>
        <p:nvSpPr>
          <p:cNvPr id="23" name="Text 18"/>
          <p:cNvSpPr txBox="1"/>
          <p:nvPr/>
        </p:nvSpPr>
        <p:spPr>
          <a:xfrm>
            <a:off x="4023360" y="3557016"/>
            <a:ext cx="7589520" cy="640080"/>
          </a:xfrm>
          <a:prstGeom prst="rect">
            <a:avLst/>
          </a:prstGeom>
          <a:noFill/>
          <a:ln/>
        </p:spPr>
        <p:txBody>
          <a:bodyPr wrap="square" lIns="0" tIns="0" rIns="0" bIns="0" rtlCol="0" anchor="ctr"/>
          <a:lstStyle/>
          <a:p>
            <a:pPr indent="0" marL="0">
              <a:buNone/>
            </a:pPr>
            <a:r>
              <a:rPr lang="en-US" sz="1400" dirty="0">
                <a:solidFill>
                  <a:srgbClr val="12283A"/>
                </a:solidFill>
                <a:latin typeface="Calibri" pitchFamily="34" charset="0"/>
                <a:ea typeface="Calibri" pitchFamily="34" charset="-122"/>
                <a:cs typeface="Calibri" pitchFamily="34" charset="-120"/>
              </a:rPr>
              <a:t>Acute hartpatiënten voor korte opvang. Zit nu bij de CCU, verhuist naar de acute poort.</a:t>
            </a:r>
            <a:endParaRPr lang="en-US" sz="1400" dirty="0"/>
          </a:p>
        </p:txBody>
      </p:sp>
      <p:sp>
        <p:nvSpPr>
          <p:cNvPr id="24" name="Shape 19"/>
          <p:cNvSpPr/>
          <p:nvPr/>
        </p:nvSpPr>
        <p:spPr>
          <a:xfrm>
            <a:off x="4023360" y="4306824"/>
            <a:ext cx="7589520" cy="0"/>
          </a:xfrm>
          <a:prstGeom prst="line">
            <a:avLst/>
          </a:prstGeom>
          <a:noFill/>
          <a:ln w="9525">
            <a:solidFill>
              <a:srgbClr val="E1E6EB"/>
            </a:solidFill>
            <a:prstDash val="solid"/>
          </a:ln>
        </p:spPr>
      </p:sp>
      <p:sp>
        <p:nvSpPr>
          <p:cNvPr id="25" name="Shape 20"/>
          <p:cNvSpPr/>
          <p:nvPr/>
        </p:nvSpPr>
        <p:spPr>
          <a:xfrm>
            <a:off x="548640" y="4398264"/>
            <a:ext cx="640080" cy="640080"/>
          </a:xfrm>
          <a:prstGeom prst="ellipse">
            <a:avLst/>
          </a:prstGeom>
          <a:solidFill>
            <a:srgbClr val="E2E6F5"/>
          </a:solidFill>
          <a:ln w="12700">
            <a:solidFill>
              <a:srgbClr val="E2E6F5"/>
            </a:solidFill>
            <a:prstDash val="solid"/>
          </a:ln>
        </p:spPr>
      </p:sp>
      <p:pic>
        <p:nvPicPr>
          <p:cNvPr id="26" name="Image 3" descr="preencoded.png">    </p:cNvPr>
          <p:cNvPicPr>
            <a:picLocks noChangeAspect="1"/>
          </p:cNvPicPr>
          <p:nvPr/>
        </p:nvPicPr>
        <p:blipFill>
          <a:blip r:embed="rId4"/>
          <a:stretch>
            <a:fillRect/>
          </a:stretch>
        </p:blipFill>
        <p:spPr>
          <a:xfrm>
            <a:off x="708660" y="4558284"/>
            <a:ext cx="320040" cy="320040"/>
          </a:xfrm>
          <a:prstGeom prst="rect">
            <a:avLst/>
          </a:prstGeom>
        </p:spPr>
      </p:pic>
      <p:sp>
        <p:nvSpPr>
          <p:cNvPr id="27" name="Text 21"/>
          <p:cNvSpPr txBox="1"/>
          <p:nvPr/>
        </p:nvSpPr>
        <p:spPr>
          <a:xfrm>
            <a:off x="1417320" y="4416552"/>
            <a:ext cx="2011680" cy="320040"/>
          </a:xfrm>
          <a:prstGeom prst="rect">
            <a:avLst/>
          </a:prstGeom>
          <a:noFill/>
          <a:ln/>
        </p:spPr>
        <p:txBody>
          <a:bodyPr wrap="square" lIns="0" tIns="0" rIns="0" bIns="0" rtlCol="0" anchor="ctr"/>
          <a:lstStyle/>
          <a:p>
            <a:pPr indent="0" marL="0">
              <a:buNone/>
            </a:pPr>
            <a:r>
              <a:rPr lang="en-US" sz="1800" b="1" dirty="0">
                <a:solidFill>
                  <a:srgbClr val="3F4F9B"/>
                </a:solidFill>
                <a:latin typeface="Calibri" pitchFamily="34" charset="0"/>
                <a:ea typeface="Calibri" pitchFamily="34" charset="-122"/>
                <a:cs typeface="Calibri" pitchFamily="34" charset="-120"/>
              </a:rPr>
              <a:t>CCU / SCU</a:t>
            </a:r>
            <a:endParaRPr lang="en-US" sz="1800" dirty="0"/>
          </a:p>
        </p:txBody>
      </p:sp>
      <p:sp>
        <p:nvSpPr>
          <p:cNvPr id="28" name="Text 22"/>
          <p:cNvSpPr txBox="1"/>
          <p:nvPr/>
        </p:nvSpPr>
        <p:spPr>
          <a:xfrm>
            <a:off x="1417320" y="4745736"/>
            <a:ext cx="2377440" cy="274320"/>
          </a:xfrm>
          <a:prstGeom prst="rect">
            <a:avLst/>
          </a:prstGeom>
          <a:noFill/>
          <a:ln/>
        </p:spPr>
        <p:txBody>
          <a:bodyPr wrap="square" lIns="0" tIns="0" rIns="0" bIns="0" rtlCol="0" anchor="ctr"/>
          <a:lstStyle/>
          <a:p>
            <a:pPr indent="0" marL="0">
              <a:buNone/>
            </a:pPr>
            <a:r>
              <a:rPr lang="en-US" sz="1200" dirty="0">
                <a:solidFill>
                  <a:srgbClr val="5F6E7F"/>
                </a:solidFill>
                <a:latin typeface="Calibri" pitchFamily="34" charset="0"/>
                <a:ea typeface="Calibri" pitchFamily="34" charset="-122"/>
                <a:cs typeface="Calibri" pitchFamily="34" charset="-120"/>
              </a:rPr>
              <a:t>Hart- en strokebewaking</a:t>
            </a:r>
            <a:endParaRPr lang="en-US" sz="1200" dirty="0"/>
          </a:p>
        </p:txBody>
      </p:sp>
      <p:sp>
        <p:nvSpPr>
          <p:cNvPr id="29" name="Text 23"/>
          <p:cNvSpPr txBox="1"/>
          <p:nvPr/>
        </p:nvSpPr>
        <p:spPr>
          <a:xfrm>
            <a:off x="4023360" y="4398264"/>
            <a:ext cx="7589520" cy="640080"/>
          </a:xfrm>
          <a:prstGeom prst="rect">
            <a:avLst/>
          </a:prstGeom>
          <a:noFill/>
          <a:ln/>
        </p:spPr>
        <p:txBody>
          <a:bodyPr wrap="square" lIns="0" tIns="0" rIns="0" bIns="0" rtlCol="0" anchor="ctr"/>
          <a:lstStyle/>
          <a:p>
            <a:pPr indent="0" marL="0">
              <a:buNone/>
            </a:pPr>
            <a:r>
              <a:rPr lang="en-US" sz="1400" dirty="0">
                <a:solidFill>
                  <a:srgbClr val="12283A"/>
                </a:solidFill>
                <a:latin typeface="Calibri" pitchFamily="34" charset="0"/>
                <a:ea typeface="Calibri" pitchFamily="34" charset="-122"/>
                <a:cs typeface="Calibri" pitchFamily="34" charset="-120"/>
              </a:rPr>
              <a:t>Coronary Care Unit en Stroke Care Unit. Nu samen met de EHH 15 kamers.</a:t>
            </a:r>
            <a:endParaRPr lang="en-US" sz="1400" dirty="0"/>
          </a:p>
        </p:txBody>
      </p:sp>
      <p:sp>
        <p:nvSpPr>
          <p:cNvPr id="30" name="Shape 24"/>
          <p:cNvSpPr/>
          <p:nvPr/>
        </p:nvSpPr>
        <p:spPr>
          <a:xfrm>
            <a:off x="4023360" y="5148072"/>
            <a:ext cx="7589520" cy="0"/>
          </a:xfrm>
          <a:prstGeom prst="line">
            <a:avLst/>
          </a:prstGeom>
          <a:noFill/>
          <a:ln w="9525">
            <a:solidFill>
              <a:srgbClr val="E1E6EB"/>
            </a:solidFill>
            <a:prstDash val="solid"/>
          </a:ln>
        </p:spPr>
      </p:sp>
      <p:sp>
        <p:nvSpPr>
          <p:cNvPr id="31" name="Shape 25"/>
          <p:cNvSpPr/>
          <p:nvPr/>
        </p:nvSpPr>
        <p:spPr>
          <a:xfrm>
            <a:off x="548640" y="5239512"/>
            <a:ext cx="640080" cy="640080"/>
          </a:xfrm>
          <a:prstGeom prst="ellipse">
            <a:avLst/>
          </a:prstGeom>
          <a:solidFill>
            <a:srgbClr val="E2E6F5"/>
          </a:solidFill>
          <a:ln w="12700">
            <a:solidFill>
              <a:srgbClr val="E2E6F5"/>
            </a:solidFill>
            <a:prstDash val="solid"/>
          </a:ln>
        </p:spPr>
      </p:sp>
      <p:pic>
        <p:nvPicPr>
          <p:cNvPr id="32" name="Image 4" descr="preencoded.png">    </p:cNvPr>
          <p:cNvPicPr>
            <a:picLocks noChangeAspect="1"/>
          </p:cNvPicPr>
          <p:nvPr/>
        </p:nvPicPr>
        <p:blipFill>
          <a:blip r:embed="rId5"/>
          <a:stretch>
            <a:fillRect/>
          </a:stretch>
        </p:blipFill>
        <p:spPr>
          <a:xfrm>
            <a:off x="708660" y="5399532"/>
            <a:ext cx="320040" cy="320040"/>
          </a:xfrm>
          <a:prstGeom prst="rect">
            <a:avLst/>
          </a:prstGeom>
        </p:spPr>
      </p:pic>
      <p:sp>
        <p:nvSpPr>
          <p:cNvPr id="33" name="Text 26"/>
          <p:cNvSpPr txBox="1"/>
          <p:nvPr/>
        </p:nvSpPr>
        <p:spPr>
          <a:xfrm>
            <a:off x="1417320" y="5257800"/>
            <a:ext cx="2011680" cy="320040"/>
          </a:xfrm>
          <a:prstGeom prst="rect">
            <a:avLst/>
          </a:prstGeom>
          <a:noFill/>
          <a:ln/>
        </p:spPr>
        <p:txBody>
          <a:bodyPr wrap="square" lIns="0" tIns="0" rIns="0" bIns="0" rtlCol="0" anchor="ctr"/>
          <a:lstStyle/>
          <a:p>
            <a:pPr indent="0" marL="0">
              <a:buNone/>
            </a:pPr>
            <a:r>
              <a:rPr lang="en-US" sz="1800" b="1" dirty="0">
                <a:solidFill>
                  <a:srgbClr val="3F4F9B"/>
                </a:solidFill>
                <a:latin typeface="Calibri" pitchFamily="34" charset="0"/>
                <a:ea typeface="Calibri" pitchFamily="34" charset="-122"/>
                <a:cs typeface="Calibri" pitchFamily="34" charset="-120"/>
              </a:rPr>
              <a:t>ICU</a:t>
            </a:r>
            <a:endParaRPr lang="en-US" sz="1800" dirty="0"/>
          </a:p>
        </p:txBody>
      </p:sp>
      <p:sp>
        <p:nvSpPr>
          <p:cNvPr id="34" name="Text 27"/>
          <p:cNvSpPr txBox="1"/>
          <p:nvPr/>
        </p:nvSpPr>
        <p:spPr>
          <a:xfrm>
            <a:off x="1417320" y="5586984"/>
            <a:ext cx="2377440" cy="274320"/>
          </a:xfrm>
          <a:prstGeom prst="rect">
            <a:avLst/>
          </a:prstGeom>
          <a:noFill/>
          <a:ln/>
        </p:spPr>
        <p:txBody>
          <a:bodyPr wrap="square" lIns="0" tIns="0" rIns="0" bIns="0" rtlCol="0" anchor="ctr"/>
          <a:lstStyle/>
          <a:p>
            <a:pPr indent="0" marL="0">
              <a:buNone/>
            </a:pPr>
            <a:r>
              <a:rPr lang="en-US" sz="1200" dirty="0">
                <a:solidFill>
                  <a:srgbClr val="5F6E7F"/>
                </a:solidFill>
                <a:latin typeface="Calibri" pitchFamily="34" charset="0"/>
                <a:ea typeface="Calibri" pitchFamily="34" charset="-122"/>
                <a:cs typeface="Calibri" pitchFamily="34" charset="-120"/>
              </a:rPr>
              <a:t>Intensive care</a:t>
            </a:r>
            <a:endParaRPr lang="en-US" sz="1200" dirty="0"/>
          </a:p>
        </p:txBody>
      </p:sp>
      <p:sp>
        <p:nvSpPr>
          <p:cNvPr id="35" name="Text 28"/>
          <p:cNvSpPr txBox="1"/>
          <p:nvPr/>
        </p:nvSpPr>
        <p:spPr>
          <a:xfrm>
            <a:off x="4023360" y="5239512"/>
            <a:ext cx="7589520" cy="640080"/>
          </a:xfrm>
          <a:prstGeom prst="rect">
            <a:avLst/>
          </a:prstGeom>
          <a:noFill/>
          <a:ln/>
        </p:spPr>
        <p:txBody>
          <a:bodyPr wrap="square" lIns="0" tIns="0" rIns="0" bIns="0" rtlCol="0" anchor="ctr"/>
          <a:lstStyle/>
          <a:p>
            <a:pPr indent="0" marL="0">
              <a:buNone/>
            </a:pPr>
            <a:r>
              <a:rPr lang="en-US" sz="1400" dirty="0">
                <a:solidFill>
                  <a:srgbClr val="12283A"/>
                </a:solidFill>
                <a:latin typeface="Calibri" pitchFamily="34" charset="0"/>
                <a:ea typeface="Calibri" pitchFamily="34" charset="-122"/>
                <a:cs typeface="Calibri" pitchFamily="34" charset="-120"/>
              </a:rPr>
              <a:t>Hoog complexe zorg. Nu 10 kamers, de enige afdeling met een vastgestelde norm.</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100" b="1" spc="200" kern="0" dirty="0">
                <a:solidFill>
                  <a:srgbClr val="5F6E7F"/>
                </a:solidFill>
                <a:latin typeface="Calibri" pitchFamily="34" charset="0"/>
                <a:ea typeface="Calibri" pitchFamily="34" charset="-122"/>
                <a:cs typeface="Calibri" pitchFamily="34" charset="-120"/>
              </a:rPr>
              <a:t>DE METHODE</a:t>
            </a:r>
            <a:endParaRPr lang="en-US" sz="11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200" b="1" dirty="0">
                <a:solidFill>
                  <a:srgbClr val="12283A"/>
                </a:solidFill>
                <a:latin typeface="Calibri" pitchFamily="34" charset="0"/>
                <a:ea typeface="Calibri" pitchFamily="34" charset="-122"/>
                <a:cs typeface="Calibri" pitchFamily="34" charset="-120"/>
              </a:rPr>
              <a:t>Hoe rekenen we de personele inzet uit?</a:t>
            </a:r>
            <a:endParaRPr lang="en-US" sz="3200" dirty="0"/>
          </a:p>
        </p:txBody>
      </p:sp>
      <p:sp>
        <p:nvSpPr>
          <p:cNvPr id="4" name="Text 2"/>
          <p:cNvSpPr txBox="1"/>
          <p:nvPr/>
        </p:nvSpPr>
        <p:spPr>
          <a:xfrm>
            <a:off x="548640" y="1298448"/>
            <a:ext cx="11064240" cy="365760"/>
          </a:xfrm>
          <a:prstGeom prst="rect">
            <a:avLst/>
          </a:prstGeom>
          <a:noFill/>
          <a:ln/>
        </p:spPr>
        <p:txBody>
          <a:bodyPr wrap="square" lIns="0" tIns="0" rIns="0" bIns="0" rtlCol="0" anchor="ctr"/>
          <a:lstStyle/>
          <a:p>
            <a:pPr indent="0" marL="0">
              <a:buNone/>
            </a:pPr>
            <a:r>
              <a:rPr lang="en-US" sz="1600" dirty="0">
                <a:solidFill>
                  <a:srgbClr val="5F6E7F"/>
                </a:solidFill>
                <a:latin typeface="Calibri" pitchFamily="34" charset="0"/>
                <a:ea typeface="Calibri" pitchFamily="34" charset="-122"/>
                <a:cs typeface="Calibri" pitchFamily="34" charset="-120"/>
              </a:rPr>
              <a:t>Vier stappen. Wat de ene stap oplevert, is de invoer van de volgende.</a:t>
            </a:r>
            <a:endParaRPr lang="en-US" sz="1600" dirty="0"/>
          </a:p>
        </p:txBody>
      </p:sp>
      <p:sp>
        <p:nvSpPr>
          <p:cNvPr id="5" name="Text 3"/>
          <p:cNvSpPr txBox="1"/>
          <p:nvPr/>
        </p:nvSpPr>
        <p:spPr>
          <a:xfrm>
            <a:off x="548640" y="6419088"/>
            <a:ext cx="4572000" cy="228600"/>
          </a:xfrm>
          <a:prstGeom prst="rect">
            <a:avLst/>
          </a:prstGeom>
          <a:noFill/>
          <a:ln/>
        </p:spPr>
        <p:txBody>
          <a:bodyPr wrap="square" lIns="0" tIns="0" rIns="0" bIns="0" rtlCol="0" anchor="ctr"/>
          <a:lstStyle/>
          <a:p>
            <a:pPr indent="0" marL="0">
              <a:buNone/>
            </a:pPr>
            <a:r>
              <a:rPr lang="en-US" sz="1000" dirty="0">
                <a:solidFill>
                  <a:srgbClr val="8A97A5"/>
                </a:solidFill>
                <a:latin typeface="Calibri" pitchFamily="34" charset="0"/>
                <a:ea typeface="Calibri" pitchFamily="34" charset="-122"/>
                <a:cs typeface="Calibri" pitchFamily="34" charset="-120"/>
              </a:rPr>
              <a:t>Acute poort en Hotfloor</a:t>
            </a:r>
            <a:endParaRPr lang="en-US" sz="1000" dirty="0"/>
          </a:p>
        </p:txBody>
      </p:sp>
      <p:sp>
        <p:nvSpPr>
          <p:cNvPr id="6" name="Text 4"/>
          <p:cNvSpPr txBox="1"/>
          <p:nvPr/>
        </p:nvSpPr>
        <p:spPr>
          <a:xfrm>
            <a:off x="11091672" y="6419088"/>
            <a:ext cx="548640" cy="228600"/>
          </a:xfrm>
          <a:prstGeom prst="rect">
            <a:avLst/>
          </a:prstGeom>
          <a:noFill/>
          <a:ln/>
        </p:spPr>
        <p:txBody>
          <a:bodyPr wrap="square" lIns="0" tIns="0" rIns="0" bIns="0" rtlCol="0" anchor="ctr"/>
          <a:lstStyle/>
          <a:p>
            <a:pPr algn="r" indent="0" marL="0">
              <a:buNone/>
            </a:pPr>
            <a:r>
              <a:rPr lang="en-US" sz="1000" dirty="0">
                <a:solidFill>
                  <a:srgbClr val="8A97A5"/>
                </a:solidFill>
                <a:latin typeface="Calibri" pitchFamily="34" charset="0"/>
                <a:ea typeface="Calibri" pitchFamily="34" charset="-122"/>
                <a:cs typeface="Calibri" pitchFamily="34" charset="-120"/>
              </a:rPr>
              <a:t>4</a:t>
            </a:r>
            <a:endParaRPr lang="en-US" sz="1000" dirty="0"/>
          </a:p>
        </p:txBody>
      </p:sp>
      <p:sp>
        <p:nvSpPr>
          <p:cNvPr id="7" name="Shape 5"/>
          <p:cNvSpPr/>
          <p:nvPr/>
        </p:nvSpPr>
        <p:spPr>
          <a:xfrm>
            <a:off x="548640" y="1874520"/>
            <a:ext cx="2606040" cy="3246120"/>
          </a:xfrm>
          <a:prstGeom prst="roundRect">
            <a:avLst>
              <a:gd name="adj" fmla="val 4211"/>
            </a:avLst>
          </a:prstGeom>
          <a:solidFill>
            <a:srgbClr val="F3F6F9"/>
          </a:solidFill>
          <a:ln w="12700">
            <a:solidFill>
              <a:srgbClr val="F3F6F9"/>
            </a:solidFill>
            <a:prstDash val="solid"/>
          </a:ln>
        </p:spPr>
      </p:sp>
      <p:sp>
        <p:nvSpPr>
          <p:cNvPr id="8" name="Shape 6"/>
          <p:cNvSpPr/>
          <p:nvPr/>
        </p:nvSpPr>
        <p:spPr>
          <a:xfrm>
            <a:off x="777240" y="2103120"/>
            <a:ext cx="640080" cy="640080"/>
          </a:xfrm>
          <a:prstGeom prst="ellipse">
            <a:avLst/>
          </a:prstGeom>
          <a:solidFill>
            <a:srgbClr val="DCEFF1"/>
          </a:solidFill>
          <a:ln w="12700">
            <a:solidFill>
              <a:srgbClr val="DCEFF1"/>
            </a:solidFill>
            <a:prstDash val="solid"/>
          </a:ln>
        </p:spPr>
      </p:sp>
      <p:pic>
        <p:nvPicPr>
          <p:cNvPr id="9" name="Image 0" descr="preencoded.png">    </p:cNvPr>
          <p:cNvPicPr>
            <a:picLocks noChangeAspect="1"/>
          </p:cNvPicPr>
          <p:nvPr/>
        </p:nvPicPr>
        <p:blipFill>
          <a:blip r:embed="rId1"/>
          <a:stretch>
            <a:fillRect/>
          </a:stretch>
        </p:blipFill>
        <p:spPr>
          <a:xfrm>
            <a:off x="937260" y="2263140"/>
            <a:ext cx="320040" cy="320040"/>
          </a:xfrm>
          <a:prstGeom prst="rect">
            <a:avLst/>
          </a:prstGeom>
        </p:spPr>
      </p:pic>
      <p:sp>
        <p:nvSpPr>
          <p:cNvPr id="10" name="Text 7"/>
          <p:cNvSpPr txBox="1"/>
          <p:nvPr/>
        </p:nvSpPr>
        <p:spPr>
          <a:xfrm>
            <a:off x="2423160" y="2057400"/>
            <a:ext cx="548640" cy="640080"/>
          </a:xfrm>
          <a:prstGeom prst="rect">
            <a:avLst/>
          </a:prstGeom>
          <a:noFill/>
          <a:ln/>
        </p:spPr>
        <p:txBody>
          <a:bodyPr wrap="square" lIns="0" tIns="0" rIns="0" bIns="0" rtlCol="0" anchor="ctr"/>
          <a:lstStyle/>
          <a:p>
            <a:pPr algn="r" indent="0" marL="0">
              <a:buNone/>
            </a:pPr>
            <a:r>
              <a:rPr lang="en-US" sz="3600" b="1" dirty="0">
                <a:solidFill>
                  <a:srgbClr val="E1E6EB"/>
                </a:solidFill>
                <a:latin typeface="Calibri" pitchFamily="34" charset="0"/>
                <a:ea typeface="Calibri" pitchFamily="34" charset="-122"/>
                <a:cs typeface="Calibri" pitchFamily="34" charset="-120"/>
              </a:rPr>
              <a:t>1</a:t>
            </a:r>
            <a:endParaRPr lang="en-US" sz="3600" dirty="0"/>
          </a:p>
        </p:txBody>
      </p:sp>
      <p:sp>
        <p:nvSpPr>
          <p:cNvPr id="11" name="Text 8"/>
          <p:cNvSpPr txBox="1"/>
          <p:nvPr/>
        </p:nvSpPr>
        <p:spPr>
          <a:xfrm>
            <a:off x="777240" y="2880360"/>
            <a:ext cx="2148840" cy="365760"/>
          </a:xfrm>
          <a:prstGeom prst="rect">
            <a:avLst/>
          </a:prstGeom>
          <a:noFill/>
          <a:ln/>
        </p:spPr>
        <p:txBody>
          <a:bodyPr wrap="square" lIns="0" tIns="0" rIns="0" bIns="0" rtlCol="0" anchor="ctr"/>
          <a:lstStyle/>
          <a:p>
            <a:pPr indent="0" marL="0">
              <a:buNone/>
            </a:pPr>
            <a:r>
              <a:rPr lang="en-US" sz="2000" b="1" dirty="0">
                <a:solidFill>
                  <a:srgbClr val="0E7C86"/>
                </a:solidFill>
                <a:latin typeface="Calibri" pitchFamily="34" charset="0"/>
                <a:ea typeface="Calibri" pitchFamily="34" charset="-122"/>
                <a:cs typeface="Calibri" pitchFamily="34" charset="-120"/>
              </a:rPr>
              <a:t>Bedden</a:t>
            </a:r>
            <a:endParaRPr lang="en-US" sz="2000" dirty="0"/>
          </a:p>
        </p:txBody>
      </p:sp>
      <p:sp>
        <p:nvSpPr>
          <p:cNvPr id="12" name="Text 9"/>
          <p:cNvSpPr txBox="1"/>
          <p:nvPr/>
        </p:nvSpPr>
        <p:spPr>
          <a:xfrm>
            <a:off x="777240" y="3291840"/>
            <a:ext cx="2148840" cy="731520"/>
          </a:xfrm>
          <a:prstGeom prst="rect">
            <a:avLst/>
          </a:prstGeom>
          <a:noFill/>
          <a:ln/>
        </p:spPr>
        <p:txBody>
          <a:bodyPr wrap="square" lIns="0" tIns="0" rIns="0" bIns="0" rtlCol="0" anchor="ctr"/>
          <a:lstStyle/>
          <a:p>
            <a:pPr indent="0" marL="0">
              <a:buNone/>
            </a:pPr>
            <a:r>
              <a:rPr lang="en-US" sz="1300" dirty="0">
                <a:solidFill>
                  <a:srgbClr val="12283A"/>
                </a:solidFill>
                <a:latin typeface="Calibri" pitchFamily="34" charset="0"/>
                <a:ea typeface="Calibri" pitchFamily="34" charset="-122"/>
                <a:cs typeface="Calibri" pitchFamily="34" charset="-120"/>
              </a:rPr>
              <a:t>Hoeveel bedden hebben we per week nodig?</a:t>
            </a:r>
            <a:endParaRPr lang="en-US" sz="1300" dirty="0"/>
          </a:p>
        </p:txBody>
      </p:sp>
      <p:sp>
        <p:nvSpPr>
          <p:cNvPr id="13" name="Text 10"/>
          <p:cNvSpPr txBox="1"/>
          <p:nvPr/>
        </p:nvSpPr>
        <p:spPr>
          <a:xfrm>
            <a:off x="777240" y="4041648"/>
            <a:ext cx="2148840" cy="457200"/>
          </a:xfrm>
          <a:prstGeom prst="rect">
            <a:avLst/>
          </a:prstGeom>
          <a:noFill/>
          <a:ln/>
        </p:spPr>
        <p:txBody>
          <a:bodyPr wrap="square" lIns="0" tIns="0" rIns="0" bIns="0" rtlCol="0" anchor="ctr"/>
          <a:lstStyle/>
          <a:p>
            <a:pPr indent="0" marL="0">
              <a:buNone/>
            </a:pPr>
            <a:r>
              <a:rPr lang="en-US" sz="1100" dirty="0">
                <a:solidFill>
                  <a:srgbClr val="5F6E7F"/>
                </a:solidFill>
                <a:latin typeface="Calibri" pitchFamily="34" charset="0"/>
                <a:ea typeface="Calibri" pitchFamily="34" charset="-122"/>
                <a:cs typeface="Calibri" pitchFamily="34" charset="-120"/>
              </a:rPr>
              <a:t>op basis van instroom, aanwezigheid en ligduur</a:t>
            </a:r>
            <a:endParaRPr lang="en-US" sz="1100" dirty="0"/>
          </a:p>
        </p:txBody>
      </p:sp>
      <p:sp>
        <p:nvSpPr>
          <p:cNvPr id="14" name="Text 11"/>
          <p:cNvSpPr txBox="1"/>
          <p:nvPr/>
        </p:nvSpPr>
        <p:spPr>
          <a:xfrm>
            <a:off x="777240" y="4526280"/>
            <a:ext cx="2148840" cy="201168"/>
          </a:xfrm>
          <a:prstGeom prst="rect">
            <a:avLst/>
          </a:prstGeom>
          <a:noFill/>
          <a:ln/>
        </p:spPr>
        <p:txBody>
          <a:bodyPr wrap="square" lIns="0" tIns="0" rIns="0" bIns="0" rtlCol="0" anchor="ctr"/>
          <a:lstStyle/>
          <a:p>
            <a:pPr indent="0" marL="0">
              <a:buNone/>
            </a:pPr>
            <a:r>
              <a:rPr lang="en-US" sz="900" b="1" spc="200" kern="0" dirty="0">
                <a:solidFill>
                  <a:srgbClr val="5F6E7F"/>
                </a:solidFill>
                <a:latin typeface="Calibri" pitchFamily="34" charset="0"/>
                <a:ea typeface="Calibri" pitchFamily="34" charset="-122"/>
                <a:cs typeface="Calibri" pitchFamily="34" charset="-120"/>
              </a:rPr>
              <a:t>LEVERT OP</a:t>
            </a:r>
            <a:endParaRPr lang="en-US" sz="900" dirty="0"/>
          </a:p>
        </p:txBody>
      </p:sp>
      <p:sp>
        <p:nvSpPr>
          <p:cNvPr id="15" name="Text 12"/>
          <p:cNvSpPr txBox="1"/>
          <p:nvPr/>
        </p:nvSpPr>
        <p:spPr>
          <a:xfrm>
            <a:off x="777240" y="4727448"/>
            <a:ext cx="2148840" cy="320040"/>
          </a:xfrm>
          <a:prstGeom prst="rect">
            <a:avLst/>
          </a:prstGeom>
          <a:noFill/>
          <a:ln/>
        </p:spPr>
        <p:txBody>
          <a:bodyPr wrap="square" lIns="0" tIns="0" rIns="0" bIns="0" rtlCol="0" anchor="ctr"/>
          <a:lstStyle/>
          <a:p>
            <a:pPr indent="0" marL="0">
              <a:buNone/>
            </a:pPr>
            <a:r>
              <a:rPr lang="en-US" sz="1300" b="1" dirty="0">
                <a:solidFill>
                  <a:srgbClr val="12283A"/>
                </a:solidFill>
                <a:latin typeface="Calibri" pitchFamily="34" charset="0"/>
                <a:ea typeface="Calibri" pitchFamily="34" charset="-122"/>
                <a:cs typeface="Calibri" pitchFamily="34" charset="-120"/>
              </a:rPr>
              <a:t>bedden per week</a:t>
            </a:r>
            <a:endParaRPr lang="en-US" sz="1300" dirty="0"/>
          </a:p>
        </p:txBody>
      </p:sp>
      <p:sp>
        <p:nvSpPr>
          <p:cNvPr id="16" name="Shape 13"/>
          <p:cNvSpPr/>
          <p:nvPr/>
        </p:nvSpPr>
        <p:spPr>
          <a:xfrm>
            <a:off x="3172968" y="3337560"/>
            <a:ext cx="219456" cy="320040"/>
          </a:xfrm>
          <a:prstGeom prst="rightArrow">
            <a:avLst/>
          </a:prstGeom>
          <a:solidFill>
            <a:srgbClr val="E1E6EB"/>
          </a:solidFill>
          <a:ln w="12700">
            <a:solidFill>
              <a:srgbClr val="E1E6EB"/>
            </a:solidFill>
            <a:prstDash val="solid"/>
          </a:ln>
        </p:spPr>
      </p:sp>
      <p:sp>
        <p:nvSpPr>
          <p:cNvPr id="17" name="Shape 14"/>
          <p:cNvSpPr/>
          <p:nvPr/>
        </p:nvSpPr>
        <p:spPr>
          <a:xfrm>
            <a:off x="3410712" y="1874520"/>
            <a:ext cx="2606040" cy="3246120"/>
          </a:xfrm>
          <a:prstGeom prst="roundRect">
            <a:avLst>
              <a:gd name="adj" fmla="val 4211"/>
            </a:avLst>
          </a:prstGeom>
          <a:solidFill>
            <a:srgbClr val="F3F6F9"/>
          </a:solidFill>
          <a:ln w="12700">
            <a:solidFill>
              <a:srgbClr val="F3F6F9"/>
            </a:solidFill>
            <a:prstDash val="solid"/>
          </a:ln>
        </p:spPr>
      </p:sp>
      <p:sp>
        <p:nvSpPr>
          <p:cNvPr id="18" name="Shape 15"/>
          <p:cNvSpPr/>
          <p:nvPr/>
        </p:nvSpPr>
        <p:spPr>
          <a:xfrm>
            <a:off x="3639312" y="2103120"/>
            <a:ext cx="640080" cy="640080"/>
          </a:xfrm>
          <a:prstGeom prst="ellipse">
            <a:avLst/>
          </a:prstGeom>
          <a:solidFill>
            <a:srgbClr val="FCE9D9"/>
          </a:solidFill>
          <a:ln w="12700">
            <a:solidFill>
              <a:srgbClr val="FCE9D9"/>
            </a:solidFill>
            <a:prstDash val="solid"/>
          </a:ln>
        </p:spPr>
      </p:sp>
      <p:pic>
        <p:nvPicPr>
          <p:cNvPr id="19" name="Image 1" descr="preencoded.png">    </p:cNvPr>
          <p:cNvPicPr>
            <a:picLocks noChangeAspect="1"/>
          </p:cNvPicPr>
          <p:nvPr/>
        </p:nvPicPr>
        <p:blipFill>
          <a:blip r:embed="rId2"/>
          <a:stretch>
            <a:fillRect/>
          </a:stretch>
        </p:blipFill>
        <p:spPr>
          <a:xfrm>
            <a:off x="3799332" y="2263140"/>
            <a:ext cx="320040" cy="320040"/>
          </a:xfrm>
          <a:prstGeom prst="rect">
            <a:avLst/>
          </a:prstGeom>
        </p:spPr>
      </p:pic>
      <p:sp>
        <p:nvSpPr>
          <p:cNvPr id="20" name="Text 16"/>
          <p:cNvSpPr txBox="1"/>
          <p:nvPr/>
        </p:nvSpPr>
        <p:spPr>
          <a:xfrm>
            <a:off x="5285232" y="2057400"/>
            <a:ext cx="548640" cy="640080"/>
          </a:xfrm>
          <a:prstGeom prst="rect">
            <a:avLst/>
          </a:prstGeom>
          <a:noFill/>
          <a:ln/>
        </p:spPr>
        <p:txBody>
          <a:bodyPr wrap="square" lIns="0" tIns="0" rIns="0" bIns="0" rtlCol="0" anchor="ctr"/>
          <a:lstStyle/>
          <a:p>
            <a:pPr algn="r" indent="0" marL="0">
              <a:buNone/>
            </a:pPr>
            <a:r>
              <a:rPr lang="en-US" sz="3600" b="1" dirty="0">
                <a:solidFill>
                  <a:srgbClr val="E1E6EB"/>
                </a:solidFill>
                <a:latin typeface="Calibri" pitchFamily="34" charset="0"/>
                <a:ea typeface="Calibri" pitchFamily="34" charset="-122"/>
                <a:cs typeface="Calibri" pitchFamily="34" charset="-120"/>
              </a:rPr>
              <a:t>2</a:t>
            </a:r>
            <a:endParaRPr lang="en-US" sz="3600" dirty="0"/>
          </a:p>
        </p:txBody>
      </p:sp>
      <p:sp>
        <p:nvSpPr>
          <p:cNvPr id="21" name="Text 17"/>
          <p:cNvSpPr txBox="1"/>
          <p:nvPr/>
        </p:nvSpPr>
        <p:spPr>
          <a:xfrm>
            <a:off x="3639312" y="2880360"/>
            <a:ext cx="2148840" cy="365760"/>
          </a:xfrm>
          <a:prstGeom prst="rect">
            <a:avLst/>
          </a:prstGeom>
          <a:noFill/>
          <a:ln/>
        </p:spPr>
        <p:txBody>
          <a:bodyPr wrap="square" lIns="0" tIns="0" rIns="0" bIns="0" rtlCol="0" anchor="ctr"/>
          <a:lstStyle/>
          <a:p>
            <a:pPr indent="0" marL="0">
              <a:buNone/>
            </a:pPr>
            <a:r>
              <a:rPr lang="en-US" sz="2000" b="1" dirty="0">
                <a:solidFill>
                  <a:srgbClr val="E07A1F"/>
                </a:solidFill>
                <a:latin typeface="Calibri" pitchFamily="34" charset="0"/>
                <a:ea typeface="Calibri" pitchFamily="34" charset="-122"/>
                <a:cs typeface="Calibri" pitchFamily="34" charset="-120"/>
              </a:rPr>
              <a:t>Norm</a:t>
            </a:r>
            <a:endParaRPr lang="en-US" sz="2000" dirty="0"/>
          </a:p>
        </p:txBody>
      </p:sp>
      <p:sp>
        <p:nvSpPr>
          <p:cNvPr id="22" name="Text 18"/>
          <p:cNvSpPr txBox="1"/>
          <p:nvPr/>
        </p:nvSpPr>
        <p:spPr>
          <a:xfrm>
            <a:off x="3639312" y="3291840"/>
            <a:ext cx="2148840" cy="731520"/>
          </a:xfrm>
          <a:prstGeom prst="rect">
            <a:avLst/>
          </a:prstGeom>
          <a:noFill/>
          <a:ln/>
        </p:spPr>
        <p:txBody>
          <a:bodyPr wrap="square" lIns="0" tIns="0" rIns="0" bIns="0" rtlCol="0" anchor="ctr"/>
          <a:lstStyle/>
          <a:p>
            <a:pPr indent="0" marL="0">
              <a:buNone/>
            </a:pPr>
            <a:r>
              <a:rPr lang="en-US" sz="1300" dirty="0">
                <a:solidFill>
                  <a:srgbClr val="12283A"/>
                </a:solidFill>
                <a:latin typeface="Calibri" pitchFamily="34" charset="0"/>
                <a:ea typeface="Calibri" pitchFamily="34" charset="-122"/>
                <a:cs typeface="Calibri" pitchFamily="34" charset="-120"/>
              </a:rPr>
              <a:t>Hoeveel verpleegkundigen per dienst?</a:t>
            </a:r>
            <a:endParaRPr lang="en-US" sz="1300" dirty="0"/>
          </a:p>
        </p:txBody>
      </p:sp>
      <p:sp>
        <p:nvSpPr>
          <p:cNvPr id="23" name="Text 19"/>
          <p:cNvSpPr txBox="1"/>
          <p:nvPr/>
        </p:nvSpPr>
        <p:spPr>
          <a:xfrm>
            <a:off x="3639312" y="4041648"/>
            <a:ext cx="2148840" cy="457200"/>
          </a:xfrm>
          <a:prstGeom prst="rect">
            <a:avLst/>
          </a:prstGeom>
          <a:noFill/>
          <a:ln/>
        </p:spPr>
        <p:txBody>
          <a:bodyPr wrap="square" lIns="0" tIns="0" rIns="0" bIns="0" rtlCol="0" anchor="ctr"/>
          <a:lstStyle/>
          <a:p>
            <a:pPr indent="0" marL="0">
              <a:buNone/>
            </a:pPr>
            <a:r>
              <a:rPr lang="en-US" sz="1100" dirty="0">
                <a:solidFill>
                  <a:srgbClr val="5F6E7F"/>
                </a:solidFill>
                <a:latin typeface="Calibri" pitchFamily="34" charset="0"/>
                <a:ea typeface="Calibri" pitchFamily="34" charset="-122"/>
                <a:cs typeface="Calibri" pitchFamily="34" charset="-120"/>
              </a:rPr>
              <a:t>dag, laat en nacht, plus de indirecte uren</a:t>
            </a:r>
            <a:endParaRPr lang="en-US" sz="1100" dirty="0"/>
          </a:p>
        </p:txBody>
      </p:sp>
      <p:sp>
        <p:nvSpPr>
          <p:cNvPr id="24" name="Text 20"/>
          <p:cNvSpPr txBox="1"/>
          <p:nvPr/>
        </p:nvSpPr>
        <p:spPr>
          <a:xfrm>
            <a:off x="3639312" y="4526280"/>
            <a:ext cx="2148840" cy="201168"/>
          </a:xfrm>
          <a:prstGeom prst="rect">
            <a:avLst/>
          </a:prstGeom>
          <a:noFill/>
          <a:ln/>
        </p:spPr>
        <p:txBody>
          <a:bodyPr wrap="square" lIns="0" tIns="0" rIns="0" bIns="0" rtlCol="0" anchor="ctr"/>
          <a:lstStyle/>
          <a:p>
            <a:pPr indent="0" marL="0">
              <a:buNone/>
            </a:pPr>
            <a:r>
              <a:rPr lang="en-US" sz="900" b="1" spc="200" kern="0" dirty="0">
                <a:solidFill>
                  <a:srgbClr val="5F6E7F"/>
                </a:solidFill>
                <a:latin typeface="Calibri" pitchFamily="34" charset="0"/>
                <a:ea typeface="Calibri" pitchFamily="34" charset="-122"/>
                <a:cs typeface="Calibri" pitchFamily="34" charset="-120"/>
              </a:rPr>
              <a:t>LEVERT OP</a:t>
            </a:r>
            <a:endParaRPr lang="en-US" sz="900" dirty="0"/>
          </a:p>
        </p:txBody>
      </p:sp>
      <p:sp>
        <p:nvSpPr>
          <p:cNvPr id="25" name="Text 21"/>
          <p:cNvSpPr txBox="1"/>
          <p:nvPr/>
        </p:nvSpPr>
        <p:spPr>
          <a:xfrm>
            <a:off x="3639312" y="4727448"/>
            <a:ext cx="2148840" cy="320040"/>
          </a:xfrm>
          <a:prstGeom prst="rect">
            <a:avLst/>
          </a:prstGeom>
          <a:noFill/>
          <a:ln/>
        </p:spPr>
        <p:txBody>
          <a:bodyPr wrap="square" lIns="0" tIns="0" rIns="0" bIns="0" rtlCol="0" anchor="ctr"/>
          <a:lstStyle/>
          <a:p>
            <a:pPr indent="0" marL="0">
              <a:buNone/>
            </a:pPr>
            <a:r>
              <a:rPr lang="en-US" sz="1300" b="1" dirty="0">
                <a:solidFill>
                  <a:srgbClr val="12283A"/>
                </a:solidFill>
                <a:latin typeface="Calibri" pitchFamily="34" charset="0"/>
                <a:ea typeface="Calibri" pitchFamily="34" charset="-122"/>
                <a:cs typeface="Calibri" pitchFamily="34" charset="-120"/>
              </a:rPr>
              <a:t>fte per afdeling</a:t>
            </a:r>
            <a:endParaRPr lang="en-US" sz="1300" dirty="0"/>
          </a:p>
        </p:txBody>
      </p:sp>
      <p:sp>
        <p:nvSpPr>
          <p:cNvPr id="26" name="Shape 22"/>
          <p:cNvSpPr/>
          <p:nvPr/>
        </p:nvSpPr>
        <p:spPr>
          <a:xfrm>
            <a:off x="6035040" y="3337560"/>
            <a:ext cx="219456" cy="320040"/>
          </a:xfrm>
          <a:prstGeom prst="rightArrow">
            <a:avLst/>
          </a:prstGeom>
          <a:solidFill>
            <a:srgbClr val="E1E6EB"/>
          </a:solidFill>
          <a:ln w="12700">
            <a:solidFill>
              <a:srgbClr val="E1E6EB"/>
            </a:solidFill>
            <a:prstDash val="solid"/>
          </a:ln>
        </p:spPr>
      </p:sp>
      <p:sp>
        <p:nvSpPr>
          <p:cNvPr id="27" name="Shape 23"/>
          <p:cNvSpPr/>
          <p:nvPr/>
        </p:nvSpPr>
        <p:spPr>
          <a:xfrm>
            <a:off x="6272784" y="1874520"/>
            <a:ext cx="2606040" cy="3246120"/>
          </a:xfrm>
          <a:prstGeom prst="roundRect">
            <a:avLst>
              <a:gd name="adj" fmla="val 4211"/>
            </a:avLst>
          </a:prstGeom>
          <a:solidFill>
            <a:srgbClr val="F3F6F9"/>
          </a:solidFill>
          <a:ln w="12700">
            <a:solidFill>
              <a:srgbClr val="F3F6F9"/>
            </a:solidFill>
            <a:prstDash val="solid"/>
          </a:ln>
        </p:spPr>
      </p:sp>
      <p:sp>
        <p:nvSpPr>
          <p:cNvPr id="28" name="Shape 24"/>
          <p:cNvSpPr/>
          <p:nvPr/>
        </p:nvSpPr>
        <p:spPr>
          <a:xfrm>
            <a:off x="6501384" y="2103120"/>
            <a:ext cx="640080" cy="640080"/>
          </a:xfrm>
          <a:prstGeom prst="ellipse">
            <a:avLst/>
          </a:prstGeom>
          <a:solidFill>
            <a:srgbClr val="E2E6F5"/>
          </a:solidFill>
          <a:ln w="12700">
            <a:solidFill>
              <a:srgbClr val="E2E6F5"/>
            </a:solidFill>
            <a:prstDash val="solid"/>
          </a:ln>
        </p:spPr>
      </p:sp>
      <p:pic>
        <p:nvPicPr>
          <p:cNvPr id="29" name="Image 2" descr="preencoded.png">    </p:cNvPr>
          <p:cNvPicPr>
            <a:picLocks noChangeAspect="1"/>
          </p:cNvPicPr>
          <p:nvPr/>
        </p:nvPicPr>
        <p:blipFill>
          <a:blip r:embed="rId3"/>
          <a:stretch>
            <a:fillRect/>
          </a:stretch>
        </p:blipFill>
        <p:spPr>
          <a:xfrm>
            <a:off x="6661404" y="2263140"/>
            <a:ext cx="320040" cy="320040"/>
          </a:xfrm>
          <a:prstGeom prst="rect">
            <a:avLst/>
          </a:prstGeom>
        </p:spPr>
      </p:pic>
      <p:sp>
        <p:nvSpPr>
          <p:cNvPr id="30" name="Text 25"/>
          <p:cNvSpPr txBox="1"/>
          <p:nvPr/>
        </p:nvSpPr>
        <p:spPr>
          <a:xfrm>
            <a:off x="8147304" y="2057400"/>
            <a:ext cx="548640" cy="640080"/>
          </a:xfrm>
          <a:prstGeom prst="rect">
            <a:avLst/>
          </a:prstGeom>
          <a:noFill/>
          <a:ln/>
        </p:spPr>
        <p:txBody>
          <a:bodyPr wrap="square" lIns="0" tIns="0" rIns="0" bIns="0" rtlCol="0" anchor="ctr"/>
          <a:lstStyle/>
          <a:p>
            <a:pPr algn="r" indent="0" marL="0">
              <a:buNone/>
            </a:pPr>
            <a:r>
              <a:rPr lang="en-US" sz="3600" b="1" dirty="0">
                <a:solidFill>
                  <a:srgbClr val="E1E6EB"/>
                </a:solidFill>
                <a:latin typeface="Calibri" pitchFamily="34" charset="0"/>
                <a:ea typeface="Calibri" pitchFamily="34" charset="-122"/>
                <a:cs typeface="Calibri" pitchFamily="34" charset="-120"/>
              </a:rPr>
              <a:t>3</a:t>
            </a:r>
            <a:endParaRPr lang="en-US" sz="3600" dirty="0"/>
          </a:p>
        </p:txBody>
      </p:sp>
      <p:sp>
        <p:nvSpPr>
          <p:cNvPr id="31" name="Text 26"/>
          <p:cNvSpPr txBox="1"/>
          <p:nvPr/>
        </p:nvSpPr>
        <p:spPr>
          <a:xfrm>
            <a:off x="6501384" y="2880360"/>
            <a:ext cx="2148840" cy="365760"/>
          </a:xfrm>
          <a:prstGeom prst="rect">
            <a:avLst/>
          </a:prstGeom>
          <a:noFill/>
          <a:ln/>
        </p:spPr>
        <p:txBody>
          <a:bodyPr wrap="square" lIns="0" tIns="0" rIns="0" bIns="0" rtlCol="0" anchor="ctr"/>
          <a:lstStyle/>
          <a:p>
            <a:pPr indent="0" marL="0">
              <a:buNone/>
            </a:pPr>
            <a:r>
              <a:rPr lang="en-US" sz="2000" b="1" dirty="0">
                <a:solidFill>
                  <a:srgbClr val="3F4F9B"/>
                </a:solidFill>
                <a:latin typeface="Calibri" pitchFamily="34" charset="0"/>
                <a:ea typeface="Calibri" pitchFamily="34" charset="-122"/>
                <a:cs typeface="Calibri" pitchFamily="34" charset="-120"/>
              </a:rPr>
              <a:t>Rooster</a:t>
            </a:r>
            <a:endParaRPr lang="en-US" sz="2000" dirty="0"/>
          </a:p>
        </p:txBody>
      </p:sp>
      <p:sp>
        <p:nvSpPr>
          <p:cNvPr id="32" name="Text 27"/>
          <p:cNvSpPr txBox="1"/>
          <p:nvPr/>
        </p:nvSpPr>
        <p:spPr>
          <a:xfrm>
            <a:off x="6501384" y="3291840"/>
            <a:ext cx="2148840" cy="731520"/>
          </a:xfrm>
          <a:prstGeom prst="rect">
            <a:avLst/>
          </a:prstGeom>
          <a:noFill/>
          <a:ln/>
        </p:spPr>
        <p:txBody>
          <a:bodyPr wrap="square" lIns="0" tIns="0" rIns="0" bIns="0" rtlCol="0" anchor="ctr"/>
          <a:lstStyle/>
          <a:p>
            <a:pPr indent="0" marL="0">
              <a:buNone/>
            </a:pPr>
            <a:r>
              <a:rPr lang="en-US" sz="1300" dirty="0">
                <a:solidFill>
                  <a:srgbClr val="12283A"/>
                </a:solidFill>
                <a:latin typeface="Calibri" pitchFamily="34" charset="0"/>
                <a:ea typeface="Calibri" pitchFamily="34" charset="-122"/>
                <a:cs typeface="Calibri" pitchFamily="34" charset="-120"/>
              </a:rPr>
              <a:t>Wie werkt wanneer?</a:t>
            </a:r>
            <a:endParaRPr lang="en-US" sz="1300" dirty="0"/>
          </a:p>
        </p:txBody>
      </p:sp>
      <p:sp>
        <p:nvSpPr>
          <p:cNvPr id="33" name="Text 28"/>
          <p:cNvSpPr txBox="1"/>
          <p:nvPr/>
        </p:nvSpPr>
        <p:spPr>
          <a:xfrm>
            <a:off x="6501384" y="4041648"/>
            <a:ext cx="2148840" cy="457200"/>
          </a:xfrm>
          <a:prstGeom prst="rect">
            <a:avLst/>
          </a:prstGeom>
          <a:noFill/>
          <a:ln/>
        </p:spPr>
        <p:txBody>
          <a:bodyPr wrap="square" lIns="0" tIns="0" rIns="0" bIns="0" rtlCol="0" anchor="ctr"/>
          <a:lstStyle/>
          <a:p>
            <a:pPr indent="0" marL="0">
              <a:buNone/>
            </a:pPr>
            <a:r>
              <a:rPr lang="en-US" sz="1100" dirty="0">
                <a:solidFill>
                  <a:srgbClr val="5F6E7F"/>
                </a:solidFill>
                <a:latin typeface="Calibri" pitchFamily="34" charset="0"/>
                <a:ea typeface="Calibri" pitchFamily="34" charset="-122"/>
                <a:cs typeface="Calibri" pitchFamily="34" charset="-120"/>
              </a:rPr>
              <a:t>roostersleutel, planning door CPP</a:t>
            </a:r>
            <a:endParaRPr lang="en-US" sz="1100" dirty="0"/>
          </a:p>
        </p:txBody>
      </p:sp>
      <p:sp>
        <p:nvSpPr>
          <p:cNvPr id="34" name="Text 29"/>
          <p:cNvSpPr txBox="1"/>
          <p:nvPr/>
        </p:nvSpPr>
        <p:spPr>
          <a:xfrm>
            <a:off x="6501384" y="4526280"/>
            <a:ext cx="2148840" cy="201168"/>
          </a:xfrm>
          <a:prstGeom prst="rect">
            <a:avLst/>
          </a:prstGeom>
          <a:noFill/>
          <a:ln/>
        </p:spPr>
        <p:txBody>
          <a:bodyPr wrap="square" lIns="0" tIns="0" rIns="0" bIns="0" rtlCol="0" anchor="ctr"/>
          <a:lstStyle/>
          <a:p>
            <a:pPr indent="0" marL="0">
              <a:buNone/>
            </a:pPr>
            <a:r>
              <a:rPr lang="en-US" sz="900" b="1" spc="200" kern="0" dirty="0">
                <a:solidFill>
                  <a:srgbClr val="5F6E7F"/>
                </a:solidFill>
                <a:latin typeface="Calibri" pitchFamily="34" charset="0"/>
                <a:ea typeface="Calibri" pitchFamily="34" charset="-122"/>
                <a:cs typeface="Calibri" pitchFamily="34" charset="-120"/>
              </a:rPr>
              <a:t>LEVERT OP</a:t>
            </a:r>
            <a:endParaRPr lang="en-US" sz="900" dirty="0"/>
          </a:p>
        </p:txBody>
      </p:sp>
      <p:sp>
        <p:nvSpPr>
          <p:cNvPr id="35" name="Text 30"/>
          <p:cNvSpPr txBox="1"/>
          <p:nvPr/>
        </p:nvSpPr>
        <p:spPr>
          <a:xfrm>
            <a:off x="6501384" y="4727448"/>
            <a:ext cx="2148840" cy="320040"/>
          </a:xfrm>
          <a:prstGeom prst="rect">
            <a:avLst/>
          </a:prstGeom>
          <a:noFill/>
          <a:ln/>
        </p:spPr>
        <p:txBody>
          <a:bodyPr wrap="square" lIns="0" tIns="0" rIns="0" bIns="0" rtlCol="0" anchor="ctr"/>
          <a:lstStyle/>
          <a:p>
            <a:pPr indent="0" marL="0">
              <a:buNone/>
            </a:pPr>
            <a:r>
              <a:rPr lang="en-US" sz="1300" b="1" dirty="0">
                <a:solidFill>
                  <a:srgbClr val="12283A"/>
                </a:solidFill>
                <a:latin typeface="Calibri" pitchFamily="34" charset="0"/>
                <a:ea typeface="Calibri" pitchFamily="34" charset="-122"/>
                <a:cs typeface="Calibri" pitchFamily="34" charset="-120"/>
              </a:rPr>
              <a:t>het rooster</a:t>
            </a:r>
            <a:endParaRPr lang="en-US" sz="1300" dirty="0"/>
          </a:p>
        </p:txBody>
      </p:sp>
      <p:sp>
        <p:nvSpPr>
          <p:cNvPr id="36" name="Shape 31"/>
          <p:cNvSpPr/>
          <p:nvPr/>
        </p:nvSpPr>
        <p:spPr>
          <a:xfrm>
            <a:off x="8897112" y="3337560"/>
            <a:ext cx="219456" cy="320040"/>
          </a:xfrm>
          <a:prstGeom prst="rightArrow">
            <a:avLst/>
          </a:prstGeom>
          <a:solidFill>
            <a:srgbClr val="E1E6EB"/>
          </a:solidFill>
          <a:ln w="12700">
            <a:solidFill>
              <a:srgbClr val="E1E6EB"/>
            </a:solidFill>
            <a:prstDash val="solid"/>
          </a:ln>
        </p:spPr>
      </p:sp>
      <p:sp>
        <p:nvSpPr>
          <p:cNvPr id="37" name="Shape 32"/>
          <p:cNvSpPr/>
          <p:nvPr/>
        </p:nvSpPr>
        <p:spPr>
          <a:xfrm>
            <a:off x="9134856" y="1874520"/>
            <a:ext cx="2606040" cy="3246120"/>
          </a:xfrm>
          <a:prstGeom prst="roundRect">
            <a:avLst>
              <a:gd name="adj" fmla="val 4211"/>
            </a:avLst>
          </a:prstGeom>
          <a:solidFill>
            <a:srgbClr val="F3F6F9"/>
          </a:solidFill>
          <a:ln w="12700">
            <a:solidFill>
              <a:srgbClr val="F3F6F9"/>
            </a:solidFill>
            <a:prstDash val="solid"/>
          </a:ln>
        </p:spPr>
      </p:sp>
      <p:sp>
        <p:nvSpPr>
          <p:cNvPr id="38" name="Shape 33"/>
          <p:cNvSpPr/>
          <p:nvPr/>
        </p:nvSpPr>
        <p:spPr>
          <a:xfrm>
            <a:off x="9363456" y="2103120"/>
            <a:ext cx="640080" cy="640080"/>
          </a:xfrm>
          <a:prstGeom prst="ellipse">
            <a:avLst/>
          </a:prstGeom>
          <a:solidFill>
            <a:srgbClr val="DDF1E6"/>
          </a:solidFill>
          <a:ln w="12700">
            <a:solidFill>
              <a:srgbClr val="DDF1E6"/>
            </a:solidFill>
            <a:prstDash val="solid"/>
          </a:ln>
        </p:spPr>
      </p:sp>
      <p:pic>
        <p:nvPicPr>
          <p:cNvPr id="39" name="Image 3" descr="preencoded.png">    </p:cNvPr>
          <p:cNvPicPr>
            <a:picLocks noChangeAspect="1"/>
          </p:cNvPicPr>
          <p:nvPr/>
        </p:nvPicPr>
        <p:blipFill>
          <a:blip r:embed="rId4"/>
          <a:stretch>
            <a:fillRect/>
          </a:stretch>
        </p:blipFill>
        <p:spPr>
          <a:xfrm>
            <a:off x="9523476" y="2263140"/>
            <a:ext cx="320040" cy="320040"/>
          </a:xfrm>
          <a:prstGeom prst="rect">
            <a:avLst/>
          </a:prstGeom>
        </p:spPr>
      </p:pic>
      <p:sp>
        <p:nvSpPr>
          <p:cNvPr id="40" name="Text 34"/>
          <p:cNvSpPr txBox="1"/>
          <p:nvPr/>
        </p:nvSpPr>
        <p:spPr>
          <a:xfrm>
            <a:off x="11009376" y="2057400"/>
            <a:ext cx="548640" cy="640080"/>
          </a:xfrm>
          <a:prstGeom prst="rect">
            <a:avLst/>
          </a:prstGeom>
          <a:noFill/>
          <a:ln/>
        </p:spPr>
        <p:txBody>
          <a:bodyPr wrap="square" lIns="0" tIns="0" rIns="0" bIns="0" rtlCol="0" anchor="ctr"/>
          <a:lstStyle/>
          <a:p>
            <a:pPr algn="r" indent="0" marL="0">
              <a:buNone/>
            </a:pPr>
            <a:r>
              <a:rPr lang="en-US" sz="3600" b="1" dirty="0">
                <a:solidFill>
                  <a:srgbClr val="E1E6EB"/>
                </a:solidFill>
                <a:latin typeface="Calibri" pitchFamily="34" charset="0"/>
                <a:ea typeface="Calibri" pitchFamily="34" charset="-122"/>
                <a:cs typeface="Calibri" pitchFamily="34" charset="-120"/>
              </a:rPr>
              <a:t>4</a:t>
            </a:r>
            <a:endParaRPr lang="en-US" sz="3600" dirty="0"/>
          </a:p>
        </p:txBody>
      </p:sp>
      <p:sp>
        <p:nvSpPr>
          <p:cNvPr id="41" name="Text 35"/>
          <p:cNvSpPr txBox="1"/>
          <p:nvPr/>
        </p:nvSpPr>
        <p:spPr>
          <a:xfrm>
            <a:off x="9363456" y="2880360"/>
            <a:ext cx="2148840" cy="365760"/>
          </a:xfrm>
          <a:prstGeom prst="rect">
            <a:avLst/>
          </a:prstGeom>
          <a:noFill/>
          <a:ln/>
        </p:spPr>
        <p:txBody>
          <a:bodyPr wrap="square" lIns="0" tIns="0" rIns="0" bIns="0" rtlCol="0" anchor="ctr"/>
          <a:lstStyle/>
          <a:p>
            <a:pPr indent="0" marL="0">
              <a:buNone/>
            </a:pPr>
            <a:r>
              <a:rPr lang="en-US" sz="2000" b="1" dirty="0">
                <a:solidFill>
                  <a:srgbClr val="2E8B57"/>
                </a:solidFill>
                <a:latin typeface="Calibri" pitchFamily="34" charset="0"/>
                <a:ea typeface="Calibri" pitchFamily="34" charset="-122"/>
                <a:cs typeface="Calibri" pitchFamily="34" charset="-120"/>
              </a:rPr>
              <a:t>Begroting</a:t>
            </a:r>
            <a:endParaRPr lang="en-US" sz="2000" dirty="0"/>
          </a:p>
        </p:txBody>
      </p:sp>
      <p:sp>
        <p:nvSpPr>
          <p:cNvPr id="42" name="Text 36"/>
          <p:cNvSpPr txBox="1"/>
          <p:nvPr/>
        </p:nvSpPr>
        <p:spPr>
          <a:xfrm>
            <a:off x="9363456" y="3291840"/>
            <a:ext cx="2148840" cy="731520"/>
          </a:xfrm>
          <a:prstGeom prst="rect">
            <a:avLst/>
          </a:prstGeom>
          <a:noFill/>
          <a:ln/>
        </p:spPr>
        <p:txBody>
          <a:bodyPr wrap="square" lIns="0" tIns="0" rIns="0" bIns="0" rtlCol="0" anchor="ctr"/>
          <a:lstStyle/>
          <a:p>
            <a:pPr indent="0" marL="0">
              <a:buNone/>
            </a:pPr>
            <a:r>
              <a:rPr lang="en-US" sz="1300" dirty="0">
                <a:solidFill>
                  <a:srgbClr val="12283A"/>
                </a:solidFill>
                <a:latin typeface="Calibri" pitchFamily="34" charset="0"/>
                <a:ea typeface="Calibri" pitchFamily="34" charset="-122"/>
                <a:cs typeface="Calibri" pitchFamily="34" charset="-120"/>
              </a:rPr>
              <a:t>Past het beschikbare personeel bij wat nodig is?</a:t>
            </a:r>
            <a:endParaRPr lang="en-US" sz="1300" dirty="0"/>
          </a:p>
        </p:txBody>
      </p:sp>
      <p:sp>
        <p:nvSpPr>
          <p:cNvPr id="43" name="Text 37"/>
          <p:cNvSpPr txBox="1"/>
          <p:nvPr/>
        </p:nvSpPr>
        <p:spPr>
          <a:xfrm>
            <a:off x="9363456" y="4041648"/>
            <a:ext cx="2148840" cy="457200"/>
          </a:xfrm>
          <a:prstGeom prst="rect">
            <a:avLst/>
          </a:prstGeom>
          <a:noFill/>
          <a:ln/>
        </p:spPr>
        <p:txBody>
          <a:bodyPr wrap="square" lIns="0" tIns="0" rIns="0" bIns="0" rtlCol="0" anchor="ctr"/>
          <a:lstStyle/>
          <a:p>
            <a:pPr indent="0" marL="0">
              <a:buNone/>
            </a:pPr>
            <a:r>
              <a:rPr lang="en-US" sz="1100" dirty="0">
                <a:solidFill>
                  <a:srgbClr val="5F6E7F"/>
                </a:solidFill>
                <a:latin typeface="Calibri" pitchFamily="34" charset="0"/>
                <a:ea typeface="Calibri" pitchFamily="34" charset="-122"/>
                <a:cs typeface="Calibri" pitchFamily="34" charset="-120"/>
              </a:rPr>
              <a:t>benodigd naast beschikbaar</a:t>
            </a:r>
            <a:endParaRPr lang="en-US" sz="1100" dirty="0"/>
          </a:p>
        </p:txBody>
      </p:sp>
      <p:sp>
        <p:nvSpPr>
          <p:cNvPr id="44" name="Text 38"/>
          <p:cNvSpPr txBox="1"/>
          <p:nvPr/>
        </p:nvSpPr>
        <p:spPr>
          <a:xfrm>
            <a:off x="9363456" y="4526280"/>
            <a:ext cx="2148840" cy="201168"/>
          </a:xfrm>
          <a:prstGeom prst="rect">
            <a:avLst/>
          </a:prstGeom>
          <a:noFill/>
          <a:ln/>
        </p:spPr>
        <p:txBody>
          <a:bodyPr wrap="square" lIns="0" tIns="0" rIns="0" bIns="0" rtlCol="0" anchor="ctr"/>
          <a:lstStyle/>
          <a:p>
            <a:pPr indent="0" marL="0">
              <a:buNone/>
            </a:pPr>
            <a:r>
              <a:rPr lang="en-US" sz="900" b="1" spc="200" kern="0" dirty="0">
                <a:solidFill>
                  <a:srgbClr val="5F6E7F"/>
                </a:solidFill>
                <a:latin typeface="Calibri" pitchFamily="34" charset="0"/>
                <a:ea typeface="Calibri" pitchFamily="34" charset="-122"/>
                <a:cs typeface="Calibri" pitchFamily="34" charset="-120"/>
              </a:rPr>
              <a:t>LEVERT OP</a:t>
            </a:r>
            <a:endParaRPr lang="en-US" sz="900" dirty="0"/>
          </a:p>
        </p:txBody>
      </p:sp>
      <p:sp>
        <p:nvSpPr>
          <p:cNvPr id="45" name="Text 39"/>
          <p:cNvSpPr txBox="1"/>
          <p:nvPr/>
        </p:nvSpPr>
        <p:spPr>
          <a:xfrm>
            <a:off x="9363456" y="4727448"/>
            <a:ext cx="2148840" cy="320040"/>
          </a:xfrm>
          <a:prstGeom prst="rect">
            <a:avLst/>
          </a:prstGeom>
          <a:noFill/>
          <a:ln/>
        </p:spPr>
        <p:txBody>
          <a:bodyPr wrap="square" lIns="0" tIns="0" rIns="0" bIns="0" rtlCol="0" anchor="ctr"/>
          <a:lstStyle/>
          <a:p>
            <a:pPr indent="0" marL="0">
              <a:buNone/>
            </a:pPr>
            <a:r>
              <a:rPr lang="en-US" sz="1300" b="1" dirty="0">
                <a:solidFill>
                  <a:srgbClr val="12283A"/>
                </a:solidFill>
                <a:latin typeface="Calibri" pitchFamily="34" charset="0"/>
                <a:ea typeface="Calibri" pitchFamily="34" charset="-122"/>
                <a:cs typeface="Calibri" pitchFamily="34" charset="-120"/>
              </a:rPr>
              <a:t>de fte-(mis)match</a:t>
            </a:r>
            <a:endParaRPr lang="en-US" sz="1300" dirty="0"/>
          </a:p>
        </p:txBody>
      </p:sp>
      <p:sp>
        <p:nvSpPr>
          <p:cNvPr id="46" name="Shape 40"/>
          <p:cNvSpPr/>
          <p:nvPr/>
        </p:nvSpPr>
        <p:spPr>
          <a:xfrm>
            <a:off x="548640" y="5440680"/>
            <a:ext cx="11094415" cy="777240"/>
          </a:xfrm>
          <a:prstGeom prst="roundRect">
            <a:avLst>
              <a:gd name="adj" fmla="val 14118"/>
            </a:avLst>
          </a:prstGeom>
          <a:solidFill>
            <a:srgbClr val="FCE9D9"/>
          </a:solidFill>
          <a:ln w="12700">
            <a:solidFill>
              <a:srgbClr val="FCE9D9"/>
            </a:solidFill>
            <a:prstDash val="solid"/>
          </a:ln>
        </p:spPr>
      </p:sp>
      <p:sp>
        <p:nvSpPr>
          <p:cNvPr id="47" name="Text 41"/>
          <p:cNvSpPr txBox="1"/>
          <p:nvPr/>
        </p:nvSpPr>
        <p:spPr>
          <a:xfrm>
            <a:off x="822960" y="5550408"/>
            <a:ext cx="2926080" cy="548640"/>
          </a:xfrm>
          <a:prstGeom prst="rect">
            <a:avLst/>
          </a:prstGeom>
          <a:noFill/>
          <a:ln/>
        </p:spPr>
        <p:txBody>
          <a:bodyPr wrap="square" lIns="0" tIns="0" rIns="0" bIns="0" rtlCol="0" anchor="ctr"/>
          <a:lstStyle/>
          <a:p>
            <a:pPr indent="0" marL="0">
              <a:buNone/>
            </a:pPr>
            <a:r>
              <a:rPr lang="en-US" sz="1100" b="1" spc="200" kern="0" dirty="0">
                <a:solidFill>
                  <a:srgbClr val="E07A1F"/>
                </a:solidFill>
                <a:latin typeface="Calibri" pitchFamily="34" charset="0"/>
                <a:ea typeface="Calibri" pitchFamily="34" charset="-122"/>
                <a:cs typeface="Calibri" pitchFamily="34" charset="-120"/>
              </a:rPr>
              <a:t>WAAR HET NU STOKT</a:t>
            </a:r>
            <a:endParaRPr lang="en-US" sz="1100" dirty="0"/>
          </a:p>
        </p:txBody>
      </p:sp>
      <p:sp>
        <p:nvSpPr>
          <p:cNvPr id="48" name="Text 42"/>
          <p:cNvSpPr txBox="1"/>
          <p:nvPr/>
        </p:nvSpPr>
        <p:spPr>
          <a:xfrm>
            <a:off x="3657600" y="5532120"/>
            <a:ext cx="7711135" cy="594360"/>
          </a:xfrm>
          <a:prstGeom prst="rect">
            <a:avLst/>
          </a:prstGeom>
          <a:noFill/>
          <a:ln/>
        </p:spPr>
        <p:txBody>
          <a:bodyPr wrap="square" lIns="0" tIns="0" rIns="0" bIns="0" rtlCol="0" anchor="ctr"/>
          <a:lstStyle/>
          <a:p>
            <a:pPr indent="0" marL="0">
              <a:buNone/>
            </a:pPr>
            <a:r>
              <a:rPr lang="en-US" sz="1400" dirty="0">
                <a:solidFill>
                  <a:srgbClr val="12283A"/>
                </a:solidFill>
                <a:latin typeface="Calibri" pitchFamily="34" charset="0"/>
                <a:ea typeface="Calibri" pitchFamily="34" charset="-122"/>
                <a:cs typeface="Calibri" pitchFamily="34" charset="-120"/>
              </a:rPr>
              <a:t>Stap 2 kan niet af: de norm ligt alleen voor de ICU vast en de indirecte uren zijn niet vastgesteld. Daardoor staat stap 3 ook stil.</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100" b="1" spc="200" kern="0" dirty="0">
                <a:solidFill>
                  <a:srgbClr val="5F6E7F"/>
                </a:solidFill>
                <a:latin typeface="Calibri" pitchFamily="34" charset="0"/>
                <a:ea typeface="Calibri" pitchFamily="34" charset="-122"/>
                <a:cs typeface="Calibri" pitchFamily="34" charset="-120"/>
              </a:rPr>
              <a:t>DE METHODE</a:t>
            </a:r>
            <a:endParaRPr lang="en-US" sz="11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200" b="1" dirty="0">
                <a:solidFill>
                  <a:srgbClr val="12283A"/>
                </a:solidFill>
                <a:latin typeface="Calibri" pitchFamily="34" charset="0"/>
                <a:ea typeface="Calibri" pitchFamily="34" charset="-122"/>
                <a:cs typeface="Calibri" pitchFamily="34" charset="-120"/>
              </a:rPr>
              <a:t>Eén fulltime medewerker is geen 1.878 uur zorg</a:t>
            </a:r>
            <a:endParaRPr lang="en-US" sz="3200" dirty="0"/>
          </a:p>
        </p:txBody>
      </p:sp>
      <p:sp>
        <p:nvSpPr>
          <p:cNvPr id="4" name="Text 2"/>
          <p:cNvSpPr txBox="1"/>
          <p:nvPr/>
        </p:nvSpPr>
        <p:spPr>
          <a:xfrm>
            <a:off x="548640" y="1298448"/>
            <a:ext cx="11064240" cy="365760"/>
          </a:xfrm>
          <a:prstGeom prst="rect">
            <a:avLst/>
          </a:prstGeom>
          <a:noFill/>
          <a:ln/>
        </p:spPr>
        <p:txBody>
          <a:bodyPr wrap="square" lIns="0" tIns="0" rIns="0" bIns="0" rtlCol="0" anchor="ctr"/>
          <a:lstStyle/>
          <a:p>
            <a:pPr indent="0" marL="0">
              <a:buNone/>
            </a:pPr>
            <a:r>
              <a:rPr lang="en-US" sz="1600" dirty="0">
                <a:solidFill>
                  <a:srgbClr val="5F6E7F"/>
                </a:solidFill>
                <a:latin typeface="Calibri" pitchFamily="34" charset="0"/>
                <a:ea typeface="Calibri" pitchFamily="34" charset="-122"/>
                <a:cs typeface="Calibri" pitchFamily="34" charset="-120"/>
              </a:rPr>
              <a:t>Voorbeeld uit de radiologie: van bruto arbeidsduur naar netto inzetbaarheid</a:t>
            </a:r>
            <a:endParaRPr lang="en-US" sz="1600" dirty="0"/>
          </a:p>
        </p:txBody>
      </p:sp>
      <p:sp>
        <p:nvSpPr>
          <p:cNvPr id="5" name="Text 3"/>
          <p:cNvSpPr txBox="1"/>
          <p:nvPr/>
        </p:nvSpPr>
        <p:spPr>
          <a:xfrm>
            <a:off x="548640" y="6419088"/>
            <a:ext cx="4572000" cy="228600"/>
          </a:xfrm>
          <a:prstGeom prst="rect">
            <a:avLst/>
          </a:prstGeom>
          <a:noFill/>
          <a:ln/>
        </p:spPr>
        <p:txBody>
          <a:bodyPr wrap="square" lIns="0" tIns="0" rIns="0" bIns="0" rtlCol="0" anchor="ctr"/>
          <a:lstStyle/>
          <a:p>
            <a:pPr indent="0" marL="0">
              <a:buNone/>
            </a:pPr>
            <a:r>
              <a:rPr lang="en-US" sz="1000" dirty="0">
                <a:solidFill>
                  <a:srgbClr val="8A97A5"/>
                </a:solidFill>
                <a:latin typeface="Calibri" pitchFamily="34" charset="0"/>
                <a:ea typeface="Calibri" pitchFamily="34" charset="-122"/>
                <a:cs typeface="Calibri" pitchFamily="34" charset="-120"/>
              </a:rPr>
              <a:t>Acute poort en Hotfloor</a:t>
            </a:r>
            <a:endParaRPr lang="en-US" sz="1000" dirty="0"/>
          </a:p>
        </p:txBody>
      </p:sp>
      <p:sp>
        <p:nvSpPr>
          <p:cNvPr id="6" name="Text 4"/>
          <p:cNvSpPr txBox="1"/>
          <p:nvPr/>
        </p:nvSpPr>
        <p:spPr>
          <a:xfrm>
            <a:off x="11091672" y="6419088"/>
            <a:ext cx="548640" cy="228600"/>
          </a:xfrm>
          <a:prstGeom prst="rect">
            <a:avLst/>
          </a:prstGeom>
          <a:noFill/>
          <a:ln/>
        </p:spPr>
        <p:txBody>
          <a:bodyPr wrap="square" lIns="0" tIns="0" rIns="0" bIns="0" rtlCol="0" anchor="ctr"/>
          <a:lstStyle/>
          <a:p>
            <a:pPr algn="r" indent="0" marL="0">
              <a:buNone/>
            </a:pPr>
            <a:r>
              <a:rPr lang="en-US" sz="1000" dirty="0">
                <a:solidFill>
                  <a:srgbClr val="8A97A5"/>
                </a:solidFill>
                <a:latin typeface="Calibri" pitchFamily="34" charset="0"/>
                <a:ea typeface="Calibri" pitchFamily="34" charset="-122"/>
                <a:cs typeface="Calibri" pitchFamily="34" charset="-120"/>
              </a:rPr>
              <a:t>5</a:t>
            </a:r>
            <a:endParaRPr lang="en-US" sz="1000" dirty="0"/>
          </a:p>
        </p:txBody>
      </p:sp>
      <p:sp>
        <p:nvSpPr>
          <p:cNvPr id="7" name="Shape 5"/>
          <p:cNvSpPr/>
          <p:nvPr/>
        </p:nvSpPr>
        <p:spPr>
          <a:xfrm>
            <a:off x="548640" y="2148840"/>
            <a:ext cx="9325746" cy="1005840"/>
          </a:xfrm>
          <a:prstGeom prst="rect">
            <a:avLst/>
          </a:prstGeom>
          <a:solidFill>
            <a:srgbClr val="0E7C86"/>
          </a:solidFill>
          <a:ln w="25400">
            <a:solidFill>
              <a:srgbClr val="FFFFFF"/>
            </a:solidFill>
            <a:prstDash val="solid"/>
          </a:ln>
        </p:spPr>
      </p:sp>
      <p:sp>
        <p:nvSpPr>
          <p:cNvPr id="8" name="Text 6"/>
          <p:cNvSpPr txBox="1"/>
          <p:nvPr/>
        </p:nvSpPr>
        <p:spPr>
          <a:xfrm>
            <a:off x="731520" y="2240280"/>
            <a:ext cx="8959986" cy="5029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84%</a:t>
            </a:r>
            <a:endParaRPr lang="en-US" sz="2800" dirty="0"/>
          </a:p>
        </p:txBody>
      </p:sp>
      <p:sp>
        <p:nvSpPr>
          <p:cNvPr id="9" name="Text 7"/>
          <p:cNvSpPr txBox="1"/>
          <p:nvPr/>
        </p:nvSpPr>
        <p:spPr>
          <a:xfrm>
            <a:off x="731520" y="2743200"/>
            <a:ext cx="8959986" cy="3200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1.579 uur netto inzetbaar</a:t>
            </a:r>
            <a:endParaRPr lang="en-US" sz="1200" dirty="0"/>
          </a:p>
        </p:txBody>
      </p:sp>
      <p:sp>
        <p:nvSpPr>
          <p:cNvPr id="10" name="Shape 8"/>
          <p:cNvSpPr/>
          <p:nvPr/>
        </p:nvSpPr>
        <p:spPr>
          <a:xfrm>
            <a:off x="9874386" y="2148840"/>
            <a:ext cx="1765926" cy="1005840"/>
          </a:xfrm>
          <a:prstGeom prst="rect">
            <a:avLst/>
          </a:prstGeom>
          <a:solidFill>
            <a:srgbClr val="E07A1F"/>
          </a:solidFill>
          <a:ln w="25400">
            <a:solidFill>
              <a:srgbClr val="FFFFFF"/>
            </a:solidFill>
            <a:prstDash val="solid"/>
          </a:ln>
        </p:spPr>
      </p:sp>
      <p:sp>
        <p:nvSpPr>
          <p:cNvPr id="11" name="Text 9"/>
          <p:cNvSpPr txBox="1"/>
          <p:nvPr/>
        </p:nvSpPr>
        <p:spPr>
          <a:xfrm>
            <a:off x="10057266" y="2240280"/>
            <a:ext cx="1400166" cy="5029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16%</a:t>
            </a:r>
            <a:endParaRPr lang="en-US" sz="2800" dirty="0"/>
          </a:p>
        </p:txBody>
      </p:sp>
      <p:sp>
        <p:nvSpPr>
          <p:cNvPr id="12" name="Text 10"/>
          <p:cNvSpPr txBox="1"/>
          <p:nvPr/>
        </p:nvSpPr>
        <p:spPr>
          <a:xfrm>
            <a:off x="10057266" y="2743200"/>
            <a:ext cx="1400166" cy="3200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300 uur</a:t>
            </a:r>
            <a:endParaRPr lang="en-US" sz="1200" dirty="0"/>
          </a:p>
        </p:txBody>
      </p:sp>
      <p:sp>
        <p:nvSpPr>
          <p:cNvPr id="13" name="Text 11"/>
          <p:cNvSpPr txBox="1"/>
          <p:nvPr/>
        </p:nvSpPr>
        <p:spPr>
          <a:xfrm>
            <a:off x="548640" y="1828800"/>
            <a:ext cx="10972800" cy="274320"/>
          </a:xfrm>
          <a:prstGeom prst="rect">
            <a:avLst/>
          </a:prstGeom>
          <a:noFill/>
          <a:ln/>
        </p:spPr>
        <p:txBody>
          <a:bodyPr wrap="square" lIns="0" tIns="0" rIns="0" bIns="0" rtlCol="0" anchor="ctr"/>
          <a:lstStyle/>
          <a:p>
            <a:pPr indent="0" marL="0">
              <a:buNone/>
            </a:pPr>
            <a:r>
              <a:rPr lang="en-US" sz="1100" b="1" spc="100" kern="0" dirty="0">
                <a:solidFill>
                  <a:srgbClr val="5F6E7F"/>
                </a:solidFill>
                <a:latin typeface="Calibri" pitchFamily="34" charset="0"/>
                <a:ea typeface="Calibri" pitchFamily="34" charset="-122"/>
                <a:cs typeface="Calibri" pitchFamily="34" charset="-120"/>
              </a:rPr>
              <a:t>1 FTE = 1.878 BRUTO UREN PER JAAR (36 uur per week × 52,17 weken)</a:t>
            </a:r>
            <a:endParaRPr lang="en-US" sz="1100" dirty="0"/>
          </a:p>
        </p:txBody>
      </p:sp>
      <p:sp>
        <p:nvSpPr>
          <p:cNvPr id="14" name="Shape 12"/>
          <p:cNvSpPr/>
          <p:nvPr/>
        </p:nvSpPr>
        <p:spPr>
          <a:xfrm>
            <a:off x="548640" y="3611880"/>
            <a:ext cx="274320" cy="274320"/>
          </a:xfrm>
          <a:prstGeom prst="ellipse">
            <a:avLst/>
          </a:prstGeom>
          <a:solidFill>
            <a:srgbClr val="0E7C86"/>
          </a:solidFill>
          <a:ln w="12700">
            <a:solidFill>
              <a:srgbClr val="0E7C86"/>
            </a:solidFill>
            <a:prstDash val="solid"/>
          </a:ln>
        </p:spPr>
      </p:sp>
      <p:sp>
        <p:nvSpPr>
          <p:cNvPr id="15" name="Text 13"/>
          <p:cNvSpPr txBox="1"/>
          <p:nvPr/>
        </p:nvSpPr>
        <p:spPr>
          <a:xfrm>
            <a:off x="1005840" y="3520440"/>
            <a:ext cx="2377440" cy="457200"/>
          </a:xfrm>
          <a:prstGeom prst="rect">
            <a:avLst/>
          </a:prstGeom>
          <a:noFill/>
          <a:ln/>
        </p:spPr>
        <p:txBody>
          <a:bodyPr wrap="square" lIns="0" tIns="0" rIns="0" bIns="0" rtlCol="0" anchor="ctr"/>
          <a:lstStyle/>
          <a:p>
            <a:pPr indent="0" marL="0">
              <a:buNone/>
            </a:pPr>
            <a:r>
              <a:rPr lang="en-US" sz="1600" b="1" dirty="0">
                <a:solidFill>
                  <a:srgbClr val="12283A"/>
                </a:solidFill>
                <a:latin typeface="Calibri" pitchFamily="34" charset="0"/>
                <a:ea typeface="Calibri" pitchFamily="34" charset="-122"/>
                <a:cs typeface="Calibri" pitchFamily="34" charset="-120"/>
              </a:rPr>
              <a:t>Netto inzetbaar</a:t>
            </a:r>
            <a:endParaRPr lang="en-US" sz="1600" dirty="0"/>
          </a:p>
        </p:txBody>
      </p:sp>
      <p:sp>
        <p:nvSpPr>
          <p:cNvPr id="16" name="Text 14"/>
          <p:cNvSpPr txBox="1"/>
          <p:nvPr/>
        </p:nvSpPr>
        <p:spPr>
          <a:xfrm>
            <a:off x="3017520" y="3520440"/>
            <a:ext cx="8595360" cy="457200"/>
          </a:xfrm>
          <a:prstGeom prst="rect">
            <a:avLst/>
          </a:prstGeom>
          <a:noFill/>
          <a:ln/>
        </p:spPr>
        <p:txBody>
          <a:bodyPr wrap="square" lIns="0" tIns="0" rIns="0" bIns="0" rtlCol="0" anchor="ctr"/>
          <a:lstStyle/>
          <a:p>
            <a:pPr indent="0" marL="0">
              <a:buNone/>
            </a:pPr>
            <a:r>
              <a:rPr lang="en-US" sz="1400" dirty="0">
                <a:solidFill>
                  <a:srgbClr val="12283A"/>
                </a:solidFill>
                <a:latin typeface="Calibri" pitchFamily="34" charset="0"/>
                <a:ea typeface="Calibri" pitchFamily="34" charset="-122"/>
                <a:cs typeface="Calibri" pitchFamily="34" charset="-120"/>
              </a:rPr>
              <a:t>1.579 uur, 30,3 uur per week. Dit is de tijd die echt in de zorg gaat.</a:t>
            </a:r>
            <a:endParaRPr lang="en-US" sz="1400" dirty="0"/>
          </a:p>
        </p:txBody>
      </p:sp>
      <p:sp>
        <p:nvSpPr>
          <p:cNvPr id="17" name="Shape 15"/>
          <p:cNvSpPr/>
          <p:nvPr/>
        </p:nvSpPr>
        <p:spPr>
          <a:xfrm>
            <a:off x="548640" y="4297680"/>
            <a:ext cx="274320" cy="274320"/>
          </a:xfrm>
          <a:prstGeom prst="ellipse">
            <a:avLst/>
          </a:prstGeom>
          <a:solidFill>
            <a:srgbClr val="E07A1F"/>
          </a:solidFill>
          <a:ln w="12700">
            <a:solidFill>
              <a:srgbClr val="E07A1F"/>
            </a:solidFill>
            <a:prstDash val="solid"/>
          </a:ln>
        </p:spPr>
      </p:sp>
      <p:sp>
        <p:nvSpPr>
          <p:cNvPr id="18" name="Text 16"/>
          <p:cNvSpPr txBox="1"/>
          <p:nvPr/>
        </p:nvSpPr>
        <p:spPr>
          <a:xfrm>
            <a:off x="1005840" y="4206240"/>
            <a:ext cx="2377440" cy="457200"/>
          </a:xfrm>
          <a:prstGeom prst="rect">
            <a:avLst/>
          </a:prstGeom>
          <a:noFill/>
          <a:ln/>
        </p:spPr>
        <p:txBody>
          <a:bodyPr wrap="square" lIns="0" tIns="0" rIns="0" bIns="0" rtlCol="0" anchor="ctr"/>
          <a:lstStyle/>
          <a:p>
            <a:pPr indent="0" marL="0">
              <a:buNone/>
            </a:pPr>
            <a:r>
              <a:rPr lang="en-US" sz="1600" b="1" dirty="0">
                <a:solidFill>
                  <a:srgbClr val="12283A"/>
                </a:solidFill>
                <a:latin typeface="Calibri" pitchFamily="34" charset="0"/>
                <a:ea typeface="Calibri" pitchFamily="34" charset="-122"/>
                <a:cs typeface="Calibri" pitchFamily="34" charset="-120"/>
              </a:rPr>
              <a:t>Afwezigheid</a:t>
            </a:r>
            <a:endParaRPr lang="en-US" sz="1600" dirty="0"/>
          </a:p>
        </p:txBody>
      </p:sp>
      <p:sp>
        <p:nvSpPr>
          <p:cNvPr id="19" name="Text 17"/>
          <p:cNvSpPr txBox="1"/>
          <p:nvPr/>
        </p:nvSpPr>
        <p:spPr>
          <a:xfrm>
            <a:off x="3017520" y="4206240"/>
            <a:ext cx="8595360" cy="457200"/>
          </a:xfrm>
          <a:prstGeom prst="rect">
            <a:avLst/>
          </a:prstGeom>
          <a:noFill/>
          <a:ln/>
        </p:spPr>
        <p:txBody>
          <a:bodyPr wrap="square" lIns="0" tIns="0" rIns="0" bIns="0" rtlCol="0" anchor="ctr"/>
          <a:lstStyle/>
          <a:p>
            <a:pPr indent="0" marL="0">
              <a:buNone/>
            </a:pPr>
            <a:r>
              <a:rPr lang="en-US" sz="1400" dirty="0">
                <a:solidFill>
                  <a:srgbClr val="12283A"/>
                </a:solidFill>
                <a:latin typeface="Calibri" pitchFamily="34" charset="0"/>
                <a:ea typeface="Calibri" pitchFamily="34" charset="-122"/>
                <a:cs typeface="Calibri" pitchFamily="34" charset="-120"/>
              </a:rPr>
              <a:t>300 uur: vakantie (144), ziek (75), feestdagen (50), PLB (22), bijzonder verlof (8).</a:t>
            </a:r>
            <a:endParaRPr lang="en-US" sz="1400" dirty="0"/>
          </a:p>
        </p:txBody>
      </p:sp>
      <p:sp>
        <p:nvSpPr>
          <p:cNvPr id="20" name="Shape 18"/>
          <p:cNvSpPr/>
          <p:nvPr/>
        </p:nvSpPr>
        <p:spPr>
          <a:xfrm>
            <a:off x="548640" y="5029200"/>
            <a:ext cx="11091672" cy="1234440"/>
          </a:xfrm>
          <a:prstGeom prst="roundRect">
            <a:avLst>
              <a:gd name="adj" fmla="val 8889"/>
            </a:avLst>
          </a:prstGeom>
          <a:solidFill>
            <a:srgbClr val="F3F6F9"/>
          </a:solidFill>
          <a:ln w="12700">
            <a:solidFill>
              <a:srgbClr val="F3F6F9"/>
            </a:solidFill>
            <a:prstDash val="solid"/>
          </a:ln>
        </p:spPr>
      </p:sp>
      <p:sp>
        <p:nvSpPr>
          <p:cNvPr id="21" name="Text 19"/>
          <p:cNvSpPr txBox="1"/>
          <p:nvPr/>
        </p:nvSpPr>
        <p:spPr>
          <a:xfrm>
            <a:off x="822960" y="5138928"/>
            <a:ext cx="3657600" cy="228600"/>
          </a:xfrm>
          <a:prstGeom prst="rect">
            <a:avLst/>
          </a:prstGeom>
          <a:noFill/>
          <a:ln/>
        </p:spPr>
        <p:txBody>
          <a:bodyPr wrap="square" lIns="0" tIns="0" rIns="0" bIns="0" rtlCol="0" anchor="ctr"/>
          <a:lstStyle/>
          <a:p>
            <a:pPr indent="0" marL="0">
              <a:buNone/>
            </a:pPr>
            <a:r>
              <a:rPr lang="en-US" sz="1000" b="1" spc="200" kern="0" dirty="0">
                <a:solidFill>
                  <a:srgbClr val="5F6E7F"/>
                </a:solidFill>
                <a:latin typeface="Calibri" pitchFamily="34" charset="0"/>
                <a:ea typeface="Calibri" pitchFamily="34" charset="-122"/>
                <a:cs typeface="Calibri" pitchFamily="34" charset="-120"/>
              </a:rPr>
              <a:t>EN DAN DE REKENSOM</a:t>
            </a:r>
            <a:endParaRPr lang="en-US" sz="1000" dirty="0"/>
          </a:p>
        </p:txBody>
      </p:sp>
      <p:sp>
        <p:nvSpPr>
          <p:cNvPr id="22" name="Text 20"/>
          <p:cNvSpPr txBox="1"/>
          <p:nvPr/>
        </p:nvSpPr>
        <p:spPr>
          <a:xfrm>
            <a:off x="822960" y="5413248"/>
            <a:ext cx="2706624" cy="685800"/>
          </a:xfrm>
          <a:prstGeom prst="rect">
            <a:avLst/>
          </a:prstGeom>
          <a:noFill/>
          <a:ln/>
        </p:spPr>
        <p:txBody>
          <a:bodyPr wrap="square" lIns="0" tIns="0" rIns="0" bIns="0" rtlCol="0" anchor="ctr"/>
          <a:lstStyle/>
          <a:p>
            <a:pPr algn="l" indent="0" marL="0">
              <a:buNone/>
            </a:pPr>
            <a:r>
              <a:rPr lang="en-US" sz="2200" b="1" dirty="0">
                <a:solidFill>
                  <a:srgbClr val="12283A"/>
                </a:solidFill>
                <a:latin typeface="Calibri" pitchFamily="34" charset="0"/>
                <a:ea typeface="Calibri" pitchFamily="34" charset="-122"/>
                <a:cs typeface="Calibri" pitchFamily="34" charset="-120"/>
              </a:rPr>
              <a:t>Benodigde uren</a:t>
            </a:r>
            <a:endParaRPr lang="en-US" sz="2200" dirty="0"/>
          </a:p>
        </p:txBody>
      </p:sp>
      <p:sp>
        <p:nvSpPr>
          <p:cNvPr id="23" name="Text 21"/>
          <p:cNvSpPr txBox="1"/>
          <p:nvPr/>
        </p:nvSpPr>
        <p:spPr>
          <a:xfrm>
            <a:off x="3621024" y="5413248"/>
            <a:ext cx="457200" cy="685800"/>
          </a:xfrm>
          <a:prstGeom prst="rect">
            <a:avLst/>
          </a:prstGeom>
          <a:noFill/>
          <a:ln/>
        </p:spPr>
        <p:txBody>
          <a:bodyPr wrap="square" lIns="0" tIns="0" rIns="0" bIns="0" rtlCol="0" anchor="ctr"/>
          <a:lstStyle/>
          <a:p>
            <a:pPr algn="ctr" indent="0" marL="0">
              <a:buNone/>
            </a:pPr>
            <a:r>
              <a:rPr lang="en-US" sz="2200" b="1" dirty="0">
                <a:solidFill>
                  <a:srgbClr val="8A97A5"/>
                </a:solidFill>
                <a:latin typeface="Calibri" pitchFamily="34" charset="0"/>
                <a:ea typeface="Calibri" pitchFamily="34" charset="-122"/>
                <a:cs typeface="Calibri" pitchFamily="34" charset="-120"/>
              </a:rPr>
              <a:t>−</a:t>
            </a:r>
            <a:endParaRPr lang="en-US" sz="2200" dirty="0"/>
          </a:p>
        </p:txBody>
      </p:sp>
      <p:sp>
        <p:nvSpPr>
          <p:cNvPr id="24" name="Text 22"/>
          <p:cNvSpPr txBox="1"/>
          <p:nvPr/>
        </p:nvSpPr>
        <p:spPr>
          <a:xfrm>
            <a:off x="4169664" y="5413248"/>
            <a:ext cx="3054096" cy="685800"/>
          </a:xfrm>
          <a:prstGeom prst="rect">
            <a:avLst/>
          </a:prstGeom>
          <a:noFill/>
          <a:ln/>
        </p:spPr>
        <p:txBody>
          <a:bodyPr wrap="square" lIns="0" tIns="0" rIns="0" bIns="0" rtlCol="0" anchor="ctr"/>
          <a:lstStyle/>
          <a:p>
            <a:pPr algn="l" indent="0" marL="0">
              <a:buNone/>
            </a:pPr>
            <a:r>
              <a:rPr lang="en-US" sz="2200" b="1" dirty="0">
                <a:solidFill>
                  <a:srgbClr val="12283A"/>
                </a:solidFill>
                <a:latin typeface="Calibri" pitchFamily="34" charset="0"/>
                <a:ea typeface="Calibri" pitchFamily="34" charset="-122"/>
                <a:cs typeface="Calibri" pitchFamily="34" charset="-120"/>
              </a:rPr>
              <a:t>Beschikbare uren</a:t>
            </a:r>
            <a:endParaRPr lang="en-US" sz="2200" dirty="0"/>
          </a:p>
        </p:txBody>
      </p:sp>
      <p:sp>
        <p:nvSpPr>
          <p:cNvPr id="25" name="Text 23"/>
          <p:cNvSpPr txBox="1"/>
          <p:nvPr/>
        </p:nvSpPr>
        <p:spPr>
          <a:xfrm>
            <a:off x="7315200" y="5413248"/>
            <a:ext cx="457200" cy="685800"/>
          </a:xfrm>
          <a:prstGeom prst="rect">
            <a:avLst/>
          </a:prstGeom>
          <a:noFill/>
          <a:ln/>
        </p:spPr>
        <p:txBody>
          <a:bodyPr wrap="square" lIns="0" tIns="0" rIns="0" bIns="0" rtlCol="0" anchor="ctr"/>
          <a:lstStyle/>
          <a:p>
            <a:pPr algn="ctr" indent="0" marL="0">
              <a:buNone/>
            </a:pPr>
            <a:r>
              <a:rPr lang="en-US" sz="2200" b="1" dirty="0">
                <a:solidFill>
                  <a:srgbClr val="8A97A5"/>
                </a:solidFill>
                <a:latin typeface="Calibri" pitchFamily="34" charset="0"/>
                <a:ea typeface="Calibri" pitchFamily="34" charset="-122"/>
                <a:cs typeface="Calibri" pitchFamily="34" charset="-120"/>
              </a:rPr>
              <a:t>=</a:t>
            </a:r>
            <a:endParaRPr lang="en-US" sz="2200" dirty="0"/>
          </a:p>
        </p:txBody>
      </p:sp>
      <p:sp>
        <p:nvSpPr>
          <p:cNvPr id="26" name="Text 24"/>
          <p:cNvSpPr txBox="1"/>
          <p:nvPr/>
        </p:nvSpPr>
        <p:spPr>
          <a:xfrm>
            <a:off x="7863840" y="5413248"/>
            <a:ext cx="3401568" cy="685800"/>
          </a:xfrm>
          <a:prstGeom prst="rect">
            <a:avLst/>
          </a:prstGeom>
          <a:noFill/>
          <a:ln/>
        </p:spPr>
        <p:txBody>
          <a:bodyPr wrap="square" lIns="0" tIns="0" rIns="0" bIns="0" rtlCol="0" anchor="ctr"/>
          <a:lstStyle/>
          <a:p>
            <a:pPr algn="l" indent="0" marL="0">
              <a:buNone/>
            </a:pPr>
            <a:r>
              <a:rPr lang="en-US" sz="2200" b="1" dirty="0">
                <a:solidFill>
                  <a:srgbClr val="E07A1F"/>
                </a:solidFill>
                <a:latin typeface="Calibri" pitchFamily="34" charset="0"/>
                <a:ea typeface="Calibri" pitchFamily="34" charset="-122"/>
                <a:cs typeface="Calibri" pitchFamily="34" charset="-120"/>
              </a:rPr>
              <a:t>fte tekort of over</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100" b="1" spc="200" kern="0" dirty="0">
                <a:solidFill>
                  <a:srgbClr val="5F6E7F"/>
                </a:solidFill>
                <a:latin typeface="Calibri" pitchFamily="34" charset="0"/>
                <a:ea typeface="Calibri" pitchFamily="34" charset="-122"/>
                <a:cs typeface="Calibri" pitchFamily="34" charset="-120"/>
              </a:rPr>
              <a:t>DEEL 1  ·  WAAR STAAN WE NU</a:t>
            </a:r>
            <a:endParaRPr lang="en-US" sz="11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200" b="1" dirty="0">
                <a:solidFill>
                  <a:srgbClr val="12283A"/>
                </a:solidFill>
                <a:latin typeface="Calibri" pitchFamily="34" charset="0"/>
                <a:ea typeface="Calibri" pitchFamily="34" charset="-122"/>
                <a:cs typeface="Calibri" pitchFamily="34" charset="-120"/>
              </a:rPr>
              <a:t>De startsituatie per afdeling</a:t>
            </a:r>
            <a:endParaRPr lang="en-US" sz="3200" dirty="0"/>
          </a:p>
        </p:txBody>
      </p:sp>
      <p:sp>
        <p:nvSpPr>
          <p:cNvPr id="4" name="Text 2"/>
          <p:cNvSpPr txBox="1"/>
          <p:nvPr/>
        </p:nvSpPr>
        <p:spPr>
          <a:xfrm>
            <a:off x="548640" y="1298448"/>
            <a:ext cx="11064240" cy="365760"/>
          </a:xfrm>
          <a:prstGeom prst="rect">
            <a:avLst/>
          </a:prstGeom>
          <a:noFill/>
          <a:ln/>
        </p:spPr>
        <p:txBody>
          <a:bodyPr wrap="square" lIns="0" tIns="0" rIns="0" bIns="0" rtlCol="0" anchor="ctr"/>
          <a:lstStyle/>
          <a:p>
            <a:pPr indent="0" marL="0">
              <a:buNone/>
            </a:pPr>
            <a:r>
              <a:rPr lang="en-US" sz="1600" dirty="0">
                <a:solidFill>
                  <a:srgbClr val="5F6E7F"/>
                </a:solidFill>
                <a:latin typeface="Calibri" pitchFamily="34" charset="0"/>
                <a:ea typeface="Calibri" pitchFamily="34" charset="-122"/>
                <a:cs typeface="Calibri" pitchFamily="34" charset="-120"/>
              </a:rPr>
              <a:t>Vier afdelingen, vier losse berekeningen, en nergens een vastgestelde norm</a:t>
            </a:r>
            <a:endParaRPr lang="en-US" sz="1600" dirty="0"/>
          </a:p>
        </p:txBody>
      </p:sp>
      <p:sp>
        <p:nvSpPr>
          <p:cNvPr id="5" name="Text 3"/>
          <p:cNvSpPr txBox="1"/>
          <p:nvPr/>
        </p:nvSpPr>
        <p:spPr>
          <a:xfrm>
            <a:off x="548640" y="6419088"/>
            <a:ext cx="4572000" cy="228600"/>
          </a:xfrm>
          <a:prstGeom prst="rect">
            <a:avLst/>
          </a:prstGeom>
          <a:noFill/>
          <a:ln/>
        </p:spPr>
        <p:txBody>
          <a:bodyPr wrap="square" lIns="0" tIns="0" rIns="0" bIns="0" rtlCol="0" anchor="ctr"/>
          <a:lstStyle/>
          <a:p>
            <a:pPr indent="0" marL="0">
              <a:buNone/>
            </a:pPr>
            <a:r>
              <a:rPr lang="en-US" sz="1000" dirty="0">
                <a:solidFill>
                  <a:srgbClr val="8A97A5"/>
                </a:solidFill>
                <a:latin typeface="Calibri" pitchFamily="34" charset="0"/>
                <a:ea typeface="Calibri" pitchFamily="34" charset="-122"/>
                <a:cs typeface="Calibri" pitchFamily="34" charset="-120"/>
              </a:rPr>
              <a:t>Acute poort en Hotfloor</a:t>
            </a:r>
            <a:endParaRPr lang="en-US" sz="1000" dirty="0"/>
          </a:p>
        </p:txBody>
      </p:sp>
      <p:sp>
        <p:nvSpPr>
          <p:cNvPr id="6" name="Text 4"/>
          <p:cNvSpPr txBox="1"/>
          <p:nvPr/>
        </p:nvSpPr>
        <p:spPr>
          <a:xfrm>
            <a:off x="11091672" y="6419088"/>
            <a:ext cx="548640" cy="228600"/>
          </a:xfrm>
          <a:prstGeom prst="rect">
            <a:avLst/>
          </a:prstGeom>
          <a:noFill/>
          <a:ln/>
        </p:spPr>
        <p:txBody>
          <a:bodyPr wrap="square" lIns="0" tIns="0" rIns="0" bIns="0" rtlCol="0" anchor="ctr"/>
          <a:lstStyle/>
          <a:p>
            <a:pPr algn="r" indent="0" marL="0">
              <a:buNone/>
            </a:pPr>
            <a:r>
              <a:rPr lang="en-US" sz="1000" dirty="0">
                <a:solidFill>
                  <a:srgbClr val="8A97A5"/>
                </a:solidFill>
                <a:latin typeface="Calibri" pitchFamily="34" charset="0"/>
                <a:ea typeface="Calibri" pitchFamily="34" charset="-122"/>
                <a:cs typeface="Calibri" pitchFamily="34" charset="-120"/>
              </a:rPr>
              <a:t>6</a:t>
            </a:r>
            <a:endParaRPr lang="en-US" sz="1000" dirty="0"/>
          </a:p>
        </p:txBody>
      </p:sp>
      <p:sp>
        <p:nvSpPr>
          <p:cNvPr id="7" name="Shape 5"/>
          <p:cNvSpPr/>
          <p:nvPr/>
        </p:nvSpPr>
        <p:spPr>
          <a:xfrm>
            <a:off x="548640" y="1874520"/>
            <a:ext cx="2606040" cy="3383280"/>
          </a:xfrm>
          <a:prstGeom prst="roundRect">
            <a:avLst>
              <a:gd name="adj" fmla="val 4211"/>
            </a:avLst>
          </a:prstGeom>
          <a:solidFill>
            <a:srgbClr val="E2E6F5"/>
          </a:solidFill>
          <a:ln w="12700">
            <a:solidFill>
              <a:srgbClr val="E2E6F5"/>
            </a:solidFill>
            <a:prstDash val="solid"/>
          </a:ln>
        </p:spPr>
      </p:sp>
      <p:sp>
        <p:nvSpPr>
          <p:cNvPr id="8" name="Text 6"/>
          <p:cNvSpPr txBox="1"/>
          <p:nvPr/>
        </p:nvSpPr>
        <p:spPr>
          <a:xfrm>
            <a:off x="777240" y="2011680"/>
            <a:ext cx="2148840" cy="365760"/>
          </a:xfrm>
          <a:prstGeom prst="rect">
            <a:avLst/>
          </a:prstGeom>
          <a:noFill/>
          <a:ln/>
        </p:spPr>
        <p:txBody>
          <a:bodyPr wrap="square" lIns="0" tIns="0" rIns="0" bIns="0" rtlCol="0" anchor="ctr"/>
          <a:lstStyle/>
          <a:p>
            <a:pPr indent="0" marL="0">
              <a:buNone/>
            </a:pPr>
            <a:r>
              <a:rPr lang="en-US" sz="1600" b="1" dirty="0">
                <a:solidFill>
                  <a:srgbClr val="3F4F9B"/>
                </a:solidFill>
                <a:latin typeface="Calibri" pitchFamily="34" charset="0"/>
                <a:ea typeface="Calibri" pitchFamily="34" charset="-122"/>
                <a:cs typeface="Calibri" pitchFamily="34" charset="-120"/>
              </a:rPr>
              <a:t>ICU</a:t>
            </a:r>
            <a:endParaRPr lang="en-US" sz="1600" dirty="0"/>
          </a:p>
        </p:txBody>
      </p:sp>
      <p:sp>
        <p:nvSpPr>
          <p:cNvPr id="9" name="Text 7"/>
          <p:cNvSpPr txBox="1"/>
          <p:nvPr/>
        </p:nvSpPr>
        <p:spPr>
          <a:xfrm>
            <a:off x="777240" y="2377440"/>
            <a:ext cx="2148840" cy="914400"/>
          </a:xfrm>
          <a:prstGeom prst="rect">
            <a:avLst/>
          </a:prstGeom>
          <a:noFill/>
          <a:ln/>
        </p:spPr>
        <p:txBody>
          <a:bodyPr wrap="square" lIns="0" tIns="0" rIns="0" bIns="0" rtlCol="0" anchor="ctr"/>
          <a:lstStyle/>
          <a:p>
            <a:pPr indent="0" marL="0">
              <a:buNone/>
            </a:pPr>
            <a:r>
              <a:rPr lang="en-US" sz="6000" b="1" dirty="0">
                <a:solidFill>
                  <a:srgbClr val="3F4F9B"/>
                </a:solidFill>
                <a:latin typeface="Calibri" pitchFamily="34" charset="0"/>
                <a:ea typeface="Calibri" pitchFamily="34" charset="-122"/>
                <a:cs typeface="Calibri" pitchFamily="34" charset="-120"/>
              </a:rPr>
              <a:t>10</a:t>
            </a:r>
            <a:endParaRPr lang="en-US" sz="6000" dirty="0"/>
          </a:p>
        </p:txBody>
      </p:sp>
      <p:sp>
        <p:nvSpPr>
          <p:cNvPr id="10" name="Text 8"/>
          <p:cNvSpPr txBox="1"/>
          <p:nvPr/>
        </p:nvSpPr>
        <p:spPr>
          <a:xfrm>
            <a:off x="777240" y="3291840"/>
            <a:ext cx="2148840" cy="274320"/>
          </a:xfrm>
          <a:prstGeom prst="rect">
            <a:avLst/>
          </a:prstGeom>
          <a:noFill/>
          <a:ln/>
        </p:spPr>
        <p:txBody>
          <a:bodyPr wrap="square" lIns="0" tIns="0" rIns="0" bIns="0" rtlCol="0" anchor="ctr"/>
          <a:lstStyle/>
          <a:p>
            <a:pPr indent="0" marL="0">
              <a:buNone/>
            </a:pPr>
            <a:r>
              <a:rPr lang="en-US" sz="1200" dirty="0">
                <a:solidFill>
                  <a:srgbClr val="5F6E7F"/>
                </a:solidFill>
                <a:latin typeface="Calibri" pitchFamily="34" charset="0"/>
                <a:ea typeface="Calibri" pitchFamily="34" charset="-122"/>
                <a:cs typeface="Calibri" pitchFamily="34" charset="-120"/>
              </a:rPr>
              <a:t>kamers nu</a:t>
            </a:r>
            <a:endParaRPr lang="en-US" sz="1200" dirty="0"/>
          </a:p>
        </p:txBody>
      </p:sp>
      <p:sp>
        <p:nvSpPr>
          <p:cNvPr id="11" name="Shape 9"/>
          <p:cNvSpPr/>
          <p:nvPr/>
        </p:nvSpPr>
        <p:spPr>
          <a:xfrm>
            <a:off x="777240" y="3840480"/>
            <a:ext cx="365760" cy="365760"/>
          </a:xfrm>
          <a:prstGeom prst="ellipse">
            <a:avLst/>
          </a:prstGeom>
          <a:solidFill>
            <a:srgbClr val="C4392D"/>
          </a:solidFill>
          <a:ln w="12700">
            <a:solidFill>
              <a:srgbClr val="C4392D"/>
            </a:solidFill>
            <a:prstDash val="solid"/>
          </a:ln>
        </p:spPr>
      </p:sp>
      <p:sp>
        <p:nvSpPr>
          <p:cNvPr id="12" name="Text 10"/>
          <p:cNvSpPr txBox="1"/>
          <p:nvPr/>
        </p:nvSpPr>
        <p:spPr>
          <a:xfrm>
            <a:off x="777240" y="38404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80160" y="3794760"/>
            <a:ext cx="1645920" cy="256032"/>
          </a:xfrm>
          <a:prstGeom prst="rect">
            <a:avLst/>
          </a:prstGeom>
          <a:noFill/>
          <a:ln/>
        </p:spPr>
        <p:txBody>
          <a:bodyPr wrap="square" lIns="0" tIns="0" rIns="0" bIns="0" rtlCol="0" anchor="ctr"/>
          <a:lstStyle/>
          <a:p>
            <a:pPr indent="0" marL="0">
              <a:buNone/>
            </a:pPr>
            <a:r>
              <a:rPr lang="en-US" sz="1100" b="1" dirty="0">
                <a:solidFill>
                  <a:srgbClr val="12283A"/>
                </a:solidFill>
                <a:latin typeface="Calibri" pitchFamily="34" charset="0"/>
                <a:ea typeface="Calibri" pitchFamily="34" charset="-122"/>
                <a:cs typeface="Calibri" pitchFamily="34" charset="-120"/>
              </a:rPr>
              <a:t>Norm verpleegkundigen</a:t>
            </a:r>
            <a:endParaRPr lang="en-US" sz="1100" dirty="0"/>
          </a:p>
        </p:txBody>
      </p:sp>
      <p:sp>
        <p:nvSpPr>
          <p:cNvPr id="14" name="Text 12"/>
          <p:cNvSpPr txBox="1"/>
          <p:nvPr/>
        </p:nvSpPr>
        <p:spPr>
          <a:xfrm>
            <a:off x="1280160" y="4041648"/>
            <a:ext cx="1645920" cy="256032"/>
          </a:xfrm>
          <a:prstGeom prst="rect">
            <a:avLst/>
          </a:prstGeom>
          <a:noFill/>
          <a:ln/>
        </p:spPr>
        <p:txBody>
          <a:bodyPr wrap="square" lIns="0" tIns="0" rIns="0" bIns="0" rtlCol="0" anchor="ctr"/>
          <a:lstStyle/>
          <a:p>
            <a:pPr indent="0" marL="0">
              <a:buNone/>
            </a:pPr>
            <a:r>
              <a:rPr lang="en-US" sz="1100" dirty="0">
                <a:solidFill>
                  <a:srgbClr val="5F6E7F"/>
                </a:solidFill>
                <a:latin typeface="Calibri" pitchFamily="34" charset="0"/>
                <a:ea typeface="Calibri" pitchFamily="34" charset="-122"/>
                <a:cs typeface="Calibri" pitchFamily="34" charset="-120"/>
              </a:rPr>
              <a:t>nee</a:t>
            </a:r>
            <a:endParaRPr lang="en-US" sz="1100" dirty="0"/>
          </a:p>
        </p:txBody>
      </p:sp>
      <p:sp>
        <p:nvSpPr>
          <p:cNvPr id="15" name="Shape 13"/>
          <p:cNvSpPr/>
          <p:nvPr/>
        </p:nvSpPr>
        <p:spPr>
          <a:xfrm>
            <a:off x="777240" y="4526280"/>
            <a:ext cx="365760" cy="365760"/>
          </a:xfrm>
          <a:prstGeom prst="ellipse">
            <a:avLst/>
          </a:prstGeom>
          <a:solidFill>
            <a:srgbClr val="C4392D"/>
          </a:solidFill>
          <a:ln w="12700">
            <a:solidFill>
              <a:srgbClr val="C4392D"/>
            </a:solidFill>
            <a:prstDash val="solid"/>
          </a:ln>
        </p:spPr>
      </p:sp>
      <p:sp>
        <p:nvSpPr>
          <p:cNvPr id="16" name="Text 14"/>
          <p:cNvSpPr txBox="1"/>
          <p:nvPr/>
        </p:nvSpPr>
        <p:spPr>
          <a:xfrm>
            <a:off x="777240" y="45262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1280160" y="4480560"/>
            <a:ext cx="1645920" cy="256032"/>
          </a:xfrm>
          <a:prstGeom prst="rect">
            <a:avLst/>
          </a:prstGeom>
          <a:noFill/>
          <a:ln/>
        </p:spPr>
        <p:txBody>
          <a:bodyPr wrap="square" lIns="0" tIns="0" rIns="0" bIns="0" rtlCol="0" anchor="ctr"/>
          <a:lstStyle/>
          <a:p>
            <a:pPr indent="0" marL="0">
              <a:buNone/>
            </a:pPr>
            <a:r>
              <a:rPr lang="en-US" sz="1100" b="1" dirty="0">
                <a:solidFill>
                  <a:srgbClr val="12283A"/>
                </a:solidFill>
                <a:latin typeface="Calibri" pitchFamily="34" charset="0"/>
                <a:ea typeface="Calibri" pitchFamily="34" charset="-122"/>
                <a:cs typeface="Calibri" pitchFamily="34" charset="-120"/>
              </a:rPr>
              <a:t>Jaarplan</a:t>
            </a:r>
            <a:endParaRPr lang="en-US" sz="1100" dirty="0"/>
          </a:p>
        </p:txBody>
      </p:sp>
      <p:sp>
        <p:nvSpPr>
          <p:cNvPr id="18" name="Text 16"/>
          <p:cNvSpPr txBox="1"/>
          <p:nvPr/>
        </p:nvSpPr>
        <p:spPr>
          <a:xfrm>
            <a:off x="1280160" y="4727448"/>
            <a:ext cx="1645920" cy="256032"/>
          </a:xfrm>
          <a:prstGeom prst="rect">
            <a:avLst/>
          </a:prstGeom>
          <a:noFill/>
          <a:ln/>
        </p:spPr>
        <p:txBody>
          <a:bodyPr wrap="square" lIns="0" tIns="0" rIns="0" bIns="0" rtlCol="0" anchor="ctr"/>
          <a:lstStyle/>
          <a:p>
            <a:pPr indent="0" marL="0">
              <a:buNone/>
            </a:pPr>
            <a:r>
              <a:rPr lang="en-US" sz="1100" dirty="0">
                <a:solidFill>
                  <a:srgbClr val="5F6E7F"/>
                </a:solidFill>
                <a:latin typeface="Calibri" pitchFamily="34" charset="0"/>
                <a:ea typeface="Calibri" pitchFamily="34" charset="-122"/>
                <a:cs typeface="Calibri" pitchFamily="34" charset="-120"/>
              </a:rPr>
              <a:t>nee</a:t>
            </a:r>
            <a:endParaRPr lang="en-US" sz="1100" dirty="0"/>
          </a:p>
        </p:txBody>
      </p:sp>
      <p:sp>
        <p:nvSpPr>
          <p:cNvPr id="19" name="Shape 17"/>
          <p:cNvSpPr/>
          <p:nvPr/>
        </p:nvSpPr>
        <p:spPr>
          <a:xfrm>
            <a:off x="3410712" y="1874520"/>
            <a:ext cx="2606040" cy="3383280"/>
          </a:xfrm>
          <a:prstGeom prst="roundRect">
            <a:avLst>
              <a:gd name="adj" fmla="val 4211"/>
            </a:avLst>
          </a:prstGeom>
          <a:solidFill>
            <a:srgbClr val="E2E6F5"/>
          </a:solidFill>
          <a:ln w="12700">
            <a:solidFill>
              <a:srgbClr val="E2E6F5"/>
            </a:solidFill>
            <a:prstDash val="solid"/>
          </a:ln>
        </p:spPr>
      </p:sp>
      <p:sp>
        <p:nvSpPr>
          <p:cNvPr id="20" name="Text 18"/>
          <p:cNvSpPr txBox="1"/>
          <p:nvPr/>
        </p:nvSpPr>
        <p:spPr>
          <a:xfrm>
            <a:off x="3639312" y="2011680"/>
            <a:ext cx="2148840" cy="365760"/>
          </a:xfrm>
          <a:prstGeom prst="rect">
            <a:avLst/>
          </a:prstGeom>
          <a:noFill/>
          <a:ln/>
        </p:spPr>
        <p:txBody>
          <a:bodyPr wrap="square" lIns="0" tIns="0" rIns="0" bIns="0" rtlCol="0" anchor="ctr"/>
          <a:lstStyle/>
          <a:p>
            <a:pPr indent="0" marL="0">
              <a:buNone/>
            </a:pPr>
            <a:r>
              <a:rPr lang="en-US" sz="1600" b="1" dirty="0">
                <a:solidFill>
                  <a:srgbClr val="3F4F9B"/>
                </a:solidFill>
                <a:latin typeface="Calibri" pitchFamily="34" charset="0"/>
                <a:ea typeface="Calibri" pitchFamily="34" charset="-122"/>
                <a:cs typeface="Calibri" pitchFamily="34" charset="-120"/>
              </a:rPr>
              <a:t>CCU / SCU / EHH</a:t>
            </a:r>
            <a:endParaRPr lang="en-US" sz="1600" dirty="0"/>
          </a:p>
        </p:txBody>
      </p:sp>
      <p:sp>
        <p:nvSpPr>
          <p:cNvPr id="21" name="Text 19"/>
          <p:cNvSpPr txBox="1"/>
          <p:nvPr/>
        </p:nvSpPr>
        <p:spPr>
          <a:xfrm>
            <a:off x="3639312" y="2377440"/>
            <a:ext cx="2148840" cy="914400"/>
          </a:xfrm>
          <a:prstGeom prst="rect">
            <a:avLst/>
          </a:prstGeom>
          <a:noFill/>
          <a:ln/>
        </p:spPr>
        <p:txBody>
          <a:bodyPr wrap="square" lIns="0" tIns="0" rIns="0" bIns="0" rtlCol="0" anchor="ctr"/>
          <a:lstStyle/>
          <a:p>
            <a:pPr indent="0" marL="0">
              <a:buNone/>
            </a:pPr>
            <a:r>
              <a:rPr lang="en-US" sz="6000" b="1" dirty="0">
                <a:solidFill>
                  <a:srgbClr val="3F4F9B"/>
                </a:solidFill>
                <a:latin typeface="Calibri" pitchFamily="34" charset="0"/>
                <a:ea typeface="Calibri" pitchFamily="34" charset="-122"/>
                <a:cs typeface="Calibri" pitchFamily="34" charset="-120"/>
              </a:rPr>
              <a:t>15</a:t>
            </a:r>
            <a:endParaRPr lang="en-US" sz="6000" dirty="0"/>
          </a:p>
        </p:txBody>
      </p:sp>
      <p:sp>
        <p:nvSpPr>
          <p:cNvPr id="22" name="Text 20"/>
          <p:cNvSpPr txBox="1"/>
          <p:nvPr/>
        </p:nvSpPr>
        <p:spPr>
          <a:xfrm>
            <a:off x="3639312" y="3291840"/>
            <a:ext cx="2148840" cy="274320"/>
          </a:xfrm>
          <a:prstGeom prst="rect">
            <a:avLst/>
          </a:prstGeom>
          <a:noFill/>
          <a:ln/>
        </p:spPr>
        <p:txBody>
          <a:bodyPr wrap="square" lIns="0" tIns="0" rIns="0" bIns="0" rtlCol="0" anchor="ctr"/>
          <a:lstStyle/>
          <a:p>
            <a:pPr indent="0" marL="0">
              <a:buNone/>
            </a:pPr>
            <a:r>
              <a:rPr lang="en-US" sz="1200" dirty="0">
                <a:solidFill>
                  <a:srgbClr val="5F6E7F"/>
                </a:solidFill>
                <a:latin typeface="Calibri" pitchFamily="34" charset="0"/>
                <a:ea typeface="Calibri" pitchFamily="34" charset="-122"/>
                <a:cs typeface="Calibri" pitchFamily="34" charset="-120"/>
              </a:rPr>
              <a:t>kamers nu</a:t>
            </a:r>
            <a:endParaRPr lang="en-US" sz="1200" dirty="0"/>
          </a:p>
        </p:txBody>
      </p:sp>
      <p:sp>
        <p:nvSpPr>
          <p:cNvPr id="23" name="Shape 21"/>
          <p:cNvSpPr/>
          <p:nvPr/>
        </p:nvSpPr>
        <p:spPr>
          <a:xfrm>
            <a:off x="3639312" y="3840480"/>
            <a:ext cx="365760" cy="365760"/>
          </a:xfrm>
          <a:prstGeom prst="ellipse">
            <a:avLst/>
          </a:prstGeom>
          <a:solidFill>
            <a:srgbClr val="C4392D"/>
          </a:solidFill>
          <a:ln w="12700">
            <a:solidFill>
              <a:srgbClr val="C4392D"/>
            </a:solidFill>
            <a:prstDash val="solid"/>
          </a:ln>
        </p:spPr>
      </p:sp>
      <p:sp>
        <p:nvSpPr>
          <p:cNvPr id="24" name="Text 22"/>
          <p:cNvSpPr txBox="1"/>
          <p:nvPr/>
        </p:nvSpPr>
        <p:spPr>
          <a:xfrm>
            <a:off x="3639312" y="38404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5" name="Text 23"/>
          <p:cNvSpPr txBox="1"/>
          <p:nvPr/>
        </p:nvSpPr>
        <p:spPr>
          <a:xfrm>
            <a:off x="4142232" y="3794760"/>
            <a:ext cx="1645920" cy="256032"/>
          </a:xfrm>
          <a:prstGeom prst="rect">
            <a:avLst/>
          </a:prstGeom>
          <a:noFill/>
          <a:ln/>
        </p:spPr>
        <p:txBody>
          <a:bodyPr wrap="square" lIns="0" tIns="0" rIns="0" bIns="0" rtlCol="0" anchor="ctr"/>
          <a:lstStyle/>
          <a:p>
            <a:pPr indent="0" marL="0">
              <a:buNone/>
            </a:pPr>
            <a:r>
              <a:rPr lang="en-US" sz="1100" b="1" dirty="0">
                <a:solidFill>
                  <a:srgbClr val="12283A"/>
                </a:solidFill>
                <a:latin typeface="Calibri" pitchFamily="34" charset="0"/>
                <a:ea typeface="Calibri" pitchFamily="34" charset="-122"/>
                <a:cs typeface="Calibri" pitchFamily="34" charset="-120"/>
              </a:rPr>
              <a:t>Norm verpleegkundigen</a:t>
            </a:r>
            <a:endParaRPr lang="en-US" sz="1100" dirty="0"/>
          </a:p>
        </p:txBody>
      </p:sp>
      <p:sp>
        <p:nvSpPr>
          <p:cNvPr id="26" name="Text 24"/>
          <p:cNvSpPr txBox="1"/>
          <p:nvPr/>
        </p:nvSpPr>
        <p:spPr>
          <a:xfrm>
            <a:off x="4142232" y="4041648"/>
            <a:ext cx="1645920" cy="256032"/>
          </a:xfrm>
          <a:prstGeom prst="rect">
            <a:avLst/>
          </a:prstGeom>
          <a:noFill/>
          <a:ln/>
        </p:spPr>
        <p:txBody>
          <a:bodyPr wrap="square" lIns="0" tIns="0" rIns="0" bIns="0" rtlCol="0" anchor="ctr"/>
          <a:lstStyle/>
          <a:p>
            <a:pPr indent="0" marL="0">
              <a:buNone/>
            </a:pPr>
            <a:r>
              <a:rPr lang="en-US" sz="1100" dirty="0">
                <a:solidFill>
                  <a:srgbClr val="5F6E7F"/>
                </a:solidFill>
                <a:latin typeface="Calibri" pitchFamily="34" charset="0"/>
                <a:ea typeface="Calibri" pitchFamily="34" charset="-122"/>
                <a:cs typeface="Calibri" pitchFamily="34" charset="-120"/>
              </a:rPr>
              <a:t>nee</a:t>
            </a:r>
            <a:endParaRPr lang="en-US" sz="1100" dirty="0"/>
          </a:p>
        </p:txBody>
      </p:sp>
      <p:sp>
        <p:nvSpPr>
          <p:cNvPr id="27" name="Shape 25"/>
          <p:cNvSpPr/>
          <p:nvPr/>
        </p:nvSpPr>
        <p:spPr>
          <a:xfrm>
            <a:off x="3639312" y="4526280"/>
            <a:ext cx="365760" cy="365760"/>
          </a:xfrm>
          <a:prstGeom prst="ellipse">
            <a:avLst/>
          </a:prstGeom>
          <a:solidFill>
            <a:srgbClr val="2E8B57"/>
          </a:solidFill>
          <a:ln w="12700">
            <a:solidFill>
              <a:srgbClr val="2E8B57"/>
            </a:solidFill>
            <a:prstDash val="solid"/>
          </a:ln>
        </p:spPr>
      </p:sp>
      <p:sp>
        <p:nvSpPr>
          <p:cNvPr id="28" name="Text 26"/>
          <p:cNvSpPr txBox="1"/>
          <p:nvPr/>
        </p:nvSpPr>
        <p:spPr>
          <a:xfrm>
            <a:off x="3639312" y="45262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9" name="Text 27"/>
          <p:cNvSpPr txBox="1"/>
          <p:nvPr/>
        </p:nvSpPr>
        <p:spPr>
          <a:xfrm>
            <a:off x="4142232" y="4480560"/>
            <a:ext cx="1645920" cy="256032"/>
          </a:xfrm>
          <a:prstGeom prst="rect">
            <a:avLst/>
          </a:prstGeom>
          <a:noFill/>
          <a:ln/>
        </p:spPr>
        <p:txBody>
          <a:bodyPr wrap="square" lIns="0" tIns="0" rIns="0" bIns="0" rtlCol="0" anchor="ctr"/>
          <a:lstStyle/>
          <a:p>
            <a:pPr indent="0" marL="0">
              <a:buNone/>
            </a:pPr>
            <a:r>
              <a:rPr lang="en-US" sz="1100" b="1" dirty="0">
                <a:solidFill>
                  <a:srgbClr val="12283A"/>
                </a:solidFill>
                <a:latin typeface="Calibri" pitchFamily="34" charset="0"/>
                <a:ea typeface="Calibri" pitchFamily="34" charset="-122"/>
                <a:cs typeface="Calibri" pitchFamily="34" charset="-120"/>
              </a:rPr>
              <a:t>Jaarplan</a:t>
            </a:r>
            <a:endParaRPr lang="en-US" sz="1100" dirty="0"/>
          </a:p>
        </p:txBody>
      </p:sp>
      <p:sp>
        <p:nvSpPr>
          <p:cNvPr id="30" name="Text 28"/>
          <p:cNvSpPr txBox="1"/>
          <p:nvPr/>
        </p:nvSpPr>
        <p:spPr>
          <a:xfrm>
            <a:off x="4142232" y="4727448"/>
            <a:ext cx="1645920" cy="256032"/>
          </a:xfrm>
          <a:prstGeom prst="rect">
            <a:avLst/>
          </a:prstGeom>
          <a:noFill/>
          <a:ln/>
        </p:spPr>
        <p:txBody>
          <a:bodyPr wrap="square" lIns="0" tIns="0" rIns="0" bIns="0" rtlCol="0" anchor="ctr"/>
          <a:lstStyle/>
          <a:p>
            <a:pPr indent="0" marL="0">
              <a:buNone/>
            </a:pPr>
            <a:r>
              <a:rPr lang="en-US" sz="1100" dirty="0">
                <a:solidFill>
                  <a:srgbClr val="5F6E7F"/>
                </a:solidFill>
                <a:latin typeface="Calibri" pitchFamily="34" charset="0"/>
                <a:ea typeface="Calibri" pitchFamily="34" charset="-122"/>
                <a:cs typeface="Calibri" pitchFamily="34" charset="-120"/>
              </a:rPr>
              <a:t>ja, versneld</a:t>
            </a:r>
            <a:endParaRPr lang="en-US" sz="1100" dirty="0"/>
          </a:p>
        </p:txBody>
      </p:sp>
      <p:sp>
        <p:nvSpPr>
          <p:cNvPr id="31" name="Shape 29"/>
          <p:cNvSpPr/>
          <p:nvPr/>
        </p:nvSpPr>
        <p:spPr>
          <a:xfrm>
            <a:off x="6272784" y="1874520"/>
            <a:ext cx="2606040" cy="3383280"/>
          </a:xfrm>
          <a:prstGeom prst="roundRect">
            <a:avLst>
              <a:gd name="adj" fmla="val 4211"/>
            </a:avLst>
          </a:prstGeom>
          <a:solidFill>
            <a:srgbClr val="DCEFF1"/>
          </a:solidFill>
          <a:ln w="12700">
            <a:solidFill>
              <a:srgbClr val="DCEFF1"/>
            </a:solidFill>
            <a:prstDash val="solid"/>
          </a:ln>
        </p:spPr>
      </p:sp>
      <p:sp>
        <p:nvSpPr>
          <p:cNvPr id="32" name="Text 30"/>
          <p:cNvSpPr txBox="1"/>
          <p:nvPr/>
        </p:nvSpPr>
        <p:spPr>
          <a:xfrm>
            <a:off x="6501384" y="2011680"/>
            <a:ext cx="2148840" cy="365760"/>
          </a:xfrm>
          <a:prstGeom prst="rect">
            <a:avLst/>
          </a:prstGeom>
          <a:noFill/>
          <a:ln/>
        </p:spPr>
        <p:txBody>
          <a:bodyPr wrap="square" lIns="0" tIns="0" rIns="0" bIns="0" rtlCol="0" anchor="ctr"/>
          <a:lstStyle/>
          <a:p>
            <a:pPr indent="0" marL="0">
              <a:buNone/>
            </a:pPr>
            <a:r>
              <a:rPr lang="en-US" sz="1600" b="1" dirty="0">
                <a:solidFill>
                  <a:srgbClr val="0E7C86"/>
                </a:solidFill>
                <a:latin typeface="Calibri" pitchFamily="34" charset="0"/>
                <a:ea typeface="Calibri" pitchFamily="34" charset="-122"/>
                <a:cs typeface="Calibri" pitchFamily="34" charset="-120"/>
              </a:rPr>
              <a:t>SEH</a:t>
            </a:r>
            <a:endParaRPr lang="en-US" sz="1600" dirty="0"/>
          </a:p>
        </p:txBody>
      </p:sp>
      <p:sp>
        <p:nvSpPr>
          <p:cNvPr id="33" name="Text 31"/>
          <p:cNvSpPr txBox="1"/>
          <p:nvPr/>
        </p:nvSpPr>
        <p:spPr>
          <a:xfrm>
            <a:off x="6501384" y="2377440"/>
            <a:ext cx="2148840" cy="914400"/>
          </a:xfrm>
          <a:prstGeom prst="rect">
            <a:avLst/>
          </a:prstGeom>
          <a:noFill/>
          <a:ln/>
        </p:spPr>
        <p:txBody>
          <a:bodyPr wrap="square" lIns="0" tIns="0" rIns="0" bIns="0" rtlCol="0" anchor="ctr"/>
          <a:lstStyle/>
          <a:p>
            <a:pPr indent="0" marL="0">
              <a:buNone/>
            </a:pPr>
            <a:r>
              <a:rPr lang="en-US" sz="6000" b="1" dirty="0">
                <a:solidFill>
                  <a:srgbClr val="0E7C86"/>
                </a:solidFill>
                <a:latin typeface="Calibri" pitchFamily="34" charset="0"/>
                <a:ea typeface="Calibri" pitchFamily="34" charset="-122"/>
                <a:cs typeface="Calibri" pitchFamily="34" charset="-120"/>
              </a:rPr>
              <a:t>11</a:t>
            </a:r>
            <a:endParaRPr lang="en-US" sz="6000" dirty="0"/>
          </a:p>
        </p:txBody>
      </p:sp>
      <p:sp>
        <p:nvSpPr>
          <p:cNvPr id="34" name="Text 32"/>
          <p:cNvSpPr txBox="1"/>
          <p:nvPr/>
        </p:nvSpPr>
        <p:spPr>
          <a:xfrm>
            <a:off x="6501384" y="3291840"/>
            <a:ext cx="2148840" cy="274320"/>
          </a:xfrm>
          <a:prstGeom prst="rect">
            <a:avLst/>
          </a:prstGeom>
          <a:noFill/>
          <a:ln/>
        </p:spPr>
        <p:txBody>
          <a:bodyPr wrap="square" lIns="0" tIns="0" rIns="0" bIns="0" rtlCol="0" anchor="ctr"/>
          <a:lstStyle/>
          <a:p>
            <a:pPr indent="0" marL="0">
              <a:buNone/>
            </a:pPr>
            <a:r>
              <a:rPr lang="en-US" sz="1200" dirty="0">
                <a:solidFill>
                  <a:srgbClr val="5F6E7F"/>
                </a:solidFill>
                <a:latin typeface="Calibri" pitchFamily="34" charset="0"/>
                <a:ea typeface="Calibri" pitchFamily="34" charset="-122"/>
                <a:cs typeface="Calibri" pitchFamily="34" charset="-120"/>
              </a:rPr>
              <a:t>kamers nu</a:t>
            </a:r>
            <a:endParaRPr lang="en-US" sz="1200" dirty="0"/>
          </a:p>
        </p:txBody>
      </p:sp>
      <p:sp>
        <p:nvSpPr>
          <p:cNvPr id="35" name="Shape 33"/>
          <p:cNvSpPr/>
          <p:nvPr/>
        </p:nvSpPr>
        <p:spPr>
          <a:xfrm>
            <a:off x="6501384" y="3840480"/>
            <a:ext cx="365760" cy="365760"/>
          </a:xfrm>
          <a:prstGeom prst="ellipse">
            <a:avLst/>
          </a:prstGeom>
          <a:solidFill>
            <a:srgbClr val="C4392D"/>
          </a:solidFill>
          <a:ln w="12700">
            <a:solidFill>
              <a:srgbClr val="C4392D"/>
            </a:solidFill>
            <a:prstDash val="solid"/>
          </a:ln>
        </p:spPr>
      </p:sp>
      <p:sp>
        <p:nvSpPr>
          <p:cNvPr id="36" name="Text 34"/>
          <p:cNvSpPr txBox="1"/>
          <p:nvPr/>
        </p:nvSpPr>
        <p:spPr>
          <a:xfrm>
            <a:off x="6501384" y="38404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7" name="Text 35"/>
          <p:cNvSpPr txBox="1"/>
          <p:nvPr/>
        </p:nvSpPr>
        <p:spPr>
          <a:xfrm>
            <a:off x="7004304" y="3794760"/>
            <a:ext cx="1645920" cy="256032"/>
          </a:xfrm>
          <a:prstGeom prst="rect">
            <a:avLst/>
          </a:prstGeom>
          <a:noFill/>
          <a:ln/>
        </p:spPr>
        <p:txBody>
          <a:bodyPr wrap="square" lIns="0" tIns="0" rIns="0" bIns="0" rtlCol="0" anchor="ctr"/>
          <a:lstStyle/>
          <a:p>
            <a:pPr indent="0" marL="0">
              <a:buNone/>
            </a:pPr>
            <a:r>
              <a:rPr lang="en-US" sz="1100" b="1" dirty="0">
                <a:solidFill>
                  <a:srgbClr val="12283A"/>
                </a:solidFill>
                <a:latin typeface="Calibri" pitchFamily="34" charset="0"/>
                <a:ea typeface="Calibri" pitchFamily="34" charset="-122"/>
                <a:cs typeface="Calibri" pitchFamily="34" charset="-120"/>
              </a:rPr>
              <a:t>Norm verpleegkundigen</a:t>
            </a:r>
            <a:endParaRPr lang="en-US" sz="1100" dirty="0"/>
          </a:p>
        </p:txBody>
      </p:sp>
      <p:sp>
        <p:nvSpPr>
          <p:cNvPr id="38" name="Text 36"/>
          <p:cNvSpPr txBox="1"/>
          <p:nvPr/>
        </p:nvSpPr>
        <p:spPr>
          <a:xfrm>
            <a:off x="7004304" y="4041648"/>
            <a:ext cx="1645920" cy="256032"/>
          </a:xfrm>
          <a:prstGeom prst="rect">
            <a:avLst/>
          </a:prstGeom>
          <a:noFill/>
          <a:ln/>
        </p:spPr>
        <p:txBody>
          <a:bodyPr wrap="square" lIns="0" tIns="0" rIns="0" bIns="0" rtlCol="0" anchor="ctr"/>
          <a:lstStyle/>
          <a:p>
            <a:pPr indent="0" marL="0">
              <a:buNone/>
            </a:pPr>
            <a:r>
              <a:rPr lang="en-US" sz="1100" dirty="0">
                <a:solidFill>
                  <a:srgbClr val="5F6E7F"/>
                </a:solidFill>
                <a:latin typeface="Calibri" pitchFamily="34" charset="0"/>
                <a:ea typeface="Calibri" pitchFamily="34" charset="-122"/>
                <a:cs typeface="Calibri" pitchFamily="34" charset="-120"/>
              </a:rPr>
              <a:t>nee</a:t>
            </a:r>
            <a:endParaRPr lang="en-US" sz="1100" dirty="0"/>
          </a:p>
        </p:txBody>
      </p:sp>
      <p:sp>
        <p:nvSpPr>
          <p:cNvPr id="39" name="Shape 37"/>
          <p:cNvSpPr/>
          <p:nvPr/>
        </p:nvSpPr>
        <p:spPr>
          <a:xfrm>
            <a:off x="6501384" y="4526280"/>
            <a:ext cx="365760" cy="365760"/>
          </a:xfrm>
          <a:prstGeom prst="ellipse">
            <a:avLst/>
          </a:prstGeom>
          <a:solidFill>
            <a:srgbClr val="8A97A5"/>
          </a:solidFill>
          <a:ln w="12700">
            <a:solidFill>
              <a:srgbClr val="8A97A5"/>
            </a:solidFill>
            <a:prstDash val="solid"/>
          </a:ln>
        </p:spPr>
      </p:sp>
      <p:sp>
        <p:nvSpPr>
          <p:cNvPr id="40" name="Text 38"/>
          <p:cNvSpPr txBox="1"/>
          <p:nvPr/>
        </p:nvSpPr>
        <p:spPr>
          <a:xfrm>
            <a:off x="6501384" y="45262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41" name="Text 39"/>
          <p:cNvSpPr txBox="1"/>
          <p:nvPr/>
        </p:nvSpPr>
        <p:spPr>
          <a:xfrm>
            <a:off x="7004304" y="4480560"/>
            <a:ext cx="1645920" cy="256032"/>
          </a:xfrm>
          <a:prstGeom prst="rect">
            <a:avLst/>
          </a:prstGeom>
          <a:noFill/>
          <a:ln/>
        </p:spPr>
        <p:txBody>
          <a:bodyPr wrap="square" lIns="0" tIns="0" rIns="0" bIns="0" rtlCol="0" anchor="ctr"/>
          <a:lstStyle/>
          <a:p>
            <a:pPr indent="0" marL="0">
              <a:buNone/>
            </a:pPr>
            <a:r>
              <a:rPr lang="en-US" sz="1100" b="1" dirty="0">
                <a:solidFill>
                  <a:srgbClr val="12283A"/>
                </a:solidFill>
                <a:latin typeface="Calibri" pitchFamily="34" charset="0"/>
                <a:ea typeface="Calibri" pitchFamily="34" charset="-122"/>
                <a:cs typeface="Calibri" pitchFamily="34" charset="-120"/>
              </a:rPr>
              <a:t>Jaarplan</a:t>
            </a:r>
            <a:endParaRPr lang="en-US" sz="1100" dirty="0"/>
          </a:p>
        </p:txBody>
      </p:sp>
      <p:sp>
        <p:nvSpPr>
          <p:cNvPr id="42" name="Text 40"/>
          <p:cNvSpPr txBox="1"/>
          <p:nvPr/>
        </p:nvSpPr>
        <p:spPr>
          <a:xfrm>
            <a:off x="7004304" y="4727448"/>
            <a:ext cx="1645920" cy="256032"/>
          </a:xfrm>
          <a:prstGeom prst="rect">
            <a:avLst/>
          </a:prstGeom>
          <a:noFill/>
          <a:ln/>
        </p:spPr>
        <p:txBody>
          <a:bodyPr wrap="square" lIns="0" tIns="0" rIns="0" bIns="0" rtlCol="0" anchor="ctr"/>
          <a:lstStyle/>
          <a:p>
            <a:pPr indent="0" marL="0">
              <a:buNone/>
            </a:pPr>
            <a:r>
              <a:rPr lang="en-US" sz="1100" dirty="0">
                <a:solidFill>
                  <a:srgbClr val="5F6E7F"/>
                </a:solidFill>
                <a:latin typeface="Calibri" pitchFamily="34" charset="0"/>
                <a:ea typeface="Calibri" pitchFamily="34" charset="-122"/>
                <a:cs typeface="Calibri" pitchFamily="34" charset="-120"/>
              </a:rPr>
              <a:t>onbekend</a:t>
            </a:r>
            <a:endParaRPr lang="en-US" sz="1100" dirty="0"/>
          </a:p>
        </p:txBody>
      </p:sp>
      <p:sp>
        <p:nvSpPr>
          <p:cNvPr id="43" name="Shape 41"/>
          <p:cNvSpPr/>
          <p:nvPr/>
        </p:nvSpPr>
        <p:spPr>
          <a:xfrm>
            <a:off x="9134856" y="1874520"/>
            <a:ext cx="2606040" cy="3383280"/>
          </a:xfrm>
          <a:prstGeom prst="roundRect">
            <a:avLst>
              <a:gd name="adj" fmla="val 4211"/>
            </a:avLst>
          </a:prstGeom>
          <a:solidFill>
            <a:srgbClr val="EDF0F3"/>
          </a:solidFill>
          <a:ln w="12700">
            <a:solidFill>
              <a:srgbClr val="EDF0F3"/>
            </a:solidFill>
            <a:prstDash val="solid"/>
          </a:ln>
        </p:spPr>
      </p:sp>
      <p:sp>
        <p:nvSpPr>
          <p:cNvPr id="44" name="Text 42"/>
          <p:cNvSpPr txBox="1"/>
          <p:nvPr/>
        </p:nvSpPr>
        <p:spPr>
          <a:xfrm>
            <a:off x="9363456" y="2011680"/>
            <a:ext cx="2148840" cy="365760"/>
          </a:xfrm>
          <a:prstGeom prst="rect">
            <a:avLst/>
          </a:prstGeom>
          <a:noFill/>
          <a:ln/>
        </p:spPr>
        <p:txBody>
          <a:bodyPr wrap="square" lIns="0" tIns="0" rIns="0" bIns="0" rtlCol="0" anchor="ctr"/>
          <a:lstStyle/>
          <a:p>
            <a:pPr indent="0" marL="0">
              <a:buNone/>
            </a:pPr>
            <a:r>
              <a:rPr lang="en-US" sz="1600" b="1" dirty="0">
                <a:solidFill>
                  <a:srgbClr val="8A97A5"/>
                </a:solidFill>
                <a:latin typeface="Calibri" pitchFamily="34" charset="0"/>
                <a:ea typeface="Calibri" pitchFamily="34" charset="-122"/>
                <a:cs typeface="Calibri" pitchFamily="34" charset="-120"/>
              </a:rPr>
              <a:t>Kind spoed</a:t>
            </a:r>
            <a:endParaRPr lang="en-US" sz="1600" dirty="0"/>
          </a:p>
        </p:txBody>
      </p:sp>
      <p:sp>
        <p:nvSpPr>
          <p:cNvPr id="45" name="Text 43"/>
          <p:cNvSpPr txBox="1"/>
          <p:nvPr/>
        </p:nvSpPr>
        <p:spPr>
          <a:xfrm>
            <a:off x="9363456" y="2377440"/>
            <a:ext cx="2148840" cy="914400"/>
          </a:xfrm>
          <a:prstGeom prst="rect">
            <a:avLst/>
          </a:prstGeom>
          <a:noFill/>
          <a:ln/>
        </p:spPr>
        <p:txBody>
          <a:bodyPr wrap="square" lIns="0" tIns="0" rIns="0" bIns="0" rtlCol="0" anchor="ctr"/>
          <a:lstStyle/>
          <a:p>
            <a:pPr indent="0" marL="0">
              <a:buNone/>
            </a:pPr>
            <a:r>
              <a:rPr lang="en-US" sz="6000" b="1" dirty="0">
                <a:solidFill>
                  <a:srgbClr val="8A97A5"/>
                </a:solidFill>
                <a:latin typeface="Calibri" pitchFamily="34" charset="0"/>
                <a:ea typeface="Calibri" pitchFamily="34" charset="-122"/>
                <a:cs typeface="Calibri" pitchFamily="34" charset="-120"/>
              </a:rPr>
              <a:t>?</a:t>
            </a:r>
            <a:endParaRPr lang="en-US" sz="6000" dirty="0"/>
          </a:p>
        </p:txBody>
      </p:sp>
      <p:sp>
        <p:nvSpPr>
          <p:cNvPr id="46" name="Text 44"/>
          <p:cNvSpPr txBox="1"/>
          <p:nvPr/>
        </p:nvSpPr>
        <p:spPr>
          <a:xfrm>
            <a:off x="9363456" y="3291840"/>
            <a:ext cx="2148840" cy="274320"/>
          </a:xfrm>
          <a:prstGeom prst="rect">
            <a:avLst/>
          </a:prstGeom>
          <a:noFill/>
          <a:ln/>
        </p:spPr>
        <p:txBody>
          <a:bodyPr wrap="square" lIns="0" tIns="0" rIns="0" bIns="0" rtlCol="0" anchor="ctr"/>
          <a:lstStyle/>
          <a:p>
            <a:pPr indent="0" marL="0">
              <a:buNone/>
            </a:pPr>
            <a:r>
              <a:rPr lang="en-US" sz="1200" dirty="0">
                <a:solidFill>
                  <a:srgbClr val="5F6E7F"/>
                </a:solidFill>
                <a:latin typeface="Calibri" pitchFamily="34" charset="0"/>
                <a:ea typeface="Calibri" pitchFamily="34" charset="-122"/>
                <a:cs typeface="Calibri" pitchFamily="34" charset="-120"/>
              </a:rPr>
              <a:t>kamers nu</a:t>
            </a:r>
            <a:endParaRPr lang="en-US" sz="1200" dirty="0"/>
          </a:p>
        </p:txBody>
      </p:sp>
      <p:sp>
        <p:nvSpPr>
          <p:cNvPr id="47" name="Shape 45"/>
          <p:cNvSpPr/>
          <p:nvPr/>
        </p:nvSpPr>
        <p:spPr>
          <a:xfrm>
            <a:off x="9363456" y="3840480"/>
            <a:ext cx="365760" cy="365760"/>
          </a:xfrm>
          <a:prstGeom prst="ellipse">
            <a:avLst/>
          </a:prstGeom>
          <a:solidFill>
            <a:srgbClr val="8A97A5"/>
          </a:solidFill>
          <a:ln w="12700">
            <a:solidFill>
              <a:srgbClr val="8A97A5"/>
            </a:solidFill>
            <a:prstDash val="solid"/>
          </a:ln>
        </p:spPr>
      </p:sp>
      <p:sp>
        <p:nvSpPr>
          <p:cNvPr id="48" name="Text 46"/>
          <p:cNvSpPr txBox="1"/>
          <p:nvPr/>
        </p:nvSpPr>
        <p:spPr>
          <a:xfrm>
            <a:off x="9363456" y="38404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49" name="Text 47"/>
          <p:cNvSpPr txBox="1"/>
          <p:nvPr/>
        </p:nvSpPr>
        <p:spPr>
          <a:xfrm>
            <a:off x="9866376" y="3794760"/>
            <a:ext cx="1645920" cy="256032"/>
          </a:xfrm>
          <a:prstGeom prst="rect">
            <a:avLst/>
          </a:prstGeom>
          <a:noFill/>
          <a:ln/>
        </p:spPr>
        <p:txBody>
          <a:bodyPr wrap="square" lIns="0" tIns="0" rIns="0" bIns="0" rtlCol="0" anchor="ctr"/>
          <a:lstStyle/>
          <a:p>
            <a:pPr indent="0" marL="0">
              <a:buNone/>
            </a:pPr>
            <a:r>
              <a:rPr lang="en-US" sz="1100" b="1" dirty="0">
                <a:solidFill>
                  <a:srgbClr val="12283A"/>
                </a:solidFill>
                <a:latin typeface="Calibri" pitchFamily="34" charset="0"/>
                <a:ea typeface="Calibri" pitchFamily="34" charset="-122"/>
                <a:cs typeface="Calibri" pitchFamily="34" charset="-120"/>
              </a:rPr>
              <a:t>Norm verpleegkundigen</a:t>
            </a:r>
            <a:endParaRPr lang="en-US" sz="1100" dirty="0"/>
          </a:p>
        </p:txBody>
      </p:sp>
      <p:sp>
        <p:nvSpPr>
          <p:cNvPr id="50" name="Text 48"/>
          <p:cNvSpPr txBox="1"/>
          <p:nvPr/>
        </p:nvSpPr>
        <p:spPr>
          <a:xfrm>
            <a:off x="9866376" y="4041648"/>
            <a:ext cx="1645920" cy="256032"/>
          </a:xfrm>
          <a:prstGeom prst="rect">
            <a:avLst/>
          </a:prstGeom>
          <a:noFill/>
          <a:ln/>
        </p:spPr>
        <p:txBody>
          <a:bodyPr wrap="square" lIns="0" tIns="0" rIns="0" bIns="0" rtlCol="0" anchor="ctr"/>
          <a:lstStyle/>
          <a:p>
            <a:pPr indent="0" marL="0">
              <a:buNone/>
            </a:pPr>
            <a:r>
              <a:rPr lang="en-US" sz="1100" dirty="0">
                <a:solidFill>
                  <a:srgbClr val="5F6E7F"/>
                </a:solidFill>
                <a:latin typeface="Calibri" pitchFamily="34" charset="0"/>
                <a:ea typeface="Calibri" pitchFamily="34" charset="-122"/>
                <a:cs typeface="Calibri" pitchFamily="34" charset="-120"/>
              </a:rPr>
              <a:t>onbekend</a:t>
            </a:r>
            <a:endParaRPr lang="en-US" sz="1100" dirty="0"/>
          </a:p>
        </p:txBody>
      </p:sp>
      <p:sp>
        <p:nvSpPr>
          <p:cNvPr id="51" name="Shape 49"/>
          <p:cNvSpPr/>
          <p:nvPr/>
        </p:nvSpPr>
        <p:spPr>
          <a:xfrm>
            <a:off x="9363456" y="4526280"/>
            <a:ext cx="365760" cy="365760"/>
          </a:xfrm>
          <a:prstGeom prst="ellipse">
            <a:avLst/>
          </a:prstGeom>
          <a:solidFill>
            <a:srgbClr val="C4392D"/>
          </a:solidFill>
          <a:ln w="12700">
            <a:solidFill>
              <a:srgbClr val="C4392D"/>
            </a:solidFill>
            <a:prstDash val="solid"/>
          </a:ln>
        </p:spPr>
      </p:sp>
      <p:sp>
        <p:nvSpPr>
          <p:cNvPr id="52" name="Text 50"/>
          <p:cNvSpPr txBox="1"/>
          <p:nvPr/>
        </p:nvSpPr>
        <p:spPr>
          <a:xfrm>
            <a:off x="9363456" y="45262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53" name="Text 51"/>
          <p:cNvSpPr txBox="1"/>
          <p:nvPr/>
        </p:nvSpPr>
        <p:spPr>
          <a:xfrm>
            <a:off x="9866376" y="4480560"/>
            <a:ext cx="1645920" cy="256032"/>
          </a:xfrm>
          <a:prstGeom prst="rect">
            <a:avLst/>
          </a:prstGeom>
          <a:noFill/>
          <a:ln/>
        </p:spPr>
        <p:txBody>
          <a:bodyPr wrap="square" lIns="0" tIns="0" rIns="0" bIns="0" rtlCol="0" anchor="ctr"/>
          <a:lstStyle/>
          <a:p>
            <a:pPr indent="0" marL="0">
              <a:buNone/>
            </a:pPr>
            <a:r>
              <a:rPr lang="en-US" sz="1100" b="1" dirty="0">
                <a:solidFill>
                  <a:srgbClr val="12283A"/>
                </a:solidFill>
                <a:latin typeface="Calibri" pitchFamily="34" charset="0"/>
                <a:ea typeface="Calibri" pitchFamily="34" charset="-122"/>
                <a:cs typeface="Calibri" pitchFamily="34" charset="-120"/>
              </a:rPr>
              <a:t>Jaarplan</a:t>
            </a:r>
            <a:endParaRPr lang="en-US" sz="1100" dirty="0"/>
          </a:p>
        </p:txBody>
      </p:sp>
      <p:sp>
        <p:nvSpPr>
          <p:cNvPr id="54" name="Text 52"/>
          <p:cNvSpPr txBox="1"/>
          <p:nvPr/>
        </p:nvSpPr>
        <p:spPr>
          <a:xfrm>
            <a:off x="9866376" y="4727448"/>
            <a:ext cx="1645920" cy="256032"/>
          </a:xfrm>
          <a:prstGeom prst="rect">
            <a:avLst/>
          </a:prstGeom>
          <a:noFill/>
          <a:ln/>
        </p:spPr>
        <p:txBody>
          <a:bodyPr wrap="square" lIns="0" tIns="0" rIns="0" bIns="0" rtlCol="0" anchor="ctr"/>
          <a:lstStyle/>
          <a:p>
            <a:pPr indent="0" marL="0">
              <a:buNone/>
            </a:pPr>
            <a:r>
              <a:rPr lang="en-US" sz="1100" dirty="0">
                <a:solidFill>
                  <a:srgbClr val="5F6E7F"/>
                </a:solidFill>
                <a:latin typeface="Calibri" pitchFamily="34" charset="0"/>
                <a:ea typeface="Calibri" pitchFamily="34" charset="-122"/>
                <a:cs typeface="Calibri" pitchFamily="34" charset="-120"/>
              </a:rPr>
              <a:t>nee</a:t>
            </a:r>
            <a:endParaRPr lang="en-US" sz="1100" dirty="0"/>
          </a:p>
        </p:txBody>
      </p:sp>
      <p:sp>
        <p:nvSpPr>
          <p:cNvPr id="55" name="Shape 53"/>
          <p:cNvSpPr/>
          <p:nvPr/>
        </p:nvSpPr>
        <p:spPr>
          <a:xfrm>
            <a:off x="548640" y="5532120"/>
            <a:ext cx="11094415" cy="777240"/>
          </a:xfrm>
          <a:prstGeom prst="roundRect">
            <a:avLst>
              <a:gd name="adj" fmla="val 14118"/>
            </a:avLst>
          </a:prstGeom>
          <a:solidFill>
            <a:srgbClr val="F9E0DD"/>
          </a:solidFill>
          <a:ln w="12700">
            <a:solidFill>
              <a:srgbClr val="F9E0DD"/>
            </a:solidFill>
            <a:prstDash val="solid"/>
          </a:ln>
        </p:spPr>
      </p:sp>
      <p:sp>
        <p:nvSpPr>
          <p:cNvPr id="56" name="Text 54"/>
          <p:cNvSpPr txBox="1"/>
          <p:nvPr/>
        </p:nvSpPr>
        <p:spPr>
          <a:xfrm>
            <a:off x="822960" y="5641848"/>
            <a:ext cx="2926080" cy="548640"/>
          </a:xfrm>
          <a:prstGeom prst="rect">
            <a:avLst/>
          </a:prstGeom>
          <a:noFill/>
          <a:ln/>
        </p:spPr>
        <p:txBody>
          <a:bodyPr wrap="square" lIns="0" tIns="0" rIns="0" bIns="0" rtlCol="0" anchor="ctr"/>
          <a:lstStyle/>
          <a:p>
            <a:pPr indent="0" marL="0">
              <a:buNone/>
            </a:pPr>
            <a:r>
              <a:rPr lang="en-US" sz="1100" b="1" spc="200" kern="0" dirty="0">
                <a:solidFill>
                  <a:srgbClr val="C4392D"/>
                </a:solidFill>
                <a:latin typeface="Calibri" pitchFamily="34" charset="0"/>
                <a:ea typeface="Calibri" pitchFamily="34" charset="-122"/>
                <a:cs typeface="Calibri" pitchFamily="34" charset="-120"/>
              </a:rPr>
              <a:t>LET OP</a:t>
            </a:r>
            <a:endParaRPr lang="en-US" sz="1100" dirty="0"/>
          </a:p>
        </p:txBody>
      </p:sp>
      <p:sp>
        <p:nvSpPr>
          <p:cNvPr id="57" name="Text 55"/>
          <p:cNvSpPr txBox="1"/>
          <p:nvPr/>
        </p:nvSpPr>
        <p:spPr>
          <a:xfrm>
            <a:off x="3657600" y="5623560"/>
            <a:ext cx="7711135" cy="594360"/>
          </a:xfrm>
          <a:prstGeom prst="rect">
            <a:avLst/>
          </a:prstGeom>
          <a:noFill/>
          <a:ln/>
        </p:spPr>
        <p:txBody>
          <a:bodyPr wrap="square" lIns="0" tIns="0" rIns="0" bIns="0" rtlCol="0" anchor="ctr"/>
          <a:lstStyle/>
          <a:p>
            <a:pPr indent="0" marL="0">
              <a:buNone/>
            </a:pPr>
            <a:r>
              <a:rPr lang="en-US" sz="1400" dirty="0">
                <a:solidFill>
                  <a:srgbClr val="12283A"/>
                </a:solidFill>
                <a:latin typeface="Calibri" pitchFamily="34" charset="0"/>
                <a:ea typeface="Calibri" pitchFamily="34" charset="-122"/>
                <a:cs typeface="Calibri" pitchFamily="34" charset="-120"/>
              </a:rPr>
              <a:t>10 en 15 zijn geen 25. Het zijn verschillende kamers voor verschillende specialismen. Elke afdeling rekent nu apart, op de huidige situatie.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100" b="1" spc="200" kern="0" dirty="0">
                <a:solidFill>
                  <a:srgbClr val="5F6E7F"/>
                </a:solidFill>
                <a:latin typeface="Calibri" pitchFamily="34" charset="0"/>
                <a:ea typeface="Calibri" pitchFamily="34" charset="-122"/>
                <a:cs typeface="Calibri" pitchFamily="34" charset="-120"/>
              </a:rPr>
              <a:t>DEEL 2  ·  WAT GAAN WE REKENEN</a:t>
            </a:r>
            <a:endParaRPr lang="en-US" sz="11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200" b="1" dirty="0">
                <a:solidFill>
                  <a:srgbClr val="12283A"/>
                </a:solidFill>
                <a:latin typeface="Calibri" pitchFamily="34" charset="0"/>
                <a:ea typeface="Calibri" pitchFamily="34" charset="-122"/>
                <a:cs typeface="Calibri" pitchFamily="34" charset="-120"/>
              </a:rPr>
              <a:t>Het tijdpad</a:t>
            </a:r>
            <a:endParaRPr lang="en-US" sz="3200" dirty="0"/>
          </a:p>
        </p:txBody>
      </p:sp>
      <p:sp>
        <p:nvSpPr>
          <p:cNvPr id="4" name="Text 2"/>
          <p:cNvSpPr txBox="1"/>
          <p:nvPr/>
        </p:nvSpPr>
        <p:spPr>
          <a:xfrm>
            <a:off x="548640" y="1298448"/>
            <a:ext cx="11064240" cy="365760"/>
          </a:xfrm>
          <a:prstGeom prst="rect">
            <a:avLst/>
          </a:prstGeom>
          <a:noFill/>
          <a:ln/>
        </p:spPr>
        <p:txBody>
          <a:bodyPr wrap="square" lIns="0" tIns="0" rIns="0" bIns="0" rtlCol="0" anchor="ctr"/>
          <a:lstStyle/>
          <a:p>
            <a:pPr indent="0" marL="0">
              <a:buNone/>
            </a:pPr>
            <a:r>
              <a:rPr lang="en-US" sz="1600" dirty="0">
                <a:solidFill>
                  <a:srgbClr val="5F6E7F"/>
                </a:solidFill>
                <a:latin typeface="Calibri" pitchFamily="34" charset="0"/>
                <a:ea typeface="Calibri" pitchFamily="34" charset="-122"/>
                <a:cs typeface="Calibri" pitchFamily="34" charset="-120"/>
              </a:rPr>
              <a:t>Van de eerste berekening tot de verhuizing</a:t>
            </a:r>
            <a:endParaRPr lang="en-US" sz="1600" dirty="0"/>
          </a:p>
        </p:txBody>
      </p:sp>
      <p:sp>
        <p:nvSpPr>
          <p:cNvPr id="5" name="Text 3"/>
          <p:cNvSpPr txBox="1"/>
          <p:nvPr/>
        </p:nvSpPr>
        <p:spPr>
          <a:xfrm>
            <a:off x="548640" y="6419088"/>
            <a:ext cx="4572000" cy="228600"/>
          </a:xfrm>
          <a:prstGeom prst="rect">
            <a:avLst/>
          </a:prstGeom>
          <a:noFill/>
          <a:ln/>
        </p:spPr>
        <p:txBody>
          <a:bodyPr wrap="square" lIns="0" tIns="0" rIns="0" bIns="0" rtlCol="0" anchor="ctr"/>
          <a:lstStyle/>
          <a:p>
            <a:pPr indent="0" marL="0">
              <a:buNone/>
            </a:pPr>
            <a:r>
              <a:rPr lang="en-US" sz="1000" dirty="0">
                <a:solidFill>
                  <a:srgbClr val="8A97A5"/>
                </a:solidFill>
                <a:latin typeface="Calibri" pitchFamily="34" charset="0"/>
                <a:ea typeface="Calibri" pitchFamily="34" charset="-122"/>
                <a:cs typeface="Calibri" pitchFamily="34" charset="-120"/>
              </a:rPr>
              <a:t>Acute poort en Hotfloor</a:t>
            </a:r>
            <a:endParaRPr lang="en-US" sz="1000" dirty="0"/>
          </a:p>
        </p:txBody>
      </p:sp>
      <p:sp>
        <p:nvSpPr>
          <p:cNvPr id="6" name="Text 4"/>
          <p:cNvSpPr txBox="1"/>
          <p:nvPr/>
        </p:nvSpPr>
        <p:spPr>
          <a:xfrm>
            <a:off x="11091672" y="6419088"/>
            <a:ext cx="548640" cy="228600"/>
          </a:xfrm>
          <a:prstGeom prst="rect">
            <a:avLst/>
          </a:prstGeom>
          <a:noFill/>
          <a:ln/>
        </p:spPr>
        <p:txBody>
          <a:bodyPr wrap="square" lIns="0" tIns="0" rIns="0" bIns="0" rtlCol="0" anchor="ctr"/>
          <a:lstStyle/>
          <a:p>
            <a:pPr algn="r" indent="0" marL="0">
              <a:buNone/>
            </a:pPr>
            <a:r>
              <a:rPr lang="en-US" sz="1000" dirty="0">
                <a:solidFill>
                  <a:srgbClr val="8A97A5"/>
                </a:solidFill>
                <a:latin typeface="Calibri" pitchFamily="34" charset="0"/>
                <a:ea typeface="Calibri" pitchFamily="34" charset="-122"/>
                <a:cs typeface="Calibri" pitchFamily="34" charset="-120"/>
              </a:rPr>
              <a:t>7</a:t>
            </a:r>
            <a:endParaRPr lang="en-US" sz="1000" dirty="0"/>
          </a:p>
        </p:txBody>
      </p:sp>
      <p:sp>
        <p:nvSpPr>
          <p:cNvPr id="7" name="Shape 5"/>
          <p:cNvSpPr/>
          <p:nvPr/>
        </p:nvSpPr>
        <p:spPr>
          <a:xfrm>
            <a:off x="548640" y="2331720"/>
            <a:ext cx="11091672" cy="0"/>
          </a:xfrm>
          <a:prstGeom prst="line">
            <a:avLst/>
          </a:prstGeom>
          <a:noFill/>
          <a:ln w="38100">
            <a:solidFill>
              <a:srgbClr val="E1E6EB"/>
            </a:solidFill>
            <a:prstDash val="solid"/>
          </a:ln>
        </p:spPr>
      </p:sp>
      <p:sp>
        <p:nvSpPr>
          <p:cNvPr id="8" name="Shape 6"/>
          <p:cNvSpPr/>
          <p:nvPr/>
        </p:nvSpPr>
        <p:spPr>
          <a:xfrm>
            <a:off x="530352" y="2194560"/>
            <a:ext cx="274320" cy="274320"/>
          </a:xfrm>
          <a:prstGeom prst="ellipse">
            <a:avLst/>
          </a:prstGeom>
          <a:solidFill>
            <a:srgbClr val="12283A"/>
          </a:solidFill>
          <a:ln w="25400">
            <a:solidFill>
              <a:srgbClr val="FFFFFF"/>
            </a:solidFill>
            <a:prstDash val="solid"/>
          </a:ln>
        </p:spPr>
      </p:sp>
      <p:sp>
        <p:nvSpPr>
          <p:cNvPr id="9" name="Text 7"/>
          <p:cNvSpPr txBox="1"/>
          <p:nvPr/>
        </p:nvSpPr>
        <p:spPr>
          <a:xfrm>
            <a:off x="548640" y="1828800"/>
            <a:ext cx="3108960" cy="274320"/>
          </a:xfrm>
          <a:prstGeom prst="rect">
            <a:avLst/>
          </a:prstGeom>
          <a:noFill/>
          <a:ln/>
        </p:spPr>
        <p:txBody>
          <a:bodyPr wrap="square" lIns="0" tIns="0" rIns="0" bIns="0" rtlCol="0" anchor="ctr"/>
          <a:lstStyle/>
          <a:p>
            <a:pPr indent="0" marL="0">
              <a:buNone/>
            </a:pPr>
            <a:r>
              <a:rPr lang="en-US" sz="1200" b="1" spc="200" kern="0" dirty="0">
                <a:solidFill>
                  <a:srgbClr val="12283A"/>
                </a:solidFill>
                <a:latin typeface="Calibri" pitchFamily="34" charset="0"/>
                <a:ea typeface="Calibri" pitchFamily="34" charset="-122"/>
                <a:cs typeface="Calibri" pitchFamily="34" charset="-120"/>
              </a:rPr>
              <a:t>NU</a:t>
            </a:r>
            <a:endParaRPr lang="en-US" sz="1200" dirty="0"/>
          </a:p>
        </p:txBody>
      </p:sp>
      <p:sp>
        <p:nvSpPr>
          <p:cNvPr id="10" name="Shape 8"/>
          <p:cNvSpPr/>
          <p:nvPr/>
        </p:nvSpPr>
        <p:spPr>
          <a:xfrm>
            <a:off x="548640" y="2697480"/>
            <a:ext cx="2880360" cy="2514600"/>
          </a:xfrm>
          <a:prstGeom prst="roundRect">
            <a:avLst>
              <a:gd name="adj" fmla="val 4364"/>
            </a:avLst>
          </a:prstGeom>
          <a:solidFill>
            <a:srgbClr val="F3F6F9"/>
          </a:solidFill>
          <a:ln w="12700">
            <a:solidFill>
              <a:srgbClr val="F3F6F9"/>
            </a:solidFill>
            <a:prstDash val="solid"/>
          </a:ln>
        </p:spPr>
      </p:sp>
      <p:sp>
        <p:nvSpPr>
          <p:cNvPr id="11" name="Text 9"/>
          <p:cNvSpPr txBox="1"/>
          <p:nvPr/>
        </p:nvSpPr>
        <p:spPr>
          <a:xfrm>
            <a:off x="777240" y="2834640"/>
            <a:ext cx="2423160" cy="274320"/>
          </a:xfrm>
          <a:prstGeom prst="rect">
            <a:avLst/>
          </a:prstGeom>
          <a:noFill/>
          <a:ln/>
        </p:spPr>
        <p:txBody>
          <a:bodyPr wrap="square" lIns="0" tIns="0" rIns="0" bIns="0" rtlCol="0" anchor="ctr"/>
          <a:lstStyle/>
          <a:p>
            <a:pPr indent="0" marL="0">
              <a:buNone/>
            </a:pPr>
            <a:r>
              <a:rPr lang="en-US" sz="1200" b="1" dirty="0">
                <a:solidFill>
                  <a:srgbClr val="5F6E7F"/>
                </a:solidFill>
                <a:latin typeface="Calibri" pitchFamily="34" charset="0"/>
                <a:ea typeface="Calibri" pitchFamily="34" charset="-122"/>
                <a:cs typeface="Calibri" pitchFamily="34" charset="-120"/>
              </a:rPr>
              <a:t>september 2026</a:t>
            </a:r>
            <a:endParaRPr lang="en-US" sz="1200" dirty="0"/>
          </a:p>
        </p:txBody>
      </p:sp>
      <p:sp>
        <p:nvSpPr>
          <p:cNvPr id="12" name="Text 10"/>
          <p:cNvSpPr txBox="1"/>
          <p:nvPr/>
        </p:nvSpPr>
        <p:spPr>
          <a:xfrm>
            <a:off x="777240" y="3154680"/>
            <a:ext cx="2423160" cy="822960"/>
          </a:xfrm>
          <a:prstGeom prst="rect">
            <a:avLst/>
          </a:prstGeom>
          <a:noFill/>
          <a:ln/>
        </p:spPr>
        <p:txBody>
          <a:bodyPr wrap="square" lIns="0" tIns="0" rIns="0" bIns="0" rtlCol="0" anchor="ctr"/>
          <a:lstStyle/>
          <a:p>
            <a:pPr indent="0" marL="0">
              <a:buNone/>
            </a:pPr>
            <a:r>
              <a:rPr lang="en-US" sz="1800" b="1" dirty="0">
                <a:solidFill>
                  <a:srgbClr val="12283A"/>
                </a:solidFill>
                <a:latin typeface="Calibri" pitchFamily="34" charset="0"/>
                <a:ea typeface="Calibri" pitchFamily="34" charset="-122"/>
                <a:cs typeface="Calibri" pitchFamily="34" charset="-120"/>
              </a:rPr>
              <a:t>Berekeningen starten</a:t>
            </a:r>
            <a:endParaRPr lang="en-US" sz="1800" dirty="0"/>
          </a:p>
        </p:txBody>
      </p:sp>
      <p:sp>
        <p:nvSpPr>
          <p:cNvPr id="13" name="Text 11"/>
          <p:cNvSpPr txBox="1"/>
          <p:nvPr/>
        </p:nvSpPr>
        <p:spPr>
          <a:xfrm>
            <a:off x="777240" y="4069080"/>
            <a:ext cx="2423160" cy="914400"/>
          </a:xfrm>
          <a:prstGeom prst="rect">
            <a:avLst/>
          </a:prstGeom>
          <a:noFill/>
          <a:ln/>
        </p:spPr>
        <p:txBody>
          <a:bodyPr wrap="square" lIns="0" tIns="0" rIns="0" bIns="0" rtlCol="0" anchor="ctr"/>
          <a:lstStyle/>
          <a:p>
            <a:pPr indent="0" marL="0">
              <a:buNone/>
            </a:pPr>
            <a:r>
              <a:rPr lang="en-US" sz="1400" dirty="0">
                <a:solidFill>
                  <a:srgbClr val="12283A"/>
                </a:solidFill>
                <a:latin typeface="Calibri" pitchFamily="34" charset="0"/>
                <a:ea typeface="Calibri" pitchFamily="34" charset="-122"/>
                <a:cs typeface="Calibri" pitchFamily="34" charset="-120"/>
              </a:rPr>
              <a:t>aantal bedden, norm verpleegkundigen en indirecte uren</a:t>
            </a:r>
            <a:endParaRPr lang="en-US" sz="1400" dirty="0"/>
          </a:p>
        </p:txBody>
      </p:sp>
      <p:sp>
        <p:nvSpPr>
          <p:cNvPr id="14" name="Shape 12"/>
          <p:cNvSpPr/>
          <p:nvPr/>
        </p:nvSpPr>
        <p:spPr>
          <a:xfrm>
            <a:off x="3639312" y="2194560"/>
            <a:ext cx="274320" cy="274320"/>
          </a:xfrm>
          <a:prstGeom prst="ellipse">
            <a:avLst/>
          </a:prstGeom>
          <a:solidFill>
            <a:srgbClr val="E07A1F"/>
          </a:solidFill>
          <a:ln w="25400">
            <a:solidFill>
              <a:srgbClr val="FFFFFF"/>
            </a:solidFill>
            <a:prstDash val="solid"/>
          </a:ln>
        </p:spPr>
      </p:sp>
      <p:sp>
        <p:nvSpPr>
          <p:cNvPr id="15" name="Text 13"/>
          <p:cNvSpPr txBox="1"/>
          <p:nvPr/>
        </p:nvSpPr>
        <p:spPr>
          <a:xfrm>
            <a:off x="3657600" y="1828800"/>
            <a:ext cx="4206240" cy="274320"/>
          </a:xfrm>
          <a:prstGeom prst="rect">
            <a:avLst/>
          </a:prstGeom>
          <a:noFill/>
          <a:ln/>
        </p:spPr>
        <p:txBody>
          <a:bodyPr wrap="square" lIns="0" tIns="0" rIns="0" bIns="0" rtlCol="0" anchor="ctr"/>
          <a:lstStyle/>
          <a:p>
            <a:pPr indent="0" marL="0">
              <a:buNone/>
            </a:pPr>
            <a:r>
              <a:rPr lang="en-US" sz="1200" b="1" spc="200" kern="0" dirty="0">
                <a:solidFill>
                  <a:srgbClr val="E07A1F"/>
                </a:solidFill>
                <a:latin typeface="Calibri" pitchFamily="34" charset="0"/>
                <a:ea typeface="Calibri" pitchFamily="34" charset="-122"/>
                <a:cs typeface="Calibri" pitchFamily="34" charset="-120"/>
              </a:rPr>
              <a:t>OUDBOUW</a:t>
            </a:r>
            <a:endParaRPr lang="en-US" sz="1200" dirty="0"/>
          </a:p>
        </p:txBody>
      </p:sp>
      <p:sp>
        <p:nvSpPr>
          <p:cNvPr id="16" name="Shape 14"/>
          <p:cNvSpPr/>
          <p:nvPr/>
        </p:nvSpPr>
        <p:spPr>
          <a:xfrm>
            <a:off x="3657600" y="2697480"/>
            <a:ext cx="3977640" cy="2514600"/>
          </a:xfrm>
          <a:prstGeom prst="roundRect">
            <a:avLst>
              <a:gd name="adj" fmla="val 4364"/>
            </a:avLst>
          </a:prstGeom>
          <a:solidFill>
            <a:srgbClr val="FCE9D9"/>
          </a:solidFill>
          <a:ln w="12700">
            <a:solidFill>
              <a:srgbClr val="FCE9D9"/>
            </a:solidFill>
            <a:prstDash val="solid"/>
          </a:ln>
        </p:spPr>
      </p:sp>
      <p:sp>
        <p:nvSpPr>
          <p:cNvPr id="17" name="Text 15"/>
          <p:cNvSpPr txBox="1"/>
          <p:nvPr/>
        </p:nvSpPr>
        <p:spPr>
          <a:xfrm>
            <a:off x="3886200" y="2834640"/>
            <a:ext cx="3520440" cy="274320"/>
          </a:xfrm>
          <a:prstGeom prst="rect">
            <a:avLst/>
          </a:prstGeom>
          <a:noFill/>
          <a:ln/>
        </p:spPr>
        <p:txBody>
          <a:bodyPr wrap="square" lIns="0" tIns="0" rIns="0" bIns="0" rtlCol="0" anchor="ctr"/>
          <a:lstStyle/>
          <a:p>
            <a:pPr indent="0" marL="0">
              <a:buNone/>
            </a:pPr>
            <a:r>
              <a:rPr lang="en-US" sz="1200" b="1" dirty="0">
                <a:solidFill>
                  <a:srgbClr val="5F6E7F"/>
                </a:solidFill>
                <a:latin typeface="Calibri" pitchFamily="34" charset="0"/>
                <a:ea typeface="Calibri" pitchFamily="34" charset="-122"/>
                <a:cs typeface="Calibri" pitchFamily="34" charset="-120"/>
              </a:rPr>
              <a:t>oktober 2026 tot mei 2027</a:t>
            </a:r>
            <a:endParaRPr lang="en-US" sz="1200" dirty="0"/>
          </a:p>
        </p:txBody>
      </p:sp>
      <p:sp>
        <p:nvSpPr>
          <p:cNvPr id="18" name="Text 16"/>
          <p:cNvSpPr txBox="1"/>
          <p:nvPr/>
        </p:nvSpPr>
        <p:spPr>
          <a:xfrm>
            <a:off x="3886200" y="3154680"/>
            <a:ext cx="3520440" cy="822960"/>
          </a:xfrm>
          <a:prstGeom prst="rect">
            <a:avLst/>
          </a:prstGeom>
          <a:noFill/>
          <a:ln/>
        </p:spPr>
        <p:txBody>
          <a:bodyPr wrap="square" lIns="0" tIns="0" rIns="0" bIns="0" rtlCol="0" anchor="ctr"/>
          <a:lstStyle/>
          <a:p>
            <a:pPr indent="0" marL="0">
              <a:buNone/>
            </a:pPr>
            <a:r>
              <a:rPr lang="en-US" sz="1800" b="1" dirty="0">
                <a:solidFill>
                  <a:srgbClr val="E07A1F"/>
                </a:solidFill>
                <a:latin typeface="Calibri" pitchFamily="34" charset="0"/>
                <a:ea typeface="Calibri" pitchFamily="34" charset="-122"/>
                <a:cs typeface="Calibri" pitchFamily="34" charset="-120"/>
              </a:rPr>
              <a:t>Alvast toewerken naar de nieuwe situatie</a:t>
            </a:r>
            <a:endParaRPr lang="en-US" sz="1800" dirty="0"/>
          </a:p>
        </p:txBody>
      </p:sp>
      <p:sp>
        <p:nvSpPr>
          <p:cNvPr id="19" name="Text 17"/>
          <p:cNvSpPr txBox="1"/>
          <p:nvPr/>
        </p:nvSpPr>
        <p:spPr>
          <a:xfrm>
            <a:off x="3886200" y="4069080"/>
            <a:ext cx="3520440" cy="914400"/>
          </a:xfrm>
          <a:prstGeom prst="rect">
            <a:avLst/>
          </a:prstGeom>
          <a:noFill/>
          <a:ln/>
        </p:spPr>
        <p:txBody>
          <a:bodyPr wrap="square" lIns="0" tIns="0" rIns="0" bIns="0" rtlCol="0" anchor="ctr"/>
          <a:lstStyle/>
          <a:p>
            <a:pPr indent="0" marL="0">
              <a:buNone/>
            </a:pPr>
            <a:r>
              <a:rPr lang="en-US" sz="1400" dirty="0">
                <a:solidFill>
                  <a:srgbClr val="12283A"/>
                </a:solidFill>
                <a:latin typeface="Calibri" pitchFamily="34" charset="0"/>
                <a:ea typeface="Calibri" pitchFamily="34" charset="-122"/>
                <a:cs typeface="Calibri" pitchFamily="34" charset="-120"/>
              </a:rPr>
              <a:t>wat schuift er al, en wat pas na de verhuizing?</a:t>
            </a:r>
            <a:endParaRPr lang="en-US" sz="1400" dirty="0"/>
          </a:p>
        </p:txBody>
      </p:sp>
      <p:sp>
        <p:nvSpPr>
          <p:cNvPr id="20" name="Shape 18"/>
          <p:cNvSpPr/>
          <p:nvPr/>
        </p:nvSpPr>
        <p:spPr>
          <a:xfrm>
            <a:off x="7845552" y="2194560"/>
            <a:ext cx="274320" cy="274320"/>
          </a:xfrm>
          <a:prstGeom prst="ellipse">
            <a:avLst/>
          </a:prstGeom>
          <a:solidFill>
            <a:srgbClr val="0E7C86"/>
          </a:solidFill>
          <a:ln w="25400">
            <a:solidFill>
              <a:srgbClr val="FFFFFF"/>
            </a:solidFill>
            <a:prstDash val="solid"/>
          </a:ln>
        </p:spPr>
      </p:sp>
      <p:sp>
        <p:nvSpPr>
          <p:cNvPr id="21" name="Text 19"/>
          <p:cNvSpPr txBox="1"/>
          <p:nvPr/>
        </p:nvSpPr>
        <p:spPr>
          <a:xfrm>
            <a:off x="7863840" y="1828800"/>
            <a:ext cx="3776472"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NIEUWBOUW</a:t>
            </a:r>
            <a:endParaRPr lang="en-US" sz="1200" dirty="0"/>
          </a:p>
        </p:txBody>
      </p:sp>
      <p:sp>
        <p:nvSpPr>
          <p:cNvPr id="22" name="Shape 20"/>
          <p:cNvSpPr/>
          <p:nvPr/>
        </p:nvSpPr>
        <p:spPr>
          <a:xfrm>
            <a:off x="7863840" y="2697480"/>
            <a:ext cx="3547872" cy="2514600"/>
          </a:xfrm>
          <a:prstGeom prst="roundRect">
            <a:avLst>
              <a:gd name="adj" fmla="val 4364"/>
            </a:avLst>
          </a:prstGeom>
          <a:solidFill>
            <a:srgbClr val="DCEFF1"/>
          </a:solidFill>
          <a:ln w="12700">
            <a:solidFill>
              <a:srgbClr val="DCEFF1"/>
            </a:solidFill>
            <a:prstDash val="solid"/>
          </a:ln>
        </p:spPr>
      </p:sp>
      <p:sp>
        <p:nvSpPr>
          <p:cNvPr id="23" name="Text 21"/>
          <p:cNvSpPr txBox="1"/>
          <p:nvPr/>
        </p:nvSpPr>
        <p:spPr>
          <a:xfrm>
            <a:off x="8092440" y="2834640"/>
            <a:ext cx="3090672" cy="274320"/>
          </a:xfrm>
          <a:prstGeom prst="rect">
            <a:avLst/>
          </a:prstGeom>
          <a:noFill/>
          <a:ln/>
        </p:spPr>
        <p:txBody>
          <a:bodyPr wrap="square" lIns="0" tIns="0" rIns="0" bIns="0" rtlCol="0" anchor="ctr"/>
          <a:lstStyle/>
          <a:p>
            <a:pPr indent="0" marL="0">
              <a:buNone/>
            </a:pPr>
            <a:r>
              <a:rPr lang="en-US" sz="1200" b="1" dirty="0">
                <a:solidFill>
                  <a:srgbClr val="5F6E7F"/>
                </a:solidFill>
                <a:latin typeface="Calibri" pitchFamily="34" charset="0"/>
                <a:ea typeface="Calibri" pitchFamily="34" charset="-122"/>
                <a:cs typeface="Calibri" pitchFamily="34" charset="-120"/>
              </a:rPr>
              <a:t>vanaf juni 2027</a:t>
            </a:r>
            <a:endParaRPr lang="en-US" sz="1200" dirty="0"/>
          </a:p>
        </p:txBody>
      </p:sp>
      <p:sp>
        <p:nvSpPr>
          <p:cNvPr id="24" name="Text 22"/>
          <p:cNvSpPr txBox="1"/>
          <p:nvPr/>
        </p:nvSpPr>
        <p:spPr>
          <a:xfrm>
            <a:off x="8092440" y="3154680"/>
            <a:ext cx="3090672" cy="822960"/>
          </a:xfrm>
          <a:prstGeom prst="rect">
            <a:avLst/>
          </a:prstGeom>
          <a:noFill/>
          <a:ln/>
        </p:spPr>
        <p:txBody>
          <a:bodyPr wrap="square" lIns="0" tIns="0" rIns="0" bIns="0" rtlCol="0" anchor="ctr"/>
          <a:lstStyle/>
          <a:p>
            <a:pPr indent="0" marL="0">
              <a:buNone/>
            </a:pPr>
            <a:r>
              <a:rPr lang="en-US" sz="1800" b="1" dirty="0">
                <a:solidFill>
                  <a:srgbClr val="0E7C86"/>
                </a:solidFill>
                <a:latin typeface="Calibri" pitchFamily="34" charset="0"/>
                <a:ea typeface="Calibri" pitchFamily="34" charset="-122"/>
                <a:cs typeface="Calibri" pitchFamily="34" charset="-120"/>
              </a:rPr>
              <a:t>Verhuizing</a:t>
            </a:r>
            <a:endParaRPr lang="en-US" sz="1800" dirty="0"/>
          </a:p>
        </p:txBody>
      </p:sp>
      <p:sp>
        <p:nvSpPr>
          <p:cNvPr id="25" name="Text 23"/>
          <p:cNvSpPr txBox="1"/>
          <p:nvPr/>
        </p:nvSpPr>
        <p:spPr>
          <a:xfrm>
            <a:off x="8092440" y="4069080"/>
            <a:ext cx="3090672" cy="914400"/>
          </a:xfrm>
          <a:prstGeom prst="rect">
            <a:avLst/>
          </a:prstGeom>
          <a:noFill/>
          <a:ln/>
        </p:spPr>
        <p:txBody>
          <a:bodyPr wrap="square" lIns="0" tIns="0" rIns="0" bIns="0" rtlCol="0" anchor="ctr"/>
          <a:lstStyle/>
          <a:p>
            <a:pPr indent="0" marL="0">
              <a:buNone/>
            </a:pPr>
            <a:r>
              <a:rPr lang="en-US" sz="1400" dirty="0">
                <a:solidFill>
                  <a:srgbClr val="12283A"/>
                </a:solidFill>
                <a:latin typeface="Calibri" pitchFamily="34" charset="0"/>
                <a:ea typeface="Calibri" pitchFamily="34" charset="-122"/>
                <a:cs typeface="Calibri" pitchFamily="34" charset="-120"/>
              </a:rPr>
              <a:t>daarna draait de zorg in de nieuwbouw</a:t>
            </a:r>
            <a:endParaRPr lang="en-US" sz="1400" dirty="0"/>
          </a:p>
        </p:txBody>
      </p:sp>
      <p:sp>
        <p:nvSpPr>
          <p:cNvPr id="26" name="Shape 24"/>
          <p:cNvSpPr/>
          <p:nvPr/>
        </p:nvSpPr>
        <p:spPr>
          <a:xfrm>
            <a:off x="548640" y="5532120"/>
            <a:ext cx="11094415" cy="777240"/>
          </a:xfrm>
          <a:prstGeom prst="roundRect">
            <a:avLst>
              <a:gd name="adj" fmla="val 14118"/>
            </a:avLst>
          </a:prstGeom>
          <a:solidFill>
            <a:srgbClr val="FCE9D9"/>
          </a:solidFill>
          <a:ln w="12700">
            <a:solidFill>
              <a:srgbClr val="FCE9D9"/>
            </a:solidFill>
            <a:prstDash val="solid"/>
          </a:ln>
        </p:spPr>
      </p:sp>
      <p:sp>
        <p:nvSpPr>
          <p:cNvPr id="27" name="Text 25"/>
          <p:cNvSpPr txBox="1"/>
          <p:nvPr/>
        </p:nvSpPr>
        <p:spPr>
          <a:xfrm>
            <a:off x="822960" y="5641848"/>
            <a:ext cx="2926080" cy="548640"/>
          </a:xfrm>
          <a:prstGeom prst="rect">
            <a:avLst/>
          </a:prstGeom>
          <a:noFill/>
          <a:ln/>
        </p:spPr>
        <p:txBody>
          <a:bodyPr wrap="square" lIns="0" tIns="0" rIns="0" bIns="0" rtlCol="0" anchor="ctr"/>
          <a:lstStyle/>
          <a:p>
            <a:pPr indent="0" marL="0">
              <a:buNone/>
            </a:pPr>
            <a:r>
              <a:rPr lang="en-US" sz="1100" b="1" spc="200" kern="0" dirty="0">
                <a:solidFill>
                  <a:srgbClr val="E07A1F"/>
                </a:solidFill>
                <a:latin typeface="Calibri" pitchFamily="34" charset="0"/>
                <a:ea typeface="Calibri" pitchFamily="34" charset="-122"/>
                <a:cs typeface="Calibri" pitchFamily="34" charset="-120"/>
              </a:rPr>
              <a:t>OPEN VRAAG</a:t>
            </a:r>
            <a:endParaRPr lang="en-US" sz="1100" dirty="0"/>
          </a:p>
        </p:txBody>
      </p:sp>
      <p:sp>
        <p:nvSpPr>
          <p:cNvPr id="28" name="Text 26"/>
          <p:cNvSpPr txBox="1"/>
          <p:nvPr/>
        </p:nvSpPr>
        <p:spPr>
          <a:xfrm>
            <a:off x="3657600" y="5623560"/>
            <a:ext cx="7711135" cy="594360"/>
          </a:xfrm>
          <a:prstGeom prst="rect">
            <a:avLst/>
          </a:prstGeom>
          <a:noFill/>
          <a:ln/>
        </p:spPr>
        <p:txBody>
          <a:bodyPr wrap="square" lIns="0" tIns="0" rIns="0" bIns="0" rtlCol="0" anchor="ctr"/>
          <a:lstStyle/>
          <a:p>
            <a:pPr indent="0" marL="0">
              <a:buNone/>
            </a:pPr>
            <a:r>
              <a:rPr lang="en-US" sz="1400" dirty="0">
                <a:solidFill>
                  <a:srgbClr val="12283A"/>
                </a:solidFill>
                <a:latin typeface="Calibri" pitchFamily="34" charset="0"/>
                <a:ea typeface="Calibri" pitchFamily="34" charset="-122"/>
                <a:cs typeface="Calibri" pitchFamily="34" charset="-120"/>
              </a:rPr>
              <a:t>In de oudbouw werken de afdelingen al toe naar de nieuwe situatie. Wat schuift daar al, en wat pas na de verhuizing?</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100" b="1" spc="200" kern="0" dirty="0">
                <a:solidFill>
                  <a:srgbClr val="5F6E7F"/>
                </a:solidFill>
                <a:latin typeface="Calibri" pitchFamily="34" charset="0"/>
                <a:ea typeface="Calibri" pitchFamily="34" charset="-122"/>
                <a:cs typeface="Calibri" pitchFamily="34" charset="-120"/>
              </a:rPr>
              <a:t>DEEL 3  ·  WAT VERANDERT ER</a:t>
            </a:r>
            <a:endParaRPr lang="en-US" sz="11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200" b="1" dirty="0">
                <a:solidFill>
                  <a:srgbClr val="12283A"/>
                </a:solidFill>
                <a:latin typeface="Calibri" pitchFamily="34" charset="0"/>
                <a:ea typeface="Calibri" pitchFamily="34" charset="-122"/>
                <a:cs typeface="Calibri" pitchFamily="34" charset="-120"/>
              </a:rPr>
              <a:t>Van vier afdelingen naar twee clusters</a:t>
            </a:r>
            <a:endParaRPr lang="en-US" sz="3200" dirty="0"/>
          </a:p>
        </p:txBody>
      </p:sp>
      <p:sp>
        <p:nvSpPr>
          <p:cNvPr id="4" name="Text 2"/>
          <p:cNvSpPr txBox="1"/>
          <p:nvPr/>
        </p:nvSpPr>
        <p:spPr>
          <a:xfrm>
            <a:off x="548640" y="1298448"/>
            <a:ext cx="11064240" cy="365760"/>
          </a:xfrm>
          <a:prstGeom prst="rect">
            <a:avLst/>
          </a:prstGeom>
          <a:noFill/>
          <a:ln/>
        </p:spPr>
        <p:txBody>
          <a:bodyPr wrap="square" lIns="0" tIns="0" rIns="0" bIns="0" rtlCol="0" anchor="ctr"/>
          <a:lstStyle/>
          <a:p>
            <a:pPr indent="0" marL="0">
              <a:buNone/>
            </a:pPr>
            <a:r>
              <a:rPr lang="en-US" sz="1600" dirty="0">
                <a:solidFill>
                  <a:srgbClr val="5F6E7F"/>
                </a:solidFill>
                <a:latin typeface="Calibri" pitchFamily="34" charset="0"/>
                <a:ea typeface="Calibri" pitchFamily="34" charset="-122"/>
                <a:cs typeface="Calibri" pitchFamily="34" charset="-120"/>
              </a:rPr>
              <a:t>Oranje is het onderdeel dat van plek wisselt: de EHH</a:t>
            </a:r>
            <a:endParaRPr lang="en-US" sz="1600" dirty="0"/>
          </a:p>
        </p:txBody>
      </p:sp>
      <p:sp>
        <p:nvSpPr>
          <p:cNvPr id="5" name="Text 3"/>
          <p:cNvSpPr txBox="1"/>
          <p:nvPr/>
        </p:nvSpPr>
        <p:spPr>
          <a:xfrm>
            <a:off x="548640" y="6419088"/>
            <a:ext cx="4572000" cy="228600"/>
          </a:xfrm>
          <a:prstGeom prst="rect">
            <a:avLst/>
          </a:prstGeom>
          <a:noFill/>
          <a:ln/>
        </p:spPr>
        <p:txBody>
          <a:bodyPr wrap="square" lIns="0" tIns="0" rIns="0" bIns="0" rtlCol="0" anchor="ctr"/>
          <a:lstStyle/>
          <a:p>
            <a:pPr indent="0" marL="0">
              <a:buNone/>
            </a:pPr>
            <a:r>
              <a:rPr lang="en-US" sz="1000" dirty="0">
                <a:solidFill>
                  <a:srgbClr val="8A97A5"/>
                </a:solidFill>
                <a:latin typeface="Calibri" pitchFamily="34" charset="0"/>
                <a:ea typeface="Calibri" pitchFamily="34" charset="-122"/>
                <a:cs typeface="Calibri" pitchFamily="34" charset="-120"/>
              </a:rPr>
              <a:t>Acute poort en Hotfloor</a:t>
            </a:r>
            <a:endParaRPr lang="en-US" sz="1000" dirty="0"/>
          </a:p>
        </p:txBody>
      </p:sp>
      <p:sp>
        <p:nvSpPr>
          <p:cNvPr id="6" name="Text 4"/>
          <p:cNvSpPr txBox="1"/>
          <p:nvPr/>
        </p:nvSpPr>
        <p:spPr>
          <a:xfrm>
            <a:off x="11091672" y="6419088"/>
            <a:ext cx="548640" cy="228600"/>
          </a:xfrm>
          <a:prstGeom prst="rect">
            <a:avLst/>
          </a:prstGeom>
          <a:noFill/>
          <a:ln/>
        </p:spPr>
        <p:txBody>
          <a:bodyPr wrap="square" lIns="0" tIns="0" rIns="0" bIns="0" rtlCol="0" anchor="ctr"/>
          <a:lstStyle/>
          <a:p>
            <a:pPr algn="r" indent="0" marL="0">
              <a:buNone/>
            </a:pPr>
            <a:r>
              <a:rPr lang="en-US" sz="1000" dirty="0">
                <a:solidFill>
                  <a:srgbClr val="8A97A5"/>
                </a:solidFill>
                <a:latin typeface="Calibri" pitchFamily="34" charset="0"/>
                <a:ea typeface="Calibri" pitchFamily="34" charset="-122"/>
                <a:cs typeface="Calibri" pitchFamily="34" charset="-120"/>
              </a:rPr>
              <a:t>8</a:t>
            </a:r>
            <a:endParaRPr lang="en-US" sz="1000" dirty="0"/>
          </a:p>
        </p:txBody>
      </p:sp>
      <p:sp>
        <p:nvSpPr>
          <p:cNvPr id="7" name="Text 5"/>
          <p:cNvSpPr txBox="1"/>
          <p:nvPr/>
        </p:nvSpPr>
        <p:spPr>
          <a:xfrm>
            <a:off x="548640" y="1874520"/>
            <a:ext cx="4572000" cy="274320"/>
          </a:xfrm>
          <a:prstGeom prst="rect">
            <a:avLst/>
          </a:prstGeom>
          <a:noFill/>
          <a:ln/>
        </p:spPr>
        <p:txBody>
          <a:bodyPr wrap="square" lIns="0" tIns="0" rIns="0" bIns="0" rtlCol="0" anchor="ctr"/>
          <a:lstStyle/>
          <a:p>
            <a:pPr indent="0" marL="0">
              <a:buNone/>
            </a:pPr>
            <a:r>
              <a:rPr lang="en-US" sz="1200" b="1" spc="200" kern="0" dirty="0">
                <a:solidFill>
                  <a:srgbClr val="5F6E7F"/>
                </a:solidFill>
                <a:latin typeface="Calibri" pitchFamily="34" charset="0"/>
                <a:ea typeface="Calibri" pitchFamily="34" charset="-122"/>
                <a:cs typeface="Calibri" pitchFamily="34" charset="-120"/>
              </a:rPr>
              <a:t>NU: VIER LOSSE ONDERDELEN</a:t>
            </a:r>
            <a:endParaRPr lang="en-US" sz="1200" dirty="0"/>
          </a:p>
        </p:txBody>
      </p:sp>
      <p:sp>
        <p:nvSpPr>
          <p:cNvPr id="8" name="Shape 6"/>
          <p:cNvSpPr/>
          <p:nvPr/>
        </p:nvSpPr>
        <p:spPr>
          <a:xfrm>
            <a:off x="548640" y="2240280"/>
            <a:ext cx="4434840" cy="777240"/>
          </a:xfrm>
          <a:prstGeom prst="roundRect">
            <a:avLst>
              <a:gd name="adj" fmla="val 14118"/>
            </a:avLst>
          </a:prstGeom>
          <a:solidFill>
            <a:srgbClr val="DCEFF1"/>
          </a:solidFill>
          <a:ln w="12700">
            <a:solidFill>
              <a:srgbClr val="DCEFF1"/>
            </a:solidFill>
            <a:prstDash val="solid"/>
          </a:ln>
        </p:spPr>
      </p:sp>
      <p:sp>
        <p:nvSpPr>
          <p:cNvPr id="9" name="Shape 7"/>
          <p:cNvSpPr/>
          <p:nvPr/>
        </p:nvSpPr>
        <p:spPr>
          <a:xfrm>
            <a:off x="731520" y="2377440"/>
            <a:ext cx="1463040" cy="502920"/>
          </a:xfrm>
          <a:prstGeom prst="roundRect">
            <a:avLst>
              <a:gd name="adj" fmla="val 18182"/>
            </a:avLst>
          </a:prstGeom>
          <a:solidFill>
            <a:srgbClr val="0E7C86"/>
          </a:solidFill>
          <a:ln w="12700">
            <a:solidFill>
              <a:srgbClr val="0E7C86"/>
            </a:solidFill>
            <a:prstDash val="solid"/>
          </a:ln>
        </p:spPr>
      </p:sp>
      <p:sp>
        <p:nvSpPr>
          <p:cNvPr id="10" name="Text 8"/>
          <p:cNvSpPr txBox="1"/>
          <p:nvPr/>
        </p:nvSpPr>
        <p:spPr>
          <a:xfrm>
            <a:off x="731520" y="2377440"/>
            <a:ext cx="1463040" cy="502920"/>
          </a:xfrm>
          <a:prstGeom prst="rect">
            <a:avLst/>
          </a:prstGeom>
          <a:noFill/>
          <a:ln/>
        </p:spPr>
        <p:txBody>
          <a:bodyPr wrap="square" lIns="635" tIns="635" rIns="635" bIns="635"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SEH</a:t>
            </a:r>
            <a:endParaRPr lang="en-US" sz="1300" dirty="0"/>
          </a:p>
        </p:txBody>
      </p:sp>
      <p:sp>
        <p:nvSpPr>
          <p:cNvPr id="11" name="Shape 9"/>
          <p:cNvSpPr/>
          <p:nvPr/>
        </p:nvSpPr>
        <p:spPr>
          <a:xfrm>
            <a:off x="2331720" y="2377440"/>
            <a:ext cx="1463040" cy="502920"/>
          </a:xfrm>
          <a:prstGeom prst="roundRect">
            <a:avLst>
              <a:gd name="adj" fmla="val 18182"/>
            </a:avLst>
          </a:prstGeom>
          <a:solidFill>
            <a:srgbClr val="0E7C86"/>
          </a:solidFill>
          <a:ln w="12700">
            <a:solidFill>
              <a:srgbClr val="0E7C86"/>
            </a:solidFill>
            <a:prstDash val="solid"/>
          </a:ln>
        </p:spPr>
      </p:sp>
      <p:sp>
        <p:nvSpPr>
          <p:cNvPr id="12" name="Text 10"/>
          <p:cNvSpPr txBox="1"/>
          <p:nvPr/>
        </p:nvSpPr>
        <p:spPr>
          <a:xfrm>
            <a:off x="2331720" y="2377440"/>
            <a:ext cx="1463040" cy="502920"/>
          </a:xfrm>
          <a:prstGeom prst="rect">
            <a:avLst/>
          </a:prstGeom>
          <a:noFill/>
          <a:ln/>
        </p:spPr>
        <p:txBody>
          <a:bodyPr wrap="square" lIns="635" tIns="635" rIns="635" bIns="635"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Kind</a:t>
            </a:r>
            <a:endParaRPr lang="en-US" sz="1300" dirty="0"/>
          </a:p>
        </p:txBody>
      </p:sp>
      <p:sp>
        <p:nvSpPr>
          <p:cNvPr id="13" name="Text 11"/>
          <p:cNvSpPr txBox="1"/>
          <p:nvPr/>
        </p:nvSpPr>
        <p:spPr>
          <a:xfrm>
            <a:off x="3931920" y="2377440"/>
            <a:ext cx="731520" cy="502920"/>
          </a:xfrm>
          <a:prstGeom prst="rect">
            <a:avLst/>
          </a:prstGeom>
          <a:noFill/>
          <a:ln/>
        </p:spPr>
        <p:txBody>
          <a:bodyPr wrap="square" lIns="0" tIns="0" rIns="0" bIns="0" rtlCol="0" anchor="ctr"/>
          <a:lstStyle/>
          <a:p>
            <a:pPr indent="0" marL="0">
              <a:buNone/>
            </a:pPr>
            <a:r>
              <a:rPr lang="en-US" sz="1100" dirty="0">
                <a:solidFill>
                  <a:srgbClr val="5F6E7F"/>
                </a:solidFill>
                <a:latin typeface="Calibri" pitchFamily="34" charset="0"/>
                <a:ea typeface="Calibri" pitchFamily="34" charset="-122"/>
                <a:cs typeface="Calibri" pitchFamily="34" charset="-120"/>
              </a:rPr>
              <a:t>apart</a:t>
            </a:r>
            <a:endParaRPr lang="en-US" sz="1100" dirty="0"/>
          </a:p>
        </p:txBody>
      </p:sp>
      <p:sp>
        <p:nvSpPr>
          <p:cNvPr id="14" name="Shape 12"/>
          <p:cNvSpPr/>
          <p:nvPr/>
        </p:nvSpPr>
        <p:spPr>
          <a:xfrm>
            <a:off x="548640" y="3154680"/>
            <a:ext cx="4434840" cy="777240"/>
          </a:xfrm>
          <a:prstGeom prst="roundRect">
            <a:avLst>
              <a:gd name="adj" fmla="val 14118"/>
            </a:avLst>
          </a:prstGeom>
          <a:solidFill>
            <a:srgbClr val="E2E6F5"/>
          </a:solidFill>
          <a:ln w="12700">
            <a:solidFill>
              <a:srgbClr val="E2E6F5"/>
            </a:solidFill>
            <a:prstDash val="solid"/>
          </a:ln>
        </p:spPr>
      </p:sp>
      <p:sp>
        <p:nvSpPr>
          <p:cNvPr id="15" name="Shape 13"/>
          <p:cNvSpPr/>
          <p:nvPr/>
        </p:nvSpPr>
        <p:spPr>
          <a:xfrm>
            <a:off x="731520" y="3291840"/>
            <a:ext cx="1463040" cy="502920"/>
          </a:xfrm>
          <a:prstGeom prst="roundRect">
            <a:avLst>
              <a:gd name="adj" fmla="val 18182"/>
            </a:avLst>
          </a:prstGeom>
          <a:solidFill>
            <a:srgbClr val="3F4F9B"/>
          </a:solidFill>
          <a:ln w="12700">
            <a:solidFill>
              <a:srgbClr val="3F4F9B"/>
            </a:solidFill>
            <a:prstDash val="solid"/>
          </a:ln>
        </p:spPr>
      </p:sp>
      <p:sp>
        <p:nvSpPr>
          <p:cNvPr id="16" name="Text 14"/>
          <p:cNvSpPr txBox="1"/>
          <p:nvPr/>
        </p:nvSpPr>
        <p:spPr>
          <a:xfrm>
            <a:off x="731520" y="3291840"/>
            <a:ext cx="1463040" cy="502920"/>
          </a:xfrm>
          <a:prstGeom prst="rect">
            <a:avLst/>
          </a:prstGeom>
          <a:noFill/>
          <a:ln/>
        </p:spPr>
        <p:txBody>
          <a:bodyPr wrap="square" lIns="635" tIns="635" rIns="635" bIns="635"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CCU / SCU</a:t>
            </a:r>
            <a:endParaRPr lang="en-US" sz="1300" dirty="0"/>
          </a:p>
        </p:txBody>
      </p:sp>
      <p:sp>
        <p:nvSpPr>
          <p:cNvPr id="17" name="Shape 15"/>
          <p:cNvSpPr/>
          <p:nvPr/>
        </p:nvSpPr>
        <p:spPr>
          <a:xfrm>
            <a:off x="2331720" y="3291840"/>
            <a:ext cx="1463040" cy="502920"/>
          </a:xfrm>
          <a:prstGeom prst="roundRect">
            <a:avLst>
              <a:gd name="adj" fmla="val 18182"/>
            </a:avLst>
          </a:prstGeom>
          <a:solidFill>
            <a:srgbClr val="E07A1F"/>
          </a:solidFill>
          <a:ln w="12700">
            <a:solidFill>
              <a:srgbClr val="E07A1F"/>
            </a:solidFill>
            <a:prstDash val="solid"/>
          </a:ln>
        </p:spPr>
      </p:sp>
      <p:sp>
        <p:nvSpPr>
          <p:cNvPr id="18" name="Text 16"/>
          <p:cNvSpPr txBox="1"/>
          <p:nvPr/>
        </p:nvSpPr>
        <p:spPr>
          <a:xfrm>
            <a:off x="2331720" y="3291840"/>
            <a:ext cx="1463040" cy="502920"/>
          </a:xfrm>
          <a:prstGeom prst="rect">
            <a:avLst/>
          </a:prstGeom>
          <a:noFill/>
          <a:ln/>
        </p:spPr>
        <p:txBody>
          <a:bodyPr wrap="square" lIns="635" tIns="635" rIns="635" bIns="635"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EHH</a:t>
            </a:r>
            <a:endParaRPr lang="en-US" sz="1300" dirty="0"/>
          </a:p>
        </p:txBody>
      </p:sp>
      <p:sp>
        <p:nvSpPr>
          <p:cNvPr id="19" name="Text 17"/>
          <p:cNvSpPr txBox="1"/>
          <p:nvPr/>
        </p:nvSpPr>
        <p:spPr>
          <a:xfrm>
            <a:off x="3931920" y="3291840"/>
            <a:ext cx="1005840" cy="502920"/>
          </a:xfrm>
          <a:prstGeom prst="rect">
            <a:avLst/>
          </a:prstGeom>
          <a:noFill/>
          <a:ln/>
        </p:spPr>
        <p:txBody>
          <a:bodyPr wrap="square" lIns="0" tIns="0" rIns="0" bIns="0" rtlCol="0" anchor="ctr"/>
          <a:lstStyle/>
          <a:p>
            <a:pPr indent="0" marL="0">
              <a:buNone/>
            </a:pPr>
            <a:r>
              <a:rPr lang="en-US" sz="1100" dirty="0">
                <a:solidFill>
                  <a:srgbClr val="5F6E7F"/>
                </a:solidFill>
                <a:latin typeface="Calibri" pitchFamily="34" charset="0"/>
                <a:ea typeface="Calibri" pitchFamily="34" charset="-122"/>
                <a:cs typeface="Calibri" pitchFamily="34" charset="-120"/>
              </a:rPr>
              <a:t>één afdeling</a:t>
            </a:r>
            <a:endParaRPr lang="en-US" sz="1100" dirty="0"/>
          </a:p>
        </p:txBody>
      </p:sp>
      <p:sp>
        <p:nvSpPr>
          <p:cNvPr id="20" name="Shape 18"/>
          <p:cNvSpPr/>
          <p:nvPr/>
        </p:nvSpPr>
        <p:spPr>
          <a:xfrm>
            <a:off x="548640" y="4069080"/>
            <a:ext cx="4434840" cy="777240"/>
          </a:xfrm>
          <a:prstGeom prst="roundRect">
            <a:avLst>
              <a:gd name="adj" fmla="val 14118"/>
            </a:avLst>
          </a:prstGeom>
          <a:solidFill>
            <a:srgbClr val="E2E6F5"/>
          </a:solidFill>
          <a:ln w="12700">
            <a:solidFill>
              <a:srgbClr val="E2E6F5"/>
            </a:solidFill>
            <a:prstDash val="solid"/>
          </a:ln>
        </p:spPr>
      </p:sp>
      <p:sp>
        <p:nvSpPr>
          <p:cNvPr id="21" name="Shape 19"/>
          <p:cNvSpPr/>
          <p:nvPr/>
        </p:nvSpPr>
        <p:spPr>
          <a:xfrm>
            <a:off x="731520" y="4206240"/>
            <a:ext cx="1463040" cy="502920"/>
          </a:xfrm>
          <a:prstGeom prst="roundRect">
            <a:avLst>
              <a:gd name="adj" fmla="val 18182"/>
            </a:avLst>
          </a:prstGeom>
          <a:solidFill>
            <a:srgbClr val="3F4F9B"/>
          </a:solidFill>
          <a:ln w="12700">
            <a:solidFill>
              <a:srgbClr val="3F4F9B"/>
            </a:solidFill>
            <a:prstDash val="solid"/>
          </a:ln>
        </p:spPr>
      </p:sp>
      <p:sp>
        <p:nvSpPr>
          <p:cNvPr id="22" name="Text 20"/>
          <p:cNvSpPr txBox="1"/>
          <p:nvPr/>
        </p:nvSpPr>
        <p:spPr>
          <a:xfrm>
            <a:off x="731520" y="4206240"/>
            <a:ext cx="1463040" cy="502920"/>
          </a:xfrm>
          <a:prstGeom prst="rect">
            <a:avLst/>
          </a:prstGeom>
          <a:noFill/>
          <a:ln/>
        </p:spPr>
        <p:txBody>
          <a:bodyPr wrap="square" lIns="635" tIns="635" rIns="635" bIns="635"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ICU</a:t>
            </a:r>
            <a:endParaRPr lang="en-US" sz="1300" dirty="0"/>
          </a:p>
        </p:txBody>
      </p:sp>
      <p:sp>
        <p:nvSpPr>
          <p:cNvPr id="23" name="Text 21"/>
          <p:cNvSpPr txBox="1"/>
          <p:nvPr/>
        </p:nvSpPr>
        <p:spPr>
          <a:xfrm>
            <a:off x="2331720" y="4206240"/>
            <a:ext cx="1371600" cy="502920"/>
          </a:xfrm>
          <a:prstGeom prst="rect">
            <a:avLst/>
          </a:prstGeom>
          <a:noFill/>
          <a:ln/>
        </p:spPr>
        <p:txBody>
          <a:bodyPr wrap="square" lIns="0" tIns="0" rIns="0" bIns="0" rtlCol="0" anchor="ctr"/>
          <a:lstStyle/>
          <a:p>
            <a:pPr indent="0" marL="0">
              <a:buNone/>
            </a:pPr>
            <a:r>
              <a:rPr lang="en-US" sz="1100" dirty="0">
                <a:solidFill>
                  <a:srgbClr val="5F6E7F"/>
                </a:solidFill>
                <a:latin typeface="Calibri" pitchFamily="34" charset="0"/>
                <a:ea typeface="Calibri" pitchFamily="34" charset="-122"/>
                <a:cs typeface="Calibri" pitchFamily="34" charset="-120"/>
              </a:rPr>
              <a:t>zelfstandig</a:t>
            </a:r>
            <a:endParaRPr lang="en-US" sz="1100" dirty="0"/>
          </a:p>
        </p:txBody>
      </p:sp>
      <p:sp>
        <p:nvSpPr>
          <p:cNvPr id="24" name="Shape 22"/>
          <p:cNvSpPr/>
          <p:nvPr/>
        </p:nvSpPr>
        <p:spPr>
          <a:xfrm>
            <a:off x="5074920" y="3108960"/>
            <a:ext cx="1005840" cy="548640"/>
          </a:xfrm>
          <a:prstGeom prst="rightArrow">
            <a:avLst/>
          </a:prstGeom>
          <a:solidFill>
            <a:srgbClr val="E1E6EB"/>
          </a:solidFill>
          <a:ln w="12700">
            <a:solidFill>
              <a:srgbClr val="E1E6EB"/>
            </a:solidFill>
            <a:prstDash val="solid"/>
          </a:ln>
        </p:spPr>
      </p:sp>
      <p:sp>
        <p:nvSpPr>
          <p:cNvPr id="25" name="Text 23"/>
          <p:cNvSpPr txBox="1"/>
          <p:nvPr/>
        </p:nvSpPr>
        <p:spPr>
          <a:xfrm>
            <a:off x="6400800" y="1874520"/>
            <a:ext cx="4572000" cy="274320"/>
          </a:xfrm>
          <a:prstGeom prst="rect">
            <a:avLst/>
          </a:prstGeom>
          <a:noFill/>
          <a:ln/>
        </p:spPr>
        <p:txBody>
          <a:bodyPr wrap="square" lIns="0" tIns="0" rIns="0" bIns="0" rtlCol="0" anchor="ctr"/>
          <a:lstStyle/>
          <a:p>
            <a:pPr indent="0" marL="0">
              <a:buNone/>
            </a:pPr>
            <a:r>
              <a:rPr lang="en-US" sz="1200" b="1" spc="200" kern="0" dirty="0">
                <a:solidFill>
                  <a:srgbClr val="5F6E7F"/>
                </a:solidFill>
                <a:latin typeface="Calibri" pitchFamily="34" charset="0"/>
                <a:ea typeface="Calibri" pitchFamily="34" charset="-122"/>
                <a:cs typeface="Calibri" pitchFamily="34" charset="-120"/>
              </a:rPr>
              <a:t>STRAKS: TWEE CLUSTERS</a:t>
            </a:r>
            <a:endParaRPr lang="en-US" sz="1200" dirty="0"/>
          </a:p>
        </p:txBody>
      </p:sp>
      <p:sp>
        <p:nvSpPr>
          <p:cNvPr id="26" name="Shape 24"/>
          <p:cNvSpPr/>
          <p:nvPr/>
        </p:nvSpPr>
        <p:spPr>
          <a:xfrm>
            <a:off x="6400800" y="2240280"/>
            <a:ext cx="5239512" cy="1417320"/>
          </a:xfrm>
          <a:prstGeom prst="roundRect">
            <a:avLst>
              <a:gd name="adj" fmla="val 7742"/>
            </a:avLst>
          </a:prstGeom>
          <a:solidFill>
            <a:srgbClr val="DCEFF1"/>
          </a:solidFill>
          <a:ln w="12700">
            <a:solidFill>
              <a:srgbClr val="DCEFF1"/>
            </a:solidFill>
            <a:prstDash val="solid"/>
          </a:ln>
        </p:spPr>
      </p:sp>
      <p:sp>
        <p:nvSpPr>
          <p:cNvPr id="27" name="Text 25"/>
          <p:cNvSpPr txBox="1"/>
          <p:nvPr/>
        </p:nvSpPr>
        <p:spPr>
          <a:xfrm>
            <a:off x="6629400" y="2331720"/>
            <a:ext cx="2743200" cy="365760"/>
          </a:xfrm>
          <a:prstGeom prst="rect">
            <a:avLst/>
          </a:prstGeom>
          <a:noFill/>
          <a:ln/>
        </p:spPr>
        <p:txBody>
          <a:bodyPr wrap="square" lIns="0" tIns="0" rIns="0" bIns="0" rtlCol="0" anchor="ctr"/>
          <a:lstStyle/>
          <a:p>
            <a:pPr indent="0" marL="0">
              <a:buNone/>
            </a:pPr>
            <a:r>
              <a:rPr lang="en-US" sz="1800" b="1" dirty="0">
                <a:solidFill>
                  <a:srgbClr val="0E7C86"/>
                </a:solidFill>
                <a:latin typeface="Calibri" pitchFamily="34" charset="0"/>
                <a:ea typeface="Calibri" pitchFamily="34" charset="-122"/>
                <a:cs typeface="Calibri" pitchFamily="34" charset="-120"/>
              </a:rPr>
              <a:t>Acute poort</a:t>
            </a:r>
            <a:endParaRPr lang="en-US" sz="1800" dirty="0"/>
          </a:p>
        </p:txBody>
      </p:sp>
      <p:sp>
        <p:nvSpPr>
          <p:cNvPr id="28" name="Shape 26"/>
          <p:cNvSpPr/>
          <p:nvPr/>
        </p:nvSpPr>
        <p:spPr>
          <a:xfrm>
            <a:off x="6629400" y="2834640"/>
            <a:ext cx="1463040" cy="502920"/>
          </a:xfrm>
          <a:prstGeom prst="roundRect">
            <a:avLst>
              <a:gd name="adj" fmla="val 18182"/>
            </a:avLst>
          </a:prstGeom>
          <a:solidFill>
            <a:srgbClr val="0E7C86"/>
          </a:solidFill>
          <a:ln w="12700">
            <a:solidFill>
              <a:srgbClr val="0E7C86"/>
            </a:solidFill>
            <a:prstDash val="solid"/>
          </a:ln>
        </p:spPr>
      </p:sp>
      <p:sp>
        <p:nvSpPr>
          <p:cNvPr id="29" name="Text 27"/>
          <p:cNvSpPr txBox="1"/>
          <p:nvPr/>
        </p:nvSpPr>
        <p:spPr>
          <a:xfrm>
            <a:off x="6629400" y="2834640"/>
            <a:ext cx="1463040" cy="502920"/>
          </a:xfrm>
          <a:prstGeom prst="rect">
            <a:avLst/>
          </a:prstGeom>
          <a:noFill/>
          <a:ln/>
        </p:spPr>
        <p:txBody>
          <a:bodyPr wrap="square" lIns="635" tIns="635" rIns="635" bIns="635"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SEH</a:t>
            </a:r>
            <a:endParaRPr lang="en-US" sz="1300" dirty="0"/>
          </a:p>
        </p:txBody>
      </p:sp>
      <p:sp>
        <p:nvSpPr>
          <p:cNvPr id="30" name="Shape 28"/>
          <p:cNvSpPr/>
          <p:nvPr/>
        </p:nvSpPr>
        <p:spPr>
          <a:xfrm>
            <a:off x="8229600" y="2834640"/>
            <a:ext cx="1463040" cy="502920"/>
          </a:xfrm>
          <a:prstGeom prst="roundRect">
            <a:avLst>
              <a:gd name="adj" fmla="val 18182"/>
            </a:avLst>
          </a:prstGeom>
          <a:solidFill>
            <a:srgbClr val="0E7C86"/>
          </a:solidFill>
          <a:ln w="12700">
            <a:solidFill>
              <a:srgbClr val="0E7C86"/>
            </a:solidFill>
            <a:prstDash val="solid"/>
          </a:ln>
        </p:spPr>
      </p:sp>
      <p:sp>
        <p:nvSpPr>
          <p:cNvPr id="31" name="Text 29"/>
          <p:cNvSpPr txBox="1"/>
          <p:nvPr/>
        </p:nvSpPr>
        <p:spPr>
          <a:xfrm>
            <a:off x="8229600" y="2834640"/>
            <a:ext cx="1463040" cy="502920"/>
          </a:xfrm>
          <a:prstGeom prst="rect">
            <a:avLst/>
          </a:prstGeom>
          <a:noFill/>
          <a:ln/>
        </p:spPr>
        <p:txBody>
          <a:bodyPr wrap="square" lIns="635" tIns="635" rIns="635" bIns="635"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Kind</a:t>
            </a:r>
            <a:endParaRPr lang="en-US" sz="1300" dirty="0"/>
          </a:p>
        </p:txBody>
      </p:sp>
      <p:sp>
        <p:nvSpPr>
          <p:cNvPr id="32" name="Shape 30"/>
          <p:cNvSpPr/>
          <p:nvPr/>
        </p:nvSpPr>
        <p:spPr>
          <a:xfrm>
            <a:off x="9829800" y="2834640"/>
            <a:ext cx="1463040" cy="502920"/>
          </a:xfrm>
          <a:prstGeom prst="roundRect">
            <a:avLst>
              <a:gd name="adj" fmla="val 18182"/>
            </a:avLst>
          </a:prstGeom>
          <a:solidFill>
            <a:srgbClr val="E07A1F"/>
          </a:solidFill>
          <a:ln w="12700">
            <a:solidFill>
              <a:srgbClr val="E07A1F"/>
            </a:solidFill>
            <a:prstDash val="solid"/>
          </a:ln>
        </p:spPr>
      </p:sp>
      <p:sp>
        <p:nvSpPr>
          <p:cNvPr id="33" name="Text 31"/>
          <p:cNvSpPr txBox="1"/>
          <p:nvPr/>
        </p:nvSpPr>
        <p:spPr>
          <a:xfrm>
            <a:off x="9829800" y="2834640"/>
            <a:ext cx="1463040" cy="502920"/>
          </a:xfrm>
          <a:prstGeom prst="rect">
            <a:avLst/>
          </a:prstGeom>
          <a:noFill/>
          <a:ln/>
        </p:spPr>
        <p:txBody>
          <a:bodyPr wrap="square" lIns="635" tIns="635" rIns="635" bIns="635"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EHH</a:t>
            </a:r>
            <a:endParaRPr lang="en-US" sz="1300" dirty="0"/>
          </a:p>
        </p:txBody>
      </p:sp>
      <p:sp>
        <p:nvSpPr>
          <p:cNvPr id="34" name="Shape 32"/>
          <p:cNvSpPr/>
          <p:nvPr/>
        </p:nvSpPr>
        <p:spPr>
          <a:xfrm>
            <a:off x="6400800" y="3794760"/>
            <a:ext cx="5239512" cy="1417320"/>
          </a:xfrm>
          <a:prstGeom prst="roundRect">
            <a:avLst>
              <a:gd name="adj" fmla="val 7742"/>
            </a:avLst>
          </a:prstGeom>
          <a:solidFill>
            <a:srgbClr val="E2E6F5"/>
          </a:solidFill>
          <a:ln w="12700">
            <a:solidFill>
              <a:srgbClr val="E2E6F5"/>
            </a:solidFill>
            <a:prstDash val="solid"/>
          </a:ln>
        </p:spPr>
      </p:sp>
      <p:sp>
        <p:nvSpPr>
          <p:cNvPr id="35" name="Text 33"/>
          <p:cNvSpPr txBox="1"/>
          <p:nvPr/>
        </p:nvSpPr>
        <p:spPr>
          <a:xfrm>
            <a:off x="6629400" y="3886200"/>
            <a:ext cx="2743200" cy="365760"/>
          </a:xfrm>
          <a:prstGeom prst="rect">
            <a:avLst/>
          </a:prstGeom>
          <a:noFill/>
          <a:ln/>
        </p:spPr>
        <p:txBody>
          <a:bodyPr wrap="square" lIns="0" tIns="0" rIns="0" bIns="0" rtlCol="0" anchor="ctr"/>
          <a:lstStyle/>
          <a:p>
            <a:pPr indent="0" marL="0">
              <a:buNone/>
            </a:pPr>
            <a:r>
              <a:rPr lang="en-US" sz="1800" b="1" dirty="0">
                <a:solidFill>
                  <a:srgbClr val="3F4F9B"/>
                </a:solidFill>
                <a:latin typeface="Calibri" pitchFamily="34" charset="0"/>
                <a:ea typeface="Calibri" pitchFamily="34" charset="-122"/>
                <a:cs typeface="Calibri" pitchFamily="34" charset="-120"/>
              </a:rPr>
              <a:t>Hotfloor</a:t>
            </a:r>
            <a:endParaRPr lang="en-US" sz="1800" dirty="0"/>
          </a:p>
        </p:txBody>
      </p:sp>
      <p:sp>
        <p:nvSpPr>
          <p:cNvPr id="36" name="Shape 34"/>
          <p:cNvSpPr/>
          <p:nvPr/>
        </p:nvSpPr>
        <p:spPr>
          <a:xfrm>
            <a:off x="6629400" y="4389120"/>
            <a:ext cx="1463040" cy="502920"/>
          </a:xfrm>
          <a:prstGeom prst="roundRect">
            <a:avLst>
              <a:gd name="adj" fmla="val 18182"/>
            </a:avLst>
          </a:prstGeom>
          <a:solidFill>
            <a:srgbClr val="3F4F9B"/>
          </a:solidFill>
          <a:ln w="12700">
            <a:solidFill>
              <a:srgbClr val="3F4F9B"/>
            </a:solidFill>
            <a:prstDash val="solid"/>
          </a:ln>
        </p:spPr>
      </p:sp>
      <p:sp>
        <p:nvSpPr>
          <p:cNvPr id="37" name="Text 35"/>
          <p:cNvSpPr txBox="1"/>
          <p:nvPr/>
        </p:nvSpPr>
        <p:spPr>
          <a:xfrm>
            <a:off x="6629400" y="4389120"/>
            <a:ext cx="1463040" cy="502920"/>
          </a:xfrm>
          <a:prstGeom prst="rect">
            <a:avLst/>
          </a:prstGeom>
          <a:noFill/>
          <a:ln/>
        </p:spPr>
        <p:txBody>
          <a:bodyPr wrap="square" lIns="635" tIns="635" rIns="635" bIns="635"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ICU</a:t>
            </a:r>
            <a:endParaRPr lang="en-US" sz="1300" dirty="0"/>
          </a:p>
        </p:txBody>
      </p:sp>
      <p:sp>
        <p:nvSpPr>
          <p:cNvPr id="38" name="Shape 36"/>
          <p:cNvSpPr/>
          <p:nvPr/>
        </p:nvSpPr>
        <p:spPr>
          <a:xfrm>
            <a:off x="8229600" y="4389120"/>
            <a:ext cx="1463040" cy="502920"/>
          </a:xfrm>
          <a:prstGeom prst="roundRect">
            <a:avLst>
              <a:gd name="adj" fmla="val 18182"/>
            </a:avLst>
          </a:prstGeom>
          <a:solidFill>
            <a:srgbClr val="3F4F9B"/>
          </a:solidFill>
          <a:ln w="12700">
            <a:solidFill>
              <a:srgbClr val="3F4F9B"/>
            </a:solidFill>
            <a:prstDash val="solid"/>
          </a:ln>
        </p:spPr>
      </p:sp>
      <p:sp>
        <p:nvSpPr>
          <p:cNvPr id="39" name="Text 37"/>
          <p:cNvSpPr txBox="1"/>
          <p:nvPr/>
        </p:nvSpPr>
        <p:spPr>
          <a:xfrm>
            <a:off x="8229600" y="4389120"/>
            <a:ext cx="1463040" cy="502920"/>
          </a:xfrm>
          <a:prstGeom prst="rect">
            <a:avLst/>
          </a:prstGeom>
          <a:noFill/>
          <a:ln/>
        </p:spPr>
        <p:txBody>
          <a:bodyPr wrap="square" lIns="635" tIns="635" rIns="635" bIns="635"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CCU / SCU</a:t>
            </a:r>
            <a:endParaRPr lang="en-US" sz="1300" dirty="0"/>
          </a:p>
        </p:txBody>
      </p:sp>
      <p:sp>
        <p:nvSpPr>
          <p:cNvPr id="40" name="Shape 38"/>
          <p:cNvSpPr/>
          <p:nvPr/>
        </p:nvSpPr>
        <p:spPr>
          <a:xfrm>
            <a:off x="548640" y="5532120"/>
            <a:ext cx="11094415" cy="777240"/>
          </a:xfrm>
          <a:prstGeom prst="roundRect">
            <a:avLst>
              <a:gd name="adj" fmla="val 14118"/>
            </a:avLst>
          </a:prstGeom>
          <a:solidFill>
            <a:srgbClr val="F3F6F9"/>
          </a:solidFill>
          <a:ln w="12700">
            <a:solidFill>
              <a:srgbClr val="F3F6F9"/>
            </a:solidFill>
            <a:prstDash val="solid"/>
          </a:ln>
        </p:spPr>
      </p:sp>
      <p:sp>
        <p:nvSpPr>
          <p:cNvPr id="41" name="Text 39"/>
          <p:cNvSpPr txBox="1"/>
          <p:nvPr/>
        </p:nvSpPr>
        <p:spPr>
          <a:xfrm>
            <a:off x="822960" y="5641848"/>
            <a:ext cx="2926080" cy="548640"/>
          </a:xfrm>
          <a:prstGeom prst="rect">
            <a:avLst/>
          </a:prstGeom>
          <a:noFill/>
          <a:ln/>
        </p:spPr>
        <p:txBody>
          <a:bodyPr wrap="square" lIns="0" tIns="0" rIns="0" bIns="0" rtlCol="0" anchor="ctr"/>
          <a:lstStyle/>
          <a:p>
            <a:pPr indent="0" marL="0">
              <a:buNone/>
            </a:pPr>
            <a:r>
              <a:rPr lang="en-US" sz="1100" b="1" spc="200" kern="0" dirty="0">
                <a:solidFill>
                  <a:srgbClr val="5F6E7F"/>
                </a:solidFill>
                <a:latin typeface="Calibri" pitchFamily="34" charset="0"/>
                <a:ea typeface="Calibri" pitchFamily="34" charset="-122"/>
                <a:cs typeface="Calibri" pitchFamily="34" charset="-120"/>
              </a:rPr>
              <a:t>WAT DIT BETEKENT</a:t>
            </a:r>
            <a:endParaRPr lang="en-US" sz="1100" dirty="0"/>
          </a:p>
        </p:txBody>
      </p:sp>
      <p:sp>
        <p:nvSpPr>
          <p:cNvPr id="42" name="Text 40"/>
          <p:cNvSpPr txBox="1"/>
          <p:nvPr/>
        </p:nvSpPr>
        <p:spPr>
          <a:xfrm>
            <a:off x="3657600" y="5623560"/>
            <a:ext cx="7711135" cy="594360"/>
          </a:xfrm>
          <a:prstGeom prst="rect">
            <a:avLst/>
          </a:prstGeom>
          <a:noFill/>
          <a:ln/>
        </p:spPr>
        <p:txBody>
          <a:bodyPr wrap="square" lIns="0" tIns="0" rIns="0" bIns="0" rtlCol="0" anchor="ctr"/>
          <a:lstStyle/>
          <a:p>
            <a:pPr indent="0" marL="0">
              <a:buNone/>
            </a:pPr>
            <a:r>
              <a:rPr lang="en-US" sz="1400" dirty="0">
                <a:solidFill>
                  <a:srgbClr val="12283A"/>
                </a:solidFill>
                <a:latin typeface="Calibri" pitchFamily="34" charset="0"/>
                <a:ea typeface="Calibri" pitchFamily="34" charset="-122"/>
                <a:cs typeface="Calibri" pitchFamily="34" charset="-120"/>
              </a:rPr>
              <a:t>De EHH komt los van de CCU/SCU en gaat naar de acute poort. De ICU smelt samen met de CCU en SCU tot één cluster voor bewakingszorg.</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100" b="1" spc="200" kern="0" dirty="0">
                <a:solidFill>
                  <a:srgbClr val="5F6E7F"/>
                </a:solidFill>
                <a:latin typeface="Calibri" pitchFamily="34" charset="0"/>
                <a:ea typeface="Calibri" pitchFamily="34" charset="-122"/>
                <a:cs typeface="Calibri" pitchFamily="34" charset="-120"/>
              </a:rPr>
              <a:t>DEEL 3  ·  WAT VERANDERT ER</a:t>
            </a:r>
            <a:endParaRPr lang="en-US" sz="11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200" b="1" dirty="0">
                <a:solidFill>
                  <a:srgbClr val="12283A"/>
                </a:solidFill>
                <a:latin typeface="Calibri" pitchFamily="34" charset="0"/>
                <a:ea typeface="Calibri" pitchFamily="34" charset="-122"/>
                <a:cs typeface="Calibri" pitchFamily="34" charset="-120"/>
              </a:rPr>
              <a:t>De nieuwbouw in cijfers</a:t>
            </a:r>
            <a:endParaRPr lang="en-US" sz="3200" dirty="0"/>
          </a:p>
        </p:txBody>
      </p:sp>
      <p:sp>
        <p:nvSpPr>
          <p:cNvPr id="4" name="Text 2"/>
          <p:cNvSpPr txBox="1"/>
          <p:nvPr/>
        </p:nvSpPr>
        <p:spPr>
          <a:xfrm>
            <a:off x="548640" y="1298448"/>
            <a:ext cx="11064240" cy="365760"/>
          </a:xfrm>
          <a:prstGeom prst="rect">
            <a:avLst/>
          </a:prstGeom>
          <a:noFill/>
          <a:ln/>
        </p:spPr>
        <p:txBody>
          <a:bodyPr wrap="square" lIns="0" tIns="0" rIns="0" bIns="0" rtlCol="0" anchor="ctr"/>
          <a:lstStyle/>
          <a:p>
            <a:pPr indent="0" marL="0">
              <a:buNone/>
            </a:pPr>
            <a:r>
              <a:rPr lang="en-US" sz="1600" dirty="0">
                <a:solidFill>
                  <a:srgbClr val="5F6E7F"/>
                </a:solidFill>
                <a:latin typeface="Calibri" pitchFamily="34" charset="0"/>
                <a:ea typeface="Calibri" pitchFamily="34" charset="-122"/>
                <a:cs typeface="Calibri" pitchFamily="34" charset="-120"/>
              </a:rPr>
              <a:t>Elk vakje is één kamer of bed</a:t>
            </a:r>
            <a:endParaRPr lang="en-US" sz="1600" dirty="0"/>
          </a:p>
        </p:txBody>
      </p:sp>
      <p:sp>
        <p:nvSpPr>
          <p:cNvPr id="5" name="Text 3"/>
          <p:cNvSpPr txBox="1"/>
          <p:nvPr/>
        </p:nvSpPr>
        <p:spPr>
          <a:xfrm>
            <a:off x="548640" y="6419088"/>
            <a:ext cx="4572000" cy="228600"/>
          </a:xfrm>
          <a:prstGeom prst="rect">
            <a:avLst/>
          </a:prstGeom>
          <a:noFill/>
          <a:ln/>
        </p:spPr>
        <p:txBody>
          <a:bodyPr wrap="square" lIns="0" tIns="0" rIns="0" bIns="0" rtlCol="0" anchor="ctr"/>
          <a:lstStyle/>
          <a:p>
            <a:pPr indent="0" marL="0">
              <a:buNone/>
            </a:pPr>
            <a:r>
              <a:rPr lang="en-US" sz="1000" dirty="0">
                <a:solidFill>
                  <a:srgbClr val="8A97A5"/>
                </a:solidFill>
                <a:latin typeface="Calibri" pitchFamily="34" charset="0"/>
                <a:ea typeface="Calibri" pitchFamily="34" charset="-122"/>
                <a:cs typeface="Calibri" pitchFamily="34" charset="-120"/>
              </a:rPr>
              <a:t>Acute poort en Hotfloor</a:t>
            </a:r>
            <a:endParaRPr lang="en-US" sz="1000" dirty="0"/>
          </a:p>
        </p:txBody>
      </p:sp>
      <p:sp>
        <p:nvSpPr>
          <p:cNvPr id="6" name="Text 4"/>
          <p:cNvSpPr txBox="1"/>
          <p:nvPr/>
        </p:nvSpPr>
        <p:spPr>
          <a:xfrm>
            <a:off x="11091672" y="6419088"/>
            <a:ext cx="548640" cy="228600"/>
          </a:xfrm>
          <a:prstGeom prst="rect">
            <a:avLst/>
          </a:prstGeom>
          <a:noFill/>
          <a:ln/>
        </p:spPr>
        <p:txBody>
          <a:bodyPr wrap="square" lIns="0" tIns="0" rIns="0" bIns="0" rtlCol="0" anchor="ctr"/>
          <a:lstStyle/>
          <a:p>
            <a:pPr algn="r" indent="0" marL="0">
              <a:buNone/>
            </a:pPr>
            <a:r>
              <a:rPr lang="en-US" sz="1000" dirty="0">
                <a:solidFill>
                  <a:srgbClr val="8A97A5"/>
                </a:solidFill>
                <a:latin typeface="Calibri" pitchFamily="34" charset="0"/>
                <a:ea typeface="Calibri" pitchFamily="34" charset="-122"/>
                <a:cs typeface="Calibri" pitchFamily="34" charset="-120"/>
              </a:rPr>
              <a:t>9</a:t>
            </a:r>
            <a:endParaRPr lang="en-US" sz="1000" dirty="0"/>
          </a:p>
        </p:txBody>
      </p:sp>
      <p:sp>
        <p:nvSpPr>
          <p:cNvPr id="7" name="Shape 5"/>
          <p:cNvSpPr/>
          <p:nvPr/>
        </p:nvSpPr>
        <p:spPr>
          <a:xfrm>
            <a:off x="548640" y="1874520"/>
            <a:ext cx="6720840" cy="4114800"/>
          </a:xfrm>
          <a:prstGeom prst="roundRect">
            <a:avLst>
              <a:gd name="adj" fmla="val 2667"/>
            </a:avLst>
          </a:prstGeom>
          <a:solidFill>
            <a:srgbClr val="DCEFF1"/>
          </a:solidFill>
          <a:ln w="12700">
            <a:solidFill>
              <a:srgbClr val="DCEFF1"/>
            </a:solidFill>
            <a:prstDash val="solid"/>
          </a:ln>
        </p:spPr>
      </p:sp>
      <p:sp>
        <p:nvSpPr>
          <p:cNvPr id="8" name="Text 6"/>
          <p:cNvSpPr txBox="1"/>
          <p:nvPr/>
        </p:nvSpPr>
        <p:spPr>
          <a:xfrm>
            <a:off x="822960" y="2011680"/>
            <a:ext cx="3657600" cy="365760"/>
          </a:xfrm>
          <a:prstGeom prst="rect">
            <a:avLst/>
          </a:prstGeom>
          <a:noFill/>
          <a:ln/>
        </p:spPr>
        <p:txBody>
          <a:bodyPr wrap="square" lIns="0" tIns="0" rIns="0" bIns="0" rtlCol="0" anchor="ctr"/>
          <a:lstStyle/>
          <a:p>
            <a:pPr indent="0" marL="0">
              <a:buNone/>
            </a:pPr>
            <a:r>
              <a:rPr lang="en-US" sz="2000" b="1" dirty="0">
                <a:solidFill>
                  <a:srgbClr val="0E7C86"/>
                </a:solidFill>
                <a:latin typeface="Calibri" pitchFamily="34" charset="0"/>
                <a:ea typeface="Calibri" pitchFamily="34" charset="-122"/>
                <a:cs typeface="Calibri" pitchFamily="34" charset="-120"/>
              </a:rPr>
              <a:t>Acute poort</a:t>
            </a:r>
            <a:endParaRPr lang="en-US" sz="2000" dirty="0"/>
          </a:p>
        </p:txBody>
      </p:sp>
      <p:sp>
        <p:nvSpPr>
          <p:cNvPr id="9" name="Text 7"/>
          <p:cNvSpPr txBox="1"/>
          <p:nvPr/>
        </p:nvSpPr>
        <p:spPr>
          <a:xfrm>
            <a:off x="4754880" y="1920240"/>
            <a:ext cx="2286000" cy="822960"/>
          </a:xfrm>
          <a:prstGeom prst="rect">
            <a:avLst/>
          </a:prstGeom>
          <a:noFill/>
          <a:ln/>
        </p:spPr>
        <p:txBody>
          <a:bodyPr wrap="square" lIns="0" tIns="0" rIns="0" bIns="0" rtlCol="0" anchor="ctr"/>
          <a:lstStyle/>
          <a:p>
            <a:pPr algn="r" indent="0" marL="0">
              <a:buNone/>
            </a:pPr>
            <a:r>
              <a:rPr lang="en-US" sz="4800" b="1" dirty="0">
                <a:solidFill>
                  <a:srgbClr val="0E7C86"/>
                </a:solidFill>
                <a:latin typeface="Calibri" pitchFamily="34" charset="0"/>
                <a:ea typeface="Calibri" pitchFamily="34" charset="-122"/>
                <a:cs typeface="Calibri" pitchFamily="34" charset="-120"/>
              </a:rPr>
              <a:t>23</a:t>
            </a:r>
            <a:endParaRPr lang="en-US" sz="4800" dirty="0"/>
          </a:p>
        </p:txBody>
      </p:sp>
      <p:sp>
        <p:nvSpPr>
          <p:cNvPr id="10" name="Text 8"/>
          <p:cNvSpPr txBox="1"/>
          <p:nvPr/>
        </p:nvSpPr>
        <p:spPr>
          <a:xfrm>
            <a:off x="4754880" y="2697480"/>
            <a:ext cx="2286000" cy="274320"/>
          </a:xfrm>
          <a:prstGeom prst="rect">
            <a:avLst/>
          </a:prstGeom>
          <a:noFill/>
          <a:ln/>
        </p:spPr>
        <p:txBody>
          <a:bodyPr wrap="square" lIns="0" tIns="0" rIns="0" bIns="0" rtlCol="0" anchor="ctr"/>
          <a:lstStyle/>
          <a:p>
            <a:pPr algn="r" indent="0" marL="0">
              <a:buNone/>
            </a:pPr>
            <a:r>
              <a:rPr lang="en-US" sz="1200" dirty="0">
                <a:solidFill>
                  <a:srgbClr val="5F6E7F"/>
                </a:solidFill>
                <a:latin typeface="Calibri" pitchFamily="34" charset="0"/>
                <a:ea typeface="Calibri" pitchFamily="34" charset="-122"/>
                <a:cs typeface="Calibri" pitchFamily="34" charset="-120"/>
              </a:rPr>
              <a:t>kamers bekend</a:t>
            </a:r>
            <a:endParaRPr lang="en-US" sz="1200" dirty="0"/>
          </a:p>
        </p:txBody>
      </p:sp>
      <p:sp>
        <p:nvSpPr>
          <p:cNvPr id="11" name="Text 9"/>
          <p:cNvSpPr txBox="1"/>
          <p:nvPr/>
        </p:nvSpPr>
        <p:spPr>
          <a:xfrm>
            <a:off x="822960" y="3063240"/>
            <a:ext cx="5486400" cy="228600"/>
          </a:xfrm>
          <a:prstGeom prst="rect">
            <a:avLst/>
          </a:prstGeom>
          <a:noFill/>
          <a:ln/>
        </p:spPr>
        <p:txBody>
          <a:bodyPr wrap="square" lIns="0" tIns="0" rIns="0" bIns="0" rtlCol="0" anchor="ctr"/>
          <a:lstStyle/>
          <a:p>
            <a:pPr indent="0" marL="0">
              <a:buNone/>
            </a:pPr>
            <a:r>
              <a:rPr lang="en-US" sz="1000" b="1" spc="200" kern="0" dirty="0">
                <a:solidFill>
                  <a:srgbClr val="5F6E7F"/>
                </a:solidFill>
                <a:latin typeface="Calibri" pitchFamily="34" charset="0"/>
                <a:ea typeface="Calibri" pitchFamily="34" charset="-122"/>
                <a:cs typeface="Calibri" pitchFamily="34" charset="-120"/>
              </a:rPr>
              <a:t>SEH + KIND SPOED  ·  18 KAMERS</a:t>
            </a:r>
            <a:endParaRPr lang="en-US" sz="1000" dirty="0"/>
          </a:p>
        </p:txBody>
      </p:sp>
      <p:sp>
        <p:nvSpPr>
          <p:cNvPr id="12" name="Shape 10"/>
          <p:cNvSpPr/>
          <p:nvPr/>
        </p:nvSpPr>
        <p:spPr>
          <a:xfrm>
            <a:off x="822960" y="3337560"/>
            <a:ext cx="384048" cy="384048"/>
          </a:xfrm>
          <a:prstGeom prst="roundRect">
            <a:avLst>
              <a:gd name="adj" fmla="val 14286"/>
            </a:avLst>
          </a:prstGeom>
          <a:solidFill>
            <a:srgbClr val="0E7C86"/>
          </a:solidFill>
          <a:ln w="12700">
            <a:solidFill>
              <a:srgbClr val="0E7C86"/>
            </a:solidFill>
            <a:prstDash val="solid"/>
          </a:ln>
        </p:spPr>
      </p:sp>
      <p:sp>
        <p:nvSpPr>
          <p:cNvPr id="13" name="Shape 11"/>
          <p:cNvSpPr/>
          <p:nvPr/>
        </p:nvSpPr>
        <p:spPr>
          <a:xfrm>
            <a:off x="1280160" y="3337560"/>
            <a:ext cx="384048" cy="384048"/>
          </a:xfrm>
          <a:prstGeom prst="roundRect">
            <a:avLst>
              <a:gd name="adj" fmla="val 14286"/>
            </a:avLst>
          </a:prstGeom>
          <a:solidFill>
            <a:srgbClr val="0E7C86"/>
          </a:solidFill>
          <a:ln w="12700">
            <a:solidFill>
              <a:srgbClr val="0E7C86"/>
            </a:solidFill>
            <a:prstDash val="solid"/>
          </a:ln>
        </p:spPr>
      </p:sp>
      <p:sp>
        <p:nvSpPr>
          <p:cNvPr id="14" name="Shape 12"/>
          <p:cNvSpPr/>
          <p:nvPr/>
        </p:nvSpPr>
        <p:spPr>
          <a:xfrm>
            <a:off x="1737360" y="3337560"/>
            <a:ext cx="384048" cy="384048"/>
          </a:xfrm>
          <a:prstGeom prst="roundRect">
            <a:avLst>
              <a:gd name="adj" fmla="val 14286"/>
            </a:avLst>
          </a:prstGeom>
          <a:solidFill>
            <a:srgbClr val="0E7C86"/>
          </a:solidFill>
          <a:ln w="12700">
            <a:solidFill>
              <a:srgbClr val="0E7C86"/>
            </a:solidFill>
            <a:prstDash val="solid"/>
          </a:ln>
        </p:spPr>
      </p:sp>
      <p:sp>
        <p:nvSpPr>
          <p:cNvPr id="15" name="Shape 13"/>
          <p:cNvSpPr/>
          <p:nvPr/>
        </p:nvSpPr>
        <p:spPr>
          <a:xfrm>
            <a:off x="2194560" y="3337560"/>
            <a:ext cx="384048" cy="384048"/>
          </a:xfrm>
          <a:prstGeom prst="roundRect">
            <a:avLst>
              <a:gd name="adj" fmla="val 14286"/>
            </a:avLst>
          </a:prstGeom>
          <a:solidFill>
            <a:srgbClr val="0E7C86"/>
          </a:solidFill>
          <a:ln w="12700">
            <a:solidFill>
              <a:srgbClr val="0E7C86"/>
            </a:solidFill>
            <a:prstDash val="solid"/>
          </a:ln>
        </p:spPr>
      </p:sp>
      <p:sp>
        <p:nvSpPr>
          <p:cNvPr id="16" name="Shape 14"/>
          <p:cNvSpPr/>
          <p:nvPr/>
        </p:nvSpPr>
        <p:spPr>
          <a:xfrm>
            <a:off x="2651760" y="3337560"/>
            <a:ext cx="384048" cy="384048"/>
          </a:xfrm>
          <a:prstGeom prst="roundRect">
            <a:avLst>
              <a:gd name="adj" fmla="val 14286"/>
            </a:avLst>
          </a:prstGeom>
          <a:solidFill>
            <a:srgbClr val="0E7C86"/>
          </a:solidFill>
          <a:ln w="12700">
            <a:solidFill>
              <a:srgbClr val="0E7C86"/>
            </a:solidFill>
            <a:prstDash val="solid"/>
          </a:ln>
        </p:spPr>
      </p:sp>
      <p:sp>
        <p:nvSpPr>
          <p:cNvPr id="17" name="Shape 15"/>
          <p:cNvSpPr/>
          <p:nvPr/>
        </p:nvSpPr>
        <p:spPr>
          <a:xfrm>
            <a:off x="3108960" y="3337560"/>
            <a:ext cx="384048" cy="384048"/>
          </a:xfrm>
          <a:prstGeom prst="roundRect">
            <a:avLst>
              <a:gd name="adj" fmla="val 14286"/>
            </a:avLst>
          </a:prstGeom>
          <a:solidFill>
            <a:srgbClr val="0E7C86"/>
          </a:solidFill>
          <a:ln w="12700">
            <a:solidFill>
              <a:srgbClr val="0E7C86"/>
            </a:solidFill>
            <a:prstDash val="solid"/>
          </a:ln>
        </p:spPr>
      </p:sp>
      <p:sp>
        <p:nvSpPr>
          <p:cNvPr id="18" name="Shape 16"/>
          <p:cNvSpPr/>
          <p:nvPr/>
        </p:nvSpPr>
        <p:spPr>
          <a:xfrm>
            <a:off x="3566160" y="3337560"/>
            <a:ext cx="384048" cy="384048"/>
          </a:xfrm>
          <a:prstGeom prst="roundRect">
            <a:avLst>
              <a:gd name="adj" fmla="val 14286"/>
            </a:avLst>
          </a:prstGeom>
          <a:solidFill>
            <a:srgbClr val="0E7C86"/>
          </a:solidFill>
          <a:ln w="12700">
            <a:solidFill>
              <a:srgbClr val="0E7C86"/>
            </a:solidFill>
            <a:prstDash val="solid"/>
          </a:ln>
        </p:spPr>
      </p:sp>
      <p:sp>
        <p:nvSpPr>
          <p:cNvPr id="19" name="Shape 17"/>
          <p:cNvSpPr/>
          <p:nvPr/>
        </p:nvSpPr>
        <p:spPr>
          <a:xfrm>
            <a:off x="4023360" y="3337560"/>
            <a:ext cx="384048" cy="384048"/>
          </a:xfrm>
          <a:prstGeom prst="roundRect">
            <a:avLst>
              <a:gd name="adj" fmla="val 14286"/>
            </a:avLst>
          </a:prstGeom>
          <a:solidFill>
            <a:srgbClr val="0E7C86"/>
          </a:solidFill>
          <a:ln w="12700">
            <a:solidFill>
              <a:srgbClr val="0E7C86"/>
            </a:solidFill>
            <a:prstDash val="solid"/>
          </a:ln>
        </p:spPr>
      </p:sp>
      <p:sp>
        <p:nvSpPr>
          <p:cNvPr id="20" name="Shape 18"/>
          <p:cNvSpPr/>
          <p:nvPr/>
        </p:nvSpPr>
        <p:spPr>
          <a:xfrm>
            <a:off x="4480560" y="3337560"/>
            <a:ext cx="384048" cy="384048"/>
          </a:xfrm>
          <a:prstGeom prst="roundRect">
            <a:avLst>
              <a:gd name="adj" fmla="val 14286"/>
            </a:avLst>
          </a:prstGeom>
          <a:solidFill>
            <a:srgbClr val="0E7C86"/>
          </a:solidFill>
          <a:ln w="12700">
            <a:solidFill>
              <a:srgbClr val="0E7C86"/>
            </a:solidFill>
            <a:prstDash val="solid"/>
          </a:ln>
        </p:spPr>
      </p:sp>
      <p:sp>
        <p:nvSpPr>
          <p:cNvPr id="21" name="Shape 19"/>
          <p:cNvSpPr/>
          <p:nvPr/>
        </p:nvSpPr>
        <p:spPr>
          <a:xfrm>
            <a:off x="822960" y="3794760"/>
            <a:ext cx="384048" cy="384048"/>
          </a:xfrm>
          <a:prstGeom prst="roundRect">
            <a:avLst>
              <a:gd name="adj" fmla="val 14286"/>
            </a:avLst>
          </a:prstGeom>
          <a:solidFill>
            <a:srgbClr val="0E7C86"/>
          </a:solidFill>
          <a:ln w="12700">
            <a:solidFill>
              <a:srgbClr val="0E7C86"/>
            </a:solidFill>
            <a:prstDash val="solid"/>
          </a:ln>
        </p:spPr>
      </p:sp>
      <p:sp>
        <p:nvSpPr>
          <p:cNvPr id="22" name="Shape 20"/>
          <p:cNvSpPr/>
          <p:nvPr/>
        </p:nvSpPr>
        <p:spPr>
          <a:xfrm>
            <a:off x="1280160" y="3794760"/>
            <a:ext cx="384048" cy="384048"/>
          </a:xfrm>
          <a:prstGeom prst="roundRect">
            <a:avLst>
              <a:gd name="adj" fmla="val 14286"/>
            </a:avLst>
          </a:prstGeom>
          <a:solidFill>
            <a:srgbClr val="0E7C86"/>
          </a:solidFill>
          <a:ln w="12700">
            <a:solidFill>
              <a:srgbClr val="0E7C86"/>
            </a:solidFill>
            <a:prstDash val="solid"/>
          </a:ln>
        </p:spPr>
      </p:sp>
      <p:sp>
        <p:nvSpPr>
          <p:cNvPr id="23" name="Shape 21"/>
          <p:cNvSpPr/>
          <p:nvPr/>
        </p:nvSpPr>
        <p:spPr>
          <a:xfrm>
            <a:off x="1737360" y="3794760"/>
            <a:ext cx="384048" cy="384048"/>
          </a:xfrm>
          <a:prstGeom prst="roundRect">
            <a:avLst>
              <a:gd name="adj" fmla="val 14286"/>
            </a:avLst>
          </a:prstGeom>
          <a:solidFill>
            <a:srgbClr val="0E7C86"/>
          </a:solidFill>
          <a:ln w="12700">
            <a:solidFill>
              <a:srgbClr val="0E7C86"/>
            </a:solidFill>
            <a:prstDash val="solid"/>
          </a:ln>
        </p:spPr>
      </p:sp>
      <p:sp>
        <p:nvSpPr>
          <p:cNvPr id="24" name="Shape 22"/>
          <p:cNvSpPr/>
          <p:nvPr/>
        </p:nvSpPr>
        <p:spPr>
          <a:xfrm>
            <a:off x="2194560" y="3794760"/>
            <a:ext cx="384048" cy="384048"/>
          </a:xfrm>
          <a:prstGeom prst="roundRect">
            <a:avLst>
              <a:gd name="adj" fmla="val 14286"/>
            </a:avLst>
          </a:prstGeom>
          <a:solidFill>
            <a:srgbClr val="5FB3BA"/>
          </a:solidFill>
          <a:ln w="12700">
            <a:solidFill>
              <a:srgbClr val="5FB3BA"/>
            </a:solidFill>
            <a:prstDash val="solid"/>
          </a:ln>
        </p:spPr>
      </p:sp>
      <p:sp>
        <p:nvSpPr>
          <p:cNvPr id="25" name="Shape 23"/>
          <p:cNvSpPr/>
          <p:nvPr/>
        </p:nvSpPr>
        <p:spPr>
          <a:xfrm>
            <a:off x="2651760" y="3794760"/>
            <a:ext cx="384048" cy="384048"/>
          </a:xfrm>
          <a:prstGeom prst="roundRect">
            <a:avLst>
              <a:gd name="adj" fmla="val 14286"/>
            </a:avLst>
          </a:prstGeom>
          <a:solidFill>
            <a:srgbClr val="5FB3BA"/>
          </a:solidFill>
          <a:ln w="12700">
            <a:solidFill>
              <a:srgbClr val="5FB3BA"/>
            </a:solidFill>
            <a:prstDash val="solid"/>
          </a:ln>
        </p:spPr>
      </p:sp>
      <p:sp>
        <p:nvSpPr>
          <p:cNvPr id="26" name="Shape 24"/>
          <p:cNvSpPr/>
          <p:nvPr/>
        </p:nvSpPr>
        <p:spPr>
          <a:xfrm>
            <a:off x="3108960" y="3794760"/>
            <a:ext cx="384048" cy="384048"/>
          </a:xfrm>
          <a:prstGeom prst="roundRect">
            <a:avLst>
              <a:gd name="adj" fmla="val 14286"/>
            </a:avLst>
          </a:prstGeom>
          <a:solidFill>
            <a:srgbClr val="5FB3BA"/>
          </a:solidFill>
          <a:ln w="12700">
            <a:solidFill>
              <a:srgbClr val="5FB3BA"/>
            </a:solidFill>
            <a:prstDash val="solid"/>
          </a:ln>
        </p:spPr>
      </p:sp>
      <p:sp>
        <p:nvSpPr>
          <p:cNvPr id="27" name="Shape 25"/>
          <p:cNvSpPr/>
          <p:nvPr/>
        </p:nvSpPr>
        <p:spPr>
          <a:xfrm>
            <a:off x="3566160" y="3794760"/>
            <a:ext cx="384048" cy="384048"/>
          </a:xfrm>
          <a:prstGeom prst="roundRect">
            <a:avLst>
              <a:gd name="adj" fmla="val 14286"/>
            </a:avLst>
          </a:prstGeom>
          <a:solidFill>
            <a:srgbClr val="9FD0D4"/>
          </a:solidFill>
          <a:ln w="12700">
            <a:solidFill>
              <a:srgbClr val="9FD0D4"/>
            </a:solidFill>
            <a:prstDash val="solid"/>
          </a:ln>
        </p:spPr>
      </p:sp>
      <p:sp>
        <p:nvSpPr>
          <p:cNvPr id="28" name="Shape 26"/>
          <p:cNvSpPr/>
          <p:nvPr/>
        </p:nvSpPr>
        <p:spPr>
          <a:xfrm>
            <a:off x="4023360" y="3794760"/>
            <a:ext cx="384048" cy="384048"/>
          </a:xfrm>
          <a:prstGeom prst="roundRect">
            <a:avLst>
              <a:gd name="adj" fmla="val 14286"/>
            </a:avLst>
          </a:prstGeom>
          <a:solidFill>
            <a:srgbClr val="9FD0D4"/>
          </a:solidFill>
          <a:ln w="12700">
            <a:solidFill>
              <a:srgbClr val="9FD0D4"/>
            </a:solidFill>
            <a:prstDash val="solid"/>
          </a:ln>
        </p:spPr>
      </p:sp>
      <p:sp>
        <p:nvSpPr>
          <p:cNvPr id="29" name="Shape 27"/>
          <p:cNvSpPr/>
          <p:nvPr/>
        </p:nvSpPr>
        <p:spPr>
          <a:xfrm>
            <a:off x="4480560" y="3794760"/>
            <a:ext cx="384048" cy="384048"/>
          </a:xfrm>
          <a:prstGeom prst="roundRect">
            <a:avLst>
              <a:gd name="adj" fmla="val 14286"/>
            </a:avLst>
          </a:prstGeom>
          <a:solidFill>
            <a:srgbClr val="9FD0D4"/>
          </a:solidFill>
          <a:ln w="12700">
            <a:solidFill>
              <a:srgbClr val="9FD0D4"/>
            </a:solidFill>
            <a:prstDash val="solid"/>
          </a:ln>
        </p:spPr>
      </p:sp>
      <p:sp>
        <p:nvSpPr>
          <p:cNvPr id="30" name="Text 28"/>
          <p:cNvSpPr txBox="1"/>
          <p:nvPr/>
        </p:nvSpPr>
        <p:spPr>
          <a:xfrm>
            <a:off x="822960" y="4434840"/>
            <a:ext cx="5486400" cy="228600"/>
          </a:xfrm>
          <a:prstGeom prst="rect">
            <a:avLst/>
          </a:prstGeom>
          <a:noFill/>
          <a:ln/>
        </p:spPr>
        <p:txBody>
          <a:bodyPr wrap="square" lIns="0" tIns="0" rIns="0" bIns="0" rtlCol="0" anchor="ctr"/>
          <a:lstStyle/>
          <a:p>
            <a:pPr indent="0" marL="0">
              <a:buNone/>
            </a:pPr>
            <a:r>
              <a:rPr lang="en-US" sz="1000" b="1" spc="200" kern="0" dirty="0">
                <a:solidFill>
                  <a:srgbClr val="5F6E7F"/>
                </a:solidFill>
                <a:latin typeface="Calibri" pitchFamily="34" charset="0"/>
                <a:ea typeface="Calibri" pitchFamily="34" charset="-122"/>
                <a:cs typeface="Calibri" pitchFamily="34" charset="-120"/>
              </a:rPr>
              <a:t>EHH  ·  5 KAMERS</a:t>
            </a:r>
            <a:endParaRPr lang="en-US" sz="1000" dirty="0"/>
          </a:p>
        </p:txBody>
      </p:sp>
      <p:sp>
        <p:nvSpPr>
          <p:cNvPr id="31" name="Shape 29"/>
          <p:cNvSpPr/>
          <p:nvPr/>
        </p:nvSpPr>
        <p:spPr>
          <a:xfrm>
            <a:off x="822960" y="4709160"/>
            <a:ext cx="384048" cy="384048"/>
          </a:xfrm>
          <a:prstGeom prst="roundRect">
            <a:avLst>
              <a:gd name="adj" fmla="val 14286"/>
            </a:avLst>
          </a:prstGeom>
          <a:solidFill>
            <a:srgbClr val="E07A1F"/>
          </a:solidFill>
          <a:ln w="12700">
            <a:solidFill>
              <a:srgbClr val="E07A1F"/>
            </a:solidFill>
            <a:prstDash val="solid"/>
          </a:ln>
        </p:spPr>
      </p:sp>
      <p:sp>
        <p:nvSpPr>
          <p:cNvPr id="32" name="Shape 30"/>
          <p:cNvSpPr/>
          <p:nvPr/>
        </p:nvSpPr>
        <p:spPr>
          <a:xfrm>
            <a:off x="1280160" y="4709160"/>
            <a:ext cx="384048" cy="384048"/>
          </a:xfrm>
          <a:prstGeom prst="roundRect">
            <a:avLst>
              <a:gd name="adj" fmla="val 14286"/>
            </a:avLst>
          </a:prstGeom>
          <a:solidFill>
            <a:srgbClr val="E07A1F"/>
          </a:solidFill>
          <a:ln w="12700">
            <a:solidFill>
              <a:srgbClr val="E07A1F"/>
            </a:solidFill>
            <a:prstDash val="solid"/>
          </a:ln>
        </p:spPr>
      </p:sp>
      <p:sp>
        <p:nvSpPr>
          <p:cNvPr id="33" name="Shape 31"/>
          <p:cNvSpPr/>
          <p:nvPr/>
        </p:nvSpPr>
        <p:spPr>
          <a:xfrm>
            <a:off x="1737360" y="4709160"/>
            <a:ext cx="384048" cy="384048"/>
          </a:xfrm>
          <a:prstGeom prst="roundRect">
            <a:avLst>
              <a:gd name="adj" fmla="val 14286"/>
            </a:avLst>
          </a:prstGeom>
          <a:solidFill>
            <a:srgbClr val="E07A1F"/>
          </a:solidFill>
          <a:ln w="12700">
            <a:solidFill>
              <a:srgbClr val="E07A1F"/>
            </a:solidFill>
            <a:prstDash val="solid"/>
          </a:ln>
        </p:spPr>
      </p:sp>
      <p:sp>
        <p:nvSpPr>
          <p:cNvPr id="34" name="Shape 32"/>
          <p:cNvSpPr/>
          <p:nvPr/>
        </p:nvSpPr>
        <p:spPr>
          <a:xfrm>
            <a:off x="2194560" y="4709160"/>
            <a:ext cx="384048" cy="384048"/>
          </a:xfrm>
          <a:prstGeom prst="roundRect">
            <a:avLst>
              <a:gd name="adj" fmla="val 14286"/>
            </a:avLst>
          </a:prstGeom>
          <a:solidFill>
            <a:srgbClr val="E07A1F"/>
          </a:solidFill>
          <a:ln w="12700">
            <a:solidFill>
              <a:srgbClr val="E07A1F"/>
            </a:solidFill>
            <a:prstDash val="solid"/>
          </a:ln>
        </p:spPr>
      </p:sp>
      <p:sp>
        <p:nvSpPr>
          <p:cNvPr id="35" name="Shape 33"/>
          <p:cNvSpPr/>
          <p:nvPr/>
        </p:nvSpPr>
        <p:spPr>
          <a:xfrm>
            <a:off x="2651760" y="4709160"/>
            <a:ext cx="384048" cy="384048"/>
          </a:xfrm>
          <a:prstGeom prst="roundRect">
            <a:avLst>
              <a:gd name="adj" fmla="val 14286"/>
            </a:avLst>
          </a:prstGeom>
          <a:solidFill>
            <a:srgbClr val="E07A1F"/>
          </a:solidFill>
          <a:ln w="12700">
            <a:solidFill>
              <a:srgbClr val="E07A1F"/>
            </a:solidFill>
            <a:prstDash val="solid"/>
          </a:ln>
        </p:spPr>
      </p:sp>
      <p:sp>
        <p:nvSpPr>
          <p:cNvPr id="36" name="Text 34"/>
          <p:cNvSpPr txBox="1"/>
          <p:nvPr/>
        </p:nvSpPr>
        <p:spPr>
          <a:xfrm>
            <a:off x="3246120" y="4709160"/>
            <a:ext cx="3200400" cy="384048"/>
          </a:xfrm>
          <a:prstGeom prst="rect">
            <a:avLst/>
          </a:prstGeom>
          <a:noFill/>
          <a:ln/>
        </p:spPr>
        <p:txBody>
          <a:bodyPr wrap="square" lIns="0" tIns="0" rIns="0" bIns="0" rtlCol="0" anchor="ctr"/>
          <a:lstStyle/>
          <a:p>
            <a:pPr indent="0" marL="0">
              <a:buNone/>
            </a:pPr>
            <a:r>
              <a:rPr lang="en-US" sz="1200" dirty="0">
                <a:solidFill>
                  <a:srgbClr val="5F6E7F"/>
                </a:solidFill>
                <a:latin typeface="Calibri" pitchFamily="34" charset="0"/>
                <a:ea typeface="Calibri" pitchFamily="34" charset="-122"/>
                <a:cs typeface="Calibri" pitchFamily="34" charset="-120"/>
              </a:rPr>
              <a:t>+ kind spoed: aantal nog niet benoemd</a:t>
            </a:r>
            <a:endParaRPr lang="en-US" sz="1200" dirty="0"/>
          </a:p>
        </p:txBody>
      </p:sp>
      <p:sp>
        <p:nvSpPr>
          <p:cNvPr id="37" name="Shape 35"/>
          <p:cNvSpPr/>
          <p:nvPr/>
        </p:nvSpPr>
        <p:spPr>
          <a:xfrm>
            <a:off x="5120640" y="3383280"/>
            <a:ext cx="201168" cy="201168"/>
          </a:xfrm>
          <a:prstGeom prst="roundRect">
            <a:avLst>
              <a:gd name="adj" fmla="val 18182"/>
            </a:avLst>
          </a:prstGeom>
          <a:solidFill>
            <a:srgbClr val="0E7C86"/>
          </a:solidFill>
          <a:ln w="12700">
            <a:solidFill>
              <a:srgbClr val="0E7C86"/>
            </a:solidFill>
            <a:prstDash val="solid"/>
          </a:ln>
        </p:spPr>
      </p:sp>
      <p:sp>
        <p:nvSpPr>
          <p:cNvPr id="38" name="Text 36"/>
          <p:cNvSpPr txBox="1"/>
          <p:nvPr/>
        </p:nvSpPr>
        <p:spPr>
          <a:xfrm>
            <a:off x="5413248" y="3337560"/>
            <a:ext cx="1783080" cy="292608"/>
          </a:xfrm>
          <a:prstGeom prst="rect">
            <a:avLst/>
          </a:prstGeom>
          <a:noFill/>
          <a:ln/>
        </p:spPr>
        <p:txBody>
          <a:bodyPr wrap="square" lIns="0" tIns="0" rIns="0" bIns="0" rtlCol="0" anchor="ctr"/>
          <a:lstStyle/>
          <a:p>
            <a:pPr indent="0" marL="0">
              <a:buNone/>
            </a:pPr>
            <a:r>
              <a:rPr lang="en-US" sz="1100" dirty="0">
                <a:solidFill>
                  <a:srgbClr val="12283A"/>
                </a:solidFill>
                <a:latin typeface="Calibri" pitchFamily="34" charset="0"/>
                <a:ea typeface="Calibri" pitchFamily="34" charset="-122"/>
                <a:cs typeface="Calibri" pitchFamily="34" charset="-120"/>
              </a:rPr>
              <a:t>12 reguliere behandelkamers</a:t>
            </a:r>
            <a:endParaRPr lang="en-US" sz="1100" dirty="0"/>
          </a:p>
        </p:txBody>
      </p:sp>
      <p:sp>
        <p:nvSpPr>
          <p:cNvPr id="39" name="Shape 37"/>
          <p:cNvSpPr/>
          <p:nvPr/>
        </p:nvSpPr>
        <p:spPr>
          <a:xfrm>
            <a:off x="5120640" y="3767328"/>
            <a:ext cx="201168" cy="201168"/>
          </a:xfrm>
          <a:prstGeom prst="roundRect">
            <a:avLst>
              <a:gd name="adj" fmla="val 18182"/>
            </a:avLst>
          </a:prstGeom>
          <a:solidFill>
            <a:srgbClr val="5FB3BA"/>
          </a:solidFill>
          <a:ln w="12700">
            <a:solidFill>
              <a:srgbClr val="5FB3BA"/>
            </a:solidFill>
            <a:prstDash val="solid"/>
          </a:ln>
        </p:spPr>
      </p:sp>
      <p:sp>
        <p:nvSpPr>
          <p:cNvPr id="40" name="Text 38"/>
          <p:cNvSpPr txBox="1"/>
          <p:nvPr/>
        </p:nvSpPr>
        <p:spPr>
          <a:xfrm>
            <a:off x="5413248" y="3721608"/>
            <a:ext cx="1783080" cy="292608"/>
          </a:xfrm>
          <a:prstGeom prst="rect">
            <a:avLst/>
          </a:prstGeom>
          <a:noFill/>
          <a:ln/>
        </p:spPr>
        <p:txBody>
          <a:bodyPr wrap="square" lIns="0" tIns="0" rIns="0" bIns="0" rtlCol="0" anchor="ctr"/>
          <a:lstStyle/>
          <a:p>
            <a:pPr indent="0" marL="0">
              <a:buNone/>
            </a:pPr>
            <a:r>
              <a:rPr lang="en-US" sz="1100" dirty="0">
                <a:solidFill>
                  <a:srgbClr val="12283A"/>
                </a:solidFill>
                <a:latin typeface="Calibri" pitchFamily="34" charset="0"/>
                <a:ea typeface="Calibri" pitchFamily="34" charset="-122"/>
                <a:cs typeface="Calibri" pitchFamily="34" charset="-120"/>
              </a:rPr>
              <a:t>3 fasttrack (fracturen)</a:t>
            </a:r>
            <a:endParaRPr lang="en-US" sz="1100" dirty="0"/>
          </a:p>
        </p:txBody>
      </p:sp>
      <p:sp>
        <p:nvSpPr>
          <p:cNvPr id="41" name="Shape 39"/>
          <p:cNvSpPr/>
          <p:nvPr/>
        </p:nvSpPr>
        <p:spPr>
          <a:xfrm>
            <a:off x="5120640" y="4151376"/>
            <a:ext cx="201168" cy="201168"/>
          </a:xfrm>
          <a:prstGeom prst="roundRect">
            <a:avLst>
              <a:gd name="adj" fmla="val 18182"/>
            </a:avLst>
          </a:prstGeom>
          <a:solidFill>
            <a:srgbClr val="9FD0D4"/>
          </a:solidFill>
          <a:ln w="12700">
            <a:solidFill>
              <a:srgbClr val="9FD0D4"/>
            </a:solidFill>
            <a:prstDash val="solid"/>
          </a:ln>
        </p:spPr>
      </p:sp>
      <p:sp>
        <p:nvSpPr>
          <p:cNvPr id="42" name="Text 40"/>
          <p:cNvSpPr txBox="1"/>
          <p:nvPr/>
        </p:nvSpPr>
        <p:spPr>
          <a:xfrm>
            <a:off x="5413248" y="4105656"/>
            <a:ext cx="1783080" cy="292608"/>
          </a:xfrm>
          <a:prstGeom prst="rect">
            <a:avLst/>
          </a:prstGeom>
          <a:noFill/>
          <a:ln/>
        </p:spPr>
        <p:txBody>
          <a:bodyPr wrap="square" lIns="0" tIns="0" rIns="0" bIns="0" rtlCol="0" anchor="ctr"/>
          <a:lstStyle/>
          <a:p>
            <a:pPr indent="0" marL="0">
              <a:buNone/>
            </a:pPr>
            <a:r>
              <a:rPr lang="en-US" sz="1100" dirty="0">
                <a:solidFill>
                  <a:srgbClr val="12283A"/>
                </a:solidFill>
                <a:latin typeface="Calibri" pitchFamily="34" charset="0"/>
                <a:ea typeface="Calibri" pitchFamily="34" charset="-122"/>
                <a:cs typeface="Calibri" pitchFamily="34" charset="-120"/>
              </a:rPr>
              <a:t>1 triage + 2 acute opvang, geen verblijf</a:t>
            </a:r>
            <a:endParaRPr lang="en-US" sz="1100" dirty="0"/>
          </a:p>
        </p:txBody>
      </p:sp>
      <p:sp>
        <p:nvSpPr>
          <p:cNvPr id="43" name="Text 41"/>
          <p:cNvSpPr txBox="1"/>
          <p:nvPr/>
        </p:nvSpPr>
        <p:spPr>
          <a:xfrm>
            <a:off x="822960" y="5349240"/>
            <a:ext cx="6217920" cy="457200"/>
          </a:xfrm>
          <a:prstGeom prst="rect">
            <a:avLst/>
          </a:prstGeom>
          <a:noFill/>
          <a:ln/>
        </p:spPr>
        <p:txBody>
          <a:bodyPr wrap="square" lIns="0" tIns="0" rIns="0" bIns="0" rtlCol="0" anchor="ctr"/>
          <a:lstStyle/>
          <a:p>
            <a:pPr indent="0" marL="0">
              <a:buNone/>
            </a:pPr>
            <a:r>
              <a:rPr lang="en-US" sz="1300" b="1" dirty="0">
                <a:solidFill>
                  <a:srgbClr val="0E7C86"/>
                </a:solidFill>
                <a:latin typeface="Calibri" pitchFamily="34" charset="0"/>
                <a:ea typeface="Calibri" pitchFamily="34" charset="-122"/>
                <a:cs typeface="Calibri" pitchFamily="34" charset="-120"/>
              </a:rPr>
              <a:t>Van de 18 SEH-kamers zijn er dus maar 12 echte opnamekamers.</a:t>
            </a:r>
            <a:endParaRPr lang="en-US" sz="1300" dirty="0"/>
          </a:p>
        </p:txBody>
      </p:sp>
      <p:sp>
        <p:nvSpPr>
          <p:cNvPr id="44" name="Shape 42"/>
          <p:cNvSpPr/>
          <p:nvPr/>
        </p:nvSpPr>
        <p:spPr>
          <a:xfrm>
            <a:off x="7543800" y="1874520"/>
            <a:ext cx="4096512" cy="4114800"/>
          </a:xfrm>
          <a:prstGeom prst="roundRect">
            <a:avLst>
              <a:gd name="adj" fmla="val 2679"/>
            </a:avLst>
          </a:prstGeom>
          <a:solidFill>
            <a:srgbClr val="E2E6F5"/>
          </a:solidFill>
          <a:ln w="12700">
            <a:solidFill>
              <a:srgbClr val="E2E6F5"/>
            </a:solidFill>
            <a:prstDash val="solid"/>
          </a:ln>
        </p:spPr>
      </p:sp>
      <p:sp>
        <p:nvSpPr>
          <p:cNvPr id="45" name="Text 43"/>
          <p:cNvSpPr txBox="1"/>
          <p:nvPr/>
        </p:nvSpPr>
        <p:spPr>
          <a:xfrm>
            <a:off x="7818120" y="2011680"/>
            <a:ext cx="2743200" cy="365760"/>
          </a:xfrm>
          <a:prstGeom prst="rect">
            <a:avLst/>
          </a:prstGeom>
          <a:noFill/>
          <a:ln/>
        </p:spPr>
        <p:txBody>
          <a:bodyPr wrap="square" lIns="0" tIns="0" rIns="0" bIns="0" rtlCol="0" anchor="ctr"/>
          <a:lstStyle/>
          <a:p>
            <a:pPr indent="0" marL="0">
              <a:buNone/>
            </a:pPr>
            <a:r>
              <a:rPr lang="en-US" sz="2000" b="1" dirty="0">
                <a:solidFill>
                  <a:srgbClr val="3F4F9B"/>
                </a:solidFill>
                <a:latin typeface="Calibri" pitchFamily="34" charset="0"/>
                <a:ea typeface="Calibri" pitchFamily="34" charset="-122"/>
                <a:cs typeface="Calibri" pitchFamily="34" charset="-120"/>
              </a:rPr>
              <a:t>Hotfloor</a:t>
            </a:r>
            <a:endParaRPr lang="en-US" sz="2000" dirty="0"/>
          </a:p>
        </p:txBody>
      </p:sp>
      <p:sp>
        <p:nvSpPr>
          <p:cNvPr id="46" name="Text 44"/>
          <p:cNvSpPr txBox="1"/>
          <p:nvPr/>
        </p:nvSpPr>
        <p:spPr>
          <a:xfrm>
            <a:off x="9509760" y="1920240"/>
            <a:ext cx="1828800" cy="822960"/>
          </a:xfrm>
          <a:prstGeom prst="rect">
            <a:avLst/>
          </a:prstGeom>
          <a:noFill/>
          <a:ln/>
        </p:spPr>
        <p:txBody>
          <a:bodyPr wrap="square" lIns="0" tIns="0" rIns="0" bIns="0" rtlCol="0" anchor="ctr"/>
          <a:lstStyle/>
          <a:p>
            <a:pPr algn="r" indent="0" marL="0">
              <a:buNone/>
            </a:pPr>
            <a:r>
              <a:rPr lang="en-US" sz="4800" b="1" dirty="0">
                <a:solidFill>
                  <a:srgbClr val="3F4F9B"/>
                </a:solidFill>
                <a:latin typeface="Calibri" pitchFamily="34" charset="0"/>
                <a:ea typeface="Calibri" pitchFamily="34" charset="-122"/>
                <a:cs typeface="Calibri" pitchFamily="34" charset="-120"/>
              </a:rPr>
              <a:t>16</a:t>
            </a:r>
            <a:endParaRPr lang="en-US" sz="4800" dirty="0"/>
          </a:p>
        </p:txBody>
      </p:sp>
      <p:sp>
        <p:nvSpPr>
          <p:cNvPr id="47" name="Text 45"/>
          <p:cNvSpPr txBox="1"/>
          <p:nvPr/>
        </p:nvSpPr>
        <p:spPr>
          <a:xfrm>
            <a:off x="9052560" y="2697480"/>
            <a:ext cx="2286000" cy="274320"/>
          </a:xfrm>
          <a:prstGeom prst="rect">
            <a:avLst/>
          </a:prstGeom>
          <a:noFill/>
          <a:ln/>
        </p:spPr>
        <p:txBody>
          <a:bodyPr wrap="square" lIns="0" tIns="0" rIns="0" bIns="0" rtlCol="0" anchor="ctr"/>
          <a:lstStyle/>
          <a:p>
            <a:pPr algn="r" indent="0" marL="0">
              <a:buNone/>
            </a:pPr>
            <a:r>
              <a:rPr lang="en-US" sz="1200" dirty="0">
                <a:solidFill>
                  <a:srgbClr val="5F6E7F"/>
                </a:solidFill>
                <a:latin typeface="Calibri" pitchFamily="34" charset="0"/>
                <a:ea typeface="Calibri" pitchFamily="34" charset="-122"/>
                <a:cs typeface="Calibri" pitchFamily="34" charset="-120"/>
              </a:rPr>
              <a:t>bedden vastgesteld</a:t>
            </a:r>
            <a:endParaRPr lang="en-US" sz="1200" dirty="0"/>
          </a:p>
        </p:txBody>
      </p:sp>
      <p:sp>
        <p:nvSpPr>
          <p:cNvPr id="48" name="Text 46"/>
          <p:cNvSpPr txBox="1"/>
          <p:nvPr/>
        </p:nvSpPr>
        <p:spPr>
          <a:xfrm>
            <a:off x="7818120" y="3063240"/>
            <a:ext cx="3657600" cy="228600"/>
          </a:xfrm>
          <a:prstGeom prst="rect">
            <a:avLst/>
          </a:prstGeom>
          <a:noFill/>
          <a:ln/>
        </p:spPr>
        <p:txBody>
          <a:bodyPr wrap="square" lIns="0" tIns="0" rIns="0" bIns="0" rtlCol="0" anchor="ctr"/>
          <a:lstStyle/>
          <a:p>
            <a:pPr indent="0" marL="0">
              <a:buNone/>
            </a:pPr>
            <a:r>
              <a:rPr lang="en-US" sz="1000" b="1" spc="200" kern="0" dirty="0">
                <a:solidFill>
                  <a:srgbClr val="5F6E7F"/>
                </a:solidFill>
                <a:latin typeface="Calibri" pitchFamily="34" charset="0"/>
                <a:ea typeface="Calibri" pitchFamily="34" charset="-122"/>
                <a:cs typeface="Calibri" pitchFamily="34" charset="-120"/>
              </a:rPr>
              <a:t>ICU + CCU / SCU  ·  16 BEDDEN</a:t>
            </a:r>
            <a:endParaRPr lang="en-US" sz="1000" dirty="0"/>
          </a:p>
        </p:txBody>
      </p:sp>
      <p:sp>
        <p:nvSpPr>
          <p:cNvPr id="49" name="Shape 47"/>
          <p:cNvSpPr/>
          <p:nvPr/>
        </p:nvSpPr>
        <p:spPr>
          <a:xfrm>
            <a:off x="7818120" y="3337560"/>
            <a:ext cx="384048" cy="384048"/>
          </a:xfrm>
          <a:prstGeom prst="roundRect">
            <a:avLst>
              <a:gd name="adj" fmla="val 14286"/>
            </a:avLst>
          </a:prstGeom>
          <a:solidFill>
            <a:srgbClr val="3F4F9B"/>
          </a:solidFill>
          <a:ln w="12700">
            <a:solidFill>
              <a:srgbClr val="3F4F9B"/>
            </a:solidFill>
            <a:prstDash val="solid"/>
          </a:ln>
        </p:spPr>
      </p:sp>
      <p:sp>
        <p:nvSpPr>
          <p:cNvPr id="50" name="Shape 48"/>
          <p:cNvSpPr/>
          <p:nvPr/>
        </p:nvSpPr>
        <p:spPr>
          <a:xfrm>
            <a:off x="8275320" y="3337560"/>
            <a:ext cx="384048" cy="384048"/>
          </a:xfrm>
          <a:prstGeom prst="roundRect">
            <a:avLst>
              <a:gd name="adj" fmla="val 14286"/>
            </a:avLst>
          </a:prstGeom>
          <a:solidFill>
            <a:srgbClr val="3F4F9B"/>
          </a:solidFill>
          <a:ln w="12700">
            <a:solidFill>
              <a:srgbClr val="3F4F9B"/>
            </a:solidFill>
            <a:prstDash val="solid"/>
          </a:ln>
        </p:spPr>
      </p:sp>
      <p:sp>
        <p:nvSpPr>
          <p:cNvPr id="51" name="Shape 49"/>
          <p:cNvSpPr/>
          <p:nvPr/>
        </p:nvSpPr>
        <p:spPr>
          <a:xfrm>
            <a:off x="8732520" y="3337560"/>
            <a:ext cx="384048" cy="384048"/>
          </a:xfrm>
          <a:prstGeom prst="roundRect">
            <a:avLst>
              <a:gd name="adj" fmla="val 14286"/>
            </a:avLst>
          </a:prstGeom>
          <a:solidFill>
            <a:srgbClr val="3F4F9B"/>
          </a:solidFill>
          <a:ln w="12700">
            <a:solidFill>
              <a:srgbClr val="3F4F9B"/>
            </a:solidFill>
            <a:prstDash val="solid"/>
          </a:ln>
        </p:spPr>
      </p:sp>
      <p:sp>
        <p:nvSpPr>
          <p:cNvPr id="52" name="Shape 50"/>
          <p:cNvSpPr/>
          <p:nvPr/>
        </p:nvSpPr>
        <p:spPr>
          <a:xfrm>
            <a:off x="9189720" y="3337560"/>
            <a:ext cx="384048" cy="384048"/>
          </a:xfrm>
          <a:prstGeom prst="roundRect">
            <a:avLst>
              <a:gd name="adj" fmla="val 14286"/>
            </a:avLst>
          </a:prstGeom>
          <a:solidFill>
            <a:srgbClr val="3F4F9B"/>
          </a:solidFill>
          <a:ln w="12700">
            <a:solidFill>
              <a:srgbClr val="3F4F9B"/>
            </a:solidFill>
            <a:prstDash val="solid"/>
          </a:ln>
        </p:spPr>
      </p:sp>
      <p:sp>
        <p:nvSpPr>
          <p:cNvPr id="53" name="Shape 51"/>
          <p:cNvSpPr/>
          <p:nvPr/>
        </p:nvSpPr>
        <p:spPr>
          <a:xfrm>
            <a:off x="9646920" y="3337560"/>
            <a:ext cx="384048" cy="384048"/>
          </a:xfrm>
          <a:prstGeom prst="roundRect">
            <a:avLst>
              <a:gd name="adj" fmla="val 14286"/>
            </a:avLst>
          </a:prstGeom>
          <a:solidFill>
            <a:srgbClr val="3F4F9B"/>
          </a:solidFill>
          <a:ln w="12700">
            <a:solidFill>
              <a:srgbClr val="3F4F9B"/>
            </a:solidFill>
            <a:prstDash val="solid"/>
          </a:ln>
        </p:spPr>
      </p:sp>
      <p:sp>
        <p:nvSpPr>
          <p:cNvPr id="54" name="Shape 52"/>
          <p:cNvSpPr/>
          <p:nvPr/>
        </p:nvSpPr>
        <p:spPr>
          <a:xfrm>
            <a:off x="10104120" y="3337560"/>
            <a:ext cx="384048" cy="384048"/>
          </a:xfrm>
          <a:prstGeom prst="roundRect">
            <a:avLst>
              <a:gd name="adj" fmla="val 14286"/>
            </a:avLst>
          </a:prstGeom>
          <a:solidFill>
            <a:srgbClr val="3F4F9B"/>
          </a:solidFill>
          <a:ln w="12700">
            <a:solidFill>
              <a:srgbClr val="3F4F9B"/>
            </a:solidFill>
            <a:prstDash val="solid"/>
          </a:ln>
        </p:spPr>
      </p:sp>
      <p:sp>
        <p:nvSpPr>
          <p:cNvPr id="55" name="Shape 53"/>
          <p:cNvSpPr/>
          <p:nvPr/>
        </p:nvSpPr>
        <p:spPr>
          <a:xfrm>
            <a:off x="7818120" y="3794760"/>
            <a:ext cx="384048" cy="384048"/>
          </a:xfrm>
          <a:prstGeom prst="roundRect">
            <a:avLst>
              <a:gd name="adj" fmla="val 14286"/>
            </a:avLst>
          </a:prstGeom>
          <a:solidFill>
            <a:srgbClr val="3F4F9B"/>
          </a:solidFill>
          <a:ln w="12700">
            <a:solidFill>
              <a:srgbClr val="3F4F9B"/>
            </a:solidFill>
            <a:prstDash val="solid"/>
          </a:ln>
        </p:spPr>
      </p:sp>
      <p:sp>
        <p:nvSpPr>
          <p:cNvPr id="56" name="Shape 54"/>
          <p:cNvSpPr/>
          <p:nvPr/>
        </p:nvSpPr>
        <p:spPr>
          <a:xfrm>
            <a:off x="8275320" y="3794760"/>
            <a:ext cx="384048" cy="384048"/>
          </a:xfrm>
          <a:prstGeom prst="roundRect">
            <a:avLst>
              <a:gd name="adj" fmla="val 14286"/>
            </a:avLst>
          </a:prstGeom>
          <a:solidFill>
            <a:srgbClr val="3F4F9B"/>
          </a:solidFill>
          <a:ln w="12700">
            <a:solidFill>
              <a:srgbClr val="3F4F9B"/>
            </a:solidFill>
            <a:prstDash val="solid"/>
          </a:ln>
        </p:spPr>
      </p:sp>
      <p:sp>
        <p:nvSpPr>
          <p:cNvPr id="57" name="Shape 55"/>
          <p:cNvSpPr/>
          <p:nvPr/>
        </p:nvSpPr>
        <p:spPr>
          <a:xfrm>
            <a:off x="8732520" y="3794760"/>
            <a:ext cx="384048" cy="384048"/>
          </a:xfrm>
          <a:prstGeom prst="roundRect">
            <a:avLst>
              <a:gd name="adj" fmla="val 14286"/>
            </a:avLst>
          </a:prstGeom>
          <a:solidFill>
            <a:srgbClr val="3F4F9B"/>
          </a:solidFill>
          <a:ln w="12700">
            <a:solidFill>
              <a:srgbClr val="3F4F9B"/>
            </a:solidFill>
            <a:prstDash val="solid"/>
          </a:ln>
        </p:spPr>
      </p:sp>
      <p:sp>
        <p:nvSpPr>
          <p:cNvPr id="58" name="Shape 56"/>
          <p:cNvSpPr/>
          <p:nvPr/>
        </p:nvSpPr>
        <p:spPr>
          <a:xfrm>
            <a:off x="9189720" y="3794760"/>
            <a:ext cx="384048" cy="384048"/>
          </a:xfrm>
          <a:prstGeom prst="roundRect">
            <a:avLst>
              <a:gd name="adj" fmla="val 14286"/>
            </a:avLst>
          </a:prstGeom>
          <a:solidFill>
            <a:srgbClr val="3F4F9B"/>
          </a:solidFill>
          <a:ln w="12700">
            <a:solidFill>
              <a:srgbClr val="3F4F9B"/>
            </a:solidFill>
            <a:prstDash val="solid"/>
          </a:ln>
        </p:spPr>
      </p:sp>
      <p:sp>
        <p:nvSpPr>
          <p:cNvPr id="59" name="Shape 57"/>
          <p:cNvSpPr/>
          <p:nvPr/>
        </p:nvSpPr>
        <p:spPr>
          <a:xfrm>
            <a:off x="9646920" y="3794760"/>
            <a:ext cx="384048" cy="384048"/>
          </a:xfrm>
          <a:prstGeom prst="roundRect">
            <a:avLst>
              <a:gd name="adj" fmla="val 14286"/>
            </a:avLst>
          </a:prstGeom>
          <a:solidFill>
            <a:srgbClr val="3F4F9B"/>
          </a:solidFill>
          <a:ln w="12700">
            <a:solidFill>
              <a:srgbClr val="3F4F9B"/>
            </a:solidFill>
            <a:prstDash val="solid"/>
          </a:ln>
        </p:spPr>
      </p:sp>
      <p:sp>
        <p:nvSpPr>
          <p:cNvPr id="60" name="Shape 58"/>
          <p:cNvSpPr/>
          <p:nvPr/>
        </p:nvSpPr>
        <p:spPr>
          <a:xfrm>
            <a:off x="10104120" y="3794760"/>
            <a:ext cx="384048" cy="384048"/>
          </a:xfrm>
          <a:prstGeom prst="roundRect">
            <a:avLst>
              <a:gd name="adj" fmla="val 14286"/>
            </a:avLst>
          </a:prstGeom>
          <a:solidFill>
            <a:srgbClr val="3F4F9B"/>
          </a:solidFill>
          <a:ln w="12700">
            <a:solidFill>
              <a:srgbClr val="3F4F9B"/>
            </a:solidFill>
            <a:prstDash val="solid"/>
          </a:ln>
        </p:spPr>
      </p:sp>
      <p:sp>
        <p:nvSpPr>
          <p:cNvPr id="61" name="Shape 59"/>
          <p:cNvSpPr/>
          <p:nvPr/>
        </p:nvSpPr>
        <p:spPr>
          <a:xfrm>
            <a:off x="7818120" y="4251960"/>
            <a:ext cx="384048" cy="384048"/>
          </a:xfrm>
          <a:prstGeom prst="roundRect">
            <a:avLst>
              <a:gd name="adj" fmla="val 14286"/>
            </a:avLst>
          </a:prstGeom>
          <a:solidFill>
            <a:srgbClr val="3F4F9B"/>
          </a:solidFill>
          <a:ln w="12700">
            <a:solidFill>
              <a:srgbClr val="3F4F9B"/>
            </a:solidFill>
            <a:prstDash val="solid"/>
          </a:ln>
        </p:spPr>
      </p:sp>
      <p:sp>
        <p:nvSpPr>
          <p:cNvPr id="62" name="Shape 60"/>
          <p:cNvSpPr/>
          <p:nvPr/>
        </p:nvSpPr>
        <p:spPr>
          <a:xfrm>
            <a:off x="8275320" y="4251960"/>
            <a:ext cx="384048" cy="384048"/>
          </a:xfrm>
          <a:prstGeom prst="roundRect">
            <a:avLst>
              <a:gd name="adj" fmla="val 14286"/>
            </a:avLst>
          </a:prstGeom>
          <a:solidFill>
            <a:srgbClr val="3F4F9B"/>
          </a:solidFill>
          <a:ln w="12700">
            <a:solidFill>
              <a:srgbClr val="3F4F9B"/>
            </a:solidFill>
            <a:prstDash val="solid"/>
          </a:ln>
        </p:spPr>
      </p:sp>
      <p:sp>
        <p:nvSpPr>
          <p:cNvPr id="63" name="Shape 61"/>
          <p:cNvSpPr/>
          <p:nvPr/>
        </p:nvSpPr>
        <p:spPr>
          <a:xfrm>
            <a:off x="8732520" y="4251960"/>
            <a:ext cx="384048" cy="384048"/>
          </a:xfrm>
          <a:prstGeom prst="roundRect">
            <a:avLst>
              <a:gd name="adj" fmla="val 14286"/>
            </a:avLst>
          </a:prstGeom>
          <a:solidFill>
            <a:srgbClr val="3F4F9B"/>
          </a:solidFill>
          <a:ln w="12700">
            <a:solidFill>
              <a:srgbClr val="3F4F9B"/>
            </a:solidFill>
            <a:prstDash val="solid"/>
          </a:ln>
        </p:spPr>
      </p:sp>
      <p:sp>
        <p:nvSpPr>
          <p:cNvPr id="64" name="Shape 62"/>
          <p:cNvSpPr/>
          <p:nvPr/>
        </p:nvSpPr>
        <p:spPr>
          <a:xfrm>
            <a:off x="9189720" y="4251960"/>
            <a:ext cx="384048" cy="384048"/>
          </a:xfrm>
          <a:prstGeom prst="roundRect">
            <a:avLst>
              <a:gd name="adj" fmla="val 14286"/>
            </a:avLst>
          </a:prstGeom>
          <a:solidFill>
            <a:srgbClr val="3F4F9B"/>
          </a:solidFill>
          <a:ln w="12700">
            <a:solidFill>
              <a:srgbClr val="3F4F9B"/>
            </a:solidFill>
            <a:prstDash val="solid"/>
          </a:ln>
        </p:spPr>
      </p:sp>
      <p:sp>
        <p:nvSpPr>
          <p:cNvPr id="65" name="Text 63"/>
          <p:cNvSpPr txBox="1"/>
          <p:nvPr/>
        </p:nvSpPr>
        <p:spPr>
          <a:xfrm>
            <a:off x="7818120" y="5029200"/>
            <a:ext cx="3566160" cy="640080"/>
          </a:xfrm>
          <a:prstGeom prst="rect">
            <a:avLst/>
          </a:prstGeom>
          <a:noFill/>
          <a:ln/>
        </p:spPr>
        <p:txBody>
          <a:bodyPr wrap="square" lIns="0" tIns="0" rIns="0" bIns="0" rtlCol="0" anchor="ctr"/>
          <a:lstStyle/>
          <a:p>
            <a:pPr indent="0" marL="0">
              <a:buNone/>
            </a:pPr>
            <a:r>
              <a:rPr lang="en-US" sz="1300" b="1" dirty="0">
                <a:solidFill>
                  <a:srgbClr val="3F4F9B"/>
                </a:solidFill>
                <a:latin typeface="Calibri" pitchFamily="34" charset="0"/>
                <a:ea typeface="Calibri" pitchFamily="34" charset="-122"/>
                <a:cs typeface="Calibri" pitchFamily="34" charset="-120"/>
              </a:rPr>
              <a:t>Verdeling tussen ICU en CCU/SCU: nog niet bepaald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100" b="1" spc="200" kern="0" dirty="0">
                <a:solidFill>
                  <a:srgbClr val="5F6E7F"/>
                </a:solidFill>
                <a:latin typeface="Calibri" pitchFamily="34" charset="0"/>
                <a:ea typeface="Calibri" pitchFamily="34" charset="-122"/>
                <a:cs typeface="Calibri" pitchFamily="34" charset="-120"/>
              </a:rPr>
              <a:t>DEEL 3  ·  WAT VERANDERT ER</a:t>
            </a:r>
            <a:endParaRPr lang="en-US" sz="11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200" b="1" dirty="0">
                <a:solidFill>
                  <a:srgbClr val="12283A"/>
                </a:solidFill>
                <a:latin typeface="Calibri" pitchFamily="34" charset="0"/>
                <a:ea typeface="Calibri" pitchFamily="34" charset="-122"/>
                <a:cs typeface="Calibri" pitchFamily="34" charset="-120"/>
              </a:rPr>
              <a:t>Vijf scenario's voor de oudbouw</a:t>
            </a:r>
            <a:endParaRPr lang="en-US" sz="3200" dirty="0"/>
          </a:p>
        </p:txBody>
      </p:sp>
      <p:sp>
        <p:nvSpPr>
          <p:cNvPr id="4" name="Text 2"/>
          <p:cNvSpPr txBox="1"/>
          <p:nvPr/>
        </p:nvSpPr>
        <p:spPr>
          <a:xfrm>
            <a:off x="548640" y="1298448"/>
            <a:ext cx="11064240" cy="365760"/>
          </a:xfrm>
          <a:prstGeom prst="rect">
            <a:avLst/>
          </a:prstGeom>
          <a:noFill/>
          <a:ln/>
        </p:spPr>
        <p:txBody>
          <a:bodyPr wrap="square" lIns="0" tIns="0" rIns="0" bIns="0" rtlCol="0" anchor="ctr"/>
          <a:lstStyle/>
          <a:p>
            <a:pPr indent="0" marL="0">
              <a:buNone/>
            </a:pPr>
            <a:r>
              <a:rPr lang="en-US" sz="1600" dirty="0">
                <a:solidFill>
                  <a:srgbClr val="5F6E7F"/>
                </a:solidFill>
                <a:latin typeface="Calibri" pitchFamily="34" charset="0"/>
                <a:ea typeface="Calibri" pitchFamily="34" charset="-122"/>
                <a:cs typeface="Calibri" pitchFamily="34" charset="-120"/>
              </a:rPr>
              <a:t>Wat kunnen we tussen oktober 2026 en mei 2027 al verschuiven? Elk scenario raakt plekken én personeel.</a:t>
            </a:r>
            <a:endParaRPr lang="en-US" sz="1600" dirty="0"/>
          </a:p>
        </p:txBody>
      </p:sp>
      <p:sp>
        <p:nvSpPr>
          <p:cNvPr id="5" name="Text 3"/>
          <p:cNvSpPr txBox="1"/>
          <p:nvPr/>
        </p:nvSpPr>
        <p:spPr>
          <a:xfrm>
            <a:off x="548640" y="6419088"/>
            <a:ext cx="4572000" cy="228600"/>
          </a:xfrm>
          <a:prstGeom prst="rect">
            <a:avLst/>
          </a:prstGeom>
          <a:noFill/>
          <a:ln/>
        </p:spPr>
        <p:txBody>
          <a:bodyPr wrap="square" lIns="0" tIns="0" rIns="0" bIns="0" rtlCol="0" anchor="ctr"/>
          <a:lstStyle/>
          <a:p>
            <a:pPr indent="0" marL="0">
              <a:buNone/>
            </a:pPr>
            <a:r>
              <a:rPr lang="en-US" sz="1000" dirty="0">
                <a:solidFill>
                  <a:srgbClr val="8A97A5"/>
                </a:solidFill>
                <a:latin typeface="Calibri" pitchFamily="34" charset="0"/>
                <a:ea typeface="Calibri" pitchFamily="34" charset="-122"/>
                <a:cs typeface="Calibri" pitchFamily="34" charset="-120"/>
              </a:rPr>
              <a:t>Acute poort en Hotfloor</a:t>
            </a:r>
            <a:endParaRPr lang="en-US" sz="1000" dirty="0"/>
          </a:p>
        </p:txBody>
      </p:sp>
      <p:sp>
        <p:nvSpPr>
          <p:cNvPr id="6" name="Text 4"/>
          <p:cNvSpPr txBox="1"/>
          <p:nvPr/>
        </p:nvSpPr>
        <p:spPr>
          <a:xfrm>
            <a:off x="11091672" y="6419088"/>
            <a:ext cx="548640" cy="228600"/>
          </a:xfrm>
          <a:prstGeom prst="rect">
            <a:avLst/>
          </a:prstGeom>
          <a:noFill/>
          <a:ln/>
        </p:spPr>
        <p:txBody>
          <a:bodyPr wrap="square" lIns="0" tIns="0" rIns="0" bIns="0" rtlCol="0" anchor="ctr"/>
          <a:lstStyle/>
          <a:p>
            <a:pPr algn="r" indent="0" marL="0">
              <a:buNone/>
            </a:pPr>
            <a:r>
              <a:rPr lang="en-US" sz="1000" dirty="0">
                <a:solidFill>
                  <a:srgbClr val="8A97A5"/>
                </a:solidFill>
                <a:latin typeface="Calibri" pitchFamily="34" charset="0"/>
                <a:ea typeface="Calibri" pitchFamily="34" charset="-122"/>
                <a:cs typeface="Calibri" pitchFamily="34" charset="-120"/>
              </a:rPr>
              <a:t>10</a:t>
            </a:r>
            <a:endParaRPr lang="en-US" sz="1000" dirty="0"/>
          </a:p>
        </p:txBody>
      </p:sp>
      <p:sp>
        <p:nvSpPr>
          <p:cNvPr id="7" name="Shape 5"/>
          <p:cNvSpPr/>
          <p:nvPr/>
        </p:nvSpPr>
        <p:spPr>
          <a:xfrm>
            <a:off x="548640" y="1965960"/>
            <a:ext cx="2103120" cy="3246120"/>
          </a:xfrm>
          <a:prstGeom prst="roundRect">
            <a:avLst>
              <a:gd name="adj" fmla="val 5217"/>
            </a:avLst>
          </a:prstGeom>
          <a:solidFill>
            <a:srgbClr val="F3F6F9"/>
          </a:solidFill>
          <a:ln w="12700">
            <a:solidFill>
              <a:srgbClr val="F3F6F9"/>
            </a:solidFill>
            <a:prstDash val="solid"/>
          </a:ln>
        </p:spPr>
      </p:sp>
      <p:sp>
        <p:nvSpPr>
          <p:cNvPr id="8" name="Shape 6"/>
          <p:cNvSpPr/>
          <p:nvPr/>
        </p:nvSpPr>
        <p:spPr>
          <a:xfrm>
            <a:off x="731520" y="2148840"/>
            <a:ext cx="640080" cy="640080"/>
          </a:xfrm>
          <a:prstGeom prst="ellipse">
            <a:avLst/>
          </a:prstGeom>
          <a:solidFill>
            <a:srgbClr val="FCE9D9"/>
          </a:solidFill>
          <a:ln w="12700">
            <a:solidFill>
              <a:srgbClr val="FCE9D9"/>
            </a:solidFill>
            <a:prstDash val="solid"/>
          </a:ln>
        </p:spPr>
      </p:sp>
      <p:pic>
        <p:nvPicPr>
          <p:cNvPr id="9" name="Image 0" descr="preencoded.png">    </p:cNvPr>
          <p:cNvPicPr>
            <a:picLocks noChangeAspect="1"/>
          </p:cNvPicPr>
          <p:nvPr/>
        </p:nvPicPr>
        <p:blipFill>
          <a:blip r:embed="rId1"/>
          <a:stretch>
            <a:fillRect/>
          </a:stretch>
        </p:blipFill>
        <p:spPr>
          <a:xfrm>
            <a:off x="891540" y="2308860"/>
            <a:ext cx="320040" cy="320040"/>
          </a:xfrm>
          <a:prstGeom prst="rect">
            <a:avLst/>
          </a:prstGeom>
        </p:spPr>
      </p:pic>
      <p:sp>
        <p:nvSpPr>
          <p:cNvPr id="10" name="Text 7"/>
          <p:cNvSpPr txBox="1"/>
          <p:nvPr/>
        </p:nvSpPr>
        <p:spPr>
          <a:xfrm>
            <a:off x="1920240" y="2103120"/>
            <a:ext cx="548640" cy="640080"/>
          </a:xfrm>
          <a:prstGeom prst="rect">
            <a:avLst/>
          </a:prstGeom>
          <a:noFill/>
          <a:ln/>
        </p:spPr>
        <p:txBody>
          <a:bodyPr wrap="square" lIns="0" tIns="0" rIns="0" bIns="0" rtlCol="0" anchor="ctr"/>
          <a:lstStyle/>
          <a:p>
            <a:pPr algn="r" indent="0" marL="0">
              <a:buNone/>
            </a:pPr>
            <a:r>
              <a:rPr lang="en-US" sz="3200" b="1" dirty="0">
                <a:solidFill>
                  <a:srgbClr val="E1E6EB"/>
                </a:solidFill>
                <a:latin typeface="Calibri" pitchFamily="34" charset="0"/>
                <a:ea typeface="Calibri" pitchFamily="34" charset="-122"/>
                <a:cs typeface="Calibri" pitchFamily="34" charset="-120"/>
              </a:rPr>
              <a:t>1</a:t>
            </a:r>
            <a:endParaRPr lang="en-US" sz="3200" dirty="0"/>
          </a:p>
        </p:txBody>
      </p:sp>
      <p:sp>
        <p:nvSpPr>
          <p:cNvPr id="11" name="Text 8"/>
          <p:cNvSpPr txBox="1"/>
          <p:nvPr/>
        </p:nvSpPr>
        <p:spPr>
          <a:xfrm>
            <a:off x="731520" y="2971800"/>
            <a:ext cx="1737360" cy="914400"/>
          </a:xfrm>
          <a:prstGeom prst="rect">
            <a:avLst/>
          </a:prstGeom>
          <a:noFill/>
          <a:ln/>
        </p:spPr>
        <p:txBody>
          <a:bodyPr wrap="square" lIns="0" tIns="0" rIns="0" bIns="0" rtlCol="0" anchor="ctr"/>
          <a:lstStyle/>
          <a:p>
            <a:pPr indent="0" marL="0">
              <a:buNone/>
            </a:pPr>
            <a:r>
              <a:rPr lang="en-US" sz="1600" b="1" dirty="0">
                <a:solidFill>
                  <a:srgbClr val="E07A1F"/>
                </a:solidFill>
                <a:latin typeface="Calibri" pitchFamily="34" charset="0"/>
                <a:ea typeface="Calibri" pitchFamily="34" charset="-122"/>
                <a:cs typeface="Calibri" pitchFamily="34" charset="-120"/>
              </a:rPr>
              <a:t>EHH naar de SEH</a:t>
            </a:r>
            <a:endParaRPr lang="en-US" sz="1600" dirty="0"/>
          </a:p>
        </p:txBody>
      </p:sp>
      <p:sp>
        <p:nvSpPr>
          <p:cNvPr id="12" name="Text 9"/>
          <p:cNvSpPr txBox="1"/>
          <p:nvPr/>
        </p:nvSpPr>
        <p:spPr>
          <a:xfrm>
            <a:off x="731520" y="3931920"/>
            <a:ext cx="1737360" cy="1097280"/>
          </a:xfrm>
          <a:prstGeom prst="rect">
            <a:avLst/>
          </a:prstGeom>
          <a:noFill/>
          <a:ln/>
        </p:spPr>
        <p:txBody>
          <a:bodyPr wrap="square" lIns="0" tIns="0" rIns="0" bIns="0" rtlCol="0" anchor="ctr"/>
          <a:lstStyle/>
          <a:p>
            <a:pPr indent="0" marL="0">
              <a:buNone/>
            </a:pPr>
            <a:r>
              <a:rPr lang="en-US" sz="1200" dirty="0">
                <a:solidFill>
                  <a:srgbClr val="5F6E7F"/>
                </a:solidFill>
                <a:latin typeface="Calibri" pitchFamily="34" charset="0"/>
                <a:ea typeface="Calibri" pitchFamily="34" charset="-122"/>
                <a:cs typeface="Calibri" pitchFamily="34" charset="-120"/>
              </a:rPr>
              <a:t>overdag, of ook 's avonds?</a:t>
            </a:r>
            <a:endParaRPr lang="en-US" sz="1200" dirty="0"/>
          </a:p>
        </p:txBody>
      </p:sp>
      <p:sp>
        <p:nvSpPr>
          <p:cNvPr id="13" name="Shape 10"/>
          <p:cNvSpPr/>
          <p:nvPr/>
        </p:nvSpPr>
        <p:spPr>
          <a:xfrm>
            <a:off x="2798064" y="1965960"/>
            <a:ext cx="2103120" cy="3246120"/>
          </a:xfrm>
          <a:prstGeom prst="roundRect">
            <a:avLst>
              <a:gd name="adj" fmla="val 5217"/>
            </a:avLst>
          </a:prstGeom>
          <a:solidFill>
            <a:srgbClr val="F3F6F9"/>
          </a:solidFill>
          <a:ln w="12700">
            <a:solidFill>
              <a:srgbClr val="F3F6F9"/>
            </a:solidFill>
            <a:prstDash val="solid"/>
          </a:ln>
        </p:spPr>
      </p:sp>
      <p:sp>
        <p:nvSpPr>
          <p:cNvPr id="14" name="Shape 11"/>
          <p:cNvSpPr/>
          <p:nvPr/>
        </p:nvSpPr>
        <p:spPr>
          <a:xfrm>
            <a:off x="2980944" y="2148840"/>
            <a:ext cx="640080" cy="640080"/>
          </a:xfrm>
          <a:prstGeom prst="ellipse">
            <a:avLst/>
          </a:prstGeom>
          <a:solidFill>
            <a:srgbClr val="E2E6F5"/>
          </a:solidFill>
          <a:ln w="12700">
            <a:solidFill>
              <a:srgbClr val="E2E6F5"/>
            </a:solidFill>
            <a:prstDash val="solid"/>
          </a:ln>
        </p:spPr>
      </p:sp>
      <p:pic>
        <p:nvPicPr>
          <p:cNvPr id="15" name="Image 1" descr="preencoded.png">    </p:cNvPr>
          <p:cNvPicPr>
            <a:picLocks noChangeAspect="1"/>
          </p:cNvPicPr>
          <p:nvPr/>
        </p:nvPicPr>
        <p:blipFill>
          <a:blip r:embed="rId2"/>
          <a:stretch>
            <a:fillRect/>
          </a:stretch>
        </p:blipFill>
        <p:spPr>
          <a:xfrm>
            <a:off x="3140964" y="2308860"/>
            <a:ext cx="320040" cy="320040"/>
          </a:xfrm>
          <a:prstGeom prst="rect">
            <a:avLst/>
          </a:prstGeom>
        </p:spPr>
      </p:pic>
      <p:sp>
        <p:nvSpPr>
          <p:cNvPr id="16" name="Text 12"/>
          <p:cNvSpPr txBox="1"/>
          <p:nvPr/>
        </p:nvSpPr>
        <p:spPr>
          <a:xfrm>
            <a:off x="4169664" y="2103120"/>
            <a:ext cx="548640" cy="640080"/>
          </a:xfrm>
          <a:prstGeom prst="rect">
            <a:avLst/>
          </a:prstGeom>
          <a:noFill/>
          <a:ln/>
        </p:spPr>
        <p:txBody>
          <a:bodyPr wrap="square" lIns="0" tIns="0" rIns="0" bIns="0" rtlCol="0" anchor="ctr"/>
          <a:lstStyle/>
          <a:p>
            <a:pPr algn="r" indent="0" marL="0">
              <a:buNone/>
            </a:pPr>
            <a:r>
              <a:rPr lang="en-US" sz="3200" b="1" dirty="0">
                <a:solidFill>
                  <a:srgbClr val="E1E6EB"/>
                </a:solidFill>
                <a:latin typeface="Calibri" pitchFamily="34" charset="0"/>
                <a:ea typeface="Calibri" pitchFamily="34" charset="-122"/>
                <a:cs typeface="Calibri" pitchFamily="34" charset="-120"/>
              </a:rPr>
              <a:t>2</a:t>
            </a:r>
            <a:endParaRPr lang="en-US" sz="3200" dirty="0"/>
          </a:p>
        </p:txBody>
      </p:sp>
      <p:sp>
        <p:nvSpPr>
          <p:cNvPr id="17" name="Text 13"/>
          <p:cNvSpPr txBox="1"/>
          <p:nvPr/>
        </p:nvSpPr>
        <p:spPr>
          <a:xfrm>
            <a:off x="2980944" y="2971800"/>
            <a:ext cx="1737360" cy="914400"/>
          </a:xfrm>
          <a:prstGeom prst="rect">
            <a:avLst/>
          </a:prstGeom>
          <a:noFill/>
          <a:ln/>
        </p:spPr>
        <p:txBody>
          <a:bodyPr wrap="square" lIns="0" tIns="0" rIns="0" bIns="0" rtlCol="0" anchor="ctr"/>
          <a:lstStyle/>
          <a:p>
            <a:pPr indent="0" marL="0">
              <a:buNone/>
            </a:pPr>
            <a:r>
              <a:rPr lang="en-US" sz="1600" b="1" dirty="0">
                <a:solidFill>
                  <a:srgbClr val="3F4F9B"/>
                </a:solidFill>
                <a:latin typeface="Calibri" pitchFamily="34" charset="0"/>
                <a:ea typeface="Calibri" pitchFamily="34" charset="-122"/>
                <a:cs typeface="Calibri" pitchFamily="34" charset="-120"/>
              </a:rPr>
              <a:t>ICU en SCU samen op de ICU</a:t>
            </a:r>
            <a:endParaRPr lang="en-US" sz="1600" dirty="0"/>
          </a:p>
        </p:txBody>
      </p:sp>
      <p:sp>
        <p:nvSpPr>
          <p:cNvPr id="18" name="Text 14"/>
          <p:cNvSpPr txBox="1"/>
          <p:nvPr/>
        </p:nvSpPr>
        <p:spPr>
          <a:xfrm>
            <a:off x="2980944" y="3931920"/>
            <a:ext cx="1737360" cy="1097280"/>
          </a:xfrm>
          <a:prstGeom prst="rect">
            <a:avLst/>
          </a:prstGeom>
          <a:noFill/>
          <a:ln/>
        </p:spPr>
        <p:txBody>
          <a:bodyPr wrap="square" lIns="0" tIns="0" rIns="0" bIns="0" rtlCol="0" anchor="ctr"/>
          <a:lstStyle/>
          <a:p>
            <a:pPr indent="0" marL="0">
              <a:buNone/>
            </a:pPr>
            <a:r>
              <a:rPr lang="en-US" sz="1200" dirty="0">
                <a:solidFill>
                  <a:srgbClr val="5F6E7F"/>
                </a:solidFill>
                <a:latin typeface="Calibri" pitchFamily="34" charset="0"/>
                <a:ea typeface="Calibri" pitchFamily="34" charset="-122"/>
                <a:cs typeface="Calibri" pitchFamily="34" charset="-120"/>
              </a:rPr>
              <a:t>twee bewakingsafdelingen worden er één</a:t>
            </a:r>
            <a:endParaRPr lang="en-US" sz="1200" dirty="0"/>
          </a:p>
        </p:txBody>
      </p:sp>
      <p:sp>
        <p:nvSpPr>
          <p:cNvPr id="19" name="Shape 15"/>
          <p:cNvSpPr/>
          <p:nvPr/>
        </p:nvSpPr>
        <p:spPr>
          <a:xfrm>
            <a:off x="5047488" y="1965960"/>
            <a:ext cx="2103120" cy="3246120"/>
          </a:xfrm>
          <a:prstGeom prst="roundRect">
            <a:avLst>
              <a:gd name="adj" fmla="val 5217"/>
            </a:avLst>
          </a:prstGeom>
          <a:solidFill>
            <a:srgbClr val="F3F6F9"/>
          </a:solidFill>
          <a:ln w="12700">
            <a:solidFill>
              <a:srgbClr val="F3F6F9"/>
            </a:solidFill>
            <a:prstDash val="solid"/>
          </a:ln>
        </p:spPr>
      </p:sp>
      <p:sp>
        <p:nvSpPr>
          <p:cNvPr id="20" name="Shape 16"/>
          <p:cNvSpPr/>
          <p:nvPr/>
        </p:nvSpPr>
        <p:spPr>
          <a:xfrm>
            <a:off x="5230368" y="2148840"/>
            <a:ext cx="640080" cy="640080"/>
          </a:xfrm>
          <a:prstGeom prst="ellipse">
            <a:avLst/>
          </a:prstGeom>
          <a:solidFill>
            <a:srgbClr val="E2E6F5"/>
          </a:solidFill>
          <a:ln w="12700">
            <a:solidFill>
              <a:srgbClr val="E2E6F5"/>
            </a:solidFill>
            <a:prstDash val="solid"/>
          </a:ln>
        </p:spPr>
      </p:sp>
      <p:pic>
        <p:nvPicPr>
          <p:cNvPr id="21" name="Image 2" descr="preencoded.png">    </p:cNvPr>
          <p:cNvPicPr>
            <a:picLocks noChangeAspect="1"/>
          </p:cNvPicPr>
          <p:nvPr/>
        </p:nvPicPr>
        <p:blipFill>
          <a:blip r:embed="rId3"/>
          <a:stretch>
            <a:fillRect/>
          </a:stretch>
        </p:blipFill>
        <p:spPr>
          <a:xfrm>
            <a:off x="5390388" y="2308860"/>
            <a:ext cx="320040" cy="320040"/>
          </a:xfrm>
          <a:prstGeom prst="rect">
            <a:avLst/>
          </a:prstGeom>
        </p:spPr>
      </p:pic>
      <p:sp>
        <p:nvSpPr>
          <p:cNvPr id="22" name="Text 17"/>
          <p:cNvSpPr txBox="1"/>
          <p:nvPr/>
        </p:nvSpPr>
        <p:spPr>
          <a:xfrm>
            <a:off x="6419088" y="2103120"/>
            <a:ext cx="548640" cy="640080"/>
          </a:xfrm>
          <a:prstGeom prst="rect">
            <a:avLst/>
          </a:prstGeom>
          <a:noFill/>
          <a:ln/>
        </p:spPr>
        <p:txBody>
          <a:bodyPr wrap="square" lIns="0" tIns="0" rIns="0" bIns="0" rtlCol="0" anchor="ctr"/>
          <a:lstStyle/>
          <a:p>
            <a:pPr algn="r" indent="0" marL="0">
              <a:buNone/>
            </a:pPr>
            <a:r>
              <a:rPr lang="en-US" sz="3200" b="1" dirty="0">
                <a:solidFill>
                  <a:srgbClr val="E1E6EB"/>
                </a:solidFill>
                <a:latin typeface="Calibri" pitchFamily="34" charset="0"/>
                <a:ea typeface="Calibri" pitchFamily="34" charset="-122"/>
                <a:cs typeface="Calibri" pitchFamily="34" charset="-120"/>
              </a:rPr>
              <a:t>3</a:t>
            </a:r>
            <a:endParaRPr lang="en-US" sz="3200" dirty="0"/>
          </a:p>
        </p:txBody>
      </p:sp>
      <p:sp>
        <p:nvSpPr>
          <p:cNvPr id="23" name="Text 18"/>
          <p:cNvSpPr txBox="1"/>
          <p:nvPr/>
        </p:nvSpPr>
        <p:spPr>
          <a:xfrm>
            <a:off x="5230368" y="2971800"/>
            <a:ext cx="1737360" cy="914400"/>
          </a:xfrm>
          <a:prstGeom prst="rect">
            <a:avLst/>
          </a:prstGeom>
          <a:noFill/>
          <a:ln/>
        </p:spPr>
        <p:txBody>
          <a:bodyPr wrap="square" lIns="0" tIns="0" rIns="0" bIns="0" rtlCol="0" anchor="ctr"/>
          <a:lstStyle/>
          <a:p>
            <a:pPr indent="0" marL="0">
              <a:buNone/>
            </a:pPr>
            <a:r>
              <a:rPr lang="en-US" sz="1600" b="1" dirty="0">
                <a:solidFill>
                  <a:srgbClr val="3F4F9B"/>
                </a:solidFill>
                <a:latin typeface="Calibri" pitchFamily="34" charset="0"/>
                <a:ea typeface="Calibri" pitchFamily="34" charset="-122"/>
                <a:cs typeface="Calibri" pitchFamily="34" charset="-120"/>
              </a:rPr>
              <a:t>Recovery van ICU naar CCU / SCU</a:t>
            </a:r>
            <a:endParaRPr lang="en-US" sz="1600" dirty="0"/>
          </a:p>
        </p:txBody>
      </p:sp>
      <p:sp>
        <p:nvSpPr>
          <p:cNvPr id="24" name="Text 19"/>
          <p:cNvSpPr txBox="1"/>
          <p:nvPr/>
        </p:nvSpPr>
        <p:spPr>
          <a:xfrm>
            <a:off x="5230368" y="3931920"/>
            <a:ext cx="1737360" cy="1097280"/>
          </a:xfrm>
          <a:prstGeom prst="rect">
            <a:avLst/>
          </a:prstGeom>
          <a:noFill/>
          <a:ln/>
        </p:spPr>
        <p:txBody>
          <a:bodyPr wrap="square" lIns="0" tIns="0" rIns="0" bIns="0" rtlCol="0" anchor="ctr"/>
          <a:lstStyle/>
          <a:p>
            <a:pPr indent="0" marL="0">
              <a:buNone/>
            </a:pPr>
            <a:r>
              <a:rPr lang="en-US" sz="1200" dirty="0">
                <a:solidFill>
                  <a:srgbClr val="5F6E7F"/>
                </a:solidFill>
                <a:latin typeface="Calibri" pitchFamily="34" charset="0"/>
                <a:ea typeface="Calibri" pitchFamily="34" charset="-122"/>
                <a:cs typeface="Calibri" pitchFamily="34" charset="-120"/>
              </a:rPr>
              <a:t>de uitslaapkamer verhuist</a:t>
            </a:r>
            <a:endParaRPr lang="en-US" sz="1200" dirty="0"/>
          </a:p>
        </p:txBody>
      </p:sp>
      <p:sp>
        <p:nvSpPr>
          <p:cNvPr id="25" name="Shape 20"/>
          <p:cNvSpPr/>
          <p:nvPr/>
        </p:nvSpPr>
        <p:spPr>
          <a:xfrm>
            <a:off x="7296912" y="1965960"/>
            <a:ext cx="2103120" cy="3246120"/>
          </a:xfrm>
          <a:prstGeom prst="roundRect">
            <a:avLst>
              <a:gd name="adj" fmla="val 5217"/>
            </a:avLst>
          </a:prstGeom>
          <a:solidFill>
            <a:srgbClr val="F3F6F9"/>
          </a:solidFill>
          <a:ln w="12700">
            <a:solidFill>
              <a:srgbClr val="F3F6F9"/>
            </a:solidFill>
            <a:prstDash val="solid"/>
          </a:ln>
        </p:spPr>
      </p:sp>
      <p:sp>
        <p:nvSpPr>
          <p:cNvPr id="26" name="Shape 21"/>
          <p:cNvSpPr/>
          <p:nvPr/>
        </p:nvSpPr>
        <p:spPr>
          <a:xfrm>
            <a:off x="7479792" y="2148840"/>
            <a:ext cx="640080" cy="640080"/>
          </a:xfrm>
          <a:prstGeom prst="ellipse">
            <a:avLst/>
          </a:prstGeom>
          <a:solidFill>
            <a:srgbClr val="E2E6F5"/>
          </a:solidFill>
          <a:ln w="12700">
            <a:solidFill>
              <a:srgbClr val="E2E6F5"/>
            </a:solidFill>
            <a:prstDash val="solid"/>
          </a:ln>
        </p:spPr>
      </p:sp>
      <p:pic>
        <p:nvPicPr>
          <p:cNvPr id="27" name="Image 3" descr="preencoded.png">    </p:cNvPr>
          <p:cNvPicPr>
            <a:picLocks noChangeAspect="1"/>
          </p:cNvPicPr>
          <p:nvPr/>
        </p:nvPicPr>
        <p:blipFill>
          <a:blip r:embed="rId4"/>
          <a:stretch>
            <a:fillRect/>
          </a:stretch>
        </p:blipFill>
        <p:spPr>
          <a:xfrm>
            <a:off x="7639812" y="2308860"/>
            <a:ext cx="320040" cy="320040"/>
          </a:xfrm>
          <a:prstGeom prst="rect">
            <a:avLst/>
          </a:prstGeom>
        </p:spPr>
      </p:pic>
      <p:sp>
        <p:nvSpPr>
          <p:cNvPr id="28" name="Text 22"/>
          <p:cNvSpPr txBox="1"/>
          <p:nvPr/>
        </p:nvSpPr>
        <p:spPr>
          <a:xfrm>
            <a:off x="8668512" y="2103120"/>
            <a:ext cx="548640" cy="640080"/>
          </a:xfrm>
          <a:prstGeom prst="rect">
            <a:avLst/>
          </a:prstGeom>
          <a:noFill/>
          <a:ln/>
        </p:spPr>
        <p:txBody>
          <a:bodyPr wrap="square" lIns="0" tIns="0" rIns="0" bIns="0" rtlCol="0" anchor="ctr"/>
          <a:lstStyle/>
          <a:p>
            <a:pPr algn="r" indent="0" marL="0">
              <a:buNone/>
            </a:pPr>
            <a:r>
              <a:rPr lang="en-US" sz="3200" b="1" dirty="0">
                <a:solidFill>
                  <a:srgbClr val="E1E6EB"/>
                </a:solidFill>
                <a:latin typeface="Calibri" pitchFamily="34" charset="0"/>
                <a:ea typeface="Calibri" pitchFamily="34" charset="-122"/>
                <a:cs typeface="Calibri" pitchFamily="34" charset="-120"/>
              </a:rPr>
              <a:t>4</a:t>
            </a:r>
            <a:endParaRPr lang="en-US" sz="3200" dirty="0"/>
          </a:p>
        </p:txBody>
      </p:sp>
      <p:sp>
        <p:nvSpPr>
          <p:cNvPr id="29" name="Text 23"/>
          <p:cNvSpPr txBox="1"/>
          <p:nvPr/>
        </p:nvSpPr>
        <p:spPr>
          <a:xfrm>
            <a:off x="7479792" y="2971800"/>
            <a:ext cx="1737360" cy="914400"/>
          </a:xfrm>
          <a:prstGeom prst="rect">
            <a:avLst/>
          </a:prstGeom>
          <a:noFill/>
          <a:ln/>
        </p:spPr>
        <p:txBody>
          <a:bodyPr wrap="square" lIns="0" tIns="0" rIns="0" bIns="0" rtlCol="0" anchor="ctr"/>
          <a:lstStyle/>
          <a:p>
            <a:pPr indent="0" marL="0">
              <a:buNone/>
            </a:pPr>
            <a:r>
              <a:rPr lang="en-US" sz="1600" b="1" dirty="0">
                <a:solidFill>
                  <a:srgbClr val="3F4F9B"/>
                </a:solidFill>
                <a:latin typeface="Calibri" pitchFamily="34" charset="0"/>
                <a:ea typeface="Calibri" pitchFamily="34" charset="-122"/>
                <a:cs typeface="Calibri" pitchFamily="34" charset="-120"/>
              </a:rPr>
              <a:t>Cardioversies verplaatsen</a:t>
            </a:r>
            <a:endParaRPr lang="en-US" sz="1600" dirty="0"/>
          </a:p>
        </p:txBody>
      </p:sp>
      <p:sp>
        <p:nvSpPr>
          <p:cNvPr id="30" name="Text 24"/>
          <p:cNvSpPr txBox="1"/>
          <p:nvPr/>
        </p:nvSpPr>
        <p:spPr>
          <a:xfrm>
            <a:off x="7479792" y="3931920"/>
            <a:ext cx="1737360" cy="1097280"/>
          </a:xfrm>
          <a:prstGeom prst="rect">
            <a:avLst/>
          </a:prstGeom>
          <a:noFill/>
          <a:ln/>
        </p:spPr>
        <p:txBody>
          <a:bodyPr wrap="square" lIns="0" tIns="0" rIns="0" bIns="0" rtlCol="0" anchor="ctr"/>
          <a:lstStyle/>
          <a:p>
            <a:pPr indent="0" marL="0">
              <a:buNone/>
            </a:pPr>
            <a:r>
              <a:rPr lang="en-US" sz="1200" dirty="0">
                <a:solidFill>
                  <a:srgbClr val="5F6E7F"/>
                </a:solidFill>
                <a:latin typeface="Calibri" pitchFamily="34" charset="0"/>
                <a:ea typeface="Calibri" pitchFamily="34" charset="-122"/>
                <a:cs typeface="Calibri" pitchFamily="34" charset="-120"/>
              </a:rPr>
              <a:t>waarheen is nog te bepalen</a:t>
            </a:r>
            <a:endParaRPr lang="en-US" sz="1200" dirty="0"/>
          </a:p>
        </p:txBody>
      </p:sp>
      <p:sp>
        <p:nvSpPr>
          <p:cNvPr id="31" name="Shape 25"/>
          <p:cNvSpPr/>
          <p:nvPr/>
        </p:nvSpPr>
        <p:spPr>
          <a:xfrm>
            <a:off x="9546336" y="1965960"/>
            <a:ext cx="2103120" cy="3246120"/>
          </a:xfrm>
          <a:prstGeom prst="roundRect">
            <a:avLst>
              <a:gd name="adj" fmla="val 5217"/>
            </a:avLst>
          </a:prstGeom>
          <a:solidFill>
            <a:srgbClr val="F3F6F9"/>
          </a:solidFill>
          <a:ln w="12700">
            <a:solidFill>
              <a:srgbClr val="F3F6F9"/>
            </a:solidFill>
            <a:prstDash val="solid"/>
          </a:ln>
        </p:spPr>
      </p:sp>
      <p:sp>
        <p:nvSpPr>
          <p:cNvPr id="32" name="Shape 26"/>
          <p:cNvSpPr/>
          <p:nvPr/>
        </p:nvSpPr>
        <p:spPr>
          <a:xfrm>
            <a:off x="9729216" y="2148840"/>
            <a:ext cx="640080" cy="640080"/>
          </a:xfrm>
          <a:prstGeom prst="ellipse">
            <a:avLst/>
          </a:prstGeom>
          <a:solidFill>
            <a:srgbClr val="EDF0F3"/>
          </a:solidFill>
          <a:ln w="12700">
            <a:solidFill>
              <a:srgbClr val="EDF0F3"/>
            </a:solidFill>
            <a:prstDash val="solid"/>
          </a:ln>
        </p:spPr>
      </p:sp>
      <p:pic>
        <p:nvPicPr>
          <p:cNvPr id="33" name="Image 4" descr="preencoded.png">    </p:cNvPr>
          <p:cNvPicPr>
            <a:picLocks noChangeAspect="1"/>
          </p:cNvPicPr>
          <p:nvPr/>
        </p:nvPicPr>
        <p:blipFill>
          <a:blip r:embed="rId5"/>
          <a:stretch>
            <a:fillRect/>
          </a:stretch>
        </p:blipFill>
        <p:spPr>
          <a:xfrm>
            <a:off x="9889236" y="2308860"/>
            <a:ext cx="320040" cy="320040"/>
          </a:xfrm>
          <a:prstGeom prst="rect">
            <a:avLst/>
          </a:prstGeom>
        </p:spPr>
      </p:pic>
      <p:sp>
        <p:nvSpPr>
          <p:cNvPr id="34" name="Text 27"/>
          <p:cNvSpPr txBox="1"/>
          <p:nvPr/>
        </p:nvSpPr>
        <p:spPr>
          <a:xfrm>
            <a:off x="10917936" y="2103120"/>
            <a:ext cx="548640" cy="640080"/>
          </a:xfrm>
          <a:prstGeom prst="rect">
            <a:avLst/>
          </a:prstGeom>
          <a:noFill/>
          <a:ln/>
        </p:spPr>
        <p:txBody>
          <a:bodyPr wrap="square" lIns="0" tIns="0" rIns="0" bIns="0" rtlCol="0" anchor="ctr"/>
          <a:lstStyle/>
          <a:p>
            <a:pPr algn="r" indent="0" marL="0">
              <a:buNone/>
            </a:pPr>
            <a:r>
              <a:rPr lang="en-US" sz="3200" b="1" dirty="0">
                <a:solidFill>
                  <a:srgbClr val="E1E6EB"/>
                </a:solidFill>
                <a:latin typeface="Calibri" pitchFamily="34" charset="0"/>
                <a:ea typeface="Calibri" pitchFamily="34" charset="-122"/>
                <a:cs typeface="Calibri" pitchFamily="34" charset="-120"/>
              </a:rPr>
              <a:t>5</a:t>
            </a:r>
            <a:endParaRPr lang="en-US" sz="3200" dirty="0"/>
          </a:p>
        </p:txBody>
      </p:sp>
      <p:sp>
        <p:nvSpPr>
          <p:cNvPr id="35" name="Text 28"/>
          <p:cNvSpPr txBox="1"/>
          <p:nvPr/>
        </p:nvSpPr>
        <p:spPr>
          <a:xfrm>
            <a:off x="9729216" y="2971800"/>
            <a:ext cx="1737360" cy="914400"/>
          </a:xfrm>
          <a:prstGeom prst="rect">
            <a:avLst/>
          </a:prstGeom>
          <a:noFill/>
          <a:ln/>
        </p:spPr>
        <p:txBody>
          <a:bodyPr wrap="square" lIns="0" tIns="0" rIns="0" bIns="0" rtlCol="0" anchor="ctr"/>
          <a:lstStyle/>
          <a:p>
            <a:pPr indent="0" marL="0">
              <a:buNone/>
            </a:pPr>
            <a:r>
              <a:rPr lang="en-US" sz="1600" b="1" dirty="0">
                <a:solidFill>
                  <a:srgbClr val="8A97A5"/>
                </a:solidFill>
                <a:latin typeface="Calibri" pitchFamily="34" charset="0"/>
                <a:ea typeface="Calibri" pitchFamily="34" charset="-122"/>
                <a:cs typeface="Calibri" pitchFamily="34" charset="-120"/>
              </a:rPr>
              <a:t>Alles blijft zoals nu</a:t>
            </a:r>
            <a:endParaRPr lang="en-US" sz="1600" dirty="0"/>
          </a:p>
        </p:txBody>
      </p:sp>
      <p:sp>
        <p:nvSpPr>
          <p:cNvPr id="36" name="Text 29"/>
          <p:cNvSpPr txBox="1"/>
          <p:nvPr/>
        </p:nvSpPr>
        <p:spPr>
          <a:xfrm>
            <a:off x="9729216" y="3931920"/>
            <a:ext cx="1737360" cy="1097280"/>
          </a:xfrm>
          <a:prstGeom prst="rect">
            <a:avLst/>
          </a:prstGeom>
          <a:noFill/>
          <a:ln/>
        </p:spPr>
        <p:txBody>
          <a:bodyPr wrap="square" lIns="0" tIns="0" rIns="0" bIns="0" rtlCol="0" anchor="ctr"/>
          <a:lstStyle/>
          <a:p>
            <a:pPr indent="0" marL="0">
              <a:buNone/>
            </a:pPr>
            <a:r>
              <a:rPr lang="en-US" sz="1200" dirty="0">
                <a:solidFill>
                  <a:srgbClr val="5F6E7F"/>
                </a:solidFill>
                <a:latin typeface="Calibri" pitchFamily="34" charset="0"/>
                <a:ea typeface="Calibri" pitchFamily="34" charset="-122"/>
                <a:cs typeface="Calibri" pitchFamily="34" charset="-120"/>
              </a:rPr>
              <a:t>het referentiescenario: er schuift niets</a:t>
            </a:r>
            <a:endParaRPr lang="en-US" sz="1200" dirty="0"/>
          </a:p>
        </p:txBody>
      </p:sp>
      <p:sp>
        <p:nvSpPr>
          <p:cNvPr id="37" name="Shape 30"/>
          <p:cNvSpPr/>
          <p:nvPr/>
        </p:nvSpPr>
        <p:spPr>
          <a:xfrm>
            <a:off x="548640" y="5486400"/>
            <a:ext cx="11094415" cy="777240"/>
          </a:xfrm>
          <a:prstGeom prst="roundRect">
            <a:avLst>
              <a:gd name="adj" fmla="val 14118"/>
            </a:avLst>
          </a:prstGeom>
          <a:solidFill>
            <a:srgbClr val="FCE9D9"/>
          </a:solidFill>
          <a:ln w="12700">
            <a:solidFill>
              <a:srgbClr val="FCE9D9"/>
            </a:solidFill>
            <a:prstDash val="solid"/>
          </a:ln>
        </p:spPr>
      </p:sp>
      <p:sp>
        <p:nvSpPr>
          <p:cNvPr id="38" name="Text 31"/>
          <p:cNvSpPr txBox="1"/>
          <p:nvPr/>
        </p:nvSpPr>
        <p:spPr>
          <a:xfrm>
            <a:off x="822960" y="5596128"/>
            <a:ext cx="2926080" cy="548640"/>
          </a:xfrm>
          <a:prstGeom prst="rect">
            <a:avLst/>
          </a:prstGeom>
          <a:noFill/>
          <a:ln/>
        </p:spPr>
        <p:txBody>
          <a:bodyPr wrap="square" lIns="0" tIns="0" rIns="0" bIns="0" rtlCol="0" anchor="ctr"/>
          <a:lstStyle/>
          <a:p>
            <a:pPr indent="0" marL="0">
              <a:buNone/>
            </a:pPr>
            <a:r>
              <a:rPr lang="en-US" sz="1100" b="1" spc="200" kern="0" dirty="0">
                <a:solidFill>
                  <a:srgbClr val="E07A1F"/>
                </a:solidFill>
                <a:latin typeface="Calibri" pitchFamily="34" charset="0"/>
                <a:ea typeface="Calibri" pitchFamily="34" charset="-122"/>
                <a:cs typeface="Calibri" pitchFamily="34" charset="-120"/>
              </a:rPr>
              <a:t>HOE KIEZEN WE</a:t>
            </a:r>
            <a:endParaRPr lang="en-US" sz="1100" dirty="0"/>
          </a:p>
        </p:txBody>
      </p:sp>
      <p:sp>
        <p:nvSpPr>
          <p:cNvPr id="39" name="Text 32"/>
          <p:cNvSpPr txBox="1"/>
          <p:nvPr/>
        </p:nvSpPr>
        <p:spPr>
          <a:xfrm>
            <a:off x="3657600" y="5577840"/>
            <a:ext cx="7711135" cy="594360"/>
          </a:xfrm>
          <a:prstGeom prst="rect">
            <a:avLst/>
          </a:prstGeom>
          <a:noFill/>
          <a:ln/>
        </p:spPr>
        <p:txBody>
          <a:bodyPr wrap="square" lIns="0" tIns="0" rIns="0" bIns="0" rtlCol="0" anchor="ctr"/>
          <a:lstStyle/>
          <a:p>
            <a:pPr indent="0" marL="0">
              <a:buNone/>
            </a:pPr>
            <a:r>
              <a:rPr lang="en-US" sz="1400" dirty="0">
                <a:solidFill>
                  <a:srgbClr val="12283A"/>
                </a:solidFill>
                <a:latin typeface="Calibri" pitchFamily="34" charset="0"/>
                <a:ea typeface="Calibri" pitchFamily="34" charset="-122"/>
                <a:cs typeface="Calibri" pitchFamily="34" charset="-120"/>
              </a:rPr>
              <a:t>De keuze gebeurt op basis van data uit BIC. Tot die tijd staat het rooster stil: eerst wat en waar, dan pas wie.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100" b="1" spc="200" kern="0" dirty="0">
                <a:solidFill>
                  <a:srgbClr val="5F6E7F"/>
                </a:solidFill>
                <a:latin typeface="Calibri" pitchFamily="34" charset="0"/>
                <a:ea typeface="Calibri" pitchFamily="34" charset="-122"/>
                <a:cs typeface="Calibri" pitchFamily="34" charset="-120"/>
              </a:rPr>
              <a:t>DEEL 3  ·  DE ANALYSES</a:t>
            </a:r>
            <a:endParaRPr lang="en-US" sz="11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200" b="1" dirty="0">
                <a:solidFill>
                  <a:srgbClr val="12283A"/>
                </a:solidFill>
                <a:latin typeface="Calibri" pitchFamily="34" charset="0"/>
                <a:ea typeface="Calibri" pitchFamily="34" charset="-122"/>
                <a:cs typeface="Calibri" pitchFamily="34" charset="-120"/>
              </a:rPr>
              <a:t>Past het in de nieuwbouw?</a:t>
            </a:r>
            <a:endParaRPr lang="en-US" sz="3200" dirty="0"/>
          </a:p>
        </p:txBody>
      </p:sp>
      <p:sp>
        <p:nvSpPr>
          <p:cNvPr id="4" name="Text 2"/>
          <p:cNvSpPr txBox="1"/>
          <p:nvPr/>
        </p:nvSpPr>
        <p:spPr>
          <a:xfrm>
            <a:off x="548640" y="1298448"/>
            <a:ext cx="11064240" cy="365760"/>
          </a:xfrm>
          <a:prstGeom prst="rect">
            <a:avLst/>
          </a:prstGeom>
          <a:noFill/>
          <a:ln/>
        </p:spPr>
        <p:txBody>
          <a:bodyPr wrap="square" lIns="0" tIns="0" rIns="0" bIns="0" rtlCol="0" anchor="ctr"/>
          <a:lstStyle/>
          <a:p>
            <a:pPr indent="0" marL="0">
              <a:buNone/>
            </a:pPr>
            <a:r>
              <a:rPr lang="en-US" sz="1600" dirty="0">
                <a:solidFill>
                  <a:srgbClr val="5F6E7F"/>
                </a:solidFill>
                <a:latin typeface="Calibri" pitchFamily="34" charset="0"/>
                <a:ea typeface="Calibri" pitchFamily="34" charset="-122"/>
                <a:cs typeface="Calibri" pitchFamily="34" charset="-120"/>
              </a:rPr>
              <a:t>Twee analyses, twee antwoorden</a:t>
            </a:r>
            <a:endParaRPr lang="en-US" sz="1600" dirty="0"/>
          </a:p>
        </p:txBody>
      </p:sp>
      <p:sp>
        <p:nvSpPr>
          <p:cNvPr id="5" name="Text 3"/>
          <p:cNvSpPr txBox="1"/>
          <p:nvPr/>
        </p:nvSpPr>
        <p:spPr>
          <a:xfrm>
            <a:off x="548640" y="6419088"/>
            <a:ext cx="4572000" cy="228600"/>
          </a:xfrm>
          <a:prstGeom prst="rect">
            <a:avLst/>
          </a:prstGeom>
          <a:noFill/>
          <a:ln/>
        </p:spPr>
        <p:txBody>
          <a:bodyPr wrap="square" lIns="0" tIns="0" rIns="0" bIns="0" rtlCol="0" anchor="ctr"/>
          <a:lstStyle/>
          <a:p>
            <a:pPr indent="0" marL="0">
              <a:buNone/>
            </a:pPr>
            <a:r>
              <a:rPr lang="en-US" sz="1000" dirty="0">
                <a:solidFill>
                  <a:srgbClr val="8A97A5"/>
                </a:solidFill>
                <a:latin typeface="Calibri" pitchFamily="34" charset="0"/>
                <a:ea typeface="Calibri" pitchFamily="34" charset="-122"/>
                <a:cs typeface="Calibri" pitchFamily="34" charset="-120"/>
              </a:rPr>
              <a:t>Acute poort en Hotfloor</a:t>
            </a:r>
            <a:endParaRPr lang="en-US" sz="1000" dirty="0"/>
          </a:p>
        </p:txBody>
      </p:sp>
      <p:sp>
        <p:nvSpPr>
          <p:cNvPr id="6" name="Text 4"/>
          <p:cNvSpPr txBox="1"/>
          <p:nvPr/>
        </p:nvSpPr>
        <p:spPr>
          <a:xfrm>
            <a:off x="11091672" y="6419088"/>
            <a:ext cx="548640" cy="228600"/>
          </a:xfrm>
          <a:prstGeom prst="rect">
            <a:avLst/>
          </a:prstGeom>
          <a:noFill/>
          <a:ln/>
        </p:spPr>
        <p:txBody>
          <a:bodyPr wrap="square" lIns="0" tIns="0" rIns="0" bIns="0" rtlCol="0" anchor="ctr"/>
          <a:lstStyle/>
          <a:p>
            <a:pPr algn="r" indent="0" marL="0">
              <a:buNone/>
            </a:pPr>
            <a:r>
              <a:rPr lang="en-US" sz="1000" dirty="0">
                <a:solidFill>
                  <a:srgbClr val="8A97A5"/>
                </a:solidFill>
                <a:latin typeface="Calibri" pitchFamily="34" charset="0"/>
                <a:ea typeface="Calibri" pitchFamily="34" charset="-122"/>
                <a:cs typeface="Calibri" pitchFamily="34" charset="-120"/>
              </a:rPr>
              <a:t>11</a:t>
            </a:r>
            <a:endParaRPr lang="en-US" sz="1000" dirty="0"/>
          </a:p>
        </p:txBody>
      </p:sp>
      <p:sp>
        <p:nvSpPr>
          <p:cNvPr id="7" name="Shape 5"/>
          <p:cNvSpPr/>
          <p:nvPr/>
        </p:nvSpPr>
        <p:spPr>
          <a:xfrm>
            <a:off x="548640" y="1920240"/>
            <a:ext cx="5440680" cy="4160520"/>
          </a:xfrm>
          <a:prstGeom prst="roundRect">
            <a:avLst>
              <a:gd name="adj" fmla="val 2637"/>
            </a:avLst>
          </a:prstGeom>
          <a:solidFill>
            <a:srgbClr val="DCEFF1"/>
          </a:solidFill>
          <a:ln w="12700">
            <a:solidFill>
              <a:srgbClr val="DCEFF1"/>
            </a:solidFill>
            <a:prstDash val="solid"/>
          </a:ln>
        </p:spPr>
      </p:sp>
      <p:sp>
        <p:nvSpPr>
          <p:cNvPr id="8" name="Text 6"/>
          <p:cNvSpPr txBox="1"/>
          <p:nvPr/>
        </p:nvSpPr>
        <p:spPr>
          <a:xfrm>
            <a:off x="822960" y="2057400"/>
            <a:ext cx="3200400" cy="365760"/>
          </a:xfrm>
          <a:prstGeom prst="rect">
            <a:avLst/>
          </a:prstGeom>
          <a:noFill/>
          <a:ln/>
        </p:spPr>
        <p:txBody>
          <a:bodyPr wrap="square" lIns="0" tIns="0" rIns="0" bIns="0" rtlCol="0" anchor="ctr"/>
          <a:lstStyle/>
          <a:p>
            <a:pPr indent="0" marL="0">
              <a:buNone/>
            </a:pPr>
            <a:r>
              <a:rPr lang="en-US" sz="2000" b="1" dirty="0">
                <a:solidFill>
                  <a:srgbClr val="0E7C86"/>
                </a:solidFill>
                <a:latin typeface="Calibri" pitchFamily="34" charset="0"/>
                <a:ea typeface="Calibri" pitchFamily="34" charset="-122"/>
                <a:cs typeface="Calibri" pitchFamily="34" charset="-120"/>
              </a:rPr>
              <a:t>Acute poort</a:t>
            </a:r>
            <a:endParaRPr lang="en-US" sz="2000" dirty="0"/>
          </a:p>
        </p:txBody>
      </p:sp>
      <p:sp>
        <p:nvSpPr>
          <p:cNvPr id="9" name="Shape 7"/>
          <p:cNvSpPr/>
          <p:nvPr/>
        </p:nvSpPr>
        <p:spPr>
          <a:xfrm>
            <a:off x="3977640" y="2084832"/>
            <a:ext cx="1737360" cy="310896"/>
          </a:xfrm>
          <a:prstGeom prst="roundRect">
            <a:avLst>
              <a:gd name="adj" fmla="val 50000"/>
            </a:avLst>
          </a:prstGeom>
          <a:solidFill>
            <a:srgbClr val="E07A1F"/>
          </a:solidFill>
          <a:ln w="12700">
            <a:solidFill>
              <a:srgbClr val="E07A1F"/>
            </a:solidFill>
            <a:prstDash val="solid"/>
          </a:ln>
        </p:spPr>
      </p:sp>
      <p:sp>
        <p:nvSpPr>
          <p:cNvPr id="10" name="Text 8"/>
          <p:cNvSpPr txBox="1"/>
          <p:nvPr/>
        </p:nvSpPr>
        <p:spPr>
          <a:xfrm>
            <a:off x="3977640" y="2084832"/>
            <a:ext cx="17373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HANGT AF VAN KEUZES</a:t>
            </a:r>
            <a:endParaRPr lang="en-US" sz="900" dirty="0"/>
          </a:p>
        </p:txBody>
      </p:sp>
      <p:sp>
        <p:nvSpPr>
          <p:cNvPr id="11" name="Text 9"/>
          <p:cNvSpPr txBox="1"/>
          <p:nvPr/>
        </p:nvSpPr>
        <p:spPr>
          <a:xfrm>
            <a:off x="822960" y="2606040"/>
            <a:ext cx="4937760" cy="457200"/>
          </a:xfrm>
          <a:prstGeom prst="rect">
            <a:avLst/>
          </a:prstGeom>
          <a:noFill/>
          <a:ln/>
        </p:spPr>
        <p:txBody>
          <a:bodyPr wrap="square" lIns="0" tIns="0" rIns="0" bIns="0" rtlCol="0" anchor="ctr"/>
          <a:lstStyle/>
          <a:p>
            <a:pPr indent="0" marL="0">
              <a:buNone/>
            </a:pPr>
            <a:r>
              <a:rPr lang="en-US" sz="1400" dirty="0">
                <a:solidFill>
                  <a:srgbClr val="12283A"/>
                </a:solidFill>
                <a:latin typeface="Calibri" pitchFamily="34" charset="0"/>
                <a:ea typeface="Calibri" pitchFamily="34" charset="-122"/>
                <a:cs typeface="Calibri" pitchFamily="34" charset="-120"/>
              </a:rPr>
              <a:t>Drie stromen achter één poort: kind, EHH en SEH.</a:t>
            </a:r>
            <a:endParaRPr lang="en-US" sz="1400" dirty="0"/>
          </a:p>
        </p:txBody>
      </p:sp>
      <p:sp>
        <p:nvSpPr>
          <p:cNvPr id="12" name="Shape 10"/>
          <p:cNvSpPr/>
          <p:nvPr/>
        </p:nvSpPr>
        <p:spPr>
          <a:xfrm>
            <a:off x="822960" y="3200400"/>
            <a:ext cx="502920" cy="502920"/>
          </a:xfrm>
          <a:prstGeom prst="ellipse">
            <a:avLst/>
          </a:prstGeom>
          <a:solidFill>
            <a:srgbClr val="FFFFFF"/>
          </a:solidFill>
          <a:ln w="12700">
            <a:solidFill>
              <a:srgbClr val="FFFFFF"/>
            </a:solidFill>
            <a:prstDash val="solid"/>
          </a:ln>
        </p:spPr>
      </p:sp>
      <p:pic>
        <p:nvPicPr>
          <p:cNvPr id="13" name="Image 0" descr="preencoded.png">    </p:cNvPr>
          <p:cNvPicPr>
            <a:picLocks noChangeAspect="1"/>
          </p:cNvPicPr>
          <p:nvPr/>
        </p:nvPicPr>
        <p:blipFill>
          <a:blip r:embed="rId1"/>
          <a:stretch>
            <a:fillRect/>
          </a:stretch>
        </p:blipFill>
        <p:spPr>
          <a:xfrm>
            <a:off x="948690" y="3326130"/>
            <a:ext cx="251460" cy="251460"/>
          </a:xfrm>
          <a:prstGeom prst="rect">
            <a:avLst/>
          </a:prstGeom>
        </p:spPr>
      </p:pic>
      <p:sp>
        <p:nvSpPr>
          <p:cNvPr id="14" name="Text 11"/>
          <p:cNvSpPr txBox="1"/>
          <p:nvPr/>
        </p:nvSpPr>
        <p:spPr>
          <a:xfrm>
            <a:off x="1463040" y="3200400"/>
            <a:ext cx="4297680" cy="502920"/>
          </a:xfrm>
          <a:prstGeom prst="rect">
            <a:avLst/>
          </a:prstGeom>
          <a:noFill/>
          <a:ln/>
        </p:spPr>
        <p:txBody>
          <a:bodyPr wrap="square" lIns="0" tIns="0" rIns="0" bIns="0" rtlCol="0" anchor="ctr"/>
          <a:lstStyle/>
          <a:p>
            <a:pPr indent="0" marL="0">
              <a:buNone/>
            </a:pPr>
            <a:r>
              <a:rPr lang="en-US" sz="1400" dirty="0">
                <a:solidFill>
                  <a:srgbClr val="12283A"/>
                </a:solidFill>
                <a:latin typeface="Calibri" pitchFamily="34" charset="0"/>
                <a:ea typeface="Calibri" pitchFamily="34" charset="-122"/>
                <a:cs typeface="Calibri" pitchFamily="34" charset="-120"/>
              </a:rPr>
              <a:t>Instroom per uur en per dag in beeld</a:t>
            </a:r>
            <a:endParaRPr lang="en-US" sz="1400" dirty="0"/>
          </a:p>
        </p:txBody>
      </p:sp>
      <p:sp>
        <p:nvSpPr>
          <p:cNvPr id="15" name="Shape 12"/>
          <p:cNvSpPr/>
          <p:nvPr/>
        </p:nvSpPr>
        <p:spPr>
          <a:xfrm>
            <a:off x="822960" y="3840480"/>
            <a:ext cx="502920" cy="502920"/>
          </a:xfrm>
          <a:prstGeom prst="ellipse">
            <a:avLst/>
          </a:prstGeom>
          <a:solidFill>
            <a:srgbClr val="FFFFFF"/>
          </a:solidFill>
          <a:ln w="12700">
            <a:solidFill>
              <a:srgbClr val="FFFFFF"/>
            </a:solidFill>
            <a:prstDash val="solid"/>
          </a:ln>
        </p:spPr>
      </p:sp>
      <p:pic>
        <p:nvPicPr>
          <p:cNvPr id="16" name="Image 1" descr="preencoded.png">    </p:cNvPr>
          <p:cNvPicPr>
            <a:picLocks noChangeAspect="1"/>
          </p:cNvPicPr>
          <p:nvPr/>
        </p:nvPicPr>
        <p:blipFill>
          <a:blip r:embed="rId2"/>
          <a:stretch>
            <a:fillRect/>
          </a:stretch>
        </p:blipFill>
        <p:spPr>
          <a:xfrm>
            <a:off x="948690" y="3966210"/>
            <a:ext cx="251460" cy="251460"/>
          </a:xfrm>
          <a:prstGeom prst="rect">
            <a:avLst/>
          </a:prstGeom>
        </p:spPr>
      </p:pic>
      <p:sp>
        <p:nvSpPr>
          <p:cNvPr id="17" name="Text 13"/>
          <p:cNvSpPr txBox="1"/>
          <p:nvPr/>
        </p:nvSpPr>
        <p:spPr>
          <a:xfrm>
            <a:off x="1463040" y="3840480"/>
            <a:ext cx="4297680" cy="502920"/>
          </a:xfrm>
          <a:prstGeom prst="rect">
            <a:avLst/>
          </a:prstGeom>
          <a:noFill/>
          <a:ln/>
        </p:spPr>
        <p:txBody>
          <a:bodyPr wrap="square" lIns="0" tIns="0" rIns="0" bIns="0" rtlCol="0" anchor="ctr"/>
          <a:lstStyle/>
          <a:p>
            <a:pPr indent="0" marL="0">
              <a:buNone/>
            </a:pPr>
            <a:r>
              <a:rPr lang="en-US" sz="1400" dirty="0">
                <a:solidFill>
                  <a:srgbClr val="12283A"/>
                </a:solidFill>
                <a:latin typeface="Calibri" pitchFamily="34" charset="0"/>
                <a:ea typeface="Calibri" pitchFamily="34" charset="-122"/>
                <a:cs typeface="Calibri" pitchFamily="34" charset="-120"/>
              </a:rPr>
              <a:t>Seizoensinvloed zichtbaar in het jaarpatroon</a:t>
            </a:r>
            <a:endParaRPr lang="en-US" sz="1400" dirty="0"/>
          </a:p>
        </p:txBody>
      </p:sp>
      <p:sp>
        <p:nvSpPr>
          <p:cNvPr id="18" name="Shape 14"/>
          <p:cNvSpPr/>
          <p:nvPr/>
        </p:nvSpPr>
        <p:spPr>
          <a:xfrm>
            <a:off x="822960" y="4480560"/>
            <a:ext cx="502920" cy="502920"/>
          </a:xfrm>
          <a:prstGeom prst="ellipse">
            <a:avLst/>
          </a:prstGeom>
          <a:solidFill>
            <a:srgbClr val="FFFFFF"/>
          </a:solidFill>
          <a:ln w="12700">
            <a:solidFill>
              <a:srgbClr val="FFFFFF"/>
            </a:solidFill>
            <a:prstDash val="solid"/>
          </a:ln>
        </p:spPr>
      </p:sp>
      <p:pic>
        <p:nvPicPr>
          <p:cNvPr id="19" name="Image 2" descr="preencoded.png">    </p:cNvPr>
          <p:cNvPicPr>
            <a:picLocks noChangeAspect="1"/>
          </p:cNvPicPr>
          <p:nvPr/>
        </p:nvPicPr>
        <p:blipFill>
          <a:blip r:embed="rId3"/>
          <a:stretch>
            <a:fillRect/>
          </a:stretch>
        </p:blipFill>
        <p:spPr>
          <a:xfrm>
            <a:off x="948690" y="4606290"/>
            <a:ext cx="251460" cy="251460"/>
          </a:xfrm>
          <a:prstGeom prst="rect">
            <a:avLst/>
          </a:prstGeom>
        </p:spPr>
      </p:pic>
      <p:sp>
        <p:nvSpPr>
          <p:cNvPr id="20" name="Text 15"/>
          <p:cNvSpPr txBox="1"/>
          <p:nvPr/>
        </p:nvSpPr>
        <p:spPr>
          <a:xfrm>
            <a:off x="1463040" y="4480560"/>
            <a:ext cx="4297680" cy="502920"/>
          </a:xfrm>
          <a:prstGeom prst="rect">
            <a:avLst/>
          </a:prstGeom>
          <a:noFill/>
          <a:ln/>
        </p:spPr>
        <p:txBody>
          <a:bodyPr wrap="square" lIns="0" tIns="0" rIns="0" bIns="0" rtlCol="0" anchor="ctr"/>
          <a:lstStyle/>
          <a:p>
            <a:pPr indent="0" marL="0">
              <a:buNone/>
            </a:pPr>
            <a:r>
              <a:rPr lang="en-US" sz="1400" dirty="0">
                <a:solidFill>
                  <a:srgbClr val="12283A"/>
                </a:solidFill>
                <a:latin typeface="Calibri" pitchFamily="34" charset="0"/>
                <a:ea typeface="Calibri" pitchFamily="34" charset="-122"/>
                <a:cs typeface="Calibri" pitchFamily="34" charset="-120"/>
              </a:rPr>
              <a:t>Data beschikbaar voor verschillende scenario's</a:t>
            </a:r>
            <a:endParaRPr lang="en-US" sz="1400" dirty="0"/>
          </a:p>
        </p:txBody>
      </p:sp>
      <p:sp>
        <p:nvSpPr>
          <p:cNvPr id="21" name="Text 16"/>
          <p:cNvSpPr txBox="1"/>
          <p:nvPr/>
        </p:nvSpPr>
        <p:spPr>
          <a:xfrm>
            <a:off x="822960" y="5166360"/>
            <a:ext cx="4937760" cy="777240"/>
          </a:xfrm>
          <a:prstGeom prst="rect">
            <a:avLst/>
          </a:prstGeom>
          <a:noFill/>
          <a:ln/>
        </p:spPr>
        <p:txBody>
          <a:bodyPr wrap="square" lIns="0" tIns="0" rIns="0" bIns="0" rtlCol="0" anchor="ctr"/>
          <a:lstStyle/>
          <a:p>
            <a:pPr indent="0" marL="0">
              <a:buNone/>
            </a:pPr>
            <a:r>
              <a:rPr lang="en-US" sz="1300" b="1" dirty="0">
                <a:solidFill>
                  <a:srgbClr val="0E7C86"/>
                </a:solidFill>
                <a:latin typeface="Calibri" pitchFamily="34" charset="0"/>
                <a:ea typeface="Calibri" pitchFamily="34" charset="-122"/>
                <a:cs typeface="Calibri" pitchFamily="34" charset="-120"/>
              </a:rPr>
              <a:t>De acute poort is nu al krap. Of het past, hangt af van de keuzes over de EHH en het aantal plekken.</a:t>
            </a:r>
            <a:endParaRPr lang="en-US" sz="1300" dirty="0"/>
          </a:p>
        </p:txBody>
      </p:sp>
      <p:sp>
        <p:nvSpPr>
          <p:cNvPr id="22" name="Shape 17"/>
          <p:cNvSpPr/>
          <p:nvPr/>
        </p:nvSpPr>
        <p:spPr>
          <a:xfrm>
            <a:off x="6199632" y="1920240"/>
            <a:ext cx="5440680" cy="4160520"/>
          </a:xfrm>
          <a:prstGeom prst="roundRect">
            <a:avLst>
              <a:gd name="adj" fmla="val 2637"/>
            </a:avLst>
          </a:prstGeom>
          <a:solidFill>
            <a:srgbClr val="E2E6F5"/>
          </a:solidFill>
          <a:ln w="12700">
            <a:solidFill>
              <a:srgbClr val="E2E6F5"/>
            </a:solidFill>
            <a:prstDash val="solid"/>
          </a:ln>
        </p:spPr>
      </p:sp>
      <p:sp>
        <p:nvSpPr>
          <p:cNvPr id="23" name="Text 18"/>
          <p:cNvSpPr txBox="1"/>
          <p:nvPr/>
        </p:nvSpPr>
        <p:spPr>
          <a:xfrm>
            <a:off x="6473952" y="2057400"/>
            <a:ext cx="3200400" cy="365760"/>
          </a:xfrm>
          <a:prstGeom prst="rect">
            <a:avLst/>
          </a:prstGeom>
          <a:noFill/>
          <a:ln/>
        </p:spPr>
        <p:txBody>
          <a:bodyPr wrap="square" lIns="0" tIns="0" rIns="0" bIns="0" rtlCol="0" anchor="ctr"/>
          <a:lstStyle/>
          <a:p>
            <a:pPr indent="0" marL="0">
              <a:buNone/>
            </a:pPr>
            <a:r>
              <a:rPr lang="en-US" sz="2000" b="1" dirty="0">
                <a:solidFill>
                  <a:srgbClr val="3F4F9B"/>
                </a:solidFill>
                <a:latin typeface="Calibri" pitchFamily="34" charset="0"/>
                <a:ea typeface="Calibri" pitchFamily="34" charset="-122"/>
                <a:cs typeface="Calibri" pitchFamily="34" charset="-120"/>
              </a:rPr>
              <a:t>Hotfloor</a:t>
            </a:r>
            <a:endParaRPr lang="en-US" sz="2000" dirty="0"/>
          </a:p>
        </p:txBody>
      </p:sp>
      <p:sp>
        <p:nvSpPr>
          <p:cNvPr id="24" name="Shape 19"/>
          <p:cNvSpPr/>
          <p:nvPr/>
        </p:nvSpPr>
        <p:spPr>
          <a:xfrm>
            <a:off x="10195560" y="2084832"/>
            <a:ext cx="1234440" cy="310896"/>
          </a:xfrm>
          <a:prstGeom prst="roundRect">
            <a:avLst>
              <a:gd name="adj" fmla="val 50000"/>
            </a:avLst>
          </a:prstGeom>
          <a:solidFill>
            <a:srgbClr val="2E8B57"/>
          </a:solidFill>
          <a:ln w="12700">
            <a:solidFill>
              <a:srgbClr val="2E8B57"/>
            </a:solidFill>
            <a:prstDash val="solid"/>
          </a:ln>
        </p:spPr>
      </p:sp>
      <p:sp>
        <p:nvSpPr>
          <p:cNvPr id="25" name="Text 20"/>
          <p:cNvSpPr txBox="1"/>
          <p:nvPr/>
        </p:nvSpPr>
        <p:spPr>
          <a:xfrm>
            <a:off x="10195560" y="2084832"/>
            <a:ext cx="123444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PAST WEL</a:t>
            </a:r>
            <a:endParaRPr lang="en-US" sz="900" dirty="0"/>
          </a:p>
        </p:txBody>
      </p:sp>
      <p:sp>
        <p:nvSpPr>
          <p:cNvPr id="26" name="Text 21"/>
          <p:cNvSpPr txBox="1"/>
          <p:nvPr/>
        </p:nvSpPr>
        <p:spPr>
          <a:xfrm>
            <a:off x="6473952" y="2606040"/>
            <a:ext cx="4937760" cy="457200"/>
          </a:xfrm>
          <a:prstGeom prst="rect">
            <a:avLst/>
          </a:prstGeom>
          <a:noFill/>
          <a:ln/>
        </p:spPr>
        <p:txBody>
          <a:bodyPr wrap="square" lIns="0" tIns="0" rIns="0" bIns="0" rtlCol="0" anchor="ctr"/>
          <a:lstStyle/>
          <a:p>
            <a:pPr indent="0" marL="0">
              <a:buNone/>
            </a:pPr>
            <a:r>
              <a:rPr lang="en-US" sz="1400" dirty="0">
                <a:solidFill>
                  <a:srgbClr val="12283A"/>
                </a:solidFill>
                <a:latin typeface="Calibri" pitchFamily="34" charset="0"/>
                <a:ea typeface="Calibri" pitchFamily="34" charset="-122"/>
                <a:cs typeface="Calibri" pitchFamily="34" charset="-120"/>
              </a:rPr>
              <a:t>ICU, CCU en SCU samen op zestien bedden.</a:t>
            </a:r>
            <a:endParaRPr lang="en-US" sz="1400" dirty="0"/>
          </a:p>
        </p:txBody>
      </p:sp>
      <p:sp>
        <p:nvSpPr>
          <p:cNvPr id="27" name="Shape 22"/>
          <p:cNvSpPr/>
          <p:nvPr/>
        </p:nvSpPr>
        <p:spPr>
          <a:xfrm>
            <a:off x="6473952" y="3200400"/>
            <a:ext cx="502920" cy="502920"/>
          </a:xfrm>
          <a:prstGeom prst="ellipse">
            <a:avLst/>
          </a:prstGeom>
          <a:solidFill>
            <a:srgbClr val="FFFFFF"/>
          </a:solidFill>
          <a:ln w="12700">
            <a:solidFill>
              <a:srgbClr val="FFFFFF"/>
            </a:solidFill>
            <a:prstDash val="solid"/>
          </a:ln>
        </p:spPr>
      </p:sp>
      <p:pic>
        <p:nvPicPr>
          <p:cNvPr id="28" name="Image 3" descr="preencoded.png">    </p:cNvPr>
          <p:cNvPicPr>
            <a:picLocks noChangeAspect="1"/>
          </p:cNvPicPr>
          <p:nvPr/>
        </p:nvPicPr>
        <p:blipFill>
          <a:blip r:embed="rId4"/>
          <a:stretch>
            <a:fillRect/>
          </a:stretch>
        </p:blipFill>
        <p:spPr>
          <a:xfrm>
            <a:off x="6599682" y="3326130"/>
            <a:ext cx="251460" cy="251460"/>
          </a:xfrm>
          <a:prstGeom prst="rect">
            <a:avLst/>
          </a:prstGeom>
        </p:spPr>
      </p:pic>
      <p:sp>
        <p:nvSpPr>
          <p:cNvPr id="29" name="Text 23"/>
          <p:cNvSpPr txBox="1"/>
          <p:nvPr/>
        </p:nvSpPr>
        <p:spPr>
          <a:xfrm>
            <a:off x="7114032" y="3200400"/>
            <a:ext cx="4297680" cy="502920"/>
          </a:xfrm>
          <a:prstGeom prst="rect">
            <a:avLst/>
          </a:prstGeom>
          <a:noFill/>
          <a:ln/>
        </p:spPr>
        <p:txBody>
          <a:bodyPr wrap="square" lIns="0" tIns="0" rIns="0" bIns="0" rtlCol="0" anchor="ctr"/>
          <a:lstStyle/>
          <a:p>
            <a:pPr indent="0" marL="0">
              <a:buNone/>
            </a:pPr>
            <a:r>
              <a:rPr lang="en-US" sz="1400" dirty="0">
                <a:solidFill>
                  <a:srgbClr val="12283A"/>
                </a:solidFill>
                <a:latin typeface="Calibri" pitchFamily="34" charset="0"/>
                <a:ea typeface="Calibri" pitchFamily="34" charset="-122"/>
                <a:cs typeface="Calibri" pitchFamily="34" charset="-120"/>
              </a:rPr>
              <a:t>Weigerkans: nu 2,5%, risico nog niet becijferd</a:t>
            </a:r>
            <a:endParaRPr lang="en-US" sz="1400" dirty="0"/>
          </a:p>
        </p:txBody>
      </p:sp>
      <p:sp>
        <p:nvSpPr>
          <p:cNvPr id="30" name="Shape 24"/>
          <p:cNvSpPr/>
          <p:nvPr/>
        </p:nvSpPr>
        <p:spPr>
          <a:xfrm>
            <a:off x="6473952" y="3840480"/>
            <a:ext cx="502920" cy="502920"/>
          </a:xfrm>
          <a:prstGeom prst="ellipse">
            <a:avLst/>
          </a:prstGeom>
          <a:solidFill>
            <a:srgbClr val="FFFFFF"/>
          </a:solidFill>
          <a:ln w="12700">
            <a:solidFill>
              <a:srgbClr val="FFFFFF"/>
            </a:solidFill>
            <a:prstDash val="solid"/>
          </a:ln>
        </p:spPr>
      </p:sp>
      <p:pic>
        <p:nvPicPr>
          <p:cNvPr id="31" name="Image 4" descr="preencoded.png">    </p:cNvPr>
          <p:cNvPicPr>
            <a:picLocks noChangeAspect="1"/>
          </p:cNvPicPr>
          <p:nvPr/>
        </p:nvPicPr>
        <p:blipFill>
          <a:blip r:embed="rId5"/>
          <a:stretch>
            <a:fillRect/>
          </a:stretch>
        </p:blipFill>
        <p:spPr>
          <a:xfrm>
            <a:off x="6599682" y="3966210"/>
            <a:ext cx="251460" cy="251460"/>
          </a:xfrm>
          <a:prstGeom prst="rect">
            <a:avLst/>
          </a:prstGeom>
        </p:spPr>
      </p:pic>
      <p:sp>
        <p:nvSpPr>
          <p:cNvPr id="32" name="Text 25"/>
          <p:cNvSpPr txBox="1"/>
          <p:nvPr/>
        </p:nvSpPr>
        <p:spPr>
          <a:xfrm>
            <a:off x="7114032" y="3840480"/>
            <a:ext cx="4297680" cy="502920"/>
          </a:xfrm>
          <a:prstGeom prst="rect">
            <a:avLst/>
          </a:prstGeom>
          <a:noFill/>
          <a:ln/>
        </p:spPr>
        <p:txBody>
          <a:bodyPr wrap="square" lIns="0" tIns="0" rIns="0" bIns="0" rtlCol="0" anchor="ctr"/>
          <a:lstStyle/>
          <a:p>
            <a:pPr indent="0" marL="0">
              <a:buNone/>
            </a:pPr>
            <a:r>
              <a:rPr lang="en-US" sz="1400" dirty="0">
                <a:solidFill>
                  <a:srgbClr val="12283A"/>
                </a:solidFill>
                <a:latin typeface="Calibri" pitchFamily="34" charset="0"/>
                <a:ea typeface="Calibri" pitchFamily="34" charset="-122"/>
                <a:cs typeface="Calibri" pitchFamily="34" charset="-120"/>
              </a:rPr>
              <a:t>EHH erbij of niet? Nog te beslissen</a:t>
            </a:r>
            <a:endParaRPr lang="en-US" sz="1400" dirty="0"/>
          </a:p>
        </p:txBody>
      </p:sp>
      <p:sp>
        <p:nvSpPr>
          <p:cNvPr id="33" name="Shape 26"/>
          <p:cNvSpPr/>
          <p:nvPr/>
        </p:nvSpPr>
        <p:spPr>
          <a:xfrm>
            <a:off x="6473952" y="4480560"/>
            <a:ext cx="502920" cy="502920"/>
          </a:xfrm>
          <a:prstGeom prst="ellipse">
            <a:avLst/>
          </a:prstGeom>
          <a:solidFill>
            <a:srgbClr val="FFFFFF"/>
          </a:solidFill>
          <a:ln w="12700">
            <a:solidFill>
              <a:srgbClr val="FFFFFF"/>
            </a:solidFill>
            <a:prstDash val="solid"/>
          </a:ln>
        </p:spPr>
      </p:sp>
      <p:pic>
        <p:nvPicPr>
          <p:cNvPr id="34" name="Image 5" descr="preencoded.png">    </p:cNvPr>
          <p:cNvPicPr>
            <a:picLocks noChangeAspect="1"/>
          </p:cNvPicPr>
          <p:nvPr/>
        </p:nvPicPr>
        <p:blipFill>
          <a:blip r:embed="rId6"/>
          <a:stretch>
            <a:fillRect/>
          </a:stretch>
        </p:blipFill>
        <p:spPr>
          <a:xfrm>
            <a:off x="6599682" y="4606290"/>
            <a:ext cx="251460" cy="251460"/>
          </a:xfrm>
          <a:prstGeom prst="rect">
            <a:avLst/>
          </a:prstGeom>
        </p:spPr>
      </p:pic>
      <p:sp>
        <p:nvSpPr>
          <p:cNvPr id="35" name="Text 27"/>
          <p:cNvSpPr txBox="1"/>
          <p:nvPr/>
        </p:nvSpPr>
        <p:spPr>
          <a:xfrm>
            <a:off x="7114032" y="4480560"/>
            <a:ext cx="4297680" cy="502920"/>
          </a:xfrm>
          <a:prstGeom prst="rect">
            <a:avLst/>
          </a:prstGeom>
          <a:noFill/>
          <a:ln/>
        </p:spPr>
        <p:txBody>
          <a:bodyPr wrap="square" lIns="0" tIns="0" rIns="0" bIns="0" rtlCol="0" anchor="ctr"/>
          <a:lstStyle/>
          <a:p>
            <a:pPr indent="0" marL="0">
              <a:buNone/>
            </a:pPr>
            <a:r>
              <a:rPr lang="en-US" sz="1400" dirty="0">
                <a:solidFill>
                  <a:srgbClr val="12283A"/>
                </a:solidFill>
                <a:latin typeface="Calibri" pitchFamily="34" charset="0"/>
                <a:ea typeface="Calibri" pitchFamily="34" charset="-122"/>
                <a:cs typeface="Calibri" pitchFamily="34" charset="-120"/>
              </a:rPr>
              <a:t>Waar komt het personeel vandaan? Nog open</a:t>
            </a:r>
            <a:endParaRPr lang="en-US" sz="1400" dirty="0"/>
          </a:p>
        </p:txBody>
      </p:sp>
      <p:sp>
        <p:nvSpPr>
          <p:cNvPr id="36" name="Text 28"/>
          <p:cNvSpPr txBox="1"/>
          <p:nvPr/>
        </p:nvSpPr>
        <p:spPr>
          <a:xfrm>
            <a:off x="6473952" y="5166360"/>
            <a:ext cx="4937760" cy="777240"/>
          </a:xfrm>
          <a:prstGeom prst="rect">
            <a:avLst/>
          </a:prstGeom>
          <a:noFill/>
          <a:ln/>
        </p:spPr>
        <p:txBody>
          <a:bodyPr wrap="square" lIns="0" tIns="0" rIns="0" bIns="0" rtlCol="0" anchor="ctr"/>
          <a:lstStyle/>
          <a:p>
            <a:pPr indent="0" marL="0">
              <a:buNone/>
            </a:pPr>
            <a:r>
              <a:rPr lang="en-US" sz="1300" b="1" dirty="0">
                <a:solidFill>
                  <a:srgbClr val="3F4F9B"/>
                </a:solidFill>
                <a:latin typeface="Calibri" pitchFamily="34" charset="0"/>
                <a:ea typeface="Calibri" pitchFamily="34" charset="-122"/>
                <a:cs typeface="Calibri" pitchFamily="34" charset="-120"/>
              </a:rPr>
              <a:t>Positieve uitkomst, maar zonder weigerkans en EHH-besluit is het beeld niet compleet.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100" b="1" spc="200" kern="0" dirty="0">
                <a:solidFill>
                  <a:srgbClr val="5F6E7F"/>
                </a:solidFill>
                <a:latin typeface="Calibri" pitchFamily="34" charset="0"/>
                <a:ea typeface="Calibri" pitchFamily="34" charset="-122"/>
                <a:cs typeface="Calibri" pitchFamily="34" charset="-120"/>
              </a:rPr>
              <a:t>DEEL 3  ·  DE SLEUTELVRAAG</a:t>
            </a:r>
            <a:endParaRPr lang="en-US" sz="11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200" b="1" dirty="0">
                <a:solidFill>
                  <a:srgbClr val="12283A"/>
                </a:solidFill>
                <a:latin typeface="Calibri" pitchFamily="34" charset="0"/>
                <a:ea typeface="Calibri" pitchFamily="34" charset="-122"/>
                <a:cs typeface="Calibri" pitchFamily="34" charset="-120"/>
              </a:rPr>
              <a:t>Waar hoort de EHH bij?</a:t>
            </a:r>
            <a:endParaRPr lang="en-US" sz="3200" dirty="0"/>
          </a:p>
        </p:txBody>
      </p:sp>
      <p:sp>
        <p:nvSpPr>
          <p:cNvPr id="4" name="Text 2"/>
          <p:cNvSpPr txBox="1"/>
          <p:nvPr/>
        </p:nvSpPr>
        <p:spPr>
          <a:xfrm>
            <a:off x="548640" y="1298448"/>
            <a:ext cx="11064240" cy="365760"/>
          </a:xfrm>
          <a:prstGeom prst="rect">
            <a:avLst/>
          </a:prstGeom>
          <a:noFill/>
          <a:ln/>
        </p:spPr>
        <p:txBody>
          <a:bodyPr wrap="square" lIns="0" tIns="0" rIns="0" bIns="0" rtlCol="0" anchor="ctr"/>
          <a:lstStyle/>
          <a:p>
            <a:pPr indent="0" marL="0">
              <a:buNone/>
            </a:pPr>
            <a:r>
              <a:rPr lang="en-US" sz="1600" dirty="0">
                <a:solidFill>
                  <a:srgbClr val="5F6E7F"/>
                </a:solidFill>
                <a:latin typeface="Calibri" pitchFamily="34" charset="0"/>
                <a:ea typeface="Calibri" pitchFamily="34" charset="-122"/>
                <a:cs typeface="Calibri" pitchFamily="34" charset="-120"/>
              </a:rPr>
              <a:t>Deze ene keuze bepaalt beide analyses én de personele inzet</a:t>
            </a:r>
            <a:endParaRPr lang="en-US" sz="1600" dirty="0"/>
          </a:p>
        </p:txBody>
      </p:sp>
      <p:sp>
        <p:nvSpPr>
          <p:cNvPr id="5" name="Text 3"/>
          <p:cNvSpPr txBox="1"/>
          <p:nvPr/>
        </p:nvSpPr>
        <p:spPr>
          <a:xfrm>
            <a:off x="548640" y="6419088"/>
            <a:ext cx="4572000" cy="228600"/>
          </a:xfrm>
          <a:prstGeom prst="rect">
            <a:avLst/>
          </a:prstGeom>
          <a:noFill/>
          <a:ln/>
        </p:spPr>
        <p:txBody>
          <a:bodyPr wrap="square" lIns="0" tIns="0" rIns="0" bIns="0" rtlCol="0" anchor="ctr"/>
          <a:lstStyle/>
          <a:p>
            <a:pPr indent="0" marL="0">
              <a:buNone/>
            </a:pPr>
            <a:r>
              <a:rPr lang="en-US" sz="1000" dirty="0">
                <a:solidFill>
                  <a:srgbClr val="8A97A5"/>
                </a:solidFill>
                <a:latin typeface="Calibri" pitchFamily="34" charset="0"/>
                <a:ea typeface="Calibri" pitchFamily="34" charset="-122"/>
                <a:cs typeface="Calibri" pitchFamily="34" charset="-120"/>
              </a:rPr>
              <a:t>Acute poort en Hotfloor</a:t>
            </a:r>
            <a:endParaRPr lang="en-US" sz="1000" dirty="0"/>
          </a:p>
        </p:txBody>
      </p:sp>
      <p:sp>
        <p:nvSpPr>
          <p:cNvPr id="6" name="Text 4"/>
          <p:cNvSpPr txBox="1"/>
          <p:nvPr/>
        </p:nvSpPr>
        <p:spPr>
          <a:xfrm>
            <a:off x="11091672" y="6419088"/>
            <a:ext cx="548640" cy="228600"/>
          </a:xfrm>
          <a:prstGeom prst="rect">
            <a:avLst/>
          </a:prstGeom>
          <a:noFill/>
          <a:ln/>
        </p:spPr>
        <p:txBody>
          <a:bodyPr wrap="square" lIns="0" tIns="0" rIns="0" bIns="0" rtlCol="0" anchor="ctr"/>
          <a:lstStyle/>
          <a:p>
            <a:pPr algn="r" indent="0" marL="0">
              <a:buNone/>
            </a:pPr>
            <a:r>
              <a:rPr lang="en-US" sz="1000" dirty="0">
                <a:solidFill>
                  <a:srgbClr val="8A97A5"/>
                </a:solidFill>
                <a:latin typeface="Calibri" pitchFamily="34" charset="0"/>
                <a:ea typeface="Calibri" pitchFamily="34" charset="-122"/>
                <a:cs typeface="Calibri" pitchFamily="34" charset="-120"/>
              </a:rPr>
              <a:t>12</a:t>
            </a:r>
            <a:endParaRPr lang="en-US" sz="1000" dirty="0"/>
          </a:p>
        </p:txBody>
      </p:sp>
      <p:sp>
        <p:nvSpPr>
          <p:cNvPr id="7" name="Shape 5"/>
          <p:cNvSpPr/>
          <p:nvPr/>
        </p:nvSpPr>
        <p:spPr>
          <a:xfrm>
            <a:off x="4727448" y="1920240"/>
            <a:ext cx="2743200" cy="685800"/>
          </a:xfrm>
          <a:prstGeom prst="roundRect">
            <a:avLst>
              <a:gd name="adj" fmla="val 13333"/>
            </a:avLst>
          </a:prstGeom>
          <a:solidFill>
            <a:srgbClr val="E07A1F"/>
          </a:solidFill>
          <a:ln w="12700">
            <a:solidFill>
              <a:srgbClr val="E07A1F"/>
            </a:solidFill>
            <a:prstDash val="solid"/>
          </a:ln>
        </p:spPr>
      </p:sp>
      <p:sp>
        <p:nvSpPr>
          <p:cNvPr id="8" name="Text 6"/>
          <p:cNvSpPr txBox="1"/>
          <p:nvPr/>
        </p:nvSpPr>
        <p:spPr>
          <a:xfrm>
            <a:off x="4727448" y="1920240"/>
            <a:ext cx="2743200" cy="685800"/>
          </a:xfrm>
          <a:prstGeom prst="rect">
            <a:avLst/>
          </a:prstGeom>
          <a:noFill/>
          <a:ln/>
        </p:spPr>
        <p:txBody>
          <a:bodyPr wrap="square" lIns="635" tIns="635" rIns="635" bIns="635"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EHH</a:t>
            </a:r>
            <a:endParaRPr lang="en-US" sz="2400" dirty="0"/>
          </a:p>
        </p:txBody>
      </p:sp>
      <p:sp>
        <p:nvSpPr>
          <p:cNvPr id="9" name="Shape 7"/>
          <p:cNvSpPr/>
          <p:nvPr/>
        </p:nvSpPr>
        <p:spPr>
          <a:xfrm>
            <a:off x="548640" y="2926080"/>
            <a:ext cx="5440680" cy="2423160"/>
          </a:xfrm>
          <a:prstGeom prst="roundRect">
            <a:avLst>
              <a:gd name="adj" fmla="val 4528"/>
            </a:avLst>
          </a:prstGeom>
          <a:solidFill>
            <a:srgbClr val="DCEFF1"/>
          </a:solidFill>
          <a:ln w="12700">
            <a:solidFill>
              <a:srgbClr val="DCEFF1"/>
            </a:solidFill>
            <a:prstDash val="solid"/>
          </a:ln>
        </p:spPr>
      </p:sp>
      <p:sp>
        <p:nvSpPr>
          <p:cNvPr id="10" name="Text 8"/>
          <p:cNvSpPr txBox="1"/>
          <p:nvPr/>
        </p:nvSpPr>
        <p:spPr>
          <a:xfrm>
            <a:off x="822960" y="3063240"/>
            <a:ext cx="2743200" cy="228600"/>
          </a:xfrm>
          <a:prstGeom prst="rect">
            <a:avLst/>
          </a:prstGeom>
          <a:noFill/>
          <a:ln/>
        </p:spPr>
        <p:txBody>
          <a:bodyPr wrap="square" lIns="0" tIns="0" rIns="0" bIns="0" rtlCol="0" anchor="ctr"/>
          <a:lstStyle/>
          <a:p>
            <a:pPr indent="0" marL="0">
              <a:buNone/>
            </a:pPr>
            <a:r>
              <a:rPr lang="en-US" sz="1000" b="1" spc="200" kern="0" dirty="0">
                <a:solidFill>
                  <a:srgbClr val="5F6E7F"/>
                </a:solidFill>
                <a:latin typeface="Calibri" pitchFamily="34" charset="0"/>
                <a:ea typeface="Calibri" pitchFamily="34" charset="-122"/>
                <a:cs typeface="Calibri" pitchFamily="34" charset="-120"/>
              </a:rPr>
              <a:t>OPTIE 1</a:t>
            </a:r>
            <a:endParaRPr lang="en-US" sz="1000" dirty="0"/>
          </a:p>
        </p:txBody>
      </p:sp>
      <p:sp>
        <p:nvSpPr>
          <p:cNvPr id="11" name="Text 9"/>
          <p:cNvSpPr txBox="1"/>
          <p:nvPr/>
        </p:nvSpPr>
        <p:spPr>
          <a:xfrm>
            <a:off x="822960" y="3291840"/>
            <a:ext cx="4937760" cy="411480"/>
          </a:xfrm>
          <a:prstGeom prst="rect">
            <a:avLst/>
          </a:prstGeom>
          <a:noFill/>
          <a:ln/>
        </p:spPr>
        <p:txBody>
          <a:bodyPr wrap="square" lIns="0" tIns="0" rIns="0" bIns="0" rtlCol="0" anchor="ctr"/>
          <a:lstStyle/>
          <a:p>
            <a:pPr indent="0" marL="0">
              <a:buNone/>
            </a:pPr>
            <a:r>
              <a:rPr lang="en-US" sz="2200" b="1" dirty="0">
                <a:solidFill>
                  <a:srgbClr val="0E7C86"/>
                </a:solidFill>
                <a:latin typeface="Calibri" pitchFamily="34" charset="0"/>
                <a:ea typeface="Calibri" pitchFamily="34" charset="-122"/>
                <a:cs typeface="Calibri" pitchFamily="34" charset="-120"/>
              </a:rPr>
              <a:t>Bij de acute poort</a:t>
            </a:r>
            <a:endParaRPr lang="en-US" sz="2200" dirty="0"/>
          </a:p>
        </p:txBody>
      </p:sp>
      <p:sp>
        <p:nvSpPr>
          <p:cNvPr id="12" name="Text 10"/>
          <p:cNvSpPr txBox="1"/>
          <p:nvPr/>
        </p:nvSpPr>
        <p:spPr>
          <a:xfrm>
            <a:off x="822960" y="3794760"/>
            <a:ext cx="4937760" cy="640080"/>
          </a:xfrm>
          <a:prstGeom prst="rect">
            <a:avLst/>
          </a:prstGeom>
          <a:noFill/>
          <a:ln/>
        </p:spPr>
        <p:txBody>
          <a:bodyPr wrap="square" lIns="0" tIns="0" rIns="0" bIns="0" rtlCol="0" anchor="ctr"/>
          <a:lstStyle/>
          <a:p>
            <a:pPr indent="0" marL="0">
              <a:buNone/>
            </a:pPr>
            <a:r>
              <a:rPr lang="en-US" sz="1400" dirty="0">
                <a:solidFill>
                  <a:srgbClr val="12283A"/>
                </a:solidFill>
                <a:latin typeface="Calibri" pitchFamily="34" charset="0"/>
                <a:ea typeface="Calibri" pitchFamily="34" charset="-122"/>
                <a:cs typeface="Calibri" pitchFamily="34" charset="-120"/>
              </a:rPr>
              <a:t>De EHH telt mee in de plekken van de acute poort, die nu al krap is.</a:t>
            </a:r>
            <a:endParaRPr lang="en-US" sz="1400" dirty="0"/>
          </a:p>
        </p:txBody>
      </p:sp>
      <p:sp>
        <p:nvSpPr>
          <p:cNvPr id="13" name="Text 11"/>
          <p:cNvSpPr txBox="1"/>
          <p:nvPr/>
        </p:nvSpPr>
        <p:spPr>
          <a:xfrm>
            <a:off x="822960" y="4480560"/>
            <a:ext cx="4937760" cy="777240"/>
          </a:xfrm>
          <a:prstGeom prst="rect">
            <a:avLst/>
          </a:prstGeom>
          <a:noFill/>
          <a:ln/>
        </p:spPr>
        <p:txBody>
          <a:bodyPr wrap="square" lIns="0" tIns="0" rIns="0" bIns="0" rtlCol="0" anchor="ctr"/>
          <a:lstStyle/>
          <a:p>
            <a:pPr indent="0" marL="0">
              <a:buNone/>
            </a:pPr>
            <a:r>
              <a:rPr lang="en-US" sz="1200" dirty="0">
                <a:solidFill>
                  <a:srgbClr val="5F6E7F"/>
                </a:solidFill>
                <a:latin typeface="Calibri" pitchFamily="34" charset="0"/>
                <a:ea typeface="Calibri" pitchFamily="34" charset="-122"/>
                <a:cs typeface="Calibri" pitchFamily="34" charset="-120"/>
              </a:rPr>
              <a:t>Acute cardiopatiënten op een EHH-bed in plaats van een SEH-bed: dat geeft lucht op de 18 SEH-kamers.</a:t>
            </a:r>
            <a:endParaRPr lang="en-US" sz="1200" dirty="0"/>
          </a:p>
        </p:txBody>
      </p:sp>
      <p:sp>
        <p:nvSpPr>
          <p:cNvPr id="14" name="Shape 12"/>
          <p:cNvSpPr/>
          <p:nvPr/>
        </p:nvSpPr>
        <p:spPr>
          <a:xfrm>
            <a:off x="6199632" y="2926080"/>
            <a:ext cx="5440680" cy="2423160"/>
          </a:xfrm>
          <a:prstGeom prst="roundRect">
            <a:avLst>
              <a:gd name="adj" fmla="val 4528"/>
            </a:avLst>
          </a:prstGeom>
          <a:solidFill>
            <a:srgbClr val="E2E6F5"/>
          </a:solidFill>
          <a:ln w="12700">
            <a:solidFill>
              <a:srgbClr val="E2E6F5"/>
            </a:solidFill>
            <a:prstDash val="solid"/>
          </a:ln>
        </p:spPr>
      </p:sp>
      <p:sp>
        <p:nvSpPr>
          <p:cNvPr id="15" name="Text 13"/>
          <p:cNvSpPr txBox="1"/>
          <p:nvPr/>
        </p:nvSpPr>
        <p:spPr>
          <a:xfrm>
            <a:off x="6473952" y="3063240"/>
            <a:ext cx="2743200" cy="228600"/>
          </a:xfrm>
          <a:prstGeom prst="rect">
            <a:avLst/>
          </a:prstGeom>
          <a:noFill/>
          <a:ln/>
        </p:spPr>
        <p:txBody>
          <a:bodyPr wrap="square" lIns="0" tIns="0" rIns="0" bIns="0" rtlCol="0" anchor="ctr"/>
          <a:lstStyle/>
          <a:p>
            <a:pPr indent="0" marL="0">
              <a:buNone/>
            </a:pPr>
            <a:r>
              <a:rPr lang="en-US" sz="1000" b="1" spc="200" kern="0" dirty="0">
                <a:solidFill>
                  <a:srgbClr val="5F6E7F"/>
                </a:solidFill>
                <a:latin typeface="Calibri" pitchFamily="34" charset="0"/>
                <a:ea typeface="Calibri" pitchFamily="34" charset="-122"/>
                <a:cs typeface="Calibri" pitchFamily="34" charset="-120"/>
              </a:rPr>
              <a:t>OPTIE 2</a:t>
            </a:r>
            <a:endParaRPr lang="en-US" sz="1000" dirty="0"/>
          </a:p>
        </p:txBody>
      </p:sp>
      <p:sp>
        <p:nvSpPr>
          <p:cNvPr id="16" name="Text 14"/>
          <p:cNvSpPr txBox="1"/>
          <p:nvPr/>
        </p:nvSpPr>
        <p:spPr>
          <a:xfrm>
            <a:off x="6473952" y="3291840"/>
            <a:ext cx="4937760" cy="411480"/>
          </a:xfrm>
          <a:prstGeom prst="rect">
            <a:avLst/>
          </a:prstGeom>
          <a:noFill/>
          <a:ln/>
        </p:spPr>
        <p:txBody>
          <a:bodyPr wrap="square" lIns="0" tIns="0" rIns="0" bIns="0" rtlCol="0" anchor="ctr"/>
          <a:lstStyle/>
          <a:p>
            <a:pPr indent="0" marL="0">
              <a:buNone/>
            </a:pPr>
            <a:r>
              <a:rPr lang="en-US" sz="2200" b="1" dirty="0">
                <a:solidFill>
                  <a:srgbClr val="3F4F9B"/>
                </a:solidFill>
                <a:latin typeface="Calibri" pitchFamily="34" charset="0"/>
                <a:ea typeface="Calibri" pitchFamily="34" charset="-122"/>
                <a:cs typeface="Calibri" pitchFamily="34" charset="-120"/>
              </a:rPr>
              <a:t>Bij de Hotfloor</a:t>
            </a:r>
            <a:endParaRPr lang="en-US" sz="2200" dirty="0"/>
          </a:p>
        </p:txBody>
      </p:sp>
      <p:sp>
        <p:nvSpPr>
          <p:cNvPr id="17" name="Text 15"/>
          <p:cNvSpPr txBox="1"/>
          <p:nvPr/>
        </p:nvSpPr>
        <p:spPr>
          <a:xfrm>
            <a:off x="6473952" y="3794760"/>
            <a:ext cx="4937760" cy="640080"/>
          </a:xfrm>
          <a:prstGeom prst="rect">
            <a:avLst/>
          </a:prstGeom>
          <a:noFill/>
          <a:ln/>
        </p:spPr>
        <p:txBody>
          <a:bodyPr wrap="square" lIns="0" tIns="0" rIns="0" bIns="0" rtlCol="0" anchor="ctr"/>
          <a:lstStyle/>
          <a:p>
            <a:pPr indent="0" marL="0">
              <a:buNone/>
            </a:pPr>
            <a:r>
              <a:rPr lang="en-US" sz="1400" dirty="0">
                <a:solidFill>
                  <a:srgbClr val="12283A"/>
                </a:solidFill>
                <a:latin typeface="Calibri" pitchFamily="34" charset="0"/>
                <a:ea typeface="Calibri" pitchFamily="34" charset="-122"/>
                <a:cs typeface="Calibri" pitchFamily="34" charset="-120"/>
              </a:rPr>
              <a:t>De EHH komt bij de zestien bedden, en het personeel komt van de ICU of de CCU.</a:t>
            </a:r>
            <a:endParaRPr lang="en-US" sz="1400" dirty="0"/>
          </a:p>
        </p:txBody>
      </p:sp>
      <p:sp>
        <p:nvSpPr>
          <p:cNvPr id="18" name="Text 16"/>
          <p:cNvSpPr txBox="1"/>
          <p:nvPr/>
        </p:nvSpPr>
        <p:spPr>
          <a:xfrm>
            <a:off x="6473952" y="4480560"/>
            <a:ext cx="4937760" cy="777240"/>
          </a:xfrm>
          <a:prstGeom prst="rect">
            <a:avLst/>
          </a:prstGeom>
          <a:noFill/>
          <a:ln/>
        </p:spPr>
        <p:txBody>
          <a:bodyPr wrap="square" lIns="0" tIns="0" rIns="0" bIns="0" rtlCol="0" anchor="ctr"/>
          <a:lstStyle/>
          <a:p>
            <a:pPr indent="0" marL="0">
              <a:buNone/>
            </a:pPr>
            <a:r>
              <a:rPr lang="en-US" sz="1200" dirty="0">
                <a:solidFill>
                  <a:srgbClr val="5F6E7F"/>
                </a:solidFill>
                <a:latin typeface="Calibri" pitchFamily="34" charset="0"/>
                <a:ea typeface="Calibri" pitchFamily="34" charset="-122"/>
                <a:cs typeface="Calibri" pitchFamily="34" charset="-120"/>
              </a:rPr>
              <a:t>De Hotfloor blijft één cluster voor bewakingszorg, maar de zestien bedden worden gedeeld met de EHH.</a:t>
            </a:r>
            <a:endParaRPr lang="en-US" sz="1200" dirty="0"/>
          </a:p>
        </p:txBody>
      </p:sp>
      <p:sp>
        <p:nvSpPr>
          <p:cNvPr id="19" name="Shape 17"/>
          <p:cNvSpPr/>
          <p:nvPr/>
        </p:nvSpPr>
        <p:spPr>
          <a:xfrm>
            <a:off x="548640" y="5532120"/>
            <a:ext cx="11094415" cy="777240"/>
          </a:xfrm>
          <a:prstGeom prst="roundRect">
            <a:avLst>
              <a:gd name="adj" fmla="val 14118"/>
            </a:avLst>
          </a:prstGeom>
          <a:solidFill>
            <a:srgbClr val="FCE9D9"/>
          </a:solidFill>
          <a:ln w="12700">
            <a:solidFill>
              <a:srgbClr val="FCE9D9"/>
            </a:solidFill>
            <a:prstDash val="solid"/>
          </a:ln>
        </p:spPr>
      </p:sp>
      <p:sp>
        <p:nvSpPr>
          <p:cNvPr id="20" name="Text 18"/>
          <p:cNvSpPr txBox="1"/>
          <p:nvPr/>
        </p:nvSpPr>
        <p:spPr>
          <a:xfrm>
            <a:off x="822960" y="5641848"/>
            <a:ext cx="2926080" cy="548640"/>
          </a:xfrm>
          <a:prstGeom prst="rect">
            <a:avLst/>
          </a:prstGeom>
          <a:noFill/>
          <a:ln/>
        </p:spPr>
        <p:txBody>
          <a:bodyPr wrap="square" lIns="0" tIns="0" rIns="0" bIns="0" rtlCol="0" anchor="ctr"/>
          <a:lstStyle/>
          <a:p>
            <a:pPr indent="0" marL="0">
              <a:buNone/>
            </a:pPr>
            <a:r>
              <a:rPr lang="en-US" sz="1100" b="1" spc="200" kern="0" dirty="0">
                <a:solidFill>
                  <a:srgbClr val="E07A1F"/>
                </a:solidFill>
                <a:latin typeface="Calibri" pitchFamily="34" charset="0"/>
                <a:ea typeface="Calibri" pitchFamily="34" charset="-122"/>
                <a:cs typeface="Calibri" pitchFamily="34" charset="-120"/>
              </a:rPr>
              <a:t>WERKRICHTING</a:t>
            </a:r>
            <a:endParaRPr lang="en-US" sz="1100" dirty="0"/>
          </a:p>
        </p:txBody>
      </p:sp>
      <p:sp>
        <p:nvSpPr>
          <p:cNvPr id="21" name="Text 19"/>
          <p:cNvSpPr txBox="1"/>
          <p:nvPr/>
        </p:nvSpPr>
        <p:spPr>
          <a:xfrm>
            <a:off x="3657600" y="5623560"/>
            <a:ext cx="7711135" cy="594360"/>
          </a:xfrm>
          <a:prstGeom prst="rect">
            <a:avLst/>
          </a:prstGeom>
          <a:noFill/>
          <a:ln/>
        </p:spPr>
        <p:txBody>
          <a:bodyPr wrap="square" lIns="0" tIns="0" rIns="0" bIns="0" rtlCol="0" anchor="ctr"/>
          <a:lstStyle/>
          <a:p>
            <a:pPr indent="0" marL="0">
              <a:buNone/>
            </a:pPr>
            <a:r>
              <a:rPr lang="en-US" sz="1400" dirty="0">
                <a:solidFill>
                  <a:srgbClr val="12283A"/>
                </a:solidFill>
                <a:latin typeface="Calibri" pitchFamily="34" charset="0"/>
                <a:ea typeface="Calibri" pitchFamily="34" charset="-122"/>
                <a:cs typeface="Calibri" pitchFamily="34" charset="-120"/>
              </a:rPr>
              <a:t>Voorlopig gaat de EHH mee naar de acute poort. Het belangrijkste vervolgpunt is het afkapmoment: wanneer gaat een patiënt van de EHH door naar de CCU?</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100" b="1" spc="200" kern="0" dirty="0">
                <a:solidFill>
                  <a:srgbClr val="5F6E7F"/>
                </a:solidFill>
                <a:latin typeface="Calibri" pitchFamily="34" charset="0"/>
                <a:ea typeface="Calibri" pitchFamily="34" charset="-122"/>
                <a:cs typeface="Calibri" pitchFamily="34" charset="-120"/>
              </a:rPr>
              <a:t>DEEL 4  ·  WAT MOET ER BESLOTEN WORDEN</a:t>
            </a:r>
            <a:endParaRPr lang="en-US" sz="11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200" b="1" dirty="0">
                <a:solidFill>
                  <a:srgbClr val="12283A"/>
                </a:solidFill>
                <a:latin typeface="Calibri" pitchFamily="34" charset="0"/>
                <a:ea typeface="Calibri" pitchFamily="34" charset="-122"/>
                <a:cs typeface="Calibri" pitchFamily="34" charset="-120"/>
              </a:rPr>
              <a:t>Zes besluiten waar de rest op wacht</a:t>
            </a:r>
            <a:endParaRPr lang="en-US" sz="3200" dirty="0"/>
          </a:p>
        </p:txBody>
      </p:sp>
      <p:sp>
        <p:nvSpPr>
          <p:cNvPr id="4" name="Text 2"/>
          <p:cNvSpPr txBox="1"/>
          <p:nvPr/>
        </p:nvSpPr>
        <p:spPr>
          <a:xfrm>
            <a:off x="548640" y="1298448"/>
            <a:ext cx="11064240" cy="365760"/>
          </a:xfrm>
          <a:prstGeom prst="rect">
            <a:avLst/>
          </a:prstGeom>
          <a:noFill/>
          <a:ln/>
        </p:spPr>
        <p:txBody>
          <a:bodyPr wrap="square" lIns="0" tIns="0" rIns="0" bIns="0" rtlCol="0" anchor="ctr"/>
          <a:lstStyle/>
          <a:p>
            <a:pPr indent="0" marL="0">
              <a:buNone/>
            </a:pPr>
            <a:r>
              <a:rPr lang="en-US" sz="1600" dirty="0">
                <a:solidFill>
                  <a:srgbClr val="5F6E7F"/>
                </a:solidFill>
                <a:latin typeface="Calibri" pitchFamily="34" charset="0"/>
                <a:ea typeface="Calibri" pitchFamily="34" charset="-122"/>
                <a:cs typeface="Calibri" pitchFamily="34" charset="-120"/>
              </a:rPr>
              <a:t>Drie blokkeren de onderbouwing van de personele inzet, drie zijn urgent</a:t>
            </a:r>
            <a:endParaRPr lang="en-US" sz="1600" dirty="0"/>
          </a:p>
        </p:txBody>
      </p:sp>
      <p:sp>
        <p:nvSpPr>
          <p:cNvPr id="5" name="Text 3"/>
          <p:cNvSpPr txBox="1"/>
          <p:nvPr/>
        </p:nvSpPr>
        <p:spPr>
          <a:xfrm>
            <a:off x="548640" y="6419088"/>
            <a:ext cx="4572000" cy="228600"/>
          </a:xfrm>
          <a:prstGeom prst="rect">
            <a:avLst/>
          </a:prstGeom>
          <a:noFill/>
          <a:ln/>
        </p:spPr>
        <p:txBody>
          <a:bodyPr wrap="square" lIns="0" tIns="0" rIns="0" bIns="0" rtlCol="0" anchor="ctr"/>
          <a:lstStyle/>
          <a:p>
            <a:pPr indent="0" marL="0">
              <a:buNone/>
            </a:pPr>
            <a:r>
              <a:rPr lang="en-US" sz="1000" dirty="0">
                <a:solidFill>
                  <a:srgbClr val="8A97A5"/>
                </a:solidFill>
                <a:latin typeface="Calibri" pitchFamily="34" charset="0"/>
                <a:ea typeface="Calibri" pitchFamily="34" charset="-122"/>
                <a:cs typeface="Calibri" pitchFamily="34" charset="-120"/>
              </a:rPr>
              <a:t>Acute poort en Hotfloor</a:t>
            </a:r>
            <a:endParaRPr lang="en-US" sz="1000" dirty="0"/>
          </a:p>
        </p:txBody>
      </p:sp>
      <p:sp>
        <p:nvSpPr>
          <p:cNvPr id="6" name="Text 4"/>
          <p:cNvSpPr txBox="1"/>
          <p:nvPr/>
        </p:nvSpPr>
        <p:spPr>
          <a:xfrm>
            <a:off x="11091672" y="6419088"/>
            <a:ext cx="548640" cy="228600"/>
          </a:xfrm>
          <a:prstGeom prst="rect">
            <a:avLst/>
          </a:prstGeom>
          <a:noFill/>
          <a:ln/>
        </p:spPr>
        <p:txBody>
          <a:bodyPr wrap="square" lIns="0" tIns="0" rIns="0" bIns="0" rtlCol="0" anchor="ctr"/>
          <a:lstStyle/>
          <a:p>
            <a:pPr algn="r" indent="0" marL="0">
              <a:buNone/>
            </a:pPr>
            <a:r>
              <a:rPr lang="en-US" sz="1000" dirty="0">
                <a:solidFill>
                  <a:srgbClr val="8A97A5"/>
                </a:solidFill>
                <a:latin typeface="Calibri" pitchFamily="34" charset="0"/>
                <a:ea typeface="Calibri" pitchFamily="34" charset="-122"/>
                <a:cs typeface="Calibri" pitchFamily="34" charset="-120"/>
              </a:rPr>
              <a:t>13</a:t>
            </a:r>
            <a:endParaRPr lang="en-US" sz="1000" dirty="0"/>
          </a:p>
        </p:txBody>
      </p:sp>
      <p:sp>
        <p:nvSpPr>
          <p:cNvPr id="7" name="Shape 5"/>
          <p:cNvSpPr/>
          <p:nvPr/>
        </p:nvSpPr>
        <p:spPr>
          <a:xfrm>
            <a:off x="548640" y="1920240"/>
            <a:ext cx="3566160" cy="1965960"/>
          </a:xfrm>
          <a:prstGeom prst="roundRect">
            <a:avLst>
              <a:gd name="adj" fmla="val 5581"/>
            </a:avLst>
          </a:prstGeom>
          <a:solidFill>
            <a:srgbClr val="F9E0DD"/>
          </a:solidFill>
          <a:ln w="12700">
            <a:solidFill>
              <a:srgbClr val="F9E0DD"/>
            </a:solidFill>
            <a:prstDash val="solid"/>
          </a:ln>
        </p:spPr>
      </p:sp>
      <p:sp>
        <p:nvSpPr>
          <p:cNvPr id="8" name="Shape 6"/>
          <p:cNvSpPr/>
          <p:nvPr/>
        </p:nvSpPr>
        <p:spPr>
          <a:xfrm>
            <a:off x="777240" y="2148840"/>
            <a:ext cx="548640" cy="548640"/>
          </a:xfrm>
          <a:prstGeom prst="ellipse">
            <a:avLst/>
          </a:prstGeom>
          <a:solidFill>
            <a:srgbClr val="C4392D"/>
          </a:solidFill>
          <a:ln w="12700">
            <a:solidFill>
              <a:srgbClr val="C4392D"/>
            </a:solidFill>
            <a:prstDash val="solid"/>
          </a:ln>
        </p:spPr>
      </p:sp>
      <p:sp>
        <p:nvSpPr>
          <p:cNvPr id="9" name="Text 7"/>
          <p:cNvSpPr txBox="1"/>
          <p:nvPr/>
        </p:nvSpPr>
        <p:spPr>
          <a:xfrm>
            <a:off x="777240" y="21488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0" name="Shape 8"/>
          <p:cNvSpPr/>
          <p:nvPr/>
        </p:nvSpPr>
        <p:spPr>
          <a:xfrm>
            <a:off x="2743200" y="2221992"/>
            <a:ext cx="1143000" cy="310896"/>
          </a:xfrm>
          <a:prstGeom prst="roundRect">
            <a:avLst>
              <a:gd name="adj" fmla="val 50000"/>
            </a:avLst>
          </a:prstGeom>
          <a:solidFill>
            <a:srgbClr val="C4392D"/>
          </a:solidFill>
          <a:ln w="12700">
            <a:solidFill>
              <a:srgbClr val="C4392D"/>
            </a:solidFill>
            <a:prstDash val="solid"/>
          </a:ln>
        </p:spPr>
      </p:sp>
      <p:sp>
        <p:nvSpPr>
          <p:cNvPr id="11" name="Text 9"/>
          <p:cNvSpPr txBox="1"/>
          <p:nvPr/>
        </p:nvSpPr>
        <p:spPr>
          <a:xfrm>
            <a:off x="2743200" y="2221992"/>
            <a:ext cx="114300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BLOKKEERT</a:t>
            </a:r>
            <a:endParaRPr lang="en-US" sz="900" dirty="0"/>
          </a:p>
        </p:txBody>
      </p:sp>
      <p:sp>
        <p:nvSpPr>
          <p:cNvPr id="12" name="Text 10"/>
          <p:cNvSpPr txBox="1"/>
          <p:nvPr/>
        </p:nvSpPr>
        <p:spPr>
          <a:xfrm>
            <a:off x="777240" y="2788920"/>
            <a:ext cx="3108960" cy="548640"/>
          </a:xfrm>
          <a:prstGeom prst="rect">
            <a:avLst/>
          </a:prstGeom>
          <a:noFill/>
          <a:ln/>
        </p:spPr>
        <p:txBody>
          <a:bodyPr wrap="square" lIns="0" tIns="0" rIns="0" bIns="0" rtlCol="0" anchor="t"/>
          <a:lstStyle/>
          <a:p>
            <a:pPr indent="0" marL="0">
              <a:buNone/>
            </a:pPr>
            <a:r>
              <a:rPr lang="en-US" sz="1500" b="1" dirty="0">
                <a:solidFill>
                  <a:srgbClr val="12283A"/>
                </a:solidFill>
                <a:latin typeface="Calibri" pitchFamily="34" charset="0"/>
                <a:ea typeface="Calibri" pitchFamily="34" charset="-122"/>
                <a:cs typeface="Calibri" pitchFamily="34" charset="-120"/>
              </a:rPr>
              <a:t>Waar hoort de EHH bij?</a:t>
            </a:r>
            <a:endParaRPr lang="en-US" sz="1500" dirty="0"/>
          </a:p>
        </p:txBody>
      </p:sp>
      <p:sp>
        <p:nvSpPr>
          <p:cNvPr id="13" name="Text 11"/>
          <p:cNvSpPr txBox="1"/>
          <p:nvPr/>
        </p:nvSpPr>
        <p:spPr>
          <a:xfrm>
            <a:off x="777240" y="3383280"/>
            <a:ext cx="3108960" cy="411480"/>
          </a:xfrm>
          <a:prstGeom prst="rect">
            <a:avLst/>
          </a:prstGeom>
          <a:noFill/>
          <a:ln/>
        </p:spPr>
        <p:txBody>
          <a:bodyPr wrap="square" lIns="0" tIns="0" rIns="0" bIns="0" rtlCol="0" anchor="t"/>
          <a:lstStyle/>
          <a:p>
            <a:pPr indent="0" marL="0">
              <a:buNone/>
            </a:pPr>
            <a:r>
              <a:rPr lang="en-US" sz="1100" dirty="0">
                <a:solidFill>
                  <a:srgbClr val="5F6E7F"/>
                </a:solidFill>
                <a:latin typeface="Calibri" pitchFamily="34" charset="0"/>
                <a:ea typeface="Calibri" pitchFamily="34" charset="-122"/>
                <a:cs typeface="Calibri" pitchFamily="34" charset="-120"/>
              </a:rPr>
              <a:t>acute poort of Hotfloor</a:t>
            </a:r>
            <a:endParaRPr lang="en-US" sz="1100" dirty="0"/>
          </a:p>
        </p:txBody>
      </p:sp>
      <p:sp>
        <p:nvSpPr>
          <p:cNvPr id="14" name="Shape 12"/>
          <p:cNvSpPr/>
          <p:nvPr/>
        </p:nvSpPr>
        <p:spPr>
          <a:xfrm>
            <a:off x="4297680" y="1920240"/>
            <a:ext cx="3566160" cy="1965960"/>
          </a:xfrm>
          <a:prstGeom prst="roundRect">
            <a:avLst>
              <a:gd name="adj" fmla="val 5581"/>
            </a:avLst>
          </a:prstGeom>
          <a:solidFill>
            <a:srgbClr val="F9E0DD"/>
          </a:solidFill>
          <a:ln w="12700">
            <a:solidFill>
              <a:srgbClr val="F9E0DD"/>
            </a:solidFill>
            <a:prstDash val="solid"/>
          </a:ln>
        </p:spPr>
      </p:sp>
      <p:sp>
        <p:nvSpPr>
          <p:cNvPr id="15" name="Shape 13"/>
          <p:cNvSpPr/>
          <p:nvPr/>
        </p:nvSpPr>
        <p:spPr>
          <a:xfrm>
            <a:off x="4526280" y="2148840"/>
            <a:ext cx="548640" cy="548640"/>
          </a:xfrm>
          <a:prstGeom prst="ellipse">
            <a:avLst/>
          </a:prstGeom>
          <a:solidFill>
            <a:srgbClr val="C4392D"/>
          </a:solidFill>
          <a:ln w="12700">
            <a:solidFill>
              <a:srgbClr val="C4392D"/>
            </a:solidFill>
            <a:prstDash val="solid"/>
          </a:ln>
        </p:spPr>
      </p:sp>
      <p:sp>
        <p:nvSpPr>
          <p:cNvPr id="16" name="Text 14"/>
          <p:cNvSpPr txBox="1"/>
          <p:nvPr/>
        </p:nvSpPr>
        <p:spPr>
          <a:xfrm>
            <a:off x="4526280" y="21488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hape 15"/>
          <p:cNvSpPr/>
          <p:nvPr/>
        </p:nvSpPr>
        <p:spPr>
          <a:xfrm>
            <a:off x="6492240" y="2221992"/>
            <a:ext cx="1143000" cy="310896"/>
          </a:xfrm>
          <a:prstGeom prst="roundRect">
            <a:avLst>
              <a:gd name="adj" fmla="val 50000"/>
            </a:avLst>
          </a:prstGeom>
          <a:solidFill>
            <a:srgbClr val="C4392D"/>
          </a:solidFill>
          <a:ln w="12700">
            <a:solidFill>
              <a:srgbClr val="C4392D"/>
            </a:solidFill>
            <a:prstDash val="solid"/>
          </a:ln>
        </p:spPr>
      </p:sp>
      <p:sp>
        <p:nvSpPr>
          <p:cNvPr id="18" name="Text 16"/>
          <p:cNvSpPr txBox="1"/>
          <p:nvPr/>
        </p:nvSpPr>
        <p:spPr>
          <a:xfrm>
            <a:off x="6492240" y="2221992"/>
            <a:ext cx="114300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BLOKKEERT</a:t>
            </a:r>
            <a:endParaRPr lang="en-US" sz="900" dirty="0"/>
          </a:p>
        </p:txBody>
      </p:sp>
      <p:sp>
        <p:nvSpPr>
          <p:cNvPr id="19" name="Text 17"/>
          <p:cNvSpPr txBox="1"/>
          <p:nvPr/>
        </p:nvSpPr>
        <p:spPr>
          <a:xfrm>
            <a:off x="4526280" y="2788920"/>
            <a:ext cx="3108960" cy="548640"/>
          </a:xfrm>
          <a:prstGeom prst="rect">
            <a:avLst/>
          </a:prstGeom>
          <a:noFill/>
          <a:ln/>
        </p:spPr>
        <p:txBody>
          <a:bodyPr wrap="square" lIns="0" tIns="0" rIns="0" bIns="0" rtlCol="0" anchor="t"/>
          <a:lstStyle/>
          <a:p>
            <a:pPr indent="0" marL="0">
              <a:buNone/>
            </a:pPr>
            <a:r>
              <a:rPr lang="en-US" sz="1500" b="1" dirty="0">
                <a:solidFill>
                  <a:srgbClr val="12283A"/>
                </a:solidFill>
                <a:latin typeface="Calibri" pitchFamily="34" charset="0"/>
                <a:ea typeface="Calibri" pitchFamily="34" charset="-122"/>
                <a:cs typeface="Calibri" pitchFamily="34" charset="-120"/>
              </a:rPr>
              <a:t>Hoeveel plekken krijgt de acute poort?</a:t>
            </a:r>
            <a:endParaRPr lang="en-US" sz="1500" dirty="0"/>
          </a:p>
        </p:txBody>
      </p:sp>
      <p:sp>
        <p:nvSpPr>
          <p:cNvPr id="20" name="Text 18"/>
          <p:cNvSpPr txBox="1"/>
          <p:nvPr/>
        </p:nvSpPr>
        <p:spPr>
          <a:xfrm>
            <a:off x="4526280" y="3383280"/>
            <a:ext cx="3108960" cy="411480"/>
          </a:xfrm>
          <a:prstGeom prst="rect">
            <a:avLst/>
          </a:prstGeom>
          <a:noFill/>
          <a:ln/>
        </p:spPr>
        <p:txBody>
          <a:bodyPr wrap="square" lIns="0" tIns="0" rIns="0" bIns="0" rtlCol="0" anchor="t"/>
          <a:lstStyle/>
          <a:p>
            <a:pPr indent="0" marL="0">
              <a:buNone/>
            </a:pPr>
            <a:r>
              <a:rPr lang="en-US" sz="1100" dirty="0">
                <a:solidFill>
                  <a:srgbClr val="5F6E7F"/>
                </a:solidFill>
                <a:latin typeface="Calibri" pitchFamily="34" charset="0"/>
                <a:ea typeface="Calibri" pitchFamily="34" charset="-122"/>
                <a:cs typeface="Calibri" pitchFamily="34" charset="-120"/>
              </a:rPr>
              <a:t>drie stromen passen nu niet achter één poort</a:t>
            </a:r>
            <a:endParaRPr lang="en-US" sz="1100" dirty="0"/>
          </a:p>
        </p:txBody>
      </p:sp>
      <p:sp>
        <p:nvSpPr>
          <p:cNvPr id="21" name="Shape 19"/>
          <p:cNvSpPr/>
          <p:nvPr/>
        </p:nvSpPr>
        <p:spPr>
          <a:xfrm>
            <a:off x="8046720" y="1920240"/>
            <a:ext cx="3566160" cy="1965960"/>
          </a:xfrm>
          <a:prstGeom prst="roundRect">
            <a:avLst>
              <a:gd name="adj" fmla="val 5581"/>
            </a:avLst>
          </a:prstGeom>
          <a:solidFill>
            <a:srgbClr val="F9E0DD"/>
          </a:solidFill>
          <a:ln w="12700">
            <a:solidFill>
              <a:srgbClr val="F9E0DD"/>
            </a:solidFill>
            <a:prstDash val="solid"/>
          </a:ln>
        </p:spPr>
      </p:sp>
      <p:sp>
        <p:nvSpPr>
          <p:cNvPr id="22" name="Shape 20"/>
          <p:cNvSpPr/>
          <p:nvPr/>
        </p:nvSpPr>
        <p:spPr>
          <a:xfrm>
            <a:off x="8275320" y="2148840"/>
            <a:ext cx="548640" cy="548640"/>
          </a:xfrm>
          <a:prstGeom prst="ellipse">
            <a:avLst/>
          </a:prstGeom>
          <a:solidFill>
            <a:srgbClr val="C4392D"/>
          </a:solidFill>
          <a:ln w="12700">
            <a:solidFill>
              <a:srgbClr val="C4392D"/>
            </a:solidFill>
            <a:prstDash val="solid"/>
          </a:ln>
        </p:spPr>
      </p:sp>
      <p:sp>
        <p:nvSpPr>
          <p:cNvPr id="23" name="Text 21"/>
          <p:cNvSpPr txBox="1"/>
          <p:nvPr/>
        </p:nvSpPr>
        <p:spPr>
          <a:xfrm>
            <a:off x="8275320" y="21488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4" name="Shape 22"/>
          <p:cNvSpPr/>
          <p:nvPr/>
        </p:nvSpPr>
        <p:spPr>
          <a:xfrm>
            <a:off x="10241280" y="2221992"/>
            <a:ext cx="1143000" cy="310896"/>
          </a:xfrm>
          <a:prstGeom prst="roundRect">
            <a:avLst>
              <a:gd name="adj" fmla="val 50000"/>
            </a:avLst>
          </a:prstGeom>
          <a:solidFill>
            <a:srgbClr val="C4392D"/>
          </a:solidFill>
          <a:ln w="12700">
            <a:solidFill>
              <a:srgbClr val="C4392D"/>
            </a:solidFill>
            <a:prstDash val="solid"/>
          </a:ln>
        </p:spPr>
      </p:sp>
      <p:sp>
        <p:nvSpPr>
          <p:cNvPr id="25" name="Text 23"/>
          <p:cNvSpPr txBox="1"/>
          <p:nvPr/>
        </p:nvSpPr>
        <p:spPr>
          <a:xfrm>
            <a:off x="10241280" y="2221992"/>
            <a:ext cx="114300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BLOKKEERT</a:t>
            </a:r>
            <a:endParaRPr lang="en-US" sz="900" dirty="0"/>
          </a:p>
        </p:txBody>
      </p:sp>
      <p:sp>
        <p:nvSpPr>
          <p:cNvPr id="26" name="Text 24"/>
          <p:cNvSpPr txBox="1"/>
          <p:nvPr/>
        </p:nvSpPr>
        <p:spPr>
          <a:xfrm>
            <a:off x="8275320" y="2788920"/>
            <a:ext cx="3108960" cy="548640"/>
          </a:xfrm>
          <a:prstGeom prst="rect">
            <a:avLst/>
          </a:prstGeom>
          <a:noFill/>
          <a:ln/>
        </p:spPr>
        <p:txBody>
          <a:bodyPr wrap="square" lIns="0" tIns="0" rIns="0" bIns="0" rtlCol="0" anchor="t"/>
          <a:lstStyle/>
          <a:p>
            <a:pPr indent="0" marL="0">
              <a:buNone/>
            </a:pPr>
            <a:r>
              <a:rPr lang="en-US" sz="1500" b="1" dirty="0">
                <a:solidFill>
                  <a:srgbClr val="12283A"/>
                </a:solidFill>
                <a:latin typeface="Calibri" pitchFamily="34" charset="0"/>
                <a:ea typeface="Calibri" pitchFamily="34" charset="-122"/>
                <a:cs typeface="Calibri" pitchFamily="34" charset="-120"/>
              </a:rPr>
              <a:t>Wie stelt de norm verpleegkundigen vast?</a:t>
            </a:r>
            <a:endParaRPr lang="en-US" sz="1500" dirty="0"/>
          </a:p>
        </p:txBody>
      </p:sp>
      <p:sp>
        <p:nvSpPr>
          <p:cNvPr id="27" name="Text 25"/>
          <p:cNvSpPr txBox="1"/>
          <p:nvPr/>
        </p:nvSpPr>
        <p:spPr>
          <a:xfrm>
            <a:off x="8275320" y="3383280"/>
            <a:ext cx="3108960" cy="411480"/>
          </a:xfrm>
          <a:prstGeom prst="rect">
            <a:avLst/>
          </a:prstGeom>
          <a:noFill/>
          <a:ln/>
        </p:spPr>
        <p:txBody>
          <a:bodyPr wrap="square" lIns="0" tIns="0" rIns="0" bIns="0" rtlCol="0" anchor="t"/>
          <a:lstStyle/>
          <a:p>
            <a:pPr indent="0" marL="0">
              <a:buNone/>
            </a:pPr>
            <a:r>
              <a:rPr lang="en-US" sz="1100" dirty="0">
                <a:solidFill>
                  <a:srgbClr val="5F6E7F"/>
                </a:solidFill>
                <a:latin typeface="Calibri" pitchFamily="34" charset="0"/>
                <a:ea typeface="Calibri" pitchFamily="34" charset="-122"/>
                <a:cs typeface="Calibri" pitchFamily="34" charset="-120"/>
              </a:rPr>
              <a:t>Remco, of wij met een voorstel</a:t>
            </a:r>
            <a:endParaRPr lang="en-US" sz="1100" dirty="0"/>
          </a:p>
        </p:txBody>
      </p:sp>
      <p:sp>
        <p:nvSpPr>
          <p:cNvPr id="28" name="Shape 26"/>
          <p:cNvSpPr/>
          <p:nvPr/>
        </p:nvSpPr>
        <p:spPr>
          <a:xfrm>
            <a:off x="548640" y="4069080"/>
            <a:ext cx="3566160" cy="1965960"/>
          </a:xfrm>
          <a:prstGeom prst="roundRect">
            <a:avLst>
              <a:gd name="adj" fmla="val 5581"/>
            </a:avLst>
          </a:prstGeom>
          <a:solidFill>
            <a:srgbClr val="FCE9D9"/>
          </a:solidFill>
          <a:ln w="12700">
            <a:solidFill>
              <a:srgbClr val="FCE9D9"/>
            </a:solidFill>
            <a:prstDash val="solid"/>
          </a:ln>
        </p:spPr>
      </p:sp>
      <p:sp>
        <p:nvSpPr>
          <p:cNvPr id="29" name="Shape 27"/>
          <p:cNvSpPr/>
          <p:nvPr/>
        </p:nvSpPr>
        <p:spPr>
          <a:xfrm>
            <a:off x="777240" y="4297680"/>
            <a:ext cx="548640" cy="548640"/>
          </a:xfrm>
          <a:prstGeom prst="ellipse">
            <a:avLst/>
          </a:prstGeom>
          <a:solidFill>
            <a:srgbClr val="E07A1F"/>
          </a:solidFill>
          <a:ln w="12700">
            <a:solidFill>
              <a:srgbClr val="E07A1F"/>
            </a:solidFill>
            <a:prstDash val="solid"/>
          </a:ln>
        </p:spPr>
      </p:sp>
      <p:sp>
        <p:nvSpPr>
          <p:cNvPr id="30" name="Text 28"/>
          <p:cNvSpPr txBox="1"/>
          <p:nvPr/>
        </p:nvSpPr>
        <p:spPr>
          <a:xfrm>
            <a:off x="777240" y="42976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31" name="Shape 29"/>
          <p:cNvSpPr/>
          <p:nvPr/>
        </p:nvSpPr>
        <p:spPr>
          <a:xfrm>
            <a:off x="2743200" y="4370832"/>
            <a:ext cx="1143000" cy="310896"/>
          </a:xfrm>
          <a:prstGeom prst="roundRect">
            <a:avLst>
              <a:gd name="adj" fmla="val 50000"/>
            </a:avLst>
          </a:prstGeom>
          <a:solidFill>
            <a:srgbClr val="E07A1F"/>
          </a:solidFill>
          <a:ln w="12700">
            <a:solidFill>
              <a:srgbClr val="E07A1F"/>
            </a:solidFill>
            <a:prstDash val="solid"/>
          </a:ln>
        </p:spPr>
      </p:sp>
      <p:sp>
        <p:nvSpPr>
          <p:cNvPr id="32" name="Text 30"/>
          <p:cNvSpPr txBox="1"/>
          <p:nvPr/>
        </p:nvSpPr>
        <p:spPr>
          <a:xfrm>
            <a:off x="2743200" y="4370832"/>
            <a:ext cx="114300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URGENT</a:t>
            </a:r>
            <a:endParaRPr lang="en-US" sz="900" dirty="0"/>
          </a:p>
        </p:txBody>
      </p:sp>
      <p:sp>
        <p:nvSpPr>
          <p:cNvPr id="33" name="Text 31"/>
          <p:cNvSpPr txBox="1"/>
          <p:nvPr/>
        </p:nvSpPr>
        <p:spPr>
          <a:xfrm>
            <a:off x="777240" y="4937760"/>
            <a:ext cx="3108960" cy="548640"/>
          </a:xfrm>
          <a:prstGeom prst="rect">
            <a:avLst/>
          </a:prstGeom>
          <a:noFill/>
          <a:ln/>
        </p:spPr>
        <p:txBody>
          <a:bodyPr wrap="square" lIns="0" tIns="0" rIns="0" bIns="0" rtlCol="0" anchor="t"/>
          <a:lstStyle/>
          <a:p>
            <a:pPr indent="0" marL="0">
              <a:buNone/>
            </a:pPr>
            <a:r>
              <a:rPr lang="en-US" sz="1500" b="1" dirty="0">
                <a:solidFill>
                  <a:srgbClr val="12283A"/>
                </a:solidFill>
                <a:latin typeface="Calibri" pitchFamily="34" charset="0"/>
                <a:ea typeface="Calibri" pitchFamily="34" charset="-122"/>
                <a:cs typeface="Calibri" pitchFamily="34" charset="-120"/>
              </a:rPr>
              <a:t>Welk scenario kiezen we?</a:t>
            </a:r>
            <a:endParaRPr lang="en-US" sz="1500" dirty="0"/>
          </a:p>
        </p:txBody>
      </p:sp>
      <p:sp>
        <p:nvSpPr>
          <p:cNvPr id="34" name="Text 32"/>
          <p:cNvSpPr txBox="1"/>
          <p:nvPr/>
        </p:nvSpPr>
        <p:spPr>
          <a:xfrm>
            <a:off x="777240" y="5532120"/>
            <a:ext cx="3108960" cy="411480"/>
          </a:xfrm>
          <a:prstGeom prst="rect">
            <a:avLst/>
          </a:prstGeom>
          <a:noFill/>
          <a:ln/>
        </p:spPr>
        <p:txBody>
          <a:bodyPr wrap="square" lIns="0" tIns="0" rIns="0" bIns="0" rtlCol="0" anchor="t"/>
          <a:lstStyle/>
          <a:p>
            <a:pPr indent="0" marL="0">
              <a:buNone/>
            </a:pPr>
            <a:r>
              <a:rPr lang="en-US" sz="1100" dirty="0">
                <a:solidFill>
                  <a:srgbClr val="5F6E7F"/>
                </a:solidFill>
                <a:latin typeface="Calibri" pitchFamily="34" charset="0"/>
                <a:ea typeface="Calibri" pitchFamily="34" charset="-122"/>
                <a:cs typeface="Calibri" pitchFamily="34" charset="-120"/>
              </a:rPr>
              <a:t>vijf varianten, keuze op basis van BIC-data</a:t>
            </a:r>
            <a:endParaRPr lang="en-US" sz="1100" dirty="0"/>
          </a:p>
        </p:txBody>
      </p:sp>
      <p:sp>
        <p:nvSpPr>
          <p:cNvPr id="35" name="Shape 33"/>
          <p:cNvSpPr/>
          <p:nvPr/>
        </p:nvSpPr>
        <p:spPr>
          <a:xfrm>
            <a:off x="4297680" y="4069080"/>
            <a:ext cx="3566160" cy="1965960"/>
          </a:xfrm>
          <a:prstGeom prst="roundRect">
            <a:avLst>
              <a:gd name="adj" fmla="val 5581"/>
            </a:avLst>
          </a:prstGeom>
          <a:solidFill>
            <a:srgbClr val="FCE9D9"/>
          </a:solidFill>
          <a:ln w="12700">
            <a:solidFill>
              <a:srgbClr val="FCE9D9"/>
            </a:solidFill>
            <a:prstDash val="solid"/>
          </a:ln>
        </p:spPr>
      </p:sp>
      <p:sp>
        <p:nvSpPr>
          <p:cNvPr id="36" name="Shape 34"/>
          <p:cNvSpPr/>
          <p:nvPr/>
        </p:nvSpPr>
        <p:spPr>
          <a:xfrm>
            <a:off x="4526280" y="4297680"/>
            <a:ext cx="548640" cy="548640"/>
          </a:xfrm>
          <a:prstGeom prst="ellipse">
            <a:avLst/>
          </a:prstGeom>
          <a:solidFill>
            <a:srgbClr val="E07A1F"/>
          </a:solidFill>
          <a:ln w="12700">
            <a:solidFill>
              <a:srgbClr val="E07A1F"/>
            </a:solidFill>
            <a:prstDash val="solid"/>
          </a:ln>
        </p:spPr>
      </p:sp>
      <p:sp>
        <p:nvSpPr>
          <p:cNvPr id="37" name="Text 35"/>
          <p:cNvSpPr txBox="1"/>
          <p:nvPr/>
        </p:nvSpPr>
        <p:spPr>
          <a:xfrm>
            <a:off x="4526280" y="42976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38" name="Shape 36"/>
          <p:cNvSpPr/>
          <p:nvPr/>
        </p:nvSpPr>
        <p:spPr>
          <a:xfrm>
            <a:off x="6492240" y="4370832"/>
            <a:ext cx="1143000" cy="310896"/>
          </a:xfrm>
          <a:prstGeom prst="roundRect">
            <a:avLst>
              <a:gd name="adj" fmla="val 50000"/>
            </a:avLst>
          </a:prstGeom>
          <a:solidFill>
            <a:srgbClr val="E07A1F"/>
          </a:solidFill>
          <a:ln w="12700">
            <a:solidFill>
              <a:srgbClr val="E07A1F"/>
            </a:solidFill>
            <a:prstDash val="solid"/>
          </a:ln>
        </p:spPr>
      </p:sp>
      <p:sp>
        <p:nvSpPr>
          <p:cNvPr id="39" name="Text 37"/>
          <p:cNvSpPr txBox="1"/>
          <p:nvPr/>
        </p:nvSpPr>
        <p:spPr>
          <a:xfrm>
            <a:off x="6492240" y="4370832"/>
            <a:ext cx="114300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URGENT</a:t>
            </a:r>
            <a:endParaRPr lang="en-US" sz="900" dirty="0"/>
          </a:p>
        </p:txBody>
      </p:sp>
      <p:sp>
        <p:nvSpPr>
          <p:cNvPr id="40" name="Text 38"/>
          <p:cNvSpPr txBox="1"/>
          <p:nvPr/>
        </p:nvSpPr>
        <p:spPr>
          <a:xfrm>
            <a:off x="4526280" y="4937760"/>
            <a:ext cx="3108960" cy="548640"/>
          </a:xfrm>
          <a:prstGeom prst="rect">
            <a:avLst/>
          </a:prstGeom>
          <a:noFill/>
          <a:ln/>
        </p:spPr>
        <p:txBody>
          <a:bodyPr wrap="square" lIns="0" tIns="0" rIns="0" bIns="0" rtlCol="0" anchor="t"/>
          <a:lstStyle/>
          <a:p>
            <a:pPr indent="0" marL="0">
              <a:buNone/>
            </a:pPr>
            <a:r>
              <a:rPr lang="en-US" sz="1500" b="1" dirty="0">
                <a:solidFill>
                  <a:srgbClr val="12283A"/>
                </a:solidFill>
                <a:latin typeface="Calibri" pitchFamily="34" charset="0"/>
                <a:ea typeface="Calibri" pitchFamily="34" charset="-122"/>
                <a:cs typeface="Calibri" pitchFamily="34" charset="-120"/>
              </a:rPr>
              <a:t>Wat is de weigerkans bij 16 bedden?</a:t>
            </a:r>
            <a:endParaRPr lang="en-US" sz="1500" dirty="0"/>
          </a:p>
        </p:txBody>
      </p:sp>
      <p:sp>
        <p:nvSpPr>
          <p:cNvPr id="41" name="Text 39"/>
          <p:cNvSpPr txBox="1"/>
          <p:nvPr/>
        </p:nvSpPr>
        <p:spPr>
          <a:xfrm>
            <a:off x="4526280" y="5532120"/>
            <a:ext cx="3108960" cy="411480"/>
          </a:xfrm>
          <a:prstGeom prst="rect">
            <a:avLst/>
          </a:prstGeom>
          <a:noFill/>
          <a:ln/>
        </p:spPr>
        <p:txBody>
          <a:bodyPr wrap="square" lIns="0" tIns="0" rIns="0" bIns="0" rtlCol="0" anchor="t"/>
          <a:lstStyle/>
          <a:p>
            <a:pPr indent="0" marL="0">
              <a:buNone/>
            </a:pPr>
            <a:r>
              <a:rPr lang="en-US" sz="1100" dirty="0">
                <a:solidFill>
                  <a:srgbClr val="5F6E7F"/>
                </a:solidFill>
                <a:latin typeface="Calibri" pitchFamily="34" charset="0"/>
                <a:ea typeface="Calibri" pitchFamily="34" charset="-122"/>
                <a:cs typeface="Calibri" pitchFamily="34" charset="-120"/>
              </a:rPr>
              <a:t>de Hotfloor past, maar het risico is niet becijferd</a:t>
            </a:r>
            <a:endParaRPr lang="en-US" sz="1100" dirty="0"/>
          </a:p>
        </p:txBody>
      </p:sp>
      <p:sp>
        <p:nvSpPr>
          <p:cNvPr id="42" name="Shape 40"/>
          <p:cNvSpPr/>
          <p:nvPr/>
        </p:nvSpPr>
        <p:spPr>
          <a:xfrm>
            <a:off x="8046720" y="4069080"/>
            <a:ext cx="3566160" cy="1965960"/>
          </a:xfrm>
          <a:prstGeom prst="roundRect">
            <a:avLst>
              <a:gd name="adj" fmla="val 5581"/>
            </a:avLst>
          </a:prstGeom>
          <a:solidFill>
            <a:srgbClr val="FCE9D9"/>
          </a:solidFill>
          <a:ln w="12700">
            <a:solidFill>
              <a:srgbClr val="FCE9D9"/>
            </a:solidFill>
            <a:prstDash val="solid"/>
          </a:ln>
        </p:spPr>
      </p:sp>
      <p:sp>
        <p:nvSpPr>
          <p:cNvPr id="43" name="Shape 41"/>
          <p:cNvSpPr/>
          <p:nvPr/>
        </p:nvSpPr>
        <p:spPr>
          <a:xfrm>
            <a:off x="8275320" y="4297680"/>
            <a:ext cx="548640" cy="548640"/>
          </a:xfrm>
          <a:prstGeom prst="ellipse">
            <a:avLst/>
          </a:prstGeom>
          <a:solidFill>
            <a:srgbClr val="E07A1F"/>
          </a:solidFill>
          <a:ln w="12700">
            <a:solidFill>
              <a:srgbClr val="E07A1F"/>
            </a:solidFill>
            <a:prstDash val="solid"/>
          </a:ln>
        </p:spPr>
      </p:sp>
      <p:sp>
        <p:nvSpPr>
          <p:cNvPr id="44" name="Text 42"/>
          <p:cNvSpPr txBox="1"/>
          <p:nvPr/>
        </p:nvSpPr>
        <p:spPr>
          <a:xfrm>
            <a:off x="8275320" y="42976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45" name="Shape 43"/>
          <p:cNvSpPr/>
          <p:nvPr/>
        </p:nvSpPr>
        <p:spPr>
          <a:xfrm>
            <a:off x="10241280" y="4370832"/>
            <a:ext cx="1143000" cy="310896"/>
          </a:xfrm>
          <a:prstGeom prst="roundRect">
            <a:avLst>
              <a:gd name="adj" fmla="val 50000"/>
            </a:avLst>
          </a:prstGeom>
          <a:solidFill>
            <a:srgbClr val="E07A1F"/>
          </a:solidFill>
          <a:ln w="12700">
            <a:solidFill>
              <a:srgbClr val="E07A1F"/>
            </a:solidFill>
            <a:prstDash val="solid"/>
          </a:ln>
        </p:spPr>
      </p:sp>
      <p:sp>
        <p:nvSpPr>
          <p:cNvPr id="46" name="Text 44"/>
          <p:cNvSpPr txBox="1"/>
          <p:nvPr/>
        </p:nvSpPr>
        <p:spPr>
          <a:xfrm>
            <a:off x="10241280" y="4370832"/>
            <a:ext cx="114300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URGENT</a:t>
            </a:r>
            <a:endParaRPr lang="en-US" sz="900" dirty="0"/>
          </a:p>
        </p:txBody>
      </p:sp>
      <p:sp>
        <p:nvSpPr>
          <p:cNvPr id="47" name="Text 45"/>
          <p:cNvSpPr txBox="1"/>
          <p:nvPr/>
        </p:nvSpPr>
        <p:spPr>
          <a:xfrm>
            <a:off x="8275320" y="4937760"/>
            <a:ext cx="3108960" cy="548640"/>
          </a:xfrm>
          <a:prstGeom prst="rect">
            <a:avLst/>
          </a:prstGeom>
          <a:noFill/>
          <a:ln/>
        </p:spPr>
        <p:txBody>
          <a:bodyPr wrap="square" lIns="0" tIns="0" rIns="0" bIns="0" rtlCol="0" anchor="t"/>
          <a:lstStyle/>
          <a:p>
            <a:pPr indent="0" marL="0">
              <a:buNone/>
            </a:pPr>
            <a:r>
              <a:rPr lang="en-US" sz="1500" b="1" dirty="0">
                <a:solidFill>
                  <a:srgbClr val="12283A"/>
                </a:solidFill>
                <a:latin typeface="Calibri" pitchFamily="34" charset="0"/>
                <a:ea typeface="Calibri" pitchFamily="34" charset="-122"/>
                <a:cs typeface="Calibri" pitchFamily="34" charset="-120"/>
              </a:rPr>
              <a:t>Wat doen we met de knelpunten?</a:t>
            </a:r>
            <a:endParaRPr lang="en-US" sz="1500" dirty="0"/>
          </a:p>
        </p:txBody>
      </p:sp>
      <p:sp>
        <p:nvSpPr>
          <p:cNvPr id="48" name="Text 46"/>
          <p:cNvSpPr txBox="1"/>
          <p:nvPr/>
        </p:nvSpPr>
        <p:spPr>
          <a:xfrm>
            <a:off x="8275320" y="5532120"/>
            <a:ext cx="3108960" cy="411480"/>
          </a:xfrm>
          <a:prstGeom prst="rect">
            <a:avLst/>
          </a:prstGeom>
          <a:noFill/>
          <a:ln/>
        </p:spPr>
        <p:txBody>
          <a:bodyPr wrap="square" lIns="0" tIns="0" rIns="0" bIns="0" rtlCol="0" anchor="t"/>
          <a:lstStyle/>
          <a:p>
            <a:pPr indent="0" marL="0">
              <a:buNone/>
            </a:pPr>
            <a:r>
              <a:rPr lang="en-US" sz="1100" dirty="0">
                <a:solidFill>
                  <a:srgbClr val="5F6E7F"/>
                </a:solidFill>
                <a:latin typeface="Calibri" pitchFamily="34" charset="0"/>
                <a:ea typeface="Calibri" pitchFamily="34" charset="-122"/>
                <a:cs typeface="Calibri" pitchFamily="34" charset="-120"/>
              </a:rPr>
              <a:t>de analyses zijn gedeeld, de acties zijn niet belegd</a:t>
            </a:r>
            <a:endParaRPr lang="en-US" sz="1100" dirty="0"/>
          </a:p>
        </p:txBody>
      </p:sp>
      <p:sp>
        <p:nvSpPr>
          <p:cNvPr id="49" name="Text 47"/>
          <p:cNvSpPr txBox="1"/>
          <p:nvPr/>
        </p:nvSpPr>
        <p:spPr>
          <a:xfrm>
            <a:off x="548640" y="6053328"/>
            <a:ext cx="10972800" cy="274320"/>
          </a:xfrm>
          <a:prstGeom prst="rect">
            <a:avLst/>
          </a:prstGeom>
          <a:noFill/>
          <a:ln/>
        </p:spPr>
        <p:txBody>
          <a:bodyPr wrap="square" lIns="0" tIns="0" rIns="0" bIns="0" rtlCol="0" anchor="ctr"/>
          <a:lstStyle/>
          <a:p>
            <a:pPr indent="0" marL="0">
              <a:buNone/>
            </a:pPr>
            <a:r>
              <a:rPr lang="en-US" sz="1200" dirty="0">
                <a:solidFill>
                  <a:srgbClr val="5F6E7F"/>
                </a:solidFill>
                <a:latin typeface="Calibri" pitchFamily="34" charset="0"/>
                <a:ea typeface="Calibri" pitchFamily="34" charset="-122"/>
                <a:cs typeface="Calibri" pitchFamily="34" charset="-120"/>
              </a:rPr>
              <a:t>De volledige lijst van 36 vragen en knelpunten staat in de bijlage.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283A"/>
        </a:solidFill>
      </p:bgPr>
    </p:bg>
    <p:spTree>
      <p:nvGrpSpPr>
        <p:cNvPr id="1" name=""/>
        <p:cNvGrpSpPr/>
        <p:nvPr/>
      </p:nvGrpSpPr>
      <p:grpSpPr>
        <a:xfrm>
          <a:off x="0" y="0"/>
          <a:ext cx="0" cy="0"/>
          <a:chOff x="0" y="0"/>
          <a:chExt cx="0" cy="0"/>
        </a:xfrm>
      </p:grpSpPr>
      <p:sp>
        <p:nvSpPr>
          <p:cNvPr id="2" name="Text 0"/>
          <p:cNvSpPr txBox="1"/>
          <p:nvPr/>
        </p:nvSpPr>
        <p:spPr>
          <a:xfrm>
            <a:off x="548640" y="548640"/>
            <a:ext cx="7315200" cy="274320"/>
          </a:xfrm>
          <a:prstGeom prst="rect">
            <a:avLst/>
          </a:prstGeom>
          <a:noFill/>
          <a:ln/>
        </p:spPr>
        <p:txBody>
          <a:bodyPr wrap="square" lIns="0" tIns="0" rIns="0" bIns="0" rtlCol="0" anchor="ctr"/>
          <a:lstStyle/>
          <a:p>
            <a:pPr indent="0" marL="0">
              <a:buNone/>
            </a:pPr>
            <a:r>
              <a:rPr lang="en-US" sz="1200" b="1" spc="300" kern="0" dirty="0">
                <a:solidFill>
                  <a:srgbClr val="9FB3C8"/>
                </a:solidFill>
                <a:latin typeface="Calibri" pitchFamily="34" charset="0"/>
                <a:ea typeface="Calibri" pitchFamily="34" charset="-122"/>
                <a:cs typeface="Calibri" pitchFamily="34" charset="-120"/>
              </a:rPr>
              <a:t>WAAR HET OP NEERKOMT</a:t>
            </a:r>
            <a:endParaRPr lang="en-US" sz="1200" dirty="0"/>
          </a:p>
        </p:txBody>
      </p:sp>
      <p:sp>
        <p:nvSpPr>
          <p:cNvPr id="3" name="Text 1"/>
          <p:cNvSpPr txBox="1"/>
          <p:nvPr/>
        </p:nvSpPr>
        <p:spPr>
          <a:xfrm>
            <a:off x="548640" y="868680"/>
            <a:ext cx="10972800" cy="73152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Drie dingen om te onthouden</a:t>
            </a:r>
            <a:endParaRPr lang="en-US" sz="3600" dirty="0"/>
          </a:p>
        </p:txBody>
      </p:sp>
      <p:sp>
        <p:nvSpPr>
          <p:cNvPr id="4" name="Shape 2"/>
          <p:cNvSpPr/>
          <p:nvPr/>
        </p:nvSpPr>
        <p:spPr>
          <a:xfrm>
            <a:off x="548640" y="2103120"/>
            <a:ext cx="3566160" cy="3566160"/>
          </a:xfrm>
          <a:prstGeom prst="roundRect">
            <a:avLst>
              <a:gd name="adj" fmla="val 3077"/>
            </a:avLst>
          </a:prstGeom>
          <a:solidFill>
            <a:srgbClr val="1B3350"/>
          </a:solidFill>
          <a:ln w="12700">
            <a:solidFill>
              <a:srgbClr val="1B3350"/>
            </a:solidFill>
            <a:prstDash val="solid"/>
          </a:ln>
        </p:spPr>
      </p:sp>
      <p:sp>
        <p:nvSpPr>
          <p:cNvPr id="5" name="Shape 3"/>
          <p:cNvSpPr/>
          <p:nvPr/>
        </p:nvSpPr>
        <p:spPr>
          <a:xfrm>
            <a:off x="822960" y="2377440"/>
            <a:ext cx="822960" cy="822960"/>
          </a:xfrm>
          <a:prstGeom prst="ellipse">
            <a:avLst/>
          </a:prstGeom>
          <a:solidFill>
            <a:srgbClr val="0E7C86"/>
          </a:solidFill>
          <a:ln w="12700">
            <a:solidFill>
              <a:srgbClr val="0E7C86"/>
            </a:solidFill>
            <a:prstDash val="solid"/>
          </a:ln>
        </p:spPr>
      </p:sp>
      <p:pic>
        <p:nvPicPr>
          <p:cNvPr id="6" name="Image 0" descr="preencoded.png">    </p:cNvPr>
          <p:cNvPicPr>
            <a:picLocks noChangeAspect="1"/>
          </p:cNvPicPr>
          <p:nvPr/>
        </p:nvPicPr>
        <p:blipFill>
          <a:blip r:embed="rId1"/>
          <a:stretch>
            <a:fillRect/>
          </a:stretch>
        </p:blipFill>
        <p:spPr>
          <a:xfrm>
            <a:off x="1028700" y="2583180"/>
            <a:ext cx="411480" cy="411480"/>
          </a:xfrm>
          <a:prstGeom prst="rect">
            <a:avLst/>
          </a:prstGeom>
        </p:spPr>
      </p:pic>
      <p:sp>
        <p:nvSpPr>
          <p:cNvPr id="7" name="Text 4"/>
          <p:cNvSpPr txBox="1"/>
          <p:nvPr/>
        </p:nvSpPr>
        <p:spPr>
          <a:xfrm>
            <a:off x="3200400" y="2286000"/>
            <a:ext cx="640080" cy="914400"/>
          </a:xfrm>
          <a:prstGeom prst="rect">
            <a:avLst/>
          </a:prstGeom>
          <a:noFill/>
          <a:ln/>
        </p:spPr>
        <p:txBody>
          <a:bodyPr wrap="square" lIns="0" tIns="0" rIns="0" bIns="0" rtlCol="0" anchor="ctr"/>
          <a:lstStyle/>
          <a:p>
            <a:pPr algn="r" indent="0" marL="0">
              <a:buNone/>
            </a:pPr>
            <a:r>
              <a:rPr lang="en-US" sz="4400" b="1" dirty="0">
                <a:solidFill>
                  <a:srgbClr val="2C4A6E"/>
                </a:solidFill>
                <a:latin typeface="Calibri" pitchFamily="34" charset="0"/>
                <a:ea typeface="Calibri" pitchFamily="34" charset="-122"/>
                <a:cs typeface="Calibri" pitchFamily="34" charset="-120"/>
              </a:rPr>
              <a:t>1</a:t>
            </a:r>
            <a:endParaRPr lang="en-US" sz="4400" dirty="0"/>
          </a:p>
        </p:txBody>
      </p:sp>
      <p:sp>
        <p:nvSpPr>
          <p:cNvPr id="8" name="Text 5"/>
          <p:cNvSpPr txBox="1"/>
          <p:nvPr/>
        </p:nvSpPr>
        <p:spPr>
          <a:xfrm>
            <a:off x="822960" y="3429000"/>
            <a:ext cx="301752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Fysiek eerst</a:t>
            </a:r>
            <a:endParaRPr lang="en-US" sz="2200" dirty="0"/>
          </a:p>
        </p:txBody>
      </p:sp>
      <p:sp>
        <p:nvSpPr>
          <p:cNvPr id="9" name="Text 6"/>
          <p:cNvSpPr txBox="1"/>
          <p:nvPr/>
        </p:nvSpPr>
        <p:spPr>
          <a:xfrm>
            <a:off x="822960" y="4023360"/>
            <a:ext cx="3017520" cy="1463040"/>
          </a:xfrm>
          <a:prstGeom prst="rect">
            <a:avLst/>
          </a:prstGeom>
          <a:noFill/>
          <a:ln/>
        </p:spPr>
        <p:txBody>
          <a:bodyPr wrap="square" lIns="0" tIns="0" rIns="0" bIns="0" rtlCol="0" anchor="ctr"/>
          <a:lstStyle/>
          <a:p>
            <a:pPr indent="0" marL="0">
              <a:buNone/>
            </a:pPr>
            <a:r>
              <a:rPr lang="en-US" sz="1400" dirty="0">
                <a:solidFill>
                  <a:srgbClr val="CBD5E0"/>
                </a:solidFill>
                <a:latin typeface="Calibri" pitchFamily="34" charset="0"/>
                <a:ea typeface="Calibri" pitchFamily="34" charset="-122"/>
                <a:cs typeface="Calibri" pitchFamily="34" charset="-120"/>
              </a:rPr>
              <a:t>Eerst wat en waar. De personele inzet volgt daaruit; andersom werkt het niet.</a:t>
            </a:r>
            <a:endParaRPr lang="en-US" sz="1400" dirty="0"/>
          </a:p>
        </p:txBody>
      </p:sp>
      <p:sp>
        <p:nvSpPr>
          <p:cNvPr id="10" name="Shape 7"/>
          <p:cNvSpPr/>
          <p:nvPr/>
        </p:nvSpPr>
        <p:spPr>
          <a:xfrm>
            <a:off x="4297680" y="2103120"/>
            <a:ext cx="3566160" cy="3566160"/>
          </a:xfrm>
          <a:prstGeom prst="roundRect">
            <a:avLst>
              <a:gd name="adj" fmla="val 3077"/>
            </a:avLst>
          </a:prstGeom>
          <a:solidFill>
            <a:srgbClr val="1B3350"/>
          </a:solidFill>
          <a:ln w="12700">
            <a:solidFill>
              <a:srgbClr val="1B3350"/>
            </a:solidFill>
            <a:prstDash val="solid"/>
          </a:ln>
        </p:spPr>
      </p:sp>
      <p:sp>
        <p:nvSpPr>
          <p:cNvPr id="11" name="Shape 8"/>
          <p:cNvSpPr/>
          <p:nvPr/>
        </p:nvSpPr>
        <p:spPr>
          <a:xfrm>
            <a:off x="4572000" y="2377440"/>
            <a:ext cx="822960" cy="822960"/>
          </a:xfrm>
          <a:prstGeom prst="ellipse">
            <a:avLst/>
          </a:prstGeom>
          <a:solidFill>
            <a:srgbClr val="E07A1F"/>
          </a:solidFill>
          <a:ln w="12700">
            <a:solidFill>
              <a:srgbClr val="E07A1F"/>
            </a:solidFill>
            <a:prstDash val="solid"/>
          </a:ln>
        </p:spPr>
      </p:sp>
      <p:pic>
        <p:nvPicPr>
          <p:cNvPr id="12" name="Image 1" descr="preencoded.png">    </p:cNvPr>
          <p:cNvPicPr>
            <a:picLocks noChangeAspect="1"/>
          </p:cNvPicPr>
          <p:nvPr/>
        </p:nvPicPr>
        <p:blipFill>
          <a:blip r:embed="rId2"/>
          <a:stretch>
            <a:fillRect/>
          </a:stretch>
        </p:blipFill>
        <p:spPr>
          <a:xfrm>
            <a:off x="4777740" y="2583180"/>
            <a:ext cx="411480" cy="411480"/>
          </a:xfrm>
          <a:prstGeom prst="rect">
            <a:avLst/>
          </a:prstGeom>
        </p:spPr>
      </p:pic>
      <p:sp>
        <p:nvSpPr>
          <p:cNvPr id="13" name="Text 9"/>
          <p:cNvSpPr txBox="1"/>
          <p:nvPr/>
        </p:nvSpPr>
        <p:spPr>
          <a:xfrm>
            <a:off x="6949440" y="2286000"/>
            <a:ext cx="640080" cy="914400"/>
          </a:xfrm>
          <a:prstGeom prst="rect">
            <a:avLst/>
          </a:prstGeom>
          <a:noFill/>
          <a:ln/>
        </p:spPr>
        <p:txBody>
          <a:bodyPr wrap="square" lIns="0" tIns="0" rIns="0" bIns="0" rtlCol="0" anchor="ctr"/>
          <a:lstStyle/>
          <a:p>
            <a:pPr algn="r" indent="0" marL="0">
              <a:buNone/>
            </a:pPr>
            <a:r>
              <a:rPr lang="en-US" sz="4400" b="1" dirty="0">
                <a:solidFill>
                  <a:srgbClr val="2C4A6E"/>
                </a:solidFill>
                <a:latin typeface="Calibri" pitchFamily="34" charset="0"/>
                <a:ea typeface="Calibri" pitchFamily="34" charset="-122"/>
                <a:cs typeface="Calibri" pitchFamily="34" charset="-120"/>
              </a:rPr>
              <a:t>2</a:t>
            </a:r>
            <a:endParaRPr lang="en-US" sz="4400" dirty="0"/>
          </a:p>
        </p:txBody>
      </p:sp>
      <p:sp>
        <p:nvSpPr>
          <p:cNvPr id="14" name="Text 10"/>
          <p:cNvSpPr txBox="1"/>
          <p:nvPr/>
        </p:nvSpPr>
        <p:spPr>
          <a:xfrm>
            <a:off x="4572000" y="3429000"/>
            <a:ext cx="301752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Drie besluiten blokkeren</a:t>
            </a:r>
            <a:endParaRPr lang="en-US" sz="2200" dirty="0"/>
          </a:p>
        </p:txBody>
      </p:sp>
      <p:sp>
        <p:nvSpPr>
          <p:cNvPr id="15" name="Text 11"/>
          <p:cNvSpPr txBox="1"/>
          <p:nvPr/>
        </p:nvSpPr>
        <p:spPr>
          <a:xfrm>
            <a:off x="4572000" y="4023360"/>
            <a:ext cx="3017520" cy="1463040"/>
          </a:xfrm>
          <a:prstGeom prst="rect">
            <a:avLst/>
          </a:prstGeom>
          <a:noFill/>
          <a:ln/>
        </p:spPr>
        <p:txBody>
          <a:bodyPr wrap="square" lIns="0" tIns="0" rIns="0" bIns="0" rtlCol="0" anchor="ctr"/>
          <a:lstStyle/>
          <a:p>
            <a:pPr indent="0" marL="0">
              <a:buNone/>
            </a:pPr>
            <a:r>
              <a:rPr lang="en-US" sz="1400" dirty="0">
                <a:solidFill>
                  <a:srgbClr val="CBD5E0"/>
                </a:solidFill>
                <a:latin typeface="Calibri" pitchFamily="34" charset="0"/>
                <a:ea typeface="Calibri" pitchFamily="34" charset="-122"/>
                <a:cs typeface="Calibri" pitchFamily="34" charset="-120"/>
              </a:rPr>
              <a:t>Waar hoort de EHH bij, hoeveel plekken krijgt de acute poort, en wie stelt de norm vast.</a:t>
            </a:r>
            <a:endParaRPr lang="en-US" sz="1400" dirty="0"/>
          </a:p>
        </p:txBody>
      </p:sp>
      <p:sp>
        <p:nvSpPr>
          <p:cNvPr id="16" name="Shape 12"/>
          <p:cNvSpPr/>
          <p:nvPr/>
        </p:nvSpPr>
        <p:spPr>
          <a:xfrm>
            <a:off x="8046720" y="2103120"/>
            <a:ext cx="3566160" cy="3566160"/>
          </a:xfrm>
          <a:prstGeom prst="roundRect">
            <a:avLst>
              <a:gd name="adj" fmla="val 3077"/>
            </a:avLst>
          </a:prstGeom>
          <a:solidFill>
            <a:srgbClr val="1B3350"/>
          </a:solidFill>
          <a:ln w="12700">
            <a:solidFill>
              <a:srgbClr val="1B3350"/>
            </a:solidFill>
            <a:prstDash val="solid"/>
          </a:ln>
        </p:spPr>
      </p:sp>
      <p:sp>
        <p:nvSpPr>
          <p:cNvPr id="17" name="Shape 13"/>
          <p:cNvSpPr/>
          <p:nvPr/>
        </p:nvSpPr>
        <p:spPr>
          <a:xfrm>
            <a:off x="8321040" y="2377440"/>
            <a:ext cx="822960" cy="822960"/>
          </a:xfrm>
          <a:prstGeom prst="ellipse">
            <a:avLst/>
          </a:prstGeom>
          <a:solidFill>
            <a:srgbClr val="9FB3C8"/>
          </a:solidFill>
          <a:ln w="12700">
            <a:solidFill>
              <a:srgbClr val="9FB3C8"/>
            </a:solidFill>
            <a:prstDash val="solid"/>
          </a:ln>
        </p:spPr>
      </p:sp>
      <p:pic>
        <p:nvPicPr>
          <p:cNvPr id="18" name="Image 2" descr="preencoded.png">    </p:cNvPr>
          <p:cNvPicPr>
            <a:picLocks noChangeAspect="1"/>
          </p:cNvPicPr>
          <p:nvPr/>
        </p:nvPicPr>
        <p:blipFill>
          <a:blip r:embed="rId3"/>
          <a:stretch>
            <a:fillRect/>
          </a:stretch>
        </p:blipFill>
        <p:spPr>
          <a:xfrm>
            <a:off x="8526780" y="2583180"/>
            <a:ext cx="411480" cy="411480"/>
          </a:xfrm>
          <a:prstGeom prst="rect">
            <a:avLst/>
          </a:prstGeom>
        </p:spPr>
      </p:pic>
      <p:sp>
        <p:nvSpPr>
          <p:cNvPr id="19" name="Text 14"/>
          <p:cNvSpPr txBox="1"/>
          <p:nvPr/>
        </p:nvSpPr>
        <p:spPr>
          <a:xfrm>
            <a:off x="10698480" y="2286000"/>
            <a:ext cx="640080" cy="914400"/>
          </a:xfrm>
          <a:prstGeom prst="rect">
            <a:avLst/>
          </a:prstGeom>
          <a:noFill/>
          <a:ln/>
        </p:spPr>
        <p:txBody>
          <a:bodyPr wrap="square" lIns="0" tIns="0" rIns="0" bIns="0" rtlCol="0" anchor="ctr"/>
          <a:lstStyle/>
          <a:p>
            <a:pPr algn="r" indent="0" marL="0">
              <a:buNone/>
            </a:pPr>
            <a:r>
              <a:rPr lang="en-US" sz="4400" b="1" dirty="0">
                <a:solidFill>
                  <a:srgbClr val="2C4A6E"/>
                </a:solidFill>
                <a:latin typeface="Calibri" pitchFamily="34" charset="0"/>
                <a:ea typeface="Calibri" pitchFamily="34" charset="-122"/>
                <a:cs typeface="Calibri" pitchFamily="34" charset="-120"/>
              </a:rPr>
              <a:t>3</a:t>
            </a:r>
            <a:endParaRPr lang="en-US" sz="4400" dirty="0"/>
          </a:p>
        </p:txBody>
      </p:sp>
      <p:sp>
        <p:nvSpPr>
          <p:cNvPr id="20" name="Text 15"/>
          <p:cNvSpPr txBox="1"/>
          <p:nvPr/>
        </p:nvSpPr>
        <p:spPr>
          <a:xfrm>
            <a:off x="8321040" y="3429000"/>
            <a:ext cx="301752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Nu apart, straks samen</a:t>
            </a:r>
            <a:endParaRPr lang="en-US" sz="2200" dirty="0"/>
          </a:p>
        </p:txBody>
      </p:sp>
      <p:sp>
        <p:nvSpPr>
          <p:cNvPr id="21" name="Text 16"/>
          <p:cNvSpPr txBox="1"/>
          <p:nvPr/>
        </p:nvSpPr>
        <p:spPr>
          <a:xfrm>
            <a:off x="8321040" y="4023360"/>
            <a:ext cx="3017520" cy="1463040"/>
          </a:xfrm>
          <a:prstGeom prst="rect">
            <a:avLst/>
          </a:prstGeom>
          <a:noFill/>
          <a:ln/>
        </p:spPr>
        <p:txBody>
          <a:bodyPr wrap="square" lIns="0" tIns="0" rIns="0" bIns="0" rtlCol="0" anchor="ctr"/>
          <a:lstStyle/>
          <a:p>
            <a:pPr indent="0" marL="0">
              <a:buNone/>
            </a:pPr>
            <a:r>
              <a:rPr lang="en-US" sz="1400" dirty="0">
                <a:solidFill>
                  <a:srgbClr val="CBD5E0"/>
                </a:solidFill>
                <a:latin typeface="Calibri" pitchFamily="34" charset="0"/>
                <a:ea typeface="Calibri" pitchFamily="34" charset="-122"/>
                <a:cs typeface="Calibri" pitchFamily="34" charset="-120"/>
              </a:rPr>
              <a:t>De huidige berekeningen gelden per afdeling. Bij samenvoeging moet opnieuw geteld worden.</a:t>
            </a:r>
            <a:endParaRPr lang="en-US" sz="1400" dirty="0"/>
          </a:p>
        </p:txBody>
      </p:sp>
      <p:sp>
        <p:nvSpPr>
          <p:cNvPr id="22" name="Text 17"/>
          <p:cNvSpPr txBox="1"/>
          <p:nvPr/>
        </p:nvSpPr>
        <p:spPr>
          <a:xfrm>
            <a:off x="548640" y="6419088"/>
            <a:ext cx="4572000" cy="228600"/>
          </a:xfrm>
          <a:prstGeom prst="rect">
            <a:avLst/>
          </a:prstGeom>
          <a:noFill/>
          <a:ln/>
        </p:spPr>
        <p:txBody>
          <a:bodyPr wrap="square" lIns="0" tIns="0" rIns="0" bIns="0" rtlCol="0" anchor="ctr"/>
          <a:lstStyle/>
          <a:p>
            <a:pPr indent="0" marL="0">
              <a:buNone/>
            </a:pPr>
            <a:r>
              <a:rPr lang="en-US" sz="1000" dirty="0">
                <a:solidFill>
                  <a:srgbClr val="6B8199"/>
                </a:solidFill>
                <a:latin typeface="Calibri" pitchFamily="34" charset="0"/>
                <a:ea typeface="Calibri" pitchFamily="34" charset="-122"/>
                <a:cs typeface="Calibri" pitchFamily="34" charset="-120"/>
              </a:rPr>
              <a:t>Acute poort en Hotfloor</a:t>
            </a:r>
            <a:endParaRPr lang="en-US" sz="1000" dirty="0"/>
          </a:p>
        </p:txBody>
      </p:sp>
      <p:sp>
        <p:nvSpPr>
          <p:cNvPr id="23" name="Text 18"/>
          <p:cNvSpPr txBox="1"/>
          <p:nvPr/>
        </p:nvSpPr>
        <p:spPr>
          <a:xfrm>
            <a:off x="11091672" y="6419088"/>
            <a:ext cx="548640" cy="228600"/>
          </a:xfrm>
          <a:prstGeom prst="rect">
            <a:avLst/>
          </a:prstGeom>
          <a:noFill/>
          <a:ln/>
        </p:spPr>
        <p:txBody>
          <a:bodyPr wrap="square" lIns="0" tIns="0" rIns="0" bIns="0" rtlCol="0" anchor="ctr"/>
          <a:lstStyle/>
          <a:p>
            <a:pPr algn="r" indent="0" marL="0">
              <a:buNone/>
            </a:pPr>
            <a:r>
              <a:rPr lang="en-US" sz="1000" dirty="0">
                <a:solidFill>
                  <a:srgbClr val="6B8199"/>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100" b="1" spc="200" kern="0" dirty="0">
                <a:solidFill>
                  <a:srgbClr val="5F6E7F"/>
                </a:solidFill>
                <a:latin typeface="Calibri" pitchFamily="34" charset="0"/>
                <a:ea typeface="Calibri" pitchFamily="34" charset="-122"/>
                <a:cs typeface="Calibri" pitchFamily="34" charset="-120"/>
              </a:rPr>
              <a:t>BIJLAGE</a:t>
            </a:r>
            <a:endParaRPr lang="en-US" sz="11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200" b="1" dirty="0">
                <a:solidFill>
                  <a:srgbClr val="12283A"/>
                </a:solidFill>
                <a:latin typeface="Calibri" pitchFamily="34" charset="0"/>
                <a:ea typeface="Calibri" pitchFamily="34" charset="-122"/>
                <a:cs typeface="Calibri" pitchFamily="34" charset="-120"/>
              </a:rPr>
              <a:t>De open vragen in het kort</a:t>
            </a:r>
            <a:endParaRPr lang="en-US" sz="3200" dirty="0"/>
          </a:p>
        </p:txBody>
      </p:sp>
      <p:sp>
        <p:nvSpPr>
          <p:cNvPr id="4" name="Text 2"/>
          <p:cNvSpPr txBox="1"/>
          <p:nvPr/>
        </p:nvSpPr>
        <p:spPr>
          <a:xfrm>
            <a:off x="548640" y="1298448"/>
            <a:ext cx="11064240" cy="365760"/>
          </a:xfrm>
          <a:prstGeom prst="rect">
            <a:avLst/>
          </a:prstGeom>
          <a:noFill/>
          <a:ln/>
        </p:spPr>
        <p:txBody>
          <a:bodyPr wrap="square" lIns="0" tIns="0" rIns="0" bIns="0" rtlCol="0" anchor="ctr"/>
          <a:lstStyle/>
          <a:p>
            <a:pPr indent="0" marL="0">
              <a:buNone/>
            </a:pPr>
            <a:r>
              <a:rPr lang="en-US" sz="1600" dirty="0">
                <a:solidFill>
                  <a:srgbClr val="5F6E7F"/>
                </a:solidFill>
                <a:latin typeface="Calibri" pitchFamily="34" charset="0"/>
                <a:ea typeface="Calibri" pitchFamily="34" charset="-122"/>
                <a:cs typeface="Calibri" pitchFamily="34" charset="-120"/>
              </a:rPr>
              <a:t>Achttien vragen van Lonneke en Maxim, in twee blokken. De volledige tekst staat in de notities.</a:t>
            </a:r>
            <a:endParaRPr lang="en-US" sz="1600" dirty="0"/>
          </a:p>
        </p:txBody>
      </p:sp>
      <p:sp>
        <p:nvSpPr>
          <p:cNvPr id="5" name="Text 3"/>
          <p:cNvSpPr txBox="1"/>
          <p:nvPr/>
        </p:nvSpPr>
        <p:spPr>
          <a:xfrm>
            <a:off x="548640" y="6419088"/>
            <a:ext cx="4572000" cy="228600"/>
          </a:xfrm>
          <a:prstGeom prst="rect">
            <a:avLst/>
          </a:prstGeom>
          <a:noFill/>
          <a:ln/>
        </p:spPr>
        <p:txBody>
          <a:bodyPr wrap="square" lIns="0" tIns="0" rIns="0" bIns="0" rtlCol="0" anchor="ctr"/>
          <a:lstStyle/>
          <a:p>
            <a:pPr indent="0" marL="0">
              <a:buNone/>
            </a:pPr>
            <a:r>
              <a:rPr lang="en-US" sz="1000" dirty="0">
                <a:solidFill>
                  <a:srgbClr val="8A97A5"/>
                </a:solidFill>
                <a:latin typeface="Calibri" pitchFamily="34" charset="0"/>
                <a:ea typeface="Calibri" pitchFamily="34" charset="-122"/>
                <a:cs typeface="Calibri" pitchFamily="34" charset="-120"/>
              </a:rPr>
              <a:t>Acute poort en Hotfloor</a:t>
            </a:r>
            <a:endParaRPr lang="en-US" sz="1000" dirty="0"/>
          </a:p>
        </p:txBody>
      </p:sp>
      <p:sp>
        <p:nvSpPr>
          <p:cNvPr id="6" name="Text 4"/>
          <p:cNvSpPr txBox="1"/>
          <p:nvPr/>
        </p:nvSpPr>
        <p:spPr>
          <a:xfrm>
            <a:off x="11091672" y="6419088"/>
            <a:ext cx="548640" cy="228600"/>
          </a:xfrm>
          <a:prstGeom prst="rect">
            <a:avLst/>
          </a:prstGeom>
          <a:noFill/>
          <a:ln/>
        </p:spPr>
        <p:txBody>
          <a:bodyPr wrap="square" lIns="0" tIns="0" rIns="0" bIns="0" rtlCol="0" anchor="ctr"/>
          <a:lstStyle/>
          <a:p>
            <a:pPr algn="r" indent="0" marL="0">
              <a:buNone/>
            </a:pPr>
            <a:r>
              <a:rPr lang="en-US" sz="1000" dirty="0">
                <a:solidFill>
                  <a:srgbClr val="8A97A5"/>
                </a:solidFill>
                <a:latin typeface="Calibri" pitchFamily="34" charset="0"/>
                <a:ea typeface="Calibri" pitchFamily="34" charset="-122"/>
                <a:cs typeface="Calibri" pitchFamily="34" charset="-120"/>
              </a:rPr>
              <a:t>15</a:t>
            </a:r>
            <a:endParaRPr lang="en-US" sz="1000" dirty="0"/>
          </a:p>
        </p:txBody>
      </p:sp>
      <p:sp>
        <p:nvSpPr>
          <p:cNvPr id="7" name="Shape 5"/>
          <p:cNvSpPr/>
          <p:nvPr/>
        </p:nvSpPr>
        <p:spPr>
          <a:xfrm>
            <a:off x="548640" y="1874520"/>
            <a:ext cx="5440680" cy="3840480"/>
          </a:xfrm>
          <a:prstGeom prst="roundRect">
            <a:avLst>
              <a:gd name="adj" fmla="val 2857"/>
            </a:avLst>
          </a:prstGeom>
          <a:solidFill>
            <a:srgbClr val="F3F6F9"/>
          </a:solidFill>
          <a:ln w="12700">
            <a:solidFill>
              <a:srgbClr val="F3F6F9"/>
            </a:solidFill>
            <a:prstDash val="solid"/>
          </a:ln>
        </p:spPr>
      </p:sp>
      <p:sp>
        <p:nvSpPr>
          <p:cNvPr id="8" name="Text 6"/>
          <p:cNvSpPr txBox="1"/>
          <p:nvPr/>
        </p:nvSpPr>
        <p:spPr>
          <a:xfrm>
            <a:off x="822960" y="1965960"/>
            <a:ext cx="4892040" cy="365760"/>
          </a:xfrm>
          <a:prstGeom prst="rect">
            <a:avLst/>
          </a:prstGeom>
          <a:noFill/>
          <a:ln/>
        </p:spPr>
        <p:txBody>
          <a:bodyPr wrap="square" lIns="0" tIns="0" rIns="0" bIns="0" rtlCol="0" anchor="ctr"/>
          <a:lstStyle/>
          <a:p>
            <a:pPr indent="0" marL="0">
              <a:buNone/>
            </a:pPr>
            <a:r>
              <a:rPr lang="en-US" sz="1600" b="1" dirty="0">
                <a:solidFill>
                  <a:srgbClr val="E07A1F"/>
                </a:solidFill>
                <a:latin typeface="Calibri" pitchFamily="34" charset="0"/>
                <a:ea typeface="Calibri" pitchFamily="34" charset="-122"/>
                <a:cs typeface="Calibri" pitchFamily="34" charset="-120"/>
              </a:rPr>
              <a:t>Oudbouw, transitie en verhuizing</a:t>
            </a:r>
            <a:endParaRPr lang="en-US" sz="1600" dirty="0"/>
          </a:p>
        </p:txBody>
      </p:sp>
      <p:sp>
        <p:nvSpPr>
          <p:cNvPr id="9" name="Text 7"/>
          <p:cNvSpPr txBox="1"/>
          <p:nvPr/>
        </p:nvSpPr>
        <p:spPr>
          <a:xfrm>
            <a:off x="822960" y="2377440"/>
            <a:ext cx="4892040" cy="320040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200" dirty="0">
                <a:solidFill>
                  <a:srgbClr val="12283A"/>
                </a:solidFill>
                <a:latin typeface="Calibri" pitchFamily="34" charset="0"/>
                <a:ea typeface="Calibri" pitchFamily="34" charset="-122"/>
                <a:cs typeface="Calibri" pitchFamily="34" charset="-120"/>
              </a:rPr>
              <a:t>Lopende projecten: nu meenemen, of later in begroting en jaarplan?</a:t>
            </a:r>
            <a:endParaRPr lang="en-US" sz="1200" dirty="0"/>
          </a:p>
          <a:p>
            <a:pPr marL="342900" indent="-342900">
              <a:spcAft>
                <a:spcPts val="400"/>
              </a:spcAft>
              <a:buSzPct val="100000"/>
              <a:buFont typeface="+mj-lt"/>
              <a:buAutoNum type="arabicPeriod" startAt="1"/>
            </a:pPr>
            <a:r>
              <a:rPr lang="en-US" sz="1200" dirty="0">
                <a:solidFill>
                  <a:srgbClr val="12283A"/>
                </a:solidFill>
                <a:latin typeface="Calibri" pitchFamily="34" charset="0"/>
                <a:ea typeface="Calibri" pitchFamily="34" charset="-122"/>
                <a:cs typeface="Calibri" pitchFamily="34" charset="-120"/>
              </a:rPr>
              <a:t>Toewerken naar nieuwbouw: welke impact op bedden en personeel?</a:t>
            </a:r>
            <a:endParaRPr lang="en-US" sz="1200" dirty="0"/>
          </a:p>
          <a:p>
            <a:pPr marL="342900" indent="-342900">
              <a:spcAft>
                <a:spcPts val="400"/>
              </a:spcAft>
              <a:buSzPct val="100000"/>
              <a:buFont typeface="+mj-lt"/>
              <a:buAutoNum type="arabicPeriod" startAt="1"/>
            </a:pPr>
            <a:r>
              <a:rPr lang="en-US" sz="1200" dirty="0">
                <a:solidFill>
                  <a:srgbClr val="12283A"/>
                </a:solidFill>
                <a:latin typeface="Calibri" pitchFamily="34" charset="0"/>
                <a:ea typeface="Calibri" pitchFamily="34" charset="-122"/>
                <a:cs typeface="Calibri" pitchFamily="34" charset="-120"/>
              </a:rPr>
              <a:t>Inzet SEH tot de nieuwbouw: huidige personele inzet aanhouden?</a:t>
            </a:r>
            <a:endParaRPr lang="en-US" sz="1200" dirty="0"/>
          </a:p>
          <a:p>
            <a:pPr marL="342900" indent="-342900">
              <a:spcAft>
                <a:spcPts val="400"/>
              </a:spcAft>
              <a:buSzPct val="100000"/>
              <a:buFont typeface="+mj-lt"/>
              <a:buAutoNum type="arabicPeriod" startAt="1"/>
            </a:pPr>
            <a:r>
              <a:rPr lang="en-US" sz="1200" dirty="0">
                <a:solidFill>
                  <a:srgbClr val="12283A"/>
                </a:solidFill>
                <a:latin typeface="Calibri" pitchFamily="34" charset="0"/>
                <a:ea typeface="Calibri" pitchFamily="34" charset="-122"/>
                <a:cs typeface="Calibri" pitchFamily="34" charset="-120"/>
              </a:rPr>
              <a:t>Norm ICU met recovery: welke normering hanteren we? (geparkeerd)</a:t>
            </a:r>
            <a:endParaRPr lang="en-US" sz="1200" dirty="0"/>
          </a:p>
          <a:p>
            <a:pPr marL="342900" indent="-342900">
              <a:spcAft>
                <a:spcPts val="400"/>
              </a:spcAft>
              <a:buSzPct val="100000"/>
              <a:buFont typeface="+mj-lt"/>
              <a:buAutoNum type="arabicPeriod" startAt="1"/>
            </a:pPr>
            <a:r>
              <a:rPr lang="en-US" sz="1200" dirty="0">
                <a:solidFill>
                  <a:srgbClr val="12283A"/>
                </a:solidFill>
                <a:latin typeface="Calibri" pitchFamily="34" charset="0"/>
                <a:ea typeface="Calibri" pitchFamily="34" charset="-122"/>
                <a:cs typeface="Calibri" pitchFamily="34" charset="-120"/>
              </a:rPr>
              <a:t>AO-dienst: wat is het uitgangspunt bij drukte?</a:t>
            </a:r>
            <a:endParaRPr lang="en-US" sz="1200" dirty="0"/>
          </a:p>
          <a:p>
            <a:pPr marL="342900" indent="-342900">
              <a:spcAft>
                <a:spcPts val="400"/>
              </a:spcAft>
              <a:buSzPct val="100000"/>
              <a:buFont typeface="+mj-lt"/>
              <a:buAutoNum type="arabicPeriod" startAt="1"/>
            </a:pPr>
            <a:r>
              <a:rPr lang="en-US" sz="1200" dirty="0">
                <a:solidFill>
                  <a:srgbClr val="12283A"/>
                </a:solidFill>
                <a:latin typeface="Calibri" pitchFamily="34" charset="0"/>
                <a:ea typeface="Calibri" pitchFamily="34" charset="-122"/>
                <a:cs typeface="Calibri" pitchFamily="34" charset="-120"/>
              </a:rPr>
              <a:t>Regieverpleegkundige per september: binnen of buiten de zorg?</a:t>
            </a:r>
            <a:endParaRPr lang="en-US" sz="1200" dirty="0"/>
          </a:p>
          <a:p>
            <a:pPr marL="342900" indent="-342900">
              <a:spcAft>
                <a:spcPts val="400"/>
              </a:spcAft>
              <a:buSzPct val="100000"/>
              <a:buFont typeface="+mj-lt"/>
              <a:buAutoNum type="arabicPeriod" startAt="1"/>
            </a:pPr>
            <a:r>
              <a:rPr lang="en-US" sz="1200" dirty="0">
                <a:solidFill>
                  <a:srgbClr val="12283A"/>
                </a:solidFill>
                <a:latin typeface="Calibri" pitchFamily="34" charset="0"/>
                <a:ea typeface="Calibri" pitchFamily="34" charset="-122"/>
                <a:cs typeface="Calibri" pitchFamily="34" charset="-120"/>
              </a:rPr>
              <a:t>Verhuisperiode: hoeveel extra diensten, en op welke locatie?</a:t>
            </a:r>
            <a:endParaRPr lang="en-US" sz="1200" dirty="0"/>
          </a:p>
        </p:txBody>
      </p:sp>
      <p:sp>
        <p:nvSpPr>
          <p:cNvPr id="10" name="Shape 8"/>
          <p:cNvSpPr/>
          <p:nvPr/>
        </p:nvSpPr>
        <p:spPr>
          <a:xfrm>
            <a:off x="6199632" y="1874520"/>
            <a:ext cx="5440680" cy="3840480"/>
          </a:xfrm>
          <a:prstGeom prst="roundRect">
            <a:avLst>
              <a:gd name="adj" fmla="val 2857"/>
            </a:avLst>
          </a:prstGeom>
          <a:solidFill>
            <a:srgbClr val="F3F6F9"/>
          </a:solidFill>
          <a:ln w="12700">
            <a:solidFill>
              <a:srgbClr val="F3F6F9"/>
            </a:solidFill>
            <a:prstDash val="solid"/>
          </a:ln>
        </p:spPr>
      </p:sp>
      <p:sp>
        <p:nvSpPr>
          <p:cNvPr id="11" name="Text 9"/>
          <p:cNvSpPr txBox="1"/>
          <p:nvPr/>
        </p:nvSpPr>
        <p:spPr>
          <a:xfrm>
            <a:off x="6473952" y="1965960"/>
            <a:ext cx="4892040" cy="365760"/>
          </a:xfrm>
          <a:prstGeom prst="rect">
            <a:avLst/>
          </a:prstGeom>
          <a:noFill/>
          <a:ln/>
        </p:spPr>
        <p:txBody>
          <a:bodyPr wrap="square" lIns="0" tIns="0" rIns="0" bIns="0" rtlCol="0" anchor="ctr"/>
          <a:lstStyle/>
          <a:p>
            <a:pPr indent="0" marL="0">
              <a:buNone/>
            </a:pPr>
            <a:r>
              <a:rPr lang="en-US" sz="1600" b="1" dirty="0">
                <a:solidFill>
                  <a:srgbClr val="0E7C86"/>
                </a:solidFill>
                <a:latin typeface="Calibri" pitchFamily="34" charset="0"/>
                <a:ea typeface="Calibri" pitchFamily="34" charset="-122"/>
                <a:cs typeface="Calibri" pitchFamily="34" charset="-120"/>
              </a:rPr>
              <a:t>Nieuwbouw</a:t>
            </a:r>
            <a:endParaRPr lang="en-US" sz="1600" dirty="0"/>
          </a:p>
        </p:txBody>
      </p:sp>
      <p:sp>
        <p:nvSpPr>
          <p:cNvPr id="12" name="Text 10"/>
          <p:cNvSpPr txBox="1"/>
          <p:nvPr/>
        </p:nvSpPr>
        <p:spPr>
          <a:xfrm>
            <a:off x="6473952" y="2377440"/>
            <a:ext cx="4892040" cy="320040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200" dirty="0">
                <a:solidFill>
                  <a:srgbClr val="12283A"/>
                </a:solidFill>
                <a:latin typeface="Calibri" pitchFamily="34" charset="0"/>
                <a:ea typeface="Calibri" pitchFamily="34" charset="-122"/>
                <a:cs typeface="Calibri" pitchFamily="34" charset="-120"/>
              </a:rPr>
              <a:t>Personeel EHH: van de SEH of van de ICU/CCU?</a:t>
            </a:r>
            <a:endParaRPr lang="en-US" sz="1200" dirty="0"/>
          </a:p>
          <a:p>
            <a:pPr marL="342900" indent="-342900">
              <a:spcAft>
                <a:spcPts val="400"/>
              </a:spcAft>
              <a:buSzPct val="100000"/>
              <a:buFont typeface="+mj-lt"/>
              <a:buAutoNum type="arabicPeriod" startAt="1"/>
            </a:pPr>
            <a:r>
              <a:rPr lang="en-US" sz="1200" dirty="0">
                <a:solidFill>
                  <a:srgbClr val="12283A"/>
                </a:solidFill>
                <a:latin typeface="Calibri" pitchFamily="34" charset="0"/>
                <a:ea typeface="Calibri" pitchFamily="34" charset="-122"/>
                <a:cs typeface="Calibri" pitchFamily="34" charset="-120"/>
              </a:rPr>
              <a:t>Afkapmoment acute cardio: nu 2 uur; scenario's op 4, 6 en 24 uur</a:t>
            </a:r>
            <a:endParaRPr lang="en-US" sz="1200" dirty="0"/>
          </a:p>
          <a:p>
            <a:pPr marL="342900" indent="-342900">
              <a:spcAft>
                <a:spcPts val="400"/>
              </a:spcAft>
              <a:buSzPct val="100000"/>
              <a:buFont typeface="+mj-lt"/>
              <a:buAutoNum type="arabicPeriod" startAt="1"/>
            </a:pPr>
            <a:r>
              <a:rPr lang="en-US" sz="1200" dirty="0">
                <a:solidFill>
                  <a:srgbClr val="12283A"/>
                </a:solidFill>
                <a:latin typeface="Calibri" pitchFamily="34" charset="0"/>
                <a:ea typeface="Calibri" pitchFamily="34" charset="-122"/>
                <a:cs typeface="Calibri" pitchFamily="34" charset="-120"/>
              </a:rPr>
              <a:t>Norm verpleegkundigen: doet Remco een uitspraak?</a:t>
            </a:r>
            <a:endParaRPr lang="en-US" sz="1200" dirty="0"/>
          </a:p>
          <a:p>
            <a:pPr marL="342900" indent="-342900">
              <a:spcAft>
                <a:spcPts val="400"/>
              </a:spcAft>
              <a:buSzPct val="100000"/>
              <a:buFont typeface="+mj-lt"/>
              <a:buAutoNum type="arabicPeriod" startAt="1"/>
            </a:pPr>
            <a:r>
              <a:rPr lang="en-US" sz="1200" dirty="0">
                <a:solidFill>
                  <a:srgbClr val="12283A"/>
                </a:solidFill>
                <a:latin typeface="Calibri" pitchFamily="34" charset="0"/>
                <a:ea typeface="Calibri" pitchFamily="34" charset="-122"/>
                <a:cs typeface="Calibri" pitchFamily="34" charset="-120"/>
              </a:rPr>
              <a:t>Scope CCU: anders ingericht, hoe verwerken in de inzet?</a:t>
            </a:r>
            <a:endParaRPr lang="en-US" sz="1200" dirty="0"/>
          </a:p>
          <a:p>
            <a:pPr marL="342900" indent="-342900">
              <a:spcAft>
                <a:spcPts val="400"/>
              </a:spcAft>
              <a:buSzPct val="100000"/>
              <a:buFont typeface="+mj-lt"/>
              <a:buAutoNum type="arabicPeriod" startAt="1"/>
            </a:pPr>
            <a:r>
              <a:rPr lang="en-US" sz="1200" dirty="0">
                <a:solidFill>
                  <a:srgbClr val="12283A"/>
                </a:solidFill>
                <a:latin typeface="Calibri" pitchFamily="34" charset="0"/>
                <a:ea typeface="Calibri" pitchFamily="34" charset="-122"/>
                <a:cs typeface="Calibri" pitchFamily="34" charset="-120"/>
              </a:rPr>
              <a:t>Normenkader ICU: maximaal 10% afwijking van dedicated inzet</a:t>
            </a:r>
            <a:endParaRPr lang="en-US" sz="1200" dirty="0"/>
          </a:p>
          <a:p>
            <a:pPr marL="342900" indent="-342900">
              <a:spcAft>
                <a:spcPts val="400"/>
              </a:spcAft>
              <a:buSzPct val="100000"/>
              <a:buFont typeface="+mj-lt"/>
              <a:buAutoNum type="arabicPeriod" startAt="1"/>
            </a:pPr>
            <a:r>
              <a:rPr lang="en-US" sz="1200" dirty="0">
                <a:solidFill>
                  <a:srgbClr val="12283A"/>
                </a:solidFill>
                <a:latin typeface="Calibri" pitchFamily="34" charset="0"/>
                <a:ea typeface="Calibri" pitchFamily="34" charset="-122"/>
                <a:cs typeface="Calibri" pitchFamily="34" charset="-120"/>
              </a:rPr>
              <a:t>Indirecte uren: de oude begroting loopt sterk uiteen</a:t>
            </a:r>
            <a:endParaRPr lang="en-US" sz="1200" dirty="0"/>
          </a:p>
          <a:p>
            <a:pPr marL="342900" indent="-342900">
              <a:spcAft>
                <a:spcPts val="400"/>
              </a:spcAft>
              <a:buSzPct val="100000"/>
              <a:buFont typeface="+mj-lt"/>
              <a:buAutoNum type="arabicPeriod" startAt="1"/>
            </a:pPr>
            <a:r>
              <a:rPr lang="en-US" sz="1200" dirty="0">
                <a:solidFill>
                  <a:srgbClr val="12283A"/>
                </a:solidFill>
                <a:latin typeface="Calibri" pitchFamily="34" charset="0"/>
                <a:ea typeface="Calibri" pitchFamily="34" charset="-122"/>
                <a:cs typeface="Calibri" pitchFamily="34" charset="-120"/>
              </a:rPr>
              <a:t>Regieverpleegkundige in de nieuwbouw: hoe inrichten?</a:t>
            </a:r>
            <a:endParaRPr lang="en-US" sz="1200" dirty="0"/>
          </a:p>
          <a:p>
            <a:pPr marL="342900" indent="-342900">
              <a:spcAft>
                <a:spcPts val="400"/>
              </a:spcAft>
              <a:buSzPct val="100000"/>
              <a:buFont typeface="+mj-lt"/>
              <a:buAutoNum type="arabicPeriod" startAt="1"/>
            </a:pPr>
            <a:r>
              <a:rPr lang="en-US" sz="1200" dirty="0">
                <a:solidFill>
                  <a:srgbClr val="12283A"/>
                </a:solidFill>
                <a:latin typeface="Calibri" pitchFamily="34" charset="0"/>
                <a:ea typeface="Calibri" pitchFamily="34" charset="-122"/>
                <a:cs typeface="Calibri" pitchFamily="34" charset="-120"/>
              </a:rPr>
              <a:t>Kinderverpleegkundige: dedicated op de SEH, of op afroep?</a:t>
            </a:r>
            <a:endParaRPr lang="en-US" sz="1200" dirty="0"/>
          </a:p>
          <a:p>
            <a:pPr marL="342900" indent="-342900">
              <a:spcAft>
                <a:spcPts val="400"/>
              </a:spcAft>
              <a:buSzPct val="100000"/>
              <a:buFont typeface="+mj-lt"/>
              <a:buAutoNum type="arabicPeriod" startAt="1"/>
            </a:pPr>
            <a:r>
              <a:rPr lang="en-US" sz="1200" dirty="0">
                <a:solidFill>
                  <a:srgbClr val="12283A"/>
                </a:solidFill>
                <a:latin typeface="Calibri" pitchFamily="34" charset="0"/>
                <a:ea typeface="Calibri" pitchFamily="34" charset="-122"/>
                <a:cs typeface="Calibri" pitchFamily="34" charset="-120"/>
              </a:rPr>
              <a:t>EPA's: vereist voor SEH, verplicht voor ICU en CCU? En dan?</a:t>
            </a:r>
            <a:endParaRPr lang="en-US" sz="1200" dirty="0"/>
          </a:p>
          <a:p>
            <a:pPr marL="342900" indent="-342900">
              <a:spcAft>
                <a:spcPts val="400"/>
              </a:spcAft>
              <a:buSzPct val="100000"/>
              <a:buFont typeface="+mj-lt"/>
              <a:buAutoNum type="arabicPeriod" startAt="1"/>
            </a:pPr>
            <a:r>
              <a:rPr lang="en-US" sz="1200" dirty="0">
                <a:solidFill>
                  <a:srgbClr val="12283A"/>
                </a:solidFill>
                <a:latin typeface="Calibri" pitchFamily="34" charset="0"/>
                <a:ea typeface="Calibri" pitchFamily="34" charset="-122"/>
                <a:cs typeface="Calibri" pitchFamily="34" charset="-120"/>
              </a:rPr>
              <a:t>Acute poule: ook voor CCU/ICU en CCU/SEH?</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56032"/>
          </a:xfrm>
          <a:prstGeom prst="rect">
            <a:avLst/>
          </a:prstGeom>
          <a:noFill/>
          <a:ln/>
        </p:spPr>
        <p:txBody>
          <a:bodyPr wrap="square" lIns="0" tIns="0" rIns="0" bIns="0" rtlCol="0" anchor="ctr"/>
          <a:lstStyle/>
          <a:p>
            <a:pPr indent="0" marL="0">
              <a:buNone/>
            </a:pPr>
            <a:r>
              <a:rPr lang="en-US" sz="1100" b="1" spc="200" kern="0" dirty="0">
                <a:solidFill>
                  <a:srgbClr val="5F6E7F"/>
                </a:solidFill>
                <a:latin typeface="Calibri" pitchFamily="34" charset="0"/>
                <a:ea typeface="Calibri" pitchFamily="34" charset="-122"/>
                <a:cs typeface="Calibri" pitchFamily="34" charset="-120"/>
              </a:rPr>
              <a:t>BIJLAGE</a:t>
            </a:r>
            <a:endParaRPr lang="en-US" sz="1100" dirty="0"/>
          </a:p>
        </p:txBody>
      </p:sp>
      <p:sp>
        <p:nvSpPr>
          <p:cNvPr id="3" name="Text 1"/>
          <p:cNvSpPr txBox="1"/>
          <p:nvPr/>
        </p:nvSpPr>
        <p:spPr>
          <a:xfrm>
            <a:off x="548640" y="640080"/>
            <a:ext cx="11064240" cy="685800"/>
          </a:xfrm>
          <a:prstGeom prst="rect">
            <a:avLst/>
          </a:prstGeom>
          <a:noFill/>
          <a:ln/>
        </p:spPr>
        <p:txBody>
          <a:bodyPr wrap="square" lIns="0" tIns="0" rIns="0" bIns="0" rtlCol="0" anchor="ctr"/>
          <a:lstStyle/>
          <a:p>
            <a:pPr indent="0" marL="0">
              <a:buNone/>
            </a:pPr>
            <a:r>
              <a:rPr lang="en-US" sz="3200" b="1" dirty="0">
                <a:solidFill>
                  <a:srgbClr val="12283A"/>
                </a:solidFill>
                <a:latin typeface="Calibri" pitchFamily="34" charset="0"/>
                <a:ea typeface="Calibri" pitchFamily="34" charset="-122"/>
                <a:cs typeface="Calibri" pitchFamily="34" charset="-120"/>
              </a:rPr>
              <a:t>Knelpunten en vervolgacties in het kort</a:t>
            </a:r>
            <a:endParaRPr lang="en-US" sz="3200" dirty="0"/>
          </a:p>
        </p:txBody>
      </p:sp>
      <p:sp>
        <p:nvSpPr>
          <p:cNvPr id="4" name="Text 2"/>
          <p:cNvSpPr txBox="1"/>
          <p:nvPr/>
        </p:nvSpPr>
        <p:spPr>
          <a:xfrm>
            <a:off x="548640" y="1298448"/>
            <a:ext cx="11064240" cy="365760"/>
          </a:xfrm>
          <a:prstGeom prst="rect">
            <a:avLst/>
          </a:prstGeom>
          <a:noFill/>
          <a:ln/>
        </p:spPr>
        <p:txBody>
          <a:bodyPr wrap="square" lIns="0" tIns="0" rIns="0" bIns="0" rtlCol="0" anchor="ctr"/>
          <a:lstStyle/>
          <a:p>
            <a:pPr indent="0" marL="0">
              <a:buNone/>
            </a:pPr>
            <a:r>
              <a:rPr lang="en-US" sz="1600" dirty="0">
                <a:solidFill>
                  <a:srgbClr val="5F6E7F"/>
                </a:solidFill>
                <a:latin typeface="Calibri" pitchFamily="34" charset="0"/>
                <a:ea typeface="Calibri" pitchFamily="34" charset="-122"/>
                <a:cs typeface="Calibri" pitchFamily="34" charset="-120"/>
              </a:rPr>
              <a:t>Wat er nu in de weg zit, en wat er nog uitgezocht of gevraagd moet worden</a:t>
            </a:r>
            <a:endParaRPr lang="en-US" sz="1600" dirty="0"/>
          </a:p>
        </p:txBody>
      </p:sp>
      <p:sp>
        <p:nvSpPr>
          <p:cNvPr id="5" name="Text 3"/>
          <p:cNvSpPr txBox="1"/>
          <p:nvPr/>
        </p:nvSpPr>
        <p:spPr>
          <a:xfrm>
            <a:off x="548640" y="6419088"/>
            <a:ext cx="4572000" cy="228600"/>
          </a:xfrm>
          <a:prstGeom prst="rect">
            <a:avLst/>
          </a:prstGeom>
          <a:noFill/>
          <a:ln/>
        </p:spPr>
        <p:txBody>
          <a:bodyPr wrap="square" lIns="0" tIns="0" rIns="0" bIns="0" rtlCol="0" anchor="ctr"/>
          <a:lstStyle/>
          <a:p>
            <a:pPr indent="0" marL="0">
              <a:buNone/>
            </a:pPr>
            <a:r>
              <a:rPr lang="en-US" sz="1000" dirty="0">
                <a:solidFill>
                  <a:srgbClr val="8A97A5"/>
                </a:solidFill>
                <a:latin typeface="Calibri" pitchFamily="34" charset="0"/>
                <a:ea typeface="Calibri" pitchFamily="34" charset="-122"/>
                <a:cs typeface="Calibri" pitchFamily="34" charset="-120"/>
              </a:rPr>
              <a:t>Acute poort en Hotfloor</a:t>
            </a:r>
            <a:endParaRPr lang="en-US" sz="1000" dirty="0"/>
          </a:p>
        </p:txBody>
      </p:sp>
      <p:sp>
        <p:nvSpPr>
          <p:cNvPr id="6" name="Text 4"/>
          <p:cNvSpPr txBox="1"/>
          <p:nvPr/>
        </p:nvSpPr>
        <p:spPr>
          <a:xfrm>
            <a:off x="11091672" y="6419088"/>
            <a:ext cx="548640" cy="228600"/>
          </a:xfrm>
          <a:prstGeom prst="rect">
            <a:avLst/>
          </a:prstGeom>
          <a:noFill/>
          <a:ln/>
        </p:spPr>
        <p:txBody>
          <a:bodyPr wrap="square" lIns="0" tIns="0" rIns="0" bIns="0" rtlCol="0" anchor="ctr"/>
          <a:lstStyle/>
          <a:p>
            <a:pPr algn="r" indent="0" marL="0">
              <a:buNone/>
            </a:pPr>
            <a:r>
              <a:rPr lang="en-US" sz="1000" dirty="0">
                <a:solidFill>
                  <a:srgbClr val="8A97A5"/>
                </a:solidFill>
                <a:latin typeface="Calibri" pitchFamily="34" charset="0"/>
                <a:ea typeface="Calibri" pitchFamily="34" charset="-122"/>
                <a:cs typeface="Calibri" pitchFamily="34" charset="-120"/>
              </a:rPr>
              <a:t>16</a:t>
            </a:r>
            <a:endParaRPr lang="en-US" sz="1000" dirty="0"/>
          </a:p>
        </p:txBody>
      </p:sp>
      <p:sp>
        <p:nvSpPr>
          <p:cNvPr id="7" name="Shape 5"/>
          <p:cNvSpPr/>
          <p:nvPr/>
        </p:nvSpPr>
        <p:spPr>
          <a:xfrm>
            <a:off x="548640" y="1874520"/>
            <a:ext cx="5440680" cy="3840480"/>
          </a:xfrm>
          <a:prstGeom prst="roundRect">
            <a:avLst>
              <a:gd name="adj" fmla="val 2857"/>
            </a:avLst>
          </a:prstGeom>
          <a:solidFill>
            <a:srgbClr val="F3F6F9"/>
          </a:solidFill>
          <a:ln w="12700">
            <a:solidFill>
              <a:srgbClr val="F3F6F9"/>
            </a:solidFill>
            <a:prstDash val="solid"/>
          </a:ln>
        </p:spPr>
      </p:sp>
      <p:sp>
        <p:nvSpPr>
          <p:cNvPr id="8" name="Text 6"/>
          <p:cNvSpPr txBox="1"/>
          <p:nvPr/>
        </p:nvSpPr>
        <p:spPr>
          <a:xfrm>
            <a:off x="822960" y="1965960"/>
            <a:ext cx="4892040" cy="365760"/>
          </a:xfrm>
          <a:prstGeom prst="rect">
            <a:avLst/>
          </a:prstGeom>
          <a:noFill/>
          <a:ln/>
        </p:spPr>
        <p:txBody>
          <a:bodyPr wrap="square" lIns="0" tIns="0" rIns="0" bIns="0" rtlCol="0" anchor="ctr"/>
          <a:lstStyle/>
          <a:p>
            <a:pPr indent="0" marL="0">
              <a:buNone/>
            </a:pPr>
            <a:r>
              <a:rPr lang="en-US" sz="1600" b="1" dirty="0">
                <a:solidFill>
                  <a:srgbClr val="C4392D"/>
                </a:solidFill>
                <a:latin typeface="Calibri" pitchFamily="34" charset="0"/>
                <a:ea typeface="Calibri" pitchFamily="34" charset="-122"/>
                <a:cs typeface="Calibri" pitchFamily="34" charset="-120"/>
              </a:rPr>
              <a:t>Knelpunten</a:t>
            </a:r>
            <a:endParaRPr lang="en-US" sz="1600" dirty="0"/>
          </a:p>
        </p:txBody>
      </p:sp>
      <p:sp>
        <p:nvSpPr>
          <p:cNvPr id="9" name="Text 7"/>
          <p:cNvSpPr txBox="1"/>
          <p:nvPr/>
        </p:nvSpPr>
        <p:spPr>
          <a:xfrm>
            <a:off x="822960" y="2377440"/>
            <a:ext cx="4892040" cy="320040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250" dirty="0">
                <a:solidFill>
                  <a:srgbClr val="12283A"/>
                </a:solidFill>
                <a:latin typeface="Calibri" pitchFamily="34" charset="0"/>
                <a:ea typeface="Calibri" pitchFamily="34" charset="-122"/>
                <a:cs typeface="Calibri" pitchFamily="34" charset="-120"/>
              </a:rPr>
              <a:t>Verpleegkundige norm: aanbodgericht in plaats van vraaggestuurd</a:t>
            </a:r>
            <a:endParaRPr lang="en-US" sz="1250" dirty="0"/>
          </a:p>
          <a:p>
            <a:pPr marL="342900" indent="-342900">
              <a:spcAft>
                <a:spcPts val="500"/>
              </a:spcAft>
              <a:buSzPct val="100000"/>
              <a:buFont typeface="+mj-lt"/>
              <a:buAutoNum type="arabicPeriod" startAt="1"/>
            </a:pPr>
            <a:r>
              <a:rPr lang="en-US" sz="1250" dirty="0">
                <a:solidFill>
                  <a:srgbClr val="12283A"/>
                </a:solidFill>
                <a:latin typeface="Calibri" pitchFamily="34" charset="0"/>
                <a:ea typeface="Calibri" pitchFamily="34" charset="-122"/>
                <a:cs typeface="Calibri" pitchFamily="34" charset="-120"/>
              </a:rPr>
              <a:t>SEH-artsen: inzet verhoogd, begroting niet aangepast</a:t>
            </a:r>
            <a:endParaRPr lang="en-US" sz="1250" dirty="0"/>
          </a:p>
          <a:p>
            <a:pPr marL="342900" indent="-342900">
              <a:spcAft>
                <a:spcPts val="500"/>
              </a:spcAft>
              <a:buSzPct val="100000"/>
              <a:buFont typeface="+mj-lt"/>
              <a:buAutoNum type="arabicPeriod" startAt="1"/>
            </a:pPr>
            <a:r>
              <a:rPr lang="en-US" sz="1250" dirty="0">
                <a:solidFill>
                  <a:srgbClr val="12283A"/>
                </a:solidFill>
                <a:latin typeface="Calibri" pitchFamily="34" charset="0"/>
                <a:ea typeface="Calibri" pitchFamily="34" charset="-122"/>
                <a:cs typeface="Calibri" pitchFamily="34" charset="-120"/>
              </a:rPr>
              <a:t>Acute poort: wat komt waar, en wat kunnen wij doorrekenen?</a:t>
            </a:r>
            <a:endParaRPr lang="en-US" sz="1250" dirty="0"/>
          </a:p>
          <a:p>
            <a:pPr marL="342900" indent="-342900">
              <a:spcAft>
                <a:spcPts val="500"/>
              </a:spcAft>
              <a:buSzPct val="100000"/>
              <a:buFont typeface="+mj-lt"/>
              <a:buAutoNum type="arabicPeriod" startAt="1"/>
            </a:pPr>
            <a:r>
              <a:rPr lang="en-US" sz="1250" dirty="0">
                <a:solidFill>
                  <a:srgbClr val="12283A"/>
                </a:solidFill>
                <a:latin typeface="Calibri" pitchFamily="34" charset="0"/>
                <a:ea typeface="Calibri" pitchFamily="34" charset="-122"/>
                <a:cs typeface="Calibri" pitchFamily="34" charset="-120"/>
              </a:rPr>
              <a:t>Jaarplan BIC: ICU en CCU wijken er structureel van af</a:t>
            </a:r>
            <a:endParaRPr lang="en-US" sz="1250" dirty="0"/>
          </a:p>
          <a:p>
            <a:pPr marL="342900" indent="-342900">
              <a:spcAft>
                <a:spcPts val="500"/>
              </a:spcAft>
              <a:buSzPct val="100000"/>
              <a:buFont typeface="+mj-lt"/>
              <a:buAutoNum type="arabicPeriod" startAt="1"/>
            </a:pPr>
            <a:r>
              <a:rPr lang="en-US" sz="1250" dirty="0">
                <a:solidFill>
                  <a:srgbClr val="12283A"/>
                </a:solidFill>
                <a:latin typeface="Calibri" pitchFamily="34" charset="0"/>
                <a:ea typeface="Calibri" pitchFamily="34" charset="-122"/>
                <a:cs typeface="Calibri" pitchFamily="34" charset="-120"/>
              </a:rPr>
              <a:t>Planning buiten CPP om, met name rond de acute poule</a:t>
            </a:r>
            <a:endParaRPr lang="en-US" sz="1250" dirty="0"/>
          </a:p>
          <a:p>
            <a:pPr marL="342900" indent="-342900">
              <a:spcAft>
                <a:spcPts val="500"/>
              </a:spcAft>
              <a:buSzPct val="100000"/>
              <a:buFont typeface="+mj-lt"/>
              <a:buAutoNum type="arabicPeriod" startAt="1"/>
            </a:pPr>
            <a:r>
              <a:rPr lang="en-US" sz="1250" dirty="0">
                <a:solidFill>
                  <a:srgbClr val="12283A"/>
                </a:solidFill>
                <a:latin typeface="Calibri" pitchFamily="34" charset="0"/>
                <a:ea typeface="Calibri" pitchFamily="34" charset="-122"/>
                <a:cs typeface="Calibri" pitchFamily="34" charset="-120"/>
              </a:rPr>
              <a:t>Indirecte uren: geen vastgesteld uitgangspunt</a:t>
            </a:r>
            <a:endParaRPr lang="en-US" sz="1250" dirty="0"/>
          </a:p>
          <a:p>
            <a:pPr marL="342900" indent="-342900">
              <a:spcAft>
                <a:spcPts val="500"/>
              </a:spcAft>
              <a:buSzPct val="100000"/>
              <a:buFont typeface="+mj-lt"/>
              <a:buAutoNum type="arabicPeriod" startAt="1"/>
            </a:pPr>
            <a:r>
              <a:rPr lang="en-US" sz="1250" dirty="0">
                <a:solidFill>
                  <a:srgbClr val="12283A"/>
                </a:solidFill>
                <a:latin typeface="Calibri" pitchFamily="34" charset="0"/>
                <a:ea typeface="Calibri" pitchFamily="34" charset="-122"/>
                <a:cs typeface="Calibri" pitchFamily="34" charset="-120"/>
              </a:rPr>
              <a:t>Uitgangspunten en kaders rond personele planning ontbreken</a:t>
            </a:r>
            <a:endParaRPr lang="en-US" sz="1250" dirty="0"/>
          </a:p>
          <a:p>
            <a:pPr marL="342900" indent="-342900">
              <a:spcAft>
                <a:spcPts val="500"/>
              </a:spcAft>
              <a:buSzPct val="100000"/>
              <a:buFont typeface="+mj-lt"/>
              <a:buAutoNum type="arabicPeriod" startAt="1"/>
            </a:pPr>
            <a:r>
              <a:rPr lang="en-US" sz="1250" dirty="0">
                <a:solidFill>
                  <a:srgbClr val="12283A"/>
                </a:solidFill>
                <a:latin typeface="Calibri" pitchFamily="34" charset="0"/>
                <a:ea typeface="Calibri" pitchFamily="34" charset="-122"/>
                <a:cs typeface="Calibri" pitchFamily="34" charset="-120"/>
              </a:rPr>
              <a:t>Vakantiegoedkeuringen te ruim, met name CCU (Remco: 20 tot 25%)</a:t>
            </a:r>
            <a:endParaRPr lang="en-US" sz="1250" dirty="0"/>
          </a:p>
        </p:txBody>
      </p:sp>
      <p:sp>
        <p:nvSpPr>
          <p:cNvPr id="10" name="Shape 8"/>
          <p:cNvSpPr/>
          <p:nvPr/>
        </p:nvSpPr>
        <p:spPr>
          <a:xfrm>
            <a:off x="6199632" y="1874520"/>
            <a:ext cx="5440680" cy="3840480"/>
          </a:xfrm>
          <a:prstGeom prst="roundRect">
            <a:avLst>
              <a:gd name="adj" fmla="val 2857"/>
            </a:avLst>
          </a:prstGeom>
          <a:solidFill>
            <a:srgbClr val="F3F6F9"/>
          </a:solidFill>
          <a:ln w="12700">
            <a:solidFill>
              <a:srgbClr val="F3F6F9"/>
            </a:solidFill>
            <a:prstDash val="solid"/>
          </a:ln>
        </p:spPr>
      </p:sp>
      <p:sp>
        <p:nvSpPr>
          <p:cNvPr id="11" name="Text 9"/>
          <p:cNvSpPr txBox="1"/>
          <p:nvPr/>
        </p:nvSpPr>
        <p:spPr>
          <a:xfrm>
            <a:off x="6473952" y="1965960"/>
            <a:ext cx="4892040" cy="365760"/>
          </a:xfrm>
          <a:prstGeom prst="rect">
            <a:avLst/>
          </a:prstGeom>
          <a:noFill/>
          <a:ln/>
        </p:spPr>
        <p:txBody>
          <a:bodyPr wrap="square" lIns="0" tIns="0" rIns="0" bIns="0" rtlCol="0" anchor="ctr"/>
          <a:lstStyle/>
          <a:p>
            <a:pPr indent="0" marL="0">
              <a:buNone/>
            </a:pPr>
            <a:r>
              <a:rPr lang="en-US" sz="1600" b="1" dirty="0">
                <a:solidFill>
                  <a:srgbClr val="3F4F9B"/>
                </a:solidFill>
                <a:latin typeface="Calibri" pitchFamily="34" charset="0"/>
                <a:ea typeface="Calibri" pitchFamily="34" charset="-122"/>
                <a:cs typeface="Calibri" pitchFamily="34" charset="-120"/>
              </a:rPr>
              <a:t>Vervolg</a:t>
            </a:r>
            <a:endParaRPr lang="en-US" sz="1600" dirty="0"/>
          </a:p>
        </p:txBody>
      </p:sp>
      <p:sp>
        <p:nvSpPr>
          <p:cNvPr id="12" name="Text 10"/>
          <p:cNvSpPr txBox="1"/>
          <p:nvPr/>
        </p:nvSpPr>
        <p:spPr>
          <a:xfrm>
            <a:off x="6473952" y="2377440"/>
            <a:ext cx="4892040" cy="320040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250" dirty="0">
                <a:solidFill>
                  <a:srgbClr val="12283A"/>
                </a:solidFill>
                <a:latin typeface="Calibri" pitchFamily="34" charset="0"/>
                <a:ea typeface="Calibri" pitchFamily="34" charset="-122"/>
                <a:cs typeface="Calibri" pitchFamily="34" charset="-120"/>
              </a:rPr>
              <a:t>Simulatie ICU met volledige ICU-data</a:t>
            </a:r>
            <a:endParaRPr lang="en-US" sz="1250" dirty="0"/>
          </a:p>
          <a:p>
            <a:pPr marL="342900" indent="-342900">
              <a:spcAft>
                <a:spcPts val="500"/>
              </a:spcAft>
              <a:buSzPct val="100000"/>
              <a:buFont typeface="+mj-lt"/>
              <a:buAutoNum type="arabicPeriod" startAt="1"/>
            </a:pPr>
            <a:r>
              <a:rPr lang="en-US" sz="1250" dirty="0">
                <a:solidFill>
                  <a:srgbClr val="12283A"/>
                </a:solidFill>
                <a:latin typeface="Calibri" pitchFamily="34" charset="0"/>
                <a:ea typeface="Calibri" pitchFamily="34" charset="-122"/>
                <a:cs typeface="Calibri" pitchFamily="34" charset="-120"/>
              </a:rPr>
              <a:t>Simulatie CCU zonder de eerste 2 uur richting de SEH</a:t>
            </a:r>
            <a:endParaRPr lang="en-US" sz="1250" dirty="0"/>
          </a:p>
          <a:p>
            <a:pPr marL="342900" indent="-342900">
              <a:spcAft>
                <a:spcPts val="500"/>
              </a:spcAft>
              <a:buSzPct val="100000"/>
              <a:buFont typeface="+mj-lt"/>
              <a:buAutoNum type="arabicPeriod" startAt="1"/>
            </a:pPr>
            <a:r>
              <a:rPr lang="en-US" sz="1250" dirty="0">
                <a:solidFill>
                  <a:srgbClr val="12283A"/>
                </a:solidFill>
                <a:latin typeface="Calibri" pitchFamily="34" charset="0"/>
                <a:ea typeface="Calibri" pitchFamily="34" charset="-122"/>
                <a:cs typeface="Calibri" pitchFamily="34" charset="-120"/>
              </a:rPr>
              <a:t>Bedden op dagniveau: seizoenspatronen en verdeling ICU/CCU</a:t>
            </a:r>
            <a:endParaRPr lang="en-US" sz="1250" dirty="0"/>
          </a:p>
          <a:p>
            <a:pPr marL="342900" indent="-342900">
              <a:spcAft>
                <a:spcPts val="500"/>
              </a:spcAft>
              <a:buSzPct val="100000"/>
              <a:buFont typeface="+mj-lt"/>
              <a:buAutoNum type="arabicPeriod" startAt="1"/>
            </a:pPr>
            <a:r>
              <a:rPr lang="en-US" sz="1250" dirty="0">
                <a:solidFill>
                  <a:srgbClr val="12283A"/>
                </a:solidFill>
                <a:latin typeface="Calibri" pitchFamily="34" charset="0"/>
                <a:ea typeface="Calibri" pitchFamily="34" charset="-122"/>
                <a:cs typeface="Calibri" pitchFamily="34" charset="-120"/>
              </a:rPr>
              <a:t>Versneld jaarplan CCU en het document van Daniek</a:t>
            </a:r>
            <a:endParaRPr lang="en-US" sz="1250" dirty="0"/>
          </a:p>
          <a:p>
            <a:pPr marL="342900" indent="-342900">
              <a:spcAft>
                <a:spcPts val="500"/>
              </a:spcAft>
              <a:buSzPct val="100000"/>
              <a:buFont typeface="+mj-lt"/>
              <a:buAutoNum type="arabicPeriod" startAt="1"/>
            </a:pPr>
            <a:r>
              <a:rPr lang="en-US" sz="1250" dirty="0">
                <a:solidFill>
                  <a:srgbClr val="12283A"/>
                </a:solidFill>
                <a:latin typeface="Calibri" pitchFamily="34" charset="0"/>
                <a:ea typeface="Calibri" pitchFamily="34" charset="-122"/>
                <a:cs typeface="Calibri" pitchFamily="34" charset="-120"/>
              </a:rPr>
              <a:t>Aftrap jaarplannen Acuut 2027: wens voor SEH-artsen?</a:t>
            </a:r>
            <a:endParaRPr lang="en-US" sz="1250" dirty="0"/>
          </a:p>
          <a:p>
            <a:pPr marL="342900" indent="-342900">
              <a:spcAft>
                <a:spcPts val="500"/>
              </a:spcAft>
              <a:buSzPct val="100000"/>
              <a:buFont typeface="+mj-lt"/>
              <a:buAutoNum type="arabicPeriod" startAt="1"/>
            </a:pPr>
            <a:r>
              <a:rPr lang="en-US" sz="1250" dirty="0">
                <a:solidFill>
                  <a:srgbClr val="12283A"/>
                </a:solidFill>
                <a:latin typeface="Calibri" pitchFamily="34" charset="0"/>
                <a:ea typeface="Calibri" pitchFamily="34" charset="-122"/>
                <a:cs typeface="Calibri" pitchFamily="34" charset="-120"/>
              </a:rPr>
              <a:t>Integratie ICU en CCU: inzet van ICU op CCU gebeurt nog niet</a:t>
            </a:r>
            <a:endParaRPr lang="en-US" sz="1250" dirty="0"/>
          </a:p>
          <a:p>
            <a:pPr marL="342900" indent="-342900">
              <a:spcAft>
                <a:spcPts val="500"/>
              </a:spcAft>
              <a:buSzPct val="100000"/>
              <a:buFont typeface="+mj-lt"/>
              <a:buAutoNum type="arabicPeriod" startAt="1"/>
            </a:pPr>
            <a:r>
              <a:rPr lang="en-US" sz="1250" dirty="0">
                <a:solidFill>
                  <a:srgbClr val="12283A"/>
                </a:solidFill>
                <a:latin typeface="Calibri" pitchFamily="34" charset="0"/>
                <a:ea typeface="Calibri" pitchFamily="34" charset="-122"/>
                <a:cs typeface="Calibri" pitchFamily="34" charset="-120"/>
              </a:rPr>
              <a:t>Aan Remco: personeel EHH, opvang acute cardio, verblijfsduur SEH</a:t>
            </a:r>
            <a:endParaRPr lang="en-US" sz="1250" dirty="0"/>
          </a:p>
          <a:p>
            <a:pPr marL="342900" indent="-342900">
              <a:spcAft>
                <a:spcPts val="500"/>
              </a:spcAft>
              <a:buSzPct val="100000"/>
              <a:buFont typeface="+mj-lt"/>
              <a:buAutoNum type="arabicPeriod" startAt="1"/>
            </a:pPr>
            <a:r>
              <a:rPr lang="en-US" sz="1250" dirty="0">
                <a:solidFill>
                  <a:srgbClr val="12283A"/>
                </a:solidFill>
                <a:latin typeface="Calibri" pitchFamily="34" charset="0"/>
                <a:ea typeface="Calibri" pitchFamily="34" charset="-122"/>
                <a:cs typeface="Calibri" pitchFamily="34" charset="-120"/>
              </a:rPr>
              <a:t>Masterplan Acuut: jaarplan opstellen en naast het huidige leggen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Acute poort en Hotfloor - de eenvoudige versie</dc:title>
  <dc:subject>PptxGenJS Presentation</dc:subject>
  <dc:creator>Integraal capaciteitsmanagement</dc:creator>
  <cp:lastModifiedBy>Integraal capaciteitsmanagement</cp:lastModifiedBy>
  <cp:revision>1</cp:revision>
  <dcterms:created xsi:type="dcterms:W3CDTF">2026-09-11T10:30:06Z</dcterms:created>
  <dcterms:modified xsi:type="dcterms:W3CDTF">2026-09-11T10:30:06Z</dcterms:modified>
</cp:coreProperties>
</file>