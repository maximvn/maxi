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6812279" y="548640"/>
            <a:ext cx="5303520" cy="5303520"/>
          </a:xfrm>
          <a:prstGeom prst="ellipse">
            <a:avLst/>
          </a:prstGeom>
          <a:noFill/>
          <a:ln w="12700">
            <a:solidFill>
              <a:srgbClr val="0E9A87">
                <a:alpha val="1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498079" y="1234440"/>
            <a:ext cx="3931920" cy="3931920"/>
          </a:xfrm>
          <a:prstGeom prst="ellipse">
            <a:avLst/>
          </a:prstGeom>
          <a:noFill/>
          <a:ln w="12700">
            <a:solidFill>
              <a:srgbClr val="0E9A87">
                <a:alpha val="1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183879" y="1920240"/>
            <a:ext cx="2560320" cy="2560320"/>
          </a:xfrm>
          <a:prstGeom prst="ellipse">
            <a:avLst/>
          </a:prstGeom>
          <a:noFill/>
          <a:ln w="12700">
            <a:solidFill>
              <a:srgbClr val="0E9A87">
                <a:alpha val="24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481328"/>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INTEGRAAL CAPACITEITSMANAGEMENT</a:t>
            </a:r>
          </a:p>
        </p:txBody>
      </p:sp>
      <p:sp>
        <p:nvSpPr>
          <p:cNvPr id="7" name="TextBox 6"/>
          <p:cNvSpPr txBox="1"/>
          <p:nvPr/>
        </p:nvSpPr>
        <p:spPr>
          <a:xfrm>
            <a:off x="640080" y="1810512"/>
            <a:ext cx="7863840" cy="1828800"/>
          </a:xfrm>
          <a:prstGeom prst="rect">
            <a:avLst/>
          </a:prstGeom>
          <a:noFill/>
        </p:spPr>
        <p:txBody>
          <a:bodyPr wrap="square" lIns="0" rIns="0" tIns="0" bIns="0" anchor="t">
            <a:spAutoFit/>
          </a:bodyPr>
          <a:lstStyle/>
          <a:p>
            <a:pPr algn="l">
              <a:lnSpc>
                <a:spcPct val="100000"/>
              </a:lnSpc>
              <a:spcAft>
                <a:spcPts val="0"/>
              </a:spcAft>
            </a:pPr>
            <a:r>
              <a:rPr sz="6200" b="1">
                <a:solidFill>
                  <a:srgbClr val="0D1B2A"/>
                </a:solidFill>
                <a:latin typeface="Calibri"/>
              </a:rPr>
              <a:t>Acute poort</a:t>
            </a:r>
          </a:p>
          <a:p>
            <a:pPr algn="l">
              <a:lnSpc>
                <a:spcPct val="100000"/>
              </a:lnSpc>
              <a:spcAft>
                <a:spcPts val="0"/>
              </a:spcAft>
            </a:pPr>
            <a:r>
              <a:rPr sz="6200" b="1">
                <a:solidFill>
                  <a:srgbClr val="0E9A87"/>
                </a:solidFill>
                <a:latin typeface="Calibri"/>
              </a:rPr>
              <a:t>en Hotfloor</a:t>
            </a:r>
          </a:p>
        </p:txBody>
      </p:sp>
      <p:cxnSp>
        <p:nvCxnSpPr>
          <p:cNvPr id="8" name="Connector 7"/>
          <p:cNvCxnSpPr/>
          <p:nvPr/>
        </p:nvCxnSpPr>
        <p:spPr>
          <a:xfrm>
            <a:off x="640080" y="3803904"/>
            <a:ext cx="3108959"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86784"/>
            <a:ext cx="6766560" cy="548640"/>
          </a:xfrm>
          <a:prstGeom prst="rect">
            <a:avLst/>
          </a:prstGeom>
          <a:noFill/>
        </p:spPr>
        <p:txBody>
          <a:bodyPr wrap="square" lIns="0" rIns="0" tIns="0" bIns="0" anchor="t">
            <a:spAutoFit/>
          </a:bodyPr>
          <a:lstStyle/>
          <a:p>
            <a:pPr algn="l">
              <a:lnSpc>
                <a:spcPct val="120000"/>
              </a:lnSpc>
              <a:spcAft>
                <a:spcPts val="0"/>
              </a:spcAft>
            </a:pPr>
            <a:r>
              <a:rPr sz="1600" b="0">
                <a:solidFill>
                  <a:srgbClr val="55677C"/>
                </a:solidFill>
                <a:latin typeface="Calibri"/>
              </a:rPr>
              <a:t>Van de huidige situatie naar de nieuwbouw, juni 2027</a:t>
            </a:r>
          </a:p>
        </p:txBody>
      </p:sp>
      <p:sp>
        <p:nvSpPr>
          <p:cNvPr id="10" name="TextBox 9"/>
          <p:cNvSpPr txBox="1"/>
          <p:nvPr/>
        </p:nvSpPr>
        <p:spPr>
          <a:xfrm>
            <a:off x="64008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36</a:t>
            </a:r>
          </a:p>
        </p:txBody>
      </p:sp>
      <p:sp>
        <p:nvSpPr>
          <p:cNvPr id="11" name="TextBox 10"/>
          <p:cNvSpPr txBox="1"/>
          <p:nvPr/>
        </p:nvSpPr>
        <p:spPr>
          <a:xfrm>
            <a:off x="64008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OPENSTAANDE VRAGEN</a:t>
            </a:r>
          </a:p>
        </p:txBody>
      </p:sp>
      <p:sp>
        <p:nvSpPr>
          <p:cNvPr id="12" name="TextBox 11"/>
          <p:cNvSpPr txBox="1"/>
          <p:nvPr/>
        </p:nvSpPr>
        <p:spPr>
          <a:xfrm>
            <a:off x="370332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6</a:t>
            </a:r>
          </a:p>
        </p:txBody>
      </p:sp>
      <p:sp>
        <p:nvSpPr>
          <p:cNvPr id="13" name="TextBox 12"/>
          <p:cNvSpPr txBox="1"/>
          <p:nvPr/>
        </p:nvSpPr>
        <p:spPr>
          <a:xfrm>
            <a:off x="370332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BESLUITEN DIE KLEMMEN</a:t>
            </a:r>
          </a:p>
        </p:txBody>
      </p:sp>
      <p:sp>
        <p:nvSpPr>
          <p:cNvPr id="14" name="TextBox 13"/>
          <p:cNvSpPr txBox="1"/>
          <p:nvPr/>
        </p:nvSpPr>
        <p:spPr>
          <a:xfrm>
            <a:off x="676656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87E12"/>
                </a:solidFill>
                <a:latin typeface="Calibri"/>
              </a:rPr>
              <a:t>2</a:t>
            </a:r>
          </a:p>
        </p:txBody>
      </p:sp>
      <p:sp>
        <p:nvSpPr>
          <p:cNvPr id="15" name="TextBox 14"/>
          <p:cNvSpPr txBox="1"/>
          <p:nvPr/>
        </p:nvSpPr>
        <p:spPr>
          <a:xfrm>
            <a:off x="676656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GROTE WIJZIGINGEN</a:t>
            </a:r>
          </a:p>
        </p:txBody>
      </p:sp>
      <p:sp>
        <p:nvSpPr>
          <p:cNvPr id="16" name="Freeform 15"/>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0E9A87">
                    <a:alpha val="9000"/>
                  </a:srgbClr>
                </a:solidFill>
                <a:latin typeface="Calibri"/>
              </a:rPr>
              <a:t>01</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DEEL 01</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Waar staan we nu</a:t>
            </a:r>
          </a:p>
        </p:txBody>
      </p:sp>
      <p:cxnSp>
        <p:nvCxnSpPr>
          <p:cNvPr id="6" name="Connector 5"/>
          <p:cNvCxnSpPr/>
          <p:nvPr/>
        </p:nvCxnSpPr>
        <p:spPr>
          <a:xfrm>
            <a:off x="640080" y="3584448"/>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startsituatie per afdeling</a:t>
            </a:r>
          </a:p>
        </p:txBody>
      </p:sp>
      <p:sp>
        <p:nvSpPr>
          <p:cNvPr id="9" name="Oval 8"/>
          <p:cNvSpPr/>
          <p:nvPr/>
        </p:nvSpPr>
        <p:spPr>
          <a:xfrm>
            <a:off x="649224" y="4279392"/>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Waarom tien en vijftien kamers niet optelbaar zijn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0E9A87">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Startsituatie per afdeling</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graphicFrame>
        <p:nvGraphicFramePr>
          <p:cNvPr id="10" name="Table 9"/>
          <p:cNvGraphicFramePr>
            <a:graphicFrameLocks noGrp="1"/>
          </p:cNvGraphicFramePr>
          <p:nvPr/>
        </p:nvGraphicFramePr>
        <p:xfrm>
          <a:off x="640080" y="1700784"/>
          <a:ext cx="10865814" cy="1938528"/>
        </p:xfrm>
        <a:graphic>
          <a:graphicData uri="http://schemas.openxmlformats.org/drawingml/2006/table">
            <a:tbl>
              <a:tblPr>
                <a:tableStyleId>{5C22544A-7EE6-4342-B048-85BDC9FD1C3A}</a:tableStyleId>
              </a:tblPr>
              <a:tblGrid>
                <a:gridCol w="1965960"/>
                <a:gridCol w="1097280"/>
                <a:gridCol w="1691640"/>
                <a:gridCol w="1051560"/>
                <a:gridCol w="1874519"/>
                <a:gridCol w="1691640"/>
                <a:gridCol w="1493215"/>
              </a:tblGrid>
              <a:tr h="329184">
                <a:tc>
                  <a:txBody>
                    <a:bodyPr wrap="square"/>
                    <a:lstStyle/>
                    <a:p>
                      <a:pPr algn="l">
                        <a:spcAft>
                          <a:spcPts val="200"/>
                        </a:spcAft>
                      </a:pPr>
                      <a:r>
                        <a:rPr sz="950" b="1">
                          <a:solidFill>
                            <a:srgbClr val="0E9A87"/>
                          </a:solidFill>
                          <a:latin typeface="Calibri"/>
                        </a:rPr>
                        <a:t>AFDELING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KAMERS NU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JAARPLAN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NORM VPK</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HUIDIGE INZET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00" b="1">
                          <a:solidFill>
                            <a:srgbClr val="0E9A87"/>
                          </a:solidFill>
                          <a:latin typeface="Calibri"/>
                        </a:rPr>
                        <a:t>OMGEREKENDE NORM</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GEWENSTE NORM</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FFFFFF"/>
                          </a:solidFill>
                          <a:latin typeface="Calibri"/>
                        </a:rPr>
                        <a:t>10</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CCU / SCU / EHH</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15</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ja, niet ingevoerd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SEH</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T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Kind spoed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7824" y="4078224"/>
            <a:ext cx="2978810" cy="566928"/>
          </a:xfrm>
          <a:prstGeom prst="rect">
            <a:avLst/>
          </a:prstGeom>
          <a:noFill/>
        </p:spPr>
        <p:txBody>
          <a:bodyPr wrap="square" lIns="0" rIns="0" tIns="0" bIns="0" anchor="t">
            <a:spAutoFit/>
          </a:bodyPr>
          <a:lstStyle/>
          <a:p>
            <a:pPr algn="l">
              <a:lnSpc>
                <a:spcPct val="120000"/>
              </a:lnSpc>
              <a:spcAft>
                <a:spcPts val="0"/>
              </a:spcAft>
            </a:pPr>
            <a:r>
              <a:rPr sz="3400" b="1">
                <a:solidFill>
                  <a:srgbClr val="C4392D"/>
                </a:solidFill>
                <a:latin typeface="Calibri"/>
              </a:rPr>
              <a:t>0 / 4</a:t>
            </a:r>
          </a:p>
        </p:txBody>
      </p:sp>
      <p:sp>
        <p:nvSpPr>
          <p:cNvPr id="13" name="TextBox 12"/>
          <p:cNvSpPr txBox="1"/>
          <p:nvPr/>
        </p:nvSpPr>
        <p:spPr>
          <a:xfrm>
            <a:off x="877824" y="4645152"/>
            <a:ext cx="2978810"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NORM</a:t>
            </a:r>
          </a:p>
        </p:txBody>
      </p:sp>
      <p:sp>
        <p:nvSpPr>
          <p:cNvPr id="14" name="TextBox 13"/>
          <p:cNvSpPr txBox="1"/>
          <p:nvPr/>
        </p:nvSpPr>
        <p:spPr>
          <a:xfrm>
            <a:off x="877824" y="4882896"/>
            <a:ext cx="2978810"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voor geen enkele afdeling is de norm verpleegkundigen vastgesteld</a:t>
            </a:r>
          </a:p>
        </p:txBody>
      </p:sp>
      <p:sp>
        <p:nvSpPr>
          <p:cNvPr id="15" name="Rounded Rectangle 14"/>
          <p:cNvSpPr/>
          <p:nvPr/>
        </p:nvSpPr>
        <p:spPr>
          <a:xfrm>
            <a:off x="4368698"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06442" y="4078224"/>
            <a:ext cx="2978810" cy="566928"/>
          </a:xfrm>
          <a:prstGeom prst="rect">
            <a:avLst/>
          </a:prstGeom>
          <a:noFill/>
        </p:spPr>
        <p:txBody>
          <a:bodyPr wrap="square" lIns="0" rIns="0" tIns="0" bIns="0" anchor="t">
            <a:spAutoFit/>
          </a:bodyPr>
          <a:lstStyle/>
          <a:p>
            <a:pPr algn="l">
              <a:lnSpc>
                <a:spcPct val="120000"/>
              </a:lnSpc>
              <a:spcAft>
                <a:spcPts val="0"/>
              </a:spcAft>
            </a:pPr>
            <a:r>
              <a:rPr sz="3400" b="1">
                <a:solidFill>
                  <a:srgbClr val="C87E12"/>
                </a:solidFill>
                <a:latin typeface="Calibri"/>
              </a:rPr>
              <a:t>1 / 4</a:t>
            </a:r>
          </a:p>
        </p:txBody>
      </p:sp>
      <p:sp>
        <p:nvSpPr>
          <p:cNvPr id="17" name="TextBox 16"/>
          <p:cNvSpPr txBox="1"/>
          <p:nvPr/>
        </p:nvSpPr>
        <p:spPr>
          <a:xfrm>
            <a:off x="4606442" y="4645152"/>
            <a:ext cx="2978810"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JAARPLAN</a:t>
            </a:r>
          </a:p>
        </p:txBody>
      </p:sp>
      <p:sp>
        <p:nvSpPr>
          <p:cNvPr id="18" name="TextBox 17"/>
          <p:cNvSpPr txBox="1"/>
          <p:nvPr/>
        </p:nvSpPr>
        <p:spPr>
          <a:xfrm>
            <a:off x="4606442" y="4882896"/>
            <a:ext cx="2978810" cy="274320"/>
          </a:xfrm>
          <a:prstGeom prst="rect">
            <a:avLst/>
          </a:prstGeom>
          <a:noFill/>
        </p:spPr>
        <p:txBody>
          <a:bodyPr wrap="square" lIns="0" rIns="0" tIns="0" bIns="0" anchor="t">
            <a:spAutoFit/>
          </a:bodyPr>
          <a:lstStyle/>
          <a:p>
            <a:pPr algn="l">
              <a:lnSpc>
                <a:spcPct val="118000"/>
              </a:lnSpc>
              <a:spcAft>
                <a:spcPts val="0"/>
              </a:spcAft>
            </a:pPr>
            <a:r>
              <a:rPr sz="1000" b="0">
                <a:solidFill>
                  <a:srgbClr val="55677C"/>
                </a:solidFill>
                <a:latin typeface="Calibri"/>
              </a:rPr>
              <a:t>en dat ene jaarplan is niet ingevoerd</a:t>
            </a:r>
          </a:p>
        </p:txBody>
      </p:sp>
      <p:sp>
        <p:nvSpPr>
          <p:cNvPr id="19" name="Rounded Rectangle 18"/>
          <p:cNvSpPr/>
          <p:nvPr/>
        </p:nvSpPr>
        <p:spPr>
          <a:xfrm>
            <a:off x="8097316"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35060" y="4078224"/>
            <a:ext cx="2978810" cy="566928"/>
          </a:xfrm>
          <a:prstGeom prst="rect">
            <a:avLst/>
          </a:prstGeom>
          <a:noFill/>
        </p:spPr>
        <p:txBody>
          <a:bodyPr wrap="square" lIns="0" rIns="0" tIns="0" bIns="0" anchor="t">
            <a:spAutoFit/>
          </a:bodyPr>
          <a:lstStyle/>
          <a:p>
            <a:pPr algn="l">
              <a:lnSpc>
                <a:spcPct val="120000"/>
              </a:lnSpc>
              <a:spcAft>
                <a:spcPts val="0"/>
              </a:spcAft>
            </a:pPr>
            <a:r>
              <a:rPr sz="3400" b="1">
                <a:solidFill>
                  <a:srgbClr val="1F6FB2"/>
                </a:solidFill>
                <a:latin typeface="Calibri"/>
              </a:rPr>
              <a:t>4 / 4</a:t>
            </a:r>
          </a:p>
        </p:txBody>
      </p:sp>
      <p:sp>
        <p:nvSpPr>
          <p:cNvPr id="21" name="TextBox 20"/>
          <p:cNvSpPr txBox="1"/>
          <p:nvPr/>
        </p:nvSpPr>
        <p:spPr>
          <a:xfrm>
            <a:off x="8335060" y="4645152"/>
            <a:ext cx="2978810"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REKENEN NU APART</a:t>
            </a:r>
          </a:p>
        </p:txBody>
      </p:sp>
      <p:sp>
        <p:nvSpPr>
          <p:cNvPr id="22" name="TextBox 21"/>
          <p:cNvSpPr txBox="1"/>
          <p:nvPr/>
        </p:nvSpPr>
        <p:spPr>
          <a:xfrm>
            <a:off x="8335060" y="4882896"/>
            <a:ext cx="2978810"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elke afdeling heeft een eigen berekening op de huidige situatie</a:t>
            </a:r>
          </a:p>
        </p:txBody>
      </p:sp>
      <p:sp>
        <p:nvSpPr>
          <p:cNvPr id="23" name="Rounded Rectangle 22"/>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NIET OPTELLEN</a:t>
            </a:r>
          </a:p>
          <a:p>
            <a:pPr algn="l">
              <a:lnSpc>
                <a:spcPct val="120000"/>
              </a:lnSpc>
              <a:spcAft>
                <a:spcPts val="0"/>
              </a:spcAft>
            </a:pPr>
            <a:r>
              <a:rPr sz="1250" b="1">
                <a:solidFill>
                  <a:srgbClr val="0D1B2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10 en 15 zijn niet optelbaar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04</a:t>
            </a:r>
          </a:p>
        </p:txBody>
      </p:sp>
      <p:sp>
        <p:nvSpPr>
          <p:cNvPr id="10" name="Rounded Rectangle 9"/>
          <p:cNvSpPr/>
          <p:nvPr/>
        </p:nvSpPr>
        <p:spPr>
          <a:xfrm>
            <a:off x="640080" y="1700784"/>
            <a:ext cx="4892040" cy="28346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1901952"/>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1F6FB2"/>
                </a:solidFill>
                <a:latin typeface="Calibri"/>
              </a:rPr>
              <a:t>ICU</a:t>
            </a:r>
          </a:p>
        </p:txBody>
      </p:sp>
      <p:sp>
        <p:nvSpPr>
          <p:cNvPr id="12" name="TextBox 11"/>
          <p:cNvSpPr txBox="1"/>
          <p:nvPr/>
        </p:nvSpPr>
        <p:spPr>
          <a:xfrm>
            <a:off x="932688" y="2249424"/>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10 KAMERS</a:t>
            </a:r>
          </a:p>
        </p:txBody>
      </p:sp>
      <p:sp>
        <p:nvSpPr>
          <p:cNvPr id="13" name="TextBox 12"/>
          <p:cNvSpPr txBox="1"/>
          <p:nvPr/>
        </p:nvSpPr>
        <p:spPr>
          <a:xfrm>
            <a:off x="932688" y="2487168"/>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intensive care</a:t>
            </a:r>
          </a:p>
        </p:txBody>
      </p:sp>
      <p:sp>
        <p:nvSpPr>
          <p:cNvPr id="14" name="Rounded Rectangle 13"/>
          <p:cNvSpPr/>
          <p:nvPr/>
        </p:nvSpPr>
        <p:spPr>
          <a:xfrm>
            <a:off x="1632203" y="2816352"/>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235708" y="2816352"/>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839211" y="2816352"/>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442715" y="2816352"/>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046220" y="2816352"/>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632203" y="3419856"/>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235708" y="3419856"/>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839211" y="3419856"/>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442715" y="3419856"/>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4046220" y="3419856"/>
            <a:ext cx="493776" cy="493776"/>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659575" y="1700784"/>
            <a:ext cx="4892040" cy="28346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52183" y="1901952"/>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6B4BA8"/>
                </a:solidFill>
                <a:latin typeface="Calibri"/>
              </a:rPr>
              <a:t>CCU / SCU / EHH</a:t>
            </a:r>
          </a:p>
        </p:txBody>
      </p:sp>
      <p:sp>
        <p:nvSpPr>
          <p:cNvPr id="26" name="TextBox 25"/>
          <p:cNvSpPr txBox="1"/>
          <p:nvPr/>
        </p:nvSpPr>
        <p:spPr>
          <a:xfrm>
            <a:off x="6952183" y="2249424"/>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15 KAMERS</a:t>
            </a:r>
          </a:p>
        </p:txBody>
      </p:sp>
      <p:sp>
        <p:nvSpPr>
          <p:cNvPr id="27" name="TextBox 26"/>
          <p:cNvSpPr txBox="1"/>
          <p:nvPr/>
        </p:nvSpPr>
        <p:spPr>
          <a:xfrm>
            <a:off x="6952183" y="2487168"/>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coronary, stroke en eerste hart hulp</a:t>
            </a:r>
          </a:p>
        </p:txBody>
      </p:sp>
      <p:sp>
        <p:nvSpPr>
          <p:cNvPr id="28" name="Rounded Rectangle 27"/>
          <p:cNvSpPr/>
          <p:nvPr/>
        </p:nvSpPr>
        <p:spPr>
          <a:xfrm>
            <a:off x="7651699" y="2816352"/>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55203" y="2816352"/>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8858707" y="2816352"/>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462211" y="2816352"/>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0065715" y="2816352"/>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651699" y="3419856"/>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255203" y="3419856"/>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8858707" y="3419856"/>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9462211" y="3419856"/>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0065715" y="3419856"/>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651699" y="4023360"/>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255203" y="4023360"/>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8858707" y="4023360"/>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462211" y="4023360"/>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065715" y="4023360"/>
            <a:ext cx="493776" cy="493776"/>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532120" y="2670048"/>
            <a:ext cx="1127455" cy="914400"/>
          </a:xfrm>
          <a:prstGeom prst="rect">
            <a:avLst/>
          </a:prstGeom>
          <a:noFill/>
        </p:spPr>
        <p:txBody>
          <a:bodyPr wrap="square" lIns="0" rIns="0" tIns="0" bIns="0" anchor="t">
            <a:spAutoFit/>
          </a:bodyPr>
          <a:lstStyle/>
          <a:p>
            <a:pPr algn="ctr">
              <a:lnSpc>
                <a:spcPct val="120000"/>
              </a:lnSpc>
              <a:spcAft>
                <a:spcPts val="0"/>
              </a:spcAft>
            </a:pPr>
            <a:r>
              <a:rPr sz="5600" b="1">
                <a:solidFill>
                  <a:srgbClr val="C4392D"/>
                </a:solidFill>
                <a:latin typeface="Calibri"/>
              </a:rPr>
              <a:t>≠</a:t>
            </a:r>
          </a:p>
        </p:txBody>
      </p:sp>
      <p:sp>
        <p:nvSpPr>
          <p:cNvPr id="44" name="TextBox 43"/>
          <p:cNvSpPr txBox="1"/>
          <p:nvPr/>
        </p:nvSpPr>
        <p:spPr>
          <a:xfrm>
            <a:off x="5532120" y="3584448"/>
            <a:ext cx="1127455" cy="548640"/>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niet bij elkaar</a:t>
            </a:r>
          </a:p>
          <a:p>
            <a:pPr algn="ctr">
              <a:lnSpc>
                <a:spcPct val="120000"/>
              </a:lnSpc>
              <a:spcAft>
                <a:spcPts val="0"/>
              </a:spcAft>
            </a:pPr>
            <a:r>
              <a:rPr sz="1050" b="0">
                <a:solidFill>
                  <a:srgbClr val="55677C"/>
                </a:solidFill>
                <a:latin typeface="Calibri"/>
              </a:rPr>
              <a:t>op te tellen</a:t>
            </a:r>
          </a:p>
        </p:txBody>
      </p:sp>
      <p:sp>
        <p:nvSpPr>
          <p:cNvPr id="45" name="Rounded Rectangle 44"/>
          <p:cNvSpPr/>
          <p:nvPr/>
        </p:nvSpPr>
        <p:spPr>
          <a:xfrm>
            <a:off x="640080" y="4718304"/>
            <a:ext cx="5318607" cy="512064"/>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754880"/>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47" name="TextBox 46"/>
          <p:cNvSpPr txBox="1"/>
          <p:nvPr/>
        </p:nvSpPr>
        <p:spPr>
          <a:xfrm>
            <a:off x="2849727" y="4754880"/>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48" name="Rounded Rectangle 47"/>
          <p:cNvSpPr/>
          <p:nvPr/>
        </p:nvSpPr>
        <p:spPr>
          <a:xfrm>
            <a:off x="6233007" y="4718304"/>
            <a:ext cx="5318607" cy="512064"/>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489039" y="4754880"/>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 spoed</a:t>
            </a:r>
          </a:p>
        </p:txBody>
      </p:sp>
      <p:sp>
        <p:nvSpPr>
          <p:cNvPr id="50" name="TextBox 49"/>
          <p:cNvSpPr txBox="1"/>
          <p:nvPr/>
        </p:nvSpPr>
        <p:spPr>
          <a:xfrm>
            <a:off x="8442655" y="4754880"/>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51" name="Rounded Rectangle 50"/>
          <p:cNvSpPr/>
          <p:nvPr/>
        </p:nvSpPr>
        <p:spPr>
          <a:xfrm>
            <a:off x="640080" y="5321807"/>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640080" y="5321807"/>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69264" y="5404103"/>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WAT DIT BETEKENT VOOR DE CIJFERS</a:t>
            </a:r>
          </a:p>
          <a:p>
            <a:pPr algn="l">
              <a:lnSpc>
                <a:spcPct val="120000"/>
              </a:lnSpc>
              <a:spcAft>
                <a:spcPts val="0"/>
              </a:spcAft>
            </a:pPr>
            <a:r>
              <a:rPr sz="1250" b="1">
                <a:solidFill>
                  <a:srgbClr val="0D1B2A"/>
                </a:solidFill>
                <a:latin typeface="Calibri"/>
              </a:rPr>
              <a:t>De berekeningen zijn per specialisme apart gemaakt, op de huidige gescheiden situatie. Ze zijn niet een op een over te zetten naar nieuwbouwscenario's waarin afdelingen samengaan.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6B4BA8">
                    <a:alpha val="9000"/>
                  </a:srgbClr>
                </a:solidFill>
                <a:latin typeface="Calibri"/>
              </a:rPr>
              <a:t>02</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6B4BA8"/>
                </a:solidFill>
                <a:latin typeface="Calibri"/>
              </a:rPr>
              <a:t>DEEL 02</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gaan we rekenen</a:t>
            </a:r>
          </a:p>
        </p:txBody>
      </p:sp>
      <p:cxnSp>
        <p:nvCxnSpPr>
          <p:cNvPr id="6" name="Connector 5"/>
          <p:cNvCxnSpPr/>
          <p:nvPr/>
        </p:nvCxnSpPr>
        <p:spPr>
          <a:xfrm>
            <a:off x="640080" y="3584448"/>
            <a:ext cx="2377440" cy="0"/>
          </a:xfrm>
          <a:prstGeom prst="line">
            <a:avLst/>
          </a:prstGeom>
          <a:ln w="25400">
            <a:solidFill>
              <a:srgbClr val="6B4BA8"/>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Het tijdpad van september 2026 tot de verhuizing</a:t>
            </a:r>
          </a:p>
        </p:txBody>
      </p:sp>
      <p:sp>
        <p:nvSpPr>
          <p:cNvPr id="9" name="Oval 8"/>
          <p:cNvSpPr/>
          <p:nvPr/>
        </p:nvSpPr>
        <p:spPr>
          <a:xfrm>
            <a:off x="649224" y="4279392"/>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drie berekeningen en de stromen die meetellen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6B4BA8">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Het tijdpad</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06</a:t>
            </a:r>
          </a:p>
        </p:txBody>
      </p:sp>
      <p:sp>
        <p:nvSpPr>
          <p:cNvPr id="10" name="Rounded Rectangle 9"/>
          <p:cNvSpPr/>
          <p:nvPr/>
        </p:nvSpPr>
        <p:spPr>
          <a:xfrm>
            <a:off x="667512" y="1920240"/>
            <a:ext cx="724531" cy="548640"/>
          </a:xfrm>
          <a:prstGeom prst="roundRect">
            <a:avLst>
              <a:gd name="adj" fmla="val 16000"/>
            </a:avLst>
          </a:prstGeom>
          <a:solidFill>
            <a:srgbClr val="E2E8F0"/>
          </a:solidFill>
          <a:ln w="15875">
            <a:solidFill>
              <a:srgbClr val="CAD3D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19" y="1993392"/>
            <a:ext cx="596515"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8B9AAA"/>
                </a:solidFill>
                <a:latin typeface="Calibri"/>
              </a:rPr>
              <a:t>NU</a:t>
            </a:r>
          </a:p>
          <a:p>
            <a:pPr algn="ctr">
              <a:lnSpc>
                <a:spcPct val="120000"/>
              </a:lnSpc>
              <a:spcAft>
                <a:spcPts val="0"/>
              </a:spcAft>
            </a:pPr>
            <a:r>
              <a:rPr sz="900" b="0">
                <a:solidFill>
                  <a:srgbClr val="55677C"/>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D2E2F1"/>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10915" y="1993392"/>
            <a:ext cx="6052282"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1F6FB2"/>
                </a:solidFill>
                <a:latin typeface="Calibri"/>
              </a:rPr>
              <a:t>OUDBOUW</a:t>
            </a:r>
          </a:p>
          <a:p>
            <a:pPr algn="ctr">
              <a:lnSpc>
                <a:spcPct val="120000"/>
              </a:lnSpc>
              <a:spcAft>
                <a:spcPts val="0"/>
              </a:spcAft>
            </a:pPr>
            <a:r>
              <a:rPr sz="900" b="0">
                <a:solidFill>
                  <a:srgbClr val="55677C"/>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CFE8EA"/>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46078" y="1993392"/>
            <a:ext cx="3714096"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0E9A87"/>
                </a:solidFill>
                <a:latin typeface="Calibri"/>
              </a:rPr>
              <a:t>NIEUWBOUW</a:t>
            </a:r>
          </a:p>
          <a:p>
            <a:pPr algn="ctr">
              <a:lnSpc>
                <a:spcPct val="120000"/>
              </a:lnSpc>
              <a:spcAft>
                <a:spcPts val="0"/>
              </a:spcAft>
            </a:pPr>
            <a:r>
              <a:rPr sz="900" b="0">
                <a:solidFill>
                  <a:srgbClr val="55677C"/>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419475" y="2944368"/>
            <a:ext cx="6235162" cy="10972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654638" y="2944368"/>
            <a:ext cx="3896976" cy="109728"/>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64008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sept</a:t>
            </a:r>
          </a:p>
        </p:txBody>
      </p:sp>
      <p:sp>
        <p:nvSpPr>
          <p:cNvPr id="36" name="Rectangle 35"/>
          <p:cNvSpPr/>
          <p:nvPr/>
        </p:nvSpPr>
        <p:spPr>
          <a:xfrm>
            <a:off x="180460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419475"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38" name="Rectangle 37"/>
          <p:cNvSpPr/>
          <p:nvPr/>
        </p:nvSpPr>
        <p:spPr>
          <a:xfrm>
            <a:off x="2583996"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198870"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nov</a:t>
            </a:r>
          </a:p>
        </p:txBody>
      </p:sp>
      <p:sp>
        <p:nvSpPr>
          <p:cNvPr id="40" name="Rectangle 39"/>
          <p:cNvSpPr/>
          <p:nvPr/>
        </p:nvSpPr>
        <p:spPr>
          <a:xfrm>
            <a:off x="336339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97826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dec</a:t>
            </a:r>
          </a:p>
        </p:txBody>
      </p:sp>
      <p:sp>
        <p:nvSpPr>
          <p:cNvPr id="42" name="Rectangle 41"/>
          <p:cNvSpPr/>
          <p:nvPr/>
        </p:nvSpPr>
        <p:spPr>
          <a:xfrm>
            <a:off x="414278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57661"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jan</a:t>
            </a:r>
          </a:p>
        </p:txBody>
      </p:sp>
      <p:sp>
        <p:nvSpPr>
          <p:cNvPr id="44" name="Rectangle 43"/>
          <p:cNvSpPr/>
          <p:nvPr/>
        </p:nvSpPr>
        <p:spPr>
          <a:xfrm>
            <a:off x="4922182"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53705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feb</a:t>
            </a:r>
          </a:p>
        </p:txBody>
      </p:sp>
      <p:sp>
        <p:nvSpPr>
          <p:cNvPr id="46" name="Rectangle 45"/>
          <p:cNvSpPr/>
          <p:nvPr/>
        </p:nvSpPr>
        <p:spPr>
          <a:xfrm>
            <a:off x="570157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1645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mrt</a:t>
            </a:r>
          </a:p>
        </p:txBody>
      </p:sp>
      <p:sp>
        <p:nvSpPr>
          <p:cNvPr id="48" name="Rectangle 47"/>
          <p:cNvSpPr/>
          <p:nvPr/>
        </p:nvSpPr>
        <p:spPr>
          <a:xfrm>
            <a:off x="6480973"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095847"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apr</a:t>
            </a:r>
          </a:p>
        </p:txBody>
      </p:sp>
      <p:sp>
        <p:nvSpPr>
          <p:cNvPr id="50" name="Rectangle 49"/>
          <p:cNvSpPr/>
          <p:nvPr/>
        </p:nvSpPr>
        <p:spPr>
          <a:xfrm>
            <a:off x="7260368"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87524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mei</a:t>
            </a:r>
          </a:p>
        </p:txBody>
      </p:sp>
      <p:sp>
        <p:nvSpPr>
          <p:cNvPr id="52" name="Rectangle 51"/>
          <p:cNvSpPr/>
          <p:nvPr/>
        </p:nvSpPr>
        <p:spPr>
          <a:xfrm>
            <a:off x="803976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654638"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juni</a:t>
            </a:r>
          </a:p>
        </p:txBody>
      </p:sp>
      <p:sp>
        <p:nvSpPr>
          <p:cNvPr id="54" name="Rectangle 53"/>
          <p:cNvSpPr/>
          <p:nvPr/>
        </p:nvSpPr>
        <p:spPr>
          <a:xfrm>
            <a:off x="8819159"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434033"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juli</a:t>
            </a:r>
          </a:p>
        </p:txBody>
      </p:sp>
      <p:sp>
        <p:nvSpPr>
          <p:cNvPr id="56" name="Rectangle 55"/>
          <p:cNvSpPr/>
          <p:nvPr/>
        </p:nvSpPr>
        <p:spPr>
          <a:xfrm>
            <a:off x="959855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21342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aug</a:t>
            </a:r>
          </a:p>
        </p:txBody>
      </p:sp>
      <p:sp>
        <p:nvSpPr>
          <p:cNvPr id="58" name="Rectangle 57"/>
          <p:cNvSpPr/>
          <p:nvPr/>
        </p:nvSpPr>
        <p:spPr>
          <a:xfrm>
            <a:off x="10377950"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992824"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sept</a:t>
            </a:r>
          </a:p>
        </p:txBody>
      </p:sp>
      <p:sp>
        <p:nvSpPr>
          <p:cNvPr id="60" name="Rectangle 59"/>
          <p:cNvSpPr/>
          <p:nvPr/>
        </p:nvSpPr>
        <p:spPr>
          <a:xfrm>
            <a:off x="1115734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77221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62" name="Oval 61"/>
          <p:cNvSpPr/>
          <p:nvPr/>
        </p:nvSpPr>
        <p:spPr>
          <a:xfrm>
            <a:off x="846897" y="2816352"/>
            <a:ext cx="365760" cy="365760"/>
          </a:xfrm>
          <a:prstGeom prst="ellipse">
            <a:avLst/>
          </a:prstGeom>
          <a:solidFill>
            <a:srgbClr val="6B4B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38337" y="2907792"/>
            <a:ext cx="182880" cy="18288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40080" y="3950208"/>
            <a:ext cx="3840480" cy="1225296"/>
          </a:xfrm>
          <a:prstGeom prst="roundRect">
            <a:avLst>
              <a:gd name="adj" fmla="val 3000"/>
            </a:avLst>
          </a:prstGeom>
          <a:solidFill>
            <a:srgbClr val="DDDC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14400"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6B4BA8"/>
                </a:solidFill>
                <a:latin typeface="Calibri"/>
              </a:rPr>
              <a:t>Berekeningen starten</a:t>
            </a:r>
          </a:p>
          <a:p>
            <a:pPr algn="l">
              <a:lnSpc>
                <a:spcPct val="124000"/>
              </a:lnSpc>
              <a:spcAft>
                <a:spcPts val="0"/>
              </a:spcAft>
            </a:pPr>
            <a:r>
              <a:rPr sz="1150" b="0">
                <a:solidFill>
                  <a:srgbClr val="55677C"/>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C87E12">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952896" y="2907792"/>
            <a:ext cx="182880" cy="18288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Freeform 68"/>
          <p:cNvSpPr/>
          <p:nvPr/>
        </p:nvSpPr>
        <p:spPr>
          <a:xfrm>
            <a:off x="8044336" y="3108960"/>
            <a:ext cx="0" cy="786384"/>
          </a:xfrm>
          <a:custGeom>
            <a:avLst/>
            <a:gdLst/>
            <a:ahLst/>
            <a:cxnLst/>
            <a:rect l="l" t="t" r="r" b="b"/>
            <a:pathLst>
              <a:path w="0" h="786384">
                <a:moveTo>
                  <a:pt x="0" y="0"/>
                </a:moveTo>
                <a:lnTo>
                  <a:pt x="0" y="621792"/>
                </a:lnTo>
                <a:lnTo>
                  <a:pt x="0" y="621792"/>
                </a:lnTo>
                <a:lnTo>
                  <a:pt x="0" y="786384"/>
                </a:lnTo>
              </a:path>
            </a:pathLst>
          </a:custGeom>
          <a:noFill/>
          <a:ln w="15875">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124096" y="3950208"/>
            <a:ext cx="3840480" cy="1225296"/>
          </a:xfrm>
          <a:prstGeom prst="roundRect">
            <a:avLst>
              <a:gd name="adj" fmla="val 3000"/>
            </a:avLst>
          </a:prstGeom>
          <a:solidFill>
            <a:srgbClr val="EBE4D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6398416"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C87E12"/>
                </a:solidFill>
                <a:latin typeface="Calibri"/>
              </a:rPr>
              <a:t>Verhuizing</a:t>
            </a:r>
          </a:p>
          <a:p>
            <a:pPr algn="l">
              <a:lnSpc>
                <a:spcPct val="124000"/>
              </a:lnSpc>
              <a:spcAft>
                <a:spcPts val="0"/>
              </a:spcAft>
            </a:pPr>
            <a:r>
              <a:rPr sz="1150" b="0">
                <a:solidFill>
                  <a:srgbClr val="55677C"/>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640080" y="5431536"/>
            <a:ext cx="50292" cy="82296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69264" y="5513831"/>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1F6FB2"/>
                </a:solidFill>
                <a:latin typeface="Calibri"/>
              </a:rPr>
              <a:t>WAT DIT BETEKENT</a:t>
            </a:r>
          </a:p>
          <a:p>
            <a:pPr algn="l">
              <a:lnSpc>
                <a:spcPct val="120000"/>
              </a:lnSpc>
              <a:spcAft>
                <a:spcPts val="0"/>
              </a:spcAft>
            </a:pPr>
            <a:r>
              <a:rPr sz="1250" b="1">
                <a:solidFill>
                  <a:srgbClr val="0D1B2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Drie berekeningen</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Alle drie moeten gereed zijn voordat er een scenario gekozen kan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07</a:t>
            </a:r>
          </a:p>
        </p:txBody>
      </p:sp>
      <p:sp>
        <p:nvSpPr>
          <p:cNvPr id="10" name="Rounded Rectangle 9"/>
          <p:cNvSpPr/>
          <p:nvPr/>
        </p:nvSpPr>
        <p:spPr>
          <a:xfrm>
            <a:off x="640080" y="1700784"/>
            <a:ext cx="3429914" cy="298094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744114" y="1810512"/>
            <a:ext cx="1188720" cy="713232"/>
          </a:xfrm>
          <a:prstGeom prst="rect">
            <a:avLst/>
          </a:prstGeom>
          <a:noFill/>
        </p:spPr>
        <p:txBody>
          <a:bodyPr wrap="square" lIns="0" rIns="0" tIns="0" bIns="0" anchor="t">
            <a:spAutoFit/>
          </a:bodyPr>
          <a:lstStyle/>
          <a:p>
            <a:pPr algn="r">
              <a:lnSpc>
                <a:spcPct val="120000"/>
              </a:lnSpc>
              <a:spcAft>
                <a:spcPts val="0"/>
              </a:spcAft>
            </a:pPr>
            <a:r>
              <a:rPr sz="4200" b="1">
                <a:solidFill>
                  <a:srgbClr val="1F6FB2">
                    <a:alpha val="26000"/>
                  </a:srgbClr>
                </a:solidFill>
                <a:latin typeface="Calibri"/>
              </a:rPr>
              <a:t>01</a:t>
            </a:r>
          </a:p>
        </p:txBody>
      </p:sp>
      <p:sp>
        <p:nvSpPr>
          <p:cNvPr id="12" name="TextBox 11"/>
          <p:cNvSpPr txBox="1"/>
          <p:nvPr/>
        </p:nvSpPr>
        <p:spPr>
          <a:xfrm>
            <a:off x="914400" y="1975104"/>
            <a:ext cx="1966874" cy="585216"/>
          </a:xfrm>
          <a:prstGeom prst="rect">
            <a:avLst/>
          </a:prstGeom>
          <a:noFill/>
        </p:spPr>
        <p:txBody>
          <a:bodyPr wrap="square" lIns="0" rIns="0" tIns="0" bIns="0" anchor="t">
            <a:spAutoFit/>
          </a:bodyPr>
          <a:lstStyle/>
          <a:p>
            <a:pPr algn="l">
              <a:lnSpc>
                <a:spcPct val="114000"/>
              </a:lnSpc>
              <a:spcAft>
                <a:spcPts val="0"/>
              </a:spcAft>
            </a:pPr>
            <a:r>
              <a:rPr sz="1700" b="1">
                <a:solidFill>
                  <a:srgbClr val="0D1B2A"/>
                </a:solidFill>
                <a:latin typeface="Calibri"/>
              </a:rPr>
              <a:t>Aantal bedden</a:t>
            </a:r>
          </a:p>
        </p:txBody>
      </p:sp>
      <p:sp>
        <p:nvSpPr>
          <p:cNvPr id="13" name="TextBox 12"/>
          <p:cNvSpPr txBox="1"/>
          <p:nvPr/>
        </p:nvSpPr>
        <p:spPr>
          <a:xfrm>
            <a:off x="914400" y="2615184"/>
            <a:ext cx="2881274" cy="256032"/>
          </a:xfrm>
          <a:prstGeom prst="rect">
            <a:avLst/>
          </a:prstGeom>
          <a:noFill/>
        </p:spPr>
        <p:txBody>
          <a:bodyPr wrap="square" lIns="0" rIns="0" tIns="0" bIns="0" anchor="t">
            <a:spAutoFit/>
          </a:bodyPr>
          <a:lstStyle/>
          <a:p>
            <a:pPr algn="l">
              <a:lnSpc>
                <a:spcPct val="120000"/>
              </a:lnSpc>
              <a:spcAft>
                <a:spcPts val="0"/>
              </a:spcAft>
            </a:pPr>
            <a:r>
              <a:rPr sz="1100" b="0">
                <a:solidFill>
                  <a:srgbClr val="1F6FB2"/>
                </a:solidFill>
                <a:latin typeface="Calibri"/>
              </a:rPr>
              <a:t>op basis van patiëntaanwezigheid</a:t>
            </a:r>
          </a:p>
        </p:txBody>
      </p:sp>
      <p:cxnSp>
        <p:nvCxnSpPr>
          <p:cNvPr id="14" name="Connector 13"/>
          <p:cNvCxnSpPr/>
          <p:nvPr/>
        </p:nvCxnSpPr>
        <p:spPr>
          <a:xfrm>
            <a:off x="914400" y="2944368"/>
            <a:ext cx="288127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14400" y="3108960"/>
            <a:ext cx="2881274" cy="822960"/>
          </a:xfrm>
          <a:prstGeom prst="rect">
            <a:avLst/>
          </a:prstGeom>
          <a:noFill/>
        </p:spPr>
        <p:txBody>
          <a:bodyPr wrap="square" lIns="0" rIns="0" tIns="0" bIns="0" anchor="t">
            <a:spAutoFit/>
          </a:bodyPr>
          <a:lstStyle/>
          <a:p>
            <a:pPr algn="l">
              <a:lnSpc>
                <a:spcPct val="128000"/>
              </a:lnSpc>
              <a:spcAft>
                <a:spcPts val="0"/>
              </a:spcAft>
            </a:pPr>
            <a:r>
              <a:rPr sz="1200" b="0">
                <a:solidFill>
                  <a:srgbClr val="55677C"/>
                </a:solidFill>
                <a:latin typeface="Calibri"/>
              </a:rPr>
              <a:t>Per afdeling apart geteld en uitgesplitst naar patiëntstroom.</a:t>
            </a:r>
          </a:p>
        </p:txBody>
      </p:sp>
      <p:sp>
        <p:nvSpPr>
          <p:cNvPr id="16" name="TextBox 15"/>
          <p:cNvSpPr txBox="1"/>
          <p:nvPr/>
        </p:nvSpPr>
        <p:spPr>
          <a:xfrm>
            <a:off x="914400" y="3986784"/>
            <a:ext cx="2881274" cy="219456"/>
          </a:xfrm>
          <a:prstGeom prst="rect">
            <a:avLst/>
          </a:prstGeom>
          <a:noFill/>
        </p:spPr>
        <p:txBody>
          <a:bodyPr wrap="square" lIns="0" rIns="0" tIns="0" bIns="0" anchor="t">
            <a:spAutoFit/>
          </a:bodyPr>
          <a:lstStyle/>
          <a:p>
            <a:pPr algn="l">
              <a:lnSpc>
                <a:spcPct val="120000"/>
              </a:lnSpc>
              <a:spcAft>
                <a:spcPts val="0"/>
              </a:spcAft>
            </a:pPr>
            <a:r>
              <a:rPr sz="900" b="1" spc="160">
                <a:solidFill>
                  <a:srgbClr val="8B9AAA"/>
                </a:solidFill>
                <a:latin typeface="Calibri"/>
              </a:rPr>
              <a:t>GEREED</a:t>
            </a:r>
          </a:p>
        </p:txBody>
      </p:sp>
      <p:sp>
        <p:nvSpPr>
          <p:cNvPr id="17" name="Rounded Rectangle 16"/>
          <p:cNvSpPr/>
          <p:nvPr/>
        </p:nvSpPr>
        <p:spPr>
          <a:xfrm>
            <a:off x="914400" y="4242816"/>
            <a:ext cx="2881274" cy="128016"/>
          </a:xfrm>
          <a:prstGeom prst="roundRect">
            <a:avLst>
              <a:gd name="adj" fmla="val 50000"/>
            </a:avLst>
          </a:prstGeom>
          <a:solidFill>
            <a:srgbClr val="CB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14400" y="4242816"/>
            <a:ext cx="1728764" cy="12801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4400" y="4425696"/>
            <a:ext cx="2881274" cy="219456"/>
          </a:xfrm>
          <a:prstGeom prst="rect">
            <a:avLst/>
          </a:prstGeom>
          <a:noFill/>
        </p:spPr>
        <p:txBody>
          <a:bodyPr wrap="square" lIns="0" rIns="0" tIns="0" bIns="0" anchor="t">
            <a:spAutoFit/>
          </a:bodyPr>
          <a:lstStyle/>
          <a:p>
            <a:pPr algn="l">
              <a:lnSpc>
                <a:spcPct val="120000"/>
              </a:lnSpc>
              <a:spcAft>
                <a:spcPts val="0"/>
              </a:spcAft>
            </a:pPr>
            <a:r>
              <a:rPr sz="1100" b="1">
                <a:solidFill>
                  <a:srgbClr val="1F6FB2"/>
                </a:solidFill>
                <a:latin typeface="Calibri"/>
              </a:rPr>
              <a:t>60%</a:t>
            </a:r>
          </a:p>
        </p:txBody>
      </p:sp>
      <p:sp>
        <p:nvSpPr>
          <p:cNvPr id="20" name="Rounded Rectangle 19"/>
          <p:cNvSpPr/>
          <p:nvPr/>
        </p:nvSpPr>
        <p:spPr>
          <a:xfrm>
            <a:off x="4380890" y="1700784"/>
            <a:ext cx="3429914" cy="298094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84924" y="1810512"/>
            <a:ext cx="1188720" cy="713232"/>
          </a:xfrm>
          <a:prstGeom prst="rect">
            <a:avLst/>
          </a:prstGeom>
          <a:noFill/>
        </p:spPr>
        <p:txBody>
          <a:bodyPr wrap="square" lIns="0" rIns="0" tIns="0" bIns="0" anchor="t">
            <a:spAutoFit/>
          </a:bodyPr>
          <a:lstStyle/>
          <a:p>
            <a:pPr algn="r">
              <a:lnSpc>
                <a:spcPct val="120000"/>
              </a:lnSpc>
              <a:spcAft>
                <a:spcPts val="0"/>
              </a:spcAft>
            </a:pPr>
            <a:r>
              <a:rPr sz="4200" b="1">
                <a:solidFill>
                  <a:srgbClr val="6B4BA8">
                    <a:alpha val="26000"/>
                  </a:srgbClr>
                </a:solidFill>
                <a:latin typeface="Calibri"/>
              </a:rPr>
              <a:t>02</a:t>
            </a:r>
          </a:p>
        </p:txBody>
      </p:sp>
      <p:sp>
        <p:nvSpPr>
          <p:cNvPr id="22" name="TextBox 21"/>
          <p:cNvSpPr txBox="1"/>
          <p:nvPr/>
        </p:nvSpPr>
        <p:spPr>
          <a:xfrm>
            <a:off x="4655210" y="1975104"/>
            <a:ext cx="1966874" cy="585216"/>
          </a:xfrm>
          <a:prstGeom prst="rect">
            <a:avLst/>
          </a:prstGeom>
          <a:noFill/>
        </p:spPr>
        <p:txBody>
          <a:bodyPr wrap="square" lIns="0" rIns="0" tIns="0" bIns="0" anchor="t">
            <a:spAutoFit/>
          </a:bodyPr>
          <a:lstStyle/>
          <a:p>
            <a:pPr algn="l">
              <a:lnSpc>
                <a:spcPct val="114000"/>
              </a:lnSpc>
              <a:spcAft>
                <a:spcPts val="0"/>
              </a:spcAft>
            </a:pPr>
            <a:r>
              <a:rPr sz="1700" b="1">
                <a:solidFill>
                  <a:srgbClr val="0D1B2A"/>
                </a:solidFill>
                <a:latin typeface="Calibri"/>
              </a:rPr>
              <a:t>Norm verpleegkundigen</a:t>
            </a:r>
          </a:p>
        </p:txBody>
      </p:sp>
      <p:sp>
        <p:nvSpPr>
          <p:cNvPr id="23" name="TextBox 22"/>
          <p:cNvSpPr txBox="1"/>
          <p:nvPr/>
        </p:nvSpPr>
        <p:spPr>
          <a:xfrm>
            <a:off x="4655210" y="2615184"/>
            <a:ext cx="2881274" cy="256032"/>
          </a:xfrm>
          <a:prstGeom prst="rect">
            <a:avLst/>
          </a:prstGeom>
          <a:noFill/>
        </p:spPr>
        <p:txBody>
          <a:bodyPr wrap="square" lIns="0" rIns="0" tIns="0" bIns="0" anchor="t">
            <a:spAutoFit/>
          </a:bodyPr>
          <a:lstStyle/>
          <a:p>
            <a:pPr algn="l">
              <a:lnSpc>
                <a:spcPct val="120000"/>
              </a:lnSpc>
              <a:spcAft>
                <a:spcPts val="0"/>
              </a:spcAft>
            </a:pPr>
            <a:r>
              <a:rPr sz="1100" b="0">
                <a:solidFill>
                  <a:srgbClr val="6B4BA8"/>
                </a:solidFill>
                <a:latin typeface="Calibri"/>
              </a:rPr>
              <a:t>patiëntenzorg, per dienst</a:t>
            </a:r>
          </a:p>
        </p:txBody>
      </p:sp>
      <p:cxnSp>
        <p:nvCxnSpPr>
          <p:cNvPr id="24" name="Connector 23"/>
          <p:cNvCxnSpPr/>
          <p:nvPr/>
        </p:nvCxnSpPr>
        <p:spPr>
          <a:xfrm>
            <a:off x="4655210" y="2944368"/>
            <a:ext cx="288127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655210" y="3108960"/>
            <a:ext cx="2881274" cy="822960"/>
          </a:xfrm>
          <a:prstGeom prst="rect">
            <a:avLst/>
          </a:prstGeom>
          <a:noFill/>
        </p:spPr>
        <p:txBody>
          <a:bodyPr wrap="square" lIns="0" rIns="0" tIns="0" bIns="0" anchor="t">
            <a:spAutoFit/>
          </a:bodyPr>
          <a:lstStyle/>
          <a:p>
            <a:pPr algn="l">
              <a:lnSpc>
                <a:spcPct val="128000"/>
              </a:lnSpc>
              <a:spcAft>
                <a:spcPts val="0"/>
              </a:spcAft>
            </a:pPr>
            <a:r>
              <a:rPr sz="1200" b="0">
                <a:solidFill>
                  <a:srgbClr val="55677C"/>
                </a:solidFill>
                <a:latin typeface="Calibri"/>
              </a:rPr>
              <a:t>Uitgesplitst naar dag, laat en nacht. De waarden zijn nog niet ingevuld.</a:t>
            </a:r>
          </a:p>
        </p:txBody>
      </p:sp>
      <p:sp>
        <p:nvSpPr>
          <p:cNvPr id="26" name="TextBox 25"/>
          <p:cNvSpPr txBox="1"/>
          <p:nvPr/>
        </p:nvSpPr>
        <p:spPr>
          <a:xfrm>
            <a:off x="4655210" y="3986784"/>
            <a:ext cx="2881274" cy="219456"/>
          </a:xfrm>
          <a:prstGeom prst="rect">
            <a:avLst/>
          </a:prstGeom>
          <a:noFill/>
        </p:spPr>
        <p:txBody>
          <a:bodyPr wrap="square" lIns="0" rIns="0" tIns="0" bIns="0" anchor="t">
            <a:spAutoFit/>
          </a:bodyPr>
          <a:lstStyle/>
          <a:p>
            <a:pPr algn="l">
              <a:lnSpc>
                <a:spcPct val="120000"/>
              </a:lnSpc>
              <a:spcAft>
                <a:spcPts val="0"/>
              </a:spcAft>
            </a:pPr>
            <a:r>
              <a:rPr sz="900" b="1" spc="160">
                <a:solidFill>
                  <a:srgbClr val="8B9AAA"/>
                </a:solidFill>
                <a:latin typeface="Calibri"/>
              </a:rPr>
              <a:t>GEREED</a:t>
            </a:r>
          </a:p>
        </p:txBody>
      </p:sp>
      <p:sp>
        <p:nvSpPr>
          <p:cNvPr id="27" name="Rounded Rectangle 26"/>
          <p:cNvSpPr/>
          <p:nvPr/>
        </p:nvSpPr>
        <p:spPr>
          <a:xfrm>
            <a:off x="4655210" y="4242816"/>
            <a:ext cx="2881274" cy="128016"/>
          </a:xfrm>
          <a:prstGeom prst="roundRect">
            <a:avLst>
              <a:gd name="adj" fmla="val 50000"/>
            </a:avLst>
          </a:prstGeom>
          <a:solidFill>
            <a:srgbClr val="D9D7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655210" y="4425696"/>
            <a:ext cx="2881274" cy="219456"/>
          </a:xfrm>
          <a:prstGeom prst="rect">
            <a:avLst/>
          </a:prstGeom>
          <a:noFill/>
        </p:spPr>
        <p:txBody>
          <a:bodyPr wrap="square" lIns="0" rIns="0" tIns="0" bIns="0" anchor="t">
            <a:spAutoFit/>
          </a:bodyPr>
          <a:lstStyle/>
          <a:p>
            <a:pPr algn="l">
              <a:lnSpc>
                <a:spcPct val="120000"/>
              </a:lnSpc>
              <a:spcAft>
                <a:spcPts val="0"/>
              </a:spcAft>
            </a:pPr>
            <a:r>
              <a:rPr sz="1100" b="1">
                <a:solidFill>
                  <a:srgbClr val="6B4BA8"/>
                </a:solidFill>
                <a:latin typeface="Calibri"/>
              </a:rPr>
              <a:t>0%</a:t>
            </a:r>
          </a:p>
        </p:txBody>
      </p:sp>
      <p:sp>
        <p:nvSpPr>
          <p:cNvPr id="29" name="Rounded Rectangle 28"/>
          <p:cNvSpPr/>
          <p:nvPr/>
        </p:nvSpPr>
        <p:spPr>
          <a:xfrm>
            <a:off x="8121700" y="1700784"/>
            <a:ext cx="3429914" cy="298094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25735" y="1810512"/>
            <a:ext cx="1188720" cy="713232"/>
          </a:xfrm>
          <a:prstGeom prst="rect">
            <a:avLst/>
          </a:prstGeom>
          <a:noFill/>
        </p:spPr>
        <p:txBody>
          <a:bodyPr wrap="square" lIns="0" rIns="0" tIns="0" bIns="0" anchor="t">
            <a:spAutoFit/>
          </a:bodyPr>
          <a:lstStyle/>
          <a:p>
            <a:pPr algn="r">
              <a:lnSpc>
                <a:spcPct val="120000"/>
              </a:lnSpc>
              <a:spcAft>
                <a:spcPts val="0"/>
              </a:spcAft>
            </a:pPr>
            <a:r>
              <a:rPr sz="4200" b="1">
                <a:solidFill>
                  <a:srgbClr val="0E9A87">
                    <a:alpha val="26000"/>
                  </a:srgbClr>
                </a:solidFill>
                <a:latin typeface="Calibri"/>
              </a:rPr>
              <a:t>03</a:t>
            </a:r>
          </a:p>
        </p:txBody>
      </p:sp>
      <p:sp>
        <p:nvSpPr>
          <p:cNvPr id="31" name="TextBox 30"/>
          <p:cNvSpPr txBox="1"/>
          <p:nvPr/>
        </p:nvSpPr>
        <p:spPr>
          <a:xfrm>
            <a:off x="8396020" y="1975104"/>
            <a:ext cx="1966874" cy="585216"/>
          </a:xfrm>
          <a:prstGeom prst="rect">
            <a:avLst/>
          </a:prstGeom>
          <a:noFill/>
        </p:spPr>
        <p:txBody>
          <a:bodyPr wrap="square" lIns="0" rIns="0" tIns="0" bIns="0" anchor="t">
            <a:spAutoFit/>
          </a:bodyPr>
          <a:lstStyle/>
          <a:p>
            <a:pPr algn="l">
              <a:lnSpc>
                <a:spcPct val="114000"/>
              </a:lnSpc>
              <a:spcAft>
                <a:spcPts val="0"/>
              </a:spcAft>
            </a:pPr>
            <a:r>
              <a:rPr sz="1700" b="1">
                <a:solidFill>
                  <a:srgbClr val="0D1B2A"/>
                </a:solidFill>
                <a:latin typeface="Calibri"/>
              </a:rPr>
              <a:t>Indirecte uren</a:t>
            </a:r>
          </a:p>
        </p:txBody>
      </p:sp>
      <p:sp>
        <p:nvSpPr>
          <p:cNvPr id="32" name="TextBox 31"/>
          <p:cNvSpPr txBox="1"/>
          <p:nvPr/>
        </p:nvSpPr>
        <p:spPr>
          <a:xfrm>
            <a:off x="8396020" y="2615184"/>
            <a:ext cx="2881274" cy="256032"/>
          </a:xfrm>
          <a:prstGeom prst="rect">
            <a:avLst/>
          </a:prstGeom>
          <a:noFill/>
        </p:spPr>
        <p:txBody>
          <a:bodyPr wrap="square" lIns="0" rIns="0" tIns="0" bIns="0" anchor="t">
            <a:spAutoFit/>
          </a:bodyPr>
          <a:lstStyle/>
          <a:p>
            <a:pPr algn="l">
              <a:lnSpc>
                <a:spcPct val="120000"/>
              </a:lnSpc>
              <a:spcAft>
                <a:spcPts val="0"/>
              </a:spcAft>
            </a:pPr>
            <a:r>
              <a:rPr sz="1100" b="0">
                <a:solidFill>
                  <a:srgbClr val="0E9A87"/>
                </a:solidFill>
                <a:latin typeface="Calibri"/>
              </a:rPr>
              <a:t>per afdeling</a:t>
            </a:r>
          </a:p>
        </p:txBody>
      </p:sp>
      <p:cxnSp>
        <p:nvCxnSpPr>
          <p:cNvPr id="33" name="Connector 32"/>
          <p:cNvCxnSpPr/>
          <p:nvPr/>
        </p:nvCxnSpPr>
        <p:spPr>
          <a:xfrm>
            <a:off x="8396020" y="2944368"/>
            <a:ext cx="288127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96020" y="3108960"/>
            <a:ext cx="2881274" cy="822960"/>
          </a:xfrm>
          <a:prstGeom prst="rect">
            <a:avLst/>
          </a:prstGeom>
          <a:noFill/>
        </p:spPr>
        <p:txBody>
          <a:bodyPr wrap="square" lIns="0" rIns="0" tIns="0" bIns="0" anchor="t">
            <a:spAutoFit/>
          </a:bodyPr>
          <a:lstStyle/>
          <a:p>
            <a:pPr algn="l">
              <a:lnSpc>
                <a:spcPct val="128000"/>
              </a:lnSpc>
              <a:spcAft>
                <a:spcPts val="0"/>
              </a:spcAft>
            </a:pPr>
            <a:r>
              <a:rPr sz="1200" b="0">
                <a:solidFill>
                  <a:srgbClr val="55677C"/>
                </a:solidFill>
                <a:latin typeface="Calibri"/>
              </a:rPr>
              <a:t>In beeld gebracht, maar de oude begroting loopt sterk uiteen.</a:t>
            </a:r>
          </a:p>
        </p:txBody>
      </p:sp>
      <p:sp>
        <p:nvSpPr>
          <p:cNvPr id="35" name="TextBox 34"/>
          <p:cNvSpPr txBox="1"/>
          <p:nvPr/>
        </p:nvSpPr>
        <p:spPr>
          <a:xfrm>
            <a:off x="8396020" y="3986784"/>
            <a:ext cx="2881274" cy="219456"/>
          </a:xfrm>
          <a:prstGeom prst="rect">
            <a:avLst/>
          </a:prstGeom>
          <a:noFill/>
        </p:spPr>
        <p:txBody>
          <a:bodyPr wrap="square" lIns="0" rIns="0" tIns="0" bIns="0" anchor="t">
            <a:spAutoFit/>
          </a:bodyPr>
          <a:lstStyle/>
          <a:p>
            <a:pPr algn="l">
              <a:lnSpc>
                <a:spcPct val="120000"/>
              </a:lnSpc>
              <a:spcAft>
                <a:spcPts val="0"/>
              </a:spcAft>
            </a:pPr>
            <a:r>
              <a:rPr sz="900" b="1" spc="160">
                <a:solidFill>
                  <a:srgbClr val="8B9AAA"/>
                </a:solidFill>
                <a:latin typeface="Calibri"/>
              </a:rPr>
              <a:t>GEREED</a:t>
            </a:r>
          </a:p>
        </p:txBody>
      </p:sp>
      <p:sp>
        <p:nvSpPr>
          <p:cNvPr id="36" name="Rounded Rectangle 35"/>
          <p:cNvSpPr/>
          <p:nvPr/>
        </p:nvSpPr>
        <p:spPr>
          <a:xfrm>
            <a:off x="8396020" y="4242816"/>
            <a:ext cx="2881274" cy="128016"/>
          </a:xfrm>
          <a:prstGeom prst="roundRect">
            <a:avLst>
              <a:gd name="adj" fmla="val 50000"/>
            </a:avLst>
          </a:prstGeom>
          <a:solidFill>
            <a:srgbClr val="C8E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396020" y="4242816"/>
            <a:ext cx="1152509" cy="128016"/>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396020" y="4425696"/>
            <a:ext cx="2881274" cy="219456"/>
          </a:xfrm>
          <a:prstGeom prst="rect">
            <a:avLst/>
          </a:prstGeom>
          <a:noFill/>
        </p:spPr>
        <p:txBody>
          <a:bodyPr wrap="square" lIns="0" rIns="0" tIns="0" bIns="0" anchor="t">
            <a:spAutoFit/>
          </a:bodyPr>
          <a:lstStyle/>
          <a:p>
            <a:pPr algn="l">
              <a:lnSpc>
                <a:spcPct val="120000"/>
              </a:lnSpc>
              <a:spcAft>
                <a:spcPts val="0"/>
              </a:spcAft>
            </a:pPr>
            <a:r>
              <a:rPr sz="1100" b="1">
                <a:solidFill>
                  <a:srgbClr val="0E9A87"/>
                </a:solidFill>
                <a:latin typeface="Calibri"/>
              </a:rPr>
              <a:t>40%</a:t>
            </a:r>
          </a:p>
        </p:txBody>
      </p:sp>
      <p:sp>
        <p:nvSpPr>
          <p:cNvPr id="39" name="Rounded Rectangle 38"/>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BLOKKERENDE VRAAG</a:t>
            </a:r>
          </a:p>
          <a:p>
            <a:pPr algn="l">
              <a:lnSpc>
                <a:spcPct val="120000"/>
              </a:lnSpc>
              <a:spcAft>
                <a:spcPts val="0"/>
              </a:spcAft>
            </a:pPr>
            <a:r>
              <a:rPr sz="1250" b="1">
                <a:solidFill>
                  <a:srgbClr val="0D1B2A"/>
                </a:solidFill>
                <a:latin typeface="Calibri"/>
              </a:rPr>
              <a:t>De norm verpleegkundigen is voor geen enkele afdeling vastgesteld. Doet Remco die uitspraak, of leggen we de huidige inzet aan hem voor?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Welke stromen tellen mee</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Per afdeling apart geteld, omdat de specialismen nu gescheiden werken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08</a:t>
            </a:r>
          </a:p>
        </p:txBody>
      </p:sp>
      <p:sp>
        <p:nvSpPr>
          <p:cNvPr id="10" name="Rounded Rectangle 9"/>
          <p:cNvSpPr/>
          <p:nvPr/>
        </p:nvSpPr>
        <p:spPr>
          <a:xfrm>
            <a:off x="640080" y="1828800"/>
            <a:ext cx="1417320" cy="548640"/>
          </a:xfrm>
          <a:prstGeom prst="roundRect">
            <a:avLst>
              <a:gd name="adj" fmla="val 10000"/>
            </a:avLst>
          </a:prstGeom>
          <a:solidFill>
            <a:srgbClr val="C7DBED"/>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 y="1828800"/>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1F6FB2"/>
                </a:solidFill>
                <a:latin typeface="Calibri"/>
              </a:rPr>
              <a:t>ICU</a:t>
            </a:r>
          </a:p>
        </p:txBody>
      </p:sp>
      <p:sp>
        <p:nvSpPr>
          <p:cNvPr id="12" name="Freeform 11"/>
          <p:cNvSpPr/>
          <p:nvPr/>
        </p:nvSpPr>
        <p:spPr>
          <a:xfrm>
            <a:off x="2112264" y="2103120"/>
            <a:ext cx="347472" cy="0"/>
          </a:xfrm>
          <a:custGeom>
            <a:avLst/>
            <a:gdLst/>
            <a:ahLst/>
            <a:cxnLst/>
            <a:rect l="l" t="t" r="r" b="b"/>
            <a:pathLst>
              <a:path w="347472" h="0">
                <a:moveTo>
                  <a:pt x="0" y="0"/>
                </a:moveTo>
                <a:lnTo>
                  <a:pt x="347472" y="0"/>
                </a:lnTo>
              </a:path>
            </a:pathLst>
          </a:custGeom>
          <a:noFill/>
          <a:ln w="19050">
            <a:solidFill>
              <a:srgbClr val="7EAC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14600" y="1883664"/>
            <a:ext cx="1417320" cy="438912"/>
          </a:xfrm>
          <a:prstGeom prst="roundRect">
            <a:avLst>
              <a:gd name="adj" fmla="val 50000"/>
            </a:avLst>
          </a:prstGeom>
          <a:solidFill>
            <a:srgbClr val="1F6FB2">
              <a:alpha val="12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spoed</a:t>
            </a:r>
          </a:p>
        </p:txBody>
      </p:sp>
      <p:sp>
        <p:nvSpPr>
          <p:cNvPr id="14" name="Freeform 13"/>
          <p:cNvSpPr/>
          <p:nvPr/>
        </p:nvSpPr>
        <p:spPr>
          <a:xfrm>
            <a:off x="3986783" y="2103120"/>
            <a:ext cx="347473" cy="0"/>
          </a:xfrm>
          <a:custGeom>
            <a:avLst/>
            <a:gdLst/>
            <a:ahLst/>
            <a:cxnLst/>
            <a:rect l="l" t="t" r="r" b="b"/>
            <a:pathLst>
              <a:path w="347473" h="0">
                <a:moveTo>
                  <a:pt x="0" y="0"/>
                </a:moveTo>
                <a:lnTo>
                  <a:pt x="347473" y="0"/>
                </a:lnTo>
              </a:path>
            </a:pathLst>
          </a:custGeom>
          <a:noFill/>
          <a:ln w="19050">
            <a:solidFill>
              <a:srgbClr val="7EAC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883664"/>
            <a:ext cx="1417320" cy="438912"/>
          </a:xfrm>
          <a:prstGeom prst="roundRect">
            <a:avLst>
              <a:gd name="adj" fmla="val 50000"/>
            </a:avLst>
          </a:prstGeom>
          <a:solidFill>
            <a:srgbClr val="1F6FB2">
              <a:alpha val="12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electief</a:t>
            </a:r>
          </a:p>
        </p:txBody>
      </p:sp>
      <p:sp>
        <p:nvSpPr>
          <p:cNvPr id="16" name="Freeform 15"/>
          <p:cNvSpPr/>
          <p:nvPr/>
        </p:nvSpPr>
        <p:spPr>
          <a:xfrm>
            <a:off x="5861303" y="2103120"/>
            <a:ext cx="347473" cy="0"/>
          </a:xfrm>
          <a:custGeom>
            <a:avLst/>
            <a:gdLst/>
            <a:ahLst/>
            <a:cxnLst/>
            <a:rect l="l" t="t" r="r" b="b"/>
            <a:pathLst>
              <a:path w="347473" h="0">
                <a:moveTo>
                  <a:pt x="0" y="0"/>
                </a:moveTo>
                <a:lnTo>
                  <a:pt x="347473" y="0"/>
                </a:lnTo>
              </a:path>
            </a:pathLst>
          </a:custGeom>
          <a:noFill/>
          <a:ln w="19050">
            <a:solidFill>
              <a:srgbClr val="7EAC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1883664"/>
            <a:ext cx="1417320" cy="438912"/>
          </a:xfrm>
          <a:prstGeom prst="roundRect">
            <a:avLst>
              <a:gd name="adj" fmla="val 50000"/>
            </a:avLst>
          </a:prstGeom>
          <a:solidFill>
            <a:srgbClr val="1F6FB2">
              <a:alpha val="12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recovery</a:t>
            </a:r>
          </a:p>
        </p:txBody>
      </p:sp>
      <p:sp>
        <p:nvSpPr>
          <p:cNvPr id="18" name="Rounded Rectangle 17"/>
          <p:cNvSpPr/>
          <p:nvPr/>
        </p:nvSpPr>
        <p:spPr>
          <a:xfrm>
            <a:off x="640080" y="2542032"/>
            <a:ext cx="1417320" cy="548640"/>
          </a:xfrm>
          <a:prstGeom prst="roundRect">
            <a:avLst>
              <a:gd name="adj" fmla="val 10000"/>
            </a:avLst>
          </a:prstGeom>
          <a:solidFill>
            <a:srgbClr val="D6D4EB"/>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2542032"/>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6B4BA8"/>
                </a:solidFill>
                <a:latin typeface="Calibri"/>
              </a:rPr>
              <a:t>CCU</a:t>
            </a:r>
          </a:p>
        </p:txBody>
      </p:sp>
      <p:sp>
        <p:nvSpPr>
          <p:cNvPr id="20" name="Freeform 19"/>
          <p:cNvSpPr/>
          <p:nvPr/>
        </p:nvSpPr>
        <p:spPr>
          <a:xfrm>
            <a:off x="2112264" y="2816352"/>
            <a:ext cx="347472" cy="0"/>
          </a:xfrm>
          <a:custGeom>
            <a:avLst/>
            <a:gdLst/>
            <a:ahLst/>
            <a:cxnLst/>
            <a:rect l="l" t="t" r="r" b="b"/>
            <a:pathLst>
              <a:path w="347472" h="0">
                <a:moveTo>
                  <a:pt x="0" y="0"/>
                </a:moveTo>
                <a:lnTo>
                  <a:pt x="347472" y="0"/>
                </a:lnTo>
              </a:path>
            </a:pathLst>
          </a:custGeom>
          <a:noFill/>
          <a:ln w="19050">
            <a:solidFill>
              <a:srgbClr val="A79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14600" y="2596896"/>
            <a:ext cx="1417320" cy="438912"/>
          </a:xfrm>
          <a:prstGeom prst="roundRect">
            <a:avLst>
              <a:gd name="adj" fmla="val 50000"/>
            </a:avLst>
          </a:prstGeom>
          <a:solidFill>
            <a:srgbClr val="6B4BA8">
              <a:alpha val="12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spoed</a:t>
            </a:r>
          </a:p>
        </p:txBody>
      </p:sp>
      <p:sp>
        <p:nvSpPr>
          <p:cNvPr id="22" name="Freeform 21"/>
          <p:cNvSpPr/>
          <p:nvPr/>
        </p:nvSpPr>
        <p:spPr>
          <a:xfrm>
            <a:off x="3986783" y="2816352"/>
            <a:ext cx="347473" cy="0"/>
          </a:xfrm>
          <a:custGeom>
            <a:avLst/>
            <a:gdLst/>
            <a:ahLst/>
            <a:cxnLst/>
            <a:rect l="l" t="t" r="r" b="b"/>
            <a:pathLst>
              <a:path w="347473" h="0">
                <a:moveTo>
                  <a:pt x="0" y="0"/>
                </a:moveTo>
                <a:lnTo>
                  <a:pt x="347473" y="0"/>
                </a:lnTo>
              </a:path>
            </a:pathLst>
          </a:custGeom>
          <a:noFill/>
          <a:ln w="19050">
            <a:solidFill>
              <a:srgbClr val="A79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389120" y="2596896"/>
            <a:ext cx="1417320" cy="438912"/>
          </a:xfrm>
          <a:prstGeom prst="roundRect">
            <a:avLst>
              <a:gd name="adj" fmla="val 50000"/>
            </a:avLst>
          </a:prstGeom>
          <a:solidFill>
            <a:srgbClr val="6B4BA8">
              <a:alpha val="12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cardioversie</a:t>
            </a:r>
          </a:p>
        </p:txBody>
      </p:sp>
      <p:sp>
        <p:nvSpPr>
          <p:cNvPr id="24" name="Rounded Rectangle 23"/>
          <p:cNvSpPr/>
          <p:nvPr/>
        </p:nvSpPr>
        <p:spPr>
          <a:xfrm>
            <a:off x="640080" y="3255264"/>
            <a:ext cx="1417320" cy="548640"/>
          </a:xfrm>
          <a:prstGeom prst="roundRect">
            <a:avLst>
              <a:gd name="adj" fmla="val 10000"/>
            </a:avLst>
          </a:prstGeom>
          <a:solidFill>
            <a:srgbClr val="C4E4E5"/>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3255264"/>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0E9A87"/>
                </a:solidFill>
                <a:latin typeface="Calibri"/>
              </a:rPr>
              <a:t>SCU</a:t>
            </a:r>
          </a:p>
        </p:txBody>
      </p:sp>
      <p:sp>
        <p:nvSpPr>
          <p:cNvPr id="26" name="Freeform 25"/>
          <p:cNvSpPr/>
          <p:nvPr/>
        </p:nvSpPr>
        <p:spPr>
          <a:xfrm>
            <a:off x="2112264" y="3529584"/>
            <a:ext cx="347472" cy="0"/>
          </a:xfrm>
          <a:custGeom>
            <a:avLst/>
            <a:gdLst/>
            <a:ahLst/>
            <a:cxnLst/>
            <a:rect l="l" t="t" r="r" b="b"/>
            <a:pathLst>
              <a:path w="347472" h="0">
                <a:moveTo>
                  <a:pt x="0" y="0"/>
                </a:moveTo>
                <a:lnTo>
                  <a:pt x="347472" y="0"/>
                </a:lnTo>
              </a:path>
            </a:pathLst>
          </a:custGeom>
          <a:noFill/>
          <a:ln w="19050">
            <a:solidFill>
              <a:srgbClr val="74C3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514600" y="3310128"/>
            <a:ext cx="1417320" cy="438912"/>
          </a:xfrm>
          <a:prstGeom prst="roundRect">
            <a:avLst>
              <a:gd name="adj" fmla="val 50000"/>
            </a:avLst>
          </a:prstGeom>
          <a:solidFill>
            <a:srgbClr val="0E9A87">
              <a:alpha val="12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0E9A87"/>
                </a:solidFill>
                <a:latin typeface="Calibri"/>
              </a:rPr>
              <a:t>spoed</a:t>
            </a:r>
          </a:p>
        </p:txBody>
      </p:sp>
      <p:sp>
        <p:nvSpPr>
          <p:cNvPr id="28" name="Rounded Rectangle 27"/>
          <p:cNvSpPr/>
          <p:nvPr/>
        </p:nvSpPr>
        <p:spPr>
          <a:xfrm>
            <a:off x="640080" y="3968496"/>
            <a:ext cx="1417320" cy="548640"/>
          </a:xfrm>
          <a:prstGeom prst="roundRect">
            <a:avLst>
              <a:gd name="adj" fmla="val 10000"/>
            </a:avLst>
          </a:prstGeom>
          <a:solidFill>
            <a:srgbClr val="E9DECD"/>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0080" y="3968496"/>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C87E12"/>
                </a:solidFill>
                <a:latin typeface="Calibri"/>
              </a:rPr>
              <a:t>EHH</a:t>
            </a:r>
          </a:p>
        </p:txBody>
      </p:sp>
      <p:sp>
        <p:nvSpPr>
          <p:cNvPr id="30" name="Freeform 29"/>
          <p:cNvSpPr/>
          <p:nvPr/>
        </p:nvSpPr>
        <p:spPr>
          <a:xfrm>
            <a:off x="2112264" y="4242816"/>
            <a:ext cx="347472" cy="0"/>
          </a:xfrm>
          <a:custGeom>
            <a:avLst/>
            <a:gdLst/>
            <a:ahLst/>
            <a:cxnLst/>
            <a:rect l="l" t="t" r="r" b="b"/>
            <a:pathLst>
              <a:path w="347472" h="0">
                <a:moveTo>
                  <a:pt x="0" y="0"/>
                </a:moveTo>
                <a:lnTo>
                  <a:pt x="347472" y="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514600" y="4023360"/>
            <a:ext cx="1417320" cy="438912"/>
          </a:xfrm>
          <a:prstGeom prst="roundRect">
            <a:avLst>
              <a:gd name="adj" fmla="val 50000"/>
            </a:avLst>
          </a:prstGeom>
          <a:solidFill>
            <a:srgbClr val="C87E12">
              <a:alpha val="12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C87E12"/>
                </a:solidFill>
                <a:latin typeface="Calibri"/>
              </a:rPr>
              <a:t>spoed</a:t>
            </a:r>
          </a:p>
        </p:txBody>
      </p:sp>
      <p:sp>
        <p:nvSpPr>
          <p:cNvPr id="32" name="Rounded Rectangle 31"/>
          <p:cNvSpPr/>
          <p:nvPr/>
        </p:nvSpPr>
        <p:spPr>
          <a:xfrm>
            <a:off x="640080" y="4681728"/>
            <a:ext cx="1417320" cy="548640"/>
          </a:xfrm>
          <a:prstGeom prst="roundRect">
            <a:avLst>
              <a:gd name="adj" fmla="val 10000"/>
            </a:avLst>
          </a:prstGeom>
          <a:solidFill>
            <a:srgbClr val="D2D9E2"/>
          </a:solidFill>
          <a:ln w="15875">
            <a:solidFill>
              <a:srgbClr val="B6C0CB"/>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4681728"/>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55677C"/>
                </a:solidFill>
                <a:latin typeface="Calibri"/>
              </a:rPr>
              <a:t>SEH</a:t>
            </a:r>
          </a:p>
        </p:txBody>
      </p:sp>
      <p:sp>
        <p:nvSpPr>
          <p:cNvPr id="34" name="Freeform 33"/>
          <p:cNvSpPr/>
          <p:nvPr/>
        </p:nvSpPr>
        <p:spPr>
          <a:xfrm>
            <a:off x="2112264" y="4956048"/>
            <a:ext cx="347472" cy="0"/>
          </a:xfrm>
          <a:custGeom>
            <a:avLst/>
            <a:gdLst/>
            <a:ahLst/>
            <a:cxnLst/>
            <a:rect l="l" t="t" r="r" b="b"/>
            <a:pathLst>
              <a:path w="347472" h="0">
                <a:moveTo>
                  <a:pt x="0" y="0"/>
                </a:moveTo>
                <a:lnTo>
                  <a:pt x="347472" y="0"/>
                </a:lnTo>
              </a:path>
            </a:pathLst>
          </a:custGeom>
          <a:noFill/>
          <a:ln w="19050">
            <a:solidFill>
              <a:srgbClr val="9BA7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514600" y="4736592"/>
            <a:ext cx="2798063" cy="438912"/>
          </a:xfrm>
          <a:prstGeom prst="roundRect">
            <a:avLst>
              <a:gd name="adj" fmla="val 50000"/>
            </a:avLst>
          </a:prstGeom>
          <a:solidFill>
            <a:srgbClr val="55677C">
              <a:alpha val="12000"/>
            </a:srgbClr>
          </a:solidFill>
          <a:ln w="12700">
            <a:solidFill>
              <a:srgbClr val="A3AEBC"/>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55677C"/>
                </a:solidFill>
                <a:latin typeface="Calibri"/>
              </a:rPr>
              <a:t>scenario's van Maxim en Sigrid</a:t>
            </a:r>
          </a:p>
        </p:txBody>
      </p:sp>
      <p:sp>
        <p:nvSpPr>
          <p:cNvPr id="36" name="Rounded Rectangle 35"/>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LET OP</a:t>
            </a:r>
          </a:p>
          <a:p>
            <a:pPr algn="l">
              <a:lnSpc>
                <a:spcPct val="120000"/>
              </a:lnSpc>
              <a:spcAft>
                <a:spcPts val="0"/>
              </a:spcAft>
            </a:pPr>
            <a:r>
              <a:rPr sz="1250" b="1">
                <a:solidFill>
                  <a:srgbClr val="0D1B2A"/>
                </a:solidFill>
                <a:latin typeface="Calibri"/>
              </a:rPr>
              <a:t>Deze tellingen horen bij de huidige, gescheiden situatie. In de scenario's waarin afdelingen samengaan, moet opnieuw geteld worden.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1F6FB2">
                    <a:alpha val="9000"/>
                  </a:srgbClr>
                </a:solidFill>
                <a:latin typeface="Calibri"/>
              </a:rPr>
              <a:t>03</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1F6FB2"/>
                </a:solidFill>
                <a:latin typeface="Calibri"/>
              </a:rPr>
              <a:t>DEEL 03</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verandert er</a:t>
            </a:r>
          </a:p>
        </p:txBody>
      </p:sp>
      <p:cxnSp>
        <p:nvCxnSpPr>
          <p:cNvPr id="6" name="Connector 5"/>
          <p:cNvCxnSpPr/>
          <p:nvPr/>
        </p:nvCxnSpPr>
        <p:spPr>
          <a:xfrm>
            <a:off x="640080" y="3584448"/>
            <a:ext cx="237744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Vier locaties worden twee clusters</a:t>
            </a:r>
          </a:p>
        </p:txBody>
      </p:sp>
      <p:sp>
        <p:nvSpPr>
          <p:cNvPr id="9" name="Oval 8"/>
          <p:cNvSpPr/>
          <p:nvPr/>
        </p:nvSpPr>
        <p:spPr>
          <a:xfrm>
            <a:off x="649224" y="4279392"/>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Vijf scenario's, twee analyses en één keuze die alles bepaalt</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1F6FB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Vier locaties worden twee clusters</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acute en intensieve zorg wordt fysiek samengebracht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10</a:t>
            </a:r>
          </a:p>
        </p:txBody>
      </p:sp>
      <p:sp>
        <p:nvSpPr>
          <p:cNvPr id="10" name="TextBox 9"/>
          <p:cNvSpPr txBox="1"/>
          <p:nvPr/>
        </p:nvSpPr>
        <p:spPr>
          <a:xfrm>
            <a:off x="640080" y="1700784"/>
            <a:ext cx="3566160" cy="219456"/>
          </a:xfrm>
          <a:prstGeom prst="rect">
            <a:avLst/>
          </a:prstGeom>
          <a:noFill/>
        </p:spPr>
        <p:txBody>
          <a:bodyPr wrap="square" lIns="0" rIns="0" tIns="0" bIns="0" anchor="t">
            <a:spAutoFit/>
          </a:bodyPr>
          <a:lstStyle/>
          <a:p>
            <a:pPr algn="l">
              <a:lnSpc>
                <a:spcPct val="120000"/>
              </a:lnSpc>
              <a:spcAft>
                <a:spcPts val="0"/>
              </a:spcAft>
            </a:pPr>
            <a:r>
              <a:rPr sz="1000" b="1" spc="220">
                <a:solidFill>
                  <a:srgbClr val="8B9AAA"/>
                </a:solidFill>
                <a:latin typeface="Calibri"/>
              </a:rPr>
              <a:t>NU</a:t>
            </a:r>
          </a:p>
        </p:txBody>
      </p:sp>
      <p:sp>
        <p:nvSpPr>
          <p:cNvPr id="11" name="Rounded Rectangle 10"/>
          <p:cNvSpPr/>
          <p:nvPr/>
        </p:nvSpPr>
        <p:spPr>
          <a:xfrm>
            <a:off x="640080" y="2029968"/>
            <a:ext cx="3566160" cy="65836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59536" y="2075688"/>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Kind spoed</a:t>
            </a:r>
          </a:p>
          <a:p>
            <a:pPr algn="l">
              <a:lnSpc>
                <a:spcPct val="120000"/>
              </a:lnSpc>
              <a:spcAft>
                <a:spcPts val="0"/>
              </a:spcAft>
            </a:pPr>
            <a:r>
              <a:rPr sz="1000" b="0">
                <a:solidFill>
                  <a:srgbClr val="8B9AAA"/>
                </a:solidFill>
                <a:latin typeface="Calibri"/>
              </a:rPr>
              <a:t>kinderafdeling / poli</a:t>
            </a:r>
          </a:p>
        </p:txBody>
      </p:sp>
      <p:sp>
        <p:nvSpPr>
          <p:cNvPr id="13" name="Rounded Rectangle 12"/>
          <p:cNvSpPr/>
          <p:nvPr/>
        </p:nvSpPr>
        <p:spPr>
          <a:xfrm>
            <a:off x="640080" y="2825496"/>
            <a:ext cx="3566160" cy="65836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871216"/>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SEH</a:t>
            </a:r>
          </a:p>
          <a:p>
            <a:pPr algn="l">
              <a:lnSpc>
                <a:spcPct val="120000"/>
              </a:lnSpc>
              <a:spcAft>
                <a:spcPts val="0"/>
              </a:spcAft>
            </a:pPr>
            <a:r>
              <a:rPr sz="1000" b="0">
                <a:solidFill>
                  <a:srgbClr val="8B9AAA"/>
                </a:solidFill>
                <a:latin typeface="Calibri"/>
              </a:rPr>
              <a:t>begane grond</a:t>
            </a:r>
          </a:p>
        </p:txBody>
      </p:sp>
      <p:sp>
        <p:nvSpPr>
          <p:cNvPr id="15" name="Rounded Rectangle 14"/>
          <p:cNvSpPr/>
          <p:nvPr/>
        </p:nvSpPr>
        <p:spPr>
          <a:xfrm>
            <a:off x="640080" y="3621024"/>
            <a:ext cx="3566160" cy="65836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666744"/>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ICU</a:t>
            </a:r>
          </a:p>
          <a:p>
            <a:pPr algn="l">
              <a:lnSpc>
                <a:spcPct val="120000"/>
              </a:lnSpc>
              <a:spcAft>
                <a:spcPts val="0"/>
              </a:spcAft>
            </a:pPr>
            <a:r>
              <a:rPr sz="1000" b="0">
                <a:solidFill>
                  <a:srgbClr val="8B9AAA"/>
                </a:solidFill>
                <a:latin typeface="Calibri"/>
              </a:rPr>
              <a:t>2e verdieping</a:t>
            </a:r>
          </a:p>
        </p:txBody>
      </p:sp>
      <p:sp>
        <p:nvSpPr>
          <p:cNvPr id="17" name="Rounded Rectangle 16"/>
          <p:cNvSpPr/>
          <p:nvPr/>
        </p:nvSpPr>
        <p:spPr>
          <a:xfrm>
            <a:off x="640080" y="4416552"/>
            <a:ext cx="3566160" cy="65836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9536" y="4462272"/>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CCU / SCU / EHH</a:t>
            </a:r>
          </a:p>
          <a:p>
            <a:pPr algn="l">
              <a:lnSpc>
                <a:spcPct val="120000"/>
              </a:lnSpc>
              <a:spcAft>
                <a:spcPts val="0"/>
              </a:spcAft>
            </a:pPr>
            <a:r>
              <a:rPr sz="1000" b="0">
                <a:solidFill>
                  <a:srgbClr val="8B9AAA"/>
                </a:solidFill>
                <a:latin typeface="Calibri"/>
              </a:rPr>
              <a:t>1e verdieping</a:t>
            </a:r>
          </a:p>
        </p:txBody>
      </p:sp>
      <p:sp>
        <p:nvSpPr>
          <p:cNvPr id="19" name="Freeform 18"/>
          <p:cNvSpPr/>
          <p:nvPr/>
        </p:nvSpPr>
        <p:spPr>
          <a:xfrm>
            <a:off x="4279392" y="2359152"/>
            <a:ext cx="1188720" cy="402336"/>
          </a:xfrm>
          <a:custGeom>
            <a:avLst/>
            <a:gdLst/>
            <a:ahLst/>
            <a:cxnLst/>
            <a:rect l="l" t="t" r="r" b="b"/>
            <a:pathLst>
              <a:path w="1188720" h="402336">
                <a:moveTo>
                  <a:pt x="0" y="0"/>
                </a:moveTo>
                <a:lnTo>
                  <a:pt x="566928" y="0"/>
                </a:lnTo>
                <a:lnTo>
                  <a:pt x="566928" y="402336"/>
                </a:lnTo>
                <a:lnTo>
                  <a:pt x="1188720" y="402336"/>
                </a:lnTo>
              </a:path>
            </a:pathLst>
          </a:custGeom>
          <a:noFill/>
          <a:ln w="15875">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279392" y="2761488"/>
            <a:ext cx="1188720" cy="393192"/>
          </a:xfrm>
          <a:custGeom>
            <a:avLst/>
            <a:gdLst/>
            <a:ahLst/>
            <a:cxnLst/>
            <a:rect l="l" t="t" r="r" b="b"/>
            <a:pathLst>
              <a:path w="1188720" h="393192">
                <a:moveTo>
                  <a:pt x="0" y="393192"/>
                </a:moveTo>
                <a:lnTo>
                  <a:pt x="566928" y="393192"/>
                </a:lnTo>
                <a:lnTo>
                  <a:pt x="566928" y="0"/>
                </a:lnTo>
                <a:lnTo>
                  <a:pt x="1188720" y="0"/>
                </a:lnTo>
              </a:path>
            </a:pathLst>
          </a:custGeom>
          <a:noFill/>
          <a:ln w="15875">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4279392" y="3950208"/>
            <a:ext cx="1188720" cy="438912"/>
          </a:xfrm>
          <a:custGeom>
            <a:avLst/>
            <a:gdLst/>
            <a:ahLst/>
            <a:cxnLst/>
            <a:rect l="l" t="t" r="r" b="b"/>
            <a:pathLst>
              <a:path w="1188720" h="438912">
                <a:moveTo>
                  <a:pt x="0" y="0"/>
                </a:moveTo>
                <a:lnTo>
                  <a:pt x="566928" y="0"/>
                </a:lnTo>
                <a:lnTo>
                  <a:pt x="566928" y="438912"/>
                </a:lnTo>
                <a:lnTo>
                  <a:pt x="1188720" y="438912"/>
                </a:lnTo>
              </a:path>
            </a:pathLst>
          </a:custGeom>
          <a:noFill/>
          <a:ln w="15875">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279392" y="4389120"/>
            <a:ext cx="1188720" cy="356616"/>
          </a:xfrm>
          <a:custGeom>
            <a:avLst/>
            <a:gdLst/>
            <a:ahLst/>
            <a:cxnLst/>
            <a:rect l="l" t="t" r="r" b="b"/>
            <a:pathLst>
              <a:path w="1188720" h="356616">
                <a:moveTo>
                  <a:pt x="0" y="356616"/>
                </a:moveTo>
                <a:lnTo>
                  <a:pt x="566928" y="356616"/>
                </a:lnTo>
                <a:lnTo>
                  <a:pt x="566928" y="0"/>
                </a:lnTo>
                <a:lnTo>
                  <a:pt x="1188720" y="0"/>
                </a:lnTo>
              </a:path>
            </a:pathLst>
          </a:custGeom>
          <a:noFill/>
          <a:ln w="15875">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77840" y="1700784"/>
            <a:ext cx="5973775" cy="219456"/>
          </a:xfrm>
          <a:prstGeom prst="rect">
            <a:avLst/>
          </a:prstGeom>
          <a:noFill/>
        </p:spPr>
        <p:txBody>
          <a:bodyPr wrap="square" lIns="0" rIns="0" tIns="0" bIns="0" anchor="t">
            <a:spAutoFit/>
          </a:bodyPr>
          <a:lstStyle/>
          <a:p>
            <a:pPr algn="l">
              <a:lnSpc>
                <a:spcPct val="120000"/>
              </a:lnSpc>
              <a:spcAft>
                <a:spcPts val="0"/>
              </a:spcAft>
            </a:pPr>
            <a:r>
              <a:rPr sz="1000" b="1" spc="220">
                <a:solidFill>
                  <a:srgbClr val="0E9A87"/>
                </a:solidFill>
                <a:latin typeface="Calibri"/>
              </a:rPr>
              <a:t>STRAKS</a:t>
            </a:r>
          </a:p>
        </p:txBody>
      </p:sp>
      <p:sp>
        <p:nvSpPr>
          <p:cNvPr id="24" name="Rounded Rectangle 23"/>
          <p:cNvSpPr/>
          <p:nvPr/>
        </p:nvSpPr>
        <p:spPr>
          <a:xfrm>
            <a:off x="5577840" y="2029968"/>
            <a:ext cx="5973775" cy="1463040"/>
          </a:xfrm>
          <a:prstGeom prst="roundRect">
            <a:avLst>
              <a:gd name="adj" fmla="val 3000"/>
            </a:avLst>
          </a:prstGeom>
          <a:solidFill>
            <a:srgbClr val="D4E3F2"/>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733288" y="2167128"/>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1F6FB2"/>
                </a:solidFill>
                <a:latin typeface="Calibri"/>
              </a:rPr>
              <a:t>1</a:t>
            </a:r>
          </a:p>
        </p:txBody>
      </p:sp>
      <p:sp>
        <p:nvSpPr>
          <p:cNvPr id="26" name="TextBox 25"/>
          <p:cNvSpPr txBox="1"/>
          <p:nvPr/>
        </p:nvSpPr>
        <p:spPr>
          <a:xfrm>
            <a:off x="6272783" y="2157984"/>
            <a:ext cx="4967935" cy="457200"/>
          </a:xfrm>
          <a:prstGeom prst="rect">
            <a:avLst/>
          </a:prstGeom>
          <a:noFill/>
        </p:spPr>
        <p:txBody>
          <a:bodyPr wrap="square" lIns="0" rIns="0" tIns="0" bIns="0" anchor="ctr">
            <a:spAutoFit/>
          </a:bodyPr>
          <a:lstStyle/>
          <a:p>
            <a:pPr algn="l">
              <a:lnSpc>
                <a:spcPct val="120000"/>
              </a:lnSpc>
              <a:spcAft>
                <a:spcPts val="0"/>
              </a:spcAft>
            </a:pPr>
            <a:r>
              <a:rPr sz="1800" b="1">
                <a:solidFill>
                  <a:srgbClr val="1F6FB2"/>
                </a:solidFill>
                <a:latin typeface="Calibri"/>
              </a:rPr>
              <a:t>Acute poort</a:t>
            </a:r>
          </a:p>
        </p:txBody>
      </p:sp>
      <p:sp>
        <p:nvSpPr>
          <p:cNvPr id="27" name="Rounded Rectangle 26"/>
          <p:cNvSpPr/>
          <p:nvPr/>
        </p:nvSpPr>
        <p:spPr>
          <a:xfrm>
            <a:off x="5806440" y="2743200"/>
            <a:ext cx="1753514" cy="402336"/>
          </a:xfrm>
          <a:prstGeom prst="roundRect">
            <a:avLst>
              <a:gd name="adj" fmla="val 50000"/>
            </a:avLst>
          </a:prstGeom>
          <a:solidFill>
            <a:srgbClr val="F6F9FD"/>
          </a:solidFill>
          <a:ln w="12700">
            <a:solidFill>
              <a:srgbClr val="7F889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0D1B2A"/>
                </a:solidFill>
                <a:latin typeface="Calibri"/>
              </a:rPr>
              <a:t>SEH</a:t>
            </a:r>
          </a:p>
        </p:txBody>
      </p:sp>
      <p:sp>
        <p:nvSpPr>
          <p:cNvPr id="28" name="Rounded Rectangle 27"/>
          <p:cNvSpPr/>
          <p:nvPr/>
        </p:nvSpPr>
        <p:spPr>
          <a:xfrm>
            <a:off x="7687970" y="2743200"/>
            <a:ext cx="1753514" cy="402336"/>
          </a:xfrm>
          <a:prstGeom prst="roundRect">
            <a:avLst>
              <a:gd name="adj" fmla="val 50000"/>
            </a:avLst>
          </a:prstGeom>
          <a:solidFill>
            <a:srgbClr val="F6F9FD"/>
          </a:solidFill>
          <a:ln w="12700">
            <a:solidFill>
              <a:srgbClr val="7F889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0D1B2A"/>
                </a:solidFill>
                <a:latin typeface="Calibri"/>
              </a:rPr>
              <a:t>kind</a:t>
            </a:r>
          </a:p>
        </p:txBody>
      </p:sp>
      <p:sp>
        <p:nvSpPr>
          <p:cNvPr id="29" name="Rounded Rectangle 28"/>
          <p:cNvSpPr/>
          <p:nvPr/>
        </p:nvSpPr>
        <p:spPr>
          <a:xfrm>
            <a:off x="9569500" y="2743200"/>
            <a:ext cx="1753514" cy="402336"/>
          </a:xfrm>
          <a:prstGeom prst="roundRect">
            <a:avLst>
              <a:gd name="adj" fmla="val 50000"/>
            </a:avLst>
          </a:prstGeom>
          <a:solidFill>
            <a:srgbClr val="F6F9FD"/>
          </a:solidFill>
          <a:ln w="12700">
            <a:solidFill>
              <a:srgbClr val="7F889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0D1B2A"/>
                </a:solidFill>
                <a:latin typeface="Calibri"/>
              </a:rPr>
              <a:t>EHH</a:t>
            </a:r>
          </a:p>
        </p:txBody>
      </p:sp>
      <p:sp>
        <p:nvSpPr>
          <p:cNvPr id="30" name="TextBox 29"/>
          <p:cNvSpPr txBox="1"/>
          <p:nvPr/>
        </p:nvSpPr>
        <p:spPr>
          <a:xfrm>
            <a:off x="5806440" y="3236976"/>
            <a:ext cx="5516575" cy="219456"/>
          </a:xfrm>
          <a:prstGeom prst="rect">
            <a:avLst/>
          </a:prstGeom>
          <a:noFill/>
        </p:spPr>
        <p:txBody>
          <a:bodyPr wrap="square" lIns="0" rIns="0" tIns="0" bIns="0" anchor="t">
            <a:spAutoFit/>
          </a:bodyPr>
          <a:lstStyle/>
          <a:p>
            <a:pPr algn="l">
              <a:lnSpc>
                <a:spcPct val="120000"/>
              </a:lnSpc>
              <a:spcAft>
                <a:spcPts val="0"/>
              </a:spcAft>
            </a:pPr>
            <a:r>
              <a:rPr sz="1050" b="1">
                <a:solidFill>
                  <a:srgbClr val="C87E12"/>
                </a:solidFill>
                <a:latin typeface="Calibri"/>
              </a:rPr>
              <a:t>Hoeveel plekken zijn hier nodig?</a:t>
            </a:r>
          </a:p>
        </p:txBody>
      </p:sp>
      <p:sp>
        <p:nvSpPr>
          <p:cNvPr id="31" name="Rounded Rectangle 30"/>
          <p:cNvSpPr/>
          <p:nvPr/>
        </p:nvSpPr>
        <p:spPr>
          <a:xfrm>
            <a:off x="5577840" y="3657600"/>
            <a:ext cx="5973775" cy="1463040"/>
          </a:xfrm>
          <a:prstGeom prst="roundRect">
            <a:avLst>
              <a:gd name="adj" fmla="val 3000"/>
            </a:avLst>
          </a:prstGeom>
          <a:solidFill>
            <a:srgbClr val="D1E9EC"/>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5733288" y="3794760"/>
            <a:ext cx="457200" cy="45720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0E9A87"/>
                </a:solidFill>
                <a:latin typeface="Calibri"/>
              </a:rPr>
              <a:t>2</a:t>
            </a:r>
          </a:p>
        </p:txBody>
      </p:sp>
      <p:sp>
        <p:nvSpPr>
          <p:cNvPr id="33" name="TextBox 32"/>
          <p:cNvSpPr txBox="1"/>
          <p:nvPr/>
        </p:nvSpPr>
        <p:spPr>
          <a:xfrm>
            <a:off x="6272783" y="3785615"/>
            <a:ext cx="4967935" cy="457200"/>
          </a:xfrm>
          <a:prstGeom prst="rect">
            <a:avLst/>
          </a:prstGeom>
          <a:noFill/>
        </p:spPr>
        <p:txBody>
          <a:bodyPr wrap="square" lIns="0" rIns="0" tIns="0" bIns="0" anchor="ctr">
            <a:spAutoFit/>
          </a:bodyPr>
          <a:lstStyle/>
          <a:p>
            <a:pPr algn="l">
              <a:lnSpc>
                <a:spcPct val="120000"/>
              </a:lnSpc>
              <a:spcAft>
                <a:spcPts val="0"/>
              </a:spcAft>
            </a:pPr>
            <a:r>
              <a:rPr sz="1800" b="1">
                <a:solidFill>
                  <a:srgbClr val="0E9A87"/>
                </a:solidFill>
                <a:latin typeface="Calibri"/>
              </a:rPr>
              <a:t>Hotfloor</a:t>
            </a:r>
          </a:p>
        </p:txBody>
      </p:sp>
      <p:sp>
        <p:nvSpPr>
          <p:cNvPr id="34" name="Rounded Rectangle 33"/>
          <p:cNvSpPr/>
          <p:nvPr/>
        </p:nvSpPr>
        <p:spPr>
          <a:xfrm>
            <a:off x="5806440" y="4370832"/>
            <a:ext cx="2694279" cy="402336"/>
          </a:xfrm>
          <a:prstGeom prst="roundRect">
            <a:avLst>
              <a:gd name="adj" fmla="val 50000"/>
            </a:avLst>
          </a:prstGeom>
          <a:solidFill>
            <a:srgbClr val="F6F9FD"/>
          </a:solidFill>
          <a:ln w="12700">
            <a:solidFill>
              <a:srgbClr val="7F889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0D1B2A"/>
                </a:solidFill>
                <a:latin typeface="Calibri"/>
              </a:rPr>
              <a:t>ICU</a:t>
            </a:r>
          </a:p>
        </p:txBody>
      </p:sp>
      <p:sp>
        <p:nvSpPr>
          <p:cNvPr id="35" name="Rounded Rectangle 34"/>
          <p:cNvSpPr/>
          <p:nvPr/>
        </p:nvSpPr>
        <p:spPr>
          <a:xfrm>
            <a:off x="8628735" y="4370832"/>
            <a:ext cx="2694279" cy="402336"/>
          </a:xfrm>
          <a:prstGeom prst="roundRect">
            <a:avLst>
              <a:gd name="adj" fmla="val 50000"/>
            </a:avLst>
          </a:prstGeom>
          <a:solidFill>
            <a:srgbClr val="F6F9FD"/>
          </a:solidFill>
          <a:ln w="12700">
            <a:solidFill>
              <a:srgbClr val="7F889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0D1B2A"/>
                </a:solidFill>
                <a:latin typeface="Calibri"/>
              </a:rPr>
              <a:t>CCU / SCU</a:t>
            </a:r>
          </a:p>
        </p:txBody>
      </p:sp>
      <p:sp>
        <p:nvSpPr>
          <p:cNvPr id="36" name="TextBox 35"/>
          <p:cNvSpPr txBox="1"/>
          <p:nvPr/>
        </p:nvSpPr>
        <p:spPr>
          <a:xfrm>
            <a:off x="5806440" y="4864608"/>
            <a:ext cx="5516575" cy="219456"/>
          </a:xfrm>
          <a:prstGeom prst="rect">
            <a:avLst/>
          </a:prstGeom>
          <a:noFill/>
        </p:spPr>
        <p:txBody>
          <a:bodyPr wrap="square" lIns="0" rIns="0" tIns="0" bIns="0" anchor="t">
            <a:spAutoFit/>
          </a:bodyPr>
          <a:lstStyle/>
          <a:p>
            <a:pPr algn="l">
              <a:lnSpc>
                <a:spcPct val="120000"/>
              </a:lnSpc>
              <a:spcAft>
                <a:spcPts val="0"/>
              </a:spcAft>
            </a:pPr>
            <a:r>
              <a:rPr sz="1050" b="1">
                <a:solidFill>
                  <a:srgbClr val="C87E12"/>
                </a:solidFill>
                <a:latin typeface="Calibri"/>
              </a:rPr>
              <a:t>Zijn dit er 16?</a:t>
            </a:r>
          </a:p>
        </p:txBody>
      </p:sp>
      <p:sp>
        <p:nvSpPr>
          <p:cNvPr id="37" name="Rounded Rectangle 36"/>
          <p:cNvSpPr/>
          <p:nvPr/>
        </p:nvSpPr>
        <p:spPr>
          <a:xfrm>
            <a:off x="640080" y="5431536"/>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40080" y="5431536"/>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69264" y="5513831"/>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DAARUIT VOLGT</a:t>
            </a:r>
          </a:p>
          <a:p>
            <a:pPr algn="l">
              <a:lnSpc>
                <a:spcPct val="120000"/>
              </a:lnSpc>
              <a:spcAft>
                <a:spcPts val="0"/>
              </a:spcAft>
            </a:pPr>
            <a:r>
              <a:rPr sz="1250" b="1">
                <a:solidFill>
                  <a:srgbClr val="0D1B2A"/>
                </a:solidFill>
                <a:latin typeface="Calibri"/>
              </a:rPr>
              <a:t>Per plek het kamernummer en het type uitschrijven. Kan er overal beademd worden? Kan elke zorgvraag in elke kamer?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nieuwbouw fysiek</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Alleen het aantal bedden op de Hotfloor ligt vast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11</a:t>
            </a:r>
          </a:p>
        </p:txBody>
      </p:sp>
      <p:sp>
        <p:nvSpPr>
          <p:cNvPr id="10" name="Rounded Rectangle 9"/>
          <p:cNvSpPr/>
          <p:nvPr/>
        </p:nvSpPr>
        <p:spPr>
          <a:xfrm>
            <a:off x="640080" y="1700784"/>
            <a:ext cx="6766560" cy="320040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920240"/>
            <a:ext cx="621792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PLATTEGROND NIEUWBOUW</a:t>
            </a:r>
          </a:p>
        </p:txBody>
      </p:sp>
      <p:sp>
        <p:nvSpPr>
          <p:cNvPr id="12" name="Rounded Rectangle 11"/>
          <p:cNvSpPr/>
          <p:nvPr/>
        </p:nvSpPr>
        <p:spPr>
          <a:xfrm>
            <a:off x="950976" y="2304288"/>
            <a:ext cx="3931920" cy="2377440"/>
          </a:xfrm>
          <a:prstGeom prst="roundRect">
            <a:avLst>
              <a:gd name="adj" fmla="val 4000"/>
            </a:avLst>
          </a:prstGeom>
          <a:solidFill>
            <a:srgbClr val="D1E9EC"/>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70432" y="2487168"/>
            <a:ext cx="3493008" cy="329184"/>
          </a:xfrm>
          <a:prstGeom prst="rect">
            <a:avLst/>
          </a:prstGeom>
          <a:noFill/>
        </p:spPr>
        <p:txBody>
          <a:bodyPr wrap="square" lIns="0" rIns="0" tIns="0" bIns="0" anchor="t">
            <a:spAutoFit/>
          </a:bodyPr>
          <a:lstStyle/>
          <a:p>
            <a:pPr algn="l">
              <a:lnSpc>
                <a:spcPct val="120000"/>
              </a:lnSpc>
              <a:spcAft>
                <a:spcPts val="0"/>
              </a:spcAft>
            </a:pPr>
            <a:r>
              <a:rPr sz="2000" b="1">
                <a:solidFill>
                  <a:srgbClr val="0E9A87"/>
                </a:solidFill>
                <a:latin typeface="Calibri"/>
              </a:rPr>
              <a:t>Hotfloor</a:t>
            </a:r>
          </a:p>
        </p:txBody>
      </p:sp>
      <p:sp>
        <p:nvSpPr>
          <p:cNvPr id="14" name="TextBox 13"/>
          <p:cNvSpPr txBox="1"/>
          <p:nvPr/>
        </p:nvSpPr>
        <p:spPr>
          <a:xfrm>
            <a:off x="1170432" y="2852928"/>
            <a:ext cx="3493008" cy="219456"/>
          </a:xfrm>
          <a:prstGeom prst="rect">
            <a:avLst/>
          </a:prstGeom>
          <a:noFill/>
        </p:spPr>
        <p:txBody>
          <a:bodyPr wrap="square" lIns="0" rIns="0" tIns="0" bIns="0" anchor="t">
            <a:spAutoFit/>
          </a:bodyPr>
          <a:lstStyle/>
          <a:p>
            <a:pPr algn="l">
              <a:lnSpc>
                <a:spcPct val="120000"/>
              </a:lnSpc>
              <a:spcAft>
                <a:spcPts val="0"/>
              </a:spcAft>
            </a:pPr>
            <a:r>
              <a:rPr sz="950" b="1" spc="160">
                <a:solidFill>
                  <a:srgbClr val="55677C"/>
                </a:solidFill>
                <a:latin typeface="Calibri"/>
              </a:rPr>
              <a:t>16 BEDDEN</a:t>
            </a:r>
          </a:p>
        </p:txBody>
      </p:sp>
      <p:sp>
        <p:nvSpPr>
          <p:cNvPr id="15" name="Oval 14"/>
          <p:cNvSpPr/>
          <p:nvPr/>
        </p:nvSpPr>
        <p:spPr>
          <a:xfrm>
            <a:off x="1152144"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252728"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81912"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682495"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11679"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112264"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441447"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542032"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71215"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971800"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983"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401568"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730752"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831335"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160520" y="3218688"/>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61103" y="3319272"/>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2144"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252728"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581912"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682495"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11679"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112264"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441447"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542032"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871215"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971800"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300983"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401568"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3730752"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3831335"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160520" y="3749040"/>
            <a:ext cx="402336" cy="402336"/>
          </a:xfrm>
          <a:prstGeom prst="ellipse">
            <a:avLst/>
          </a:prstGeom>
          <a:solidFill>
            <a:srgbClr val="0E9A8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261103" y="3849624"/>
            <a:ext cx="201168" cy="20116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70432" y="4352544"/>
            <a:ext cx="3493008"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ICU  ·  CCU / SCU  samen op een vloer</a:t>
            </a:r>
          </a:p>
        </p:txBody>
      </p:sp>
      <p:sp>
        <p:nvSpPr>
          <p:cNvPr id="48" name="Rounded Rectangle 47"/>
          <p:cNvSpPr/>
          <p:nvPr/>
        </p:nvSpPr>
        <p:spPr>
          <a:xfrm>
            <a:off x="5157216" y="2304288"/>
            <a:ext cx="1920240" cy="1097280"/>
          </a:xfrm>
          <a:prstGeom prst="roundRect">
            <a:avLst>
              <a:gd name="adj" fmla="val 6000"/>
            </a:avLst>
          </a:prstGeom>
          <a:solidFill>
            <a:srgbClr val="EDEAE5"/>
          </a:solidFill>
          <a:ln w="15875">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340096" y="2450592"/>
            <a:ext cx="1554480" cy="310896"/>
          </a:xfrm>
          <a:prstGeom prst="rect">
            <a:avLst/>
          </a:prstGeom>
          <a:noFill/>
        </p:spPr>
        <p:txBody>
          <a:bodyPr wrap="square" lIns="0" rIns="0" tIns="0" bIns="0" anchor="t">
            <a:spAutoFit/>
          </a:bodyPr>
          <a:lstStyle/>
          <a:p>
            <a:pPr algn="l">
              <a:lnSpc>
                <a:spcPct val="120000"/>
              </a:lnSpc>
              <a:spcAft>
                <a:spcPts val="0"/>
              </a:spcAft>
            </a:pPr>
            <a:r>
              <a:rPr sz="1700" b="1">
                <a:solidFill>
                  <a:srgbClr val="C87E12"/>
                </a:solidFill>
                <a:latin typeface="Calibri"/>
              </a:rPr>
              <a:t>EHH</a:t>
            </a:r>
          </a:p>
        </p:txBody>
      </p:sp>
      <p:sp>
        <p:nvSpPr>
          <p:cNvPr id="50" name="TextBox 49"/>
          <p:cNvSpPr txBox="1"/>
          <p:nvPr/>
        </p:nvSpPr>
        <p:spPr>
          <a:xfrm>
            <a:off x="5340096" y="2816352"/>
            <a:ext cx="1554480" cy="365760"/>
          </a:xfrm>
          <a:prstGeom prst="rect">
            <a:avLst/>
          </a:prstGeom>
          <a:noFill/>
        </p:spPr>
        <p:txBody>
          <a:bodyPr wrap="square" lIns="0" rIns="0" tIns="0" bIns="0" anchor="t">
            <a:spAutoFit/>
          </a:bodyPr>
          <a:lstStyle/>
          <a:p>
            <a:pPr algn="l">
              <a:lnSpc>
                <a:spcPct val="120000"/>
              </a:lnSpc>
              <a:spcAft>
                <a:spcPts val="0"/>
              </a:spcAft>
            </a:pPr>
            <a:r>
              <a:rPr sz="1200" b="0">
                <a:solidFill>
                  <a:srgbClr val="55677C"/>
                </a:solidFill>
                <a:latin typeface="Calibri"/>
              </a:rPr>
              <a:t>? plekken</a:t>
            </a:r>
          </a:p>
        </p:txBody>
      </p:sp>
      <p:sp>
        <p:nvSpPr>
          <p:cNvPr id="51" name="Rounded Rectangle 50"/>
          <p:cNvSpPr/>
          <p:nvPr/>
        </p:nvSpPr>
        <p:spPr>
          <a:xfrm>
            <a:off x="5157216" y="3547872"/>
            <a:ext cx="1920240" cy="1097280"/>
          </a:xfrm>
          <a:prstGeom prst="roundRect">
            <a:avLst>
              <a:gd name="adj" fmla="val 6000"/>
            </a:avLst>
          </a:prstGeom>
          <a:solidFill>
            <a:srgbClr val="EDEAE5"/>
          </a:solidFill>
          <a:ln w="15875">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340096" y="3694176"/>
            <a:ext cx="1554480" cy="310896"/>
          </a:xfrm>
          <a:prstGeom prst="rect">
            <a:avLst/>
          </a:prstGeom>
          <a:noFill/>
        </p:spPr>
        <p:txBody>
          <a:bodyPr wrap="square" lIns="0" rIns="0" tIns="0" bIns="0" anchor="t">
            <a:spAutoFit/>
          </a:bodyPr>
          <a:lstStyle/>
          <a:p>
            <a:pPr algn="l">
              <a:lnSpc>
                <a:spcPct val="120000"/>
              </a:lnSpc>
              <a:spcAft>
                <a:spcPts val="0"/>
              </a:spcAft>
            </a:pPr>
            <a:r>
              <a:rPr sz="1700" b="1">
                <a:solidFill>
                  <a:srgbClr val="C87E12"/>
                </a:solidFill>
                <a:latin typeface="Calibri"/>
              </a:rPr>
              <a:t>SEH</a:t>
            </a:r>
          </a:p>
        </p:txBody>
      </p:sp>
      <p:sp>
        <p:nvSpPr>
          <p:cNvPr id="53" name="TextBox 52"/>
          <p:cNvSpPr txBox="1"/>
          <p:nvPr/>
        </p:nvSpPr>
        <p:spPr>
          <a:xfrm>
            <a:off x="5340096" y="4059935"/>
            <a:ext cx="1554480" cy="365760"/>
          </a:xfrm>
          <a:prstGeom prst="rect">
            <a:avLst/>
          </a:prstGeom>
          <a:noFill/>
        </p:spPr>
        <p:txBody>
          <a:bodyPr wrap="square" lIns="0" rIns="0" tIns="0" bIns="0" anchor="t">
            <a:spAutoFit/>
          </a:bodyPr>
          <a:lstStyle/>
          <a:p>
            <a:pPr algn="l">
              <a:lnSpc>
                <a:spcPct val="120000"/>
              </a:lnSpc>
              <a:spcAft>
                <a:spcPts val="0"/>
              </a:spcAft>
            </a:pPr>
            <a:r>
              <a:rPr sz="1200" b="0">
                <a:solidFill>
                  <a:srgbClr val="55677C"/>
                </a:solidFill>
                <a:latin typeface="Calibri"/>
              </a:rPr>
              <a:t>? plekken</a:t>
            </a:r>
          </a:p>
        </p:txBody>
      </p:sp>
      <p:sp>
        <p:nvSpPr>
          <p:cNvPr id="54" name="Rounded Rectangle 53"/>
          <p:cNvSpPr/>
          <p:nvPr/>
        </p:nvSpPr>
        <p:spPr>
          <a:xfrm>
            <a:off x="7717536" y="1700784"/>
            <a:ext cx="3834079" cy="320040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973567" y="1920240"/>
            <a:ext cx="3322015"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AANTALLEN</a:t>
            </a:r>
          </a:p>
        </p:txBody>
      </p:sp>
      <p:sp>
        <p:nvSpPr>
          <p:cNvPr id="56" name="TextBox 55"/>
          <p:cNvSpPr txBox="1"/>
          <p:nvPr/>
        </p:nvSpPr>
        <p:spPr>
          <a:xfrm>
            <a:off x="7973567" y="2267712"/>
            <a:ext cx="2553919"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Hotfloor</a:t>
            </a:r>
          </a:p>
        </p:txBody>
      </p:sp>
      <p:sp>
        <p:nvSpPr>
          <p:cNvPr id="57" name="TextBox 56"/>
          <p:cNvSpPr txBox="1"/>
          <p:nvPr/>
        </p:nvSpPr>
        <p:spPr>
          <a:xfrm>
            <a:off x="7973567" y="2542032"/>
            <a:ext cx="2553919" cy="237744"/>
          </a:xfrm>
          <a:prstGeom prst="rect">
            <a:avLst/>
          </a:prstGeom>
          <a:noFill/>
        </p:spPr>
        <p:txBody>
          <a:bodyPr wrap="square" lIns="0" rIns="0" tIns="0" bIns="0" anchor="t">
            <a:spAutoFit/>
          </a:bodyPr>
          <a:lstStyle/>
          <a:p>
            <a:pPr algn="l">
              <a:lnSpc>
                <a:spcPct val="120000"/>
              </a:lnSpc>
              <a:spcAft>
                <a:spcPts val="0"/>
              </a:spcAft>
            </a:pPr>
            <a:r>
              <a:rPr sz="1000" b="0">
                <a:solidFill>
                  <a:srgbClr val="8B9AAA"/>
                </a:solidFill>
                <a:latin typeface="Calibri"/>
              </a:rPr>
              <a:t>bedden, vastgesteld</a:t>
            </a:r>
          </a:p>
        </p:txBody>
      </p:sp>
      <p:sp>
        <p:nvSpPr>
          <p:cNvPr id="58" name="TextBox 57"/>
          <p:cNvSpPr txBox="1"/>
          <p:nvPr/>
        </p:nvSpPr>
        <p:spPr>
          <a:xfrm>
            <a:off x="10362895" y="2231136"/>
            <a:ext cx="914400" cy="457200"/>
          </a:xfrm>
          <a:prstGeom prst="rect">
            <a:avLst/>
          </a:prstGeom>
          <a:noFill/>
        </p:spPr>
        <p:txBody>
          <a:bodyPr wrap="square" lIns="0" rIns="0" tIns="0" bIns="0" anchor="t">
            <a:spAutoFit/>
          </a:bodyPr>
          <a:lstStyle/>
          <a:p>
            <a:pPr algn="r">
              <a:lnSpc>
                <a:spcPct val="120000"/>
              </a:lnSpc>
              <a:spcAft>
                <a:spcPts val="0"/>
              </a:spcAft>
            </a:pPr>
            <a:r>
              <a:rPr sz="2800" b="1">
                <a:solidFill>
                  <a:srgbClr val="0E9A87"/>
                </a:solidFill>
                <a:latin typeface="Calibri"/>
              </a:rPr>
              <a:t>16</a:t>
            </a:r>
          </a:p>
        </p:txBody>
      </p:sp>
      <p:cxnSp>
        <p:nvCxnSpPr>
          <p:cNvPr id="59" name="Connector 58"/>
          <p:cNvCxnSpPr/>
          <p:nvPr/>
        </p:nvCxnSpPr>
        <p:spPr>
          <a:xfrm>
            <a:off x="7973567" y="2852928"/>
            <a:ext cx="332201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973567" y="2980944"/>
            <a:ext cx="2553919"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SEH</a:t>
            </a:r>
          </a:p>
        </p:txBody>
      </p:sp>
      <p:sp>
        <p:nvSpPr>
          <p:cNvPr id="61" name="TextBox 60"/>
          <p:cNvSpPr txBox="1"/>
          <p:nvPr/>
        </p:nvSpPr>
        <p:spPr>
          <a:xfrm>
            <a:off x="7973567" y="3255263"/>
            <a:ext cx="2553919" cy="237744"/>
          </a:xfrm>
          <a:prstGeom prst="rect">
            <a:avLst/>
          </a:prstGeom>
          <a:noFill/>
        </p:spPr>
        <p:txBody>
          <a:bodyPr wrap="square" lIns="0" rIns="0" tIns="0" bIns="0" anchor="t">
            <a:spAutoFit/>
          </a:bodyPr>
          <a:lstStyle/>
          <a:p>
            <a:pPr algn="l">
              <a:lnSpc>
                <a:spcPct val="120000"/>
              </a:lnSpc>
              <a:spcAft>
                <a:spcPts val="0"/>
              </a:spcAft>
            </a:pPr>
            <a:r>
              <a:rPr sz="1000" b="0">
                <a:solidFill>
                  <a:srgbClr val="8B9AAA"/>
                </a:solidFill>
                <a:latin typeface="Calibri"/>
              </a:rPr>
              <a:t>plekken, nog bepalen</a:t>
            </a:r>
          </a:p>
        </p:txBody>
      </p:sp>
      <p:sp>
        <p:nvSpPr>
          <p:cNvPr id="62" name="TextBox 61"/>
          <p:cNvSpPr txBox="1"/>
          <p:nvPr/>
        </p:nvSpPr>
        <p:spPr>
          <a:xfrm>
            <a:off x="10362895" y="2944368"/>
            <a:ext cx="914400" cy="457200"/>
          </a:xfrm>
          <a:prstGeom prst="rect">
            <a:avLst/>
          </a:prstGeom>
          <a:noFill/>
        </p:spPr>
        <p:txBody>
          <a:bodyPr wrap="square" lIns="0" rIns="0" tIns="0" bIns="0" anchor="t">
            <a:spAutoFit/>
          </a:bodyPr>
          <a:lstStyle/>
          <a:p>
            <a:pPr algn="r">
              <a:lnSpc>
                <a:spcPct val="120000"/>
              </a:lnSpc>
              <a:spcAft>
                <a:spcPts val="0"/>
              </a:spcAft>
            </a:pPr>
            <a:r>
              <a:rPr sz="2800" b="1">
                <a:solidFill>
                  <a:srgbClr val="C87E12"/>
                </a:solidFill>
                <a:latin typeface="Calibri"/>
              </a:rPr>
              <a:t>?</a:t>
            </a:r>
          </a:p>
        </p:txBody>
      </p:sp>
      <p:cxnSp>
        <p:nvCxnSpPr>
          <p:cNvPr id="63" name="Connector 62"/>
          <p:cNvCxnSpPr/>
          <p:nvPr/>
        </p:nvCxnSpPr>
        <p:spPr>
          <a:xfrm>
            <a:off x="7973567" y="3566160"/>
            <a:ext cx="332201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973567" y="3694176"/>
            <a:ext cx="2553919"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EHH</a:t>
            </a:r>
          </a:p>
        </p:txBody>
      </p:sp>
      <p:sp>
        <p:nvSpPr>
          <p:cNvPr id="65" name="TextBox 64"/>
          <p:cNvSpPr txBox="1"/>
          <p:nvPr/>
        </p:nvSpPr>
        <p:spPr>
          <a:xfrm>
            <a:off x="7973567" y="3968496"/>
            <a:ext cx="2553919" cy="237744"/>
          </a:xfrm>
          <a:prstGeom prst="rect">
            <a:avLst/>
          </a:prstGeom>
          <a:noFill/>
        </p:spPr>
        <p:txBody>
          <a:bodyPr wrap="square" lIns="0" rIns="0" tIns="0" bIns="0" anchor="t">
            <a:spAutoFit/>
          </a:bodyPr>
          <a:lstStyle/>
          <a:p>
            <a:pPr algn="l">
              <a:lnSpc>
                <a:spcPct val="120000"/>
              </a:lnSpc>
              <a:spcAft>
                <a:spcPts val="0"/>
              </a:spcAft>
            </a:pPr>
            <a:r>
              <a:rPr sz="1000" b="0">
                <a:solidFill>
                  <a:srgbClr val="8B9AAA"/>
                </a:solidFill>
                <a:latin typeface="Calibri"/>
              </a:rPr>
              <a:t>plekken, nog bepalen</a:t>
            </a:r>
          </a:p>
        </p:txBody>
      </p:sp>
      <p:sp>
        <p:nvSpPr>
          <p:cNvPr id="66" name="TextBox 65"/>
          <p:cNvSpPr txBox="1"/>
          <p:nvPr/>
        </p:nvSpPr>
        <p:spPr>
          <a:xfrm>
            <a:off x="10362895" y="3657600"/>
            <a:ext cx="914400" cy="457200"/>
          </a:xfrm>
          <a:prstGeom prst="rect">
            <a:avLst/>
          </a:prstGeom>
          <a:noFill/>
        </p:spPr>
        <p:txBody>
          <a:bodyPr wrap="square" lIns="0" rIns="0" tIns="0" bIns="0" anchor="t">
            <a:spAutoFit/>
          </a:bodyPr>
          <a:lstStyle/>
          <a:p>
            <a:pPr algn="r">
              <a:lnSpc>
                <a:spcPct val="120000"/>
              </a:lnSpc>
              <a:spcAft>
                <a:spcPts val="0"/>
              </a:spcAft>
            </a:pPr>
            <a:r>
              <a:rPr sz="2800" b="1">
                <a:solidFill>
                  <a:srgbClr val="C87E12"/>
                </a:solidFill>
                <a:latin typeface="Calibri"/>
              </a:rPr>
              <a:t>?</a:t>
            </a:r>
          </a:p>
        </p:txBody>
      </p:sp>
      <p:sp>
        <p:nvSpPr>
          <p:cNvPr id="67" name="TextBox 66"/>
          <p:cNvSpPr txBox="1"/>
          <p:nvPr/>
        </p:nvSpPr>
        <p:spPr>
          <a:xfrm>
            <a:off x="7973567" y="4462272"/>
            <a:ext cx="3322015" cy="329184"/>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Per ruimte: fysieke plekken, specifieke plekken, middelen en apparatuur.</a:t>
            </a:r>
          </a:p>
        </p:txBody>
      </p:sp>
      <p:sp>
        <p:nvSpPr>
          <p:cNvPr id="68" name="Rounded Rectangle 67"/>
          <p:cNvSpPr/>
          <p:nvPr/>
        </p:nvSpPr>
        <p:spPr>
          <a:xfrm>
            <a:off x="640080" y="5431536"/>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unded Rectangle 68"/>
          <p:cNvSpPr/>
          <p:nvPr/>
        </p:nvSpPr>
        <p:spPr>
          <a:xfrm>
            <a:off x="640080" y="5431536"/>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969264" y="5513831"/>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Zolang het aantal plekken voor de SEH en de EHH niet bepaald is, kan de personele inzet daar niet berekend worden.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Vijf scenario's</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Elke variant verandert de fysieke capaciteit én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12</a:t>
            </a:r>
          </a:p>
        </p:txBody>
      </p:sp>
      <p:sp>
        <p:nvSpPr>
          <p:cNvPr id="10" name="Rounded Rectangle 9"/>
          <p:cNvSpPr/>
          <p:nvPr/>
        </p:nvSpPr>
        <p:spPr>
          <a:xfrm>
            <a:off x="640080" y="1792224"/>
            <a:ext cx="7315200" cy="53035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41247" y="1874519"/>
            <a:ext cx="365760" cy="36576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1</a:t>
            </a:r>
          </a:p>
        </p:txBody>
      </p:sp>
      <p:sp>
        <p:nvSpPr>
          <p:cNvPr id="12" name="TextBox 11"/>
          <p:cNvSpPr txBox="1"/>
          <p:nvPr/>
        </p:nvSpPr>
        <p:spPr>
          <a:xfrm>
            <a:off x="1335024" y="182880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0D1B2A"/>
                </a:solidFill>
                <a:latin typeface="Calibri"/>
              </a:rPr>
              <a:t>EHH naar SEH</a:t>
            </a:r>
          </a:p>
          <a:p>
            <a:pPr algn="l">
              <a:lnSpc>
                <a:spcPct val="120000"/>
              </a:lnSpc>
              <a:spcAft>
                <a:spcPts val="0"/>
              </a:spcAft>
            </a:pPr>
            <a:r>
              <a:rPr sz="1000" b="0">
                <a:solidFill>
                  <a:srgbClr val="8B9AAA"/>
                </a:solidFill>
                <a:latin typeface="Calibri"/>
              </a:rPr>
              <a:t>overdag, of ook 's avonds?</a:t>
            </a:r>
          </a:p>
        </p:txBody>
      </p:sp>
      <p:sp>
        <p:nvSpPr>
          <p:cNvPr id="13" name="Rounded Rectangle 12"/>
          <p:cNvSpPr/>
          <p:nvPr/>
        </p:nvSpPr>
        <p:spPr>
          <a:xfrm>
            <a:off x="640080" y="2432304"/>
            <a:ext cx="7315200" cy="53035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7" y="2514600"/>
            <a:ext cx="365760" cy="36576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2</a:t>
            </a:r>
          </a:p>
        </p:txBody>
      </p:sp>
      <p:sp>
        <p:nvSpPr>
          <p:cNvPr id="15" name="TextBox 14"/>
          <p:cNvSpPr txBox="1"/>
          <p:nvPr/>
        </p:nvSpPr>
        <p:spPr>
          <a:xfrm>
            <a:off x="1335024" y="246888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0D1B2A"/>
                </a:solidFill>
                <a:latin typeface="Calibri"/>
              </a:rPr>
              <a:t>ICU en SCU samen op de ICU</a:t>
            </a:r>
          </a:p>
        </p:txBody>
      </p:sp>
      <p:sp>
        <p:nvSpPr>
          <p:cNvPr id="16" name="Rounded Rectangle 15"/>
          <p:cNvSpPr/>
          <p:nvPr/>
        </p:nvSpPr>
        <p:spPr>
          <a:xfrm>
            <a:off x="640080" y="3072384"/>
            <a:ext cx="7315200" cy="53035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41247" y="3154680"/>
            <a:ext cx="365760" cy="36576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3</a:t>
            </a:r>
          </a:p>
        </p:txBody>
      </p:sp>
      <p:sp>
        <p:nvSpPr>
          <p:cNvPr id="18" name="TextBox 17"/>
          <p:cNvSpPr txBox="1"/>
          <p:nvPr/>
        </p:nvSpPr>
        <p:spPr>
          <a:xfrm>
            <a:off x="1335024" y="310896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0D1B2A"/>
                </a:solidFill>
                <a:latin typeface="Calibri"/>
              </a:rPr>
              <a:t>Recovery ICU naar CCU / SCU</a:t>
            </a:r>
          </a:p>
        </p:txBody>
      </p:sp>
      <p:sp>
        <p:nvSpPr>
          <p:cNvPr id="19" name="Rounded Rectangle 18"/>
          <p:cNvSpPr/>
          <p:nvPr/>
        </p:nvSpPr>
        <p:spPr>
          <a:xfrm>
            <a:off x="640080" y="3712463"/>
            <a:ext cx="7315200" cy="53035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41247" y="3794759"/>
            <a:ext cx="365760" cy="36576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4</a:t>
            </a:r>
          </a:p>
        </p:txBody>
      </p:sp>
      <p:sp>
        <p:nvSpPr>
          <p:cNvPr id="21" name="TextBox 20"/>
          <p:cNvSpPr txBox="1"/>
          <p:nvPr/>
        </p:nvSpPr>
        <p:spPr>
          <a:xfrm>
            <a:off x="1335024" y="3749039"/>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0D1B2A"/>
                </a:solidFill>
                <a:latin typeface="Calibri"/>
              </a:rPr>
              <a:t>Cardioversies CCU verplaatsen</a:t>
            </a:r>
          </a:p>
        </p:txBody>
      </p:sp>
      <p:sp>
        <p:nvSpPr>
          <p:cNvPr id="22" name="Rounded Rectangle 21"/>
          <p:cNvSpPr/>
          <p:nvPr/>
        </p:nvSpPr>
        <p:spPr>
          <a:xfrm>
            <a:off x="640080" y="4352544"/>
            <a:ext cx="7315200" cy="53035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41247" y="4434840"/>
            <a:ext cx="365760" cy="365760"/>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8B9AAA"/>
                </a:solidFill>
                <a:latin typeface="Calibri"/>
              </a:rPr>
              <a:t>5</a:t>
            </a:r>
          </a:p>
        </p:txBody>
      </p:sp>
      <p:sp>
        <p:nvSpPr>
          <p:cNvPr id="24" name="TextBox 23"/>
          <p:cNvSpPr txBox="1"/>
          <p:nvPr/>
        </p:nvSpPr>
        <p:spPr>
          <a:xfrm>
            <a:off x="1335024" y="438912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0D1B2A"/>
                </a:solidFill>
                <a:latin typeface="Calibri"/>
              </a:rPr>
              <a:t>Huidige situatie handhaven</a:t>
            </a:r>
          </a:p>
          <a:p>
            <a:pPr algn="l">
              <a:lnSpc>
                <a:spcPct val="120000"/>
              </a:lnSpc>
              <a:spcAft>
                <a:spcPts val="0"/>
              </a:spcAft>
            </a:pPr>
            <a:r>
              <a:rPr sz="1000" b="0">
                <a:solidFill>
                  <a:srgbClr val="8B9AAA"/>
                </a:solidFill>
                <a:latin typeface="Calibri"/>
              </a:rPr>
              <a:t>referentiescenario</a:t>
            </a:r>
          </a:p>
        </p:txBody>
      </p:sp>
      <p:sp>
        <p:nvSpPr>
          <p:cNvPr id="25" name="Rounded Rectangle 24"/>
          <p:cNvSpPr/>
          <p:nvPr/>
        </p:nvSpPr>
        <p:spPr>
          <a:xfrm>
            <a:off x="8266175" y="1792224"/>
            <a:ext cx="3285439" cy="3474720"/>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03919" y="1993392"/>
            <a:ext cx="2809951" cy="548640"/>
          </a:xfrm>
          <a:prstGeom prst="rect">
            <a:avLst/>
          </a:prstGeom>
          <a:noFill/>
        </p:spPr>
        <p:txBody>
          <a:bodyPr wrap="square" lIns="0" rIns="0" tIns="0" bIns="0" anchor="t">
            <a:spAutoFit/>
          </a:bodyPr>
          <a:lstStyle/>
          <a:p>
            <a:pPr algn="l">
              <a:lnSpc>
                <a:spcPct val="120000"/>
              </a:lnSpc>
              <a:spcAft>
                <a:spcPts val="0"/>
              </a:spcAft>
            </a:pPr>
            <a:r>
              <a:rPr sz="1600" b="1">
                <a:solidFill>
                  <a:srgbClr val="6B4BA8"/>
                </a:solidFill>
                <a:latin typeface="Calibri"/>
              </a:rPr>
              <a:t>Elk scenario</a:t>
            </a:r>
          </a:p>
          <a:p>
            <a:pPr algn="l">
              <a:lnSpc>
                <a:spcPct val="120000"/>
              </a:lnSpc>
              <a:spcAft>
                <a:spcPts val="0"/>
              </a:spcAft>
            </a:pPr>
            <a:r>
              <a:rPr sz="1600" b="1">
                <a:solidFill>
                  <a:srgbClr val="6B4BA8"/>
                </a:solidFill>
                <a:latin typeface="Calibri"/>
              </a:rPr>
              <a:t>raakt twee dingen</a:t>
            </a:r>
          </a:p>
        </p:txBody>
      </p:sp>
      <p:sp>
        <p:nvSpPr>
          <p:cNvPr id="27" name="Rounded Rectangle 26"/>
          <p:cNvSpPr/>
          <p:nvPr/>
        </p:nvSpPr>
        <p:spPr>
          <a:xfrm>
            <a:off x="8485632" y="2724912"/>
            <a:ext cx="2846527" cy="822960"/>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68511" y="2852928"/>
            <a:ext cx="2480767" cy="566928"/>
          </a:xfrm>
          <a:prstGeom prst="rect">
            <a:avLst/>
          </a:prstGeom>
          <a:noFill/>
        </p:spPr>
        <p:txBody>
          <a:bodyPr wrap="square" lIns="0" rIns="0" tIns="0" bIns="0" anchor="t">
            <a:spAutoFit/>
          </a:bodyPr>
          <a:lstStyle/>
          <a:p>
            <a:pPr algn="l">
              <a:lnSpc>
                <a:spcPct val="120000"/>
              </a:lnSpc>
              <a:spcAft>
                <a:spcPts val="200"/>
              </a:spcAft>
            </a:pPr>
            <a:r>
              <a:rPr sz="1300" b="1">
                <a:solidFill>
                  <a:srgbClr val="1F6FB2"/>
                </a:solidFill>
                <a:latin typeface="Calibri"/>
              </a:rPr>
              <a:t>Fysieke capaciteit</a:t>
            </a:r>
          </a:p>
          <a:p>
            <a:pPr algn="l">
              <a:lnSpc>
                <a:spcPct val="120000"/>
              </a:lnSpc>
              <a:spcAft>
                <a:spcPts val="0"/>
              </a:spcAft>
            </a:pPr>
            <a:r>
              <a:rPr sz="1000" b="0">
                <a:solidFill>
                  <a:srgbClr val="55677C"/>
                </a:solidFill>
                <a:latin typeface="Calibri"/>
              </a:rPr>
              <a:t>aantal plekken, type plek, locatie</a:t>
            </a:r>
          </a:p>
        </p:txBody>
      </p:sp>
      <p:sp>
        <p:nvSpPr>
          <p:cNvPr id="29" name="Rounded Rectangle 28"/>
          <p:cNvSpPr/>
          <p:nvPr/>
        </p:nvSpPr>
        <p:spPr>
          <a:xfrm>
            <a:off x="8485632" y="3694176"/>
            <a:ext cx="2846527" cy="822960"/>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68511" y="3822192"/>
            <a:ext cx="2480767" cy="566928"/>
          </a:xfrm>
          <a:prstGeom prst="rect">
            <a:avLst/>
          </a:prstGeom>
          <a:noFill/>
        </p:spPr>
        <p:txBody>
          <a:bodyPr wrap="square" lIns="0" rIns="0" tIns="0" bIns="0" anchor="t">
            <a:spAutoFit/>
          </a:bodyPr>
          <a:lstStyle/>
          <a:p>
            <a:pPr algn="l">
              <a:lnSpc>
                <a:spcPct val="120000"/>
              </a:lnSpc>
              <a:spcAft>
                <a:spcPts val="200"/>
              </a:spcAft>
            </a:pPr>
            <a:r>
              <a:rPr sz="1300" b="1">
                <a:solidFill>
                  <a:srgbClr val="0E9A87"/>
                </a:solidFill>
                <a:latin typeface="Calibri"/>
              </a:rPr>
              <a:t>Personele inzet</a:t>
            </a:r>
          </a:p>
          <a:p>
            <a:pPr algn="l">
              <a:lnSpc>
                <a:spcPct val="120000"/>
              </a:lnSpc>
              <a:spcAft>
                <a:spcPts val="0"/>
              </a:spcAft>
            </a:pPr>
            <a:r>
              <a:rPr sz="1000" b="0">
                <a:solidFill>
                  <a:srgbClr val="55677C"/>
                </a:solidFill>
                <a:latin typeface="Calibri"/>
              </a:rPr>
              <a:t>norm en deskundigheid</a:t>
            </a:r>
          </a:p>
        </p:txBody>
      </p:sp>
      <p:sp>
        <p:nvSpPr>
          <p:cNvPr id="31" name="TextBox 30"/>
          <p:cNvSpPr txBox="1"/>
          <p:nvPr/>
        </p:nvSpPr>
        <p:spPr>
          <a:xfrm>
            <a:off x="8503919" y="4828032"/>
            <a:ext cx="2809951" cy="384048"/>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De keuze gebeurt op basis van data uit BIC.</a:t>
            </a:r>
          </a:p>
        </p:txBody>
      </p:sp>
      <p:sp>
        <p:nvSpPr>
          <p:cNvPr id="32" name="Rounded Rectangle 31"/>
          <p:cNvSpPr/>
          <p:nvPr/>
        </p:nvSpPr>
        <p:spPr>
          <a:xfrm>
            <a:off x="640080" y="5486400"/>
            <a:ext cx="10911535" cy="658368"/>
          </a:xfrm>
          <a:prstGeom prst="roundRect">
            <a:avLst>
              <a:gd name="adj" fmla="val 3000"/>
            </a:avLst>
          </a:prstGeom>
          <a:solidFill>
            <a:srgbClr val="E4E5F4"/>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40080" y="5486400"/>
            <a:ext cx="50292" cy="658368"/>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69264" y="5568696"/>
            <a:ext cx="9997135"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6B4BA8"/>
                </a:solidFill>
                <a:latin typeface="Calibri"/>
              </a:rPr>
              <a:t>ZONDER KEUZE STAAT DE REST STIL</a:t>
            </a:r>
          </a:p>
          <a:p>
            <a:pPr algn="l">
              <a:lnSpc>
                <a:spcPct val="120000"/>
              </a:lnSpc>
              <a:spcAft>
                <a:spcPts val="0"/>
              </a:spcAft>
            </a:pPr>
            <a:r>
              <a:rPr sz="1250" b="1">
                <a:solidFill>
                  <a:srgbClr val="0D1B2A"/>
                </a:solidFill>
                <a:latin typeface="Calibri"/>
              </a:rPr>
              <a:t>Het week- en dagplan, de roostersleutels en de planning volgen pas na deze keuze.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scenario naar rooster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13</a:t>
            </a:r>
          </a:p>
        </p:txBody>
      </p:sp>
      <p:sp>
        <p:nvSpPr>
          <p:cNvPr id="10" name="Rounded Rectangle 9"/>
          <p:cNvSpPr/>
          <p:nvPr/>
        </p:nvSpPr>
        <p:spPr>
          <a:xfrm>
            <a:off x="640080"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209522"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92197"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061639"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44314"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13757"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96431"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765874"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48548"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617991"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900666"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0470108"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9536"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1F6FB2"/>
                </a:solidFill>
                <a:latin typeface="Calibri"/>
              </a:rPr>
              <a:t>Fysiek gaat voor</a:t>
            </a:r>
          </a:p>
          <a:p>
            <a:pPr algn="l">
              <a:lnSpc>
                <a:spcPct val="120000"/>
              </a:lnSpc>
              <a:spcAft>
                <a:spcPts val="0"/>
              </a:spcAft>
            </a:pPr>
            <a:r>
              <a:rPr sz="1000" b="0">
                <a:solidFill>
                  <a:srgbClr val="55677C"/>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88154"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0E9A87"/>
                </a:solidFill>
                <a:latin typeface="Calibri"/>
              </a:rPr>
              <a:t>Personele inzet volgt</a:t>
            </a:r>
          </a:p>
          <a:p>
            <a:pPr algn="l">
              <a:lnSpc>
                <a:spcPct val="120000"/>
              </a:lnSpc>
              <a:spcAft>
                <a:spcPts val="0"/>
              </a:spcAft>
            </a:pPr>
            <a:r>
              <a:rPr sz="1000" b="0">
                <a:solidFill>
                  <a:srgbClr val="55677C"/>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316772"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6B4BA8"/>
                </a:solidFill>
                <a:latin typeface="Calibri"/>
              </a:rPr>
              <a:t>Daarna monitoren</a:t>
            </a:r>
          </a:p>
          <a:p>
            <a:pPr algn="l">
              <a:lnSpc>
                <a:spcPct val="120000"/>
              </a:lnSpc>
              <a:spcAft>
                <a:spcPts val="0"/>
              </a:spcAft>
            </a:pPr>
            <a:r>
              <a:rPr sz="1000" b="0">
                <a:solidFill>
                  <a:srgbClr val="55677C"/>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486400"/>
            <a:ext cx="50292" cy="65836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69264" y="5568696"/>
            <a:ext cx="9997135"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De personele planning loopt nu niet volledig via CPP, met name rond de acute poule.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acute poort</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14</a:t>
            </a:r>
          </a:p>
        </p:txBody>
      </p:sp>
      <p:sp>
        <p:nvSpPr>
          <p:cNvPr id="10" name="Rounded Rectangle 9"/>
          <p:cNvSpPr/>
          <p:nvPr/>
        </p:nvSpPr>
        <p:spPr>
          <a:xfrm>
            <a:off x="640080" y="1700784"/>
            <a:ext cx="5943600" cy="1243584"/>
          </a:xfrm>
          <a:prstGeom prst="roundRect">
            <a:avLst>
              <a:gd name="adj" fmla="val 3000"/>
            </a:avLst>
          </a:prstGeom>
          <a:solidFill>
            <a:srgbClr val="EAD8DB"/>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Past niet</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Analyse op dag- en uurniveau</a:t>
            </a:r>
          </a:p>
          <a:p>
            <a:pPr algn="l">
              <a:lnSpc>
                <a:spcPct val="120000"/>
              </a:lnSpc>
              <a:spcAft>
                <a:spcPts val="0"/>
              </a:spcAft>
            </a:pPr>
            <a:r>
              <a:rPr sz="1000" b="0">
                <a:solidFill>
                  <a:srgbClr val="8B9AA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Jaarpatroon in beeld gebracht</a:t>
            </a:r>
          </a:p>
          <a:p>
            <a:pPr algn="l">
              <a:lnSpc>
                <a:spcPct val="120000"/>
              </a:lnSpc>
              <a:spcAft>
                <a:spcPts val="0"/>
              </a:spcAft>
            </a:pPr>
            <a:r>
              <a:rPr sz="1000" b="0">
                <a:solidFill>
                  <a:srgbClr val="8B9AA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Data beschikbaar</a:t>
            </a:r>
          </a:p>
          <a:p>
            <a:pPr algn="l">
              <a:lnSpc>
                <a:spcPct val="120000"/>
              </a:lnSpc>
              <a:spcAft>
                <a:spcPts val="0"/>
              </a:spcAft>
            </a:pPr>
            <a:r>
              <a:rPr sz="1000" b="0">
                <a:solidFill>
                  <a:srgbClr val="8B9AA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1F6FB2"/>
                </a:solidFill>
                <a:latin typeface="Calibri"/>
              </a:rPr>
              <a:t>kind spoed</a:t>
            </a:r>
          </a:p>
          <a:p>
            <a:pPr algn="l">
              <a:lnSpc>
                <a:spcPct val="120000"/>
              </a:lnSpc>
              <a:spcAft>
                <a:spcPts val="0"/>
              </a:spcAft>
            </a:pPr>
            <a:r>
              <a:rPr sz="1000" b="0">
                <a:solidFill>
                  <a:srgbClr val="55677C"/>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6B4BA8"/>
                </a:solidFill>
                <a:latin typeface="Calibri"/>
              </a:rPr>
              <a:t>EHH</a:t>
            </a:r>
          </a:p>
          <a:p>
            <a:pPr algn="l">
              <a:lnSpc>
                <a:spcPct val="120000"/>
              </a:lnSpc>
              <a:spcAft>
                <a:spcPts val="0"/>
              </a:spcAft>
            </a:pPr>
            <a:r>
              <a:rPr sz="1000" b="0">
                <a:solidFill>
                  <a:srgbClr val="55677C"/>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SEH</a:t>
            </a:r>
          </a:p>
          <a:p>
            <a:pPr algn="l">
              <a:lnSpc>
                <a:spcPct val="120000"/>
              </a:lnSpc>
              <a:spcAft>
                <a:spcPts val="0"/>
              </a:spcAft>
            </a:pPr>
            <a:r>
              <a:rPr sz="1000" b="0">
                <a:solidFill>
                  <a:srgbClr val="55677C"/>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DOEL EN VERVOLG</a:t>
            </a:r>
          </a:p>
          <a:p>
            <a:pPr algn="l">
              <a:lnSpc>
                <a:spcPct val="120000"/>
              </a:lnSpc>
              <a:spcAft>
                <a:spcPts val="0"/>
              </a:spcAft>
            </a:pPr>
            <a:r>
              <a:rPr sz="1250" b="1">
                <a:solidFill>
                  <a:srgbClr val="0D1B2A"/>
                </a:solidFill>
                <a:latin typeface="Calibri"/>
              </a:rPr>
              <a:t>De zorg passend maken op de fysieke nieuwe SEH. De analyse is gedeeld — welke acties volgen eruit, en wie pakt ze 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Hotfloor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ICU, CCU en SCU samen op één vloer</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15</a:t>
            </a:r>
          </a:p>
        </p:txBody>
      </p:sp>
      <p:sp>
        <p:nvSpPr>
          <p:cNvPr id="10" name="Rounded Rectangle 9"/>
          <p:cNvSpPr/>
          <p:nvPr/>
        </p:nvSpPr>
        <p:spPr>
          <a:xfrm>
            <a:off x="640080" y="1700784"/>
            <a:ext cx="5943600" cy="1243584"/>
          </a:xfrm>
          <a:prstGeom prst="roundRect">
            <a:avLst>
              <a:gd name="adj" fmla="val 3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Weigerkans onbekend</a:t>
            </a:r>
          </a:p>
          <a:p>
            <a:pPr algn="l">
              <a:lnSpc>
                <a:spcPct val="120000"/>
              </a:lnSpc>
              <a:spcAft>
                <a:spcPts val="0"/>
              </a:spcAft>
            </a:pPr>
            <a:r>
              <a:rPr sz="1000" b="0">
                <a:solidFill>
                  <a:srgbClr val="8B9AA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EHH nog niet belegd</a:t>
            </a:r>
          </a:p>
          <a:p>
            <a:pPr algn="l">
              <a:lnSpc>
                <a:spcPct val="120000"/>
              </a:lnSpc>
              <a:spcAft>
                <a:spcPts val="0"/>
              </a:spcAft>
            </a:pPr>
            <a:r>
              <a:rPr sz="1000" b="0">
                <a:solidFill>
                  <a:srgbClr val="8B9AA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Personele verdeling open</a:t>
            </a:r>
          </a:p>
          <a:p>
            <a:pPr algn="l">
              <a:lnSpc>
                <a:spcPct val="120000"/>
              </a:lnSpc>
              <a:spcAft>
                <a:spcPts val="0"/>
              </a:spcAft>
            </a:pPr>
            <a:r>
              <a:rPr sz="1000" b="0">
                <a:solidFill>
                  <a:srgbClr val="8B9AA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16 bedden</a:t>
            </a:r>
          </a:p>
          <a:p>
            <a:pPr algn="l">
              <a:lnSpc>
                <a:spcPct val="120000"/>
              </a:lnSpc>
              <a:spcAft>
                <a:spcPts val="0"/>
              </a:spcAft>
            </a:pPr>
            <a:r>
              <a:rPr sz="1000" b="0">
                <a:solidFill>
                  <a:srgbClr val="55677C"/>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weigerkans</a:t>
            </a:r>
          </a:p>
          <a:p>
            <a:pPr algn="l">
              <a:lnSpc>
                <a:spcPct val="120000"/>
              </a:lnSpc>
              <a:spcAft>
                <a:spcPts val="0"/>
              </a:spcAft>
            </a:pPr>
            <a:r>
              <a:rPr sz="1000" b="0">
                <a:solidFill>
                  <a:srgbClr val="55677C"/>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EHH erbij?</a:t>
            </a:r>
          </a:p>
          <a:p>
            <a:pPr algn="l">
              <a:lnSpc>
                <a:spcPct val="120000"/>
              </a:lnSpc>
              <a:spcAft>
                <a:spcPts val="0"/>
              </a:spcAft>
            </a:pPr>
            <a:r>
              <a:rPr sz="1000" b="0">
                <a:solidFill>
                  <a:srgbClr val="55677C"/>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MOET GEBEUREN</a:t>
            </a:r>
          </a:p>
          <a:p>
            <a:pPr algn="l">
              <a:lnSpc>
                <a:spcPct val="120000"/>
              </a:lnSpc>
              <a:spcAft>
                <a:spcPts val="0"/>
              </a:spcAft>
            </a:pPr>
            <a:r>
              <a:rPr sz="1250" b="1">
                <a:solidFill>
                  <a:srgbClr val="0D1B2A"/>
                </a:solidFill>
                <a:latin typeface="Calibri"/>
              </a:rPr>
              <a:t>De uitkomst is positief, maar zonder weigerkans en zonder besluit over de EHH is het beeld niet compleet.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Waar valt de EHH onder?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16</a:t>
            </a:r>
          </a:p>
        </p:txBody>
      </p:sp>
      <p:sp>
        <p:nvSpPr>
          <p:cNvPr id="10" name="Rounded Rectangle 9"/>
          <p:cNvSpPr/>
          <p:nvPr/>
        </p:nvSpPr>
        <p:spPr>
          <a:xfrm>
            <a:off x="2103120" y="1700784"/>
            <a:ext cx="7985455" cy="1060704"/>
          </a:xfrm>
          <a:prstGeom prst="roundRect">
            <a:avLst>
              <a:gd name="adj" fmla="val 3000"/>
            </a:avLst>
          </a:prstGeom>
          <a:solidFill>
            <a:srgbClr val="E8DCC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103120" y="1847088"/>
            <a:ext cx="7985455" cy="548640"/>
          </a:xfrm>
          <a:prstGeom prst="rect">
            <a:avLst/>
          </a:prstGeom>
          <a:noFill/>
        </p:spPr>
        <p:txBody>
          <a:bodyPr wrap="square" lIns="0" rIns="0" tIns="0" bIns="0" anchor="t">
            <a:spAutoFit/>
          </a:bodyPr>
          <a:lstStyle/>
          <a:p>
            <a:pPr algn="ctr">
              <a:lnSpc>
                <a:spcPct val="120000"/>
              </a:lnSpc>
              <a:spcAft>
                <a:spcPts val="0"/>
              </a:spcAft>
            </a:pPr>
            <a:r>
              <a:rPr sz="3400" b="1">
                <a:solidFill>
                  <a:srgbClr val="C87E12"/>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rIns="0" tIns="0" bIns="0" anchor="t">
            <a:spAutoFit/>
          </a:bodyPr>
          <a:lstStyle/>
          <a:p>
            <a:pPr algn="ctr">
              <a:lnSpc>
                <a:spcPct val="120000"/>
              </a:lnSpc>
              <a:spcAft>
                <a:spcPts val="0"/>
              </a:spcAft>
            </a:pPr>
            <a:r>
              <a:rPr sz="1250" b="0">
                <a:solidFill>
                  <a:srgbClr val="55677C"/>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3072384"/>
            <a:ext cx="5227167" cy="1920240"/>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04671" y="3218688"/>
            <a:ext cx="512064" cy="51206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1F6FB2"/>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1F6FB2"/>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telt mee in de plekken van de acute poort, die nu al te klein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447" y="3072384"/>
            <a:ext cx="5227167" cy="1920240"/>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89039" y="3218688"/>
            <a:ext cx="512064" cy="51206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0E9A87"/>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0E9A87"/>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EN DAARNA?</a:t>
            </a:r>
          </a:p>
          <a:p>
            <a:pPr algn="l">
              <a:lnSpc>
                <a:spcPct val="120000"/>
              </a:lnSpc>
              <a:spcAft>
                <a:spcPts val="0"/>
              </a:spcAft>
            </a:pPr>
            <a:r>
              <a:rPr sz="1250" b="1">
                <a:solidFill>
                  <a:srgbClr val="0D1B2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C87E12">
                    <a:alpha val="9000"/>
                  </a:srgbClr>
                </a:solidFill>
                <a:latin typeface="Calibri"/>
              </a:rPr>
              <a:t>04</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C87E12"/>
                </a:solidFill>
                <a:latin typeface="Calibri"/>
              </a:rPr>
              <a:t>DEEL 04</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moet er besloten worden</a:t>
            </a:r>
          </a:p>
        </p:txBody>
      </p:sp>
      <p:cxnSp>
        <p:nvCxnSpPr>
          <p:cNvPr id="6" name="Connector 5"/>
          <p:cNvCxnSpPr/>
          <p:nvPr/>
        </p:nvCxnSpPr>
        <p:spPr>
          <a:xfrm>
            <a:off x="640080" y="3584448"/>
            <a:ext cx="2377440" cy="0"/>
          </a:xfrm>
          <a:prstGeom prst="line">
            <a:avLst/>
          </a:prstGeom>
          <a:ln w="25400">
            <a:solidFill>
              <a:srgbClr val="C87E1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Wat we per situatie weten</a:t>
            </a:r>
          </a:p>
        </p:txBody>
      </p:sp>
      <p:sp>
        <p:nvSpPr>
          <p:cNvPr id="9" name="Oval 8"/>
          <p:cNvSpPr/>
          <p:nvPr/>
        </p:nvSpPr>
        <p:spPr>
          <a:xfrm>
            <a:off x="649224" y="4279392"/>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Zesendertig vragen en zes besluiten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C87E1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weten we per situatie</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18</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gridCol w="4343400"/>
                <a:gridCol w="4282135"/>
              </a:tblGrid>
              <a:tr h="347472">
                <a:tc>
                  <a:txBody>
                    <a:bodyPr wrap="square"/>
                    <a:lstStyle/>
                    <a:p>
                      <a:pPr algn="l">
                        <a:spcAft>
                          <a:spcPts val="200"/>
                        </a:spcAft>
                      </a:pPr>
                      <a:r>
                        <a:rPr sz="950" b="1">
                          <a:solidFill>
                            <a:srgbClr val="0E9A87"/>
                          </a:solidFill>
                          <a:latin typeface="Calibri"/>
                        </a:rPr>
                        <a:t>SITUATIE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FYSIEKE PLANNING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PERSONELE INZET · OPLEIDEN</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Oudbouw</a:t>
                      </a:r>
                    </a:p>
                    <a:p>
                      <a:pPr algn="l">
                        <a:spcAft>
                          <a:spcPts val="200"/>
                        </a:spcAft>
                      </a:pPr>
                      <a:r>
                        <a:rPr sz="1150" b="1">
                          <a:solidFill>
                            <a:srgbClr val="0D1B2A"/>
                          </a:solidFill>
                          <a:latin typeface="Calibri"/>
                        </a:rPr>
                        <a:t>okt 2026 - mei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Zie de vijf scenario's (dia 12)</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Verhuisperiode</a:t>
                      </a:r>
                    </a:p>
                    <a:p>
                      <a:pPr algn="l">
                        <a:spcAft>
                          <a:spcPts val="200"/>
                        </a:spcAft>
                      </a:pPr>
                      <a:r>
                        <a:rPr sz="1150" b="1">
                          <a:solidFill>
                            <a:srgbClr val="0D1B2A"/>
                          </a:solidFill>
                          <a:latin typeface="Calibri"/>
                        </a:rPr>
                        <a:t>juni 2027</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r>
              <a:tr h="1371600">
                <a:tc>
                  <a:txBody>
                    <a:bodyPr wrap="square"/>
                    <a:lstStyle/>
                    <a:p>
                      <a:pPr algn="l">
                        <a:spcAft>
                          <a:spcPts val="200"/>
                        </a:spcAft>
                      </a:pPr>
                      <a:r>
                        <a:rPr sz="1150" b="1">
                          <a:solidFill>
                            <a:srgbClr val="0D1B2A"/>
                          </a:solidFill>
                          <a:latin typeface="Calibri"/>
                        </a:rPr>
                        <a:t>Nieuwbouw</a:t>
                      </a:r>
                    </a:p>
                    <a:p>
                      <a:pPr algn="l">
                        <a:spcAft>
                          <a:spcPts val="200"/>
                        </a:spcAft>
                      </a:pPr>
                      <a:r>
                        <a:rPr sz="1150" b="1">
                          <a:solidFill>
                            <a:srgbClr val="0D1B2A"/>
                          </a:solidFill>
                          <a:latin typeface="Calibri"/>
                        </a:rPr>
                        <a:t>vanaf juni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050" b="0">
                          <a:solidFill>
                            <a:srgbClr val="55677C"/>
                          </a:solidFill>
                          <a:latin typeface="Calibri"/>
                        </a:rPr>
                        <a:t>1   Waar komt de recoverypatiënt in avond, nacht en weekend?</a:t>
                      </a:r>
                    </a:p>
                    <a:p>
                      <a:pPr algn="l">
                        <a:spcAft>
                          <a:spcPts val="200"/>
                        </a:spcAft>
                      </a:pPr>
                      <a:r>
                        <a:rPr sz="1050" b="0">
                          <a:solidFill>
                            <a:srgbClr val="55677C"/>
                          </a:solidFill>
                          <a:latin typeface="Calibri"/>
                        </a:rPr>
                        <a:t>2   Waar komt de cardioversie?</a:t>
                      </a:r>
                    </a:p>
                    <a:p>
                      <a:pPr algn="l">
                        <a:spcAft>
                          <a:spcPts val="200"/>
                        </a:spcAft>
                      </a:pPr>
                      <a:r>
                        <a:rPr sz="1050" b="0">
                          <a:solidFill>
                            <a:srgbClr val="55677C"/>
                          </a:solidFill>
                          <a:latin typeface="Calibri"/>
                        </a:rPr>
                        <a:t>3   Hoort de EHH bij de SEH of bij de Hotfloor?</a:t>
                      </a:r>
                    </a:p>
                    <a:p>
                      <a:pPr algn="l">
                        <a:spcAft>
                          <a:spcPts val="200"/>
                        </a:spcAft>
                      </a:pPr>
                      <a:r>
                        <a:rPr sz="1050" b="0">
                          <a:solidFill>
                            <a:srgbClr val="55677C"/>
                          </a:solidFill>
                          <a:latin typeface="Calibri"/>
                        </a:rPr>
                        <a:t>4   Komt de OSAS post-OK patiënt nog op de 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1   Wat gebeurt er met de scopedienst van de CCU?</a:t>
                      </a:r>
                    </a:p>
                    <a:p>
                      <a:pPr algn="l">
                        <a:spcAft>
                          <a:spcPts val="200"/>
                        </a:spcAft>
                      </a:pPr>
                      <a:r>
                        <a:rPr sz="1150" b="0">
                          <a:solidFill>
                            <a:srgbClr val="55677C"/>
                          </a:solidFill>
                          <a:latin typeface="Calibri"/>
                        </a:rPr>
                        <a:t>2   Welke norm geldt voor de Hotfloor?</a:t>
                      </a:r>
                    </a:p>
                    <a:p>
                      <a:pPr algn="l">
                        <a:spcAft>
                          <a:spcPts val="200"/>
                        </a:spcAft>
                      </a:pPr>
                      <a:r>
                        <a:rPr sz="1150" b="0">
                          <a:solidFill>
                            <a:srgbClr val="55677C"/>
                          </a:solidFill>
                          <a:latin typeface="Calibri"/>
                        </a:rPr>
                        <a:t>3   Inzet kinderverpleegkundige op de SEH?</a:t>
                      </a:r>
                    </a:p>
                    <a:p>
                      <a:pPr algn="l">
                        <a:spcAft>
                          <a:spcPts val="200"/>
                        </a:spcAft>
                      </a:pPr>
                      <a:r>
                        <a:rPr sz="1150" b="0">
                          <a:solidFill>
                            <a:srgbClr val="55677C"/>
                          </a:solidFill>
                          <a:latin typeface="Calibri"/>
                        </a:rPr>
                        <a:t>4   En verder</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5394959"/>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5394959"/>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Voor de verhuisperiode is nog niets ingevuld: welke extra diensten zijn er nodig, en op welke locatie?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Zesendertig openstaande punten</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19</a:t>
            </a:r>
          </a:p>
        </p:txBody>
      </p:sp>
      <p:sp>
        <p:nvSpPr>
          <p:cNvPr id="10" name="Rounded Rectangle 9"/>
          <p:cNvSpPr/>
          <p:nvPr/>
        </p:nvSpPr>
        <p:spPr>
          <a:xfrm>
            <a:off x="640080" y="1792224"/>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96112" y="1920240"/>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1F6FB2"/>
                </a:solidFill>
                <a:latin typeface="Calibri"/>
              </a:rPr>
              <a:t>7</a:t>
            </a:r>
          </a:p>
        </p:txBody>
      </p:sp>
      <p:sp>
        <p:nvSpPr>
          <p:cNvPr id="12" name="TextBox 11"/>
          <p:cNvSpPr txBox="1"/>
          <p:nvPr/>
        </p:nvSpPr>
        <p:spPr>
          <a:xfrm>
            <a:off x="896112" y="2633472"/>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Oudbouw en transitie</a:t>
            </a:r>
          </a:p>
        </p:txBody>
      </p:sp>
      <p:sp>
        <p:nvSpPr>
          <p:cNvPr id="13" name="TextBox 12"/>
          <p:cNvSpPr txBox="1"/>
          <p:nvPr/>
        </p:nvSpPr>
        <p:spPr>
          <a:xfrm>
            <a:off x="896112" y="2926080"/>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lopende projecten, inzet SEH, weekendformatie, regieverpleegkundige</a:t>
            </a:r>
          </a:p>
        </p:txBody>
      </p:sp>
      <p:sp>
        <p:nvSpPr>
          <p:cNvPr id="14" name="TextBox 13"/>
          <p:cNvSpPr txBox="1"/>
          <p:nvPr/>
        </p:nvSpPr>
        <p:spPr>
          <a:xfrm>
            <a:off x="2631338" y="2011680"/>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1F6FB2"/>
                </a:solidFill>
                <a:latin typeface="Calibri"/>
              </a:rPr>
              <a:t>dia 20</a:t>
            </a:r>
          </a:p>
        </p:txBody>
      </p:sp>
      <p:sp>
        <p:nvSpPr>
          <p:cNvPr id="15" name="Rounded Rectangle 14"/>
          <p:cNvSpPr/>
          <p:nvPr/>
        </p:nvSpPr>
        <p:spPr>
          <a:xfrm>
            <a:off x="4368698" y="1792224"/>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24730" y="1920240"/>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C87E12"/>
                </a:solidFill>
                <a:latin typeface="Calibri"/>
              </a:rPr>
              <a:t>1</a:t>
            </a:r>
          </a:p>
        </p:txBody>
      </p:sp>
      <p:sp>
        <p:nvSpPr>
          <p:cNvPr id="17" name="TextBox 16"/>
          <p:cNvSpPr txBox="1"/>
          <p:nvPr/>
        </p:nvSpPr>
        <p:spPr>
          <a:xfrm>
            <a:off x="4624730" y="2633472"/>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Verhuisperiode</a:t>
            </a:r>
          </a:p>
        </p:txBody>
      </p:sp>
      <p:sp>
        <p:nvSpPr>
          <p:cNvPr id="18" name="TextBox 17"/>
          <p:cNvSpPr txBox="1"/>
          <p:nvPr/>
        </p:nvSpPr>
        <p:spPr>
          <a:xfrm>
            <a:off x="4624730" y="2926080"/>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welke extra diensten, en op welke locatie?</a:t>
            </a:r>
          </a:p>
        </p:txBody>
      </p:sp>
      <p:sp>
        <p:nvSpPr>
          <p:cNvPr id="19" name="TextBox 18"/>
          <p:cNvSpPr txBox="1"/>
          <p:nvPr/>
        </p:nvSpPr>
        <p:spPr>
          <a:xfrm>
            <a:off x="6359956" y="2011680"/>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C87E12"/>
                </a:solidFill>
                <a:latin typeface="Calibri"/>
              </a:rPr>
              <a:t>dia 20</a:t>
            </a:r>
          </a:p>
        </p:txBody>
      </p:sp>
      <p:sp>
        <p:nvSpPr>
          <p:cNvPr id="20" name="Rounded Rectangle 19"/>
          <p:cNvSpPr/>
          <p:nvPr/>
        </p:nvSpPr>
        <p:spPr>
          <a:xfrm>
            <a:off x="8097316" y="1792224"/>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53348" y="1920240"/>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0E9A87"/>
                </a:solidFill>
                <a:latin typeface="Calibri"/>
              </a:rPr>
              <a:t>12</a:t>
            </a:r>
          </a:p>
        </p:txBody>
      </p:sp>
      <p:sp>
        <p:nvSpPr>
          <p:cNvPr id="22" name="TextBox 21"/>
          <p:cNvSpPr txBox="1"/>
          <p:nvPr/>
        </p:nvSpPr>
        <p:spPr>
          <a:xfrm>
            <a:off x="8353348" y="2633472"/>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Nieuwbouw</a:t>
            </a:r>
          </a:p>
        </p:txBody>
      </p:sp>
      <p:sp>
        <p:nvSpPr>
          <p:cNvPr id="23" name="TextBox 22"/>
          <p:cNvSpPr txBox="1"/>
          <p:nvPr/>
        </p:nvSpPr>
        <p:spPr>
          <a:xfrm>
            <a:off x="8353348" y="2926080"/>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EHH-personeel, afkapmoment cardio, norm, scope, EPA's, poule</a:t>
            </a:r>
          </a:p>
        </p:txBody>
      </p:sp>
      <p:sp>
        <p:nvSpPr>
          <p:cNvPr id="24" name="TextBox 23"/>
          <p:cNvSpPr txBox="1"/>
          <p:nvPr/>
        </p:nvSpPr>
        <p:spPr>
          <a:xfrm>
            <a:off x="10088575" y="2011680"/>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0E9A87"/>
                </a:solidFill>
                <a:latin typeface="Calibri"/>
              </a:rPr>
              <a:t>dia 21 en 22</a:t>
            </a:r>
          </a:p>
        </p:txBody>
      </p:sp>
      <p:sp>
        <p:nvSpPr>
          <p:cNvPr id="25" name="Rounded Rectangle 24"/>
          <p:cNvSpPr/>
          <p:nvPr/>
        </p:nvSpPr>
        <p:spPr>
          <a:xfrm>
            <a:off x="640080" y="3675888"/>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6112" y="3803904"/>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C4392D"/>
                </a:solidFill>
                <a:latin typeface="Calibri"/>
              </a:rPr>
              <a:t>9</a:t>
            </a:r>
          </a:p>
        </p:txBody>
      </p:sp>
      <p:sp>
        <p:nvSpPr>
          <p:cNvPr id="27" name="TextBox 26"/>
          <p:cNvSpPr txBox="1"/>
          <p:nvPr/>
        </p:nvSpPr>
        <p:spPr>
          <a:xfrm>
            <a:off x="896112" y="4517136"/>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Knelpunten</a:t>
            </a:r>
          </a:p>
        </p:txBody>
      </p:sp>
      <p:sp>
        <p:nvSpPr>
          <p:cNvPr id="28" name="TextBox 27"/>
          <p:cNvSpPr txBox="1"/>
          <p:nvPr/>
        </p:nvSpPr>
        <p:spPr>
          <a:xfrm>
            <a:off x="896112" y="4809744"/>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norm, SEH-artsen, jaarplan, CPP, kaders, vakantie</a:t>
            </a:r>
          </a:p>
        </p:txBody>
      </p:sp>
      <p:sp>
        <p:nvSpPr>
          <p:cNvPr id="29" name="TextBox 28"/>
          <p:cNvSpPr txBox="1"/>
          <p:nvPr/>
        </p:nvSpPr>
        <p:spPr>
          <a:xfrm>
            <a:off x="2631338" y="3895344"/>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C4392D"/>
                </a:solidFill>
                <a:latin typeface="Calibri"/>
              </a:rPr>
              <a:t>dia 23</a:t>
            </a:r>
          </a:p>
        </p:txBody>
      </p:sp>
      <p:sp>
        <p:nvSpPr>
          <p:cNvPr id="30" name="Rounded Rectangle 29"/>
          <p:cNvSpPr/>
          <p:nvPr/>
        </p:nvSpPr>
        <p:spPr>
          <a:xfrm>
            <a:off x="4368698" y="3675888"/>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624730" y="3803904"/>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6B4BA8"/>
                </a:solidFill>
                <a:latin typeface="Calibri"/>
              </a:rPr>
              <a:t>4</a:t>
            </a:r>
          </a:p>
        </p:txBody>
      </p:sp>
      <p:sp>
        <p:nvSpPr>
          <p:cNvPr id="32" name="TextBox 31"/>
          <p:cNvSpPr txBox="1"/>
          <p:nvPr/>
        </p:nvSpPr>
        <p:spPr>
          <a:xfrm>
            <a:off x="4624730" y="4517136"/>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Simulatie en jaarplan</a:t>
            </a:r>
          </a:p>
        </p:txBody>
      </p:sp>
      <p:sp>
        <p:nvSpPr>
          <p:cNvPr id="33" name="TextBox 32"/>
          <p:cNvSpPr txBox="1"/>
          <p:nvPr/>
        </p:nvSpPr>
        <p:spPr>
          <a:xfrm>
            <a:off x="4624730" y="4809744"/>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ICU- en CCU-data, seizoenspatroon, verdeling ICU/CCU</a:t>
            </a:r>
          </a:p>
        </p:txBody>
      </p:sp>
      <p:sp>
        <p:nvSpPr>
          <p:cNvPr id="34" name="TextBox 33"/>
          <p:cNvSpPr txBox="1"/>
          <p:nvPr/>
        </p:nvSpPr>
        <p:spPr>
          <a:xfrm>
            <a:off x="6359956" y="3895344"/>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6B4BA8"/>
                </a:solidFill>
                <a:latin typeface="Calibri"/>
              </a:rPr>
              <a:t>dia 24</a:t>
            </a:r>
          </a:p>
        </p:txBody>
      </p:sp>
      <p:sp>
        <p:nvSpPr>
          <p:cNvPr id="35" name="Rounded Rectangle 34"/>
          <p:cNvSpPr/>
          <p:nvPr/>
        </p:nvSpPr>
        <p:spPr>
          <a:xfrm>
            <a:off x="8097316" y="3675888"/>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53348" y="3803904"/>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FFFFFF"/>
                </a:solidFill>
                <a:latin typeface="Calibri"/>
              </a:rPr>
              <a:t>3</a:t>
            </a:r>
          </a:p>
        </p:txBody>
      </p:sp>
      <p:sp>
        <p:nvSpPr>
          <p:cNvPr id="37" name="TextBox 36"/>
          <p:cNvSpPr txBox="1"/>
          <p:nvPr/>
        </p:nvSpPr>
        <p:spPr>
          <a:xfrm>
            <a:off x="8353348" y="4517136"/>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0D1B2A"/>
                </a:solidFill>
                <a:latin typeface="Calibri"/>
              </a:rPr>
              <a:t>Direct naar Remco</a:t>
            </a:r>
          </a:p>
        </p:txBody>
      </p:sp>
      <p:sp>
        <p:nvSpPr>
          <p:cNvPr id="38" name="TextBox 37"/>
          <p:cNvSpPr txBox="1"/>
          <p:nvPr/>
        </p:nvSpPr>
        <p:spPr>
          <a:xfrm>
            <a:off x="8353348" y="4809744"/>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EHH bij welk team, opvang acute cardio, verblijfsduur SEH</a:t>
            </a:r>
          </a:p>
        </p:txBody>
      </p:sp>
      <p:sp>
        <p:nvSpPr>
          <p:cNvPr id="39" name="TextBox 38"/>
          <p:cNvSpPr txBox="1"/>
          <p:nvPr/>
        </p:nvSpPr>
        <p:spPr>
          <a:xfrm>
            <a:off x="10088575" y="3895344"/>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FFFFFF"/>
                </a:solidFill>
                <a:latin typeface="Calibri"/>
              </a:rPr>
              <a:t>dia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Oudbouw, transitie en verhuisperiode</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20</a:t>
            </a:r>
          </a:p>
        </p:txBody>
      </p:sp>
      <p:graphicFrame>
        <p:nvGraphicFramePr>
          <p:cNvPr id="10" name="Table 9"/>
          <p:cNvGraphicFramePr>
            <a:graphicFrameLocks noGrp="1"/>
          </p:cNvGraphicFramePr>
          <p:nvPr/>
        </p:nvGraphicFramePr>
        <p:xfrm>
          <a:off x="640080" y="1700784"/>
          <a:ext cx="10911535" cy="3730752"/>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1F6FB2"/>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1F6FB2"/>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moeten we meenemen uit lopende projecten, of wordt dit later doorgevoerd in de begroting en het jaarplan?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werken de afdelingen nu al toe naar de nieuwbouwsituatie, en welke impact heeft dat op bedden en personeel?</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Kunnen we de huidige personele inzet van de SEH aanhouden tot de nieuwbouw, exclusief eventuele extra inzet voor de nieuwbouw?</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bedbezetting is in het weekend lager dan doordeweeks; formatie daarop aanpassen komt neer op 5-5-4. In de oudbouw geen aanpassing, alleen toewerken naar de nieuwbouw: motiveren en dubbel opleiden.</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Voor de ICU houden we de landelijke norm aan, maar daar zit bij ons ook recovery in. Welke normering hanteren we? (Geparkeerd voor later.)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is het uitgangspunt voor de AO-dienst? Bij drukte inzet in de zorg; negen van de tien keer blijf je buiten de zorg.</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Per september start de regieverpleegkundige. Wat betekent dat voor de personele inzet en de indirecte uren, en staat die functie binnen of buiten de zorg?</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Verhuisperiode: welke extra diensten zijn er nodig ten opzichte van de oudbouw, en op welke locatie worden die ingezet?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1</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21</a:t>
            </a:r>
          </a:p>
        </p:txBody>
      </p:sp>
      <p:graphicFrame>
        <p:nvGraphicFramePr>
          <p:cNvPr id="10" name="Table 9"/>
          <p:cNvGraphicFramePr>
            <a:graphicFrameLocks noGrp="1"/>
          </p:cNvGraphicFramePr>
          <p:nvPr/>
        </p:nvGraphicFramePr>
        <p:xfrm>
          <a:off x="640080" y="1700784"/>
          <a:ext cx="10911535" cy="3066288"/>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Waar komt de personele inzet op de EHH vandaan: van de SEH of van de ICU/CCU?</a:t>
                      </a:r>
                    </a:p>
                  </a:txBody>
                  <a:tcPr marL="91440" marR="91440" marT="36576" marB="36576" anchor="ctr">
                    <a:solidFill>
                      <a:srgbClr val="FFFFFF"/>
                    </a:solidFill>
                    <a:lnL w="0">
                      <a:noFill/>
                    </a:lnL>
                    <a:lnR w="0">
                      <a:noFill/>
                    </a:lnR>
                    <a:lnT w="0">
                      <a:noFill/>
                    </a:lnT>
                    <a:lnB w="6350" cap="flat">
                      <a:solidFill>
                        <a:srgbClr val="E2E9F1"/>
                      </a:solidFill>
                    </a:lnB>
                  </a:tcPr>
                </a:tc>
              </a:tr>
              <a:tr h="704088">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Doet Remco een uitspraak over de verpleegkundige norm, of houden we de huidige normen aan en leggen we die aan hem voor?</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 de nieuwbouw wordt de scope (CCU) anders ingericht. Hoe verwerken we dat in de personele inzet? Nu is er een extra dienst overdag en extra belasting in de late en de nachtdienst.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ICU heeft een normenkader waarbij maximaal 10% afgeweken mag worden van dedicated inzet van ICU-verpleegkundigen.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Is er al nagedacht over de personele inzet op de SEH? Kunnen we het patroon opplussen op basis van de extra bedden, en van hoeveel bedden gaan we uit?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2</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22</a:t>
            </a:r>
          </a:p>
        </p:txBody>
      </p:sp>
      <p:graphicFrame>
        <p:nvGraphicFramePr>
          <p:cNvPr id="10" name="Table 9"/>
          <p:cNvGraphicFramePr>
            <a:graphicFrameLocks noGrp="1"/>
          </p:cNvGraphicFramePr>
          <p:nvPr/>
        </p:nvGraphicFramePr>
        <p:xfrm>
          <a:off x="640080" y="1700784"/>
          <a:ext cx="10911535" cy="2508504"/>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 de oude begroting loopt sterk uiteen. Wat houden we aan, en verlaagt de regieverpleegkundige dit per september?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richten we de inzet van de regieverpleegkundige in de nieuwbouw in?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Komt de kinderverpleegkundige dedicated op de SEH, of op afroep?</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staat het met de EPA's? Zijn er vereisten voor SEH-verpleegkundigen, en zijn er verplichte EPA's voor ICU en CCU?</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Als die EPA's er zijn, wat betekent dat dan in de praktijk?</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Zetten we voor de nieuwbouw nog in op een acute poule voor CCU/ICU en CCU/SEH? Nu is dat alleen ICU/SEH.</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er nu in de weg zit</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23</a:t>
            </a:r>
          </a:p>
        </p:txBody>
      </p:sp>
      <p:graphicFrame>
        <p:nvGraphicFramePr>
          <p:cNvPr id="10" name="Table 9"/>
          <p:cNvGraphicFramePr>
            <a:graphicFrameLocks noGrp="1"/>
          </p:cNvGraphicFramePr>
          <p:nvPr/>
        </p:nvGraphicFramePr>
        <p:xfrm>
          <a:off x="640080" y="1700784"/>
          <a:ext cx="10911535" cy="350520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C4392D"/>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C4392D"/>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Verpleegkundige norm: aanbodgericht werken in plaats van vraaggestuurd.</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SEH-artsen: de inzet is verhoogd maar de begroting is niet aangepast.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Acute poort: wat komt waar, en wat kunnen wij doorrekenen?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ICU en CCU wijken structureel af van het jaarplan BIC.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personele planning loopt niet volledig via CPP, met name rond de acute poule.</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Uitgangspunten en kaders ontbreken.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C4392D"/>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Vakantiegoedkeuringen niet integraal en te ruim vrijgegeven, met name bij de CCU. Actie: samen met Remco een vakantiegoedkeuring opstellen; hij noemde 20 tot 25%.</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Slapers op de SEH. Kanttekening bij de JDT: je kunt vol liggen waardoor de druk hoog is, terwijl de JDT-score dat niet laat zien.</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Simulatie, aantekeningen en Remco</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24</a:t>
            </a:r>
          </a:p>
        </p:txBody>
      </p:sp>
      <p:graphicFrame>
        <p:nvGraphicFramePr>
          <p:cNvPr id="10" name="Table 9"/>
          <p:cNvGraphicFramePr>
            <a:graphicFrameLocks noGrp="1"/>
          </p:cNvGraphicFramePr>
          <p:nvPr/>
        </p:nvGraphicFramePr>
        <p:xfrm>
          <a:off x="640080" y="1700784"/>
          <a:ext cx="10911535" cy="402336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6B4BA8"/>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6B4BA8"/>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volledige ICU-data.</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CCU-data exclusief de eerste 2 uur van CCU-patiënten die naar de SEH gaan.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Op hoeveel bedden komen we op dagniveau uit, en zijn er seizoenspatronen? Hoe is de verdeling ICU/CCU voor het personeel?</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Versneld jaarplan CCU, en het document van Daniek: huidig, transitie, nieuwbouw.</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Aftrap jaarplannen Acuut 2027: we kijken nu naar de verpleegkundige inzet; voor de SEH-artsen is eerder al iets gedaan. Wat is de wens?</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Integratie van afdelingen per nu: ICU en CCU, waarbij de SEH nog even buiten beschouwing blijft. Inzet van de ICU op de CCU gebeurt nog niet; andersom wel, maar alleen ad hoc.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hoort de EHH bij het personeel van de ICU/CCU of bij de SEH?</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waar is de opvang van de acute cardiologiepatiënt, op de SEH of op de EHH?</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hoe lang blijft een patiënt op de SEH voordat die naar de EHH gaat?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10</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Masterplan Acuut: wat ontbreekt er nog voor de transitie? Voorstel: een jaarplan opstellen en dat naast het huidige plan leggen.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 besluiten waar de rest op wacht</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25</a:t>
            </a:r>
          </a:p>
        </p:txBody>
      </p:sp>
      <p:sp>
        <p:nvSpPr>
          <p:cNvPr id="10" name="Rounded Rectangle 9"/>
          <p:cNvSpPr/>
          <p:nvPr/>
        </p:nvSpPr>
        <p:spPr>
          <a:xfrm>
            <a:off x="640080" y="175564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55648"/>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50392" y="1856232"/>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Waar valt de EHH onder?</a:t>
            </a:r>
          </a:p>
          <a:p>
            <a:pPr algn="l">
              <a:lnSpc>
                <a:spcPct val="120000"/>
              </a:lnSpc>
              <a:spcAft>
                <a:spcPts val="0"/>
              </a:spcAft>
            </a:pPr>
            <a:r>
              <a:rPr sz="1000" b="0">
                <a:solidFill>
                  <a:srgbClr val="8B9AA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16</a:t>
            </a:r>
          </a:p>
        </p:txBody>
      </p:sp>
      <p:sp>
        <p:nvSpPr>
          <p:cNvPr id="17" name="Rounded Rectangle 16"/>
          <p:cNvSpPr/>
          <p:nvPr/>
        </p:nvSpPr>
        <p:spPr>
          <a:xfrm>
            <a:off x="640080" y="2450592"/>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2450592"/>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50392" y="2551176"/>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Hoeveel plekken krijgt de acute poort?</a:t>
            </a:r>
          </a:p>
          <a:p>
            <a:pPr algn="l">
              <a:lnSpc>
                <a:spcPct val="120000"/>
              </a:lnSpc>
              <a:spcAft>
                <a:spcPts val="0"/>
              </a:spcAft>
            </a:pPr>
            <a:r>
              <a:rPr sz="1000" b="0">
                <a:solidFill>
                  <a:srgbClr val="8B9AA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14</a:t>
            </a:r>
          </a:p>
        </p:txBody>
      </p:sp>
      <p:sp>
        <p:nvSpPr>
          <p:cNvPr id="24" name="Rounded Rectangle 23"/>
          <p:cNvSpPr/>
          <p:nvPr/>
        </p:nvSpPr>
        <p:spPr>
          <a:xfrm>
            <a:off x="640080" y="3145536"/>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3145536"/>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50392" y="3246120"/>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Wie stelt de norm verpleegkundigen vast?</a:t>
            </a:r>
          </a:p>
          <a:p>
            <a:pPr algn="l">
              <a:lnSpc>
                <a:spcPct val="120000"/>
              </a:lnSpc>
              <a:spcAft>
                <a:spcPts val="0"/>
              </a:spcAft>
            </a:pPr>
            <a:r>
              <a:rPr sz="1000" b="0">
                <a:solidFill>
                  <a:srgbClr val="8B9AA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3 en 7</a:t>
            </a:r>
          </a:p>
        </p:txBody>
      </p:sp>
      <p:sp>
        <p:nvSpPr>
          <p:cNvPr id="31" name="Rounded Rectangle 30"/>
          <p:cNvSpPr/>
          <p:nvPr/>
        </p:nvSpPr>
        <p:spPr>
          <a:xfrm>
            <a:off x="640080" y="3840480"/>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0080" y="3840480"/>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50392" y="3941064"/>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Welk scenario kiezen we?</a:t>
            </a:r>
          </a:p>
          <a:p>
            <a:pPr algn="l">
              <a:lnSpc>
                <a:spcPct val="120000"/>
              </a:lnSpc>
              <a:spcAft>
                <a:spcPts val="0"/>
              </a:spcAft>
            </a:pPr>
            <a:r>
              <a:rPr sz="1000" b="0">
                <a:solidFill>
                  <a:srgbClr val="8B9AA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12</a:t>
            </a:r>
          </a:p>
        </p:txBody>
      </p:sp>
      <p:sp>
        <p:nvSpPr>
          <p:cNvPr id="38" name="Rounded Rectangle 37"/>
          <p:cNvSpPr/>
          <p:nvPr/>
        </p:nvSpPr>
        <p:spPr>
          <a:xfrm>
            <a:off x="640080" y="4535424"/>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4535424"/>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0392" y="4636008"/>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is de weigerkans bij 16 bedden?</a:t>
            </a:r>
          </a:p>
          <a:p>
            <a:pPr algn="l">
              <a:lnSpc>
                <a:spcPct val="120000"/>
              </a:lnSpc>
              <a:spcAft>
                <a:spcPts val="0"/>
              </a:spcAft>
            </a:pPr>
            <a:r>
              <a:rPr sz="1000" b="0">
                <a:solidFill>
                  <a:srgbClr val="8B9AA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a:t>
            </a:r>
          </a:p>
        </p:txBody>
      </p:sp>
      <p:sp>
        <p:nvSpPr>
          <p:cNvPr id="45" name="Rounded Rectangle 44"/>
          <p:cNvSpPr/>
          <p:nvPr/>
        </p:nvSpPr>
        <p:spPr>
          <a:xfrm>
            <a:off x="640080" y="523036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230368"/>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50392" y="5330952"/>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doen we met de knelpunten?</a:t>
            </a:r>
          </a:p>
          <a:p>
            <a:pPr algn="l">
              <a:lnSpc>
                <a:spcPct val="120000"/>
              </a:lnSpc>
              <a:spcAft>
                <a:spcPts val="0"/>
              </a:spcAft>
            </a:pPr>
            <a:r>
              <a:rPr sz="1000" b="0">
                <a:solidFill>
                  <a:srgbClr val="8B9AA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14 en 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1371600"/>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WAAR HET OP NEERKOMT</a:t>
            </a:r>
          </a:p>
        </p:txBody>
      </p:sp>
      <p:sp>
        <p:nvSpPr>
          <p:cNvPr id="4" name="TextBox 3"/>
          <p:cNvSpPr txBox="1"/>
          <p:nvPr/>
        </p:nvSpPr>
        <p:spPr>
          <a:xfrm>
            <a:off x="640080" y="1700784"/>
            <a:ext cx="7863840" cy="914400"/>
          </a:xfrm>
          <a:prstGeom prst="rect">
            <a:avLst/>
          </a:prstGeom>
          <a:noFill/>
        </p:spPr>
        <p:txBody>
          <a:bodyPr wrap="square" lIns="0" rIns="0" tIns="0" bIns="0" anchor="t">
            <a:spAutoFit/>
          </a:bodyPr>
          <a:lstStyle/>
          <a:p>
            <a:pPr algn="l">
              <a:lnSpc>
                <a:spcPct val="120000"/>
              </a:lnSpc>
              <a:spcAft>
                <a:spcPts val="0"/>
              </a:spcAft>
            </a:pPr>
            <a:r>
              <a:rPr sz="4600" b="1">
                <a:solidFill>
                  <a:srgbClr val="0D1B2A"/>
                </a:solidFill>
                <a:latin typeface="Calibri"/>
              </a:rPr>
              <a:t>Drie dingen</a:t>
            </a:r>
          </a:p>
        </p:txBody>
      </p:sp>
      <p:cxnSp>
        <p:nvCxnSpPr>
          <p:cNvPr id="5" name="Connector 4"/>
          <p:cNvCxnSpPr/>
          <p:nvPr/>
        </p:nvCxnSpPr>
        <p:spPr>
          <a:xfrm>
            <a:off x="640080" y="2743200"/>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0080" y="3054096"/>
            <a:ext cx="475488" cy="475488"/>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0E9A87"/>
                </a:solidFill>
                <a:latin typeface="Calibri"/>
              </a:rPr>
              <a:t/>
            </a:r>
          </a:p>
        </p:txBody>
      </p:sp>
      <p:sp>
        <p:nvSpPr>
          <p:cNvPr id="7" name="Oval 6"/>
          <p:cNvSpPr/>
          <p:nvPr/>
        </p:nvSpPr>
        <p:spPr>
          <a:xfrm>
            <a:off x="804672" y="3218687"/>
            <a:ext cx="146304" cy="146304"/>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3054096"/>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0E9A87"/>
                </a:solidFill>
                <a:latin typeface="Calibri"/>
              </a:rPr>
              <a:t>Fysiek eerst</a:t>
            </a:r>
          </a:p>
        </p:txBody>
      </p:sp>
      <p:sp>
        <p:nvSpPr>
          <p:cNvPr id="9" name="TextBox 8"/>
          <p:cNvSpPr txBox="1"/>
          <p:nvPr/>
        </p:nvSpPr>
        <p:spPr>
          <a:xfrm>
            <a:off x="1298448" y="3383279"/>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Wat en waar. De personele inzet volgt daaruit; andersom werkt het niet.</a:t>
            </a:r>
          </a:p>
        </p:txBody>
      </p:sp>
      <p:sp>
        <p:nvSpPr>
          <p:cNvPr id="10" name="Oval 9"/>
          <p:cNvSpPr/>
          <p:nvPr/>
        </p:nvSpPr>
        <p:spPr>
          <a:xfrm>
            <a:off x="640080" y="4096511"/>
            <a:ext cx="475488" cy="47548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4392D"/>
                </a:solidFill>
                <a:latin typeface="Calibri"/>
              </a:rPr>
              <a:t/>
            </a:r>
          </a:p>
        </p:txBody>
      </p:sp>
      <p:sp>
        <p:nvSpPr>
          <p:cNvPr id="11" name="Oval 10"/>
          <p:cNvSpPr/>
          <p:nvPr/>
        </p:nvSpPr>
        <p:spPr>
          <a:xfrm>
            <a:off x="804672" y="4261103"/>
            <a:ext cx="146304" cy="14630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4096511"/>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4392D"/>
                </a:solidFill>
                <a:latin typeface="Calibri"/>
              </a:rPr>
              <a:t>Drie besluiten blokkeren</a:t>
            </a:r>
          </a:p>
        </p:txBody>
      </p:sp>
      <p:sp>
        <p:nvSpPr>
          <p:cNvPr id="13" name="TextBox 12"/>
          <p:cNvSpPr txBox="1"/>
          <p:nvPr/>
        </p:nvSpPr>
        <p:spPr>
          <a:xfrm>
            <a:off x="1298448" y="4425696"/>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EHH-vraag, het aantal plekken op de acute poort en de norm verpleegkundigen.</a:t>
            </a:r>
          </a:p>
        </p:txBody>
      </p:sp>
      <p:sp>
        <p:nvSpPr>
          <p:cNvPr id="14" name="Oval 13"/>
          <p:cNvSpPr/>
          <p:nvPr/>
        </p:nvSpPr>
        <p:spPr>
          <a:xfrm>
            <a:off x="640080" y="5138927"/>
            <a:ext cx="475488" cy="47548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87E12"/>
                </a:solidFill>
                <a:latin typeface="Calibri"/>
              </a:rPr>
              <a:t/>
            </a:r>
          </a:p>
        </p:txBody>
      </p:sp>
      <p:sp>
        <p:nvSpPr>
          <p:cNvPr id="15" name="Oval 14"/>
          <p:cNvSpPr/>
          <p:nvPr/>
        </p:nvSpPr>
        <p:spPr>
          <a:xfrm>
            <a:off x="804672" y="5303519"/>
            <a:ext cx="146304" cy="146304"/>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98448" y="5138927"/>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87E12"/>
                </a:solidFill>
                <a:latin typeface="Calibri"/>
              </a:rPr>
              <a:t>Nu apart, straks samen</a:t>
            </a:r>
          </a:p>
        </p:txBody>
      </p:sp>
      <p:sp>
        <p:nvSpPr>
          <p:cNvPr id="17" name="TextBox 16"/>
          <p:cNvSpPr txBox="1"/>
          <p:nvPr/>
        </p:nvSpPr>
        <p:spPr>
          <a:xfrm>
            <a:off x="1298448" y="5468112"/>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huidige berekeningen gelden per afdeling. Bij samenvoeging moet opnieuw geteld worden.</a:t>
            </a:r>
          </a:p>
        </p:txBody>
      </p:sp>
      <p:sp>
        <p:nvSpPr>
          <p:cNvPr id="18" name="Freeform 17"/>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