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868680" y="1874519"/>
            <a:ext cx="9601200" cy="365760"/>
          </a:xfrm>
          <a:prstGeom prst="rect">
            <a:avLst/>
          </a:prstGeom>
          <a:noFill/>
        </p:spPr>
        <p:txBody>
          <a:bodyPr wrap="square" lIns="0" rIns="0" tIns="18288" bIns="18288" anchor="t">
            <a:spAutoFit/>
          </a:bodyPr>
          <a:lstStyle/>
          <a:p>
            <a:pPr algn="l">
              <a:lnSpc>
                <a:spcPct val="120000"/>
              </a:lnSpc>
              <a:spcAft>
                <a:spcPts val="0"/>
              </a:spcAft>
            </a:pPr>
            <a:r>
              <a:rPr sz="1300" b="1" i="0">
                <a:solidFill>
                  <a:srgbClr val="9EC0E0"/>
                </a:solidFill>
                <a:latin typeface="Calibri"/>
              </a:rPr>
              <a:t>INTEGRAAL CAPACITEITSMANAGEMENT</a:t>
            </a:r>
          </a:p>
        </p:txBody>
      </p:sp>
      <p:sp>
        <p:nvSpPr>
          <p:cNvPr id="4" name="TextBox 3"/>
          <p:cNvSpPr txBox="1"/>
          <p:nvPr/>
        </p:nvSpPr>
        <p:spPr>
          <a:xfrm>
            <a:off x="868680" y="2331720"/>
            <a:ext cx="10058400" cy="914400"/>
          </a:xfrm>
          <a:prstGeom prst="rect">
            <a:avLst/>
          </a:prstGeom>
          <a:noFill/>
        </p:spPr>
        <p:txBody>
          <a:bodyPr wrap="square" lIns="0" rIns="0" tIns="18288" bIns="18288" anchor="t">
            <a:spAutoFit/>
          </a:bodyPr>
          <a:lstStyle/>
          <a:p>
            <a:pPr algn="l">
              <a:lnSpc>
                <a:spcPct val="120000"/>
              </a:lnSpc>
              <a:spcAft>
                <a:spcPts val="0"/>
              </a:spcAft>
            </a:pPr>
            <a:r>
              <a:rPr sz="4600" b="1" i="0">
                <a:solidFill>
                  <a:srgbClr val="FFFFFF"/>
                </a:solidFill>
                <a:latin typeface="Calibri"/>
              </a:rPr>
              <a:t>Acute poort en Hotfloor</a:t>
            </a:r>
          </a:p>
        </p:txBody>
      </p:sp>
      <p:sp>
        <p:nvSpPr>
          <p:cNvPr id="5" name="TextBox 4"/>
          <p:cNvSpPr txBox="1"/>
          <p:nvPr/>
        </p:nvSpPr>
        <p:spPr>
          <a:xfrm>
            <a:off x="868680" y="3346704"/>
            <a:ext cx="10058400" cy="457200"/>
          </a:xfrm>
          <a:prstGeom prst="rect">
            <a:avLst/>
          </a:prstGeom>
          <a:noFill/>
        </p:spPr>
        <p:txBody>
          <a:bodyPr wrap="square" lIns="0" rIns="0" tIns="18288" bIns="18288" anchor="t">
            <a:spAutoFit/>
          </a:bodyPr>
          <a:lstStyle/>
          <a:p>
            <a:pPr algn="l">
              <a:lnSpc>
                <a:spcPct val="120000"/>
              </a:lnSpc>
              <a:spcAft>
                <a:spcPts val="0"/>
              </a:spcAft>
            </a:pPr>
            <a:r>
              <a:rPr sz="1800" b="0" i="0">
                <a:solidFill>
                  <a:srgbClr val="C9DCEE"/>
                </a:solidFill>
                <a:latin typeface="Calibri"/>
              </a:rPr>
              <a:t>Van de huidige situatie naar de nieuwbouw, juni 2027</a:t>
            </a:r>
          </a:p>
        </p:txBody>
      </p:sp>
      <p:sp>
        <p:nvSpPr>
          <p:cNvPr id="6" name="Rounded Rectangle 5"/>
          <p:cNvSpPr/>
          <p:nvPr/>
        </p:nvSpPr>
        <p:spPr>
          <a:xfrm>
            <a:off x="868680" y="4206240"/>
            <a:ext cx="2651760" cy="914400"/>
          </a:xfrm>
          <a:prstGeom prst="roundRect">
            <a:avLst>
              <a:gd name="adj" fmla="val 5500"/>
            </a:avLst>
          </a:prstGeom>
          <a:solidFill>
            <a:srgbClr val="7D93A9"/>
          </a:solidFill>
          <a:ln w="12700">
            <a:solidFill>
              <a:srgbClr val="2C5A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51560" y="4315968"/>
            <a:ext cx="2286000" cy="694944"/>
          </a:xfrm>
          <a:prstGeom prst="rect">
            <a:avLst/>
          </a:prstGeom>
          <a:noFill/>
        </p:spPr>
        <p:txBody>
          <a:bodyPr wrap="square" lIns="54864" rIns="54864" tIns="18288" bIns="18288" anchor="t">
            <a:spAutoFit/>
          </a:bodyPr>
          <a:lstStyle/>
          <a:p>
            <a:pPr algn="l">
              <a:lnSpc>
                <a:spcPct val="120000"/>
              </a:lnSpc>
              <a:spcAft>
                <a:spcPts val="0"/>
              </a:spcAft>
            </a:pPr>
            <a:r>
              <a:rPr sz="2600" b="1" i="0">
                <a:solidFill>
                  <a:srgbClr val="FFFFFF"/>
                </a:solidFill>
                <a:latin typeface="Calibri"/>
              </a:rPr>
              <a:t>12</a:t>
            </a:r>
          </a:p>
          <a:p>
            <a:pPr algn="l">
              <a:lnSpc>
                <a:spcPct val="120000"/>
              </a:lnSpc>
              <a:spcAft>
                <a:spcPts val="0"/>
              </a:spcAft>
            </a:pPr>
            <a:r>
              <a:rPr sz="1150" b="0" i="0">
                <a:solidFill>
                  <a:srgbClr val="C9DCEE"/>
                </a:solidFill>
                <a:latin typeface="Calibri"/>
              </a:rPr>
              <a:t>onderwerpen</a:t>
            </a:r>
          </a:p>
        </p:txBody>
      </p:sp>
      <p:sp>
        <p:nvSpPr>
          <p:cNvPr id="8" name="Rounded Rectangle 7"/>
          <p:cNvSpPr/>
          <p:nvPr/>
        </p:nvSpPr>
        <p:spPr>
          <a:xfrm>
            <a:off x="3794759" y="4206240"/>
            <a:ext cx="2651760" cy="914400"/>
          </a:xfrm>
          <a:prstGeom prst="roundRect">
            <a:avLst>
              <a:gd name="adj" fmla="val 5500"/>
            </a:avLst>
          </a:prstGeom>
          <a:solidFill>
            <a:srgbClr val="7D93A9"/>
          </a:solidFill>
          <a:ln w="12700">
            <a:solidFill>
              <a:srgbClr val="2C5A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977639" y="4315968"/>
            <a:ext cx="2286000" cy="694944"/>
          </a:xfrm>
          <a:prstGeom prst="rect">
            <a:avLst/>
          </a:prstGeom>
          <a:noFill/>
        </p:spPr>
        <p:txBody>
          <a:bodyPr wrap="square" lIns="54864" rIns="54864" tIns="18288" bIns="18288" anchor="t">
            <a:spAutoFit/>
          </a:bodyPr>
          <a:lstStyle/>
          <a:p>
            <a:pPr algn="l">
              <a:lnSpc>
                <a:spcPct val="120000"/>
              </a:lnSpc>
              <a:spcAft>
                <a:spcPts val="0"/>
              </a:spcAft>
            </a:pPr>
            <a:r>
              <a:rPr sz="2600" b="1" i="0">
                <a:solidFill>
                  <a:srgbClr val="FFFFFF"/>
                </a:solidFill>
                <a:latin typeface="Calibri"/>
              </a:rPr>
              <a:t>36</a:t>
            </a:r>
          </a:p>
          <a:p>
            <a:pPr algn="l">
              <a:lnSpc>
                <a:spcPct val="120000"/>
              </a:lnSpc>
              <a:spcAft>
                <a:spcPts val="0"/>
              </a:spcAft>
            </a:pPr>
            <a:r>
              <a:rPr sz="1150" b="0" i="0">
                <a:solidFill>
                  <a:srgbClr val="C9DCEE"/>
                </a:solidFill>
                <a:latin typeface="Calibri"/>
              </a:rPr>
              <a:t>openstaande vragen</a:t>
            </a:r>
          </a:p>
        </p:txBody>
      </p:sp>
      <p:sp>
        <p:nvSpPr>
          <p:cNvPr id="10" name="Rounded Rectangle 9"/>
          <p:cNvSpPr/>
          <p:nvPr/>
        </p:nvSpPr>
        <p:spPr>
          <a:xfrm>
            <a:off x="6720840" y="4206240"/>
            <a:ext cx="2651760" cy="914400"/>
          </a:xfrm>
          <a:prstGeom prst="roundRect">
            <a:avLst>
              <a:gd name="adj" fmla="val 5500"/>
            </a:avLst>
          </a:prstGeom>
          <a:solidFill>
            <a:srgbClr val="7D93A9"/>
          </a:solidFill>
          <a:ln w="12700">
            <a:solidFill>
              <a:srgbClr val="2C5A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903720" y="4315968"/>
            <a:ext cx="2286000" cy="694944"/>
          </a:xfrm>
          <a:prstGeom prst="rect">
            <a:avLst/>
          </a:prstGeom>
          <a:noFill/>
        </p:spPr>
        <p:txBody>
          <a:bodyPr wrap="square" lIns="54864" rIns="54864" tIns="18288" bIns="18288" anchor="t">
            <a:spAutoFit/>
          </a:bodyPr>
          <a:lstStyle/>
          <a:p>
            <a:pPr algn="l">
              <a:lnSpc>
                <a:spcPct val="120000"/>
              </a:lnSpc>
              <a:spcAft>
                <a:spcPts val="0"/>
              </a:spcAft>
            </a:pPr>
            <a:r>
              <a:rPr sz="2600" b="1" i="0">
                <a:solidFill>
                  <a:srgbClr val="FFFFFF"/>
                </a:solidFill>
                <a:latin typeface="Calibri"/>
              </a:rPr>
              <a:t>6</a:t>
            </a:r>
          </a:p>
          <a:p>
            <a:pPr algn="l">
              <a:lnSpc>
                <a:spcPct val="120000"/>
              </a:lnSpc>
              <a:spcAft>
                <a:spcPts val="0"/>
              </a:spcAft>
            </a:pPr>
            <a:r>
              <a:rPr sz="1150" b="0" i="0">
                <a:solidFill>
                  <a:srgbClr val="C9DCEE"/>
                </a:solidFill>
                <a:latin typeface="Calibri"/>
              </a:rPr>
              <a:t>besluiten die klemmen</a:t>
            </a:r>
          </a:p>
        </p:txBody>
      </p:sp>
      <p:sp>
        <p:nvSpPr>
          <p:cNvPr id="12" name="TextBox 11"/>
          <p:cNvSpPr txBox="1"/>
          <p:nvPr/>
        </p:nvSpPr>
        <p:spPr>
          <a:xfrm>
            <a:off x="868680" y="5669280"/>
            <a:ext cx="10058400" cy="365760"/>
          </a:xfrm>
          <a:prstGeom prst="rect">
            <a:avLst/>
          </a:prstGeom>
          <a:noFill/>
        </p:spPr>
        <p:txBody>
          <a:bodyPr wrap="square" lIns="0" rIns="0" tIns="18288" bIns="18288" anchor="t">
            <a:spAutoFit/>
          </a:bodyPr>
          <a:lstStyle/>
          <a:p>
            <a:pPr algn="l">
              <a:lnSpc>
                <a:spcPct val="120000"/>
              </a:lnSpc>
              <a:spcAft>
                <a:spcPts val="0"/>
              </a:spcAft>
            </a:pPr>
            <a:r>
              <a:rPr sz="1100" b="0" i="0">
                <a:solidFill>
                  <a:srgbClr val="9EC0E0"/>
                </a:solidFill>
                <a:latin typeface="Calibri"/>
              </a:rPr>
              <a:t>Werkdocument - de gemarkeerde punten staan nog open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02920" y="365760"/>
            <a:ext cx="11185855" cy="402336"/>
          </a:xfrm>
          <a:prstGeom prst="rect">
            <a:avLst/>
          </a:prstGeom>
          <a:noFill/>
        </p:spPr>
        <p:txBody>
          <a:bodyPr wrap="square" lIns="0" rIns="0" tIns="18288" bIns="18288" anchor="ctr">
            <a:spAutoFit/>
          </a:bodyPr>
          <a:lstStyle/>
          <a:p>
            <a:pPr algn="l">
              <a:lnSpc>
                <a:spcPct val="120000"/>
              </a:lnSpc>
              <a:spcAft>
                <a:spcPts val="0"/>
              </a:spcAft>
            </a:pPr>
            <a:r>
              <a:rPr sz="2250" b="1" i="0">
                <a:solidFill>
                  <a:srgbClr val="0F1B2D"/>
                </a:solidFill>
                <a:latin typeface="Calibri"/>
              </a:rPr>
              <a:t>Wat staat er in deze presentatie</a:t>
            </a:r>
          </a:p>
        </p:txBody>
      </p:sp>
      <p:sp>
        <p:nvSpPr>
          <p:cNvPr id="4" name="TextBox 3"/>
          <p:cNvSpPr txBox="1"/>
          <p:nvPr/>
        </p:nvSpPr>
        <p:spPr>
          <a:xfrm>
            <a:off x="502920" y="822960"/>
            <a:ext cx="11185855" cy="329184"/>
          </a:xfrm>
          <a:prstGeom prst="rect">
            <a:avLst/>
          </a:prstGeom>
          <a:noFill/>
        </p:spPr>
        <p:txBody>
          <a:bodyPr wrap="square" lIns="0" rIns="0" tIns="18288" bIns="18288" anchor="ctr">
            <a:spAutoFit/>
          </a:bodyPr>
          <a:lstStyle/>
          <a:p>
            <a:pPr algn="l">
              <a:lnSpc>
                <a:spcPct val="120000"/>
              </a:lnSpc>
              <a:spcAft>
                <a:spcPts val="0"/>
              </a:spcAft>
            </a:pPr>
            <a:r>
              <a:rPr sz="1350" b="0" i="0">
                <a:solidFill>
                  <a:srgbClr val="64748B"/>
                </a:solidFill>
                <a:latin typeface="Calibri"/>
              </a:rPr>
              <a:t>Vier blokken, van de startsituatie naar de besluiten</a:t>
            </a:r>
          </a:p>
        </p:txBody>
      </p:sp>
      <p:sp>
        <p:nvSpPr>
          <p:cNvPr id="5" name="TextBox 4"/>
          <p:cNvSpPr txBox="1"/>
          <p:nvPr/>
        </p:nvSpPr>
        <p:spPr>
          <a:xfrm>
            <a:off x="502920" y="6419088"/>
            <a:ext cx="5486400" cy="274320"/>
          </a:xfrm>
          <a:prstGeom prst="rect">
            <a:avLst/>
          </a:prstGeom>
          <a:noFill/>
        </p:spPr>
        <p:txBody>
          <a:bodyPr wrap="square" lIns="0" rIns="0" tIns="18288" bIns="18288" anchor="t">
            <a:spAutoFit/>
          </a:bodyPr>
          <a:lstStyle/>
          <a:p>
            <a:pPr algn="l">
              <a:lnSpc>
                <a:spcPct val="120000"/>
              </a:lnSpc>
              <a:spcAft>
                <a:spcPts val="0"/>
              </a:spcAft>
            </a:pPr>
            <a:r>
              <a:rPr sz="900" b="0" i="0">
                <a:solidFill>
                  <a:srgbClr val="64748B"/>
                </a:solidFill>
                <a:latin typeface="Calibri"/>
              </a:rPr>
              <a:t>Acute poort en Hotfloor</a:t>
            </a:r>
          </a:p>
        </p:txBody>
      </p:sp>
      <p:sp>
        <p:nvSpPr>
          <p:cNvPr id="6" name="TextBox 5"/>
          <p:cNvSpPr txBox="1"/>
          <p:nvPr/>
        </p:nvSpPr>
        <p:spPr>
          <a:xfrm>
            <a:off x="10591495" y="6419088"/>
            <a:ext cx="1097280" cy="274320"/>
          </a:xfrm>
          <a:prstGeom prst="rect">
            <a:avLst/>
          </a:prstGeom>
          <a:noFill/>
        </p:spPr>
        <p:txBody>
          <a:bodyPr wrap="square" lIns="0" rIns="0" tIns="18288" bIns="18288" anchor="t">
            <a:spAutoFit/>
          </a:bodyPr>
          <a:lstStyle/>
          <a:p>
            <a:pPr algn="r">
              <a:lnSpc>
                <a:spcPct val="120000"/>
              </a:lnSpc>
              <a:spcAft>
                <a:spcPts val="0"/>
              </a:spcAft>
            </a:pPr>
            <a:r>
              <a:rPr sz="900" b="0" i="0">
                <a:solidFill>
                  <a:srgbClr val="64748B"/>
                </a:solidFill>
                <a:latin typeface="Calibri"/>
              </a:rPr>
              <a:t>2</a:t>
            </a:r>
          </a:p>
        </p:txBody>
      </p:sp>
      <p:sp>
        <p:nvSpPr>
          <p:cNvPr id="7" name="Rounded Rectangle 6"/>
          <p:cNvSpPr/>
          <p:nvPr/>
        </p:nvSpPr>
        <p:spPr>
          <a:xfrm>
            <a:off x="502920" y="1719072"/>
            <a:ext cx="2604439" cy="3200400"/>
          </a:xfrm>
          <a:prstGeom prst="roundRect">
            <a:avLst>
              <a:gd name="adj" fmla="val 5500"/>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694944" y="1947672"/>
            <a:ext cx="566928" cy="566928"/>
          </a:xfrm>
          <a:prstGeom prst="ellipse">
            <a:avLst/>
          </a:prstGeom>
          <a:solidFill>
            <a:srgbClr val="123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900" b="1">
                <a:solidFill>
                  <a:srgbClr val="FFFFFF"/>
                </a:solidFill>
                <a:latin typeface="Calibri"/>
              </a:rPr>
              <a:t>1</a:t>
            </a:r>
          </a:p>
        </p:txBody>
      </p:sp>
      <p:sp>
        <p:nvSpPr>
          <p:cNvPr id="9" name="TextBox 8"/>
          <p:cNvSpPr txBox="1"/>
          <p:nvPr/>
        </p:nvSpPr>
        <p:spPr>
          <a:xfrm>
            <a:off x="704088" y="2651760"/>
            <a:ext cx="2202103" cy="640080"/>
          </a:xfrm>
          <a:prstGeom prst="rect">
            <a:avLst/>
          </a:prstGeom>
          <a:noFill/>
        </p:spPr>
        <p:txBody>
          <a:bodyPr wrap="square" lIns="54864" rIns="54864" tIns="18288" bIns="18288" anchor="t">
            <a:spAutoFit/>
          </a:bodyPr>
          <a:lstStyle/>
          <a:p>
            <a:pPr algn="l">
              <a:lnSpc>
                <a:spcPct val="120000"/>
              </a:lnSpc>
              <a:spcAft>
                <a:spcPts val="200"/>
              </a:spcAft>
            </a:pPr>
            <a:r>
              <a:rPr sz="1600" b="1" i="0">
                <a:solidFill>
                  <a:srgbClr val="123A63"/>
                </a:solidFill>
                <a:latin typeface="Calibri"/>
              </a:rPr>
              <a:t>Waar staan we nu</a:t>
            </a:r>
          </a:p>
        </p:txBody>
      </p:sp>
      <p:sp>
        <p:nvSpPr>
          <p:cNvPr id="10" name="TextBox 9"/>
          <p:cNvSpPr txBox="1"/>
          <p:nvPr/>
        </p:nvSpPr>
        <p:spPr>
          <a:xfrm>
            <a:off x="704088" y="3291840"/>
            <a:ext cx="2202103" cy="274320"/>
          </a:xfrm>
          <a:prstGeom prst="rect">
            <a:avLst/>
          </a:prstGeom>
          <a:noFill/>
        </p:spPr>
        <p:txBody>
          <a:bodyPr wrap="square" lIns="54864" rIns="54864" tIns="18288" bIns="18288" anchor="t">
            <a:spAutoFit/>
          </a:bodyPr>
          <a:lstStyle/>
          <a:p>
            <a:pPr algn="l">
              <a:lnSpc>
                <a:spcPct val="120000"/>
              </a:lnSpc>
              <a:spcAft>
                <a:spcPts val="0"/>
              </a:spcAft>
            </a:pPr>
            <a:r>
              <a:rPr sz="950" b="1" i="0">
                <a:solidFill>
                  <a:srgbClr val="64748B"/>
                </a:solidFill>
                <a:latin typeface="Calibri"/>
              </a:rPr>
              <a:t>DIA 3 EN 4</a:t>
            </a:r>
          </a:p>
        </p:txBody>
      </p:sp>
      <p:sp>
        <p:nvSpPr>
          <p:cNvPr id="11" name="TextBox 10"/>
          <p:cNvSpPr txBox="1"/>
          <p:nvPr/>
        </p:nvSpPr>
        <p:spPr>
          <a:xfrm>
            <a:off x="704088" y="3602736"/>
            <a:ext cx="2202103" cy="1188720"/>
          </a:xfrm>
          <a:prstGeom prst="rect">
            <a:avLst/>
          </a:prstGeom>
          <a:noFill/>
        </p:spPr>
        <p:txBody>
          <a:bodyPr wrap="square" lIns="54864" rIns="54864" tIns="18288" bIns="18288" anchor="t">
            <a:spAutoFit/>
          </a:bodyPr>
          <a:lstStyle/>
          <a:p>
            <a:pPr algn="l">
              <a:lnSpc>
                <a:spcPct val="125000"/>
              </a:lnSpc>
              <a:spcAft>
                <a:spcPts val="0"/>
              </a:spcAft>
            </a:pPr>
            <a:r>
              <a:rPr sz="1150" b="0" i="0">
                <a:solidFill>
                  <a:srgbClr val="0F1B2D"/>
                </a:solidFill>
                <a:latin typeface="Calibri"/>
              </a:rPr>
              <a:t>De startsituatie per afdeling, en waarom de aantallen van verschillende afdelingen niet bij elkaar horen.</a:t>
            </a:r>
          </a:p>
        </p:txBody>
      </p:sp>
      <p:sp>
        <p:nvSpPr>
          <p:cNvPr id="12" name="Rounded Rectangle 11"/>
          <p:cNvSpPr/>
          <p:nvPr/>
        </p:nvSpPr>
        <p:spPr>
          <a:xfrm>
            <a:off x="3363391" y="1719072"/>
            <a:ext cx="2604439" cy="3200400"/>
          </a:xfrm>
          <a:prstGeom prst="roundRect">
            <a:avLst>
              <a:gd name="adj" fmla="val 5500"/>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3555415" y="1947672"/>
            <a:ext cx="566928" cy="566928"/>
          </a:xfrm>
          <a:prstGeom prst="ellipse">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900" b="1">
                <a:solidFill>
                  <a:srgbClr val="FFFFFF"/>
                </a:solidFill>
                <a:latin typeface="Calibri"/>
              </a:rPr>
              <a:t>2</a:t>
            </a:r>
          </a:p>
        </p:txBody>
      </p:sp>
      <p:sp>
        <p:nvSpPr>
          <p:cNvPr id="14" name="TextBox 13"/>
          <p:cNvSpPr txBox="1"/>
          <p:nvPr/>
        </p:nvSpPr>
        <p:spPr>
          <a:xfrm>
            <a:off x="3564559" y="2651760"/>
            <a:ext cx="2202103" cy="640080"/>
          </a:xfrm>
          <a:prstGeom prst="rect">
            <a:avLst/>
          </a:prstGeom>
          <a:noFill/>
        </p:spPr>
        <p:txBody>
          <a:bodyPr wrap="square" lIns="54864" rIns="54864" tIns="18288" bIns="18288" anchor="t">
            <a:spAutoFit/>
          </a:bodyPr>
          <a:lstStyle/>
          <a:p>
            <a:pPr algn="l">
              <a:lnSpc>
                <a:spcPct val="120000"/>
              </a:lnSpc>
              <a:spcAft>
                <a:spcPts val="200"/>
              </a:spcAft>
            </a:pPr>
            <a:r>
              <a:rPr sz="1600" b="1" i="0">
                <a:solidFill>
                  <a:srgbClr val="6B4BA8"/>
                </a:solidFill>
                <a:latin typeface="Calibri"/>
              </a:rPr>
              <a:t>Wat gaan we rekenen</a:t>
            </a:r>
          </a:p>
        </p:txBody>
      </p:sp>
      <p:sp>
        <p:nvSpPr>
          <p:cNvPr id="15" name="TextBox 14"/>
          <p:cNvSpPr txBox="1"/>
          <p:nvPr/>
        </p:nvSpPr>
        <p:spPr>
          <a:xfrm>
            <a:off x="3564559" y="3291840"/>
            <a:ext cx="2202103" cy="274320"/>
          </a:xfrm>
          <a:prstGeom prst="rect">
            <a:avLst/>
          </a:prstGeom>
          <a:noFill/>
        </p:spPr>
        <p:txBody>
          <a:bodyPr wrap="square" lIns="54864" rIns="54864" tIns="18288" bIns="18288" anchor="t">
            <a:spAutoFit/>
          </a:bodyPr>
          <a:lstStyle/>
          <a:p>
            <a:pPr algn="l">
              <a:lnSpc>
                <a:spcPct val="120000"/>
              </a:lnSpc>
              <a:spcAft>
                <a:spcPts val="0"/>
              </a:spcAft>
            </a:pPr>
            <a:r>
              <a:rPr sz="950" b="1" i="0">
                <a:solidFill>
                  <a:srgbClr val="64748B"/>
                </a:solidFill>
                <a:latin typeface="Calibri"/>
              </a:rPr>
              <a:t>DIA 5 TOT EN MET 7</a:t>
            </a:r>
          </a:p>
        </p:txBody>
      </p:sp>
      <p:sp>
        <p:nvSpPr>
          <p:cNvPr id="16" name="TextBox 15"/>
          <p:cNvSpPr txBox="1"/>
          <p:nvPr/>
        </p:nvSpPr>
        <p:spPr>
          <a:xfrm>
            <a:off x="3564559" y="3602736"/>
            <a:ext cx="2202103" cy="1188720"/>
          </a:xfrm>
          <a:prstGeom prst="rect">
            <a:avLst/>
          </a:prstGeom>
          <a:noFill/>
        </p:spPr>
        <p:txBody>
          <a:bodyPr wrap="square" lIns="54864" rIns="54864" tIns="18288" bIns="18288" anchor="t">
            <a:spAutoFit/>
          </a:bodyPr>
          <a:lstStyle/>
          <a:p>
            <a:pPr algn="l">
              <a:lnSpc>
                <a:spcPct val="125000"/>
              </a:lnSpc>
              <a:spcAft>
                <a:spcPts val="0"/>
              </a:spcAft>
            </a:pPr>
            <a:r>
              <a:rPr sz="1150" b="0" i="0">
                <a:solidFill>
                  <a:srgbClr val="0F1B2D"/>
                </a:solidFill>
                <a:latin typeface="Calibri"/>
              </a:rPr>
              <a:t>Het tijdpad, de drie berekeningen en de patiëntstromen die per afdeling meetellen.</a:t>
            </a:r>
          </a:p>
        </p:txBody>
      </p:sp>
      <p:sp>
        <p:nvSpPr>
          <p:cNvPr id="17" name="Rounded Rectangle 16"/>
          <p:cNvSpPr/>
          <p:nvPr/>
        </p:nvSpPr>
        <p:spPr>
          <a:xfrm>
            <a:off x="6223863" y="1719072"/>
            <a:ext cx="2604439" cy="3200400"/>
          </a:xfrm>
          <a:prstGeom prst="roundRect">
            <a:avLst>
              <a:gd name="adj" fmla="val 5500"/>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6415887" y="1947672"/>
            <a:ext cx="566928" cy="56692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900" b="1">
                <a:solidFill>
                  <a:srgbClr val="FFFFFF"/>
                </a:solidFill>
                <a:latin typeface="Calibri"/>
              </a:rPr>
              <a:t>3</a:t>
            </a:r>
          </a:p>
        </p:txBody>
      </p:sp>
      <p:sp>
        <p:nvSpPr>
          <p:cNvPr id="19" name="TextBox 18"/>
          <p:cNvSpPr txBox="1"/>
          <p:nvPr/>
        </p:nvSpPr>
        <p:spPr>
          <a:xfrm>
            <a:off x="6425031" y="2651760"/>
            <a:ext cx="2202103" cy="640080"/>
          </a:xfrm>
          <a:prstGeom prst="rect">
            <a:avLst/>
          </a:prstGeom>
          <a:noFill/>
        </p:spPr>
        <p:txBody>
          <a:bodyPr wrap="square" lIns="54864" rIns="54864" tIns="18288" bIns="18288" anchor="t">
            <a:spAutoFit/>
          </a:bodyPr>
          <a:lstStyle/>
          <a:p>
            <a:pPr algn="l">
              <a:lnSpc>
                <a:spcPct val="120000"/>
              </a:lnSpc>
              <a:spcAft>
                <a:spcPts val="200"/>
              </a:spcAft>
            </a:pPr>
            <a:r>
              <a:rPr sz="1600" b="1" i="0">
                <a:solidFill>
                  <a:srgbClr val="1F6FB2"/>
                </a:solidFill>
                <a:latin typeface="Calibri"/>
              </a:rPr>
              <a:t>Wat verandert er</a:t>
            </a:r>
          </a:p>
        </p:txBody>
      </p:sp>
      <p:sp>
        <p:nvSpPr>
          <p:cNvPr id="20" name="TextBox 19"/>
          <p:cNvSpPr txBox="1"/>
          <p:nvPr/>
        </p:nvSpPr>
        <p:spPr>
          <a:xfrm>
            <a:off x="6425031" y="3291840"/>
            <a:ext cx="2202103" cy="274320"/>
          </a:xfrm>
          <a:prstGeom prst="rect">
            <a:avLst/>
          </a:prstGeom>
          <a:noFill/>
        </p:spPr>
        <p:txBody>
          <a:bodyPr wrap="square" lIns="54864" rIns="54864" tIns="18288" bIns="18288" anchor="t">
            <a:spAutoFit/>
          </a:bodyPr>
          <a:lstStyle/>
          <a:p>
            <a:pPr algn="l">
              <a:lnSpc>
                <a:spcPct val="120000"/>
              </a:lnSpc>
              <a:spcAft>
                <a:spcPts val="0"/>
              </a:spcAft>
            </a:pPr>
            <a:r>
              <a:rPr sz="950" b="1" i="0">
                <a:solidFill>
                  <a:srgbClr val="64748B"/>
                </a:solidFill>
                <a:latin typeface="Calibri"/>
              </a:rPr>
              <a:t>DIA 8 TOT EN MET 14</a:t>
            </a:r>
          </a:p>
        </p:txBody>
      </p:sp>
      <p:sp>
        <p:nvSpPr>
          <p:cNvPr id="21" name="TextBox 20"/>
          <p:cNvSpPr txBox="1"/>
          <p:nvPr/>
        </p:nvSpPr>
        <p:spPr>
          <a:xfrm>
            <a:off x="6425031" y="3602736"/>
            <a:ext cx="2202103" cy="1188720"/>
          </a:xfrm>
          <a:prstGeom prst="rect">
            <a:avLst/>
          </a:prstGeom>
          <a:noFill/>
        </p:spPr>
        <p:txBody>
          <a:bodyPr wrap="square" lIns="54864" rIns="54864" tIns="18288" bIns="18288" anchor="t">
            <a:spAutoFit/>
          </a:bodyPr>
          <a:lstStyle/>
          <a:p>
            <a:pPr algn="l">
              <a:lnSpc>
                <a:spcPct val="125000"/>
              </a:lnSpc>
              <a:spcAft>
                <a:spcPts val="0"/>
              </a:spcAft>
            </a:pPr>
            <a:r>
              <a:rPr sz="1150" b="0" i="0">
                <a:solidFill>
                  <a:srgbClr val="0F1B2D"/>
                </a:solidFill>
                <a:latin typeface="Calibri"/>
              </a:rPr>
              <a:t>Van vier locaties naar twee clusters, de vijf scenario's en de twee analyses.</a:t>
            </a:r>
          </a:p>
        </p:txBody>
      </p:sp>
      <p:sp>
        <p:nvSpPr>
          <p:cNvPr id="22" name="Rounded Rectangle 21"/>
          <p:cNvSpPr/>
          <p:nvPr/>
        </p:nvSpPr>
        <p:spPr>
          <a:xfrm>
            <a:off x="9084335" y="1719072"/>
            <a:ext cx="2604439" cy="3200400"/>
          </a:xfrm>
          <a:prstGeom prst="roundRect">
            <a:avLst>
              <a:gd name="adj" fmla="val 5500"/>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9276359" y="1947672"/>
            <a:ext cx="566928" cy="566928"/>
          </a:xfrm>
          <a:prstGeom prst="ellipse">
            <a:avLst/>
          </a:prstGeom>
          <a:solidFill>
            <a:srgbClr val="DE8A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900" b="1">
                <a:solidFill>
                  <a:srgbClr val="FFFFFF"/>
                </a:solidFill>
                <a:latin typeface="Calibri"/>
              </a:rPr>
              <a:t>4</a:t>
            </a:r>
          </a:p>
        </p:txBody>
      </p:sp>
      <p:sp>
        <p:nvSpPr>
          <p:cNvPr id="24" name="TextBox 23"/>
          <p:cNvSpPr txBox="1"/>
          <p:nvPr/>
        </p:nvSpPr>
        <p:spPr>
          <a:xfrm>
            <a:off x="9285503" y="2651760"/>
            <a:ext cx="2202103" cy="640080"/>
          </a:xfrm>
          <a:prstGeom prst="rect">
            <a:avLst/>
          </a:prstGeom>
          <a:noFill/>
        </p:spPr>
        <p:txBody>
          <a:bodyPr wrap="square" lIns="54864" rIns="54864" tIns="18288" bIns="18288" anchor="t">
            <a:spAutoFit/>
          </a:bodyPr>
          <a:lstStyle/>
          <a:p>
            <a:pPr algn="l">
              <a:lnSpc>
                <a:spcPct val="120000"/>
              </a:lnSpc>
              <a:spcAft>
                <a:spcPts val="200"/>
              </a:spcAft>
            </a:pPr>
            <a:r>
              <a:rPr sz="1600" b="1" i="0">
                <a:solidFill>
                  <a:srgbClr val="DE8A1B"/>
                </a:solidFill>
                <a:latin typeface="Calibri"/>
              </a:rPr>
              <a:t>Wat moet er besloten worden</a:t>
            </a:r>
          </a:p>
        </p:txBody>
      </p:sp>
      <p:sp>
        <p:nvSpPr>
          <p:cNvPr id="25" name="TextBox 24"/>
          <p:cNvSpPr txBox="1"/>
          <p:nvPr/>
        </p:nvSpPr>
        <p:spPr>
          <a:xfrm>
            <a:off x="9285503" y="3291840"/>
            <a:ext cx="2202103" cy="274320"/>
          </a:xfrm>
          <a:prstGeom prst="rect">
            <a:avLst/>
          </a:prstGeom>
          <a:noFill/>
        </p:spPr>
        <p:txBody>
          <a:bodyPr wrap="square" lIns="54864" rIns="54864" tIns="18288" bIns="18288" anchor="t">
            <a:spAutoFit/>
          </a:bodyPr>
          <a:lstStyle/>
          <a:p>
            <a:pPr algn="l">
              <a:lnSpc>
                <a:spcPct val="120000"/>
              </a:lnSpc>
              <a:spcAft>
                <a:spcPts val="0"/>
              </a:spcAft>
            </a:pPr>
            <a:r>
              <a:rPr sz="950" b="1" i="0">
                <a:solidFill>
                  <a:srgbClr val="64748B"/>
                </a:solidFill>
                <a:latin typeface="Calibri"/>
              </a:rPr>
              <a:t>DIA 15 TOT EN MET 22</a:t>
            </a:r>
          </a:p>
        </p:txBody>
      </p:sp>
      <p:sp>
        <p:nvSpPr>
          <p:cNvPr id="26" name="TextBox 25"/>
          <p:cNvSpPr txBox="1"/>
          <p:nvPr/>
        </p:nvSpPr>
        <p:spPr>
          <a:xfrm>
            <a:off x="9285503" y="3602736"/>
            <a:ext cx="2202103" cy="1188720"/>
          </a:xfrm>
          <a:prstGeom prst="rect">
            <a:avLst/>
          </a:prstGeom>
          <a:noFill/>
        </p:spPr>
        <p:txBody>
          <a:bodyPr wrap="square" lIns="54864" rIns="54864" tIns="18288" bIns="18288" anchor="t">
            <a:spAutoFit/>
          </a:bodyPr>
          <a:lstStyle/>
          <a:p>
            <a:pPr algn="l">
              <a:lnSpc>
                <a:spcPct val="125000"/>
              </a:lnSpc>
              <a:spcAft>
                <a:spcPts val="0"/>
              </a:spcAft>
            </a:pPr>
            <a:r>
              <a:rPr sz="1150" b="0" i="0">
                <a:solidFill>
                  <a:srgbClr val="0F1B2D"/>
                </a:solidFill>
                <a:latin typeface="Calibri"/>
              </a:rPr>
              <a:t>Wat we per situatie weten, de zesendertig openstaande vragen en de zes besluiten.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502920" y="429768"/>
            <a:ext cx="457200" cy="457200"/>
          </a:xfrm>
          <a:prstGeom prst="ellipse">
            <a:avLst/>
          </a:prstGeom>
          <a:solidFill>
            <a:srgbClr val="123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600" b="1">
                <a:solidFill>
                  <a:srgbClr val="FFFFFF"/>
                </a:solidFill>
                <a:latin typeface="Calibri"/>
              </a:rPr>
              <a:t>3</a:t>
            </a:r>
          </a:p>
        </p:txBody>
      </p:sp>
      <p:sp>
        <p:nvSpPr>
          <p:cNvPr id="4" name="TextBox 3"/>
          <p:cNvSpPr txBox="1"/>
          <p:nvPr/>
        </p:nvSpPr>
        <p:spPr>
          <a:xfrm>
            <a:off x="1106424" y="365760"/>
            <a:ext cx="10582351" cy="402336"/>
          </a:xfrm>
          <a:prstGeom prst="rect">
            <a:avLst/>
          </a:prstGeom>
          <a:noFill/>
        </p:spPr>
        <p:txBody>
          <a:bodyPr wrap="square" lIns="0" rIns="0" tIns="18288" bIns="18288" anchor="ctr">
            <a:spAutoFit/>
          </a:bodyPr>
          <a:lstStyle/>
          <a:p>
            <a:pPr algn="l">
              <a:lnSpc>
                <a:spcPct val="120000"/>
              </a:lnSpc>
              <a:spcAft>
                <a:spcPts val="0"/>
              </a:spcAft>
            </a:pPr>
            <a:r>
              <a:rPr sz="2250" b="1" i="0">
                <a:solidFill>
                  <a:srgbClr val="0F1B2D"/>
                </a:solidFill>
                <a:latin typeface="Calibri"/>
              </a:rPr>
              <a:t>Startsituatie per afdeling</a:t>
            </a:r>
          </a:p>
        </p:txBody>
      </p:sp>
      <p:sp>
        <p:nvSpPr>
          <p:cNvPr id="5" name="TextBox 4"/>
          <p:cNvSpPr txBox="1"/>
          <p:nvPr/>
        </p:nvSpPr>
        <p:spPr>
          <a:xfrm>
            <a:off x="1106424" y="822960"/>
            <a:ext cx="10582351" cy="329184"/>
          </a:xfrm>
          <a:prstGeom prst="rect">
            <a:avLst/>
          </a:prstGeom>
          <a:noFill/>
        </p:spPr>
        <p:txBody>
          <a:bodyPr wrap="square" lIns="0" rIns="0" tIns="18288" bIns="18288" anchor="ctr">
            <a:spAutoFit/>
          </a:bodyPr>
          <a:lstStyle/>
          <a:p>
            <a:pPr algn="l">
              <a:lnSpc>
                <a:spcPct val="120000"/>
              </a:lnSpc>
              <a:spcAft>
                <a:spcPts val="0"/>
              </a:spcAft>
            </a:pPr>
            <a:r>
              <a:rPr sz="1350" b="0" i="0">
                <a:solidFill>
                  <a:srgbClr val="64748B"/>
                </a:solidFill>
                <a:latin typeface="Calibri"/>
              </a:rPr>
              <a:t>Wat ligt er vast, en wat ontbreekt nog voordat we kunnen rekenen?</a:t>
            </a:r>
          </a:p>
        </p:txBody>
      </p:sp>
      <p:sp>
        <p:nvSpPr>
          <p:cNvPr id="6" name="TextBox 5"/>
          <p:cNvSpPr txBox="1"/>
          <p:nvPr/>
        </p:nvSpPr>
        <p:spPr>
          <a:xfrm>
            <a:off x="502920" y="6419088"/>
            <a:ext cx="5486400" cy="274320"/>
          </a:xfrm>
          <a:prstGeom prst="rect">
            <a:avLst/>
          </a:prstGeom>
          <a:noFill/>
        </p:spPr>
        <p:txBody>
          <a:bodyPr wrap="square" lIns="0" rIns="0" tIns="18288" bIns="18288" anchor="t">
            <a:spAutoFit/>
          </a:bodyPr>
          <a:lstStyle/>
          <a:p>
            <a:pPr algn="l">
              <a:lnSpc>
                <a:spcPct val="120000"/>
              </a:lnSpc>
              <a:spcAft>
                <a:spcPts val="0"/>
              </a:spcAft>
            </a:pPr>
            <a:r>
              <a:rPr sz="900" b="0" i="0">
                <a:solidFill>
                  <a:srgbClr val="64748B"/>
                </a:solidFill>
                <a:latin typeface="Calibri"/>
              </a:rPr>
              <a:t>Acute poort en Hotfloor</a:t>
            </a:r>
          </a:p>
        </p:txBody>
      </p:sp>
      <p:sp>
        <p:nvSpPr>
          <p:cNvPr id="7" name="TextBox 6"/>
          <p:cNvSpPr txBox="1"/>
          <p:nvPr/>
        </p:nvSpPr>
        <p:spPr>
          <a:xfrm>
            <a:off x="10591495" y="6419088"/>
            <a:ext cx="1097280" cy="274320"/>
          </a:xfrm>
          <a:prstGeom prst="rect">
            <a:avLst/>
          </a:prstGeom>
          <a:noFill/>
        </p:spPr>
        <p:txBody>
          <a:bodyPr wrap="square" lIns="0" rIns="0" tIns="18288" bIns="18288" anchor="t">
            <a:spAutoFit/>
          </a:bodyPr>
          <a:lstStyle/>
          <a:p>
            <a:pPr algn="r">
              <a:lnSpc>
                <a:spcPct val="120000"/>
              </a:lnSpc>
              <a:spcAft>
                <a:spcPts val="0"/>
              </a:spcAft>
            </a:pPr>
            <a:r>
              <a:rPr sz="900" b="0" i="0">
                <a:solidFill>
                  <a:srgbClr val="64748B"/>
                </a:solidFill>
                <a:latin typeface="Calibri"/>
              </a:rPr>
              <a:t>3</a:t>
            </a:r>
          </a:p>
        </p:txBody>
      </p:sp>
      <p:graphicFrame>
        <p:nvGraphicFramePr>
          <p:cNvPr id="8" name="Table 7"/>
          <p:cNvGraphicFramePr>
            <a:graphicFrameLocks noGrp="1"/>
          </p:cNvGraphicFramePr>
          <p:nvPr/>
        </p:nvGraphicFramePr>
        <p:xfrm>
          <a:off x="502920" y="1490472"/>
          <a:ext cx="11185855" cy="2157984"/>
        </p:xfrm>
        <a:graphic>
          <a:graphicData uri="http://schemas.openxmlformats.org/drawingml/2006/table">
            <a:tbl>
              <a:tblPr firstRow="1">
                <a:tableStyleId>{5C22544A-7EE6-4342-B048-85BDC9FD1C3A}</a:tableStyleId>
              </a:tblPr>
              <a:tblGrid>
                <a:gridCol w="2011680"/>
                <a:gridCol w="1005840"/>
                <a:gridCol w="1691640"/>
                <a:gridCol w="1051560"/>
                <a:gridCol w="1828800"/>
                <a:gridCol w="1828800"/>
                <a:gridCol w="1767535"/>
              </a:tblGrid>
              <a:tr h="475488">
                <a:tc>
                  <a:txBody>
                    <a:bodyPr wrap="square"/>
                    <a:lstStyle/>
                    <a:p>
                      <a:pPr algn="l">
                        <a:spcAft>
                          <a:spcPts val="200"/>
                        </a:spcAft>
                      </a:pPr>
                      <a:r>
                        <a:rPr sz="1050" b="1">
                          <a:solidFill>
                            <a:srgbClr val="FFFFFF"/>
                          </a:solidFill>
                          <a:latin typeface="Calibri"/>
                        </a:rPr>
                        <a:t>Afdeling</a:t>
                      </a:r>
                    </a:p>
                  </a:txBody>
                  <a:tcPr marL="82296" marR="82296" marT="36576" marB="36576" anchor="ctr">
                    <a:solidFill>
                      <a:srgbClr val="123A63"/>
                    </a:solidFill>
                  </a:tcPr>
                </a:tc>
                <a:tc>
                  <a:txBody>
                    <a:bodyPr wrap="square"/>
                    <a:lstStyle/>
                    <a:p>
                      <a:pPr algn="ctr">
                        <a:spcAft>
                          <a:spcPts val="200"/>
                        </a:spcAft>
                      </a:pPr>
                      <a:r>
                        <a:rPr sz="1050" b="1">
                          <a:solidFill>
                            <a:srgbClr val="FFFFFF"/>
                          </a:solidFill>
                          <a:latin typeface="Calibri"/>
                        </a:rPr>
                        <a:t>Kamers nu</a:t>
                      </a:r>
                    </a:p>
                  </a:txBody>
                  <a:tcPr marL="82296" marR="82296" marT="36576" marB="36576" anchor="ctr">
                    <a:solidFill>
                      <a:srgbClr val="123A63"/>
                    </a:solidFill>
                  </a:tcPr>
                </a:tc>
                <a:tc>
                  <a:txBody>
                    <a:bodyPr wrap="square"/>
                    <a:lstStyle/>
                    <a:p>
                      <a:pPr algn="ctr">
                        <a:spcAft>
                          <a:spcPts val="200"/>
                        </a:spcAft>
                      </a:pPr>
                      <a:r>
                        <a:rPr sz="1050" b="1">
                          <a:solidFill>
                            <a:srgbClr val="FFFFFF"/>
                          </a:solidFill>
                          <a:latin typeface="Calibri"/>
                        </a:rPr>
                        <a:t>Jaarplan?</a:t>
                      </a:r>
                    </a:p>
                  </a:txBody>
                  <a:tcPr marL="82296" marR="82296" marT="36576" marB="36576" anchor="ctr">
                    <a:solidFill>
                      <a:srgbClr val="123A63"/>
                    </a:solidFill>
                  </a:tcPr>
                </a:tc>
                <a:tc>
                  <a:txBody>
                    <a:bodyPr wrap="square"/>
                    <a:lstStyle/>
                    <a:p>
                      <a:pPr algn="ctr">
                        <a:spcAft>
                          <a:spcPts val="200"/>
                        </a:spcAft>
                      </a:pPr>
                      <a:r>
                        <a:rPr sz="1050" b="1">
                          <a:solidFill>
                            <a:srgbClr val="FFFFFF"/>
                          </a:solidFill>
                          <a:latin typeface="Calibri"/>
                        </a:rPr>
                        <a:t>Norm vpk?</a:t>
                      </a:r>
                    </a:p>
                  </a:txBody>
                  <a:tcPr marL="82296" marR="82296" marT="36576" marB="36576" anchor="ctr">
                    <a:solidFill>
                      <a:srgbClr val="123A63"/>
                    </a:solidFill>
                  </a:tcPr>
                </a:tc>
                <a:tc>
                  <a:txBody>
                    <a:bodyPr wrap="square"/>
                    <a:lstStyle/>
                    <a:p>
                      <a:pPr algn="ctr">
                        <a:spcAft>
                          <a:spcPts val="200"/>
                        </a:spcAft>
                      </a:pPr>
                      <a:r>
                        <a:rPr sz="1050" b="1">
                          <a:solidFill>
                            <a:srgbClr val="FFFFFF"/>
                          </a:solidFill>
                          <a:latin typeface="Calibri"/>
                        </a:rPr>
                        <a:t>Huidige inzet</a:t>
                      </a:r>
                    </a:p>
                  </a:txBody>
                  <a:tcPr marL="82296" marR="82296" marT="36576" marB="36576" anchor="ctr">
                    <a:solidFill>
                      <a:srgbClr val="123A63"/>
                    </a:solidFill>
                  </a:tcPr>
                </a:tc>
                <a:tc>
                  <a:txBody>
                    <a:bodyPr wrap="square"/>
                    <a:lstStyle/>
                    <a:p>
                      <a:pPr algn="ctr">
                        <a:spcAft>
                          <a:spcPts val="200"/>
                        </a:spcAft>
                      </a:pPr>
                      <a:r>
                        <a:rPr sz="1050" b="1">
                          <a:solidFill>
                            <a:srgbClr val="FFFFFF"/>
                          </a:solidFill>
                          <a:latin typeface="Calibri"/>
                        </a:rPr>
                        <a:t>Omgerekende norm</a:t>
                      </a:r>
                    </a:p>
                  </a:txBody>
                  <a:tcPr marL="82296" marR="82296" marT="36576" marB="36576" anchor="ctr">
                    <a:solidFill>
                      <a:srgbClr val="123A63"/>
                    </a:solidFill>
                  </a:tcPr>
                </a:tc>
                <a:tc>
                  <a:txBody>
                    <a:bodyPr wrap="square"/>
                    <a:lstStyle/>
                    <a:p>
                      <a:pPr algn="ctr">
                        <a:spcAft>
                          <a:spcPts val="200"/>
                        </a:spcAft>
                      </a:pPr>
                      <a:r>
                        <a:rPr sz="1050" b="1">
                          <a:solidFill>
                            <a:srgbClr val="FFFFFF"/>
                          </a:solidFill>
                          <a:latin typeface="Calibri"/>
                        </a:rPr>
                        <a:t>Gewenste norm (Remco)</a:t>
                      </a:r>
                    </a:p>
                  </a:txBody>
                  <a:tcPr marL="82296" marR="82296" marT="36576" marB="36576" anchor="ctr">
                    <a:solidFill>
                      <a:srgbClr val="123A63"/>
                    </a:solidFill>
                  </a:tcPr>
                </a:tc>
              </a:tr>
              <a:tr h="420624">
                <a:tc>
                  <a:txBody>
                    <a:bodyPr wrap="square"/>
                    <a:lstStyle/>
                    <a:p>
                      <a:pPr algn="l">
                        <a:spcAft>
                          <a:spcPts val="200"/>
                        </a:spcAft>
                      </a:pPr>
                      <a:r>
                        <a:rPr sz="1100" b="1">
                          <a:solidFill>
                            <a:srgbClr val="123A63"/>
                          </a:solidFill>
                          <a:latin typeface="Calibri"/>
                        </a:rPr>
                        <a:t>ICU</a:t>
                      </a:r>
                    </a:p>
                  </a:txBody>
                  <a:tcPr marL="82296" marR="82296" marT="36576" marB="36576" anchor="ctr">
                    <a:solidFill>
                      <a:srgbClr val="FFFFFF"/>
                    </a:solidFill>
                  </a:tcPr>
                </a:tc>
                <a:tc>
                  <a:txBody>
                    <a:bodyPr wrap="square"/>
                    <a:lstStyle/>
                    <a:p>
                      <a:pPr algn="ctr">
                        <a:spcAft>
                          <a:spcPts val="200"/>
                        </a:spcAft>
                      </a:pPr>
                      <a:r>
                        <a:rPr sz="1100" b="0">
                          <a:solidFill>
                            <a:srgbClr val="0F1B2D"/>
                          </a:solidFill>
                          <a:latin typeface="Calibri"/>
                        </a:rPr>
                        <a:t>10</a:t>
                      </a:r>
                    </a:p>
                  </a:txBody>
                  <a:tcPr marL="82296" marR="82296" marT="36576" marB="36576" anchor="ctr">
                    <a:solidFill>
                      <a:srgbClr val="FFFFFF"/>
                    </a:solidFill>
                  </a:tcPr>
                </a:tc>
                <a:tc>
                  <a:txBody>
                    <a:bodyPr wrap="square"/>
                    <a:lstStyle/>
                    <a:p>
                      <a:pPr algn="ctr">
                        <a:spcAft>
                          <a:spcPts val="200"/>
                        </a:spcAft>
                      </a:pPr>
                      <a:r>
                        <a:rPr sz="1100" b="1">
                          <a:solidFill>
                            <a:srgbClr val="C4392D"/>
                          </a:solidFill>
                          <a:latin typeface="Calibri"/>
                        </a:rPr>
                        <a:t>nee</a:t>
                      </a:r>
                    </a:p>
                  </a:txBody>
                  <a:tcPr marL="82296" marR="82296" marT="36576" marB="36576" anchor="ctr">
                    <a:solidFill>
                      <a:srgbClr val="FFFFFF"/>
                    </a:solidFill>
                  </a:tcPr>
                </a:tc>
                <a:tc>
                  <a:txBody>
                    <a:bodyPr wrap="square"/>
                    <a:lstStyle/>
                    <a:p>
                      <a:pPr algn="ctr">
                        <a:spcAft>
                          <a:spcPts val="200"/>
                        </a:spcAft>
                      </a:pPr>
                      <a:r>
                        <a:rPr sz="1100" b="1">
                          <a:solidFill>
                            <a:srgbClr val="C4392D"/>
                          </a:solidFill>
                          <a:latin typeface="Calibri"/>
                        </a:rPr>
                        <a:t>nee</a:t>
                      </a:r>
                    </a:p>
                  </a:txBody>
                  <a:tcPr marL="82296" marR="82296" marT="36576" marB="36576" anchor="ctr">
                    <a:solidFill>
                      <a:srgbClr val="FFFFFF"/>
                    </a:solidFill>
                  </a:tcPr>
                </a:tc>
                <a:tc>
                  <a:txBody>
                    <a:bodyPr wrap="square"/>
                    <a:lstStyle/>
                    <a:p>
                      <a:pPr algn="ctr">
                        <a:spcAft>
                          <a:spcPts val="200"/>
                        </a:spcAft>
                      </a:pPr>
                      <a:r>
                        <a:rPr sz="1100" b="0">
                          <a:solidFill>
                            <a:srgbClr val="0E9A87"/>
                          </a:solidFill>
                          <a:latin typeface="Calibri"/>
                        </a:rPr>
                        <a:t>D - L - N</a:t>
                      </a:r>
                    </a:p>
                  </a:txBody>
                  <a:tcPr marL="82296" marR="82296" marT="36576" marB="36576" anchor="ctr">
                    <a:solidFill>
                      <a:srgbClr val="FFFFFF"/>
                    </a:solidFill>
                  </a:tcPr>
                </a:tc>
                <a:tc>
                  <a:txBody>
                    <a:bodyPr wrap="square"/>
                    <a:lstStyle/>
                    <a:p>
                      <a:pPr algn="ctr">
                        <a:spcAft>
                          <a:spcPts val="200"/>
                        </a:spcAft>
                      </a:pPr>
                      <a:r>
                        <a:rPr sz="1100" b="1">
                          <a:solidFill>
                            <a:srgbClr val="DE8A1B"/>
                          </a:solidFill>
                          <a:latin typeface="Calibri"/>
                        </a:rPr>
                        <a:t>in te vullen</a:t>
                      </a:r>
                    </a:p>
                  </a:txBody>
                  <a:tcPr marL="82296" marR="82296" marT="36576" marB="36576" anchor="ctr">
                    <a:solidFill>
                      <a:srgbClr val="FFFFFF"/>
                    </a:solidFill>
                  </a:tcPr>
                </a:tc>
                <a:tc>
                  <a:txBody>
                    <a:bodyPr wrap="square"/>
                    <a:lstStyle/>
                    <a:p>
                      <a:pPr algn="ctr">
                        <a:spcAft>
                          <a:spcPts val="200"/>
                        </a:spcAft>
                      </a:pPr>
                      <a:r>
                        <a:rPr sz="1100" b="1">
                          <a:solidFill>
                            <a:srgbClr val="DE8A1B"/>
                          </a:solidFill>
                          <a:latin typeface="Calibri"/>
                        </a:rPr>
                        <a:t>in te vullen</a:t>
                      </a:r>
                    </a:p>
                  </a:txBody>
                  <a:tcPr marL="82296" marR="82296" marT="36576" marB="36576" anchor="ctr">
                    <a:solidFill>
                      <a:srgbClr val="FFFFFF"/>
                    </a:solidFill>
                  </a:tcPr>
                </a:tc>
              </a:tr>
              <a:tr h="420624">
                <a:tc>
                  <a:txBody>
                    <a:bodyPr wrap="square"/>
                    <a:lstStyle/>
                    <a:p>
                      <a:pPr algn="l">
                        <a:spcAft>
                          <a:spcPts val="200"/>
                        </a:spcAft>
                      </a:pPr>
                      <a:r>
                        <a:rPr sz="1100" b="1">
                          <a:solidFill>
                            <a:srgbClr val="123A63"/>
                          </a:solidFill>
                          <a:latin typeface="Calibri"/>
                        </a:rPr>
                        <a:t>CCU / SCU / EHH</a:t>
                      </a:r>
                    </a:p>
                  </a:txBody>
                  <a:tcPr marL="82296" marR="82296" marT="36576" marB="36576" anchor="ctr">
                    <a:solidFill>
                      <a:srgbClr val="F4F7FB"/>
                    </a:solidFill>
                  </a:tcPr>
                </a:tc>
                <a:tc>
                  <a:txBody>
                    <a:bodyPr wrap="square"/>
                    <a:lstStyle/>
                    <a:p>
                      <a:pPr algn="ctr">
                        <a:spcAft>
                          <a:spcPts val="200"/>
                        </a:spcAft>
                      </a:pPr>
                      <a:r>
                        <a:rPr sz="1100" b="0">
                          <a:solidFill>
                            <a:srgbClr val="0F1B2D"/>
                          </a:solidFill>
                          <a:latin typeface="Calibri"/>
                        </a:rPr>
                        <a:t>15</a:t>
                      </a:r>
                    </a:p>
                  </a:txBody>
                  <a:tcPr marL="82296" marR="82296" marT="36576" marB="36576" anchor="ctr">
                    <a:solidFill>
                      <a:srgbClr val="F4F7FB"/>
                    </a:solidFill>
                  </a:tcPr>
                </a:tc>
                <a:tc>
                  <a:txBody>
                    <a:bodyPr wrap="square"/>
                    <a:lstStyle/>
                    <a:p>
                      <a:pPr algn="ctr">
                        <a:spcAft>
                          <a:spcPts val="200"/>
                        </a:spcAft>
                      </a:pPr>
                      <a:r>
                        <a:rPr sz="1100" b="1">
                          <a:solidFill>
                            <a:srgbClr val="DE8A1B"/>
                          </a:solidFill>
                          <a:latin typeface="Calibri"/>
                        </a:rPr>
                        <a:t>ja, niet ingevoerd</a:t>
                      </a:r>
                    </a:p>
                  </a:txBody>
                  <a:tcPr marL="82296" marR="82296" marT="36576" marB="36576" anchor="ctr">
                    <a:solidFill>
                      <a:srgbClr val="F4F7FB"/>
                    </a:solidFill>
                  </a:tcPr>
                </a:tc>
                <a:tc>
                  <a:txBody>
                    <a:bodyPr wrap="square"/>
                    <a:lstStyle/>
                    <a:p>
                      <a:pPr algn="ctr">
                        <a:spcAft>
                          <a:spcPts val="200"/>
                        </a:spcAft>
                      </a:pPr>
                      <a:r>
                        <a:rPr sz="1100" b="1">
                          <a:solidFill>
                            <a:srgbClr val="C4392D"/>
                          </a:solidFill>
                          <a:latin typeface="Calibri"/>
                        </a:rPr>
                        <a:t>nee</a:t>
                      </a:r>
                    </a:p>
                  </a:txBody>
                  <a:tcPr marL="82296" marR="82296" marT="36576" marB="36576" anchor="ctr">
                    <a:solidFill>
                      <a:srgbClr val="F4F7FB"/>
                    </a:solidFill>
                  </a:tcPr>
                </a:tc>
                <a:tc>
                  <a:txBody>
                    <a:bodyPr wrap="square"/>
                    <a:lstStyle/>
                    <a:p>
                      <a:pPr algn="ctr">
                        <a:spcAft>
                          <a:spcPts val="200"/>
                        </a:spcAft>
                      </a:pPr>
                      <a:r>
                        <a:rPr sz="1100" b="0">
                          <a:solidFill>
                            <a:srgbClr val="0E9A87"/>
                          </a:solidFill>
                          <a:latin typeface="Calibri"/>
                        </a:rPr>
                        <a:t>D - L - N</a:t>
                      </a:r>
                    </a:p>
                  </a:txBody>
                  <a:tcPr marL="82296" marR="82296" marT="36576" marB="36576" anchor="ctr">
                    <a:solidFill>
                      <a:srgbClr val="F4F7FB"/>
                    </a:solidFill>
                  </a:tcPr>
                </a:tc>
                <a:tc>
                  <a:txBody>
                    <a:bodyPr wrap="square"/>
                    <a:lstStyle/>
                    <a:p>
                      <a:pPr algn="ctr">
                        <a:spcAft>
                          <a:spcPts val="200"/>
                        </a:spcAft>
                      </a:pPr>
                      <a:r>
                        <a:rPr sz="1100" b="1">
                          <a:solidFill>
                            <a:srgbClr val="DE8A1B"/>
                          </a:solidFill>
                          <a:latin typeface="Calibri"/>
                        </a:rPr>
                        <a:t>in te vullen</a:t>
                      </a:r>
                    </a:p>
                  </a:txBody>
                  <a:tcPr marL="82296" marR="82296" marT="36576" marB="36576" anchor="ctr">
                    <a:solidFill>
                      <a:srgbClr val="F4F7FB"/>
                    </a:solidFill>
                  </a:tcPr>
                </a:tc>
                <a:tc>
                  <a:txBody>
                    <a:bodyPr wrap="square"/>
                    <a:lstStyle/>
                    <a:p>
                      <a:pPr algn="ctr">
                        <a:spcAft>
                          <a:spcPts val="200"/>
                        </a:spcAft>
                      </a:pPr>
                      <a:r>
                        <a:rPr sz="1100" b="1">
                          <a:solidFill>
                            <a:srgbClr val="DE8A1B"/>
                          </a:solidFill>
                          <a:latin typeface="Calibri"/>
                        </a:rPr>
                        <a:t>in te vullen</a:t>
                      </a:r>
                    </a:p>
                  </a:txBody>
                  <a:tcPr marL="82296" marR="82296" marT="36576" marB="36576" anchor="ctr">
                    <a:solidFill>
                      <a:srgbClr val="F4F7FB"/>
                    </a:solidFill>
                  </a:tcPr>
                </a:tc>
              </a:tr>
              <a:tr h="420624">
                <a:tc>
                  <a:txBody>
                    <a:bodyPr wrap="square"/>
                    <a:lstStyle/>
                    <a:p>
                      <a:pPr algn="l">
                        <a:spcAft>
                          <a:spcPts val="200"/>
                        </a:spcAft>
                      </a:pPr>
                      <a:r>
                        <a:rPr sz="1100" b="1">
                          <a:solidFill>
                            <a:srgbClr val="123A63"/>
                          </a:solidFill>
                          <a:latin typeface="Calibri"/>
                        </a:rPr>
                        <a:t>SEH</a:t>
                      </a:r>
                    </a:p>
                  </a:txBody>
                  <a:tcPr marL="82296" marR="82296" marT="36576" marB="36576" anchor="ctr">
                    <a:solidFill>
                      <a:srgbClr val="FFFFFF"/>
                    </a:solidFill>
                  </a:tcPr>
                </a:tc>
                <a:tc>
                  <a:txBody>
                    <a:bodyPr wrap="square"/>
                    <a:lstStyle/>
                    <a:p>
                      <a:pPr algn="ctr">
                        <a:spcAft>
                          <a:spcPts val="200"/>
                        </a:spcAft>
                      </a:pPr>
                      <a:r>
                        <a:rPr sz="1100" b="0">
                          <a:solidFill>
                            <a:srgbClr val="64748B"/>
                          </a:solidFill>
                          <a:latin typeface="Calibri"/>
                        </a:rPr>
                        <a:t>onbekend</a:t>
                      </a:r>
                    </a:p>
                  </a:txBody>
                  <a:tcPr marL="82296" marR="82296" marT="36576" marB="36576" anchor="ctr">
                    <a:solidFill>
                      <a:srgbClr val="FFFFFF"/>
                    </a:solidFill>
                  </a:tcPr>
                </a:tc>
                <a:tc>
                  <a:txBody>
                    <a:bodyPr wrap="square"/>
                    <a:lstStyle/>
                    <a:p>
                      <a:pPr algn="ctr">
                        <a:spcAft>
                          <a:spcPts val="200"/>
                        </a:spcAft>
                      </a:pPr>
                      <a:r>
                        <a:rPr sz="1100" b="0">
                          <a:solidFill>
                            <a:srgbClr val="64748B"/>
                          </a:solidFill>
                          <a:latin typeface="Calibri"/>
                        </a:rPr>
                        <a:t>onbekend</a:t>
                      </a:r>
                    </a:p>
                  </a:txBody>
                  <a:tcPr marL="82296" marR="82296" marT="36576" marB="36576" anchor="ctr">
                    <a:solidFill>
                      <a:srgbClr val="FFFFFF"/>
                    </a:solidFill>
                  </a:tcPr>
                </a:tc>
                <a:tc>
                  <a:txBody>
                    <a:bodyPr wrap="square"/>
                    <a:lstStyle/>
                    <a:p>
                      <a:pPr algn="ctr">
                        <a:spcAft>
                          <a:spcPts val="200"/>
                        </a:spcAft>
                      </a:pPr>
                      <a:r>
                        <a:rPr sz="1100" b="1">
                          <a:solidFill>
                            <a:srgbClr val="C4392D"/>
                          </a:solidFill>
                          <a:latin typeface="Calibri"/>
                        </a:rPr>
                        <a:t>nee</a:t>
                      </a:r>
                    </a:p>
                  </a:txBody>
                  <a:tcPr marL="82296" marR="82296" marT="36576" marB="36576" anchor="ctr">
                    <a:solidFill>
                      <a:srgbClr val="FFFFFF"/>
                    </a:solidFill>
                  </a:tcPr>
                </a:tc>
                <a:tc>
                  <a:txBody>
                    <a:bodyPr wrap="square"/>
                    <a:lstStyle/>
                    <a:p>
                      <a:pPr algn="ctr">
                        <a:spcAft>
                          <a:spcPts val="200"/>
                        </a:spcAft>
                      </a:pPr>
                      <a:r>
                        <a:rPr sz="1100" b="0">
                          <a:solidFill>
                            <a:srgbClr val="0E9A87"/>
                          </a:solidFill>
                          <a:latin typeface="Calibri"/>
                        </a:rPr>
                        <a:t>D - T - L - N</a:t>
                      </a:r>
                    </a:p>
                  </a:txBody>
                  <a:tcPr marL="82296" marR="82296" marT="36576" marB="36576" anchor="ctr">
                    <a:solidFill>
                      <a:srgbClr val="FFFFFF"/>
                    </a:solidFill>
                  </a:tcPr>
                </a:tc>
                <a:tc>
                  <a:txBody>
                    <a:bodyPr wrap="square"/>
                    <a:lstStyle/>
                    <a:p>
                      <a:pPr algn="ctr">
                        <a:spcAft>
                          <a:spcPts val="200"/>
                        </a:spcAft>
                      </a:pPr>
                      <a:r>
                        <a:rPr sz="1100" b="1">
                          <a:solidFill>
                            <a:srgbClr val="DE8A1B"/>
                          </a:solidFill>
                          <a:latin typeface="Calibri"/>
                        </a:rPr>
                        <a:t>in te vullen</a:t>
                      </a:r>
                    </a:p>
                  </a:txBody>
                  <a:tcPr marL="82296" marR="82296" marT="36576" marB="36576" anchor="ctr">
                    <a:solidFill>
                      <a:srgbClr val="FFFFFF"/>
                    </a:solidFill>
                  </a:tcPr>
                </a:tc>
                <a:tc>
                  <a:txBody>
                    <a:bodyPr wrap="square"/>
                    <a:lstStyle/>
                    <a:p>
                      <a:pPr algn="ctr">
                        <a:spcAft>
                          <a:spcPts val="200"/>
                        </a:spcAft>
                      </a:pPr>
                      <a:r>
                        <a:rPr sz="1100" b="1">
                          <a:solidFill>
                            <a:srgbClr val="DE8A1B"/>
                          </a:solidFill>
                          <a:latin typeface="Calibri"/>
                        </a:rPr>
                        <a:t>in te vullen</a:t>
                      </a:r>
                    </a:p>
                  </a:txBody>
                  <a:tcPr marL="82296" marR="82296" marT="36576" marB="36576" anchor="ctr">
                    <a:solidFill>
                      <a:srgbClr val="FFFFFF"/>
                    </a:solidFill>
                  </a:tcPr>
                </a:tc>
              </a:tr>
              <a:tr h="420624">
                <a:tc>
                  <a:txBody>
                    <a:bodyPr wrap="square"/>
                    <a:lstStyle/>
                    <a:p>
                      <a:pPr algn="l">
                        <a:spcAft>
                          <a:spcPts val="200"/>
                        </a:spcAft>
                      </a:pPr>
                      <a:r>
                        <a:rPr sz="1100" b="1">
                          <a:solidFill>
                            <a:srgbClr val="123A63"/>
                          </a:solidFill>
                          <a:latin typeface="Calibri"/>
                        </a:rPr>
                        <a:t>Kind spoed</a:t>
                      </a:r>
                    </a:p>
                  </a:txBody>
                  <a:tcPr marL="82296" marR="82296" marT="36576" marB="36576" anchor="ctr">
                    <a:solidFill>
                      <a:srgbClr val="F4F7FB"/>
                    </a:solidFill>
                  </a:tcPr>
                </a:tc>
                <a:tc>
                  <a:txBody>
                    <a:bodyPr wrap="square"/>
                    <a:lstStyle/>
                    <a:p>
                      <a:pPr algn="ctr">
                        <a:spcAft>
                          <a:spcPts val="200"/>
                        </a:spcAft>
                      </a:pPr>
                      <a:r>
                        <a:rPr sz="1100" b="0">
                          <a:solidFill>
                            <a:srgbClr val="64748B"/>
                          </a:solidFill>
                          <a:latin typeface="Calibri"/>
                        </a:rPr>
                        <a:t>onbekend</a:t>
                      </a:r>
                    </a:p>
                  </a:txBody>
                  <a:tcPr marL="82296" marR="82296" marT="36576" marB="36576" anchor="ctr">
                    <a:solidFill>
                      <a:srgbClr val="F4F7FB"/>
                    </a:solidFill>
                  </a:tcPr>
                </a:tc>
                <a:tc>
                  <a:txBody>
                    <a:bodyPr wrap="square"/>
                    <a:lstStyle/>
                    <a:p>
                      <a:pPr algn="ctr">
                        <a:spcAft>
                          <a:spcPts val="200"/>
                        </a:spcAft>
                      </a:pPr>
                      <a:r>
                        <a:rPr sz="1100" b="1">
                          <a:solidFill>
                            <a:srgbClr val="C4392D"/>
                          </a:solidFill>
                          <a:latin typeface="Calibri"/>
                        </a:rPr>
                        <a:t>nee</a:t>
                      </a:r>
                    </a:p>
                  </a:txBody>
                  <a:tcPr marL="82296" marR="82296" marT="36576" marB="36576" anchor="ctr">
                    <a:solidFill>
                      <a:srgbClr val="F4F7FB"/>
                    </a:solidFill>
                  </a:tcPr>
                </a:tc>
                <a:tc>
                  <a:txBody>
                    <a:bodyPr wrap="square"/>
                    <a:lstStyle/>
                    <a:p>
                      <a:pPr algn="ctr">
                        <a:spcAft>
                          <a:spcPts val="200"/>
                        </a:spcAft>
                      </a:pPr>
                      <a:r>
                        <a:rPr sz="1100" b="0">
                          <a:solidFill>
                            <a:srgbClr val="64748B"/>
                          </a:solidFill>
                          <a:latin typeface="Calibri"/>
                        </a:rPr>
                        <a:t>onbekend</a:t>
                      </a:r>
                    </a:p>
                  </a:txBody>
                  <a:tcPr marL="82296" marR="82296" marT="36576" marB="36576" anchor="ctr">
                    <a:solidFill>
                      <a:srgbClr val="F4F7FB"/>
                    </a:solidFill>
                  </a:tcPr>
                </a:tc>
                <a:tc>
                  <a:txBody>
                    <a:bodyPr wrap="square"/>
                    <a:lstStyle/>
                    <a:p>
                      <a:pPr algn="ctr">
                        <a:spcAft>
                          <a:spcPts val="200"/>
                        </a:spcAft>
                      </a:pPr>
                      <a:r>
                        <a:rPr sz="1100" b="0">
                          <a:solidFill>
                            <a:srgbClr val="64748B"/>
                          </a:solidFill>
                          <a:latin typeface="Calibri"/>
                        </a:rPr>
                        <a:t>onbekend</a:t>
                      </a:r>
                    </a:p>
                  </a:txBody>
                  <a:tcPr marL="82296" marR="82296" marT="36576" marB="36576" anchor="ctr">
                    <a:solidFill>
                      <a:srgbClr val="F4F7FB"/>
                    </a:solidFill>
                  </a:tcPr>
                </a:tc>
                <a:tc>
                  <a:txBody>
                    <a:bodyPr wrap="square"/>
                    <a:lstStyle/>
                    <a:p>
                      <a:pPr algn="ctr">
                        <a:spcAft>
                          <a:spcPts val="200"/>
                        </a:spcAft>
                      </a:pPr>
                      <a:r>
                        <a:rPr sz="1100" b="0">
                          <a:solidFill>
                            <a:srgbClr val="64748B"/>
                          </a:solidFill>
                          <a:latin typeface="Calibri"/>
                        </a:rPr>
                        <a:t>onbekend</a:t>
                      </a:r>
                    </a:p>
                  </a:txBody>
                  <a:tcPr marL="82296" marR="82296" marT="36576" marB="36576" anchor="ctr">
                    <a:solidFill>
                      <a:srgbClr val="F4F7FB"/>
                    </a:solidFill>
                  </a:tcPr>
                </a:tc>
                <a:tc>
                  <a:txBody>
                    <a:bodyPr wrap="square"/>
                    <a:lstStyle/>
                    <a:p>
                      <a:pPr algn="ctr">
                        <a:spcAft>
                          <a:spcPts val="200"/>
                        </a:spcAft>
                      </a:pPr>
                      <a:r>
                        <a:rPr sz="1100" b="1">
                          <a:solidFill>
                            <a:srgbClr val="DE8A1B"/>
                          </a:solidFill>
                          <a:latin typeface="Calibri"/>
                        </a:rPr>
                        <a:t>in te vullen</a:t>
                      </a:r>
                    </a:p>
                  </a:txBody>
                  <a:tcPr marL="82296" marR="82296" marT="36576" marB="36576" anchor="ctr">
                    <a:solidFill>
                      <a:srgbClr val="F4F7FB"/>
                    </a:solidFill>
                  </a:tcPr>
                </a:tc>
              </a:tr>
            </a:tbl>
          </a:graphicData>
        </a:graphic>
      </p:graphicFrame>
      <p:sp>
        <p:nvSpPr>
          <p:cNvPr id="9" name="Rounded Rectangle 8"/>
          <p:cNvSpPr/>
          <p:nvPr/>
        </p:nvSpPr>
        <p:spPr>
          <a:xfrm>
            <a:off x="502920" y="3886200"/>
            <a:ext cx="3557930" cy="1133856"/>
          </a:xfrm>
          <a:prstGeom prst="roundRect">
            <a:avLst>
              <a:gd name="adj" fmla="val 5500"/>
            </a:avLst>
          </a:prstGeom>
          <a:solidFill>
            <a:srgbClr val="FFFFFF"/>
          </a:solidFill>
          <a:ln w="12700">
            <a:solidFill>
              <a:srgbClr val="A0B0C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04088" y="3995928"/>
            <a:ext cx="3155594" cy="914400"/>
          </a:xfrm>
          <a:prstGeom prst="rect">
            <a:avLst/>
          </a:prstGeom>
          <a:noFill/>
        </p:spPr>
        <p:txBody>
          <a:bodyPr wrap="square" lIns="54864" rIns="54864" tIns="18288" bIns="18288" anchor="t">
            <a:spAutoFit/>
          </a:bodyPr>
          <a:lstStyle/>
          <a:p>
            <a:pPr algn="l">
              <a:lnSpc>
                <a:spcPct val="120000"/>
              </a:lnSpc>
              <a:spcAft>
                <a:spcPts val="100"/>
              </a:spcAft>
            </a:pPr>
            <a:r>
              <a:rPr sz="2100" b="1" i="0">
                <a:solidFill>
                  <a:srgbClr val="123A63"/>
                </a:solidFill>
                <a:latin typeface="Calibri"/>
              </a:rPr>
              <a:t>apart</a:t>
            </a:r>
          </a:p>
          <a:p>
            <a:pPr algn="l">
              <a:lnSpc>
                <a:spcPct val="120000"/>
              </a:lnSpc>
              <a:spcAft>
                <a:spcPts val="100"/>
              </a:spcAft>
            </a:pPr>
            <a:r>
              <a:rPr sz="1100" b="1" i="0">
                <a:solidFill>
                  <a:srgbClr val="0F1B2D"/>
                </a:solidFill>
                <a:latin typeface="Calibri"/>
              </a:rPr>
              <a:t>vier afdelingen, vier berekeningen</a:t>
            </a:r>
          </a:p>
          <a:p>
            <a:pPr algn="l">
              <a:lnSpc>
                <a:spcPct val="118000"/>
              </a:lnSpc>
              <a:spcAft>
                <a:spcPts val="0"/>
              </a:spcAft>
            </a:pPr>
            <a:r>
              <a:rPr sz="950" b="0" i="0">
                <a:solidFill>
                  <a:srgbClr val="64748B"/>
                </a:solidFill>
                <a:latin typeface="Calibri"/>
              </a:rPr>
              <a:t>de specialismen werken op dit moment gescheiden</a:t>
            </a:r>
          </a:p>
        </p:txBody>
      </p:sp>
      <p:sp>
        <p:nvSpPr>
          <p:cNvPr id="11" name="Rounded Rectangle 10"/>
          <p:cNvSpPr/>
          <p:nvPr/>
        </p:nvSpPr>
        <p:spPr>
          <a:xfrm>
            <a:off x="4316882" y="3886200"/>
            <a:ext cx="3557930" cy="1133856"/>
          </a:xfrm>
          <a:prstGeom prst="roundRect">
            <a:avLst>
              <a:gd name="adj" fmla="val 5500"/>
            </a:avLst>
          </a:prstGeom>
          <a:solidFill>
            <a:srgbClr val="FFFFFF"/>
          </a:solidFill>
          <a:ln w="12700">
            <a:solidFill>
              <a:srgbClr val="E7B0A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518050" y="3995928"/>
            <a:ext cx="3155594" cy="914400"/>
          </a:xfrm>
          <a:prstGeom prst="rect">
            <a:avLst/>
          </a:prstGeom>
          <a:noFill/>
        </p:spPr>
        <p:txBody>
          <a:bodyPr wrap="square" lIns="54864" rIns="54864" tIns="18288" bIns="18288" anchor="t">
            <a:spAutoFit/>
          </a:bodyPr>
          <a:lstStyle/>
          <a:p>
            <a:pPr algn="l">
              <a:lnSpc>
                <a:spcPct val="120000"/>
              </a:lnSpc>
              <a:spcAft>
                <a:spcPts val="100"/>
              </a:spcAft>
            </a:pPr>
            <a:r>
              <a:rPr sz="2050" b="1" i="0">
                <a:solidFill>
                  <a:srgbClr val="C4392D"/>
                </a:solidFill>
                <a:latin typeface="Calibri"/>
              </a:rPr>
              <a:t>0 van 4</a:t>
            </a:r>
          </a:p>
          <a:p>
            <a:pPr algn="l">
              <a:lnSpc>
                <a:spcPct val="120000"/>
              </a:lnSpc>
              <a:spcAft>
                <a:spcPts val="100"/>
              </a:spcAft>
            </a:pPr>
            <a:r>
              <a:rPr sz="1050" b="1" i="0">
                <a:solidFill>
                  <a:srgbClr val="0F1B2D"/>
                </a:solidFill>
                <a:latin typeface="Calibri"/>
              </a:rPr>
              <a:t>afdelingen met een vastgestelde norm</a:t>
            </a:r>
          </a:p>
          <a:p>
            <a:pPr algn="l">
              <a:lnSpc>
                <a:spcPct val="118000"/>
              </a:lnSpc>
              <a:spcAft>
                <a:spcPts val="0"/>
              </a:spcAft>
            </a:pPr>
            <a:r>
              <a:rPr sz="900" b="0" i="0">
                <a:solidFill>
                  <a:srgbClr val="64748B"/>
                </a:solidFill>
                <a:latin typeface="Calibri"/>
              </a:rPr>
              <a:t>zonder norm is de personele inzet niet te onderbouwen</a:t>
            </a:r>
          </a:p>
        </p:txBody>
      </p:sp>
      <p:sp>
        <p:nvSpPr>
          <p:cNvPr id="13" name="Rounded Rectangle 12"/>
          <p:cNvSpPr/>
          <p:nvPr/>
        </p:nvSpPr>
        <p:spPr>
          <a:xfrm>
            <a:off x="8130844" y="3886200"/>
            <a:ext cx="3557930" cy="1133856"/>
          </a:xfrm>
          <a:prstGeom prst="roundRect">
            <a:avLst>
              <a:gd name="adj" fmla="val 5500"/>
            </a:avLst>
          </a:prstGeom>
          <a:solidFill>
            <a:srgbClr val="FFFFFF"/>
          </a:solidFill>
          <a:ln w="12700">
            <a:solidFill>
              <a:srgbClr val="F2D0A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332012" y="3995928"/>
            <a:ext cx="3155594" cy="914400"/>
          </a:xfrm>
          <a:prstGeom prst="rect">
            <a:avLst/>
          </a:prstGeom>
          <a:noFill/>
        </p:spPr>
        <p:txBody>
          <a:bodyPr wrap="square" lIns="54864" rIns="54864" tIns="18288" bIns="18288" anchor="t">
            <a:spAutoFit/>
          </a:bodyPr>
          <a:lstStyle/>
          <a:p>
            <a:pPr algn="l">
              <a:lnSpc>
                <a:spcPct val="120000"/>
              </a:lnSpc>
              <a:spcAft>
                <a:spcPts val="100"/>
              </a:spcAft>
            </a:pPr>
            <a:r>
              <a:rPr sz="2200" b="1" i="0">
                <a:solidFill>
                  <a:srgbClr val="DE8A1B"/>
                </a:solidFill>
                <a:latin typeface="Calibri"/>
              </a:rPr>
              <a:t>1 van 4</a:t>
            </a:r>
          </a:p>
          <a:p>
            <a:pPr algn="l">
              <a:lnSpc>
                <a:spcPct val="120000"/>
              </a:lnSpc>
              <a:spcAft>
                <a:spcPts val="100"/>
              </a:spcAft>
            </a:pPr>
            <a:r>
              <a:rPr sz="1200" b="1" i="0">
                <a:solidFill>
                  <a:srgbClr val="0F1B2D"/>
                </a:solidFill>
                <a:latin typeface="Calibri"/>
              </a:rPr>
              <a:t>afdelingen met een jaarplan</a:t>
            </a:r>
          </a:p>
          <a:p>
            <a:pPr algn="l">
              <a:lnSpc>
                <a:spcPct val="118000"/>
              </a:lnSpc>
              <a:spcAft>
                <a:spcPts val="0"/>
              </a:spcAft>
            </a:pPr>
            <a:r>
              <a:rPr sz="1050" b="0" i="0">
                <a:solidFill>
                  <a:srgbClr val="64748B"/>
                </a:solidFill>
                <a:latin typeface="Calibri"/>
              </a:rPr>
              <a:t>en dat jaarplan is niet ingevoerd</a:t>
            </a:r>
          </a:p>
        </p:txBody>
      </p:sp>
      <p:sp>
        <p:nvSpPr>
          <p:cNvPr id="15" name="Rounded Rectangle 14"/>
          <p:cNvSpPr/>
          <p:nvPr/>
        </p:nvSpPr>
        <p:spPr>
          <a:xfrm>
            <a:off x="502920" y="5202936"/>
            <a:ext cx="11185855" cy="658368"/>
          </a:xfrm>
          <a:prstGeom prst="roundRect">
            <a:avLst>
              <a:gd name="adj" fmla="val 5500"/>
            </a:avLst>
          </a:prstGeom>
          <a:solidFill>
            <a:srgbClr val="F7E5E4"/>
          </a:solidFill>
          <a:ln w="12700">
            <a:solidFill>
              <a:srgbClr val="E4A6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676656" y="5376672"/>
            <a:ext cx="310896" cy="310896"/>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FFFFFF"/>
                </a:solidFill>
                <a:latin typeface="Calibri"/>
              </a:rPr>
              <a:t>!</a:t>
            </a:r>
          </a:p>
        </p:txBody>
      </p:sp>
      <p:sp>
        <p:nvSpPr>
          <p:cNvPr id="17" name="TextBox 16"/>
          <p:cNvSpPr txBox="1"/>
          <p:nvPr/>
        </p:nvSpPr>
        <p:spPr>
          <a:xfrm>
            <a:off x="1106424" y="5276088"/>
            <a:ext cx="10362895" cy="512063"/>
          </a:xfrm>
          <a:prstGeom prst="rect">
            <a:avLst/>
          </a:prstGeom>
          <a:noFill/>
        </p:spPr>
        <p:txBody>
          <a:bodyPr wrap="square" lIns="54864" rIns="54864" tIns="18288" bIns="18288" anchor="ctr">
            <a:spAutoFit/>
          </a:bodyPr>
          <a:lstStyle/>
          <a:p>
            <a:pPr algn="l">
              <a:lnSpc>
                <a:spcPct val="120000"/>
              </a:lnSpc>
              <a:spcAft>
                <a:spcPts val="200"/>
              </a:spcAft>
            </a:pPr>
            <a:r>
              <a:rPr sz="950" b="1" i="0">
                <a:solidFill>
                  <a:srgbClr val="C4392D"/>
                </a:solidFill>
                <a:latin typeface="Calibri"/>
              </a:rPr>
              <a:t>NIET OPTELLEN</a:t>
            </a:r>
          </a:p>
          <a:p>
            <a:pPr algn="l">
              <a:lnSpc>
                <a:spcPct val="120000"/>
              </a:lnSpc>
              <a:spcAft>
                <a:spcPts val="0"/>
              </a:spcAft>
            </a:pPr>
            <a:r>
              <a:rPr sz="1300" b="1" i="0">
                <a:solidFill>
                  <a:srgbClr val="0F1B2D"/>
                </a:solidFill>
                <a:latin typeface="Calibri"/>
              </a:rPr>
              <a:t>10 en 15 zijn geen 25: het zijn verschillende kamers voor verschillende specialismen. Zie de volgende dia.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502920" y="429768"/>
            <a:ext cx="457200" cy="457200"/>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600" b="1">
                <a:solidFill>
                  <a:srgbClr val="FFFFFF"/>
                </a:solidFill>
                <a:latin typeface="Calibri"/>
              </a:rPr>
              <a:t>4</a:t>
            </a:r>
          </a:p>
        </p:txBody>
      </p:sp>
      <p:sp>
        <p:nvSpPr>
          <p:cNvPr id="4" name="TextBox 3"/>
          <p:cNvSpPr txBox="1"/>
          <p:nvPr/>
        </p:nvSpPr>
        <p:spPr>
          <a:xfrm>
            <a:off x="1106424" y="365760"/>
            <a:ext cx="10582351" cy="402336"/>
          </a:xfrm>
          <a:prstGeom prst="rect">
            <a:avLst/>
          </a:prstGeom>
          <a:noFill/>
        </p:spPr>
        <p:txBody>
          <a:bodyPr wrap="square" lIns="0" rIns="0" tIns="18288" bIns="18288" anchor="ctr">
            <a:spAutoFit/>
          </a:bodyPr>
          <a:lstStyle/>
          <a:p>
            <a:pPr algn="l">
              <a:lnSpc>
                <a:spcPct val="120000"/>
              </a:lnSpc>
              <a:spcAft>
                <a:spcPts val="0"/>
              </a:spcAft>
            </a:pPr>
            <a:r>
              <a:rPr sz="2250" b="1" i="0">
                <a:solidFill>
                  <a:srgbClr val="0F1B2D"/>
                </a:solidFill>
                <a:latin typeface="Calibri"/>
              </a:rPr>
              <a:t>Nu apart, straks mogelijk samen</a:t>
            </a:r>
          </a:p>
        </p:txBody>
      </p:sp>
      <p:sp>
        <p:nvSpPr>
          <p:cNvPr id="5" name="TextBox 4"/>
          <p:cNvSpPr txBox="1"/>
          <p:nvPr/>
        </p:nvSpPr>
        <p:spPr>
          <a:xfrm>
            <a:off x="1106424" y="822960"/>
            <a:ext cx="10582351" cy="329184"/>
          </a:xfrm>
          <a:prstGeom prst="rect">
            <a:avLst/>
          </a:prstGeom>
          <a:noFill/>
        </p:spPr>
        <p:txBody>
          <a:bodyPr wrap="square" lIns="0" rIns="0" tIns="18288" bIns="18288" anchor="ctr">
            <a:spAutoFit/>
          </a:bodyPr>
          <a:lstStyle/>
          <a:p>
            <a:pPr algn="l">
              <a:lnSpc>
                <a:spcPct val="120000"/>
              </a:lnSpc>
              <a:spcAft>
                <a:spcPts val="0"/>
              </a:spcAft>
            </a:pPr>
            <a:r>
              <a:rPr sz="1350" b="0" i="0">
                <a:solidFill>
                  <a:srgbClr val="64748B"/>
                </a:solidFill>
                <a:latin typeface="Calibri"/>
              </a:rPr>
              <a:t>Waarom de huidige aantallen niet zomaar optelbaar of overdraagbaar zijn</a:t>
            </a:r>
          </a:p>
        </p:txBody>
      </p:sp>
      <p:sp>
        <p:nvSpPr>
          <p:cNvPr id="6" name="TextBox 5"/>
          <p:cNvSpPr txBox="1"/>
          <p:nvPr/>
        </p:nvSpPr>
        <p:spPr>
          <a:xfrm>
            <a:off x="502920" y="6419088"/>
            <a:ext cx="5486400" cy="274320"/>
          </a:xfrm>
          <a:prstGeom prst="rect">
            <a:avLst/>
          </a:prstGeom>
          <a:noFill/>
        </p:spPr>
        <p:txBody>
          <a:bodyPr wrap="square" lIns="0" rIns="0" tIns="18288" bIns="18288" anchor="t">
            <a:spAutoFit/>
          </a:bodyPr>
          <a:lstStyle/>
          <a:p>
            <a:pPr algn="l">
              <a:lnSpc>
                <a:spcPct val="120000"/>
              </a:lnSpc>
              <a:spcAft>
                <a:spcPts val="0"/>
              </a:spcAft>
            </a:pPr>
            <a:r>
              <a:rPr sz="900" b="0" i="0">
                <a:solidFill>
                  <a:srgbClr val="64748B"/>
                </a:solidFill>
                <a:latin typeface="Calibri"/>
              </a:rPr>
              <a:t>Acute poort en Hotfloor</a:t>
            </a:r>
          </a:p>
        </p:txBody>
      </p:sp>
      <p:sp>
        <p:nvSpPr>
          <p:cNvPr id="7" name="TextBox 6"/>
          <p:cNvSpPr txBox="1"/>
          <p:nvPr/>
        </p:nvSpPr>
        <p:spPr>
          <a:xfrm>
            <a:off x="10591495" y="6419088"/>
            <a:ext cx="1097280" cy="274320"/>
          </a:xfrm>
          <a:prstGeom prst="rect">
            <a:avLst/>
          </a:prstGeom>
          <a:noFill/>
        </p:spPr>
        <p:txBody>
          <a:bodyPr wrap="square" lIns="0" rIns="0" tIns="18288" bIns="18288" anchor="t">
            <a:spAutoFit/>
          </a:bodyPr>
          <a:lstStyle/>
          <a:p>
            <a:pPr algn="r">
              <a:lnSpc>
                <a:spcPct val="120000"/>
              </a:lnSpc>
              <a:spcAft>
                <a:spcPts val="0"/>
              </a:spcAft>
            </a:pPr>
            <a:r>
              <a:rPr sz="900" b="0" i="0">
                <a:solidFill>
                  <a:srgbClr val="64748B"/>
                </a:solidFill>
                <a:latin typeface="Calibri"/>
              </a:rPr>
              <a:t>4</a:t>
            </a:r>
          </a:p>
        </p:txBody>
      </p:sp>
      <p:sp>
        <p:nvSpPr>
          <p:cNvPr id="8" name="Rounded Rectangle 7"/>
          <p:cNvSpPr/>
          <p:nvPr/>
        </p:nvSpPr>
        <p:spPr>
          <a:xfrm>
            <a:off x="502920" y="1444752"/>
            <a:ext cx="5029200" cy="3200400"/>
          </a:xfrm>
          <a:prstGeom prst="roundRect">
            <a:avLst>
              <a:gd name="adj" fmla="val 5500"/>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22376" y="1572768"/>
            <a:ext cx="4590288" cy="310896"/>
          </a:xfrm>
          <a:prstGeom prst="rect">
            <a:avLst/>
          </a:prstGeom>
          <a:noFill/>
        </p:spPr>
        <p:txBody>
          <a:bodyPr wrap="square" lIns="54864" rIns="54864" tIns="18288" bIns="18288" anchor="t">
            <a:spAutoFit/>
          </a:bodyPr>
          <a:lstStyle/>
          <a:p>
            <a:pPr algn="l">
              <a:lnSpc>
                <a:spcPct val="120000"/>
              </a:lnSpc>
              <a:spcAft>
                <a:spcPts val="0"/>
              </a:spcAft>
            </a:pPr>
            <a:r>
              <a:rPr sz="1200" b="1" i="0">
                <a:solidFill>
                  <a:srgbClr val="64748B"/>
                </a:solidFill>
                <a:latin typeface="Calibri"/>
              </a:rPr>
              <a:t>NU</a:t>
            </a:r>
          </a:p>
        </p:txBody>
      </p:sp>
      <p:sp>
        <p:nvSpPr>
          <p:cNvPr id="10" name="Rounded Rectangle 9"/>
          <p:cNvSpPr/>
          <p:nvPr/>
        </p:nvSpPr>
        <p:spPr>
          <a:xfrm>
            <a:off x="722376" y="1956816"/>
            <a:ext cx="4590288" cy="512064"/>
          </a:xfrm>
          <a:prstGeom prst="roundRect">
            <a:avLst>
              <a:gd name="adj" fmla="val 5500"/>
            </a:avLst>
          </a:prstGeom>
          <a:solidFill>
            <a:srgbClr val="EBF2F8"/>
          </a:solidFill>
          <a:ln w="12700">
            <a:solidFill>
              <a:srgbClr val="B1CD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86968" y="1993392"/>
            <a:ext cx="2743200" cy="438912"/>
          </a:xfrm>
          <a:prstGeom prst="rect">
            <a:avLst/>
          </a:prstGeom>
          <a:noFill/>
        </p:spPr>
        <p:txBody>
          <a:bodyPr wrap="square" lIns="0" rIns="0" tIns="18288" bIns="18288" anchor="ctr">
            <a:spAutoFit/>
          </a:bodyPr>
          <a:lstStyle/>
          <a:p>
            <a:pPr algn="l">
              <a:lnSpc>
                <a:spcPct val="120000"/>
              </a:lnSpc>
              <a:spcAft>
                <a:spcPts val="0"/>
              </a:spcAft>
            </a:pPr>
            <a:r>
              <a:rPr sz="1300" b="1" i="0">
                <a:solidFill>
                  <a:srgbClr val="0F1B2D"/>
                </a:solidFill>
                <a:latin typeface="Calibri"/>
              </a:rPr>
              <a:t>ICU</a:t>
            </a:r>
          </a:p>
        </p:txBody>
      </p:sp>
      <p:sp>
        <p:nvSpPr>
          <p:cNvPr id="12" name="TextBox 11"/>
          <p:cNvSpPr txBox="1"/>
          <p:nvPr/>
        </p:nvSpPr>
        <p:spPr>
          <a:xfrm>
            <a:off x="3520439" y="1993392"/>
            <a:ext cx="1645920" cy="438912"/>
          </a:xfrm>
          <a:prstGeom prst="rect">
            <a:avLst/>
          </a:prstGeom>
          <a:noFill/>
        </p:spPr>
        <p:txBody>
          <a:bodyPr wrap="square" lIns="0" rIns="0" tIns="18288" bIns="18288" anchor="ctr">
            <a:spAutoFit/>
          </a:bodyPr>
          <a:lstStyle/>
          <a:p>
            <a:pPr algn="r">
              <a:lnSpc>
                <a:spcPct val="120000"/>
              </a:lnSpc>
              <a:spcAft>
                <a:spcPts val="0"/>
              </a:spcAft>
            </a:pPr>
            <a:r>
              <a:rPr sz="1200" b="1" i="0">
                <a:solidFill>
                  <a:srgbClr val="1F6FB2"/>
                </a:solidFill>
                <a:latin typeface="Calibri"/>
              </a:rPr>
              <a:t>10 kamers</a:t>
            </a:r>
          </a:p>
        </p:txBody>
      </p:sp>
      <p:sp>
        <p:nvSpPr>
          <p:cNvPr id="13" name="Rounded Rectangle 12"/>
          <p:cNvSpPr/>
          <p:nvPr/>
        </p:nvSpPr>
        <p:spPr>
          <a:xfrm>
            <a:off x="722376" y="2560320"/>
            <a:ext cx="4590288" cy="512064"/>
          </a:xfrm>
          <a:prstGeom prst="roundRect">
            <a:avLst>
              <a:gd name="adj" fmla="val 5500"/>
            </a:avLst>
          </a:prstGeom>
          <a:solidFill>
            <a:srgbClr val="F2EFF7"/>
          </a:solidFill>
          <a:ln w="12700">
            <a:solidFill>
              <a:srgbClr val="CBC0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2596896"/>
            <a:ext cx="2743200" cy="438912"/>
          </a:xfrm>
          <a:prstGeom prst="rect">
            <a:avLst/>
          </a:prstGeom>
          <a:noFill/>
        </p:spPr>
        <p:txBody>
          <a:bodyPr wrap="square" lIns="0" rIns="0" tIns="18288" bIns="18288" anchor="ctr">
            <a:spAutoFit/>
          </a:bodyPr>
          <a:lstStyle/>
          <a:p>
            <a:pPr algn="l">
              <a:lnSpc>
                <a:spcPct val="120000"/>
              </a:lnSpc>
              <a:spcAft>
                <a:spcPts val="0"/>
              </a:spcAft>
            </a:pPr>
            <a:r>
              <a:rPr sz="1300" b="1" i="0">
                <a:solidFill>
                  <a:srgbClr val="0F1B2D"/>
                </a:solidFill>
                <a:latin typeface="Calibri"/>
              </a:rPr>
              <a:t>CCU / SCU / EHH</a:t>
            </a:r>
          </a:p>
        </p:txBody>
      </p:sp>
      <p:sp>
        <p:nvSpPr>
          <p:cNvPr id="15" name="TextBox 14"/>
          <p:cNvSpPr txBox="1"/>
          <p:nvPr/>
        </p:nvSpPr>
        <p:spPr>
          <a:xfrm>
            <a:off x="3520439" y="2596896"/>
            <a:ext cx="1645920" cy="438912"/>
          </a:xfrm>
          <a:prstGeom prst="rect">
            <a:avLst/>
          </a:prstGeom>
          <a:noFill/>
        </p:spPr>
        <p:txBody>
          <a:bodyPr wrap="square" lIns="0" rIns="0" tIns="18288" bIns="18288" anchor="ctr">
            <a:spAutoFit/>
          </a:bodyPr>
          <a:lstStyle/>
          <a:p>
            <a:pPr algn="r">
              <a:lnSpc>
                <a:spcPct val="120000"/>
              </a:lnSpc>
              <a:spcAft>
                <a:spcPts val="0"/>
              </a:spcAft>
            </a:pPr>
            <a:r>
              <a:rPr sz="1200" b="1" i="0">
                <a:solidFill>
                  <a:srgbClr val="6B4BA8"/>
                </a:solidFill>
                <a:latin typeface="Calibri"/>
              </a:rPr>
              <a:t>15 kamers</a:t>
            </a:r>
          </a:p>
        </p:txBody>
      </p:sp>
      <p:sp>
        <p:nvSpPr>
          <p:cNvPr id="16" name="Rounded Rectangle 15"/>
          <p:cNvSpPr/>
          <p:nvPr/>
        </p:nvSpPr>
        <p:spPr>
          <a:xfrm>
            <a:off x="722376" y="3163824"/>
            <a:ext cx="4590288" cy="512064"/>
          </a:xfrm>
          <a:prstGeom prst="roundRect">
            <a:avLst>
              <a:gd name="adj" fmla="val 5500"/>
            </a:avLst>
          </a:prstGeom>
          <a:solidFill>
            <a:srgbClr val="E9F6F4"/>
          </a:solidFill>
          <a:ln w="12700">
            <a:solidFill>
              <a:srgbClr val="ABDCD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86968" y="3200400"/>
            <a:ext cx="2743200" cy="438912"/>
          </a:xfrm>
          <a:prstGeom prst="rect">
            <a:avLst/>
          </a:prstGeom>
          <a:noFill/>
        </p:spPr>
        <p:txBody>
          <a:bodyPr wrap="square" lIns="0" rIns="0" tIns="18288" bIns="18288" anchor="ctr">
            <a:spAutoFit/>
          </a:bodyPr>
          <a:lstStyle/>
          <a:p>
            <a:pPr algn="l">
              <a:lnSpc>
                <a:spcPct val="120000"/>
              </a:lnSpc>
              <a:spcAft>
                <a:spcPts val="0"/>
              </a:spcAft>
            </a:pPr>
            <a:r>
              <a:rPr sz="1300" b="1" i="0">
                <a:solidFill>
                  <a:srgbClr val="0F1B2D"/>
                </a:solidFill>
                <a:latin typeface="Calibri"/>
              </a:rPr>
              <a:t>SEH</a:t>
            </a:r>
          </a:p>
        </p:txBody>
      </p:sp>
      <p:sp>
        <p:nvSpPr>
          <p:cNvPr id="18" name="TextBox 17"/>
          <p:cNvSpPr txBox="1"/>
          <p:nvPr/>
        </p:nvSpPr>
        <p:spPr>
          <a:xfrm>
            <a:off x="3520439" y="3200400"/>
            <a:ext cx="1645920" cy="438912"/>
          </a:xfrm>
          <a:prstGeom prst="rect">
            <a:avLst/>
          </a:prstGeom>
          <a:noFill/>
        </p:spPr>
        <p:txBody>
          <a:bodyPr wrap="square" lIns="0" rIns="0" tIns="18288" bIns="18288" anchor="ctr">
            <a:spAutoFit/>
          </a:bodyPr>
          <a:lstStyle/>
          <a:p>
            <a:pPr algn="r">
              <a:lnSpc>
                <a:spcPct val="120000"/>
              </a:lnSpc>
              <a:spcAft>
                <a:spcPts val="0"/>
              </a:spcAft>
            </a:pPr>
            <a:r>
              <a:rPr sz="1200" b="1" i="0">
                <a:solidFill>
                  <a:srgbClr val="0E9A87"/>
                </a:solidFill>
                <a:latin typeface="Calibri"/>
              </a:rPr>
              <a:t>aantal onbekend</a:t>
            </a:r>
          </a:p>
        </p:txBody>
      </p:sp>
      <p:sp>
        <p:nvSpPr>
          <p:cNvPr id="19" name="Rounded Rectangle 18"/>
          <p:cNvSpPr/>
          <p:nvPr/>
        </p:nvSpPr>
        <p:spPr>
          <a:xfrm>
            <a:off x="722376" y="3767328"/>
            <a:ext cx="4590288" cy="512064"/>
          </a:xfrm>
          <a:prstGeom prst="roundRect">
            <a:avLst>
              <a:gd name="adj" fmla="val 5500"/>
            </a:avLst>
          </a:prstGeom>
          <a:solidFill>
            <a:srgbClr val="FCF4EA"/>
          </a:solidFill>
          <a:ln w="12700">
            <a:solidFill>
              <a:srgbClr val="F3D6A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86968" y="3803904"/>
            <a:ext cx="2743200" cy="438912"/>
          </a:xfrm>
          <a:prstGeom prst="rect">
            <a:avLst/>
          </a:prstGeom>
          <a:noFill/>
        </p:spPr>
        <p:txBody>
          <a:bodyPr wrap="square" lIns="0" rIns="0" tIns="18288" bIns="18288" anchor="ctr">
            <a:spAutoFit/>
          </a:bodyPr>
          <a:lstStyle/>
          <a:p>
            <a:pPr algn="l">
              <a:lnSpc>
                <a:spcPct val="120000"/>
              </a:lnSpc>
              <a:spcAft>
                <a:spcPts val="0"/>
              </a:spcAft>
            </a:pPr>
            <a:r>
              <a:rPr sz="1300" b="1" i="0">
                <a:solidFill>
                  <a:srgbClr val="0F1B2D"/>
                </a:solidFill>
                <a:latin typeface="Calibri"/>
              </a:rPr>
              <a:t>Kind spoed</a:t>
            </a:r>
          </a:p>
        </p:txBody>
      </p:sp>
      <p:sp>
        <p:nvSpPr>
          <p:cNvPr id="21" name="TextBox 20"/>
          <p:cNvSpPr txBox="1"/>
          <p:nvPr/>
        </p:nvSpPr>
        <p:spPr>
          <a:xfrm>
            <a:off x="3520439" y="3803904"/>
            <a:ext cx="1645920" cy="438912"/>
          </a:xfrm>
          <a:prstGeom prst="rect">
            <a:avLst/>
          </a:prstGeom>
          <a:noFill/>
        </p:spPr>
        <p:txBody>
          <a:bodyPr wrap="square" lIns="0" rIns="0" tIns="18288" bIns="18288" anchor="ctr">
            <a:spAutoFit/>
          </a:bodyPr>
          <a:lstStyle/>
          <a:p>
            <a:pPr algn="r">
              <a:lnSpc>
                <a:spcPct val="120000"/>
              </a:lnSpc>
              <a:spcAft>
                <a:spcPts val="0"/>
              </a:spcAft>
            </a:pPr>
            <a:r>
              <a:rPr sz="1200" b="1" i="0">
                <a:solidFill>
                  <a:srgbClr val="DE8A1B"/>
                </a:solidFill>
                <a:latin typeface="Calibri"/>
              </a:rPr>
              <a:t>aantal onbekend</a:t>
            </a:r>
          </a:p>
        </p:txBody>
      </p:sp>
      <p:sp>
        <p:nvSpPr>
          <p:cNvPr id="22" name="TextBox 21"/>
          <p:cNvSpPr txBox="1"/>
          <p:nvPr/>
        </p:nvSpPr>
        <p:spPr>
          <a:xfrm>
            <a:off x="722376" y="4334256"/>
            <a:ext cx="4590288" cy="274320"/>
          </a:xfrm>
          <a:prstGeom prst="rect">
            <a:avLst/>
          </a:prstGeom>
          <a:noFill/>
        </p:spPr>
        <p:txBody>
          <a:bodyPr wrap="square" lIns="54864" rIns="54864" tIns="18288" bIns="18288" anchor="t">
            <a:spAutoFit/>
          </a:bodyPr>
          <a:lstStyle/>
          <a:p>
            <a:pPr algn="l">
              <a:lnSpc>
                <a:spcPct val="120000"/>
              </a:lnSpc>
              <a:spcAft>
                <a:spcPts val="0"/>
              </a:spcAft>
            </a:pPr>
            <a:r>
              <a:rPr sz="1100" b="0" i="0">
                <a:solidFill>
                  <a:srgbClr val="64748B"/>
                </a:solidFill>
                <a:latin typeface="Calibri"/>
              </a:rPr>
              <a:t>eigen kamers, eigen specialisme, eigen berekening</a:t>
            </a:r>
          </a:p>
        </p:txBody>
      </p:sp>
      <p:sp>
        <p:nvSpPr>
          <p:cNvPr id="23" name="Right Arrow 22"/>
          <p:cNvSpPr/>
          <p:nvPr/>
        </p:nvSpPr>
        <p:spPr>
          <a:xfrm>
            <a:off x="5843016" y="2862072"/>
            <a:ext cx="566928" cy="457200"/>
          </a:xfrm>
          <a:prstGeom prst="rightArrow">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720840" y="1444752"/>
            <a:ext cx="4967935" cy="3200400"/>
          </a:xfrm>
          <a:prstGeom prst="roundRect">
            <a:avLst>
              <a:gd name="adj" fmla="val 5500"/>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940296" y="1572768"/>
            <a:ext cx="4529023" cy="310896"/>
          </a:xfrm>
          <a:prstGeom prst="rect">
            <a:avLst/>
          </a:prstGeom>
          <a:noFill/>
        </p:spPr>
        <p:txBody>
          <a:bodyPr wrap="square" lIns="54864" rIns="54864" tIns="18288" bIns="18288" anchor="t">
            <a:spAutoFit/>
          </a:bodyPr>
          <a:lstStyle/>
          <a:p>
            <a:pPr algn="l">
              <a:lnSpc>
                <a:spcPct val="120000"/>
              </a:lnSpc>
              <a:spcAft>
                <a:spcPts val="0"/>
              </a:spcAft>
            </a:pPr>
            <a:r>
              <a:rPr sz="1200" b="1" i="0">
                <a:solidFill>
                  <a:srgbClr val="64748B"/>
                </a:solidFill>
                <a:latin typeface="Calibri"/>
              </a:rPr>
              <a:t>STRAKS, IN SOMMIGE SCENARIO'S</a:t>
            </a:r>
          </a:p>
        </p:txBody>
      </p:sp>
      <p:sp>
        <p:nvSpPr>
          <p:cNvPr id="26" name="Rounded Rectangle 25"/>
          <p:cNvSpPr/>
          <p:nvPr/>
        </p:nvSpPr>
        <p:spPr>
          <a:xfrm>
            <a:off x="6940296" y="1956816"/>
            <a:ext cx="4529023" cy="1097280"/>
          </a:xfrm>
          <a:prstGeom prst="roundRect">
            <a:avLst>
              <a:gd name="adj" fmla="val 5500"/>
            </a:avLst>
          </a:prstGeom>
          <a:solidFill>
            <a:srgbClr val="EBF2F8"/>
          </a:solidFill>
          <a:ln w="12700">
            <a:solidFill>
              <a:srgbClr val="B1CD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123176" y="2048256"/>
            <a:ext cx="4163263" cy="310896"/>
          </a:xfrm>
          <a:prstGeom prst="rect">
            <a:avLst/>
          </a:prstGeom>
          <a:noFill/>
        </p:spPr>
        <p:txBody>
          <a:bodyPr wrap="square" lIns="54864" rIns="54864" tIns="18288" bIns="18288" anchor="t">
            <a:spAutoFit/>
          </a:bodyPr>
          <a:lstStyle/>
          <a:p>
            <a:pPr algn="l">
              <a:lnSpc>
                <a:spcPct val="120000"/>
              </a:lnSpc>
              <a:spcAft>
                <a:spcPts val="0"/>
              </a:spcAft>
            </a:pPr>
            <a:r>
              <a:rPr sz="1400" b="1" i="0">
                <a:solidFill>
                  <a:srgbClr val="1F6FB2"/>
                </a:solidFill>
                <a:latin typeface="Calibri"/>
              </a:rPr>
              <a:t>Acute poort</a:t>
            </a:r>
          </a:p>
        </p:txBody>
      </p:sp>
      <p:sp>
        <p:nvSpPr>
          <p:cNvPr id="28" name="Rounded Rectangle 27"/>
          <p:cNvSpPr/>
          <p:nvPr/>
        </p:nvSpPr>
        <p:spPr>
          <a:xfrm>
            <a:off x="7123176" y="2414016"/>
            <a:ext cx="1302410" cy="402336"/>
          </a:xfrm>
          <a:prstGeom prst="roundRect">
            <a:avLst>
              <a:gd name="adj" fmla="val 50000"/>
            </a:avLst>
          </a:prstGeom>
          <a:solidFill>
            <a:srgbClr val="FFFFFF"/>
          </a:solidFill>
          <a:ln w="12700">
            <a:solidFill>
              <a:srgbClr val="9ABED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200" b="1">
                <a:solidFill>
                  <a:srgbClr val="1F6FB2"/>
                </a:solidFill>
                <a:latin typeface="Calibri"/>
              </a:rPr>
              <a:t>SEH</a:t>
            </a:r>
          </a:p>
        </p:txBody>
      </p:sp>
      <p:sp>
        <p:nvSpPr>
          <p:cNvPr id="29" name="Rounded Rectangle 28"/>
          <p:cNvSpPr/>
          <p:nvPr/>
        </p:nvSpPr>
        <p:spPr>
          <a:xfrm>
            <a:off x="8553602" y="2414016"/>
            <a:ext cx="1302410" cy="402336"/>
          </a:xfrm>
          <a:prstGeom prst="roundRect">
            <a:avLst>
              <a:gd name="adj" fmla="val 50000"/>
            </a:avLst>
          </a:prstGeom>
          <a:solidFill>
            <a:srgbClr val="FFFFFF"/>
          </a:solidFill>
          <a:ln w="12700">
            <a:solidFill>
              <a:srgbClr val="9ABED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200" b="1">
                <a:solidFill>
                  <a:srgbClr val="1F6FB2"/>
                </a:solidFill>
                <a:latin typeface="Calibri"/>
              </a:rPr>
              <a:t>kind</a:t>
            </a:r>
          </a:p>
        </p:txBody>
      </p:sp>
      <p:sp>
        <p:nvSpPr>
          <p:cNvPr id="30" name="Rounded Rectangle 29"/>
          <p:cNvSpPr/>
          <p:nvPr/>
        </p:nvSpPr>
        <p:spPr>
          <a:xfrm>
            <a:off x="9984028" y="2414016"/>
            <a:ext cx="1302410" cy="402336"/>
          </a:xfrm>
          <a:prstGeom prst="roundRect">
            <a:avLst>
              <a:gd name="adj" fmla="val 50000"/>
            </a:avLst>
          </a:prstGeom>
          <a:solidFill>
            <a:srgbClr val="FFFFFF"/>
          </a:solidFill>
          <a:ln w="12700">
            <a:solidFill>
              <a:srgbClr val="9ABED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200" b="1">
                <a:solidFill>
                  <a:srgbClr val="1F6FB2"/>
                </a:solidFill>
                <a:latin typeface="Calibri"/>
              </a:rPr>
              <a:t>EHH</a:t>
            </a:r>
          </a:p>
        </p:txBody>
      </p:sp>
      <p:sp>
        <p:nvSpPr>
          <p:cNvPr id="31" name="Rounded Rectangle 30"/>
          <p:cNvSpPr/>
          <p:nvPr/>
        </p:nvSpPr>
        <p:spPr>
          <a:xfrm>
            <a:off x="6940296" y="3200400"/>
            <a:ext cx="4529023" cy="1097280"/>
          </a:xfrm>
          <a:prstGeom prst="roundRect">
            <a:avLst>
              <a:gd name="adj" fmla="val 5500"/>
            </a:avLst>
          </a:prstGeom>
          <a:solidFill>
            <a:srgbClr val="E9F6F4"/>
          </a:solidFill>
          <a:ln w="12700">
            <a:solidFill>
              <a:srgbClr val="ABDCD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123176" y="3291840"/>
            <a:ext cx="4163263" cy="310896"/>
          </a:xfrm>
          <a:prstGeom prst="rect">
            <a:avLst/>
          </a:prstGeom>
          <a:noFill/>
        </p:spPr>
        <p:txBody>
          <a:bodyPr wrap="square" lIns="54864" rIns="54864" tIns="18288" bIns="18288" anchor="t">
            <a:spAutoFit/>
          </a:bodyPr>
          <a:lstStyle/>
          <a:p>
            <a:pPr algn="l">
              <a:lnSpc>
                <a:spcPct val="120000"/>
              </a:lnSpc>
              <a:spcAft>
                <a:spcPts val="0"/>
              </a:spcAft>
            </a:pPr>
            <a:r>
              <a:rPr sz="1400" b="1" i="0">
                <a:solidFill>
                  <a:srgbClr val="0E9A87"/>
                </a:solidFill>
                <a:latin typeface="Calibri"/>
              </a:rPr>
              <a:t>Hotfloor</a:t>
            </a:r>
          </a:p>
        </p:txBody>
      </p:sp>
      <p:sp>
        <p:nvSpPr>
          <p:cNvPr id="33" name="Rounded Rectangle 32"/>
          <p:cNvSpPr/>
          <p:nvPr/>
        </p:nvSpPr>
        <p:spPr>
          <a:xfrm>
            <a:off x="7123176" y="3657600"/>
            <a:ext cx="2017623" cy="402336"/>
          </a:xfrm>
          <a:prstGeom prst="roundRect">
            <a:avLst>
              <a:gd name="adj" fmla="val 50000"/>
            </a:avLst>
          </a:prstGeom>
          <a:solidFill>
            <a:srgbClr val="FFFFFF"/>
          </a:solidFill>
          <a:ln w="12700">
            <a:solidFill>
              <a:srgbClr val="93D2C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200" b="1">
                <a:solidFill>
                  <a:srgbClr val="0E9A87"/>
                </a:solidFill>
                <a:latin typeface="Calibri"/>
              </a:rPr>
              <a:t>ICU</a:t>
            </a:r>
          </a:p>
        </p:txBody>
      </p:sp>
      <p:sp>
        <p:nvSpPr>
          <p:cNvPr id="34" name="Rounded Rectangle 33"/>
          <p:cNvSpPr/>
          <p:nvPr/>
        </p:nvSpPr>
        <p:spPr>
          <a:xfrm>
            <a:off x="9268815" y="3657600"/>
            <a:ext cx="2017623" cy="402336"/>
          </a:xfrm>
          <a:prstGeom prst="roundRect">
            <a:avLst>
              <a:gd name="adj" fmla="val 50000"/>
            </a:avLst>
          </a:prstGeom>
          <a:solidFill>
            <a:srgbClr val="FFFFFF"/>
          </a:solidFill>
          <a:ln w="12700">
            <a:solidFill>
              <a:srgbClr val="93D2C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200" b="1">
                <a:solidFill>
                  <a:srgbClr val="0E9A87"/>
                </a:solidFill>
                <a:latin typeface="Calibri"/>
              </a:rPr>
              <a:t>CCU / SCU</a:t>
            </a:r>
          </a:p>
        </p:txBody>
      </p:sp>
      <p:sp>
        <p:nvSpPr>
          <p:cNvPr id="35" name="TextBox 34"/>
          <p:cNvSpPr txBox="1"/>
          <p:nvPr/>
        </p:nvSpPr>
        <p:spPr>
          <a:xfrm>
            <a:off x="6940296" y="4334256"/>
            <a:ext cx="4529023" cy="274320"/>
          </a:xfrm>
          <a:prstGeom prst="rect">
            <a:avLst/>
          </a:prstGeom>
          <a:noFill/>
        </p:spPr>
        <p:txBody>
          <a:bodyPr wrap="square" lIns="54864" rIns="54864" tIns="18288" bIns="18288" anchor="t">
            <a:spAutoFit/>
          </a:bodyPr>
          <a:lstStyle/>
          <a:p>
            <a:pPr algn="l">
              <a:lnSpc>
                <a:spcPct val="120000"/>
              </a:lnSpc>
              <a:spcAft>
                <a:spcPts val="0"/>
              </a:spcAft>
            </a:pPr>
            <a:r>
              <a:rPr sz="1100" b="0" i="0">
                <a:solidFill>
                  <a:srgbClr val="64748B"/>
                </a:solidFill>
                <a:latin typeface="Calibri"/>
              </a:rPr>
              <a:t>specialismen delen dan ruimte en personeel</a:t>
            </a:r>
          </a:p>
        </p:txBody>
      </p:sp>
      <p:sp>
        <p:nvSpPr>
          <p:cNvPr id="36" name="Rounded Rectangle 35"/>
          <p:cNvSpPr/>
          <p:nvPr/>
        </p:nvSpPr>
        <p:spPr>
          <a:xfrm>
            <a:off x="502920" y="4846320"/>
            <a:ext cx="11185855" cy="914400"/>
          </a:xfrm>
          <a:prstGeom prst="roundRect">
            <a:avLst>
              <a:gd name="adj" fmla="val 5500"/>
            </a:avLst>
          </a:prstGeom>
          <a:solidFill>
            <a:srgbClr val="F7E5E4"/>
          </a:solidFill>
          <a:ln w="12700">
            <a:solidFill>
              <a:srgbClr val="E4A6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676656" y="5148072"/>
            <a:ext cx="310896" cy="310896"/>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FFFFFF"/>
                </a:solidFill>
                <a:latin typeface="Calibri"/>
              </a:rPr>
              <a:t>!</a:t>
            </a:r>
          </a:p>
        </p:txBody>
      </p:sp>
      <p:sp>
        <p:nvSpPr>
          <p:cNvPr id="38" name="TextBox 37"/>
          <p:cNvSpPr txBox="1"/>
          <p:nvPr/>
        </p:nvSpPr>
        <p:spPr>
          <a:xfrm>
            <a:off x="1106424" y="4919472"/>
            <a:ext cx="10362895" cy="768096"/>
          </a:xfrm>
          <a:prstGeom prst="rect">
            <a:avLst/>
          </a:prstGeom>
          <a:noFill/>
        </p:spPr>
        <p:txBody>
          <a:bodyPr wrap="square" lIns="54864" rIns="54864" tIns="18288" bIns="18288" anchor="ctr">
            <a:spAutoFit/>
          </a:bodyPr>
          <a:lstStyle/>
          <a:p>
            <a:pPr algn="l">
              <a:lnSpc>
                <a:spcPct val="120000"/>
              </a:lnSpc>
              <a:spcAft>
                <a:spcPts val="200"/>
              </a:spcAft>
            </a:pPr>
            <a:r>
              <a:rPr sz="900" b="1" i="0">
                <a:solidFill>
                  <a:srgbClr val="C4392D"/>
                </a:solidFill>
                <a:latin typeface="Calibri"/>
              </a:rPr>
              <a:t>WAT DIT BETEKENT VOOR DE CIJFERS</a:t>
            </a:r>
          </a:p>
          <a:p>
            <a:pPr algn="l">
              <a:lnSpc>
                <a:spcPct val="120000"/>
              </a:lnSpc>
              <a:spcAft>
                <a:spcPts val="0"/>
              </a:spcAft>
            </a:pPr>
            <a:r>
              <a:rPr sz="1250" b="1" i="0">
                <a:solidFill>
                  <a:srgbClr val="0F1B2D"/>
                </a:solidFill>
                <a:latin typeface="Calibri"/>
              </a:rPr>
              <a:t>De berekeningen zijn per specialisme apart gemaakt, op de huidige gescheiden situatie. Aantallen van verschillende afdelingen zijn niet bij elkaar op te tellen en niet een op een over te zetten naar de nieuwbouw.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502920" y="429768"/>
            <a:ext cx="457200" cy="457200"/>
          </a:xfrm>
          <a:prstGeom prst="ellipse">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600" b="1">
                <a:solidFill>
                  <a:srgbClr val="FFFFFF"/>
                </a:solidFill>
                <a:latin typeface="Calibri"/>
              </a:rPr>
              <a:t>5</a:t>
            </a:r>
          </a:p>
        </p:txBody>
      </p:sp>
      <p:sp>
        <p:nvSpPr>
          <p:cNvPr id="4" name="TextBox 3"/>
          <p:cNvSpPr txBox="1"/>
          <p:nvPr/>
        </p:nvSpPr>
        <p:spPr>
          <a:xfrm>
            <a:off x="1106424" y="365760"/>
            <a:ext cx="10582351" cy="402336"/>
          </a:xfrm>
          <a:prstGeom prst="rect">
            <a:avLst/>
          </a:prstGeom>
          <a:noFill/>
        </p:spPr>
        <p:txBody>
          <a:bodyPr wrap="square" lIns="0" rIns="0" tIns="18288" bIns="18288" anchor="ctr">
            <a:spAutoFit/>
          </a:bodyPr>
          <a:lstStyle/>
          <a:p>
            <a:pPr algn="l">
              <a:lnSpc>
                <a:spcPct val="120000"/>
              </a:lnSpc>
              <a:spcAft>
                <a:spcPts val="0"/>
              </a:spcAft>
            </a:pPr>
            <a:r>
              <a:rPr sz="2250" b="1" i="0">
                <a:solidFill>
                  <a:srgbClr val="0F1B2D"/>
                </a:solidFill>
                <a:latin typeface="Calibri"/>
              </a:rPr>
              <a:t>Tijdpad: september 2026 tot en met oktober 2027</a:t>
            </a:r>
          </a:p>
        </p:txBody>
      </p:sp>
      <p:sp>
        <p:nvSpPr>
          <p:cNvPr id="5" name="TextBox 4"/>
          <p:cNvSpPr txBox="1"/>
          <p:nvPr/>
        </p:nvSpPr>
        <p:spPr>
          <a:xfrm>
            <a:off x="1106424" y="822960"/>
            <a:ext cx="10582351" cy="329184"/>
          </a:xfrm>
          <a:prstGeom prst="rect">
            <a:avLst/>
          </a:prstGeom>
          <a:noFill/>
        </p:spPr>
        <p:txBody>
          <a:bodyPr wrap="square" lIns="0" rIns="0" tIns="18288" bIns="18288" anchor="ctr">
            <a:spAutoFit/>
          </a:bodyPr>
          <a:lstStyle/>
          <a:p>
            <a:pPr algn="l">
              <a:lnSpc>
                <a:spcPct val="120000"/>
              </a:lnSpc>
              <a:spcAft>
                <a:spcPts val="0"/>
              </a:spcAft>
            </a:pPr>
            <a:r>
              <a:rPr sz="1350" b="0" i="0">
                <a:solidFill>
                  <a:srgbClr val="64748B"/>
                </a:solidFill>
                <a:latin typeface="Calibri"/>
              </a:rPr>
              <a:t>Wanneer wordt er gerekend, en wanneer wordt er verhuisd?</a:t>
            </a:r>
          </a:p>
        </p:txBody>
      </p:sp>
      <p:sp>
        <p:nvSpPr>
          <p:cNvPr id="6" name="TextBox 5"/>
          <p:cNvSpPr txBox="1"/>
          <p:nvPr/>
        </p:nvSpPr>
        <p:spPr>
          <a:xfrm>
            <a:off x="502920" y="6419088"/>
            <a:ext cx="5486400" cy="274320"/>
          </a:xfrm>
          <a:prstGeom prst="rect">
            <a:avLst/>
          </a:prstGeom>
          <a:noFill/>
        </p:spPr>
        <p:txBody>
          <a:bodyPr wrap="square" lIns="0" rIns="0" tIns="18288" bIns="18288" anchor="t">
            <a:spAutoFit/>
          </a:bodyPr>
          <a:lstStyle/>
          <a:p>
            <a:pPr algn="l">
              <a:lnSpc>
                <a:spcPct val="120000"/>
              </a:lnSpc>
              <a:spcAft>
                <a:spcPts val="0"/>
              </a:spcAft>
            </a:pPr>
            <a:r>
              <a:rPr sz="900" b="0" i="0">
                <a:solidFill>
                  <a:srgbClr val="64748B"/>
                </a:solidFill>
                <a:latin typeface="Calibri"/>
              </a:rPr>
              <a:t>Acute poort en Hotfloor</a:t>
            </a:r>
          </a:p>
        </p:txBody>
      </p:sp>
      <p:sp>
        <p:nvSpPr>
          <p:cNvPr id="7" name="TextBox 6"/>
          <p:cNvSpPr txBox="1"/>
          <p:nvPr/>
        </p:nvSpPr>
        <p:spPr>
          <a:xfrm>
            <a:off x="10591495" y="6419088"/>
            <a:ext cx="1097280" cy="274320"/>
          </a:xfrm>
          <a:prstGeom prst="rect">
            <a:avLst/>
          </a:prstGeom>
          <a:noFill/>
        </p:spPr>
        <p:txBody>
          <a:bodyPr wrap="square" lIns="0" rIns="0" tIns="18288" bIns="18288" anchor="t">
            <a:spAutoFit/>
          </a:bodyPr>
          <a:lstStyle/>
          <a:p>
            <a:pPr algn="r">
              <a:lnSpc>
                <a:spcPct val="120000"/>
              </a:lnSpc>
              <a:spcAft>
                <a:spcPts val="0"/>
              </a:spcAft>
            </a:pPr>
            <a:r>
              <a:rPr sz="900" b="0" i="0">
                <a:solidFill>
                  <a:srgbClr val="64748B"/>
                </a:solidFill>
                <a:latin typeface="Calibri"/>
              </a:rPr>
              <a:t>5</a:t>
            </a:r>
          </a:p>
        </p:txBody>
      </p:sp>
      <p:sp>
        <p:nvSpPr>
          <p:cNvPr id="8" name="Rounded Rectangle 7"/>
          <p:cNvSpPr/>
          <p:nvPr/>
        </p:nvSpPr>
        <p:spPr>
          <a:xfrm>
            <a:off x="521208" y="1664208"/>
            <a:ext cx="762413" cy="566928"/>
          </a:xfrm>
          <a:prstGeom prst="roundRect">
            <a:avLst>
              <a:gd name="adj" fmla="val 20000"/>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57784" y="1700784"/>
            <a:ext cx="689261" cy="493776"/>
          </a:xfrm>
          <a:prstGeom prst="rect">
            <a:avLst/>
          </a:prstGeom>
          <a:noFill/>
        </p:spPr>
        <p:txBody>
          <a:bodyPr wrap="square" lIns="18288" rIns="18288" tIns="18288" bIns="18288" anchor="ctr">
            <a:spAutoFit/>
          </a:bodyPr>
          <a:lstStyle/>
          <a:p>
            <a:pPr algn="ctr">
              <a:lnSpc>
                <a:spcPct val="120000"/>
              </a:lnSpc>
              <a:spcAft>
                <a:spcPts val="0"/>
              </a:spcAft>
            </a:pPr>
            <a:r>
              <a:rPr sz="1250" b="1" i="0">
                <a:solidFill>
                  <a:srgbClr val="FFFFFF"/>
                </a:solidFill>
                <a:latin typeface="Calibri"/>
              </a:rPr>
              <a:t>NU</a:t>
            </a:r>
          </a:p>
          <a:p>
            <a:pPr algn="ctr">
              <a:lnSpc>
                <a:spcPct val="120000"/>
              </a:lnSpc>
              <a:spcAft>
                <a:spcPts val="0"/>
              </a:spcAft>
            </a:pPr>
            <a:r>
              <a:rPr sz="950" b="0" i="0">
                <a:solidFill>
                  <a:srgbClr val="FFFFFF"/>
                </a:solidFill>
                <a:latin typeface="Calibri"/>
              </a:rPr>
              <a:t>2026</a:t>
            </a:r>
          </a:p>
        </p:txBody>
      </p:sp>
      <p:sp>
        <p:nvSpPr>
          <p:cNvPr id="10" name="Rounded Rectangle 9"/>
          <p:cNvSpPr/>
          <p:nvPr/>
        </p:nvSpPr>
        <p:spPr>
          <a:xfrm>
            <a:off x="1320197" y="1664208"/>
            <a:ext cx="6355341" cy="566928"/>
          </a:xfrm>
          <a:prstGeom prst="roundRect">
            <a:avLst>
              <a:gd name="adj" fmla="val 2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56773" y="1700784"/>
            <a:ext cx="6282189" cy="493776"/>
          </a:xfrm>
          <a:prstGeom prst="rect">
            <a:avLst/>
          </a:prstGeom>
          <a:noFill/>
        </p:spPr>
        <p:txBody>
          <a:bodyPr wrap="square" lIns="18288" rIns="18288" tIns="18288" bIns="18288" anchor="ctr">
            <a:spAutoFit/>
          </a:bodyPr>
          <a:lstStyle/>
          <a:p>
            <a:pPr algn="ctr">
              <a:lnSpc>
                <a:spcPct val="120000"/>
              </a:lnSpc>
              <a:spcAft>
                <a:spcPts val="0"/>
              </a:spcAft>
            </a:pPr>
            <a:r>
              <a:rPr sz="1250" b="1" i="0">
                <a:solidFill>
                  <a:srgbClr val="FFFFFF"/>
                </a:solidFill>
                <a:latin typeface="Calibri"/>
              </a:rPr>
              <a:t>OUDBOUW</a:t>
            </a:r>
          </a:p>
          <a:p>
            <a:pPr algn="ctr">
              <a:lnSpc>
                <a:spcPct val="120000"/>
              </a:lnSpc>
              <a:spcAft>
                <a:spcPts val="0"/>
              </a:spcAft>
            </a:pPr>
            <a:r>
              <a:rPr sz="950" b="0" i="0">
                <a:solidFill>
                  <a:srgbClr val="FFFFFF"/>
                </a:solidFill>
                <a:latin typeface="Calibri"/>
              </a:rPr>
              <a:t>okt 2026 - mei 2027</a:t>
            </a:r>
          </a:p>
        </p:txBody>
      </p:sp>
      <p:sp>
        <p:nvSpPr>
          <p:cNvPr id="12" name="Rounded Rectangle 11"/>
          <p:cNvSpPr/>
          <p:nvPr/>
        </p:nvSpPr>
        <p:spPr>
          <a:xfrm>
            <a:off x="7712114" y="1664208"/>
            <a:ext cx="3958372" cy="566928"/>
          </a:xfrm>
          <a:prstGeom prst="roundRect">
            <a:avLst>
              <a:gd name="adj" fmla="val 2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48690" y="1700784"/>
            <a:ext cx="3885220" cy="493776"/>
          </a:xfrm>
          <a:prstGeom prst="rect">
            <a:avLst/>
          </a:prstGeom>
          <a:noFill/>
        </p:spPr>
        <p:txBody>
          <a:bodyPr wrap="square" lIns="18288" rIns="18288" tIns="18288" bIns="18288" anchor="ctr">
            <a:spAutoFit/>
          </a:bodyPr>
          <a:lstStyle/>
          <a:p>
            <a:pPr algn="ctr">
              <a:lnSpc>
                <a:spcPct val="120000"/>
              </a:lnSpc>
              <a:spcAft>
                <a:spcPts val="0"/>
              </a:spcAft>
            </a:pPr>
            <a:r>
              <a:rPr sz="1250" b="1" i="0">
                <a:solidFill>
                  <a:srgbClr val="FFFFFF"/>
                </a:solidFill>
                <a:latin typeface="Calibri"/>
              </a:rPr>
              <a:t>NIEUWBOUW</a:t>
            </a:r>
          </a:p>
          <a:p>
            <a:pPr algn="ctr">
              <a:lnSpc>
                <a:spcPct val="120000"/>
              </a:lnSpc>
              <a:spcAft>
                <a:spcPts val="0"/>
              </a:spcAft>
            </a:pPr>
            <a:r>
              <a:rPr sz="950" b="0" i="0">
                <a:solidFill>
                  <a:srgbClr val="FFFFFF"/>
                </a:solidFill>
                <a:latin typeface="Calibri"/>
              </a:rPr>
              <a:t>vanaf juni 2027</a:t>
            </a:r>
          </a:p>
        </p:txBody>
      </p:sp>
      <p:sp>
        <p:nvSpPr>
          <p:cNvPr id="14" name="Rounded Rectangle 13"/>
          <p:cNvSpPr/>
          <p:nvPr/>
        </p:nvSpPr>
        <p:spPr>
          <a:xfrm>
            <a:off x="521208" y="2359152"/>
            <a:ext cx="762413" cy="566928"/>
          </a:xfrm>
          <a:prstGeom prst="roundRect">
            <a:avLst>
              <a:gd name="adj" fmla="val 5500"/>
            </a:avLst>
          </a:prstGeom>
          <a:solidFill>
            <a:srgbClr val="FFFFFF"/>
          </a:solidFill>
          <a:ln w="12700">
            <a:solidFill>
              <a:srgbClr val="C1C7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21208" y="2386584"/>
            <a:ext cx="762413" cy="512064"/>
          </a:xfrm>
          <a:prstGeom prst="rect">
            <a:avLst/>
          </a:prstGeom>
          <a:noFill/>
        </p:spPr>
        <p:txBody>
          <a:bodyPr wrap="square" lIns="18288" rIns="18288" tIns="18288" bIns="18288" anchor="ctr">
            <a:spAutoFit/>
          </a:bodyPr>
          <a:lstStyle/>
          <a:p>
            <a:pPr algn="ctr">
              <a:lnSpc>
                <a:spcPct val="120000"/>
              </a:lnSpc>
              <a:spcAft>
                <a:spcPts val="0"/>
              </a:spcAft>
            </a:pPr>
            <a:r>
              <a:rPr sz="1200" b="1" i="0">
                <a:solidFill>
                  <a:srgbClr val="0F1B2D"/>
                </a:solidFill>
                <a:latin typeface="Calibri"/>
              </a:rPr>
              <a:t>sept</a:t>
            </a:r>
          </a:p>
          <a:p>
            <a:pPr algn="ctr">
              <a:lnSpc>
                <a:spcPct val="120000"/>
              </a:lnSpc>
              <a:spcAft>
                <a:spcPts val="0"/>
              </a:spcAft>
            </a:pPr>
            <a:r>
              <a:rPr sz="900" b="0" i="0">
                <a:solidFill>
                  <a:srgbClr val="64748B"/>
                </a:solidFill>
                <a:latin typeface="Calibri"/>
              </a:rPr>
              <a:t>2026</a:t>
            </a:r>
          </a:p>
        </p:txBody>
      </p:sp>
      <p:sp>
        <p:nvSpPr>
          <p:cNvPr id="16" name="Rounded Rectangle 15"/>
          <p:cNvSpPr/>
          <p:nvPr/>
        </p:nvSpPr>
        <p:spPr>
          <a:xfrm>
            <a:off x="1320197" y="2359152"/>
            <a:ext cx="762413" cy="566928"/>
          </a:xfrm>
          <a:prstGeom prst="roundRect">
            <a:avLst>
              <a:gd name="adj" fmla="val 5500"/>
            </a:avLst>
          </a:prstGeom>
          <a:solidFill>
            <a:srgbClr val="FFFFFF"/>
          </a:solidFill>
          <a:ln w="12700">
            <a:solidFill>
              <a:srgbClr val="A5C5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20197" y="2386584"/>
            <a:ext cx="762413" cy="512064"/>
          </a:xfrm>
          <a:prstGeom prst="rect">
            <a:avLst/>
          </a:prstGeom>
          <a:noFill/>
        </p:spPr>
        <p:txBody>
          <a:bodyPr wrap="square" lIns="18288" rIns="18288" tIns="18288" bIns="18288" anchor="ctr">
            <a:spAutoFit/>
          </a:bodyPr>
          <a:lstStyle/>
          <a:p>
            <a:pPr algn="ctr">
              <a:lnSpc>
                <a:spcPct val="120000"/>
              </a:lnSpc>
              <a:spcAft>
                <a:spcPts val="0"/>
              </a:spcAft>
            </a:pPr>
            <a:r>
              <a:rPr sz="1200" b="1" i="0">
                <a:solidFill>
                  <a:srgbClr val="0F1B2D"/>
                </a:solidFill>
                <a:latin typeface="Calibri"/>
              </a:rPr>
              <a:t>okt</a:t>
            </a:r>
          </a:p>
        </p:txBody>
      </p:sp>
      <p:sp>
        <p:nvSpPr>
          <p:cNvPr id="18" name="Rounded Rectangle 17"/>
          <p:cNvSpPr/>
          <p:nvPr/>
        </p:nvSpPr>
        <p:spPr>
          <a:xfrm>
            <a:off x="2119187" y="2359152"/>
            <a:ext cx="762413" cy="566928"/>
          </a:xfrm>
          <a:prstGeom prst="roundRect">
            <a:avLst>
              <a:gd name="adj" fmla="val 5500"/>
            </a:avLst>
          </a:prstGeom>
          <a:solidFill>
            <a:srgbClr val="FFFFFF"/>
          </a:solidFill>
          <a:ln w="12700">
            <a:solidFill>
              <a:srgbClr val="A5C5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2119187" y="2386584"/>
            <a:ext cx="762413" cy="512064"/>
          </a:xfrm>
          <a:prstGeom prst="rect">
            <a:avLst/>
          </a:prstGeom>
          <a:noFill/>
        </p:spPr>
        <p:txBody>
          <a:bodyPr wrap="square" lIns="18288" rIns="18288" tIns="18288" bIns="18288" anchor="ctr">
            <a:spAutoFit/>
          </a:bodyPr>
          <a:lstStyle/>
          <a:p>
            <a:pPr algn="ctr">
              <a:lnSpc>
                <a:spcPct val="120000"/>
              </a:lnSpc>
              <a:spcAft>
                <a:spcPts val="0"/>
              </a:spcAft>
            </a:pPr>
            <a:r>
              <a:rPr sz="1200" b="1" i="0">
                <a:solidFill>
                  <a:srgbClr val="0F1B2D"/>
                </a:solidFill>
                <a:latin typeface="Calibri"/>
              </a:rPr>
              <a:t>nov</a:t>
            </a:r>
          </a:p>
        </p:txBody>
      </p:sp>
      <p:sp>
        <p:nvSpPr>
          <p:cNvPr id="20" name="Rounded Rectangle 19"/>
          <p:cNvSpPr/>
          <p:nvPr/>
        </p:nvSpPr>
        <p:spPr>
          <a:xfrm>
            <a:off x="2918176" y="2359152"/>
            <a:ext cx="762413" cy="566928"/>
          </a:xfrm>
          <a:prstGeom prst="roundRect">
            <a:avLst>
              <a:gd name="adj" fmla="val 5500"/>
            </a:avLst>
          </a:prstGeom>
          <a:solidFill>
            <a:srgbClr val="FFFFFF"/>
          </a:solidFill>
          <a:ln w="12700">
            <a:solidFill>
              <a:srgbClr val="A5C5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2918176" y="2386584"/>
            <a:ext cx="762413" cy="512064"/>
          </a:xfrm>
          <a:prstGeom prst="rect">
            <a:avLst/>
          </a:prstGeom>
          <a:noFill/>
        </p:spPr>
        <p:txBody>
          <a:bodyPr wrap="square" lIns="18288" rIns="18288" tIns="18288" bIns="18288" anchor="ctr">
            <a:spAutoFit/>
          </a:bodyPr>
          <a:lstStyle/>
          <a:p>
            <a:pPr algn="ctr">
              <a:lnSpc>
                <a:spcPct val="120000"/>
              </a:lnSpc>
              <a:spcAft>
                <a:spcPts val="0"/>
              </a:spcAft>
            </a:pPr>
            <a:r>
              <a:rPr sz="1200" b="1" i="0">
                <a:solidFill>
                  <a:srgbClr val="0F1B2D"/>
                </a:solidFill>
                <a:latin typeface="Calibri"/>
              </a:rPr>
              <a:t>dec</a:t>
            </a:r>
          </a:p>
        </p:txBody>
      </p:sp>
      <p:sp>
        <p:nvSpPr>
          <p:cNvPr id="22" name="Rounded Rectangle 21"/>
          <p:cNvSpPr/>
          <p:nvPr/>
        </p:nvSpPr>
        <p:spPr>
          <a:xfrm>
            <a:off x="3717166" y="2359152"/>
            <a:ext cx="762413" cy="566928"/>
          </a:xfrm>
          <a:prstGeom prst="roundRect">
            <a:avLst>
              <a:gd name="adj" fmla="val 5500"/>
            </a:avLst>
          </a:prstGeom>
          <a:solidFill>
            <a:srgbClr val="FFFFFF"/>
          </a:solidFill>
          <a:ln w="12700">
            <a:solidFill>
              <a:srgbClr val="A5C5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3717166" y="2386584"/>
            <a:ext cx="762413" cy="512064"/>
          </a:xfrm>
          <a:prstGeom prst="rect">
            <a:avLst/>
          </a:prstGeom>
          <a:noFill/>
        </p:spPr>
        <p:txBody>
          <a:bodyPr wrap="square" lIns="18288" rIns="18288" tIns="18288" bIns="18288" anchor="ctr">
            <a:spAutoFit/>
          </a:bodyPr>
          <a:lstStyle/>
          <a:p>
            <a:pPr algn="ctr">
              <a:lnSpc>
                <a:spcPct val="120000"/>
              </a:lnSpc>
              <a:spcAft>
                <a:spcPts val="0"/>
              </a:spcAft>
            </a:pPr>
            <a:r>
              <a:rPr sz="1200" b="1" i="0">
                <a:solidFill>
                  <a:srgbClr val="0F1B2D"/>
                </a:solidFill>
                <a:latin typeface="Calibri"/>
              </a:rPr>
              <a:t>jan</a:t>
            </a:r>
          </a:p>
          <a:p>
            <a:pPr algn="ctr">
              <a:lnSpc>
                <a:spcPct val="120000"/>
              </a:lnSpc>
              <a:spcAft>
                <a:spcPts val="0"/>
              </a:spcAft>
            </a:pPr>
            <a:r>
              <a:rPr sz="900" b="0" i="0">
                <a:solidFill>
                  <a:srgbClr val="64748B"/>
                </a:solidFill>
                <a:latin typeface="Calibri"/>
              </a:rPr>
              <a:t>2027</a:t>
            </a:r>
          </a:p>
        </p:txBody>
      </p:sp>
      <p:sp>
        <p:nvSpPr>
          <p:cNvPr id="24" name="Rounded Rectangle 23"/>
          <p:cNvSpPr/>
          <p:nvPr/>
        </p:nvSpPr>
        <p:spPr>
          <a:xfrm>
            <a:off x="4516156" y="2359152"/>
            <a:ext cx="762413" cy="566928"/>
          </a:xfrm>
          <a:prstGeom prst="roundRect">
            <a:avLst>
              <a:gd name="adj" fmla="val 5500"/>
            </a:avLst>
          </a:prstGeom>
          <a:solidFill>
            <a:srgbClr val="FFFFFF"/>
          </a:solidFill>
          <a:ln w="12700">
            <a:solidFill>
              <a:srgbClr val="A5C5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4516156" y="2386584"/>
            <a:ext cx="762413" cy="512064"/>
          </a:xfrm>
          <a:prstGeom prst="rect">
            <a:avLst/>
          </a:prstGeom>
          <a:noFill/>
        </p:spPr>
        <p:txBody>
          <a:bodyPr wrap="square" lIns="18288" rIns="18288" tIns="18288" bIns="18288" anchor="ctr">
            <a:spAutoFit/>
          </a:bodyPr>
          <a:lstStyle/>
          <a:p>
            <a:pPr algn="ctr">
              <a:lnSpc>
                <a:spcPct val="120000"/>
              </a:lnSpc>
              <a:spcAft>
                <a:spcPts val="0"/>
              </a:spcAft>
            </a:pPr>
            <a:r>
              <a:rPr sz="1200" b="1" i="0">
                <a:solidFill>
                  <a:srgbClr val="0F1B2D"/>
                </a:solidFill>
                <a:latin typeface="Calibri"/>
              </a:rPr>
              <a:t>feb</a:t>
            </a:r>
          </a:p>
        </p:txBody>
      </p:sp>
      <p:sp>
        <p:nvSpPr>
          <p:cNvPr id="26" name="Rounded Rectangle 25"/>
          <p:cNvSpPr/>
          <p:nvPr/>
        </p:nvSpPr>
        <p:spPr>
          <a:xfrm>
            <a:off x="5315145" y="2359152"/>
            <a:ext cx="762413" cy="566928"/>
          </a:xfrm>
          <a:prstGeom prst="roundRect">
            <a:avLst>
              <a:gd name="adj" fmla="val 5500"/>
            </a:avLst>
          </a:prstGeom>
          <a:solidFill>
            <a:srgbClr val="FFFFFF"/>
          </a:solidFill>
          <a:ln w="12700">
            <a:solidFill>
              <a:srgbClr val="A5C5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315145" y="2386584"/>
            <a:ext cx="762413" cy="512064"/>
          </a:xfrm>
          <a:prstGeom prst="rect">
            <a:avLst/>
          </a:prstGeom>
          <a:noFill/>
        </p:spPr>
        <p:txBody>
          <a:bodyPr wrap="square" lIns="18288" rIns="18288" tIns="18288" bIns="18288" anchor="ctr">
            <a:spAutoFit/>
          </a:bodyPr>
          <a:lstStyle/>
          <a:p>
            <a:pPr algn="ctr">
              <a:lnSpc>
                <a:spcPct val="120000"/>
              </a:lnSpc>
              <a:spcAft>
                <a:spcPts val="0"/>
              </a:spcAft>
            </a:pPr>
            <a:r>
              <a:rPr sz="1200" b="1" i="0">
                <a:solidFill>
                  <a:srgbClr val="0F1B2D"/>
                </a:solidFill>
                <a:latin typeface="Calibri"/>
              </a:rPr>
              <a:t>mrt</a:t>
            </a:r>
          </a:p>
        </p:txBody>
      </p:sp>
      <p:sp>
        <p:nvSpPr>
          <p:cNvPr id="28" name="Rounded Rectangle 27"/>
          <p:cNvSpPr/>
          <p:nvPr/>
        </p:nvSpPr>
        <p:spPr>
          <a:xfrm>
            <a:off x="6114135" y="2359152"/>
            <a:ext cx="762413" cy="566928"/>
          </a:xfrm>
          <a:prstGeom prst="roundRect">
            <a:avLst>
              <a:gd name="adj" fmla="val 5500"/>
            </a:avLst>
          </a:prstGeom>
          <a:solidFill>
            <a:srgbClr val="FFFFFF"/>
          </a:solidFill>
          <a:ln w="12700">
            <a:solidFill>
              <a:srgbClr val="A5C5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114135" y="2386584"/>
            <a:ext cx="762413" cy="512064"/>
          </a:xfrm>
          <a:prstGeom prst="rect">
            <a:avLst/>
          </a:prstGeom>
          <a:noFill/>
        </p:spPr>
        <p:txBody>
          <a:bodyPr wrap="square" lIns="18288" rIns="18288" tIns="18288" bIns="18288" anchor="ctr">
            <a:spAutoFit/>
          </a:bodyPr>
          <a:lstStyle/>
          <a:p>
            <a:pPr algn="ctr">
              <a:lnSpc>
                <a:spcPct val="120000"/>
              </a:lnSpc>
              <a:spcAft>
                <a:spcPts val="0"/>
              </a:spcAft>
            </a:pPr>
            <a:r>
              <a:rPr sz="1200" b="1" i="0">
                <a:solidFill>
                  <a:srgbClr val="0F1B2D"/>
                </a:solidFill>
                <a:latin typeface="Calibri"/>
              </a:rPr>
              <a:t>apr</a:t>
            </a:r>
          </a:p>
        </p:txBody>
      </p:sp>
      <p:sp>
        <p:nvSpPr>
          <p:cNvPr id="30" name="Rounded Rectangle 29"/>
          <p:cNvSpPr/>
          <p:nvPr/>
        </p:nvSpPr>
        <p:spPr>
          <a:xfrm>
            <a:off x="6913125" y="2359152"/>
            <a:ext cx="762413" cy="566928"/>
          </a:xfrm>
          <a:prstGeom prst="roundRect">
            <a:avLst>
              <a:gd name="adj" fmla="val 5500"/>
            </a:avLst>
          </a:prstGeom>
          <a:solidFill>
            <a:srgbClr val="FFFFFF"/>
          </a:solidFill>
          <a:ln w="12700">
            <a:solidFill>
              <a:srgbClr val="A5C5E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913125" y="2386584"/>
            <a:ext cx="762413" cy="512064"/>
          </a:xfrm>
          <a:prstGeom prst="rect">
            <a:avLst/>
          </a:prstGeom>
          <a:noFill/>
        </p:spPr>
        <p:txBody>
          <a:bodyPr wrap="square" lIns="18288" rIns="18288" tIns="18288" bIns="18288" anchor="ctr">
            <a:spAutoFit/>
          </a:bodyPr>
          <a:lstStyle/>
          <a:p>
            <a:pPr algn="ctr">
              <a:lnSpc>
                <a:spcPct val="120000"/>
              </a:lnSpc>
              <a:spcAft>
                <a:spcPts val="0"/>
              </a:spcAft>
            </a:pPr>
            <a:r>
              <a:rPr sz="1200" b="1" i="0">
                <a:solidFill>
                  <a:srgbClr val="0F1B2D"/>
                </a:solidFill>
                <a:latin typeface="Calibri"/>
              </a:rPr>
              <a:t>mei</a:t>
            </a:r>
          </a:p>
        </p:txBody>
      </p:sp>
      <p:sp>
        <p:nvSpPr>
          <p:cNvPr id="32" name="Rounded Rectangle 31"/>
          <p:cNvSpPr/>
          <p:nvPr/>
        </p:nvSpPr>
        <p:spPr>
          <a:xfrm>
            <a:off x="7712114" y="2359152"/>
            <a:ext cx="762413" cy="566928"/>
          </a:xfrm>
          <a:prstGeom prst="roundRect">
            <a:avLst>
              <a:gd name="adj" fmla="val 5500"/>
            </a:avLst>
          </a:prstGeom>
          <a:solidFill>
            <a:srgbClr val="FFFFFF"/>
          </a:solidFill>
          <a:ln w="12700">
            <a:solidFill>
              <a:srgbClr val="9FD7C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712114" y="2386584"/>
            <a:ext cx="762413" cy="512064"/>
          </a:xfrm>
          <a:prstGeom prst="rect">
            <a:avLst/>
          </a:prstGeom>
          <a:noFill/>
        </p:spPr>
        <p:txBody>
          <a:bodyPr wrap="square" lIns="18288" rIns="18288" tIns="18288" bIns="18288" anchor="ctr">
            <a:spAutoFit/>
          </a:bodyPr>
          <a:lstStyle/>
          <a:p>
            <a:pPr algn="ctr">
              <a:lnSpc>
                <a:spcPct val="120000"/>
              </a:lnSpc>
              <a:spcAft>
                <a:spcPts val="0"/>
              </a:spcAft>
            </a:pPr>
            <a:r>
              <a:rPr sz="1200" b="1" i="0">
                <a:solidFill>
                  <a:srgbClr val="0F1B2D"/>
                </a:solidFill>
                <a:latin typeface="Calibri"/>
              </a:rPr>
              <a:t>juni</a:t>
            </a:r>
          </a:p>
        </p:txBody>
      </p:sp>
      <p:sp>
        <p:nvSpPr>
          <p:cNvPr id="34" name="Rounded Rectangle 33"/>
          <p:cNvSpPr/>
          <p:nvPr/>
        </p:nvSpPr>
        <p:spPr>
          <a:xfrm>
            <a:off x="8511104" y="2359152"/>
            <a:ext cx="762413" cy="566928"/>
          </a:xfrm>
          <a:prstGeom prst="roundRect">
            <a:avLst>
              <a:gd name="adj" fmla="val 5500"/>
            </a:avLst>
          </a:prstGeom>
          <a:solidFill>
            <a:srgbClr val="FFFFFF"/>
          </a:solidFill>
          <a:ln w="12700">
            <a:solidFill>
              <a:srgbClr val="9FD7C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511104" y="2386584"/>
            <a:ext cx="762413" cy="512064"/>
          </a:xfrm>
          <a:prstGeom prst="rect">
            <a:avLst/>
          </a:prstGeom>
          <a:noFill/>
        </p:spPr>
        <p:txBody>
          <a:bodyPr wrap="square" lIns="18288" rIns="18288" tIns="18288" bIns="18288" anchor="ctr">
            <a:spAutoFit/>
          </a:bodyPr>
          <a:lstStyle/>
          <a:p>
            <a:pPr algn="ctr">
              <a:lnSpc>
                <a:spcPct val="120000"/>
              </a:lnSpc>
              <a:spcAft>
                <a:spcPts val="0"/>
              </a:spcAft>
            </a:pPr>
            <a:r>
              <a:rPr sz="1200" b="1" i="0">
                <a:solidFill>
                  <a:srgbClr val="0F1B2D"/>
                </a:solidFill>
                <a:latin typeface="Calibri"/>
              </a:rPr>
              <a:t>juli</a:t>
            </a:r>
          </a:p>
        </p:txBody>
      </p:sp>
      <p:sp>
        <p:nvSpPr>
          <p:cNvPr id="36" name="Rounded Rectangle 35"/>
          <p:cNvSpPr/>
          <p:nvPr/>
        </p:nvSpPr>
        <p:spPr>
          <a:xfrm>
            <a:off x="9310094" y="2359152"/>
            <a:ext cx="762413" cy="566928"/>
          </a:xfrm>
          <a:prstGeom prst="roundRect">
            <a:avLst>
              <a:gd name="adj" fmla="val 5500"/>
            </a:avLst>
          </a:prstGeom>
          <a:solidFill>
            <a:srgbClr val="FFFFFF"/>
          </a:solidFill>
          <a:ln w="12700">
            <a:solidFill>
              <a:srgbClr val="9FD7C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9310094" y="2386584"/>
            <a:ext cx="762413" cy="512064"/>
          </a:xfrm>
          <a:prstGeom prst="rect">
            <a:avLst/>
          </a:prstGeom>
          <a:noFill/>
        </p:spPr>
        <p:txBody>
          <a:bodyPr wrap="square" lIns="18288" rIns="18288" tIns="18288" bIns="18288" anchor="ctr">
            <a:spAutoFit/>
          </a:bodyPr>
          <a:lstStyle/>
          <a:p>
            <a:pPr algn="ctr">
              <a:lnSpc>
                <a:spcPct val="120000"/>
              </a:lnSpc>
              <a:spcAft>
                <a:spcPts val="0"/>
              </a:spcAft>
            </a:pPr>
            <a:r>
              <a:rPr sz="1200" b="1" i="0">
                <a:solidFill>
                  <a:srgbClr val="0F1B2D"/>
                </a:solidFill>
                <a:latin typeface="Calibri"/>
              </a:rPr>
              <a:t>aug</a:t>
            </a:r>
          </a:p>
        </p:txBody>
      </p:sp>
      <p:sp>
        <p:nvSpPr>
          <p:cNvPr id="38" name="Rounded Rectangle 37"/>
          <p:cNvSpPr/>
          <p:nvPr/>
        </p:nvSpPr>
        <p:spPr>
          <a:xfrm>
            <a:off x="10109083" y="2359152"/>
            <a:ext cx="762413" cy="566928"/>
          </a:xfrm>
          <a:prstGeom prst="roundRect">
            <a:avLst>
              <a:gd name="adj" fmla="val 5500"/>
            </a:avLst>
          </a:prstGeom>
          <a:solidFill>
            <a:srgbClr val="FFFFFF"/>
          </a:solidFill>
          <a:ln w="12700">
            <a:solidFill>
              <a:srgbClr val="9FD7C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109083" y="2386584"/>
            <a:ext cx="762413" cy="512064"/>
          </a:xfrm>
          <a:prstGeom prst="rect">
            <a:avLst/>
          </a:prstGeom>
          <a:noFill/>
        </p:spPr>
        <p:txBody>
          <a:bodyPr wrap="square" lIns="18288" rIns="18288" tIns="18288" bIns="18288" anchor="ctr">
            <a:spAutoFit/>
          </a:bodyPr>
          <a:lstStyle/>
          <a:p>
            <a:pPr algn="ctr">
              <a:lnSpc>
                <a:spcPct val="120000"/>
              </a:lnSpc>
              <a:spcAft>
                <a:spcPts val="0"/>
              </a:spcAft>
            </a:pPr>
            <a:r>
              <a:rPr sz="1200" b="1" i="0">
                <a:solidFill>
                  <a:srgbClr val="0F1B2D"/>
                </a:solidFill>
                <a:latin typeface="Calibri"/>
              </a:rPr>
              <a:t>sept</a:t>
            </a:r>
          </a:p>
        </p:txBody>
      </p:sp>
      <p:sp>
        <p:nvSpPr>
          <p:cNvPr id="40" name="Rounded Rectangle 39"/>
          <p:cNvSpPr/>
          <p:nvPr/>
        </p:nvSpPr>
        <p:spPr>
          <a:xfrm>
            <a:off x="10908073" y="2359152"/>
            <a:ext cx="762413" cy="566928"/>
          </a:xfrm>
          <a:prstGeom prst="roundRect">
            <a:avLst>
              <a:gd name="adj" fmla="val 5500"/>
            </a:avLst>
          </a:prstGeom>
          <a:solidFill>
            <a:srgbClr val="FFFFFF"/>
          </a:solidFill>
          <a:ln w="12700">
            <a:solidFill>
              <a:srgbClr val="9FD7C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10908073" y="2386584"/>
            <a:ext cx="762413" cy="512064"/>
          </a:xfrm>
          <a:prstGeom prst="rect">
            <a:avLst/>
          </a:prstGeom>
          <a:noFill/>
        </p:spPr>
        <p:txBody>
          <a:bodyPr wrap="square" lIns="18288" rIns="18288" tIns="18288" bIns="18288" anchor="ctr">
            <a:spAutoFit/>
          </a:bodyPr>
          <a:lstStyle/>
          <a:p>
            <a:pPr algn="ctr">
              <a:lnSpc>
                <a:spcPct val="120000"/>
              </a:lnSpc>
              <a:spcAft>
                <a:spcPts val="0"/>
              </a:spcAft>
            </a:pPr>
            <a:r>
              <a:rPr sz="1200" b="1" i="0">
                <a:solidFill>
                  <a:srgbClr val="0F1B2D"/>
                </a:solidFill>
                <a:latin typeface="Calibri"/>
              </a:rPr>
              <a:t>okt</a:t>
            </a:r>
          </a:p>
        </p:txBody>
      </p:sp>
      <p:sp>
        <p:nvSpPr>
          <p:cNvPr id="42" name="Down Arrow 41"/>
          <p:cNvSpPr/>
          <p:nvPr/>
        </p:nvSpPr>
        <p:spPr>
          <a:xfrm>
            <a:off x="801830" y="2980944"/>
            <a:ext cx="201168" cy="365760"/>
          </a:xfrm>
          <a:prstGeom prst="downArrow">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502920" y="3401568"/>
            <a:ext cx="3291840" cy="859536"/>
          </a:xfrm>
          <a:prstGeom prst="roundRect">
            <a:avLst>
              <a:gd name="adj" fmla="val 5500"/>
            </a:avLst>
          </a:prstGeom>
          <a:solidFill>
            <a:srgbClr val="EDE9F5"/>
          </a:solidFill>
          <a:ln w="12700">
            <a:solidFill>
              <a:srgbClr val="C1B3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704088" y="3493008"/>
            <a:ext cx="2889504" cy="676656"/>
          </a:xfrm>
          <a:prstGeom prst="rect">
            <a:avLst/>
          </a:prstGeom>
          <a:noFill/>
        </p:spPr>
        <p:txBody>
          <a:bodyPr wrap="square" lIns="54864" rIns="54864" tIns="18288" bIns="18288" anchor="t">
            <a:spAutoFit/>
          </a:bodyPr>
          <a:lstStyle/>
          <a:p>
            <a:pPr algn="l">
              <a:lnSpc>
                <a:spcPct val="120000"/>
              </a:lnSpc>
              <a:spcAft>
                <a:spcPts val="200"/>
              </a:spcAft>
            </a:pPr>
            <a:r>
              <a:rPr sz="1500" b="1" i="0">
                <a:solidFill>
                  <a:srgbClr val="6B4BA8"/>
                </a:solidFill>
                <a:latin typeface="Calibri"/>
              </a:rPr>
              <a:t>Berekeningen starten</a:t>
            </a:r>
          </a:p>
          <a:p>
            <a:pPr algn="l">
              <a:lnSpc>
                <a:spcPct val="120000"/>
              </a:lnSpc>
              <a:spcAft>
                <a:spcPts val="0"/>
              </a:spcAft>
            </a:pPr>
            <a:r>
              <a:rPr sz="1150" b="0" i="0">
                <a:solidFill>
                  <a:srgbClr val="0F1B2D"/>
                </a:solidFill>
                <a:latin typeface="Calibri"/>
              </a:rPr>
              <a:t>aantal bedden, norm vpk en indirecte uren</a:t>
            </a:r>
          </a:p>
        </p:txBody>
      </p:sp>
      <p:sp>
        <p:nvSpPr>
          <p:cNvPr id="45" name="Down Arrow 44"/>
          <p:cNvSpPr/>
          <p:nvPr/>
        </p:nvSpPr>
        <p:spPr>
          <a:xfrm>
            <a:off x="7992737" y="2980944"/>
            <a:ext cx="201168" cy="365760"/>
          </a:xfrm>
          <a:prstGeom prst="downArrow">
            <a:avLst/>
          </a:prstGeom>
          <a:solidFill>
            <a:srgbClr val="DE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6447401" y="3401568"/>
            <a:ext cx="3291840" cy="859536"/>
          </a:xfrm>
          <a:prstGeom prst="roundRect">
            <a:avLst>
              <a:gd name="adj" fmla="val 5500"/>
            </a:avLst>
          </a:prstGeom>
          <a:solidFill>
            <a:srgbClr val="FBF1E4"/>
          </a:solidFill>
          <a:ln w="12700">
            <a:solidFill>
              <a:srgbClr val="F1CE9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6648569" y="3493008"/>
            <a:ext cx="2889504" cy="676656"/>
          </a:xfrm>
          <a:prstGeom prst="rect">
            <a:avLst/>
          </a:prstGeom>
          <a:noFill/>
        </p:spPr>
        <p:txBody>
          <a:bodyPr wrap="square" lIns="54864" rIns="54864" tIns="18288" bIns="18288" anchor="t">
            <a:spAutoFit/>
          </a:bodyPr>
          <a:lstStyle/>
          <a:p>
            <a:pPr algn="l">
              <a:lnSpc>
                <a:spcPct val="120000"/>
              </a:lnSpc>
              <a:spcAft>
                <a:spcPts val="200"/>
              </a:spcAft>
            </a:pPr>
            <a:r>
              <a:rPr sz="1500" b="1" i="0">
                <a:solidFill>
                  <a:srgbClr val="DE8A1B"/>
                </a:solidFill>
                <a:latin typeface="Calibri"/>
              </a:rPr>
              <a:t>Verhuizing</a:t>
            </a:r>
          </a:p>
          <a:p>
            <a:pPr algn="l">
              <a:lnSpc>
                <a:spcPct val="120000"/>
              </a:lnSpc>
              <a:spcAft>
                <a:spcPts val="0"/>
              </a:spcAft>
            </a:pPr>
            <a:r>
              <a:rPr sz="1150" b="0" i="0">
                <a:solidFill>
                  <a:srgbClr val="0F1B2D"/>
                </a:solidFill>
                <a:latin typeface="Calibri"/>
              </a:rPr>
              <a:t>daarna draait de zorg in de nieuwbouw</a:t>
            </a:r>
          </a:p>
        </p:txBody>
      </p:sp>
      <p:sp>
        <p:nvSpPr>
          <p:cNvPr id="48" name="Rounded Rectangle 47"/>
          <p:cNvSpPr/>
          <p:nvPr/>
        </p:nvSpPr>
        <p:spPr>
          <a:xfrm>
            <a:off x="502920" y="4498848"/>
            <a:ext cx="11185855" cy="731520"/>
          </a:xfrm>
          <a:prstGeom prst="roundRect">
            <a:avLst>
              <a:gd name="adj" fmla="val 5500"/>
            </a:avLst>
          </a:prstGeom>
          <a:solidFill>
            <a:srgbClr val="E2ECF5"/>
          </a:solidFill>
          <a:ln w="12700">
            <a:solidFill>
              <a:srgbClr val="9AB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Oval 48"/>
          <p:cNvSpPr/>
          <p:nvPr/>
        </p:nvSpPr>
        <p:spPr>
          <a:xfrm>
            <a:off x="676656" y="4709160"/>
            <a:ext cx="310896" cy="310896"/>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FFFFFF"/>
                </a:solidFill>
                <a:latin typeface="Calibri"/>
              </a:rPr>
              <a:t>!</a:t>
            </a:r>
          </a:p>
        </p:txBody>
      </p:sp>
      <p:sp>
        <p:nvSpPr>
          <p:cNvPr id="50" name="TextBox 49"/>
          <p:cNvSpPr txBox="1"/>
          <p:nvPr/>
        </p:nvSpPr>
        <p:spPr>
          <a:xfrm>
            <a:off x="1106424" y="4572000"/>
            <a:ext cx="10362895" cy="585216"/>
          </a:xfrm>
          <a:prstGeom prst="rect">
            <a:avLst/>
          </a:prstGeom>
          <a:noFill/>
        </p:spPr>
        <p:txBody>
          <a:bodyPr wrap="square" lIns="54864" rIns="54864" tIns="18288" bIns="18288" anchor="ctr">
            <a:spAutoFit/>
          </a:bodyPr>
          <a:lstStyle/>
          <a:p>
            <a:pPr algn="l">
              <a:lnSpc>
                <a:spcPct val="120000"/>
              </a:lnSpc>
              <a:spcAft>
                <a:spcPts val="200"/>
              </a:spcAft>
            </a:pPr>
            <a:r>
              <a:rPr sz="850" b="1" i="0">
                <a:solidFill>
                  <a:srgbClr val="1F6FB2"/>
                </a:solidFill>
                <a:latin typeface="Calibri"/>
              </a:rPr>
              <a:t>WAT DIT BETEKENT</a:t>
            </a:r>
          </a:p>
          <a:p>
            <a:pPr algn="l">
              <a:lnSpc>
                <a:spcPct val="120000"/>
              </a:lnSpc>
              <a:spcAft>
                <a:spcPts val="0"/>
              </a:spcAft>
            </a:pPr>
            <a:r>
              <a:rPr sz="1200" b="1" i="0">
                <a:solidFill>
                  <a:srgbClr val="0F1B2D"/>
                </a:solidFill>
                <a:latin typeface="Calibri"/>
              </a:rPr>
              <a:t>In de oudbouw werken de afdelingen al toe naar de nieuwe situatie. Wat schuiven we daar al, en wat pas na de verhuizing?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502920" y="429768"/>
            <a:ext cx="457200" cy="457200"/>
          </a:xfrm>
          <a:prstGeom prst="ellipse">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600" b="1">
                <a:solidFill>
                  <a:srgbClr val="FFFFFF"/>
                </a:solidFill>
                <a:latin typeface="Calibri"/>
              </a:rPr>
              <a:t>6</a:t>
            </a:r>
          </a:p>
        </p:txBody>
      </p:sp>
      <p:sp>
        <p:nvSpPr>
          <p:cNvPr id="4" name="TextBox 3"/>
          <p:cNvSpPr txBox="1"/>
          <p:nvPr/>
        </p:nvSpPr>
        <p:spPr>
          <a:xfrm>
            <a:off x="1106424" y="365760"/>
            <a:ext cx="10582351" cy="402336"/>
          </a:xfrm>
          <a:prstGeom prst="rect">
            <a:avLst/>
          </a:prstGeom>
          <a:noFill/>
        </p:spPr>
        <p:txBody>
          <a:bodyPr wrap="square" lIns="0" rIns="0" tIns="18288" bIns="18288" anchor="ctr">
            <a:spAutoFit/>
          </a:bodyPr>
          <a:lstStyle/>
          <a:p>
            <a:pPr algn="l">
              <a:lnSpc>
                <a:spcPct val="120000"/>
              </a:lnSpc>
              <a:spcAft>
                <a:spcPts val="0"/>
              </a:spcAft>
            </a:pPr>
            <a:r>
              <a:rPr sz="2250" b="1" i="0">
                <a:solidFill>
                  <a:srgbClr val="0F1B2D"/>
                </a:solidFill>
                <a:latin typeface="Calibri"/>
              </a:rPr>
              <a:t>Berekeningen: waar de aantallen vandaan komen</a:t>
            </a:r>
          </a:p>
        </p:txBody>
      </p:sp>
      <p:sp>
        <p:nvSpPr>
          <p:cNvPr id="5" name="TextBox 4"/>
          <p:cNvSpPr txBox="1"/>
          <p:nvPr/>
        </p:nvSpPr>
        <p:spPr>
          <a:xfrm>
            <a:off x="1106424" y="822960"/>
            <a:ext cx="10582351" cy="329184"/>
          </a:xfrm>
          <a:prstGeom prst="rect">
            <a:avLst/>
          </a:prstGeom>
          <a:noFill/>
        </p:spPr>
        <p:txBody>
          <a:bodyPr wrap="square" lIns="0" rIns="0" tIns="18288" bIns="18288" anchor="ctr">
            <a:spAutoFit/>
          </a:bodyPr>
          <a:lstStyle/>
          <a:p>
            <a:pPr algn="l">
              <a:lnSpc>
                <a:spcPct val="120000"/>
              </a:lnSpc>
              <a:spcAft>
                <a:spcPts val="0"/>
              </a:spcAft>
            </a:pPr>
            <a:r>
              <a:rPr sz="1350" b="0" i="0">
                <a:solidFill>
                  <a:srgbClr val="64748B"/>
                </a:solidFill>
                <a:latin typeface="Calibri"/>
              </a:rPr>
              <a:t>Drie onderdelen moeten gereed zijn voordat er gekozen kan worden</a:t>
            </a:r>
          </a:p>
        </p:txBody>
      </p:sp>
      <p:sp>
        <p:nvSpPr>
          <p:cNvPr id="6" name="TextBox 5"/>
          <p:cNvSpPr txBox="1"/>
          <p:nvPr/>
        </p:nvSpPr>
        <p:spPr>
          <a:xfrm>
            <a:off x="502920" y="6419088"/>
            <a:ext cx="5486400" cy="274320"/>
          </a:xfrm>
          <a:prstGeom prst="rect">
            <a:avLst/>
          </a:prstGeom>
          <a:noFill/>
        </p:spPr>
        <p:txBody>
          <a:bodyPr wrap="square" lIns="0" rIns="0" tIns="18288" bIns="18288" anchor="t">
            <a:spAutoFit/>
          </a:bodyPr>
          <a:lstStyle/>
          <a:p>
            <a:pPr algn="l">
              <a:lnSpc>
                <a:spcPct val="120000"/>
              </a:lnSpc>
              <a:spcAft>
                <a:spcPts val="0"/>
              </a:spcAft>
            </a:pPr>
            <a:r>
              <a:rPr sz="900" b="0" i="0">
                <a:solidFill>
                  <a:srgbClr val="64748B"/>
                </a:solidFill>
                <a:latin typeface="Calibri"/>
              </a:rPr>
              <a:t>Acute poort en Hotfloor</a:t>
            </a:r>
          </a:p>
        </p:txBody>
      </p:sp>
      <p:sp>
        <p:nvSpPr>
          <p:cNvPr id="7" name="TextBox 6"/>
          <p:cNvSpPr txBox="1"/>
          <p:nvPr/>
        </p:nvSpPr>
        <p:spPr>
          <a:xfrm>
            <a:off x="10591495" y="6419088"/>
            <a:ext cx="1097280" cy="274320"/>
          </a:xfrm>
          <a:prstGeom prst="rect">
            <a:avLst/>
          </a:prstGeom>
          <a:noFill/>
        </p:spPr>
        <p:txBody>
          <a:bodyPr wrap="square" lIns="0" rIns="0" tIns="18288" bIns="18288" anchor="t">
            <a:spAutoFit/>
          </a:bodyPr>
          <a:lstStyle/>
          <a:p>
            <a:pPr algn="r">
              <a:lnSpc>
                <a:spcPct val="120000"/>
              </a:lnSpc>
              <a:spcAft>
                <a:spcPts val="0"/>
              </a:spcAft>
            </a:pPr>
            <a:r>
              <a:rPr sz="900" b="0" i="0">
                <a:solidFill>
                  <a:srgbClr val="64748B"/>
                </a:solidFill>
                <a:latin typeface="Calibri"/>
              </a:rPr>
              <a:t>6</a:t>
            </a:r>
          </a:p>
        </p:txBody>
      </p:sp>
      <p:sp>
        <p:nvSpPr>
          <p:cNvPr id="8" name="Rounded Rectangle 7"/>
          <p:cNvSpPr/>
          <p:nvPr/>
        </p:nvSpPr>
        <p:spPr>
          <a:xfrm>
            <a:off x="502920" y="1536192"/>
            <a:ext cx="3545738" cy="2834640"/>
          </a:xfrm>
          <a:prstGeom prst="roundRect">
            <a:avLst>
              <a:gd name="adj" fmla="val 5500"/>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713232" y="1764792"/>
            <a:ext cx="566928" cy="56692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900" b="1">
                <a:solidFill>
                  <a:srgbClr val="FFFFFF"/>
                </a:solidFill>
                <a:latin typeface="Calibri"/>
              </a:rPr>
              <a:t>1</a:t>
            </a:r>
          </a:p>
        </p:txBody>
      </p:sp>
      <p:sp>
        <p:nvSpPr>
          <p:cNvPr id="10" name="TextBox 9"/>
          <p:cNvSpPr txBox="1"/>
          <p:nvPr/>
        </p:nvSpPr>
        <p:spPr>
          <a:xfrm>
            <a:off x="722376" y="2487168"/>
            <a:ext cx="3106826" cy="731520"/>
          </a:xfrm>
          <a:prstGeom prst="rect">
            <a:avLst/>
          </a:prstGeom>
          <a:noFill/>
        </p:spPr>
        <p:txBody>
          <a:bodyPr wrap="square" lIns="54864" rIns="54864" tIns="18288" bIns="18288" anchor="t">
            <a:spAutoFit/>
          </a:bodyPr>
          <a:lstStyle/>
          <a:p>
            <a:pPr algn="l">
              <a:lnSpc>
                <a:spcPct val="120000"/>
              </a:lnSpc>
              <a:spcAft>
                <a:spcPts val="200"/>
              </a:spcAft>
            </a:pPr>
            <a:r>
              <a:rPr sz="1700" b="1" i="0">
                <a:solidFill>
                  <a:srgbClr val="1F6FB2"/>
                </a:solidFill>
                <a:latin typeface="Calibri"/>
              </a:rPr>
              <a:t>Aantal bedden</a:t>
            </a:r>
          </a:p>
          <a:p>
            <a:pPr algn="l">
              <a:lnSpc>
                <a:spcPct val="120000"/>
              </a:lnSpc>
              <a:spcAft>
                <a:spcPts val="0"/>
              </a:spcAft>
            </a:pPr>
            <a:r>
              <a:rPr sz="1150" b="0" i="0">
                <a:solidFill>
                  <a:srgbClr val="64748B"/>
                </a:solidFill>
                <a:latin typeface="Calibri"/>
              </a:rPr>
              <a:t>op basis van patiëntaanwezigheid</a:t>
            </a:r>
          </a:p>
        </p:txBody>
      </p:sp>
      <p:sp>
        <p:nvSpPr>
          <p:cNvPr id="11" name="TextBox 10"/>
          <p:cNvSpPr txBox="1"/>
          <p:nvPr/>
        </p:nvSpPr>
        <p:spPr>
          <a:xfrm>
            <a:off x="722376" y="3273552"/>
            <a:ext cx="3106826" cy="914400"/>
          </a:xfrm>
          <a:prstGeom prst="rect">
            <a:avLst/>
          </a:prstGeom>
          <a:noFill/>
        </p:spPr>
        <p:txBody>
          <a:bodyPr wrap="square" lIns="54864" rIns="54864" tIns="18288" bIns="18288" anchor="t">
            <a:spAutoFit/>
          </a:bodyPr>
          <a:lstStyle/>
          <a:p>
            <a:pPr algn="l">
              <a:lnSpc>
                <a:spcPct val="125000"/>
              </a:lnSpc>
              <a:spcAft>
                <a:spcPts val="0"/>
              </a:spcAft>
            </a:pPr>
            <a:r>
              <a:rPr sz="1200" b="0" i="0">
                <a:solidFill>
                  <a:srgbClr val="0F1B2D"/>
                </a:solidFill>
                <a:latin typeface="Calibri"/>
              </a:rPr>
              <a:t>Per afdeling apart geteld, uitgesplitst naar patientstroom. Zie de volgende dia.</a:t>
            </a:r>
          </a:p>
        </p:txBody>
      </p:sp>
      <p:sp>
        <p:nvSpPr>
          <p:cNvPr id="12" name="Rounded Rectangle 11"/>
          <p:cNvSpPr/>
          <p:nvPr/>
        </p:nvSpPr>
        <p:spPr>
          <a:xfrm>
            <a:off x="4322978" y="1536192"/>
            <a:ext cx="3545738" cy="2834640"/>
          </a:xfrm>
          <a:prstGeom prst="roundRect">
            <a:avLst>
              <a:gd name="adj" fmla="val 5500"/>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4533290" y="1764792"/>
            <a:ext cx="566928" cy="566928"/>
          </a:xfrm>
          <a:prstGeom prst="ellipse">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900" b="1">
                <a:solidFill>
                  <a:srgbClr val="FFFFFF"/>
                </a:solidFill>
                <a:latin typeface="Calibri"/>
              </a:rPr>
              <a:t>2</a:t>
            </a:r>
          </a:p>
        </p:txBody>
      </p:sp>
      <p:sp>
        <p:nvSpPr>
          <p:cNvPr id="14" name="TextBox 13"/>
          <p:cNvSpPr txBox="1"/>
          <p:nvPr/>
        </p:nvSpPr>
        <p:spPr>
          <a:xfrm>
            <a:off x="4542434" y="2487168"/>
            <a:ext cx="3106826" cy="731520"/>
          </a:xfrm>
          <a:prstGeom prst="rect">
            <a:avLst/>
          </a:prstGeom>
          <a:noFill/>
        </p:spPr>
        <p:txBody>
          <a:bodyPr wrap="square" lIns="54864" rIns="54864" tIns="18288" bIns="18288" anchor="t">
            <a:spAutoFit/>
          </a:bodyPr>
          <a:lstStyle/>
          <a:p>
            <a:pPr algn="l">
              <a:lnSpc>
                <a:spcPct val="120000"/>
              </a:lnSpc>
              <a:spcAft>
                <a:spcPts val="200"/>
              </a:spcAft>
            </a:pPr>
            <a:r>
              <a:rPr sz="1650" b="1" i="0">
                <a:solidFill>
                  <a:srgbClr val="6B4BA8"/>
                </a:solidFill>
                <a:latin typeface="Calibri"/>
              </a:rPr>
              <a:t>Norm verpleegkundigen</a:t>
            </a:r>
          </a:p>
          <a:p>
            <a:pPr algn="l">
              <a:lnSpc>
                <a:spcPct val="120000"/>
              </a:lnSpc>
              <a:spcAft>
                <a:spcPts val="0"/>
              </a:spcAft>
            </a:pPr>
            <a:r>
              <a:rPr sz="1100" b="0" i="0">
                <a:solidFill>
                  <a:srgbClr val="64748B"/>
                </a:solidFill>
                <a:latin typeface="Calibri"/>
              </a:rPr>
              <a:t>patiëntenzorg gereed</a:t>
            </a:r>
          </a:p>
        </p:txBody>
      </p:sp>
      <p:sp>
        <p:nvSpPr>
          <p:cNvPr id="15" name="TextBox 14"/>
          <p:cNvSpPr txBox="1"/>
          <p:nvPr/>
        </p:nvSpPr>
        <p:spPr>
          <a:xfrm>
            <a:off x="4542434" y="3273552"/>
            <a:ext cx="3106826" cy="914400"/>
          </a:xfrm>
          <a:prstGeom prst="rect">
            <a:avLst/>
          </a:prstGeom>
          <a:noFill/>
        </p:spPr>
        <p:txBody>
          <a:bodyPr wrap="square" lIns="54864" rIns="54864" tIns="18288" bIns="18288" anchor="t">
            <a:spAutoFit/>
          </a:bodyPr>
          <a:lstStyle/>
          <a:p>
            <a:pPr algn="l">
              <a:lnSpc>
                <a:spcPct val="125000"/>
              </a:lnSpc>
              <a:spcAft>
                <a:spcPts val="0"/>
              </a:spcAft>
            </a:pPr>
            <a:r>
              <a:rPr sz="1200" b="0" i="0">
                <a:solidFill>
                  <a:srgbClr val="0F1B2D"/>
                </a:solidFill>
                <a:latin typeface="Calibri"/>
              </a:rPr>
              <a:t>Uitgesplitst naar dagdienst, laatdienst en nachtdienst. De waarden moeten nog ingevuld worden.</a:t>
            </a:r>
          </a:p>
        </p:txBody>
      </p:sp>
      <p:sp>
        <p:nvSpPr>
          <p:cNvPr id="16" name="Rounded Rectangle 15"/>
          <p:cNvSpPr/>
          <p:nvPr/>
        </p:nvSpPr>
        <p:spPr>
          <a:xfrm>
            <a:off x="8143036" y="1536192"/>
            <a:ext cx="3545738" cy="2834640"/>
          </a:xfrm>
          <a:prstGeom prst="roundRect">
            <a:avLst>
              <a:gd name="adj" fmla="val 5500"/>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8353348" y="1764792"/>
            <a:ext cx="566928" cy="56692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900" b="1">
                <a:solidFill>
                  <a:srgbClr val="FFFFFF"/>
                </a:solidFill>
                <a:latin typeface="Calibri"/>
              </a:rPr>
              <a:t>3</a:t>
            </a:r>
          </a:p>
        </p:txBody>
      </p:sp>
      <p:sp>
        <p:nvSpPr>
          <p:cNvPr id="18" name="TextBox 17"/>
          <p:cNvSpPr txBox="1"/>
          <p:nvPr/>
        </p:nvSpPr>
        <p:spPr>
          <a:xfrm>
            <a:off x="8362492" y="2487168"/>
            <a:ext cx="3106826" cy="731520"/>
          </a:xfrm>
          <a:prstGeom prst="rect">
            <a:avLst/>
          </a:prstGeom>
          <a:noFill/>
        </p:spPr>
        <p:txBody>
          <a:bodyPr wrap="square" lIns="54864" rIns="54864" tIns="18288" bIns="18288" anchor="t">
            <a:spAutoFit/>
          </a:bodyPr>
          <a:lstStyle/>
          <a:p>
            <a:pPr algn="l">
              <a:lnSpc>
                <a:spcPct val="120000"/>
              </a:lnSpc>
              <a:spcAft>
                <a:spcPts val="200"/>
              </a:spcAft>
            </a:pPr>
            <a:r>
              <a:rPr sz="1700" b="1" i="0">
                <a:solidFill>
                  <a:srgbClr val="0E9A87"/>
                </a:solidFill>
                <a:latin typeface="Calibri"/>
              </a:rPr>
              <a:t>Indirecte uren</a:t>
            </a:r>
          </a:p>
          <a:p>
            <a:pPr algn="l">
              <a:lnSpc>
                <a:spcPct val="120000"/>
              </a:lnSpc>
              <a:spcAft>
                <a:spcPts val="0"/>
              </a:spcAft>
            </a:pPr>
            <a:r>
              <a:rPr sz="1150" b="0" i="0">
                <a:solidFill>
                  <a:srgbClr val="64748B"/>
                </a:solidFill>
                <a:latin typeface="Calibri"/>
              </a:rPr>
              <a:t>per afdeling gereed</a:t>
            </a:r>
          </a:p>
        </p:txBody>
      </p:sp>
      <p:sp>
        <p:nvSpPr>
          <p:cNvPr id="19" name="TextBox 18"/>
          <p:cNvSpPr txBox="1"/>
          <p:nvPr/>
        </p:nvSpPr>
        <p:spPr>
          <a:xfrm>
            <a:off x="8362492" y="3273552"/>
            <a:ext cx="3106826" cy="914400"/>
          </a:xfrm>
          <a:prstGeom prst="rect">
            <a:avLst/>
          </a:prstGeom>
          <a:noFill/>
        </p:spPr>
        <p:txBody>
          <a:bodyPr wrap="square" lIns="54864" rIns="54864" tIns="18288" bIns="18288" anchor="t">
            <a:spAutoFit/>
          </a:bodyPr>
          <a:lstStyle/>
          <a:p>
            <a:pPr algn="l">
              <a:lnSpc>
                <a:spcPct val="125000"/>
              </a:lnSpc>
              <a:spcAft>
                <a:spcPts val="0"/>
              </a:spcAft>
            </a:pPr>
            <a:r>
              <a:rPr sz="1200" b="0" i="0">
                <a:solidFill>
                  <a:srgbClr val="0F1B2D"/>
                </a:solidFill>
                <a:latin typeface="Calibri"/>
              </a:rPr>
              <a:t>Per afdeling in beeld gebracht. De oude begroting loopt sterk uiteen: wat houden we aan?</a:t>
            </a:r>
          </a:p>
        </p:txBody>
      </p:sp>
      <p:sp>
        <p:nvSpPr>
          <p:cNvPr id="20" name="Oval 19"/>
          <p:cNvSpPr/>
          <p:nvPr/>
        </p:nvSpPr>
        <p:spPr>
          <a:xfrm>
            <a:off x="4579010" y="4535424"/>
            <a:ext cx="402336" cy="402336"/>
          </a:xfrm>
          <a:prstGeom prst="ellipse">
            <a:avLst/>
          </a:prstGeom>
          <a:solidFill>
            <a:srgbClr val="E7E2F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a:solidFill>
                  <a:srgbClr val="6B4BA8"/>
                </a:solidFill>
                <a:latin typeface="Calibri"/>
              </a:rPr>
              <a:t>D</a:t>
            </a:r>
          </a:p>
        </p:txBody>
      </p:sp>
      <p:sp>
        <p:nvSpPr>
          <p:cNvPr id="21" name="Oval 20"/>
          <p:cNvSpPr/>
          <p:nvPr/>
        </p:nvSpPr>
        <p:spPr>
          <a:xfrm>
            <a:off x="5091074" y="4535424"/>
            <a:ext cx="402336" cy="402336"/>
          </a:xfrm>
          <a:prstGeom prst="ellipse">
            <a:avLst/>
          </a:prstGeom>
          <a:solidFill>
            <a:srgbClr val="E7E2F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a:solidFill>
                  <a:srgbClr val="6B4BA8"/>
                </a:solidFill>
                <a:latin typeface="Calibri"/>
              </a:rPr>
              <a:t>L</a:t>
            </a:r>
          </a:p>
        </p:txBody>
      </p:sp>
      <p:sp>
        <p:nvSpPr>
          <p:cNvPr id="22" name="Oval 21"/>
          <p:cNvSpPr/>
          <p:nvPr/>
        </p:nvSpPr>
        <p:spPr>
          <a:xfrm>
            <a:off x="5603138" y="4535424"/>
            <a:ext cx="402336" cy="402336"/>
          </a:xfrm>
          <a:prstGeom prst="ellipse">
            <a:avLst/>
          </a:prstGeom>
          <a:solidFill>
            <a:srgbClr val="E7E2F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a:solidFill>
                  <a:srgbClr val="6B4BA8"/>
                </a:solidFill>
                <a:latin typeface="Calibri"/>
              </a:rPr>
              <a:t>N</a:t>
            </a:r>
          </a:p>
        </p:txBody>
      </p:sp>
      <p:sp>
        <p:nvSpPr>
          <p:cNvPr id="23" name="TextBox 22"/>
          <p:cNvSpPr txBox="1"/>
          <p:nvPr/>
        </p:nvSpPr>
        <p:spPr>
          <a:xfrm>
            <a:off x="6426098" y="4553712"/>
            <a:ext cx="2194560" cy="384048"/>
          </a:xfrm>
          <a:prstGeom prst="rect">
            <a:avLst/>
          </a:prstGeom>
          <a:noFill/>
        </p:spPr>
        <p:txBody>
          <a:bodyPr wrap="square" lIns="54864" rIns="54864" tIns="18288" bIns="18288" anchor="ctr">
            <a:spAutoFit/>
          </a:bodyPr>
          <a:lstStyle/>
          <a:p>
            <a:pPr algn="l">
              <a:lnSpc>
                <a:spcPct val="120000"/>
              </a:lnSpc>
              <a:spcAft>
                <a:spcPts val="0"/>
              </a:spcAft>
            </a:pPr>
            <a:r>
              <a:rPr sz="1100" b="0" i="0">
                <a:solidFill>
                  <a:srgbClr val="64748B"/>
                </a:solidFill>
                <a:latin typeface="Calibri"/>
              </a:rPr>
              <a:t>nog in te vullen</a:t>
            </a:r>
          </a:p>
        </p:txBody>
      </p:sp>
      <p:sp>
        <p:nvSpPr>
          <p:cNvPr id="24" name="Rounded Rectangle 23"/>
          <p:cNvSpPr/>
          <p:nvPr/>
        </p:nvSpPr>
        <p:spPr>
          <a:xfrm>
            <a:off x="502920" y="5193792"/>
            <a:ext cx="11185855" cy="731520"/>
          </a:xfrm>
          <a:prstGeom prst="roundRect">
            <a:avLst>
              <a:gd name="adj" fmla="val 5500"/>
            </a:avLst>
          </a:prstGeom>
          <a:solidFill>
            <a:srgbClr val="F7E5E4"/>
          </a:solidFill>
          <a:ln w="12700">
            <a:solidFill>
              <a:srgbClr val="E4A6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676656" y="5404104"/>
            <a:ext cx="310896" cy="310896"/>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FFFFFF"/>
                </a:solidFill>
                <a:latin typeface="Calibri"/>
              </a:rPr>
              <a:t>!</a:t>
            </a:r>
          </a:p>
        </p:txBody>
      </p:sp>
      <p:sp>
        <p:nvSpPr>
          <p:cNvPr id="26" name="TextBox 25"/>
          <p:cNvSpPr txBox="1"/>
          <p:nvPr/>
        </p:nvSpPr>
        <p:spPr>
          <a:xfrm>
            <a:off x="1106424" y="5266944"/>
            <a:ext cx="10362895" cy="585216"/>
          </a:xfrm>
          <a:prstGeom prst="rect">
            <a:avLst/>
          </a:prstGeom>
          <a:noFill/>
        </p:spPr>
        <p:txBody>
          <a:bodyPr wrap="square" lIns="54864" rIns="54864" tIns="18288" bIns="18288" anchor="ctr">
            <a:spAutoFit/>
          </a:bodyPr>
          <a:lstStyle/>
          <a:p>
            <a:pPr algn="l">
              <a:lnSpc>
                <a:spcPct val="120000"/>
              </a:lnSpc>
              <a:spcAft>
                <a:spcPts val="200"/>
              </a:spcAft>
            </a:pPr>
            <a:r>
              <a:rPr sz="850" b="1" i="0">
                <a:solidFill>
                  <a:srgbClr val="C4392D"/>
                </a:solidFill>
                <a:latin typeface="Calibri"/>
              </a:rPr>
              <a:t>BLOKKERENDE VRAAG</a:t>
            </a:r>
          </a:p>
          <a:p>
            <a:pPr algn="l">
              <a:lnSpc>
                <a:spcPct val="120000"/>
              </a:lnSpc>
              <a:spcAft>
                <a:spcPts val="0"/>
              </a:spcAft>
            </a:pPr>
            <a:r>
              <a:rPr sz="1200" b="1" i="0">
                <a:solidFill>
                  <a:srgbClr val="0F1B2D"/>
                </a:solidFill>
                <a:latin typeface="Calibri"/>
              </a:rPr>
              <a:t>De norm verpleegkundigen is voor geen enkele afdeling vastgesteld. Doet Remco die uitspraak, of leggen we de huidige inzet aan hem voor?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502920" y="429768"/>
            <a:ext cx="457200" cy="457200"/>
          </a:xfrm>
          <a:prstGeom prst="ellipse">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600" b="1">
                <a:solidFill>
                  <a:srgbClr val="FFFFFF"/>
                </a:solidFill>
                <a:latin typeface="Calibri"/>
              </a:rPr>
              <a:t>7</a:t>
            </a:r>
          </a:p>
        </p:txBody>
      </p:sp>
      <p:sp>
        <p:nvSpPr>
          <p:cNvPr id="4" name="TextBox 3"/>
          <p:cNvSpPr txBox="1"/>
          <p:nvPr/>
        </p:nvSpPr>
        <p:spPr>
          <a:xfrm>
            <a:off x="1106424" y="365760"/>
            <a:ext cx="10582351" cy="402336"/>
          </a:xfrm>
          <a:prstGeom prst="rect">
            <a:avLst/>
          </a:prstGeom>
          <a:noFill/>
        </p:spPr>
        <p:txBody>
          <a:bodyPr wrap="square" lIns="0" rIns="0" tIns="18288" bIns="18288" anchor="ctr">
            <a:spAutoFit/>
          </a:bodyPr>
          <a:lstStyle/>
          <a:p>
            <a:pPr algn="l">
              <a:lnSpc>
                <a:spcPct val="120000"/>
              </a:lnSpc>
              <a:spcAft>
                <a:spcPts val="0"/>
              </a:spcAft>
            </a:pPr>
            <a:r>
              <a:rPr sz="2250" b="1" i="0">
                <a:solidFill>
                  <a:srgbClr val="0F1B2D"/>
                </a:solidFill>
                <a:latin typeface="Calibri"/>
              </a:rPr>
              <a:t>Welke patiëntstromen tellen mee</a:t>
            </a:r>
          </a:p>
        </p:txBody>
      </p:sp>
      <p:sp>
        <p:nvSpPr>
          <p:cNvPr id="5" name="TextBox 4"/>
          <p:cNvSpPr txBox="1"/>
          <p:nvPr/>
        </p:nvSpPr>
        <p:spPr>
          <a:xfrm>
            <a:off x="1106424" y="822960"/>
            <a:ext cx="10582351" cy="329184"/>
          </a:xfrm>
          <a:prstGeom prst="rect">
            <a:avLst/>
          </a:prstGeom>
          <a:noFill/>
        </p:spPr>
        <p:txBody>
          <a:bodyPr wrap="square" lIns="0" rIns="0" tIns="18288" bIns="18288" anchor="ctr">
            <a:spAutoFit/>
          </a:bodyPr>
          <a:lstStyle/>
          <a:p>
            <a:pPr algn="l">
              <a:lnSpc>
                <a:spcPct val="120000"/>
              </a:lnSpc>
              <a:spcAft>
                <a:spcPts val="0"/>
              </a:spcAft>
            </a:pPr>
            <a:r>
              <a:rPr sz="1350" b="0" i="0">
                <a:solidFill>
                  <a:srgbClr val="64748B"/>
                </a:solidFill>
                <a:latin typeface="Calibri"/>
              </a:rPr>
              <a:t>Per afdeling apart geteld, omdat de specialismen nu gescheiden werken</a:t>
            </a:r>
          </a:p>
        </p:txBody>
      </p:sp>
      <p:sp>
        <p:nvSpPr>
          <p:cNvPr id="6" name="TextBox 5"/>
          <p:cNvSpPr txBox="1"/>
          <p:nvPr/>
        </p:nvSpPr>
        <p:spPr>
          <a:xfrm>
            <a:off x="502920" y="6419088"/>
            <a:ext cx="5486400" cy="274320"/>
          </a:xfrm>
          <a:prstGeom prst="rect">
            <a:avLst/>
          </a:prstGeom>
          <a:noFill/>
        </p:spPr>
        <p:txBody>
          <a:bodyPr wrap="square" lIns="0" rIns="0" tIns="18288" bIns="18288" anchor="t">
            <a:spAutoFit/>
          </a:bodyPr>
          <a:lstStyle/>
          <a:p>
            <a:pPr algn="l">
              <a:lnSpc>
                <a:spcPct val="120000"/>
              </a:lnSpc>
              <a:spcAft>
                <a:spcPts val="0"/>
              </a:spcAft>
            </a:pPr>
            <a:r>
              <a:rPr sz="900" b="0" i="0">
                <a:solidFill>
                  <a:srgbClr val="64748B"/>
                </a:solidFill>
                <a:latin typeface="Calibri"/>
              </a:rPr>
              <a:t>Acute poort en Hotfloor</a:t>
            </a:r>
          </a:p>
        </p:txBody>
      </p:sp>
      <p:sp>
        <p:nvSpPr>
          <p:cNvPr id="7" name="TextBox 6"/>
          <p:cNvSpPr txBox="1"/>
          <p:nvPr/>
        </p:nvSpPr>
        <p:spPr>
          <a:xfrm>
            <a:off x="10591495" y="6419088"/>
            <a:ext cx="1097280" cy="274320"/>
          </a:xfrm>
          <a:prstGeom prst="rect">
            <a:avLst/>
          </a:prstGeom>
          <a:noFill/>
        </p:spPr>
        <p:txBody>
          <a:bodyPr wrap="square" lIns="0" rIns="0" tIns="18288" bIns="18288" anchor="t">
            <a:spAutoFit/>
          </a:bodyPr>
          <a:lstStyle/>
          <a:p>
            <a:pPr algn="r">
              <a:lnSpc>
                <a:spcPct val="120000"/>
              </a:lnSpc>
              <a:spcAft>
                <a:spcPts val="0"/>
              </a:spcAft>
            </a:pPr>
            <a:r>
              <a:rPr sz="900" b="0" i="0">
                <a:solidFill>
                  <a:srgbClr val="64748B"/>
                </a:solidFill>
                <a:latin typeface="Calibri"/>
              </a:rPr>
              <a:t>7</a:t>
            </a:r>
          </a:p>
        </p:txBody>
      </p:sp>
      <p:sp>
        <p:nvSpPr>
          <p:cNvPr id="8" name="Rounded Rectangle 7"/>
          <p:cNvSpPr/>
          <p:nvPr/>
        </p:nvSpPr>
        <p:spPr>
          <a:xfrm>
            <a:off x="502920" y="1554480"/>
            <a:ext cx="1371600" cy="512064"/>
          </a:xfrm>
          <a:prstGeom prst="roundRect">
            <a:avLst>
              <a:gd name="adj" fmla="val 55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02920" y="1591056"/>
            <a:ext cx="1371600" cy="438912"/>
          </a:xfrm>
          <a:prstGeom prst="rect">
            <a:avLst/>
          </a:prstGeom>
          <a:noFill/>
        </p:spPr>
        <p:txBody>
          <a:bodyPr wrap="square" lIns="0" rIns="0" tIns="18288" bIns="18288" anchor="ctr">
            <a:spAutoFit/>
          </a:bodyPr>
          <a:lstStyle/>
          <a:p>
            <a:pPr algn="ctr">
              <a:lnSpc>
                <a:spcPct val="120000"/>
              </a:lnSpc>
              <a:spcAft>
                <a:spcPts val="0"/>
              </a:spcAft>
            </a:pPr>
            <a:r>
              <a:rPr sz="1500" b="1" i="0">
                <a:solidFill>
                  <a:srgbClr val="FFFFFF"/>
                </a:solidFill>
                <a:latin typeface="Calibri"/>
              </a:rPr>
              <a:t>ICU</a:t>
            </a:r>
          </a:p>
        </p:txBody>
      </p:sp>
      <p:sp>
        <p:nvSpPr>
          <p:cNvPr id="10" name="Right Arrow 9"/>
          <p:cNvSpPr/>
          <p:nvPr/>
        </p:nvSpPr>
        <p:spPr>
          <a:xfrm>
            <a:off x="1819656" y="1700784"/>
            <a:ext cx="201168" cy="219456"/>
          </a:xfrm>
          <a:prstGeom prst="rightArrow">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075688" y="1554480"/>
            <a:ext cx="1371600" cy="512064"/>
          </a:xfrm>
          <a:prstGeom prst="roundRect">
            <a:avLst>
              <a:gd name="adj" fmla="val 50000"/>
            </a:avLst>
          </a:prstGeom>
          <a:solidFill>
            <a:srgbClr val="FFFFFF"/>
          </a:solidFill>
          <a:ln w="12700">
            <a:solidFill>
              <a:srgbClr val="9ABED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200" b="0">
                <a:solidFill>
                  <a:srgbClr val="0F1B2D"/>
                </a:solidFill>
                <a:latin typeface="Calibri"/>
              </a:rPr>
              <a:t>spoed</a:t>
            </a:r>
          </a:p>
        </p:txBody>
      </p:sp>
      <p:sp>
        <p:nvSpPr>
          <p:cNvPr id="12" name="Right Arrow 11"/>
          <p:cNvSpPr/>
          <p:nvPr/>
        </p:nvSpPr>
        <p:spPr>
          <a:xfrm>
            <a:off x="3502152" y="1700784"/>
            <a:ext cx="201168" cy="219456"/>
          </a:xfrm>
          <a:prstGeom prst="rightArrow">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758184" y="1554480"/>
            <a:ext cx="1371600" cy="512064"/>
          </a:xfrm>
          <a:prstGeom prst="roundRect">
            <a:avLst>
              <a:gd name="adj" fmla="val 50000"/>
            </a:avLst>
          </a:prstGeom>
          <a:solidFill>
            <a:srgbClr val="FFFFFF"/>
          </a:solidFill>
          <a:ln w="12700">
            <a:solidFill>
              <a:srgbClr val="9ABED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200" b="0">
                <a:solidFill>
                  <a:srgbClr val="0F1B2D"/>
                </a:solidFill>
                <a:latin typeface="Calibri"/>
              </a:rPr>
              <a:t>electief</a:t>
            </a:r>
          </a:p>
        </p:txBody>
      </p:sp>
      <p:sp>
        <p:nvSpPr>
          <p:cNvPr id="14" name="Right Arrow 13"/>
          <p:cNvSpPr/>
          <p:nvPr/>
        </p:nvSpPr>
        <p:spPr>
          <a:xfrm>
            <a:off x="5184648" y="1700784"/>
            <a:ext cx="201168" cy="219456"/>
          </a:xfrm>
          <a:prstGeom prst="rightArrow">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440680" y="1554480"/>
            <a:ext cx="1371600" cy="512064"/>
          </a:xfrm>
          <a:prstGeom prst="roundRect">
            <a:avLst>
              <a:gd name="adj" fmla="val 50000"/>
            </a:avLst>
          </a:prstGeom>
          <a:solidFill>
            <a:srgbClr val="FFFFFF"/>
          </a:solidFill>
          <a:ln w="12700">
            <a:solidFill>
              <a:srgbClr val="9ABED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200" b="0">
                <a:solidFill>
                  <a:srgbClr val="0F1B2D"/>
                </a:solidFill>
                <a:latin typeface="Calibri"/>
              </a:rPr>
              <a:t>recovery</a:t>
            </a:r>
          </a:p>
        </p:txBody>
      </p:sp>
      <p:sp>
        <p:nvSpPr>
          <p:cNvPr id="16" name="Rounded Rectangle 15"/>
          <p:cNvSpPr/>
          <p:nvPr/>
        </p:nvSpPr>
        <p:spPr>
          <a:xfrm>
            <a:off x="502920" y="2212848"/>
            <a:ext cx="1371600" cy="512064"/>
          </a:xfrm>
          <a:prstGeom prst="roundRect">
            <a:avLst>
              <a:gd name="adj" fmla="val 5500"/>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02920" y="2249424"/>
            <a:ext cx="1371600" cy="438912"/>
          </a:xfrm>
          <a:prstGeom prst="rect">
            <a:avLst/>
          </a:prstGeom>
          <a:noFill/>
        </p:spPr>
        <p:txBody>
          <a:bodyPr wrap="square" lIns="0" rIns="0" tIns="18288" bIns="18288" anchor="ctr">
            <a:spAutoFit/>
          </a:bodyPr>
          <a:lstStyle/>
          <a:p>
            <a:pPr algn="ctr">
              <a:lnSpc>
                <a:spcPct val="120000"/>
              </a:lnSpc>
              <a:spcAft>
                <a:spcPts val="0"/>
              </a:spcAft>
            </a:pPr>
            <a:r>
              <a:rPr sz="1500" b="1" i="0">
                <a:solidFill>
                  <a:srgbClr val="FFFFFF"/>
                </a:solidFill>
                <a:latin typeface="Calibri"/>
              </a:rPr>
              <a:t>CCU</a:t>
            </a:r>
          </a:p>
        </p:txBody>
      </p:sp>
      <p:sp>
        <p:nvSpPr>
          <p:cNvPr id="18" name="Right Arrow 17"/>
          <p:cNvSpPr/>
          <p:nvPr/>
        </p:nvSpPr>
        <p:spPr>
          <a:xfrm>
            <a:off x="1819656" y="2359152"/>
            <a:ext cx="201168" cy="219456"/>
          </a:xfrm>
          <a:prstGeom prst="rightArrow">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075688" y="2212848"/>
            <a:ext cx="1371600" cy="512064"/>
          </a:xfrm>
          <a:prstGeom prst="roundRect">
            <a:avLst>
              <a:gd name="adj" fmla="val 50000"/>
            </a:avLst>
          </a:prstGeom>
          <a:solidFill>
            <a:srgbClr val="FFFFFF"/>
          </a:solidFill>
          <a:ln w="12700">
            <a:solidFill>
              <a:srgbClr val="BCAED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200" b="0">
                <a:solidFill>
                  <a:srgbClr val="0F1B2D"/>
                </a:solidFill>
                <a:latin typeface="Calibri"/>
              </a:rPr>
              <a:t>spoed</a:t>
            </a:r>
          </a:p>
        </p:txBody>
      </p:sp>
      <p:sp>
        <p:nvSpPr>
          <p:cNvPr id="20" name="Right Arrow 19"/>
          <p:cNvSpPr/>
          <p:nvPr/>
        </p:nvSpPr>
        <p:spPr>
          <a:xfrm>
            <a:off x="3502152" y="2359152"/>
            <a:ext cx="201168" cy="219456"/>
          </a:xfrm>
          <a:prstGeom prst="rightArrow">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3758184" y="2212848"/>
            <a:ext cx="1389888" cy="512064"/>
          </a:xfrm>
          <a:prstGeom prst="roundRect">
            <a:avLst>
              <a:gd name="adj" fmla="val 50000"/>
            </a:avLst>
          </a:prstGeom>
          <a:solidFill>
            <a:srgbClr val="FFFFFF"/>
          </a:solidFill>
          <a:ln w="12700">
            <a:solidFill>
              <a:srgbClr val="BCAED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200" b="0">
                <a:solidFill>
                  <a:srgbClr val="0F1B2D"/>
                </a:solidFill>
                <a:latin typeface="Calibri"/>
              </a:rPr>
              <a:t>cardioversie</a:t>
            </a:r>
          </a:p>
        </p:txBody>
      </p:sp>
      <p:sp>
        <p:nvSpPr>
          <p:cNvPr id="22" name="Rounded Rectangle 21"/>
          <p:cNvSpPr/>
          <p:nvPr/>
        </p:nvSpPr>
        <p:spPr>
          <a:xfrm>
            <a:off x="502920" y="2871216"/>
            <a:ext cx="1371600" cy="512064"/>
          </a:xfrm>
          <a:prstGeom prst="roundRect">
            <a:avLst>
              <a:gd name="adj" fmla="val 55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02920" y="2907792"/>
            <a:ext cx="1371600" cy="438912"/>
          </a:xfrm>
          <a:prstGeom prst="rect">
            <a:avLst/>
          </a:prstGeom>
          <a:noFill/>
        </p:spPr>
        <p:txBody>
          <a:bodyPr wrap="square" lIns="0" rIns="0" tIns="18288" bIns="18288" anchor="ctr">
            <a:spAutoFit/>
          </a:bodyPr>
          <a:lstStyle/>
          <a:p>
            <a:pPr algn="ctr">
              <a:lnSpc>
                <a:spcPct val="120000"/>
              </a:lnSpc>
              <a:spcAft>
                <a:spcPts val="0"/>
              </a:spcAft>
            </a:pPr>
            <a:r>
              <a:rPr sz="1500" b="1" i="0">
                <a:solidFill>
                  <a:srgbClr val="FFFFFF"/>
                </a:solidFill>
                <a:latin typeface="Calibri"/>
              </a:rPr>
              <a:t>SCU</a:t>
            </a:r>
          </a:p>
        </p:txBody>
      </p:sp>
      <p:sp>
        <p:nvSpPr>
          <p:cNvPr id="24" name="Right Arrow 23"/>
          <p:cNvSpPr/>
          <p:nvPr/>
        </p:nvSpPr>
        <p:spPr>
          <a:xfrm>
            <a:off x="1819656" y="3017520"/>
            <a:ext cx="201168" cy="219456"/>
          </a:xfrm>
          <a:prstGeom prst="rightArrow">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075688" y="2871216"/>
            <a:ext cx="1371600" cy="512064"/>
          </a:xfrm>
          <a:prstGeom prst="roundRect">
            <a:avLst>
              <a:gd name="adj" fmla="val 50000"/>
            </a:avLst>
          </a:prstGeom>
          <a:solidFill>
            <a:srgbClr val="FFFFFF"/>
          </a:solidFill>
          <a:ln w="12700">
            <a:solidFill>
              <a:srgbClr val="93D2C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200" b="0">
                <a:solidFill>
                  <a:srgbClr val="0F1B2D"/>
                </a:solidFill>
                <a:latin typeface="Calibri"/>
              </a:rPr>
              <a:t>spoed</a:t>
            </a:r>
          </a:p>
        </p:txBody>
      </p:sp>
      <p:sp>
        <p:nvSpPr>
          <p:cNvPr id="26" name="Rounded Rectangle 25"/>
          <p:cNvSpPr/>
          <p:nvPr/>
        </p:nvSpPr>
        <p:spPr>
          <a:xfrm>
            <a:off x="502920" y="3529584"/>
            <a:ext cx="1371600" cy="512064"/>
          </a:xfrm>
          <a:prstGeom prst="roundRect">
            <a:avLst>
              <a:gd name="adj" fmla="val 5500"/>
            </a:avLst>
          </a:prstGeom>
          <a:solidFill>
            <a:srgbClr val="DE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02920" y="3566160"/>
            <a:ext cx="1371600" cy="438912"/>
          </a:xfrm>
          <a:prstGeom prst="rect">
            <a:avLst/>
          </a:prstGeom>
          <a:noFill/>
        </p:spPr>
        <p:txBody>
          <a:bodyPr wrap="square" lIns="0" rIns="0" tIns="18288" bIns="18288" anchor="ctr">
            <a:spAutoFit/>
          </a:bodyPr>
          <a:lstStyle/>
          <a:p>
            <a:pPr algn="ctr">
              <a:lnSpc>
                <a:spcPct val="120000"/>
              </a:lnSpc>
              <a:spcAft>
                <a:spcPts val="0"/>
              </a:spcAft>
            </a:pPr>
            <a:r>
              <a:rPr sz="1500" b="1" i="0">
                <a:solidFill>
                  <a:srgbClr val="FFFFFF"/>
                </a:solidFill>
                <a:latin typeface="Calibri"/>
              </a:rPr>
              <a:t>EHH</a:t>
            </a:r>
          </a:p>
        </p:txBody>
      </p:sp>
      <p:sp>
        <p:nvSpPr>
          <p:cNvPr id="28" name="Right Arrow 27"/>
          <p:cNvSpPr/>
          <p:nvPr/>
        </p:nvSpPr>
        <p:spPr>
          <a:xfrm>
            <a:off x="1819656" y="3675888"/>
            <a:ext cx="201168" cy="219456"/>
          </a:xfrm>
          <a:prstGeom prst="rightArrow">
            <a:avLst/>
          </a:prstGeom>
          <a:solidFill>
            <a:srgbClr val="DE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2075688" y="3529584"/>
            <a:ext cx="1371600" cy="512064"/>
          </a:xfrm>
          <a:prstGeom prst="roundRect">
            <a:avLst>
              <a:gd name="adj" fmla="val 50000"/>
            </a:avLst>
          </a:prstGeom>
          <a:solidFill>
            <a:srgbClr val="FFFFFF"/>
          </a:solidFill>
          <a:ln w="12700">
            <a:solidFill>
              <a:srgbClr val="F0CA9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200" b="0">
                <a:solidFill>
                  <a:srgbClr val="0F1B2D"/>
                </a:solidFill>
                <a:latin typeface="Calibri"/>
              </a:rPr>
              <a:t>spoed</a:t>
            </a:r>
          </a:p>
        </p:txBody>
      </p:sp>
      <p:sp>
        <p:nvSpPr>
          <p:cNvPr id="30" name="Rounded Rectangle 29"/>
          <p:cNvSpPr/>
          <p:nvPr/>
        </p:nvSpPr>
        <p:spPr>
          <a:xfrm>
            <a:off x="502920" y="4187952"/>
            <a:ext cx="1371600" cy="512064"/>
          </a:xfrm>
          <a:prstGeom prst="roundRect">
            <a:avLst>
              <a:gd name="adj" fmla="val 5500"/>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02920" y="4224528"/>
            <a:ext cx="1371600" cy="438912"/>
          </a:xfrm>
          <a:prstGeom prst="rect">
            <a:avLst/>
          </a:prstGeom>
          <a:noFill/>
        </p:spPr>
        <p:txBody>
          <a:bodyPr wrap="square" lIns="0" rIns="0" tIns="18288" bIns="18288" anchor="ctr">
            <a:spAutoFit/>
          </a:bodyPr>
          <a:lstStyle/>
          <a:p>
            <a:pPr algn="ctr">
              <a:lnSpc>
                <a:spcPct val="120000"/>
              </a:lnSpc>
              <a:spcAft>
                <a:spcPts val="0"/>
              </a:spcAft>
            </a:pPr>
            <a:r>
              <a:rPr sz="1500" b="1" i="0">
                <a:solidFill>
                  <a:srgbClr val="FFFFFF"/>
                </a:solidFill>
                <a:latin typeface="Calibri"/>
              </a:rPr>
              <a:t>SEH</a:t>
            </a:r>
          </a:p>
        </p:txBody>
      </p:sp>
      <p:sp>
        <p:nvSpPr>
          <p:cNvPr id="32" name="Right Arrow 31"/>
          <p:cNvSpPr/>
          <p:nvPr/>
        </p:nvSpPr>
        <p:spPr>
          <a:xfrm>
            <a:off x="1819656" y="4334256"/>
            <a:ext cx="201168" cy="21945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2075688" y="4187952"/>
            <a:ext cx="2788920" cy="512064"/>
          </a:xfrm>
          <a:prstGeom prst="roundRect">
            <a:avLst>
              <a:gd name="adj" fmla="val 50000"/>
            </a:avLst>
          </a:prstGeom>
          <a:solidFill>
            <a:srgbClr val="FFFFFF"/>
          </a:solidFill>
          <a:ln w="12700">
            <a:solidFill>
              <a:srgbClr val="B9C0C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200" b="0">
                <a:solidFill>
                  <a:srgbClr val="0F1B2D"/>
                </a:solidFill>
                <a:latin typeface="Calibri"/>
              </a:rPr>
              <a:t>scenario's van Maxim en Sigrid</a:t>
            </a:r>
          </a:p>
        </p:txBody>
      </p:sp>
      <p:sp>
        <p:nvSpPr>
          <p:cNvPr id="34" name="Rounded Rectangle 33"/>
          <p:cNvSpPr/>
          <p:nvPr/>
        </p:nvSpPr>
        <p:spPr>
          <a:xfrm>
            <a:off x="502920" y="5010912"/>
            <a:ext cx="11185855" cy="786384"/>
          </a:xfrm>
          <a:prstGeom prst="roundRect">
            <a:avLst>
              <a:gd name="adj" fmla="val 5500"/>
            </a:avLst>
          </a:prstGeom>
          <a:solidFill>
            <a:srgbClr val="F7E5E4"/>
          </a:solidFill>
          <a:ln w="12700">
            <a:solidFill>
              <a:srgbClr val="E4A6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676656" y="5248656"/>
            <a:ext cx="310896" cy="310896"/>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FFFFFF"/>
                </a:solidFill>
                <a:latin typeface="Calibri"/>
              </a:rPr>
              <a:t>!</a:t>
            </a:r>
          </a:p>
        </p:txBody>
      </p:sp>
      <p:sp>
        <p:nvSpPr>
          <p:cNvPr id="36" name="TextBox 35"/>
          <p:cNvSpPr txBox="1"/>
          <p:nvPr/>
        </p:nvSpPr>
        <p:spPr>
          <a:xfrm>
            <a:off x="1106424" y="5084064"/>
            <a:ext cx="10362895" cy="640080"/>
          </a:xfrm>
          <a:prstGeom prst="rect">
            <a:avLst/>
          </a:prstGeom>
          <a:noFill/>
        </p:spPr>
        <p:txBody>
          <a:bodyPr wrap="square" lIns="54864" rIns="54864" tIns="18288" bIns="18288" anchor="ctr">
            <a:spAutoFit/>
          </a:bodyPr>
          <a:lstStyle/>
          <a:p>
            <a:pPr algn="l">
              <a:lnSpc>
                <a:spcPct val="120000"/>
              </a:lnSpc>
              <a:spcAft>
                <a:spcPts val="200"/>
              </a:spcAft>
            </a:pPr>
            <a:r>
              <a:rPr sz="950" b="1" i="0">
                <a:solidFill>
                  <a:srgbClr val="C4392D"/>
                </a:solidFill>
                <a:latin typeface="Calibri"/>
              </a:rPr>
              <a:t>LET OP</a:t>
            </a:r>
          </a:p>
          <a:p>
            <a:pPr algn="l">
              <a:lnSpc>
                <a:spcPct val="120000"/>
              </a:lnSpc>
              <a:spcAft>
                <a:spcPts val="0"/>
              </a:spcAft>
            </a:pPr>
            <a:r>
              <a:rPr sz="1300" b="1" i="0">
                <a:solidFill>
                  <a:srgbClr val="0F1B2D"/>
                </a:solidFill>
                <a:latin typeface="Calibri"/>
              </a:rPr>
              <a:t>Deze tellingen horen bij de huidige, gescheiden situatie. In de nieuwbouwscenario's waarin afdelingen samengaan, moet opnieuw geteld worden.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502920" y="429768"/>
            <a:ext cx="457200" cy="457200"/>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600" b="1">
                <a:solidFill>
                  <a:srgbClr val="FFFFFF"/>
                </a:solidFill>
                <a:latin typeface="Calibri"/>
              </a:rPr>
              <a:t>8</a:t>
            </a:r>
          </a:p>
        </p:txBody>
      </p:sp>
      <p:sp>
        <p:nvSpPr>
          <p:cNvPr id="4" name="TextBox 3"/>
          <p:cNvSpPr txBox="1"/>
          <p:nvPr/>
        </p:nvSpPr>
        <p:spPr>
          <a:xfrm>
            <a:off x="1106424" y="365760"/>
            <a:ext cx="10582351" cy="402336"/>
          </a:xfrm>
          <a:prstGeom prst="rect">
            <a:avLst/>
          </a:prstGeom>
          <a:noFill/>
        </p:spPr>
        <p:txBody>
          <a:bodyPr wrap="square" lIns="0" rIns="0" tIns="18288" bIns="18288" anchor="ctr">
            <a:spAutoFit/>
          </a:bodyPr>
          <a:lstStyle/>
          <a:p>
            <a:pPr algn="l">
              <a:lnSpc>
                <a:spcPct val="120000"/>
              </a:lnSpc>
              <a:spcAft>
                <a:spcPts val="0"/>
              </a:spcAft>
            </a:pPr>
            <a:r>
              <a:rPr sz="2250" b="1" i="0">
                <a:solidFill>
                  <a:srgbClr val="0F1B2D"/>
                </a:solidFill>
                <a:latin typeface="Calibri"/>
              </a:rPr>
              <a:t>Van vier locaties naar twee clusters</a:t>
            </a:r>
          </a:p>
        </p:txBody>
      </p:sp>
      <p:sp>
        <p:nvSpPr>
          <p:cNvPr id="5" name="TextBox 4"/>
          <p:cNvSpPr txBox="1"/>
          <p:nvPr/>
        </p:nvSpPr>
        <p:spPr>
          <a:xfrm>
            <a:off x="1106424" y="822960"/>
            <a:ext cx="10582351" cy="329184"/>
          </a:xfrm>
          <a:prstGeom prst="rect">
            <a:avLst/>
          </a:prstGeom>
          <a:noFill/>
        </p:spPr>
        <p:txBody>
          <a:bodyPr wrap="square" lIns="0" rIns="0" tIns="18288" bIns="18288" anchor="ctr">
            <a:spAutoFit/>
          </a:bodyPr>
          <a:lstStyle/>
          <a:p>
            <a:pPr algn="l">
              <a:lnSpc>
                <a:spcPct val="120000"/>
              </a:lnSpc>
              <a:spcAft>
                <a:spcPts val="0"/>
              </a:spcAft>
            </a:pPr>
            <a:r>
              <a:rPr sz="1350" b="0" i="0">
                <a:solidFill>
                  <a:srgbClr val="64748B"/>
                </a:solidFill>
                <a:latin typeface="Calibri"/>
              </a:rPr>
              <a:t>De acute en intensieve zorg wordt samengevoegd</a:t>
            </a:r>
          </a:p>
        </p:txBody>
      </p:sp>
      <p:sp>
        <p:nvSpPr>
          <p:cNvPr id="6" name="TextBox 5"/>
          <p:cNvSpPr txBox="1"/>
          <p:nvPr/>
        </p:nvSpPr>
        <p:spPr>
          <a:xfrm>
            <a:off x="502920" y="6419088"/>
            <a:ext cx="5486400" cy="274320"/>
          </a:xfrm>
          <a:prstGeom prst="rect">
            <a:avLst/>
          </a:prstGeom>
          <a:noFill/>
        </p:spPr>
        <p:txBody>
          <a:bodyPr wrap="square" lIns="0" rIns="0" tIns="18288" bIns="18288" anchor="t">
            <a:spAutoFit/>
          </a:bodyPr>
          <a:lstStyle/>
          <a:p>
            <a:pPr algn="l">
              <a:lnSpc>
                <a:spcPct val="120000"/>
              </a:lnSpc>
              <a:spcAft>
                <a:spcPts val="0"/>
              </a:spcAft>
            </a:pPr>
            <a:r>
              <a:rPr sz="900" b="0" i="0">
                <a:solidFill>
                  <a:srgbClr val="64748B"/>
                </a:solidFill>
                <a:latin typeface="Calibri"/>
              </a:rPr>
              <a:t>Acute poort en Hotfloor</a:t>
            </a:r>
          </a:p>
        </p:txBody>
      </p:sp>
      <p:sp>
        <p:nvSpPr>
          <p:cNvPr id="7" name="TextBox 6"/>
          <p:cNvSpPr txBox="1"/>
          <p:nvPr/>
        </p:nvSpPr>
        <p:spPr>
          <a:xfrm>
            <a:off x="10591495" y="6419088"/>
            <a:ext cx="1097280" cy="274320"/>
          </a:xfrm>
          <a:prstGeom prst="rect">
            <a:avLst/>
          </a:prstGeom>
          <a:noFill/>
        </p:spPr>
        <p:txBody>
          <a:bodyPr wrap="square" lIns="0" rIns="0" tIns="18288" bIns="18288" anchor="t">
            <a:spAutoFit/>
          </a:bodyPr>
          <a:lstStyle/>
          <a:p>
            <a:pPr algn="r">
              <a:lnSpc>
                <a:spcPct val="120000"/>
              </a:lnSpc>
              <a:spcAft>
                <a:spcPts val="0"/>
              </a:spcAft>
            </a:pPr>
            <a:r>
              <a:rPr sz="900" b="0" i="0">
                <a:solidFill>
                  <a:srgbClr val="64748B"/>
                </a:solidFill>
                <a:latin typeface="Calibri"/>
              </a:rPr>
              <a:t>8</a:t>
            </a:r>
          </a:p>
        </p:txBody>
      </p:sp>
      <p:sp>
        <p:nvSpPr>
          <p:cNvPr id="8" name="TextBox 7"/>
          <p:cNvSpPr txBox="1"/>
          <p:nvPr/>
        </p:nvSpPr>
        <p:spPr>
          <a:xfrm>
            <a:off x="502920" y="1444752"/>
            <a:ext cx="4206240" cy="292608"/>
          </a:xfrm>
          <a:prstGeom prst="rect">
            <a:avLst/>
          </a:prstGeom>
          <a:noFill/>
        </p:spPr>
        <p:txBody>
          <a:bodyPr wrap="square" lIns="0" rIns="0" tIns="18288" bIns="18288" anchor="t">
            <a:spAutoFit/>
          </a:bodyPr>
          <a:lstStyle/>
          <a:p>
            <a:pPr algn="l">
              <a:lnSpc>
                <a:spcPct val="120000"/>
              </a:lnSpc>
              <a:spcAft>
                <a:spcPts val="0"/>
              </a:spcAft>
            </a:pPr>
            <a:r>
              <a:rPr sz="1200" b="1" i="0">
                <a:solidFill>
                  <a:srgbClr val="64748B"/>
                </a:solidFill>
                <a:latin typeface="Calibri"/>
              </a:rPr>
              <a:t>NU</a:t>
            </a:r>
          </a:p>
        </p:txBody>
      </p:sp>
      <p:sp>
        <p:nvSpPr>
          <p:cNvPr id="9" name="Rounded Rectangle 8"/>
          <p:cNvSpPr/>
          <p:nvPr/>
        </p:nvSpPr>
        <p:spPr>
          <a:xfrm>
            <a:off x="502920" y="1828800"/>
            <a:ext cx="4206240" cy="603504"/>
          </a:xfrm>
          <a:prstGeom prst="roundRect">
            <a:avLst>
              <a:gd name="adj" fmla="val 5500"/>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5800" y="1874519"/>
            <a:ext cx="3840479" cy="512064"/>
          </a:xfrm>
          <a:prstGeom prst="rect">
            <a:avLst/>
          </a:prstGeom>
          <a:noFill/>
        </p:spPr>
        <p:txBody>
          <a:bodyPr wrap="square" lIns="54864" rIns="54864" tIns="18288" bIns="18288" anchor="ctr">
            <a:spAutoFit/>
          </a:bodyPr>
          <a:lstStyle/>
          <a:p>
            <a:pPr algn="l">
              <a:lnSpc>
                <a:spcPct val="120000"/>
              </a:lnSpc>
              <a:spcAft>
                <a:spcPts val="100"/>
              </a:spcAft>
            </a:pPr>
            <a:r>
              <a:rPr sz="1350" b="1" i="0">
                <a:solidFill>
                  <a:srgbClr val="0F1B2D"/>
                </a:solidFill>
                <a:latin typeface="Calibri"/>
              </a:rPr>
              <a:t>Kind spoed</a:t>
            </a:r>
          </a:p>
          <a:p>
            <a:pPr algn="l">
              <a:lnSpc>
                <a:spcPct val="120000"/>
              </a:lnSpc>
              <a:spcAft>
                <a:spcPts val="0"/>
              </a:spcAft>
            </a:pPr>
            <a:r>
              <a:rPr sz="1100" b="0" i="0">
                <a:solidFill>
                  <a:srgbClr val="64748B"/>
                </a:solidFill>
                <a:latin typeface="Calibri"/>
              </a:rPr>
              <a:t>kinderafdeling / poli</a:t>
            </a:r>
          </a:p>
        </p:txBody>
      </p:sp>
      <p:sp>
        <p:nvSpPr>
          <p:cNvPr id="11" name="Rounded Rectangle 10"/>
          <p:cNvSpPr/>
          <p:nvPr/>
        </p:nvSpPr>
        <p:spPr>
          <a:xfrm>
            <a:off x="502920" y="2542032"/>
            <a:ext cx="4206240" cy="603504"/>
          </a:xfrm>
          <a:prstGeom prst="roundRect">
            <a:avLst>
              <a:gd name="adj" fmla="val 5500"/>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85800" y="2587752"/>
            <a:ext cx="3840479" cy="512064"/>
          </a:xfrm>
          <a:prstGeom prst="rect">
            <a:avLst/>
          </a:prstGeom>
          <a:noFill/>
        </p:spPr>
        <p:txBody>
          <a:bodyPr wrap="square" lIns="54864" rIns="54864" tIns="18288" bIns="18288" anchor="ctr">
            <a:spAutoFit/>
          </a:bodyPr>
          <a:lstStyle/>
          <a:p>
            <a:pPr algn="l">
              <a:lnSpc>
                <a:spcPct val="120000"/>
              </a:lnSpc>
              <a:spcAft>
                <a:spcPts val="100"/>
              </a:spcAft>
            </a:pPr>
            <a:r>
              <a:rPr sz="1350" b="1" i="0">
                <a:solidFill>
                  <a:srgbClr val="0F1B2D"/>
                </a:solidFill>
                <a:latin typeface="Calibri"/>
              </a:rPr>
              <a:t>SEH</a:t>
            </a:r>
          </a:p>
          <a:p>
            <a:pPr algn="l">
              <a:lnSpc>
                <a:spcPct val="120000"/>
              </a:lnSpc>
              <a:spcAft>
                <a:spcPts val="0"/>
              </a:spcAft>
            </a:pPr>
            <a:r>
              <a:rPr sz="1100" b="0" i="0">
                <a:solidFill>
                  <a:srgbClr val="64748B"/>
                </a:solidFill>
                <a:latin typeface="Calibri"/>
              </a:rPr>
              <a:t>begane grond</a:t>
            </a:r>
          </a:p>
        </p:txBody>
      </p:sp>
      <p:sp>
        <p:nvSpPr>
          <p:cNvPr id="13" name="Rounded Rectangle 12"/>
          <p:cNvSpPr/>
          <p:nvPr/>
        </p:nvSpPr>
        <p:spPr>
          <a:xfrm>
            <a:off x="502920" y="3255264"/>
            <a:ext cx="4206240" cy="603504"/>
          </a:xfrm>
          <a:prstGeom prst="roundRect">
            <a:avLst>
              <a:gd name="adj" fmla="val 5500"/>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3300984"/>
            <a:ext cx="3840479" cy="512064"/>
          </a:xfrm>
          <a:prstGeom prst="rect">
            <a:avLst/>
          </a:prstGeom>
          <a:noFill/>
        </p:spPr>
        <p:txBody>
          <a:bodyPr wrap="square" lIns="54864" rIns="54864" tIns="18288" bIns="18288" anchor="ctr">
            <a:spAutoFit/>
          </a:bodyPr>
          <a:lstStyle/>
          <a:p>
            <a:pPr algn="l">
              <a:lnSpc>
                <a:spcPct val="120000"/>
              </a:lnSpc>
              <a:spcAft>
                <a:spcPts val="100"/>
              </a:spcAft>
            </a:pPr>
            <a:r>
              <a:rPr sz="1350" b="1" i="0">
                <a:solidFill>
                  <a:srgbClr val="0F1B2D"/>
                </a:solidFill>
                <a:latin typeface="Calibri"/>
              </a:rPr>
              <a:t>ICU</a:t>
            </a:r>
          </a:p>
          <a:p>
            <a:pPr algn="l">
              <a:lnSpc>
                <a:spcPct val="120000"/>
              </a:lnSpc>
              <a:spcAft>
                <a:spcPts val="0"/>
              </a:spcAft>
            </a:pPr>
            <a:r>
              <a:rPr sz="1100" b="0" i="0">
                <a:solidFill>
                  <a:srgbClr val="64748B"/>
                </a:solidFill>
                <a:latin typeface="Calibri"/>
              </a:rPr>
              <a:t>2e verdieping</a:t>
            </a:r>
          </a:p>
        </p:txBody>
      </p:sp>
      <p:sp>
        <p:nvSpPr>
          <p:cNvPr id="15" name="Rounded Rectangle 14"/>
          <p:cNvSpPr/>
          <p:nvPr/>
        </p:nvSpPr>
        <p:spPr>
          <a:xfrm>
            <a:off x="502920" y="3968496"/>
            <a:ext cx="4206240" cy="603504"/>
          </a:xfrm>
          <a:prstGeom prst="roundRect">
            <a:avLst>
              <a:gd name="adj" fmla="val 5500"/>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85800" y="4014215"/>
            <a:ext cx="3840479" cy="512064"/>
          </a:xfrm>
          <a:prstGeom prst="rect">
            <a:avLst/>
          </a:prstGeom>
          <a:noFill/>
        </p:spPr>
        <p:txBody>
          <a:bodyPr wrap="square" lIns="54864" rIns="54864" tIns="18288" bIns="18288" anchor="ctr">
            <a:spAutoFit/>
          </a:bodyPr>
          <a:lstStyle/>
          <a:p>
            <a:pPr algn="l">
              <a:lnSpc>
                <a:spcPct val="120000"/>
              </a:lnSpc>
              <a:spcAft>
                <a:spcPts val="100"/>
              </a:spcAft>
            </a:pPr>
            <a:r>
              <a:rPr sz="1350" b="1" i="0">
                <a:solidFill>
                  <a:srgbClr val="0F1B2D"/>
                </a:solidFill>
                <a:latin typeface="Calibri"/>
              </a:rPr>
              <a:t>CCU / SCU / EHH</a:t>
            </a:r>
          </a:p>
          <a:p>
            <a:pPr algn="l">
              <a:lnSpc>
                <a:spcPct val="120000"/>
              </a:lnSpc>
              <a:spcAft>
                <a:spcPts val="0"/>
              </a:spcAft>
            </a:pPr>
            <a:r>
              <a:rPr sz="1100" b="0" i="0">
                <a:solidFill>
                  <a:srgbClr val="64748B"/>
                </a:solidFill>
                <a:latin typeface="Calibri"/>
              </a:rPr>
              <a:t>1e verdieping</a:t>
            </a:r>
          </a:p>
        </p:txBody>
      </p:sp>
      <p:sp>
        <p:nvSpPr>
          <p:cNvPr id="17" name="Right Arrow 16"/>
          <p:cNvSpPr/>
          <p:nvPr/>
        </p:nvSpPr>
        <p:spPr>
          <a:xfrm>
            <a:off x="4983479" y="3044952"/>
            <a:ext cx="548640" cy="420624"/>
          </a:xfrm>
          <a:prstGeom prst="rightArrow">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769864" y="1444752"/>
            <a:ext cx="5918911" cy="292608"/>
          </a:xfrm>
          <a:prstGeom prst="rect">
            <a:avLst/>
          </a:prstGeom>
          <a:noFill/>
        </p:spPr>
        <p:txBody>
          <a:bodyPr wrap="square" lIns="0" rIns="0" tIns="18288" bIns="18288" anchor="t">
            <a:spAutoFit/>
          </a:bodyPr>
          <a:lstStyle/>
          <a:p>
            <a:pPr algn="l">
              <a:lnSpc>
                <a:spcPct val="120000"/>
              </a:lnSpc>
              <a:spcAft>
                <a:spcPts val="0"/>
              </a:spcAft>
            </a:pPr>
            <a:r>
              <a:rPr sz="1200" b="1" i="0">
                <a:solidFill>
                  <a:srgbClr val="1F6FB2"/>
                </a:solidFill>
                <a:latin typeface="Calibri"/>
              </a:rPr>
              <a:t>STRAKS</a:t>
            </a:r>
          </a:p>
        </p:txBody>
      </p:sp>
      <p:sp>
        <p:nvSpPr>
          <p:cNvPr id="19" name="Rounded Rectangle 18"/>
          <p:cNvSpPr/>
          <p:nvPr/>
        </p:nvSpPr>
        <p:spPr>
          <a:xfrm>
            <a:off x="5769864" y="1828800"/>
            <a:ext cx="5918911" cy="1335024"/>
          </a:xfrm>
          <a:prstGeom prst="roundRect">
            <a:avLst>
              <a:gd name="adj" fmla="val 5500"/>
            </a:avLst>
          </a:prstGeom>
          <a:solidFill>
            <a:srgbClr val="EDF3F9"/>
          </a:solidFill>
          <a:ln w="12700">
            <a:solidFill>
              <a:srgbClr val="B1CD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916168" y="1956815"/>
            <a:ext cx="475488" cy="47548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600" b="1">
                <a:solidFill>
                  <a:srgbClr val="FFFFFF"/>
                </a:solidFill>
                <a:latin typeface="Calibri"/>
              </a:rPr>
              <a:t>1</a:t>
            </a:r>
          </a:p>
        </p:txBody>
      </p:sp>
      <p:sp>
        <p:nvSpPr>
          <p:cNvPr id="21" name="TextBox 20"/>
          <p:cNvSpPr txBox="1"/>
          <p:nvPr/>
        </p:nvSpPr>
        <p:spPr>
          <a:xfrm>
            <a:off x="6483096" y="1975104"/>
            <a:ext cx="5004511" cy="420624"/>
          </a:xfrm>
          <a:prstGeom prst="rect">
            <a:avLst/>
          </a:prstGeom>
          <a:noFill/>
        </p:spPr>
        <p:txBody>
          <a:bodyPr wrap="square" lIns="54864" rIns="54864" tIns="18288" bIns="18288" anchor="ctr">
            <a:spAutoFit/>
          </a:bodyPr>
          <a:lstStyle/>
          <a:p>
            <a:pPr algn="l">
              <a:lnSpc>
                <a:spcPct val="120000"/>
              </a:lnSpc>
              <a:spcAft>
                <a:spcPts val="0"/>
              </a:spcAft>
            </a:pPr>
            <a:r>
              <a:rPr sz="1600" b="1" i="0">
                <a:solidFill>
                  <a:srgbClr val="1F6FB2"/>
                </a:solidFill>
                <a:latin typeface="Calibri"/>
              </a:rPr>
              <a:t>Acute poort</a:t>
            </a:r>
          </a:p>
        </p:txBody>
      </p:sp>
      <p:sp>
        <p:nvSpPr>
          <p:cNvPr id="22" name="Rounded Rectangle 21"/>
          <p:cNvSpPr/>
          <p:nvPr/>
        </p:nvSpPr>
        <p:spPr>
          <a:xfrm>
            <a:off x="5952744" y="2450592"/>
            <a:ext cx="1765706" cy="365760"/>
          </a:xfrm>
          <a:prstGeom prst="roundRect">
            <a:avLst>
              <a:gd name="adj" fmla="val 50000"/>
            </a:avLst>
          </a:prstGeom>
          <a:solidFill>
            <a:srgbClr val="FFFFFF"/>
          </a:solidFill>
          <a:ln w="12700">
            <a:solidFill>
              <a:srgbClr val="9ABED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200" b="1">
                <a:solidFill>
                  <a:srgbClr val="1F6FB2"/>
                </a:solidFill>
                <a:latin typeface="Calibri"/>
              </a:rPr>
              <a:t>SEH</a:t>
            </a:r>
          </a:p>
        </p:txBody>
      </p:sp>
      <p:sp>
        <p:nvSpPr>
          <p:cNvPr id="23" name="Rounded Rectangle 22"/>
          <p:cNvSpPr/>
          <p:nvPr/>
        </p:nvSpPr>
        <p:spPr>
          <a:xfrm>
            <a:off x="7846466" y="2450592"/>
            <a:ext cx="1765706" cy="365760"/>
          </a:xfrm>
          <a:prstGeom prst="roundRect">
            <a:avLst>
              <a:gd name="adj" fmla="val 50000"/>
            </a:avLst>
          </a:prstGeom>
          <a:solidFill>
            <a:srgbClr val="FFFFFF"/>
          </a:solidFill>
          <a:ln w="12700">
            <a:solidFill>
              <a:srgbClr val="9ABED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200" b="1">
                <a:solidFill>
                  <a:srgbClr val="1F6FB2"/>
                </a:solidFill>
                <a:latin typeface="Calibri"/>
              </a:rPr>
              <a:t>kind</a:t>
            </a:r>
          </a:p>
        </p:txBody>
      </p:sp>
      <p:sp>
        <p:nvSpPr>
          <p:cNvPr id="24" name="Rounded Rectangle 23"/>
          <p:cNvSpPr/>
          <p:nvPr/>
        </p:nvSpPr>
        <p:spPr>
          <a:xfrm>
            <a:off x="9740188" y="2450592"/>
            <a:ext cx="1765706" cy="365760"/>
          </a:xfrm>
          <a:prstGeom prst="roundRect">
            <a:avLst>
              <a:gd name="adj" fmla="val 50000"/>
            </a:avLst>
          </a:prstGeom>
          <a:solidFill>
            <a:srgbClr val="FFFFFF"/>
          </a:solidFill>
          <a:ln w="12700">
            <a:solidFill>
              <a:srgbClr val="9ABED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200" b="1">
                <a:solidFill>
                  <a:srgbClr val="1F6FB2"/>
                </a:solidFill>
                <a:latin typeface="Calibri"/>
              </a:rPr>
              <a:t>EHH</a:t>
            </a:r>
          </a:p>
        </p:txBody>
      </p:sp>
      <p:sp>
        <p:nvSpPr>
          <p:cNvPr id="25" name="TextBox 24"/>
          <p:cNvSpPr txBox="1"/>
          <p:nvPr/>
        </p:nvSpPr>
        <p:spPr>
          <a:xfrm>
            <a:off x="5952744" y="2852928"/>
            <a:ext cx="5553151" cy="256032"/>
          </a:xfrm>
          <a:prstGeom prst="rect">
            <a:avLst/>
          </a:prstGeom>
          <a:noFill/>
        </p:spPr>
        <p:txBody>
          <a:bodyPr wrap="square" lIns="0" rIns="0" tIns="18288" bIns="18288" anchor="t">
            <a:spAutoFit/>
          </a:bodyPr>
          <a:lstStyle/>
          <a:p>
            <a:pPr algn="ctr">
              <a:lnSpc>
                <a:spcPct val="120000"/>
              </a:lnSpc>
              <a:spcAft>
                <a:spcPts val="0"/>
              </a:spcAft>
            </a:pPr>
            <a:r>
              <a:rPr sz="1100" b="1" i="0">
                <a:solidFill>
                  <a:srgbClr val="DE8A1B"/>
                </a:solidFill>
                <a:latin typeface="Calibri"/>
              </a:rPr>
              <a:t>Hoeveel plekken zijn hier nodig?</a:t>
            </a:r>
          </a:p>
        </p:txBody>
      </p:sp>
      <p:sp>
        <p:nvSpPr>
          <p:cNvPr id="26" name="Rounded Rectangle 25"/>
          <p:cNvSpPr/>
          <p:nvPr/>
        </p:nvSpPr>
        <p:spPr>
          <a:xfrm>
            <a:off x="5769864" y="3310128"/>
            <a:ext cx="5918911" cy="1335024"/>
          </a:xfrm>
          <a:prstGeom prst="roundRect">
            <a:avLst>
              <a:gd name="adj" fmla="val 5500"/>
            </a:avLst>
          </a:prstGeom>
          <a:solidFill>
            <a:srgbClr val="ECF7F5"/>
          </a:solidFill>
          <a:ln w="12700">
            <a:solidFill>
              <a:srgbClr val="ABDCD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5916168" y="3438144"/>
            <a:ext cx="475488" cy="47548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600" b="1">
                <a:solidFill>
                  <a:srgbClr val="FFFFFF"/>
                </a:solidFill>
                <a:latin typeface="Calibri"/>
              </a:rPr>
              <a:t>2</a:t>
            </a:r>
          </a:p>
        </p:txBody>
      </p:sp>
      <p:sp>
        <p:nvSpPr>
          <p:cNvPr id="28" name="TextBox 27"/>
          <p:cNvSpPr txBox="1"/>
          <p:nvPr/>
        </p:nvSpPr>
        <p:spPr>
          <a:xfrm>
            <a:off x="6483096" y="3456432"/>
            <a:ext cx="5004511" cy="420624"/>
          </a:xfrm>
          <a:prstGeom prst="rect">
            <a:avLst/>
          </a:prstGeom>
          <a:noFill/>
        </p:spPr>
        <p:txBody>
          <a:bodyPr wrap="square" lIns="54864" rIns="54864" tIns="18288" bIns="18288" anchor="ctr">
            <a:spAutoFit/>
          </a:bodyPr>
          <a:lstStyle/>
          <a:p>
            <a:pPr algn="l">
              <a:lnSpc>
                <a:spcPct val="120000"/>
              </a:lnSpc>
              <a:spcAft>
                <a:spcPts val="0"/>
              </a:spcAft>
            </a:pPr>
            <a:r>
              <a:rPr sz="1600" b="1" i="0">
                <a:solidFill>
                  <a:srgbClr val="0E9A87"/>
                </a:solidFill>
                <a:latin typeface="Calibri"/>
              </a:rPr>
              <a:t>Hotfloor</a:t>
            </a:r>
          </a:p>
        </p:txBody>
      </p:sp>
      <p:sp>
        <p:nvSpPr>
          <p:cNvPr id="29" name="Rounded Rectangle 28"/>
          <p:cNvSpPr/>
          <p:nvPr/>
        </p:nvSpPr>
        <p:spPr>
          <a:xfrm>
            <a:off x="5952744" y="3931920"/>
            <a:ext cx="2712567" cy="365760"/>
          </a:xfrm>
          <a:prstGeom prst="roundRect">
            <a:avLst>
              <a:gd name="adj" fmla="val 50000"/>
            </a:avLst>
          </a:prstGeom>
          <a:solidFill>
            <a:srgbClr val="FFFFFF"/>
          </a:solidFill>
          <a:ln w="12700">
            <a:solidFill>
              <a:srgbClr val="93D2C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200" b="1">
                <a:solidFill>
                  <a:srgbClr val="0E9A87"/>
                </a:solidFill>
                <a:latin typeface="Calibri"/>
              </a:rPr>
              <a:t>ICU</a:t>
            </a:r>
          </a:p>
        </p:txBody>
      </p:sp>
      <p:sp>
        <p:nvSpPr>
          <p:cNvPr id="30" name="Rounded Rectangle 29"/>
          <p:cNvSpPr/>
          <p:nvPr/>
        </p:nvSpPr>
        <p:spPr>
          <a:xfrm>
            <a:off x="8793327" y="3931920"/>
            <a:ext cx="2712567" cy="365760"/>
          </a:xfrm>
          <a:prstGeom prst="roundRect">
            <a:avLst>
              <a:gd name="adj" fmla="val 50000"/>
            </a:avLst>
          </a:prstGeom>
          <a:solidFill>
            <a:srgbClr val="FFFFFF"/>
          </a:solidFill>
          <a:ln w="12700">
            <a:solidFill>
              <a:srgbClr val="93D2C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200" b="1">
                <a:solidFill>
                  <a:srgbClr val="0E9A87"/>
                </a:solidFill>
                <a:latin typeface="Calibri"/>
              </a:rPr>
              <a:t>CCU / SCU</a:t>
            </a:r>
          </a:p>
        </p:txBody>
      </p:sp>
      <p:sp>
        <p:nvSpPr>
          <p:cNvPr id="31" name="TextBox 30"/>
          <p:cNvSpPr txBox="1"/>
          <p:nvPr/>
        </p:nvSpPr>
        <p:spPr>
          <a:xfrm>
            <a:off x="5952744" y="4334256"/>
            <a:ext cx="5553151" cy="256032"/>
          </a:xfrm>
          <a:prstGeom prst="rect">
            <a:avLst/>
          </a:prstGeom>
          <a:noFill/>
        </p:spPr>
        <p:txBody>
          <a:bodyPr wrap="square" lIns="0" rIns="0" tIns="18288" bIns="18288" anchor="t">
            <a:spAutoFit/>
          </a:bodyPr>
          <a:lstStyle/>
          <a:p>
            <a:pPr algn="ctr">
              <a:lnSpc>
                <a:spcPct val="120000"/>
              </a:lnSpc>
              <a:spcAft>
                <a:spcPts val="0"/>
              </a:spcAft>
            </a:pPr>
            <a:r>
              <a:rPr sz="1100" b="1" i="0">
                <a:solidFill>
                  <a:srgbClr val="DE8A1B"/>
                </a:solidFill>
                <a:latin typeface="Calibri"/>
              </a:rPr>
              <a:t>Zijn dit er 16?</a:t>
            </a:r>
          </a:p>
        </p:txBody>
      </p:sp>
      <p:sp>
        <p:nvSpPr>
          <p:cNvPr id="32" name="Rounded Rectangle 31"/>
          <p:cNvSpPr/>
          <p:nvPr/>
        </p:nvSpPr>
        <p:spPr>
          <a:xfrm>
            <a:off x="502920" y="4864608"/>
            <a:ext cx="11185855" cy="914400"/>
          </a:xfrm>
          <a:prstGeom prst="roundRect">
            <a:avLst>
              <a:gd name="adj" fmla="val 5500"/>
            </a:avLst>
          </a:prstGeom>
          <a:solidFill>
            <a:srgbClr val="FBF0E1"/>
          </a:solidFill>
          <a:ln w="12700">
            <a:solidFill>
              <a:srgbClr val="F0CA9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76656" y="5166360"/>
            <a:ext cx="310896" cy="310896"/>
          </a:xfrm>
          <a:prstGeom prst="ellipse">
            <a:avLst/>
          </a:prstGeom>
          <a:solidFill>
            <a:srgbClr val="DE8A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FFFFFF"/>
                </a:solidFill>
                <a:latin typeface="Calibri"/>
              </a:rPr>
              <a:t>!</a:t>
            </a:r>
          </a:p>
        </p:txBody>
      </p:sp>
      <p:sp>
        <p:nvSpPr>
          <p:cNvPr id="34" name="TextBox 33"/>
          <p:cNvSpPr txBox="1"/>
          <p:nvPr/>
        </p:nvSpPr>
        <p:spPr>
          <a:xfrm>
            <a:off x="1106424" y="4937760"/>
            <a:ext cx="10362895" cy="768096"/>
          </a:xfrm>
          <a:prstGeom prst="rect">
            <a:avLst/>
          </a:prstGeom>
          <a:noFill/>
        </p:spPr>
        <p:txBody>
          <a:bodyPr wrap="square" lIns="54864" rIns="54864" tIns="18288" bIns="18288" anchor="ctr">
            <a:spAutoFit/>
          </a:bodyPr>
          <a:lstStyle/>
          <a:p>
            <a:pPr algn="l">
              <a:lnSpc>
                <a:spcPct val="120000"/>
              </a:lnSpc>
              <a:spcAft>
                <a:spcPts val="200"/>
              </a:spcAft>
            </a:pPr>
            <a:r>
              <a:rPr sz="950" b="1" i="0">
                <a:solidFill>
                  <a:srgbClr val="DE8A1B"/>
                </a:solidFill>
                <a:latin typeface="Calibri"/>
              </a:rPr>
              <a:t>WAT DAARUIT VOLGT</a:t>
            </a:r>
          </a:p>
          <a:p>
            <a:pPr algn="l">
              <a:lnSpc>
                <a:spcPct val="120000"/>
              </a:lnSpc>
              <a:spcAft>
                <a:spcPts val="0"/>
              </a:spcAft>
            </a:pPr>
            <a:r>
              <a:rPr sz="1300" b="1" i="0">
                <a:solidFill>
                  <a:srgbClr val="0F1B2D"/>
                </a:solidFill>
                <a:latin typeface="Calibri"/>
              </a:rPr>
              <a:t>Per plek het kamernummer en het type uitschrijven, eventueel met middelen en materialen. Kan er overal beademd worden? Kan elke zorgvraag in elke kamer? Is er een basisverdeling voor ICU, CCU en SCU?</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502920" y="429768"/>
            <a:ext cx="457200" cy="457200"/>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600" b="1">
                <a:solidFill>
                  <a:srgbClr val="FFFFFF"/>
                </a:solidFill>
                <a:latin typeface="Calibri"/>
              </a:rPr>
              <a:t>9</a:t>
            </a:r>
          </a:p>
        </p:txBody>
      </p:sp>
      <p:sp>
        <p:nvSpPr>
          <p:cNvPr id="4" name="TextBox 3"/>
          <p:cNvSpPr txBox="1"/>
          <p:nvPr/>
        </p:nvSpPr>
        <p:spPr>
          <a:xfrm>
            <a:off x="1106424" y="365760"/>
            <a:ext cx="10582351" cy="402336"/>
          </a:xfrm>
          <a:prstGeom prst="rect">
            <a:avLst/>
          </a:prstGeom>
          <a:noFill/>
        </p:spPr>
        <p:txBody>
          <a:bodyPr wrap="square" lIns="0" rIns="0" tIns="18288" bIns="18288" anchor="ctr">
            <a:spAutoFit/>
          </a:bodyPr>
          <a:lstStyle/>
          <a:p>
            <a:pPr algn="l">
              <a:lnSpc>
                <a:spcPct val="120000"/>
              </a:lnSpc>
              <a:spcAft>
                <a:spcPts val="0"/>
              </a:spcAft>
            </a:pPr>
            <a:r>
              <a:rPr sz="2250" b="1" i="0">
                <a:solidFill>
                  <a:srgbClr val="0F1B2D"/>
                </a:solidFill>
                <a:latin typeface="Calibri"/>
              </a:rPr>
              <a:t>De nieuwbouw fysiek</a:t>
            </a:r>
          </a:p>
        </p:txBody>
      </p:sp>
      <p:sp>
        <p:nvSpPr>
          <p:cNvPr id="5" name="TextBox 4"/>
          <p:cNvSpPr txBox="1"/>
          <p:nvPr/>
        </p:nvSpPr>
        <p:spPr>
          <a:xfrm>
            <a:off x="1106424" y="822960"/>
            <a:ext cx="10582351" cy="329184"/>
          </a:xfrm>
          <a:prstGeom prst="rect">
            <a:avLst/>
          </a:prstGeom>
          <a:noFill/>
        </p:spPr>
        <p:txBody>
          <a:bodyPr wrap="square" lIns="0" rIns="0" tIns="18288" bIns="18288" anchor="ctr">
            <a:spAutoFit/>
          </a:bodyPr>
          <a:lstStyle/>
          <a:p>
            <a:pPr algn="l">
              <a:lnSpc>
                <a:spcPct val="120000"/>
              </a:lnSpc>
              <a:spcAft>
                <a:spcPts val="0"/>
              </a:spcAft>
            </a:pPr>
            <a:r>
              <a:rPr sz="1350" b="0" i="0">
                <a:solidFill>
                  <a:srgbClr val="64748B"/>
                </a:solidFill>
                <a:latin typeface="Calibri"/>
              </a:rPr>
              <a:t>Wat ligt vast, en wat is nog niet bepaald?</a:t>
            </a:r>
          </a:p>
        </p:txBody>
      </p:sp>
      <p:sp>
        <p:nvSpPr>
          <p:cNvPr id="6" name="TextBox 5"/>
          <p:cNvSpPr txBox="1"/>
          <p:nvPr/>
        </p:nvSpPr>
        <p:spPr>
          <a:xfrm>
            <a:off x="502920" y="6419088"/>
            <a:ext cx="5486400" cy="274320"/>
          </a:xfrm>
          <a:prstGeom prst="rect">
            <a:avLst/>
          </a:prstGeom>
          <a:noFill/>
        </p:spPr>
        <p:txBody>
          <a:bodyPr wrap="square" lIns="0" rIns="0" tIns="18288" bIns="18288" anchor="t">
            <a:spAutoFit/>
          </a:bodyPr>
          <a:lstStyle/>
          <a:p>
            <a:pPr algn="l">
              <a:lnSpc>
                <a:spcPct val="120000"/>
              </a:lnSpc>
              <a:spcAft>
                <a:spcPts val="0"/>
              </a:spcAft>
            </a:pPr>
            <a:r>
              <a:rPr sz="900" b="0" i="0">
                <a:solidFill>
                  <a:srgbClr val="64748B"/>
                </a:solidFill>
                <a:latin typeface="Calibri"/>
              </a:rPr>
              <a:t>Acute poort en Hotfloor</a:t>
            </a:r>
          </a:p>
        </p:txBody>
      </p:sp>
      <p:sp>
        <p:nvSpPr>
          <p:cNvPr id="7" name="TextBox 6"/>
          <p:cNvSpPr txBox="1"/>
          <p:nvPr/>
        </p:nvSpPr>
        <p:spPr>
          <a:xfrm>
            <a:off x="10591495" y="6419088"/>
            <a:ext cx="1097280" cy="274320"/>
          </a:xfrm>
          <a:prstGeom prst="rect">
            <a:avLst/>
          </a:prstGeom>
          <a:noFill/>
        </p:spPr>
        <p:txBody>
          <a:bodyPr wrap="square" lIns="0" rIns="0" tIns="18288" bIns="18288" anchor="t">
            <a:spAutoFit/>
          </a:bodyPr>
          <a:lstStyle/>
          <a:p>
            <a:pPr algn="r">
              <a:lnSpc>
                <a:spcPct val="120000"/>
              </a:lnSpc>
              <a:spcAft>
                <a:spcPts val="0"/>
              </a:spcAft>
            </a:pPr>
            <a:r>
              <a:rPr sz="900" b="0" i="0">
                <a:solidFill>
                  <a:srgbClr val="64748B"/>
                </a:solidFill>
                <a:latin typeface="Calibri"/>
              </a:rPr>
              <a:t>9</a:t>
            </a:r>
          </a:p>
        </p:txBody>
      </p:sp>
      <p:sp>
        <p:nvSpPr>
          <p:cNvPr id="8" name="Rounded Rectangle 7"/>
          <p:cNvSpPr/>
          <p:nvPr/>
        </p:nvSpPr>
        <p:spPr>
          <a:xfrm>
            <a:off x="502920" y="1444752"/>
            <a:ext cx="5486400" cy="3108960"/>
          </a:xfrm>
          <a:prstGeom prst="roundRect">
            <a:avLst>
              <a:gd name="adj" fmla="val 5500"/>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22376" y="1572768"/>
            <a:ext cx="5047488" cy="292608"/>
          </a:xfrm>
          <a:prstGeom prst="rect">
            <a:avLst/>
          </a:prstGeom>
          <a:noFill/>
        </p:spPr>
        <p:txBody>
          <a:bodyPr wrap="square" lIns="54864" rIns="54864" tIns="18288" bIns="18288" anchor="t">
            <a:spAutoFit/>
          </a:bodyPr>
          <a:lstStyle/>
          <a:p>
            <a:pPr algn="l">
              <a:lnSpc>
                <a:spcPct val="120000"/>
              </a:lnSpc>
              <a:spcAft>
                <a:spcPts val="0"/>
              </a:spcAft>
            </a:pPr>
            <a:r>
              <a:rPr sz="1150" b="1" i="0">
                <a:solidFill>
                  <a:srgbClr val="64748B"/>
                </a:solidFill>
                <a:latin typeface="Calibri"/>
              </a:rPr>
              <a:t>PLATTEGROND NIEUWBOUW</a:t>
            </a:r>
          </a:p>
        </p:txBody>
      </p:sp>
      <p:sp>
        <p:nvSpPr>
          <p:cNvPr id="10" name="Rounded Rectangle 9"/>
          <p:cNvSpPr/>
          <p:nvPr/>
        </p:nvSpPr>
        <p:spPr>
          <a:xfrm>
            <a:off x="813816" y="1993392"/>
            <a:ext cx="2834640" cy="2286000"/>
          </a:xfrm>
          <a:prstGeom prst="roundRect">
            <a:avLst>
              <a:gd name="adj" fmla="val 5500"/>
            </a:avLst>
          </a:prstGeom>
          <a:solidFill>
            <a:srgbClr val="E7F5F3"/>
          </a:solidFill>
          <a:ln w="19050">
            <a:solidFill>
              <a:srgbClr val="93D2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13816" y="2816352"/>
            <a:ext cx="2834640" cy="731520"/>
          </a:xfrm>
          <a:prstGeom prst="rect">
            <a:avLst/>
          </a:prstGeom>
          <a:noFill/>
        </p:spPr>
        <p:txBody>
          <a:bodyPr wrap="square" lIns="0" rIns="0" tIns="18288" bIns="18288" anchor="t">
            <a:spAutoFit/>
          </a:bodyPr>
          <a:lstStyle/>
          <a:p>
            <a:pPr algn="ctr">
              <a:lnSpc>
                <a:spcPct val="120000"/>
              </a:lnSpc>
              <a:spcAft>
                <a:spcPts val="200"/>
              </a:spcAft>
            </a:pPr>
            <a:r>
              <a:rPr sz="2200" b="1" i="0">
                <a:solidFill>
                  <a:srgbClr val="0E9A87"/>
                </a:solidFill>
                <a:latin typeface="Calibri"/>
              </a:rPr>
              <a:t>Hotfloor</a:t>
            </a:r>
          </a:p>
          <a:p>
            <a:pPr algn="ctr">
              <a:lnSpc>
                <a:spcPct val="120000"/>
              </a:lnSpc>
              <a:spcAft>
                <a:spcPts val="0"/>
              </a:spcAft>
            </a:pPr>
            <a:r>
              <a:rPr sz="1200" b="0" i="0">
                <a:solidFill>
                  <a:srgbClr val="64748B"/>
                </a:solidFill>
                <a:latin typeface="Calibri"/>
              </a:rPr>
              <a:t>16 bedden</a:t>
            </a:r>
          </a:p>
        </p:txBody>
      </p:sp>
      <p:sp>
        <p:nvSpPr>
          <p:cNvPr id="12" name="Rounded Rectangle 11"/>
          <p:cNvSpPr/>
          <p:nvPr/>
        </p:nvSpPr>
        <p:spPr>
          <a:xfrm>
            <a:off x="3849624" y="1993392"/>
            <a:ext cx="1828800" cy="1078992"/>
          </a:xfrm>
          <a:prstGeom prst="roundRect">
            <a:avLst>
              <a:gd name="adj" fmla="val 5500"/>
            </a:avLst>
          </a:prstGeom>
          <a:solidFill>
            <a:srgbClr val="FCF3E8"/>
          </a:solidFill>
          <a:ln w="19050">
            <a:solidFill>
              <a:srgbClr val="F0CA9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849624" y="2212848"/>
            <a:ext cx="1828800" cy="640080"/>
          </a:xfrm>
          <a:prstGeom prst="rect">
            <a:avLst/>
          </a:prstGeom>
          <a:noFill/>
        </p:spPr>
        <p:txBody>
          <a:bodyPr wrap="square" lIns="0" rIns="0" tIns="18288" bIns="18288" anchor="t">
            <a:spAutoFit/>
          </a:bodyPr>
          <a:lstStyle/>
          <a:p>
            <a:pPr algn="ctr">
              <a:lnSpc>
                <a:spcPct val="120000"/>
              </a:lnSpc>
              <a:spcAft>
                <a:spcPts val="200"/>
              </a:spcAft>
            </a:pPr>
            <a:r>
              <a:rPr sz="1800" b="1" i="0">
                <a:solidFill>
                  <a:srgbClr val="DE8A1B"/>
                </a:solidFill>
                <a:latin typeface="Calibri"/>
              </a:rPr>
              <a:t>EHH</a:t>
            </a:r>
          </a:p>
          <a:p>
            <a:pPr algn="ctr">
              <a:lnSpc>
                <a:spcPct val="120000"/>
              </a:lnSpc>
              <a:spcAft>
                <a:spcPts val="0"/>
              </a:spcAft>
            </a:pPr>
            <a:r>
              <a:rPr sz="1100" b="0" i="0">
                <a:solidFill>
                  <a:srgbClr val="64748B"/>
                </a:solidFill>
                <a:latin typeface="Calibri"/>
              </a:rPr>
              <a:t>? plekken</a:t>
            </a:r>
          </a:p>
        </p:txBody>
      </p:sp>
      <p:sp>
        <p:nvSpPr>
          <p:cNvPr id="14" name="Rounded Rectangle 13"/>
          <p:cNvSpPr/>
          <p:nvPr/>
        </p:nvSpPr>
        <p:spPr>
          <a:xfrm>
            <a:off x="3849624" y="3200400"/>
            <a:ext cx="1828800" cy="1078992"/>
          </a:xfrm>
          <a:prstGeom prst="roundRect">
            <a:avLst>
              <a:gd name="adj" fmla="val 5500"/>
            </a:avLst>
          </a:prstGeom>
          <a:solidFill>
            <a:srgbClr val="FCF3E8"/>
          </a:solidFill>
          <a:ln w="19050">
            <a:solidFill>
              <a:srgbClr val="F0CA9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849624" y="3419856"/>
            <a:ext cx="1828800" cy="640080"/>
          </a:xfrm>
          <a:prstGeom prst="rect">
            <a:avLst/>
          </a:prstGeom>
          <a:noFill/>
        </p:spPr>
        <p:txBody>
          <a:bodyPr wrap="square" lIns="0" rIns="0" tIns="18288" bIns="18288" anchor="t">
            <a:spAutoFit/>
          </a:bodyPr>
          <a:lstStyle/>
          <a:p>
            <a:pPr algn="ctr">
              <a:lnSpc>
                <a:spcPct val="120000"/>
              </a:lnSpc>
              <a:spcAft>
                <a:spcPts val="200"/>
              </a:spcAft>
            </a:pPr>
            <a:r>
              <a:rPr sz="1800" b="1" i="0">
                <a:solidFill>
                  <a:srgbClr val="DE8A1B"/>
                </a:solidFill>
                <a:latin typeface="Calibri"/>
              </a:rPr>
              <a:t>SEH</a:t>
            </a:r>
          </a:p>
          <a:p>
            <a:pPr algn="ctr">
              <a:lnSpc>
                <a:spcPct val="120000"/>
              </a:lnSpc>
              <a:spcAft>
                <a:spcPts val="0"/>
              </a:spcAft>
            </a:pPr>
            <a:r>
              <a:rPr sz="1100" b="0" i="0">
                <a:solidFill>
                  <a:srgbClr val="64748B"/>
                </a:solidFill>
                <a:latin typeface="Calibri"/>
              </a:rPr>
              <a:t>? plekken</a:t>
            </a:r>
          </a:p>
        </p:txBody>
      </p:sp>
      <p:sp>
        <p:nvSpPr>
          <p:cNvPr id="16" name="Rounded Rectangle 15"/>
          <p:cNvSpPr/>
          <p:nvPr/>
        </p:nvSpPr>
        <p:spPr>
          <a:xfrm>
            <a:off x="6300216" y="1444752"/>
            <a:ext cx="5388559" cy="3108960"/>
          </a:xfrm>
          <a:prstGeom prst="roundRect">
            <a:avLst>
              <a:gd name="adj" fmla="val 5500"/>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519672" y="1572768"/>
            <a:ext cx="4949647" cy="292608"/>
          </a:xfrm>
          <a:prstGeom prst="rect">
            <a:avLst/>
          </a:prstGeom>
          <a:noFill/>
        </p:spPr>
        <p:txBody>
          <a:bodyPr wrap="square" lIns="54864" rIns="54864" tIns="18288" bIns="18288" anchor="t">
            <a:spAutoFit/>
          </a:bodyPr>
          <a:lstStyle/>
          <a:p>
            <a:pPr algn="l">
              <a:lnSpc>
                <a:spcPct val="120000"/>
              </a:lnSpc>
              <a:spcAft>
                <a:spcPts val="0"/>
              </a:spcAft>
            </a:pPr>
            <a:r>
              <a:rPr sz="1150" b="1" i="0">
                <a:solidFill>
                  <a:srgbClr val="64748B"/>
                </a:solidFill>
                <a:latin typeface="Calibri"/>
              </a:rPr>
              <a:t>AANTALLEN EN VASTLEGGEN</a:t>
            </a:r>
          </a:p>
        </p:txBody>
      </p:sp>
      <p:sp>
        <p:nvSpPr>
          <p:cNvPr id="18" name="Rounded Rectangle 17"/>
          <p:cNvSpPr/>
          <p:nvPr/>
        </p:nvSpPr>
        <p:spPr>
          <a:xfrm>
            <a:off x="6519672" y="1975104"/>
            <a:ext cx="4949647" cy="512064"/>
          </a:xfrm>
          <a:prstGeom prst="roundRect">
            <a:avLst>
              <a:gd name="adj" fmla="val 5500"/>
            </a:avLst>
          </a:prstGeom>
          <a:solidFill>
            <a:srgbClr val="E9F6F4"/>
          </a:solidFill>
          <a:ln w="12700">
            <a:solidFill>
              <a:srgbClr val="ABDCD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684264" y="2002536"/>
            <a:ext cx="2194560" cy="457200"/>
          </a:xfrm>
          <a:prstGeom prst="rect">
            <a:avLst/>
          </a:prstGeom>
          <a:noFill/>
        </p:spPr>
        <p:txBody>
          <a:bodyPr wrap="square" lIns="0" rIns="0" tIns="18288" bIns="18288" anchor="ctr">
            <a:spAutoFit/>
          </a:bodyPr>
          <a:lstStyle/>
          <a:p>
            <a:pPr algn="l">
              <a:lnSpc>
                <a:spcPct val="120000"/>
              </a:lnSpc>
              <a:spcAft>
                <a:spcPts val="0"/>
              </a:spcAft>
            </a:pPr>
            <a:r>
              <a:rPr sz="1300" b="1" i="0">
                <a:solidFill>
                  <a:srgbClr val="0F1B2D"/>
                </a:solidFill>
                <a:latin typeface="Calibri"/>
              </a:rPr>
              <a:t>Hotfloor</a:t>
            </a:r>
          </a:p>
          <a:p>
            <a:pPr algn="l">
              <a:lnSpc>
                <a:spcPct val="120000"/>
              </a:lnSpc>
              <a:spcAft>
                <a:spcPts val="0"/>
              </a:spcAft>
            </a:pPr>
            <a:r>
              <a:rPr sz="950" b="0" i="0">
                <a:solidFill>
                  <a:srgbClr val="64748B"/>
                </a:solidFill>
                <a:latin typeface="Calibri"/>
              </a:rPr>
              <a:t>vastgesteld</a:t>
            </a:r>
          </a:p>
        </p:txBody>
      </p:sp>
      <p:sp>
        <p:nvSpPr>
          <p:cNvPr id="20" name="TextBox 19"/>
          <p:cNvSpPr txBox="1"/>
          <p:nvPr/>
        </p:nvSpPr>
        <p:spPr>
          <a:xfrm>
            <a:off x="9750247" y="2002536"/>
            <a:ext cx="1609344" cy="457200"/>
          </a:xfrm>
          <a:prstGeom prst="rect">
            <a:avLst/>
          </a:prstGeom>
          <a:noFill/>
        </p:spPr>
        <p:txBody>
          <a:bodyPr wrap="square" lIns="0" rIns="0" tIns="18288" bIns="18288" anchor="ctr">
            <a:spAutoFit/>
          </a:bodyPr>
          <a:lstStyle/>
          <a:p>
            <a:pPr algn="r">
              <a:lnSpc>
                <a:spcPct val="120000"/>
              </a:lnSpc>
              <a:spcAft>
                <a:spcPts val="0"/>
              </a:spcAft>
            </a:pPr>
            <a:r>
              <a:rPr sz="1400" b="1" i="0">
                <a:solidFill>
                  <a:srgbClr val="0E9A87"/>
                </a:solidFill>
                <a:latin typeface="Calibri"/>
              </a:rPr>
              <a:t>16 bedden</a:t>
            </a:r>
          </a:p>
        </p:txBody>
      </p:sp>
      <p:sp>
        <p:nvSpPr>
          <p:cNvPr id="21" name="Rounded Rectangle 20"/>
          <p:cNvSpPr/>
          <p:nvPr/>
        </p:nvSpPr>
        <p:spPr>
          <a:xfrm>
            <a:off x="6519672" y="2578608"/>
            <a:ext cx="4949647" cy="512064"/>
          </a:xfrm>
          <a:prstGeom prst="roundRect">
            <a:avLst>
              <a:gd name="adj" fmla="val 5500"/>
            </a:avLst>
          </a:prstGeom>
          <a:solidFill>
            <a:srgbClr val="FCF4EA"/>
          </a:solidFill>
          <a:ln w="12700">
            <a:solidFill>
              <a:srgbClr val="F3D6A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684264" y="2606040"/>
            <a:ext cx="2194560" cy="457200"/>
          </a:xfrm>
          <a:prstGeom prst="rect">
            <a:avLst/>
          </a:prstGeom>
          <a:noFill/>
        </p:spPr>
        <p:txBody>
          <a:bodyPr wrap="square" lIns="0" rIns="0" tIns="18288" bIns="18288" anchor="ctr">
            <a:spAutoFit/>
          </a:bodyPr>
          <a:lstStyle/>
          <a:p>
            <a:pPr algn="l">
              <a:lnSpc>
                <a:spcPct val="120000"/>
              </a:lnSpc>
              <a:spcAft>
                <a:spcPts val="0"/>
              </a:spcAft>
            </a:pPr>
            <a:r>
              <a:rPr sz="1300" b="1" i="0">
                <a:solidFill>
                  <a:srgbClr val="0F1B2D"/>
                </a:solidFill>
                <a:latin typeface="Calibri"/>
              </a:rPr>
              <a:t>SEH</a:t>
            </a:r>
          </a:p>
          <a:p>
            <a:pPr algn="l">
              <a:lnSpc>
                <a:spcPct val="120000"/>
              </a:lnSpc>
              <a:spcAft>
                <a:spcPts val="0"/>
              </a:spcAft>
            </a:pPr>
            <a:r>
              <a:rPr sz="950" b="0" i="0">
                <a:solidFill>
                  <a:srgbClr val="64748B"/>
                </a:solidFill>
                <a:latin typeface="Calibri"/>
              </a:rPr>
              <a:t>nog bepalen</a:t>
            </a:r>
          </a:p>
        </p:txBody>
      </p:sp>
      <p:sp>
        <p:nvSpPr>
          <p:cNvPr id="23" name="TextBox 22"/>
          <p:cNvSpPr txBox="1"/>
          <p:nvPr/>
        </p:nvSpPr>
        <p:spPr>
          <a:xfrm>
            <a:off x="9750247" y="2606040"/>
            <a:ext cx="1609344" cy="457200"/>
          </a:xfrm>
          <a:prstGeom prst="rect">
            <a:avLst/>
          </a:prstGeom>
          <a:noFill/>
        </p:spPr>
        <p:txBody>
          <a:bodyPr wrap="square" lIns="0" rIns="0" tIns="18288" bIns="18288" anchor="ctr">
            <a:spAutoFit/>
          </a:bodyPr>
          <a:lstStyle/>
          <a:p>
            <a:pPr algn="r">
              <a:lnSpc>
                <a:spcPct val="120000"/>
              </a:lnSpc>
              <a:spcAft>
                <a:spcPts val="0"/>
              </a:spcAft>
            </a:pPr>
            <a:r>
              <a:rPr sz="1400" b="1" i="0">
                <a:solidFill>
                  <a:srgbClr val="DE8A1B"/>
                </a:solidFill>
                <a:latin typeface="Calibri"/>
              </a:rPr>
              <a:t>? plekken</a:t>
            </a:r>
          </a:p>
        </p:txBody>
      </p:sp>
      <p:sp>
        <p:nvSpPr>
          <p:cNvPr id="24" name="Rounded Rectangle 23"/>
          <p:cNvSpPr/>
          <p:nvPr/>
        </p:nvSpPr>
        <p:spPr>
          <a:xfrm>
            <a:off x="6519672" y="3182112"/>
            <a:ext cx="4949647" cy="512064"/>
          </a:xfrm>
          <a:prstGeom prst="roundRect">
            <a:avLst>
              <a:gd name="adj" fmla="val 5500"/>
            </a:avLst>
          </a:prstGeom>
          <a:solidFill>
            <a:srgbClr val="FCF4EA"/>
          </a:solidFill>
          <a:ln w="12700">
            <a:solidFill>
              <a:srgbClr val="F3D6A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684264" y="3209544"/>
            <a:ext cx="2194560" cy="457200"/>
          </a:xfrm>
          <a:prstGeom prst="rect">
            <a:avLst/>
          </a:prstGeom>
          <a:noFill/>
        </p:spPr>
        <p:txBody>
          <a:bodyPr wrap="square" lIns="0" rIns="0" tIns="18288" bIns="18288" anchor="ctr">
            <a:spAutoFit/>
          </a:bodyPr>
          <a:lstStyle/>
          <a:p>
            <a:pPr algn="l">
              <a:lnSpc>
                <a:spcPct val="120000"/>
              </a:lnSpc>
              <a:spcAft>
                <a:spcPts val="0"/>
              </a:spcAft>
            </a:pPr>
            <a:r>
              <a:rPr sz="1300" b="1" i="0">
                <a:solidFill>
                  <a:srgbClr val="0F1B2D"/>
                </a:solidFill>
                <a:latin typeface="Calibri"/>
              </a:rPr>
              <a:t>EHH</a:t>
            </a:r>
          </a:p>
          <a:p>
            <a:pPr algn="l">
              <a:lnSpc>
                <a:spcPct val="120000"/>
              </a:lnSpc>
              <a:spcAft>
                <a:spcPts val="0"/>
              </a:spcAft>
            </a:pPr>
            <a:r>
              <a:rPr sz="950" b="0" i="0">
                <a:solidFill>
                  <a:srgbClr val="64748B"/>
                </a:solidFill>
                <a:latin typeface="Calibri"/>
              </a:rPr>
              <a:t>nog bepalen</a:t>
            </a:r>
          </a:p>
        </p:txBody>
      </p:sp>
      <p:sp>
        <p:nvSpPr>
          <p:cNvPr id="26" name="TextBox 25"/>
          <p:cNvSpPr txBox="1"/>
          <p:nvPr/>
        </p:nvSpPr>
        <p:spPr>
          <a:xfrm>
            <a:off x="9750247" y="3209544"/>
            <a:ext cx="1609344" cy="457200"/>
          </a:xfrm>
          <a:prstGeom prst="rect">
            <a:avLst/>
          </a:prstGeom>
          <a:noFill/>
        </p:spPr>
        <p:txBody>
          <a:bodyPr wrap="square" lIns="0" rIns="0" tIns="18288" bIns="18288" anchor="ctr">
            <a:spAutoFit/>
          </a:bodyPr>
          <a:lstStyle/>
          <a:p>
            <a:pPr algn="r">
              <a:lnSpc>
                <a:spcPct val="120000"/>
              </a:lnSpc>
              <a:spcAft>
                <a:spcPts val="0"/>
              </a:spcAft>
            </a:pPr>
            <a:r>
              <a:rPr sz="1400" b="1" i="0">
                <a:solidFill>
                  <a:srgbClr val="DE8A1B"/>
                </a:solidFill>
                <a:latin typeface="Calibri"/>
              </a:rPr>
              <a:t>? plekken</a:t>
            </a:r>
          </a:p>
        </p:txBody>
      </p:sp>
      <p:sp>
        <p:nvSpPr>
          <p:cNvPr id="27" name="TextBox 26"/>
          <p:cNvSpPr txBox="1"/>
          <p:nvPr/>
        </p:nvSpPr>
        <p:spPr>
          <a:xfrm>
            <a:off x="6519672" y="3822191"/>
            <a:ext cx="4949647" cy="640080"/>
          </a:xfrm>
          <a:prstGeom prst="rect">
            <a:avLst/>
          </a:prstGeom>
          <a:noFill/>
        </p:spPr>
        <p:txBody>
          <a:bodyPr wrap="square" lIns="54864" rIns="54864" tIns="18288" bIns="18288" anchor="t">
            <a:spAutoFit/>
          </a:bodyPr>
          <a:lstStyle/>
          <a:p>
            <a:pPr algn="l">
              <a:lnSpc>
                <a:spcPct val="120000"/>
              </a:lnSpc>
              <a:spcAft>
                <a:spcPts val="200"/>
              </a:spcAft>
            </a:pPr>
            <a:r>
              <a:rPr sz="1200" b="1" i="0">
                <a:solidFill>
                  <a:srgbClr val="0F1B2D"/>
                </a:solidFill>
                <a:latin typeface="Calibri"/>
              </a:rPr>
              <a:t>Per ruimte vastleggen</a:t>
            </a:r>
          </a:p>
          <a:p>
            <a:pPr algn="l">
              <a:lnSpc>
                <a:spcPct val="120000"/>
              </a:lnSpc>
              <a:spcAft>
                <a:spcPts val="0"/>
              </a:spcAft>
            </a:pPr>
            <a:r>
              <a:rPr sz="1100" b="0" i="0">
                <a:solidFill>
                  <a:srgbClr val="64748B"/>
                </a:solidFill>
                <a:latin typeface="Calibri"/>
              </a:rPr>
              <a:t>fysieke plekken  -  specifieke plekken  -  middelen, materialen en apparatuur</a:t>
            </a:r>
          </a:p>
        </p:txBody>
      </p:sp>
      <p:sp>
        <p:nvSpPr>
          <p:cNvPr id="28" name="Rounded Rectangle 27"/>
          <p:cNvSpPr/>
          <p:nvPr/>
        </p:nvSpPr>
        <p:spPr>
          <a:xfrm>
            <a:off x="502920" y="4754880"/>
            <a:ext cx="11185855" cy="731520"/>
          </a:xfrm>
          <a:prstGeom prst="roundRect">
            <a:avLst>
              <a:gd name="adj" fmla="val 5500"/>
            </a:avLst>
          </a:prstGeom>
          <a:solidFill>
            <a:srgbClr val="FBF0E1"/>
          </a:solidFill>
          <a:ln w="12700">
            <a:solidFill>
              <a:srgbClr val="F0CA9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76656" y="4965192"/>
            <a:ext cx="310896" cy="310896"/>
          </a:xfrm>
          <a:prstGeom prst="ellipse">
            <a:avLst/>
          </a:prstGeom>
          <a:solidFill>
            <a:srgbClr val="DE8A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FFFFFF"/>
                </a:solidFill>
                <a:latin typeface="Calibri"/>
              </a:rPr>
              <a:t>!</a:t>
            </a:r>
          </a:p>
        </p:txBody>
      </p:sp>
      <p:sp>
        <p:nvSpPr>
          <p:cNvPr id="30" name="TextBox 29"/>
          <p:cNvSpPr txBox="1"/>
          <p:nvPr/>
        </p:nvSpPr>
        <p:spPr>
          <a:xfrm>
            <a:off x="1106424" y="4828032"/>
            <a:ext cx="10362895" cy="585216"/>
          </a:xfrm>
          <a:prstGeom prst="rect">
            <a:avLst/>
          </a:prstGeom>
          <a:noFill/>
        </p:spPr>
        <p:txBody>
          <a:bodyPr wrap="square" lIns="54864" rIns="54864" tIns="18288" bIns="18288" anchor="ctr">
            <a:spAutoFit/>
          </a:bodyPr>
          <a:lstStyle/>
          <a:p>
            <a:pPr algn="l">
              <a:lnSpc>
                <a:spcPct val="120000"/>
              </a:lnSpc>
              <a:spcAft>
                <a:spcPts val="200"/>
              </a:spcAft>
            </a:pPr>
            <a:r>
              <a:rPr sz="900" b="1" i="0">
                <a:solidFill>
                  <a:srgbClr val="DE8A1B"/>
                </a:solidFill>
                <a:latin typeface="Calibri"/>
              </a:rPr>
              <a:t>OPENSTAANDE VRAAG</a:t>
            </a:r>
          </a:p>
          <a:p>
            <a:pPr algn="l">
              <a:lnSpc>
                <a:spcPct val="120000"/>
              </a:lnSpc>
              <a:spcAft>
                <a:spcPts val="0"/>
              </a:spcAft>
            </a:pPr>
            <a:r>
              <a:rPr sz="1250" b="1" i="0">
                <a:solidFill>
                  <a:srgbClr val="0F1B2D"/>
                </a:solidFill>
                <a:latin typeface="Calibri"/>
              </a:rPr>
              <a:t>Zolang het aantal plekken voor de SEH en de EHH niet bepaald is, kan de personele inzet daar niet berekend worden.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502920" y="429768"/>
            <a:ext cx="457200" cy="457200"/>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600" b="1">
                <a:solidFill>
                  <a:srgbClr val="FFFFFF"/>
                </a:solidFill>
                <a:latin typeface="Calibri"/>
              </a:rPr>
              <a:t>10</a:t>
            </a:r>
          </a:p>
        </p:txBody>
      </p:sp>
      <p:sp>
        <p:nvSpPr>
          <p:cNvPr id="4" name="TextBox 3"/>
          <p:cNvSpPr txBox="1"/>
          <p:nvPr/>
        </p:nvSpPr>
        <p:spPr>
          <a:xfrm>
            <a:off x="1106424" y="365760"/>
            <a:ext cx="10582351" cy="402336"/>
          </a:xfrm>
          <a:prstGeom prst="rect">
            <a:avLst/>
          </a:prstGeom>
          <a:noFill/>
        </p:spPr>
        <p:txBody>
          <a:bodyPr wrap="square" lIns="0" rIns="0" tIns="18288" bIns="18288" anchor="ctr">
            <a:spAutoFit/>
          </a:bodyPr>
          <a:lstStyle/>
          <a:p>
            <a:pPr algn="l">
              <a:lnSpc>
                <a:spcPct val="120000"/>
              </a:lnSpc>
              <a:spcAft>
                <a:spcPts val="0"/>
              </a:spcAft>
            </a:pPr>
            <a:r>
              <a:rPr sz="2250" b="1" i="0">
                <a:solidFill>
                  <a:srgbClr val="0F1B2D"/>
                </a:solidFill>
                <a:latin typeface="Calibri"/>
              </a:rPr>
              <a:t>Vijf scenario's, en waar ze op ingrijpen</a:t>
            </a:r>
          </a:p>
        </p:txBody>
      </p:sp>
      <p:sp>
        <p:nvSpPr>
          <p:cNvPr id="5" name="TextBox 4"/>
          <p:cNvSpPr txBox="1"/>
          <p:nvPr/>
        </p:nvSpPr>
        <p:spPr>
          <a:xfrm>
            <a:off x="1106424" y="822960"/>
            <a:ext cx="10582351" cy="329184"/>
          </a:xfrm>
          <a:prstGeom prst="rect">
            <a:avLst/>
          </a:prstGeom>
          <a:noFill/>
        </p:spPr>
        <p:txBody>
          <a:bodyPr wrap="square" lIns="0" rIns="0" tIns="18288" bIns="18288" anchor="ctr">
            <a:spAutoFit/>
          </a:bodyPr>
          <a:lstStyle/>
          <a:p>
            <a:pPr algn="l">
              <a:lnSpc>
                <a:spcPct val="120000"/>
              </a:lnSpc>
              <a:spcAft>
                <a:spcPts val="0"/>
              </a:spcAft>
            </a:pPr>
            <a:r>
              <a:rPr sz="1350" b="0" i="0">
                <a:solidFill>
                  <a:srgbClr val="64748B"/>
                </a:solidFill>
                <a:latin typeface="Calibri"/>
              </a:rPr>
              <a:t>Elke variant verandert zowel de fysieke capaciteit als de personele inzet</a:t>
            </a:r>
          </a:p>
        </p:txBody>
      </p:sp>
      <p:sp>
        <p:nvSpPr>
          <p:cNvPr id="6" name="TextBox 5"/>
          <p:cNvSpPr txBox="1"/>
          <p:nvPr/>
        </p:nvSpPr>
        <p:spPr>
          <a:xfrm>
            <a:off x="502920" y="6419088"/>
            <a:ext cx="5486400" cy="274320"/>
          </a:xfrm>
          <a:prstGeom prst="rect">
            <a:avLst/>
          </a:prstGeom>
          <a:noFill/>
        </p:spPr>
        <p:txBody>
          <a:bodyPr wrap="square" lIns="0" rIns="0" tIns="18288" bIns="18288" anchor="t">
            <a:spAutoFit/>
          </a:bodyPr>
          <a:lstStyle/>
          <a:p>
            <a:pPr algn="l">
              <a:lnSpc>
                <a:spcPct val="120000"/>
              </a:lnSpc>
              <a:spcAft>
                <a:spcPts val="0"/>
              </a:spcAft>
            </a:pPr>
            <a:r>
              <a:rPr sz="900" b="0" i="0">
                <a:solidFill>
                  <a:srgbClr val="64748B"/>
                </a:solidFill>
                <a:latin typeface="Calibri"/>
              </a:rPr>
              <a:t>Acute poort en Hotfloor</a:t>
            </a:r>
          </a:p>
        </p:txBody>
      </p:sp>
      <p:sp>
        <p:nvSpPr>
          <p:cNvPr id="7" name="TextBox 6"/>
          <p:cNvSpPr txBox="1"/>
          <p:nvPr/>
        </p:nvSpPr>
        <p:spPr>
          <a:xfrm>
            <a:off x="10591495" y="6419088"/>
            <a:ext cx="1097280" cy="274320"/>
          </a:xfrm>
          <a:prstGeom prst="rect">
            <a:avLst/>
          </a:prstGeom>
          <a:noFill/>
        </p:spPr>
        <p:txBody>
          <a:bodyPr wrap="square" lIns="0" rIns="0" tIns="18288" bIns="18288" anchor="t">
            <a:spAutoFit/>
          </a:bodyPr>
          <a:lstStyle/>
          <a:p>
            <a:pPr algn="r">
              <a:lnSpc>
                <a:spcPct val="120000"/>
              </a:lnSpc>
              <a:spcAft>
                <a:spcPts val="0"/>
              </a:spcAft>
            </a:pPr>
            <a:r>
              <a:rPr sz="900" b="0" i="0">
                <a:solidFill>
                  <a:srgbClr val="64748B"/>
                </a:solidFill>
                <a:latin typeface="Calibri"/>
              </a:rPr>
              <a:t>10</a:t>
            </a:r>
          </a:p>
        </p:txBody>
      </p:sp>
      <p:sp>
        <p:nvSpPr>
          <p:cNvPr id="8" name="Rounded Rectangle 7"/>
          <p:cNvSpPr/>
          <p:nvPr/>
        </p:nvSpPr>
        <p:spPr>
          <a:xfrm>
            <a:off x="502920" y="1517904"/>
            <a:ext cx="7223760" cy="603504"/>
          </a:xfrm>
          <a:prstGeom prst="roundRect">
            <a:avLst>
              <a:gd name="adj" fmla="val 5500"/>
            </a:avLst>
          </a:prstGeom>
          <a:solidFill>
            <a:srgbClr val="EFF5FA"/>
          </a:solidFill>
          <a:ln w="12700">
            <a:solidFill>
              <a:srgbClr val="BCD4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76656" y="1609344"/>
            <a:ext cx="420624" cy="420624"/>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FFFFFF"/>
                </a:solidFill>
                <a:latin typeface="Calibri"/>
              </a:rPr>
              <a:t>1</a:t>
            </a:r>
          </a:p>
        </p:txBody>
      </p:sp>
      <p:sp>
        <p:nvSpPr>
          <p:cNvPr id="10" name="TextBox 9"/>
          <p:cNvSpPr txBox="1"/>
          <p:nvPr/>
        </p:nvSpPr>
        <p:spPr>
          <a:xfrm>
            <a:off x="1197864" y="1554480"/>
            <a:ext cx="6309360" cy="530352"/>
          </a:xfrm>
          <a:prstGeom prst="rect">
            <a:avLst/>
          </a:prstGeom>
          <a:noFill/>
        </p:spPr>
        <p:txBody>
          <a:bodyPr wrap="square" lIns="54864" rIns="54864" tIns="18288" bIns="18288" anchor="ctr">
            <a:spAutoFit/>
          </a:bodyPr>
          <a:lstStyle/>
          <a:p>
            <a:pPr algn="l">
              <a:lnSpc>
                <a:spcPct val="120000"/>
              </a:lnSpc>
              <a:spcAft>
                <a:spcPts val="100"/>
              </a:spcAft>
            </a:pPr>
            <a:r>
              <a:rPr sz="1400" b="1" i="0">
                <a:solidFill>
                  <a:srgbClr val="0F1B2D"/>
                </a:solidFill>
                <a:latin typeface="Calibri"/>
              </a:rPr>
              <a:t>EHH naar SEH?</a:t>
            </a:r>
          </a:p>
          <a:p>
            <a:pPr algn="l">
              <a:lnSpc>
                <a:spcPct val="120000"/>
              </a:lnSpc>
              <a:spcAft>
                <a:spcPts val="0"/>
              </a:spcAft>
            </a:pPr>
            <a:r>
              <a:rPr sz="1050" b="0" i="0">
                <a:solidFill>
                  <a:srgbClr val="64748B"/>
                </a:solidFill>
                <a:latin typeface="Calibri"/>
              </a:rPr>
              <a:t>overdag, of ook 's avonds?</a:t>
            </a:r>
          </a:p>
        </p:txBody>
      </p:sp>
      <p:sp>
        <p:nvSpPr>
          <p:cNvPr id="11" name="Rounded Rectangle 10"/>
          <p:cNvSpPr/>
          <p:nvPr/>
        </p:nvSpPr>
        <p:spPr>
          <a:xfrm>
            <a:off x="502920" y="2249424"/>
            <a:ext cx="7223760" cy="603504"/>
          </a:xfrm>
          <a:prstGeom prst="roundRect">
            <a:avLst>
              <a:gd name="adj" fmla="val 5500"/>
            </a:avLst>
          </a:prstGeom>
          <a:solidFill>
            <a:srgbClr val="EFF5FA"/>
          </a:solidFill>
          <a:ln w="12700">
            <a:solidFill>
              <a:srgbClr val="BCD4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676656" y="2340864"/>
            <a:ext cx="420624" cy="420624"/>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FFFFFF"/>
                </a:solidFill>
                <a:latin typeface="Calibri"/>
              </a:rPr>
              <a:t>2</a:t>
            </a:r>
          </a:p>
        </p:txBody>
      </p:sp>
      <p:sp>
        <p:nvSpPr>
          <p:cNvPr id="13" name="TextBox 12"/>
          <p:cNvSpPr txBox="1"/>
          <p:nvPr/>
        </p:nvSpPr>
        <p:spPr>
          <a:xfrm>
            <a:off x="1197864" y="2286000"/>
            <a:ext cx="6309360" cy="530352"/>
          </a:xfrm>
          <a:prstGeom prst="rect">
            <a:avLst/>
          </a:prstGeom>
          <a:noFill/>
        </p:spPr>
        <p:txBody>
          <a:bodyPr wrap="square" lIns="54864" rIns="54864" tIns="18288" bIns="18288" anchor="ctr">
            <a:spAutoFit/>
          </a:bodyPr>
          <a:lstStyle/>
          <a:p>
            <a:pPr algn="l">
              <a:lnSpc>
                <a:spcPct val="120000"/>
              </a:lnSpc>
              <a:spcAft>
                <a:spcPts val="100"/>
              </a:spcAft>
            </a:pPr>
            <a:r>
              <a:rPr sz="1400" b="1" i="0">
                <a:solidFill>
                  <a:srgbClr val="0F1B2D"/>
                </a:solidFill>
                <a:latin typeface="Calibri"/>
              </a:rPr>
              <a:t>ICU en SCU samen op de ICU</a:t>
            </a:r>
          </a:p>
        </p:txBody>
      </p:sp>
      <p:sp>
        <p:nvSpPr>
          <p:cNvPr id="14" name="Rounded Rectangle 13"/>
          <p:cNvSpPr/>
          <p:nvPr/>
        </p:nvSpPr>
        <p:spPr>
          <a:xfrm>
            <a:off x="502920" y="2980944"/>
            <a:ext cx="7223760" cy="603504"/>
          </a:xfrm>
          <a:prstGeom prst="roundRect">
            <a:avLst>
              <a:gd name="adj" fmla="val 5500"/>
            </a:avLst>
          </a:prstGeom>
          <a:solidFill>
            <a:srgbClr val="EFF5FA"/>
          </a:solidFill>
          <a:ln w="12700">
            <a:solidFill>
              <a:srgbClr val="BCD4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676656" y="3072384"/>
            <a:ext cx="420624" cy="420624"/>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FFFFFF"/>
                </a:solidFill>
                <a:latin typeface="Calibri"/>
              </a:rPr>
              <a:t>3</a:t>
            </a:r>
          </a:p>
        </p:txBody>
      </p:sp>
      <p:sp>
        <p:nvSpPr>
          <p:cNvPr id="16" name="TextBox 15"/>
          <p:cNvSpPr txBox="1"/>
          <p:nvPr/>
        </p:nvSpPr>
        <p:spPr>
          <a:xfrm>
            <a:off x="1197864" y="3017520"/>
            <a:ext cx="6309360" cy="530352"/>
          </a:xfrm>
          <a:prstGeom prst="rect">
            <a:avLst/>
          </a:prstGeom>
          <a:noFill/>
        </p:spPr>
        <p:txBody>
          <a:bodyPr wrap="square" lIns="54864" rIns="54864" tIns="18288" bIns="18288" anchor="ctr">
            <a:spAutoFit/>
          </a:bodyPr>
          <a:lstStyle/>
          <a:p>
            <a:pPr algn="l">
              <a:lnSpc>
                <a:spcPct val="120000"/>
              </a:lnSpc>
              <a:spcAft>
                <a:spcPts val="100"/>
              </a:spcAft>
            </a:pPr>
            <a:r>
              <a:rPr sz="1400" b="1" i="0">
                <a:solidFill>
                  <a:srgbClr val="0F1B2D"/>
                </a:solidFill>
                <a:latin typeface="Calibri"/>
              </a:rPr>
              <a:t>Recovery ICU naar CCU / SCU</a:t>
            </a:r>
          </a:p>
        </p:txBody>
      </p:sp>
      <p:sp>
        <p:nvSpPr>
          <p:cNvPr id="17" name="Rounded Rectangle 16"/>
          <p:cNvSpPr/>
          <p:nvPr/>
        </p:nvSpPr>
        <p:spPr>
          <a:xfrm>
            <a:off x="502920" y="3712464"/>
            <a:ext cx="7223760" cy="603504"/>
          </a:xfrm>
          <a:prstGeom prst="roundRect">
            <a:avLst>
              <a:gd name="adj" fmla="val 5500"/>
            </a:avLst>
          </a:prstGeom>
          <a:solidFill>
            <a:srgbClr val="EFF5FA"/>
          </a:solidFill>
          <a:ln w="12700">
            <a:solidFill>
              <a:srgbClr val="BCD4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676656" y="3803904"/>
            <a:ext cx="420624" cy="420624"/>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FFFFFF"/>
                </a:solidFill>
                <a:latin typeface="Calibri"/>
              </a:rPr>
              <a:t>4</a:t>
            </a:r>
          </a:p>
        </p:txBody>
      </p:sp>
      <p:sp>
        <p:nvSpPr>
          <p:cNvPr id="19" name="TextBox 18"/>
          <p:cNvSpPr txBox="1"/>
          <p:nvPr/>
        </p:nvSpPr>
        <p:spPr>
          <a:xfrm>
            <a:off x="1197864" y="3749040"/>
            <a:ext cx="6309360" cy="530352"/>
          </a:xfrm>
          <a:prstGeom prst="rect">
            <a:avLst/>
          </a:prstGeom>
          <a:noFill/>
        </p:spPr>
        <p:txBody>
          <a:bodyPr wrap="square" lIns="54864" rIns="54864" tIns="18288" bIns="18288" anchor="ctr">
            <a:spAutoFit/>
          </a:bodyPr>
          <a:lstStyle/>
          <a:p>
            <a:pPr algn="l">
              <a:lnSpc>
                <a:spcPct val="120000"/>
              </a:lnSpc>
              <a:spcAft>
                <a:spcPts val="100"/>
              </a:spcAft>
            </a:pPr>
            <a:r>
              <a:rPr sz="1400" b="1" i="0">
                <a:solidFill>
                  <a:srgbClr val="0F1B2D"/>
                </a:solidFill>
                <a:latin typeface="Calibri"/>
              </a:rPr>
              <a:t>Cardioversies CCU verplaatsen</a:t>
            </a:r>
          </a:p>
        </p:txBody>
      </p:sp>
      <p:sp>
        <p:nvSpPr>
          <p:cNvPr id="20" name="Rounded Rectangle 19"/>
          <p:cNvSpPr/>
          <p:nvPr/>
        </p:nvSpPr>
        <p:spPr>
          <a:xfrm>
            <a:off x="502920" y="4443984"/>
            <a:ext cx="7223760" cy="603504"/>
          </a:xfrm>
          <a:prstGeom prst="roundRect">
            <a:avLst>
              <a:gd name="adj" fmla="val 5500"/>
            </a:avLst>
          </a:prstGeom>
          <a:solidFill>
            <a:srgbClr val="F4F5F7"/>
          </a:solidFill>
          <a:ln w="12700">
            <a:solidFill>
              <a:srgbClr val="D0D5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676656" y="4535424"/>
            <a:ext cx="420624" cy="420624"/>
          </a:xfrm>
          <a:prstGeom prst="ellipse">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FFFFFF"/>
                </a:solidFill>
                <a:latin typeface="Calibri"/>
              </a:rPr>
              <a:t>5</a:t>
            </a:r>
          </a:p>
        </p:txBody>
      </p:sp>
      <p:sp>
        <p:nvSpPr>
          <p:cNvPr id="22" name="TextBox 21"/>
          <p:cNvSpPr txBox="1"/>
          <p:nvPr/>
        </p:nvSpPr>
        <p:spPr>
          <a:xfrm>
            <a:off x="1197864" y="4480560"/>
            <a:ext cx="6309360" cy="530352"/>
          </a:xfrm>
          <a:prstGeom prst="rect">
            <a:avLst/>
          </a:prstGeom>
          <a:noFill/>
        </p:spPr>
        <p:txBody>
          <a:bodyPr wrap="square" lIns="54864" rIns="54864" tIns="18288" bIns="18288" anchor="ctr">
            <a:spAutoFit/>
          </a:bodyPr>
          <a:lstStyle/>
          <a:p>
            <a:pPr algn="l">
              <a:lnSpc>
                <a:spcPct val="120000"/>
              </a:lnSpc>
              <a:spcAft>
                <a:spcPts val="100"/>
              </a:spcAft>
            </a:pPr>
            <a:r>
              <a:rPr sz="1400" b="1" i="0">
                <a:solidFill>
                  <a:srgbClr val="0F1B2D"/>
                </a:solidFill>
                <a:latin typeface="Calibri"/>
              </a:rPr>
              <a:t>Huidig: ICU, CCU/SCU/EHH en SEH apart</a:t>
            </a:r>
          </a:p>
          <a:p>
            <a:pPr algn="l">
              <a:lnSpc>
                <a:spcPct val="120000"/>
              </a:lnSpc>
              <a:spcAft>
                <a:spcPts val="0"/>
              </a:spcAft>
            </a:pPr>
            <a:r>
              <a:rPr sz="1050" b="0" i="0">
                <a:solidFill>
                  <a:srgbClr val="64748B"/>
                </a:solidFill>
                <a:latin typeface="Calibri"/>
              </a:rPr>
              <a:t>referentiescenario</a:t>
            </a:r>
          </a:p>
        </p:txBody>
      </p:sp>
      <p:sp>
        <p:nvSpPr>
          <p:cNvPr id="23" name="Rounded Rectangle 22"/>
          <p:cNvSpPr/>
          <p:nvPr/>
        </p:nvSpPr>
        <p:spPr>
          <a:xfrm>
            <a:off x="8037576" y="1517904"/>
            <a:ext cx="3651199" cy="3712463"/>
          </a:xfrm>
          <a:prstGeom prst="roundRect">
            <a:avLst>
              <a:gd name="adj" fmla="val 5500"/>
            </a:avLst>
          </a:prstGeom>
          <a:solidFill>
            <a:srgbClr val="F5F2F9"/>
          </a:solidFill>
          <a:ln w="12700">
            <a:solidFill>
              <a:srgbClr val="D3C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238744" y="1664208"/>
            <a:ext cx="3248863" cy="457200"/>
          </a:xfrm>
          <a:prstGeom prst="rect">
            <a:avLst/>
          </a:prstGeom>
          <a:noFill/>
        </p:spPr>
        <p:txBody>
          <a:bodyPr wrap="square" lIns="0" rIns="0" tIns="18288" bIns="18288" anchor="t">
            <a:spAutoFit/>
          </a:bodyPr>
          <a:lstStyle/>
          <a:p>
            <a:pPr algn="ctr">
              <a:lnSpc>
                <a:spcPct val="120000"/>
              </a:lnSpc>
              <a:spcAft>
                <a:spcPts val="0"/>
              </a:spcAft>
            </a:pPr>
            <a:r>
              <a:rPr sz="1500" b="1" i="0">
                <a:solidFill>
                  <a:srgbClr val="6B4BA8"/>
                </a:solidFill>
                <a:latin typeface="Calibri"/>
              </a:rPr>
              <a:t>Elk scenario raakt</a:t>
            </a:r>
          </a:p>
        </p:txBody>
      </p:sp>
      <p:sp>
        <p:nvSpPr>
          <p:cNvPr id="25" name="Rounded Rectangle 24"/>
          <p:cNvSpPr/>
          <p:nvPr/>
        </p:nvSpPr>
        <p:spPr>
          <a:xfrm>
            <a:off x="8238744" y="2231136"/>
            <a:ext cx="3248863" cy="969264"/>
          </a:xfrm>
          <a:prstGeom prst="roundRect">
            <a:avLst>
              <a:gd name="adj" fmla="val 5500"/>
            </a:avLst>
          </a:prstGeom>
          <a:solidFill>
            <a:srgbClr val="FFFFFF"/>
          </a:solidFill>
          <a:ln w="12700">
            <a:solidFill>
              <a:srgbClr val="B1CD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348472" y="2322576"/>
            <a:ext cx="3029407" cy="786384"/>
          </a:xfrm>
          <a:prstGeom prst="rect">
            <a:avLst/>
          </a:prstGeom>
          <a:noFill/>
        </p:spPr>
        <p:txBody>
          <a:bodyPr wrap="square" lIns="54864" rIns="54864" tIns="18288" bIns="18288" anchor="ctr">
            <a:spAutoFit/>
          </a:bodyPr>
          <a:lstStyle/>
          <a:p>
            <a:pPr algn="ctr">
              <a:lnSpc>
                <a:spcPct val="120000"/>
              </a:lnSpc>
              <a:spcAft>
                <a:spcPts val="200"/>
              </a:spcAft>
            </a:pPr>
            <a:r>
              <a:rPr sz="1350" b="1" i="0">
                <a:solidFill>
                  <a:srgbClr val="1F6FB2"/>
                </a:solidFill>
                <a:latin typeface="Calibri"/>
              </a:rPr>
              <a:t>Fysieke capaciteit</a:t>
            </a:r>
          </a:p>
          <a:p>
            <a:pPr algn="ctr">
              <a:lnSpc>
                <a:spcPct val="120000"/>
              </a:lnSpc>
              <a:spcAft>
                <a:spcPts val="0"/>
              </a:spcAft>
            </a:pPr>
            <a:r>
              <a:rPr sz="1100" b="0" i="0">
                <a:solidFill>
                  <a:srgbClr val="64748B"/>
                </a:solidFill>
                <a:latin typeface="Calibri"/>
              </a:rPr>
              <a:t>aantal plekken, type plek, locatie</a:t>
            </a:r>
          </a:p>
        </p:txBody>
      </p:sp>
      <p:sp>
        <p:nvSpPr>
          <p:cNvPr id="27" name="Rounded Rectangle 26"/>
          <p:cNvSpPr/>
          <p:nvPr/>
        </p:nvSpPr>
        <p:spPr>
          <a:xfrm>
            <a:off x="8238744" y="3364991"/>
            <a:ext cx="3248863" cy="969264"/>
          </a:xfrm>
          <a:prstGeom prst="roundRect">
            <a:avLst>
              <a:gd name="adj" fmla="val 5500"/>
            </a:avLst>
          </a:prstGeom>
          <a:solidFill>
            <a:srgbClr val="FFFFFF"/>
          </a:solidFill>
          <a:ln w="12700">
            <a:solidFill>
              <a:srgbClr val="ABDCD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348472" y="3456432"/>
            <a:ext cx="3029407" cy="786384"/>
          </a:xfrm>
          <a:prstGeom prst="rect">
            <a:avLst/>
          </a:prstGeom>
          <a:noFill/>
        </p:spPr>
        <p:txBody>
          <a:bodyPr wrap="square" lIns="54864" rIns="54864" tIns="18288" bIns="18288" anchor="ctr">
            <a:spAutoFit/>
          </a:bodyPr>
          <a:lstStyle/>
          <a:p>
            <a:pPr algn="ctr">
              <a:lnSpc>
                <a:spcPct val="120000"/>
              </a:lnSpc>
              <a:spcAft>
                <a:spcPts val="200"/>
              </a:spcAft>
            </a:pPr>
            <a:r>
              <a:rPr sz="1350" b="1" i="0">
                <a:solidFill>
                  <a:srgbClr val="0E9A87"/>
                </a:solidFill>
                <a:latin typeface="Calibri"/>
              </a:rPr>
              <a:t>Personele inzet</a:t>
            </a:r>
          </a:p>
          <a:p>
            <a:pPr algn="ctr">
              <a:lnSpc>
                <a:spcPct val="120000"/>
              </a:lnSpc>
              <a:spcAft>
                <a:spcPts val="0"/>
              </a:spcAft>
            </a:pPr>
            <a:r>
              <a:rPr sz="1100" b="0" i="0">
                <a:solidFill>
                  <a:srgbClr val="64748B"/>
                </a:solidFill>
                <a:latin typeface="Calibri"/>
              </a:rPr>
              <a:t>norm en deskundigheid</a:t>
            </a:r>
          </a:p>
        </p:txBody>
      </p:sp>
      <p:sp>
        <p:nvSpPr>
          <p:cNvPr id="29" name="TextBox 28"/>
          <p:cNvSpPr txBox="1"/>
          <p:nvPr/>
        </p:nvSpPr>
        <p:spPr>
          <a:xfrm>
            <a:off x="8238744" y="4517136"/>
            <a:ext cx="3248863" cy="603504"/>
          </a:xfrm>
          <a:prstGeom prst="rect">
            <a:avLst/>
          </a:prstGeom>
          <a:noFill/>
        </p:spPr>
        <p:txBody>
          <a:bodyPr wrap="square" lIns="54864" rIns="54864" tIns="18288" bIns="18288" anchor="ctr">
            <a:spAutoFit/>
          </a:bodyPr>
          <a:lstStyle/>
          <a:p>
            <a:pPr algn="ctr">
              <a:lnSpc>
                <a:spcPct val="120000"/>
              </a:lnSpc>
              <a:spcAft>
                <a:spcPts val="0"/>
              </a:spcAft>
            </a:pPr>
            <a:r>
              <a:rPr sz="1100" b="0" i="0">
                <a:solidFill>
                  <a:srgbClr val="0F1B2D"/>
                </a:solidFill>
                <a:latin typeface="Calibri"/>
              </a:rPr>
              <a:t>De keuze wordt gemaakt op basis van data uit BIC, niet op basis van aannames.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502920" y="429768"/>
            <a:ext cx="457200" cy="457200"/>
          </a:xfrm>
          <a:prstGeom prst="ellipse">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600" b="1">
                <a:solidFill>
                  <a:srgbClr val="FFFFFF"/>
                </a:solidFill>
                <a:latin typeface="Calibri"/>
              </a:rPr>
              <a:t>11</a:t>
            </a:r>
          </a:p>
        </p:txBody>
      </p:sp>
      <p:sp>
        <p:nvSpPr>
          <p:cNvPr id="4" name="TextBox 3"/>
          <p:cNvSpPr txBox="1"/>
          <p:nvPr/>
        </p:nvSpPr>
        <p:spPr>
          <a:xfrm>
            <a:off x="1106424" y="365760"/>
            <a:ext cx="10582351" cy="402336"/>
          </a:xfrm>
          <a:prstGeom prst="rect">
            <a:avLst/>
          </a:prstGeom>
          <a:noFill/>
        </p:spPr>
        <p:txBody>
          <a:bodyPr wrap="square" lIns="0" rIns="0" tIns="18288" bIns="18288" anchor="ctr">
            <a:spAutoFit/>
          </a:bodyPr>
          <a:lstStyle/>
          <a:p>
            <a:pPr algn="l">
              <a:lnSpc>
                <a:spcPct val="120000"/>
              </a:lnSpc>
              <a:spcAft>
                <a:spcPts val="0"/>
              </a:spcAft>
            </a:pPr>
            <a:r>
              <a:rPr sz="2250" b="1" i="0">
                <a:solidFill>
                  <a:srgbClr val="0F1B2D"/>
                </a:solidFill>
                <a:latin typeface="Calibri"/>
              </a:rPr>
              <a:t>Van scenario naar rooster</a:t>
            </a:r>
          </a:p>
        </p:txBody>
      </p:sp>
      <p:sp>
        <p:nvSpPr>
          <p:cNvPr id="5" name="TextBox 4"/>
          <p:cNvSpPr txBox="1"/>
          <p:nvPr/>
        </p:nvSpPr>
        <p:spPr>
          <a:xfrm>
            <a:off x="1106424" y="822960"/>
            <a:ext cx="10582351" cy="329184"/>
          </a:xfrm>
          <a:prstGeom prst="rect">
            <a:avLst/>
          </a:prstGeom>
          <a:noFill/>
        </p:spPr>
        <p:txBody>
          <a:bodyPr wrap="square" lIns="0" rIns="0" tIns="18288" bIns="18288" anchor="ctr">
            <a:spAutoFit/>
          </a:bodyPr>
          <a:lstStyle/>
          <a:p>
            <a:pPr algn="l">
              <a:lnSpc>
                <a:spcPct val="120000"/>
              </a:lnSpc>
              <a:spcAft>
                <a:spcPts val="0"/>
              </a:spcAft>
            </a:pPr>
            <a:r>
              <a:rPr sz="1350" b="0" i="0">
                <a:solidFill>
                  <a:srgbClr val="64748B"/>
                </a:solidFill>
                <a:latin typeface="Calibri"/>
              </a:rPr>
              <a:t>De route die na de keuze gevolgd wordt</a:t>
            </a:r>
          </a:p>
        </p:txBody>
      </p:sp>
      <p:sp>
        <p:nvSpPr>
          <p:cNvPr id="6" name="TextBox 5"/>
          <p:cNvSpPr txBox="1"/>
          <p:nvPr/>
        </p:nvSpPr>
        <p:spPr>
          <a:xfrm>
            <a:off x="502920" y="6419088"/>
            <a:ext cx="5486400" cy="274320"/>
          </a:xfrm>
          <a:prstGeom prst="rect">
            <a:avLst/>
          </a:prstGeom>
          <a:noFill/>
        </p:spPr>
        <p:txBody>
          <a:bodyPr wrap="square" lIns="0" rIns="0" tIns="18288" bIns="18288" anchor="t">
            <a:spAutoFit/>
          </a:bodyPr>
          <a:lstStyle/>
          <a:p>
            <a:pPr algn="l">
              <a:lnSpc>
                <a:spcPct val="120000"/>
              </a:lnSpc>
              <a:spcAft>
                <a:spcPts val="0"/>
              </a:spcAft>
            </a:pPr>
            <a:r>
              <a:rPr sz="900" b="0" i="0">
                <a:solidFill>
                  <a:srgbClr val="64748B"/>
                </a:solidFill>
                <a:latin typeface="Calibri"/>
              </a:rPr>
              <a:t>Acute poort en Hotfloor</a:t>
            </a:r>
          </a:p>
        </p:txBody>
      </p:sp>
      <p:sp>
        <p:nvSpPr>
          <p:cNvPr id="7" name="TextBox 6"/>
          <p:cNvSpPr txBox="1"/>
          <p:nvPr/>
        </p:nvSpPr>
        <p:spPr>
          <a:xfrm>
            <a:off x="10591495" y="6419088"/>
            <a:ext cx="1097280" cy="274320"/>
          </a:xfrm>
          <a:prstGeom prst="rect">
            <a:avLst/>
          </a:prstGeom>
          <a:noFill/>
        </p:spPr>
        <p:txBody>
          <a:bodyPr wrap="square" lIns="0" rIns="0" tIns="18288" bIns="18288" anchor="t">
            <a:spAutoFit/>
          </a:bodyPr>
          <a:lstStyle/>
          <a:p>
            <a:pPr algn="r">
              <a:lnSpc>
                <a:spcPct val="120000"/>
              </a:lnSpc>
              <a:spcAft>
                <a:spcPts val="0"/>
              </a:spcAft>
            </a:pPr>
            <a:r>
              <a:rPr sz="900" b="0" i="0">
                <a:solidFill>
                  <a:srgbClr val="64748B"/>
                </a:solidFill>
                <a:latin typeface="Calibri"/>
              </a:rPr>
              <a:t>11</a:t>
            </a:r>
          </a:p>
        </p:txBody>
      </p:sp>
      <p:sp>
        <p:nvSpPr>
          <p:cNvPr id="8" name="Rounded Rectangle 7"/>
          <p:cNvSpPr/>
          <p:nvPr/>
        </p:nvSpPr>
        <p:spPr>
          <a:xfrm>
            <a:off x="502920" y="1810512"/>
            <a:ext cx="1681429" cy="2103120"/>
          </a:xfrm>
          <a:prstGeom prst="roundRect">
            <a:avLst>
              <a:gd name="adj" fmla="val 5500"/>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60170" y="1947672"/>
            <a:ext cx="566928" cy="566928"/>
          </a:xfrm>
          <a:prstGeom prst="ellipse">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900" b="1">
                <a:solidFill>
                  <a:srgbClr val="FFFFFF"/>
                </a:solidFill>
                <a:latin typeface="Calibri"/>
              </a:rPr>
              <a:t>1</a:t>
            </a:r>
          </a:p>
        </p:txBody>
      </p:sp>
      <p:sp>
        <p:nvSpPr>
          <p:cNvPr id="10" name="TextBox 9"/>
          <p:cNvSpPr txBox="1"/>
          <p:nvPr/>
        </p:nvSpPr>
        <p:spPr>
          <a:xfrm>
            <a:off x="630936" y="2633472"/>
            <a:ext cx="1425397" cy="731520"/>
          </a:xfrm>
          <a:prstGeom prst="rect">
            <a:avLst/>
          </a:prstGeom>
          <a:noFill/>
        </p:spPr>
        <p:txBody>
          <a:bodyPr wrap="square" lIns="54864" rIns="54864" tIns="18288" bIns="18288" anchor="t">
            <a:spAutoFit/>
          </a:bodyPr>
          <a:lstStyle/>
          <a:p>
            <a:pPr algn="ctr">
              <a:lnSpc>
                <a:spcPct val="115000"/>
              </a:lnSpc>
              <a:spcAft>
                <a:spcPts val="200"/>
              </a:spcAft>
            </a:pPr>
            <a:r>
              <a:rPr sz="1250" b="1" i="0">
                <a:solidFill>
                  <a:srgbClr val="0F1B2D"/>
                </a:solidFill>
                <a:latin typeface="Calibri"/>
              </a:rPr>
              <a:t>Scenario's uitwerken</a:t>
            </a:r>
          </a:p>
        </p:txBody>
      </p:sp>
      <p:sp>
        <p:nvSpPr>
          <p:cNvPr id="11" name="TextBox 10"/>
          <p:cNvSpPr txBox="1"/>
          <p:nvPr/>
        </p:nvSpPr>
        <p:spPr>
          <a:xfrm>
            <a:off x="630936" y="3328416"/>
            <a:ext cx="1425397" cy="512064"/>
          </a:xfrm>
          <a:prstGeom prst="rect">
            <a:avLst/>
          </a:prstGeom>
          <a:noFill/>
        </p:spPr>
        <p:txBody>
          <a:bodyPr wrap="square" lIns="54864" rIns="54864" tIns="18288" bIns="18288" anchor="t">
            <a:spAutoFit/>
          </a:bodyPr>
          <a:lstStyle/>
          <a:p>
            <a:pPr algn="ctr">
              <a:lnSpc>
                <a:spcPct val="115000"/>
              </a:lnSpc>
              <a:spcAft>
                <a:spcPts val="0"/>
              </a:spcAft>
            </a:pPr>
            <a:r>
              <a:rPr sz="1000" b="0" i="0">
                <a:solidFill>
                  <a:srgbClr val="64748B"/>
                </a:solidFill>
                <a:latin typeface="Calibri"/>
              </a:rPr>
              <a:t>de vijf varianten doorrekenen</a:t>
            </a:r>
          </a:p>
        </p:txBody>
      </p:sp>
      <p:sp>
        <p:nvSpPr>
          <p:cNvPr id="12" name="Right Arrow 11"/>
          <p:cNvSpPr/>
          <p:nvPr/>
        </p:nvSpPr>
        <p:spPr>
          <a:xfrm>
            <a:off x="2202637" y="2724912"/>
            <a:ext cx="182880" cy="182880"/>
          </a:xfrm>
          <a:prstGeom prst="rightArrow">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403805" y="1810512"/>
            <a:ext cx="1681429" cy="2103120"/>
          </a:xfrm>
          <a:prstGeom prst="roundRect">
            <a:avLst>
              <a:gd name="adj" fmla="val 5500"/>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2961055" y="1947672"/>
            <a:ext cx="566928" cy="566928"/>
          </a:xfrm>
          <a:prstGeom prst="ellipse">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900" b="1">
                <a:solidFill>
                  <a:srgbClr val="FFFFFF"/>
                </a:solidFill>
                <a:latin typeface="Calibri"/>
              </a:rPr>
              <a:t>2</a:t>
            </a:r>
          </a:p>
        </p:txBody>
      </p:sp>
      <p:sp>
        <p:nvSpPr>
          <p:cNvPr id="15" name="TextBox 14"/>
          <p:cNvSpPr txBox="1"/>
          <p:nvPr/>
        </p:nvSpPr>
        <p:spPr>
          <a:xfrm>
            <a:off x="2531821" y="2633472"/>
            <a:ext cx="1425397" cy="731520"/>
          </a:xfrm>
          <a:prstGeom prst="rect">
            <a:avLst/>
          </a:prstGeom>
          <a:noFill/>
        </p:spPr>
        <p:txBody>
          <a:bodyPr wrap="square" lIns="54864" rIns="54864" tIns="18288" bIns="18288" anchor="t">
            <a:spAutoFit/>
          </a:bodyPr>
          <a:lstStyle/>
          <a:p>
            <a:pPr algn="ctr">
              <a:lnSpc>
                <a:spcPct val="115000"/>
              </a:lnSpc>
              <a:spcAft>
                <a:spcPts val="200"/>
              </a:spcAft>
            </a:pPr>
            <a:r>
              <a:rPr sz="1250" b="1" i="0">
                <a:solidFill>
                  <a:srgbClr val="0F1B2D"/>
                </a:solidFill>
                <a:latin typeface="Calibri"/>
              </a:rPr>
              <a:t>Keuze maken</a:t>
            </a:r>
          </a:p>
        </p:txBody>
      </p:sp>
      <p:sp>
        <p:nvSpPr>
          <p:cNvPr id="16" name="TextBox 15"/>
          <p:cNvSpPr txBox="1"/>
          <p:nvPr/>
        </p:nvSpPr>
        <p:spPr>
          <a:xfrm>
            <a:off x="2531821" y="3328416"/>
            <a:ext cx="1425397" cy="512064"/>
          </a:xfrm>
          <a:prstGeom prst="rect">
            <a:avLst/>
          </a:prstGeom>
          <a:noFill/>
        </p:spPr>
        <p:txBody>
          <a:bodyPr wrap="square" lIns="54864" rIns="54864" tIns="18288" bIns="18288" anchor="t">
            <a:spAutoFit/>
          </a:bodyPr>
          <a:lstStyle/>
          <a:p>
            <a:pPr algn="ctr">
              <a:lnSpc>
                <a:spcPct val="115000"/>
              </a:lnSpc>
              <a:spcAft>
                <a:spcPts val="0"/>
              </a:spcAft>
            </a:pPr>
            <a:r>
              <a:rPr sz="1000" b="0" i="0">
                <a:solidFill>
                  <a:srgbClr val="64748B"/>
                </a:solidFill>
                <a:latin typeface="Calibri"/>
              </a:rPr>
              <a:t>op basis van data uit BIC</a:t>
            </a:r>
          </a:p>
        </p:txBody>
      </p:sp>
      <p:sp>
        <p:nvSpPr>
          <p:cNvPr id="17" name="Right Arrow 16"/>
          <p:cNvSpPr/>
          <p:nvPr/>
        </p:nvSpPr>
        <p:spPr>
          <a:xfrm>
            <a:off x="4103522" y="2724912"/>
            <a:ext cx="182880" cy="182880"/>
          </a:xfrm>
          <a:prstGeom prst="rightArrow">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304690" y="1810512"/>
            <a:ext cx="1681429" cy="2103120"/>
          </a:xfrm>
          <a:prstGeom prst="roundRect">
            <a:avLst>
              <a:gd name="adj" fmla="val 5500"/>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4861941" y="1947672"/>
            <a:ext cx="566928" cy="566928"/>
          </a:xfrm>
          <a:prstGeom prst="ellipse">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900" b="1">
                <a:solidFill>
                  <a:srgbClr val="FFFFFF"/>
                </a:solidFill>
                <a:latin typeface="Calibri"/>
              </a:rPr>
              <a:t>3</a:t>
            </a:r>
          </a:p>
        </p:txBody>
      </p:sp>
      <p:sp>
        <p:nvSpPr>
          <p:cNvPr id="20" name="TextBox 19"/>
          <p:cNvSpPr txBox="1"/>
          <p:nvPr/>
        </p:nvSpPr>
        <p:spPr>
          <a:xfrm>
            <a:off x="4432706" y="2633472"/>
            <a:ext cx="1425397" cy="731520"/>
          </a:xfrm>
          <a:prstGeom prst="rect">
            <a:avLst/>
          </a:prstGeom>
          <a:noFill/>
        </p:spPr>
        <p:txBody>
          <a:bodyPr wrap="square" lIns="54864" rIns="54864" tIns="18288" bIns="18288" anchor="t">
            <a:spAutoFit/>
          </a:bodyPr>
          <a:lstStyle/>
          <a:p>
            <a:pPr algn="ctr">
              <a:lnSpc>
                <a:spcPct val="115000"/>
              </a:lnSpc>
              <a:spcAft>
                <a:spcPts val="200"/>
              </a:spcAft>
            </a:pPr>
            <a:r>
              <a:rPr sz="1250" b="1" i="0">
                <a:solidFill>
                  <a:srgbClr val="0F1B2D"/>
                </a:solidFill>
                <a:latin typeface="Calibri"/>
              </a:rPr>
              <a:t>Uitwerken in week- en dagplan</a:t>
            </a:r>
          </a:p>
        </p:txBody>
      </p:sp>
      <p:sp>
        <p:nvSpPr>
          <p:cNvPr id="21" name="TextBox 20"/>
          <p:cNvSpPr txBox="1"/>
          <p:nvPr/>
        </p:nvSpPr>
        <p:spPr>
          <a:xfrm>
            <a:off x="4432706" y="3328416"/>
            <a:ext cx="1425397" cy="512064"/>
          </a:xfrm>
          <a:prstGeom prst="rect">
            <a:avLst/>
          </a:prstGeom>
          <a:noFill/>
        </p:spPr>
        <p:txBody>
          <a:bodyPr wrap="square" lIns="54864" rIns="54864" tIns="18288" bIns="18288" anchor="t">
            <a:spAutoFit/>
          </a:bodyPr>
          <a:lstStyle/>
          <a:p>
            <a:pPr algn="ctr">
              <a:lnSpc>
                <a:spcPct val="115000"/>
              </a:lnSpc>
              <a:spcAft>
                <a:spcPts val="0"/>
              </a:spcAft>
            </a:pPr>
            <a:r>
              <a:rPr sz="1000" b="0" i="0">
                <a:solidFill>
                  <a:srgbClr val="64748B"/>
                </a:solidFill>
                <a:latin typeface="Calibri"/>
              </a:rPr>
              <a:t>wat is er wanneer nodig</a:t>
            </a:r>
          </a:p>
        </p:txBody>
      </p:sp>
      <p:sp>
        <p:nvSpPr>
          <p:cNvPr id="22" name="Right Arrow 21"/>
          <p:cNvSpPr/>
          <p:nvPr/>
        </p:nvSpPr>
        <p:spPr>
          <a:xfrm>
            <a:off x="6004407" y="2724912"/>
            <a:ext cx="182880" cy="182880"/>
          </a:xfrm>
          <a:prstGeom prst="rightArrow">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205575" y="1810512"/>
            <a:ext cx="1681429" cy="2103120"/>
          </a:xfrm>
          <a:prstGeom prst="roundRect">
            <a:avLst>
              <a:gd name="adj" fmla="val 5500"/>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6762826" y="1947672"/>
            <a:ext cx="566928" cy="566928"/>
          </a:xfrm>
          <a:prstGeom prst="ellipse">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900" b="1">
                <a:solidFill>
                  <a:srgbClr val="FFFFFF"/>
                </a:solidFill>
                <a:latin typeface="Calibri"/>
              </a:rPr>
              <a:t>4</a:t>
            </a:r>
          </a:p>
        </p:txBody>
      </p:sp>
      <p:sp>
        <p:nvSpPr>
          <p:cNvPr id="25" name="TextBox 24"/>
          <p:cNvSpPr txBox="1"/>
          <p:nvPr/>
        </p:nvSpPr>
        <p:spPr>
          <a:xfrm>
            <a:off x="6333591" y="2633472"/>
            <a:ext cx="1425397" cy="731520"/>
          </a:xfrm>
          <a:prstGeom prst="rect">
            <a:avLst/>
          </a:prstGeom>
          <a:noFill/>
        </p:spPr>
        <p:txBody>
          <a:bodyPr wrap="square" lIns="54864" rIns="54864" tIns="18288" bIns="18288" anchor="t">
            <a:spAutoFit/>
          </a:bodyPr>
          <a:lstStyle/>
          <a:p>
            <a:pPr algn="ctr">
              <a:lnSpc>
                <a:spcPct val="115000"/>
              </a:lnSpc>
              <a:spcAft>
                <a:spcPts val="200"/>
              </a:spcAft>
            </a:pPr>
            <a:r>
              <a:rPr sz="1250" b="1" i="0">
                <a:solidFill>
                  <a:srgbClr val="0F1B2D"/>
                </a:solidFill>
                <a:latin typeface="Calibri"/>
              </a:rPr>
              <a:t>Verwerken in roostersleutels</a:t>
            </a:r>
          </a:p>
        </p:txBody>
      </p:sp>
      <p:sp>
        <p:nvSpPr>
          <p:cNvPr id="26" name="TextBox 25"/>
          <p:cNvSpPr txBox="1"/>
          <p:nvPr/>
        </p:nvSpPr>
        <p:spPr>
          <a:xfrm>
            <a:off x="6333591" y="3328416"/>
            <a:ext cx="1425397" cy="512064"/>
          </a:xfrm>
          <a:prstGeom prst="rect">
            <a:avLst/>
          </a:prstGeom>
          <a:noFill/>
        </p:spPr>
        <p:txBody>
          <a:bodyPr wrap="square" lIns="54864" rIns="54864" tIns="18288" bIns="18288" anchor="t">
            <a:spAutoFit/>
          </a:bodyPr>
          <a:lstStyle/>
          <a:p>
            <a:pPr algn="ctr">
              <a:lnSpc>
                <a:spcPct val="115000"/>
              </a:lnSpc>
              <a:spcAft>
                <a:spcPts val="0"/>
              </a:spcAft>
            </a:pPr>
            <a:r>
              <a:rPr sz="1000" b="0" i="0">
                <a:solidFill>
                  <a:srgbClr val="64748B"/>
                </a:solidFill>
                <a:latin typeface="Calibri"/>
              </a:rPr>
              <a:t>vertaling naar de roosters</a:t>
            </a:r>
          </a:p>
        </p:txBody>
      </p:sp>
      <p:sp>
        <p:nvSpPr>
          <p:cNvPr id="27" name="Right Arrow 26"/>
          <p:cNvSpPr/>
          <p:nvPr/>
        </p:nvSpPr>
        <p:spPr>
          <a:xfrm>
            <a:off x="7905292" y="2724912"/>
            <a:ext cx="182880" cy="182880"/>
          </a:xfrm>
          <a:prstGeom prst="rightArrow">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8106460" y="1810512"/>
            <a:ext cx="1681429" cy="2103120"/>
          </a:xfrm>
          <a:prstGeom prst="roundRect">
            <a:avLst>
              <a:gd name="adj" fmla="val 5500"/>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8663711" y="1947672"/>
            <a:ext cx="566928" cy="566928"/>
          </a:xfrm>
          <a:prstGeom prst="ellipse">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900" b="1">
                <a:solidFill>
                  <a:srgbClr val="FFFFFF"/>
                </a:solidFill>
                <a:latin typeface="Calibri"/>
              </a:rPr>
              <a:t>5</a:t>
            </a:r>
          </a:p>
        </p:txBody>
      </p:sp>
      <p:sp>
        <p:nvSpPr>
          <p:cNvPr id="30" name="TextBox 29"/>
          <p:cNvSpPr txBox="1"/>
          <p:nvPr/>
        </p:nvSpPr>
        <p:spPr>
          <a:xfrm>
            <a:off x="8234476" y="2633472"/>
            <a:ext cx="1425397" cy="731520"/>
          </a:xfrm>
          <a:prstGeom prst="rect">
            <a:avLst/>
          </a:prstGeom>
          <a:noFill/>
        </p:spPr>
        <p:txBody>
          <a:bodyPr wrap="square" lIns="54864" rIns="54864" tIns="18288" bIns="18288" anchor="t">
            <a:spAutoFit/>
          </a:bodyPr>
          <a:lstStyle/>
          <a:p>
            <a:pPr algn="ctr">
              <a:lnSpc>
                <a:spcPct val="115000"/>
              </a:lnSpc>
              <a:spcAft>
                <a:spcPts val="200"/>
              </a:spcAft>
            </a:pPr>
            <a:r>
              <a:rPr sz="1250" b="1" i="0">
                <a:solidFill>
                  <a:srgbClr val="0F1B2D"/>
                </a:solidFill>
                <a:latin typeface="Calibri"/>
              </a:rPr>
              <a:t>Planning CPP</a:t>
            </a:r>
          </a:p>
        </p:txBody>
      </p:sp>
      <p:sp>
        <p:nvSpPr>
          <p:cNvPr id="31" name="TextBox 30"/>
          <p:cNvSpPr txBox="1"/>
          <p:nvPr/>
        </p:nvSpPr>
        <p:spPr>
          <a:xfrm>
            <a:off x="8234476" y="3328416"/>
            <a:ext cx="1425397" cy="512064"/>
          </a:xfrm>
          <a:prstGeom prst="rect">
            <a:avLst/>
          </a:prstGeom>
          <a:noFill/>
        </p:spPr>
        <p:txBody>
          <a:bodyPr wrap="square" lIns="54864" rIns="54864" tIns="18288" bIns="18288" anchor="t">
            <a:spAutoFit/>
          </a:bodyPr>
          <a:lstStyle/>
          <a:p>
            <a:pPr algn="ctr">
              <a:lnSpc>
                <a:spcPct val="115000"/>
              </a:lnSpc>
              <a:spcAft>
                <a:spcPts val="0"/>
              </a:spcAft>
            </a:pPr>
            <a:r>
              <a:rPr sz="1000" b="0" i="0">
                <a:solidFill>
                  <a:srgbClr val="64748B"/>
                </a:solidFill>
                <a:latin typeface="Calibri"/>
              </a:rPr>
              <a:t>capaciteits- en personeelsplanning</a:t>
            </a:r>
          </a:p>
        </p:txBody>
      </p:sp>
      <p:sp>
        <p:nvSpPr>
          <p:cNvPr id="32" name="Right Arrow 31"/>
          <p:cNvSpPr/>
          <p:nvPr/>
        </p:nvSpPr>
        <p:spPr>
          <a:xfrm>
            <a:off x="9806178" y="2724912"/>
            <a:ext cx="182880" cy="182880"/>
          </a:xfrm>
          <a:prstGeom prst="rightArrow">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10007346" y="1810512"/>
            <a:ext cx="1681429" cy="2103120"/>
          </a:xfrm>
          <a:prstGeom prst="roundRect">
            <a:avLst>
              <a:gd name="adj" fmla="val 5500"/>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10564596" y="1947672"/>
            <a:ext cx="566928" cy="566928"/>
          </a:xfrm>
          <a:prstGeom prst="ellipse">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900" b="1">
                <a:solidFill>
                  <a:srgbClr val="FFFFFF"/>
                </a:solidFill>
                <a:latin typeface="Calibri"/>
              </a:rPr>
              <a:t>6</a:t>
            </a:r>
          </a:p>
        </p:txBody>
      </p:sp>
      <p:sp>
        <p:nvSpPr>
          <p:cNvPr id="35" name="TextBox 34"/>
          <p:cNvSpPr txBox="1"/>
          <p:nvPr/>
        </p:nvSpPr>
        <p:spPr>
          <a:xfrm>
            <a:off x="10135362" y="2633472"/>
            <a:ext cx="1425397" cy="731520"/>
          </a:xfrm>
          <a:prstGeom prst="rect">
            <a:avLst/>
          </a:prstGeom>
          <a:noFill/>
        </p:spPr>
        <p:txBody>
          <a:bodyPr wrap="square" lIns="54864" rIns="54864" tIns="18288" bIns="18288" anchor="t">
            <a:spAutoFit/>
          </a:bodyPr>
          <a:lstStyle/>
          <a:p>
            <a:pPr algn="ctr">
              <a:lnSpc>
                <a:spcPct val="115000"/>
              </a:lnSpc>
              <a:spcAft>
                <a:spcPts val="200"/>
              </a:spcAft>
            </a:pPr>
            <a:r>
              <a:rPr sz="1250" b="1" i="0">
                <a:solidFill>
                  <a:srgbClr val="0F1B2D"/>
                </a:solidFill>
                <a:latin typeface="Calibri"/>
              </a:rPr>
              <a:t>Monitoring</a:t>
            </a:r>
          </a:p>
        </p:txBody>
      </p:sp>
      <p:sp>
        <p:nvSpPr>
          <p:cNvPr id="36" name="TextBox 35"/>
          <p:cNvSpPr txBox="1"/>
          <p:nvPr/>
        </p:nvSpPr>
        <p:spPr>
          <a:xfrm>
            <a:off x="10135362" y="3328416"/>
            <a:ext cx="1425397" cy="512064"/>
          </a:xfrm>
          <a:prstGeom prst="rect">
            <a:avLst/>
          </a:prstGeom>
          <a:noFill/>
        </p:spPr>
        <p:txBody>
          <a:bodyPr wrap="square" lIns="54864" rIns="54864" tIns="18288" bIns="18288" anchor="t">
            <a:spAutoFit/>
          </a:bodyPr>
          <a:lstStyle/>
          <a:p>
            <a:pPr algn="ctr">
              <a:lnSpc>
                <a:spcPct val="115000"/>
              </a:lnSpc>
              <a:spcAft>
                <a:spcPts val="0"/>
              </a:spcAft>
            </a:pPr>
            <a:r>
              <a:rPr sz="1000" b="0" i="0">
                <a:solidFill>
                  <a:srgbClr val="64748B"/>
                </a:solidFill>
                <a:latin typeface="Calibri"/>
              </a:rPr>
              <a:t>instroom, stops, knelpunten en urenoverzichten</a:t>
            </a:r>
          </a:p>
        </p:txBody>
      </p:sp>
      <p:sp>
        <p:nvSpPr>
          <p:cNvPr id="37" name="Rounded Rectangle 36"/>
          <p:cNvSpPr/>
          <p:nvPr/>
        </p:nvSpPr>
        <p:spPr>
          <a:xfrm>
            <a:off x="502920" y="4187952"/>
            <a:ext cx="3545738" cy="841248"/>
          </a:xfrm>
          <a:prstGeom prst="roundRect">
            <a:avLst>
              <a:gd name="adj" fmla="val 5500"/>
            </a:avLst>
          </a:prstGeom>
          <a:solidFill>
            <a:srgbClr val="EBF2F8"/>
          </a:solidFill>
          <a:ln w="12700">
            <a:solidFill>
              <a:srgbClr val="B7D1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85800" y="4261104"/>
            <a:ext cx="3179978" cy="694944"/>
          </a:xfrm>
          <a:prstGeom prst="rect">
            <a:avLst/>
          </a:prstGeom>
          <a:noFill/>
        </p:spPr>
        <p:txBody>
          <a:bodyPr wrap="square" lIns="54864" rIns="54864" tIns="18288" bIns="18288" anchor="ctr">
            <a:spAutoFit/>
          </a:bodyPr>
          <a:lstStyle/>
          <a:p>
            <a:pPr algn="l">
              <a:lnSpc>
                <a:spcPct val="120000"/>
              </a:lnSpc>
              <a:spcAft>
                <a:spcPts val="200"/>
              </a:spcAft>
            </a:pPr>
            <a:r>
              <a:rPr sz="1300" b="1" i="0">
                <a:solidFill>
                  <a:srgbClr val="1F6FB2"/>
                </a:solidFill>
                <a:latin typeface="Calibri"/>
              </a:rPr>
              <a:t>Fysiek gaat voor</a:t>
            </a:r>
          </a:p>
          <a:p>
            <a:pPr algn="l">
              <a:lnSpc>
                <a:spcPct val="120000"/>
              </a:lnSpc>
              <a:spcAft>
                <a:spcPts val="0"/>
              </a:spcAft>
            </a:pPr>
            <a:r>
              <a:rPr sz="1100" b="0" i="0">
                <a:solidFill>
                  <a:srgbClr val="0F1B2D"/>
                </a:solidFill>
                <a:latin typeface="Calibri"/>
              </a:rPr>
              <a:t>eerst wat en waar</a:t>
            </a:r>
          </a:p>
        </p:txBody>
      </p:sp>
      <p:sp>
        <p:nvSpPr>
          <p:cNvPr id="39" name="Rounded Rectangle 38"/>
          <p:cNvSpPr/>
          <p:nvPr/>
        </p:nvSpPr>
        <p:spPr>
          <a:xfrm>
            <a:off x="4322978" y="4187952"/>
            <a:ext cx="3545738" cy="841248"/>
          </a:xfrm>
          <a:prstGeom prst="roundRect">
            <a:avLst>
              <a:gd name="adj" fmla="val 5500"/>
            </a:avLst>
          </a:prstGeom>
          <a:solidFill>
            <a:srgbClr val="E9F6F4"/>
          </a:solidFill>
          <a:ln w="12700">
            <a:solidFill>
              <a:srgbClr val="B2DF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4505858" y="4261104"/>
            <a:ext cx="3179978" cy="694944"/>
          </a:xfrm>
          <a:prstGeom prst="rect">
            <a:avLst/>
          </a:prstGeom>
          <a:noFill/>
        </p:spPr>
        <p:txBody>
          <a:bodyPr wrap="square" lIns="54864" rIns="54864" tIns="18288" bIns="18288" anchor="ctr">
            <a:spAutoFit/>
          </a:bodyPr>
          <a:lstStyle/>
          <a:p>
            <a:pPr algn="l">
              <a:lnSpc>
                <a:spcPct val="120000"/>
              </a:lnSpc>
              <a:spcAft>
                <a:spcPts val="200"/>
              </a:spcAft>
            </a:pPr>
            <a:r>
              <a:rPr sz="1300" b="1" i="0">
                <a:solidFill>
                  <a:srgbClr val="0E9A87"/>
                </a:solidFill>
                <a:latin typeface="Calibri"/>
              </a:rPr>
              <a:t>Personele inzet volgt</a:t>
            </a:r>
          </a:p>
          <a:p>
            <a:pPr algn="l">
              <a:lnSpc>
                <a:spcPct val="120000"/>
              </a:lnSpc>
              <a:spcAft>
                <a:spcPts val="0"/>
              </a:spcAft>
            </a:pPr>
            <a:r>
              <a:rPr sz="1100" b="0" i="0">
                <a:solidFill>
                  <a:srgbClr val="0F1B2D"/>
                </a:solidFill>
                <a:latin typeface="Calibri"/>
              </a:rPr>
              <a:t>uit wat en waar</a:t>
            </a:r>
          </a:p>
        </p:txBody>
      </p:sp>
      <p:sp>
        <p:nvSpPr>
          <p:cNvPr id="41" name="Rounded Rectangle 40"/>
          <p:cNvSpPr/>
          <p:nvPr/>
        </p:nvSpPr>
        <p:spPr>
          <a:xfrm>
            <a:off x="8143036" y="4187952"/>
            <a:ext cx="3545738" cy="841248"/>
          </a:xfrm>
          <a:prstGeom prst="roundRect">
            <a:avLst>
              <a:gd name="adj" fmla="val 5500"/>
            </a:avLst>
          </a:prstGeom>
          <a:solidFill>
            <a:srgbClr val="F2EFF7"/>
          </a:solidFill>
          <a:ln w="12700">
            <a:solidFill>
              <a:srgbClr val="D0C5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8325916" y="4261104"/>
            <a:ext cx="3179978" cy="694944"/>
          </a:xfrm>
          <a:prstGeom prst="rect">
            <a:avLst/>
          </a:prstGeom>
          <a:noFill/>
        </p:spPr>
        <p:txBody>
          <a:bodyPr wrap="square" lIns="54864" rIns="54864" tIns="18288" bIns="18288" anchor="ctr">
            <a:spAutoFit/>
          </a:bodyPr>
          <a:lstStyle/>
          <a:p>
            <a:pPr algn="l">
              <a:lnSpc>
                <a:spcPct val="120000"/>
              </a:lnSpc>
              <a:spcAft>
                <a:spcPts val="200"/>
              </a:spcAft>
            </a:pPr>
            <a:r>
              <a:rPr sz="1300" b="1" i="0">
                <a:solidFill>
                  <a:srgbClr val="6B4BA8"/>
                </a:solidFill>
                <a:latin typeface="Calibri"/>
              </a:rPr>
              <a:t>Daarna monitoren</a:t>
            </a:r>
          </a:p>
          <a:p>
            <a:pPr algn="l">
              <a:lnSpc>
                <a:spcPct val="120000"/>
              </a:lnSpc>
              <a:spcAft>
                <a:spcPts val="0"/>
              </a:spcAft>
            </a:pPr>
            <a:r>
              <a:rPr sz="1100" b="0" i="0">
                <a:solidFill>
                  <a:srgbClr val="0F1B2D"/>
                </a:solidFill>
                <a:latin typeface="Calibri"/>
              </a:rPr>
              <a:t>instroom, stops, knelpunten, uren</a:t>
            </a:r>
          </a:p>
        </p:txBody>
      </p:sp>
      <p:sp>
        <p:nvSpPr>
          <p:cNvPr id="43" name="Rounded Rectangle 42"/>
          <p:cNvSpPr/>
          <p:nvPr/>
        </p:nvSpPr>
        <p:spPr>
          <a:xfrm>
            <a:off x="502920" y="5212080"/>
            <a:ext cx="11185855" cy="694944"/>
          </a:xfrm>
          <a:prstGeom prst="roundRect">
            <a:avLst>
              <a:gd name="adj" fmla="val 5500"/>
            </a:avLst>
          </a:prstGeom>
          <a:solidFill>
            <a:srgbClr val="FBF0E1"/>
          </a:solidFill>
          <a:ln w="12700">
            <a:solidFill>
              <a:srgbClr val="F0CA9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76656" y="5404104"/>
            <a:ext cx="310896" cy="310896"/>
          </a:xfrm>
          <a:prstGeom prst="ellipse">
            <a:avLst/>
          </a:prstGeom>
          <a:solidFill>
            <a:srgbClr val="DE8A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FFFFFF"/>
                </a:solidFill>
                <a:latin typeface="Calibri"/>
              </a:rPr>
              <a:t>!</a:t>
            </a:r>
          </a:p>
        </p:txBody>
      </p:sp>
      <p:sp>
        <p:nvSpPr>
          <p:cNvPr id="45" name="TextBox 44"/>
          <p:cNvSpPr txBox="1"/>
          <p:nvPr/>
        </p:nvSpPr>
        <p:spPr>
          <a:xfrm>
            <a:off x="1106424" y="5285232"/>
            <a:ext cx="10362895" cy="548640"/>
          </a:xfrm>
          <a:prstGeom prst="rect">
            <a:avLst/>
          </a:prstGeom>
          <a:noFill/>
        </p:spPr>
        <p:txBody>
          <a:bodyPr wrap="square" lIns="54864" rIns="54864" tIns="18288" bIns="18288" anchor="ctr">
            <a:spAutoFit/>
          </a:bodyPr>
          <a:lstStyle/>
          <a:p>
            <a:pPr algn="l">
              <a:lnSpc>
                <a:spcPct val="120000"/>
              </a:lnSpc>
              <a:spcAft>
                <a:spcPts val="200"/>
              </a:spcAft>
            </a:pPr>
            <a:r>
              <a:rPr sz="950" b="1" i="0">
                <a:solidFill>
                  <a:srgbClr val="DE8A1B"/>
                </a:solidFill>
                <a:latin typeface="Calibri"/>
              </a:rPr>
              <a:t>OPENSTAANDE VRAAG</a:t>
            </a:r>
          </a:p>
          <a:p>
            <a:pPr algn="l">
              <a:lnSpc>
                <a:spcPct val="120000"/>
              </a:lnSpc>
              <a:spcAft>
                <a:spcPts val="0"/>
              </a:spcAft>
            </a:pPr>
            <a:r>
              <a:rPr sz="1300" b="1" i="0">
                <a:solidFill>
                  <a:srgbClr val="0F1B2D"/>
                </a:solidFill>
                <a:latin typeface="Calibri"/>
              </a:rPr>
              <a:t>De personele planning loopt nu niet volledig via CPP, met name rond de acute poule. Hoe lossen we dat op?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502920" y="429768"/>
            <a:ext cx="457200" cy="457200"/>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600" b="1">
                <a:solidFill>
                  <a:srgbClr val="FFFFFF"/>
                </a:solidFill>
                <a:latin typeface="Calibri"/>
              </a:rPr>
              <a:t>12</a:t>
            </a:r>
          </a:p>
        </p:txBody>
      </p:sp>
      <p:sp>
        <p:nvSpPr>
          <p:cNvPr id="4" name="TextBox 3"/>
          <p:cNvSpPr txBox="1"/>
          <p:nvPr/>
        </p:nvSpPr>
        <p:spPr>
          <a:xfrm>
            <a:off x="1106424" y="365760"/>
            <a:ext cx="10582351" cy="402336"/>
          </a:xfrm>
          <a:prstGeom prst="rect">
            <a:avLst/>
          </a:prstGeom>
          <a:noFill/>
        </p:spPr>
        <p:txBody>
          <a:bodyPr wrap="square" lIns="0" rIns="0" tIns="18288" bIns="18288" anchor="ctr">
            <a:spAutoFit/>
          </a:bodyPr>
          <a:lstStyle/>
          <a:p>
            <a:pPr algn="l">
              <a:lnSpc>
                <a:spcPct val="120000"/>
              </a:lnSpc>
              <a:spcAft>
                <a:spcPts val="0"/>
              </a:spcAft>
            </a:pPr>
            <a:r>
              <a:rPr sz="2250" b="1" i="0">
                <a:solidFill>
                  <a:srgbClr val="0F1B2D"/>
                </a:solidFill>
                <a:latin typeface="Calibri"/>
              </a:rPr>
              <a:t>Analyse 1: de acute poort</a:t>
            </a:r>
          </a:p>
        </p:txBody>
      </p:sp>
      <p:sp>
        <p:nvSpPr>
          <p:cNvPr id="5" name="TextBox 4"/>
          <p:cNvSpPr txBox="1"/>
          <p:nvPr/>
        </p:nvSpPr>
        <p:spPr>
          <a:xfrm>
            <a:off x="1106424" y="822960"/>
            <a:ext cx="10582351" cy="329184"/>
          </a:xfrm>
          <a:prstGeom prst="rect">
            <a:avLst/>
          </a:prstGeom>
          <a:noFill/>
        </p:spPr>
        <p:txBody>
          <a:bodyPr wrap="square" lIns="0" rIns="0" tIns="18288" bIns="18288" anchor="ctr">
            <a:spAutoFit/>
          </a:bodyPr>
          <a:lstStyle/>
          <a:p>
            <a:pPr algn="l">
              <a:lnSpc>
                <a:spcPct val="120000"/>
              </a:lnSpc>
              <a:spcAft>
                <a:spcPts val="0"/>
              </a:spcAft>
            </a:pPr>
            <a:r>
              <a:rPr sz="1350" b="0" i="0">
                <a:solidFill>
                  <a:srgbClr val="64748B"/>
                </a:solidFill>
                <a:latin typeface="Calibri"/>
              </a:rPr>
              <a:t>Drie stromen achter een poort - past dat?</a:t>
            </a:r>
          </a:p>
        </p:txBody>
      </p:sp>
      <p:sp>
        <p:nvSpPr>
          <p:cNvPr id="6" name="TextBox 5"/>
          <p:cNvSpPr txBox="1"/>
          <p:nvPr/>
        </p:nvSpPr>
        <p:spPr>
          <a:xfrm>
            <a:off x="502920" y="6419088"/>
            <a:ext cx="5486400" cy="274320"/>
          </a:xfrm>
          <a:prstGeom prst="rect">
            <a:avLst/>
          </a:prstGeom>
          <a:noFill/>
        </p:spPr>
        <p:txBody>
          <a:bodyPr wrap="square" lIns="0" rIns="0" tIns="18288" bIns="18288" anchor="t">
            <a:spAutoFit/>
          </a:bodyPr>
          <a:lstStyle/>
          <a:p>
            <a:pPr algn="l">
              <a:lnSpc>
                <a:spcPct val="120000"/>
              </a:lnSpc>
              <a:spcAft>
                <a:spcPts val="0"/>
              </a:spcAft>
            </a:pPr>
            <a:r>
              <a:rPr sz="900" b="0" i="0">
                <a:solidFill>
                  <a:srgbClr val="64748B"/>
                </a:solidFill>
                <a:latin typeface="Calibri"/>
              </a:rPr>
              <a:t>Acute poort en Hotfloor</a:t>
            </a:r>
          </a:p>
        </p:txBody>
      </p:sp>
      <p:sp>
        <p:nvSpPr>
          <p:cNvPr id="7" name="TextBox 6"/>
          <p:cNvSpPr txBox="1"/>
          <p:nvPr/>
        </p:nvSpPr>
        <p:spPr>
          <a:xfrm>
            <a:off x="10591495" y="6419088"/>
            <a:ext cx="1097280" cy="274320"/>
          </a:xfrm>
          <a:prstGeom prst="rect">
            <a:avLst/>
          </a:prstGeom>
          <a:noFill/>
        </p:spPr>
        <p:txBody>
          <a:bodyPr wrap="square" lIns="0" rIns="0" tIns="18288" bIns="18288" anchor="t">
            <a:spAutoFit/>
          </a:bodyPr>
          <a:lstStyle/>
          <a:p>
            <a:pPr algn="r">
              <a:lnSpc>
                <a:spcPct val="120000"/>
              </a:lnSpc>
              <a:spcAft>
                <a:spcPts val="0"/>
              </a:spcAft>
            </a:pPr>
            <a:r>
              <a:rPr sz="900" b="0" i="0">
                <a:solidFill>
                  <a:srgbClr val="64748B"/>
                </a:solidFill>
                <a:latin typeface="Calibri"/>
              </a:rPr>
              <a:t>12</a:t>
            </a:r>
          </a:p>
        </p:txBody>
      </p:sp>
      <p:sp>
        <p:nvSpPr>
          <p:cNvPr id="8" name="Rounded Rectangle 7"/>
          <p:cNvSpPr/>
          <p:nvPr/>
        </p:nvSpPr>
        <p:spPr>
          <a:xfrm>
            <a:off x="502920" y="1444752"/>
            <a:ext cx="11185855" cy="914400"/>
          </a:xfrm>
          <a:prstGeom prst="roundRect">
            <a:avLst>
              <a:gd name="adj" fmla="val 5500"/>
            </a:avLst>
          </a:prstGeom>
          <a:solidFill>
            <a:srgbClr val="F9EBEA"/>
          </a:solidFill>
          <a:ln w="19050">
            <a:solidFill>
              <a:srgbClr val="E4A6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 y="1554480"/>
            <a:ext cx="10637215" cy="713232"/>
          </a:xfrm>
          <a:prstGeom prst="rect">
            <a:avLst/>
          </a:prstGeom>
          <a:noFill/>
        </p:spPr>
        <p:txBody>
          <a:bodyPr wrap="square" lIns="54864" rIns="54864" tIns="18288" bIns="18288" anchor="ctr">
            <a:spAutoFit/>
          </a:bodyPr>
          <a:lstStyle/>
          <a:p>
            <a:pPr algn="l">
              <a:lnSpc>
                <a:spcPct val="120000"/>
              </a:lnSpc>
              <a:spcAft>
                <a:spcPts val="200"/>
              </a:spcAft>
            </a:pPr>
            <a:r>
              <a:rPr sz="2400" b="1" i="0">
                <a:solidFill>
                  <a:srgbClr val="C4392D"/>
                </a:solidFill>
                <a:latin typeface="Calibri"/>
              </a:rPr>
              <a:t>De acute poort past niet</a:t>
            </a:r>
          </a:p>
          <a:p>
            <a:pPr algn="l">
              <a:lnSpc>
                <a:spcPct val="120000"/>
              </a:lnSpc>
              <a:spcAft>
                <a:spcPts val="0"/>
              </a:spcAft>
            </a:pPr>
            <a:r>
              <a:rPr sz="1250" b="0" i="0">
                <a:solidFill>
                  <a:srgbClr val="0F1B2D"/>
                </a:solidFill>
                <a:latin typeface="Calibri"/>
              </a:rPr>
              <a:t>geanalyseerd voor kind, EHH en SEH samen</a:t>
            </a:r>
          </a:p>
        </p:txBody>
      </p:sp>
      <p:sp>
        <p:nvSpPr>
          <p:cNvPr id="10" name="Rounded Rectangle 9"/>
          <p:cNvSpPr/>
          <p:nvPr/>
        </p:nvSpPr>
        <p:spPr>
          <a:xfrm>
            <a:off x="502920" y="2578608"/>
            <a:ext cx="6949440" cy="566928"/>
          </a:xfrm>
          <a:prstGeom prst="roundRect">
            <a:avLst>
              <a:gd name="adj" fmla="val 5500"/>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67512" y="2660904"/>
            <a:ext cx="402336" cy="402336"/>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a:solidFill>
                  <a:srgbClr val="FFFFFF"/>
                </a:solidFill>
                <a:latin typeface="Calibri"/>
              </a:rPr>
              <a:t>1</a:t>
            </a:r>
          </a:p>
        </p:txBody>
      </p:sp>
      <p:sp>
        <p:nvSpPr>
          <p:cNvPr id="12" name="TextBox 11"/>
          <p:cNvSpPr txBox="1"/>
          <p:nvPr/>
        </p:nvSpPr>
        <p:spPr>
          <a:xfrm>
            <a:off x="1161288" y="2615184"/>
            <a:ext cx="6089904" cy="493776"/>
          </a:xfrm>
          <a:prstGeom prst="rect">
            <a:avLst/>
          </a:prstGeom>
          <a:noFill/>
        </p:spPr>
        <p:txBody>
          <a:bodyPr wrap="square" lIns="54864" rIns="54864" tIns="18288" bIns="18288" anchor="ctr">
            <a:spAutoFit/>
          </a:bodyPr>
          <a:lstStyle/>
          <a:p>
            <a:pPr algn="l">
              <a:lnSpc>
                <a:spcPct val="120000"/>
              </a:lnSpc>
              <a:spcAft>
                <a:spcPts val="100"/>
              </a:spcAft>
            </a:pPr>
            <a:r>
              <a:rPr sz="1300" b="1" i="0">
                <a:solidFill>
                  <a:srgbClr val="0F1B2D"/>
                </a:solidFill>
                <a:latin typeface="Calibri"/>
              </a:rPr>
              <a:t>Analyse op dag- en uurniveau</a:t>
            </a:r>
          </a:p>
          <a:p>
            <a:pPr algn="l">
              <a:lnSpc>
                <a:spcPct val="120000"/>
              </a:lnSpc>
              <a:spcAft>
                <a:spcPts val="0"/>
              </a:spcAft>
            </a:pPr>
            <a:r>
              <a:rPr sz="1050" b="0" i="0">
                <a:solidFill>
                  <a:srgbClr val="64748B"/>
                </a:solidFill>
                <a:latin typeface="Calibri"/>
              </a:rPr>
              <a:t>instroompatroon per uur</a:t>
            </a:r>
          </a:p>
        </p:txBody>
      </p:sp>
      <p:sp>
        <p:nvSpPr>
          <p:cNvPr id="13" name="Rounded Rectangle 12"/>
          <p:cNvSpPr/>
          <p:nvPr/>
        </p:nvSpPr>
        <p:spPr>
          <a:xfrm>
            <a:off x="502920" y="3273552"/>
            <a:ext cx="6949440" cy="566928"/>
          </a:xfrm>
          <a:prstGeom prst="roundRect">
            <a:avLst>
              <a:gd name="adj" fmla="val 5500"/>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667512" y="3355848"/>
            <a:ext cx="402336" cy="402336"/>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a:solidFill>
                  <a:srgbClr val="FFFFFF"/>
                </a:solidFill>
                <a:latin typeface="Calibri"/>
              </a:rPr>
              <a:t>2</a:t>
            </a:r>
          </a:p>
        </p:txBody>
      </p:sp>
      <p:sp>
        <p:nvSpPr>
          <p:cNvPr id="15" name="TextBox 14"/>
          <p:cNvSpPr txBox="1"/>
          <p:nvPr/>
        </p:nvSpPr>
        <p:spPr>
          <a:xfrm>
            <a:off x="1161288" y="3310128"/>
            <a:ext cx="6089904" cy="493776"/>
          </a:xfrm>
          <a:prstGeom prst="rect">
            <a:avLst/>
          </a:prstGeom>
          <a:noFill/>
        </p:spPr>
        <p:txBody>
          <a:bodyPr wrap="square" lIns="54864" rIns="54864" tIns="18288" bIns="18288" anchor="ctr">
            <a:spAutoFit/>
          </a:bodyPr>
          <a:lstStyle/>
          <a:p>
            <a:pPr algn="l">
              <a:lnSpc>
                <a:spcPct val="120000"/>
              </a:lnSpc>
              <a:spcAft>
                <a:spcPts val="100"/>
              </a:spcAft>
            </a:pPr>
            <a:r>
              <a:rPr sz="1300" b="1" i="0">
                <a:solidFill>
                  <a:srgbClr val="0F1B2D"/>
                </a:solidFill>
                <a:latin typeface="Calibri"/>
              </a:rPr>
              <a:t>Jaarpatroon in beeld gebracht</a:t>
            </a:r>
          </a:p>
          <a:p>
            <a:pPr algn="l">
              <a:lnSpc>
                <a:spcPct val="120000"/>
              </a:lnSpc>
              <a:spcAft>
                <a:spcPts val="0"/>
              </a:spcAft>
            </a:pPr>
            <a:r>
              <a:rPr sz="1050" b="0" i="0">
                <a:solidFill>
                  <a:srgbClr val="64748B"/>
                </a:solidFill>
                <a:latin typeface="Calibri"/>
              </a:rPr>
              <a:t>seizoensinvloed zichtbaar</a:t>
            </a:r>
          </a:p>
        </p:txBody>
      </p:sp>
      <p:sp>
        <p:nvSpPr>
          <p:cNvPr id="16" name="Rounded Rectangle 15"/>
          <p:cNvSpPr/>
          <p:nvPr/>
        </p:nvSpPr>
        <p:spPr>
          <a:xfrm>
            <a:off x="502920" y="3968496"/>
            <a:ext cx="6949440" cy="566928"/>
          </a:xfrm>
          <a:prstGeom prst="roundRect">
            <a:avLst>
              <a:gd name="adj" fmla="val 5500"/>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667512" y="4050791"/>
            <a:ext cx="402336" cy="402336"/>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a:solidFill>
                  <a:srgbClr val="FFFFFF"/>
                </a:solidFill>
                <a:latin typeface="Calibri"/>
              </a:rPr>
              <a:t>3</a:t>
            </a:r>
          </a:p>
        </p:txBody>
      </p:sp>
      <p:sp>
        <p:nvSpPr>
          <p:cNvPr id="18" name="TextBox 17"/>
          <p:cNvSpPr txBox="1"/>
          <p:nvPr/>
        </p:nvSpPr>
        <p:spPr>
          <a:xfrm>
            <a:off x="1161288" y="4005072"/>
            <a:ext cx="6089904" cy="493776"/>
          </a:xfrm>
          <a:prstGeom prst="rect">
            <a:avLst/>
          </a:prstGeom>
          <a:noFill/>
        </p:spPr>
        <p:txBody>
          <a:bodyPr wrap="square" lIns="54864" rIns="54864" tIns="18288" bIns="18288" anchor="ctr">
            <a:spAutoFit/>
          </a:bodyPr>
          <a:lstStyle/>
          <a:p>
            <a:pPr algn="l">
              <a:lnSpc>
                <a:spcPct val="120000"/>
              </a:lnSpc>
              <a:spcAft>
                <a:spcPts val="100"/>
              </a:spcAft>
            </a:pPr>
            <a:r>
              <a:rPr sz="1300" b="1" i="0">
                <a:solidFill>
                  <a:srgbClr val="0F1B2D"/>
                </a:solidFill>
                <a:latin typeface="Calibri"/>
              </a:rPr>
              <a:t>Data beschikbaar</a:t>
            </a:r>
          </a:p>
          <a:p>
            <a:pPr algn="l">
              <a:lnSpc>
                <a:spcPct val="120000"/>
              </a:lnSpc>
              <a:spcAft>
                <a:spcPts val="0"/>
              </a:spcAft>
            </a:pPr>
            <a:r>
              <a:rPr sz="1050" b="0" i="0">
                <a:solidFill>
                  <a:srgbClr val="64748B"/>
                </a:solidFill>
                <a:latin typeface="Calibri"/>
              </a:rPr>
              <a:t>met verschillende scenario's</a:t>
            </a:r>
          </a:p>
        </p:txBody>
      </p:sp>
      <p:sp>
        <p:nvSpPr>
          <p:cNvPr id="19" name="Rounded Rectangle 18"/>
          <p:cNvSpPr/>
          <p:nvPr/>
        </p:nvSpPr>
        <p:spPr>
          <a:xfrm>
            <a:off x="7763256" y="2578608"/>
            <a:ext cx="3925519" cy="2084831"/>
          </a:xfrm>
          <a:prstGeom prst="roundRect">
            <a:avLst>
              <a:gd name="adj" fmla="val 5500"/>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964424" y="2688336"/>
            <a:ext cx="3523183" cy="274320"/>
          </a:xfrm>
          <a:prstGeom prst="rect">
            <a:avLst/>
          </a:prstGeom>
          <a:noFill/>
        </p:spPr>
        <p:txBody>
          <a:bodyPr wrap="square" lIns="54864" rIns="54864" tIns="18288" bIns="18288" anchor="t">
            <a:spAutoFit/>
          </a:bodyPr>
          <a:lstStyle/>
          <a:p>
            <a:pPr algn="l">
              <a:lnSpc>
                <a:spcPct val="120000"/>
              </a:lnSpc>
              <a:spcAft>
                <a:spcPts val="0"/>
              </a:spcAft>
            </a:pPr>
            <a:r>
              <a:rPr sz="1100" b="1" i="0">
                <a:solidFill>
                  <a:srgbClr val="64748B"/>
                </a:solidFill>
                <a:latin typeface="Calibri"/>
              </a:rPr>
              <a:t>DE DRIE STROMEN</a:t>
            </a:r>
          </a:p>
        </p:txBody>
      </p:sp>
      <p:sp>
        <p:nvSpPr>
          <p:cNvPr id="21" name="Rounded Rectangle 20"/>
          <p:cNvSpPr/>
          <p:nvPr/>
        </p:nvSpPr>
        <p:spPr>
          <a:xfrm>
            <a:off x="7964424" y="3054096"/>
            <a:ext cx="3523183" cy="420624"/>
          </a:xfrm>
          <a:prstGeom prst="roundRect">
            <a:avLst>
              <a:gd name="adj" fmla="val 50000"/>
            </a:avLst>
          </a:prstGeom>
          <a:solidFill>
            <a:srgbClr val="EBF2F8"/>
          </a:solidFill>
          <a:ln w="12700">
            <a:solidFill>
              <a:srgbClr val="A5C5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200" b="1">
                <a:solidFill>
                  <a:srgbClr val="1F6FB2"/>
                </a:solidFill>
                <a:latin typeface="Calibri"/>
              </a:rPr>
              <a:t>kind spoed</a:t>
            </a:r>
          </a:p>
        </p:txBody>
      </p:sp>
      <p:sp>
        <p:nvSpPr>
          <p:cNvPr id="22" name="Rounded Rectangle 21"/>
          <p:cNvSpPr/>
          <p:nvPr/>
        </p:nvSpPr>
        <p:spPr>
          <a:xfrm>
            <a:off x="7964424" y="3566160"/>
            <a:ext cx="3523183" cy="420624"/>
          </a:xfrm>
          <a:prstGeom prst="roundRect">
            <a:avLst>
              <a:gd name="adj" fmla="val 50000"/>
            </a:avLst>
          </a:prstGeom>
          <a:solidFill>
            <a:srgbClr val="EBF2F8"/>
          </a:solidFill>
          <a:ln w="12700">
            <a:solidFill>
              <a:srgbClr val="A5C5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200" b="1">
                <a:solidFill>
                  <a:srgbClr val="1F6FB2"/>
                </a:solidFill>
                <a:latin typeface="Calibri"/>
              </a:rPr>
              <a:t>EHH</a:t>
            </a:r>
          </a:p>
        </p:txBody>
      </p:sp>
      <p:sp>
        <p:nvSpPr>
          <p:cNvPr id="23" name="Rounded Rectangle 22"/>
          <p:cNvSpPr/>
          <p:nvPr/>
        </p:nvSpPr>
        <p:spPr>
          <a:xfrm>
            <a:off x="7964424" y="4078224"/>
            <a:ext cx="3523183" cy="420624"/>
          </a:xfrm>
          <a:prstGeom prst="roundRect">
            <a:avLst>
              <a:gd name="adj" fmla="val 50000"/>
            </a:avLst>
          </a:prstGeom>
          <a:solidFill>
            <a:srgbClr val="EBF2F8"/>
          </a:solidFill>
          <a:ln w="12700">
            <a:solidFill>
              <a:srgbClr val="A5C5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200" b="1">
                <a:solidFill>
                  <a:srgbClr val="1F6FB2"/>
                </a:solidFill>
                <a:latin typeface="Calibri"/>
              </a:rPr>
              <a:t>SEH</a:t>
            </a:r>
          </a:p>
        </p:txBody>
      </p:sp>
      <p:sp>
        <p:nvSpPr>
          <p:cNvPr id="24" name="Rounded Rectangle 23"/>
          <p:cNvSpPr/>
          <p:nvPr/>
        </p:nvSpPr>
        <p:spPr>
          <a:xfrm>
            <a:off x="502920" y="4791456"/>
            <a:ext cx="6949440" cy="658368"/>
          </a:xfrm>
          <a:prstGeom prst="roundRect">
            <a:avLst>
              <a:gd name="adj" fmla="val 5500"/>
            </a:avLst>
          </a:prstGeom>
          <a:solidFill>
            <a:srgbClr val="E4F4F2"/>
          </a:solidFill>
          <a:ln w="12700">
            <a:solidFill>
              <a:srgbClr val="9AD5C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40664" y="4864608"/>
            <a:ext cx="6473952" cy="512064"/>
          </a:xfrm>
          <a:prstGeom prst="rect">
            <a:avLst/>
          </a:prstGeom>
          <a:noFill/>
        </p:spPr>
        <p:txBody>
          <a:bodyPr wrap="square" lIns="54864" rIns="54864" tIns="18288" bIns="18288" anchor="ctr">
            <a:spAutoFit/>
          </a:bodyPr>
          <a:lstStyle/>
          <a:p>
            <a:pPr algn="l">
              <a:lnSpc>
                <a:spcPct val="120000"/>
              </a:lnSpc>
              <a:spcAft>
                <a:spcPts val="200"/>
              </a:spcAft>
            </a:pPr>
            <a:r>
              <a:rPr sz="1000" b="1" i="0">
                <a:solidFill>
                  <a:srgbClr val="0E9A87"/>
                </a:solidFill>
                <a:latin typeface="Calibri"/>
              </a:rPr>
              <a:t>DOEL</a:t>
            </a:r>
          </a:p>
          <a:p>
            <a:pPr algn="l">
              <a:lnSpc>
                <a:spcPct val="120000"/>
              </a:lnSpc>
              <a:spcAft>
                <a:spcPts val="0"/>
              </a:spcAft>
            </a:pPr>
            <a:r>
              <a:rPr sz="1300" b="1" i="0">
                <a:solidFill>
                  <a:srgbClr val="0F1B2D"/>
                </a:solidFill>
                <a:latin typeface="Calibri"/>
              </a:rPr>
              <a:t>de zorg passend maken op de fysieke nieuwe SEH</a:t>
            </a:r>
          </a:p>
        </p:txBody>
      </p:sp>
      <p:sp>
        <p:nvSpPr>
          <p:cNvPr id="26" name="Rounded Rectangle 25"/>
          <p:cNvSpPr/>
          <p:nvPr/>
        </p:nvSpPr>
        <p:spPr>
          <a:xfrm>
            <a:off x="7763256" y="4791456"/>
            <a:ext cx="3925519" cy="658368"/>
          </a:xfrm>
          <a:prstGeom prst="roundRect">
            <a:avLst>
              <a:gd name="adj" fmla="val 5500"/>
            </a:avLst>
          </a:prstGeom>
          <a:solidFill>
            <a:srgbClr val="FBF2E6"/>
          </a:solidFill>
          <a:ln w="12700">
            <a:solidFill>
              <a:srgbClr val="F1CE9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64424" y="4864608"/>
            <a:ext cx="3523183" cy="512064"/>
          </a:xfrm>
          <a:prstGeom prst="rect">
            <a:avLst/>
          </a:prstGeom>
          <a:noFill/>
        </p:spPr>
        <p:txBody>
          <a:bodyPr wrap="square" lIns="54864" rIns="54864" tIns="18288" bIns="18288" anchor="ctr">
            <a:spAutoFit/>
          </a:bodyPr>
          <a:lstStyle/>
          <a:p>
            <a:pPr algn="l">
              <a:lnSpc>
                <a:spcPct val="120000"/>
              </a:lnSpc>
              <a:spcAft>
                <a:spcPts val="200"/>
              </a:spcAft>
            </a:pPr>
            <a:r>
              <a:rPr sz="1000" b="1" i="0">
                <a:solidFill>
                  <a:srgbClr val="DE8A1B"/>
                </a:solidFill>
                <a:latin typeface="Calibri"/>
              </a:rPr>
              <a:t>TELVRAAG</a:t>
            </a:r>
          </a:p>
          <a:p>
            <a:pPr algn="l">
              <a:lnSpc>
                <a:spcPct val="120000"/>
              </a:lnSpc>
              <a:spcAft>
                <a:spcPts val="0"/>
              </a:spcAft>
            </a:pPr>
            <a:r>
              <a:rPr sz="1200" b="1" i="0">
                <a:solidFill>
                  <a:srgbClr val="0F1B2D"/>
                </a:solidFill>
                <a:latin typeface="Calibri"/>
              </a:rPr>
              <a:t>hoeveel plekken zijn er nodig?</a:t>
            </a:r>
          </a:p>
        </p:txBody>
      </p:sp>
      <p:sp>
        <p:nvSpPr>
          <p:cNvPr id="28" name="Rounded Rectangle 27"/>
          <p:cNvSpPr/>
          <p:nvPr/>
        </p:nvSpPr>
        <p:spPr>
          <a:xfrm>
            <a:off x="502920" y="5596128"/>
            <a:ext cx="11185855" cy="694944"/>
          </a:xfrm>
          <a:prstGeom prst="roundRect">
            <a:avLst>
              <a:gd name="adj" fmla="val 5500"/>
            </a:avLst>
          </a:prstGeom>
          <a:solidFill>
            <a:srgbClr val="F7E5E4"/>
          </a:solidFill>
          <a:ln w="12700">
            <a:solidFill>
              <a:srgbClr val="E4A6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76656" y="5788152"/>
            <a:ext cx="310896" cy="310896"/>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FFFFFF"/>
                </a:solidFill>
                <a:latin typeface="Calibri"/>
              </a:rPr>
              <a:t>!</a:t>
            </a:r>
          </a:p>
        </p:txBody>
      </p:sp>
      <p:sp>
        <p:nvSpPr>
          <p:cNvPr id="30" name="TextBox 29"/>
          <p:cNvSpPr txBox="1"/>
          <p:nvPr/>
        </p:nvSpPr>
        <p:spPr>
          <a:xfrm>
            <a:off x="1106424" y="5669280"/>
            <a:ext cx="10362895" cy="548640"/>
          </a:xfrm>
          <a:prstGeom prst="rect">
            <a:avLst/>
          </a:prstGeom>
          <a:noFill/>
        </p:spPr>
        <p:txBody>
          <a:bodyPr wrap="square" lIns="54864" rIns="54864" tIns="18288" bIns="18288" anchor="ctr">
            <a:spAutoFit/>
          </a:bodyPr>
          <a:lstStyle/>
          <a:p>
            <a:pPr algn="l">
              <a:lnSpc>
                <a:spcPct val="120000"/>
              </a:lnSpc>
              <a:spcAft>
                <a:spcPts val="200"/>
              </a:spcAft>
            </a:pPr>
            <a:r>
              <a:rPr sz="950" b="1" i="0">
                <a:solidFill>
                  <a:srgbClr val="C4392D"/>
                </a:solidFill>
                <a:latin typeface="Calibri"/>
              </a:rPr>
              <a:t>DIT IS HET BELANGRIJKSTE PUNT</a:t>
            </a:r>
          </a:p>
          <a:p>
            <a:pPr algn="l">
              <a:lnSpc>
                <a:spcPct val="120000"/>
              </a:lnSpc>
              <a:spcAft>
                <a:spcPts val="0"/>
              </a:spcAft>
            </a:pPr>
            <a:r>
              <a:rPr sz="1300" b="1" i="0">
                <a:solidFill>
                  <a:srgbClr val="0F1B2D"/>
                </a:solidFill>
                <a:latin typeface="Calibri"/>
              </a:rPr>
              <a:t>De analyse is gedeeld. Wat gebeurt er nu met deze uitkomst, welke acties volgen eruit, en wie pakt ze op?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502920" y="429768"/>
            <a:ext cx="457200" cy="457200"/>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600" b="1">
                <a:solidFill>
                  <a:srgbClr val="FFFFFF"/>
                </a:solidFill>
                <a:latin typeface="Calibri"/>
              </a:rPr>
              <a:t>13</a:t>
            </a:r>
          </a:p>
        </p:txBody>
      </p:sp>
      <p:sp>
        <p:nvSpPr>
          <p:cNvPr id="4" name="TextBox 3"/>
          <p:cNvSpPr txBox="1"/>
          <p:nvPr/>
        </p:nvSpPr>
        <p:spPr>
          <a:xfrm>
            <a:off x="1106424" y="365760"/>
            <a:ext cx="10582351" cy="402336"/>
          </a:xfrm>
          <a:prstGeom prst="rect">
            <a:avLst/>
          </a:prstGeom>
          <a:noFill/>
        </p:spPr>
        <p:txBody>
          <a:bodyPr wrap="square" lIns="0" rIns="0" tIns="18288" bIns="18288" anchor="ctr">
            <a:spAutoFit/>
          </a:bodyPr>
          <a:lstStyle/>
          <a:p>
            <a:pPr algn="l">
              <a:lnSpc>
                <a:spcPct val="120000"/>
              </a:lnSpc>
              <a:spcAft>
                <a:spcPts val="0"/>
              </a:spcAft>
            </a:pPr>
            <a:r>
              <a:rPr sz="2250" b="1" i="0">
                <a:solidFill>
                  <a:srgbClr val="0F1B2D"/>
                </a:solidFill>
                <a:latin typeface="Calibri"/>
              </a:rPr>
              <a:t>Analyse 2: de Hotfloor</a:t>
            </a:r>
          </a:p>
        </p:txBody>
      </p:sp>
      <p:sp>
        <p:nvSpPr>
          <p:cNvPr id="5" name="TextBox 4"/>
          <p:cNvSpPr txBox="1"/>
          <p:nvPr/>
        </p:nvSpPr>
        <p:spPr>
          <a:xfrm>
            <a:off x="1106424" y="822960"/>
            <a:ext cx="10582351" cy="329184"/>
          </a:xfrm>
          <a:prstGeom prst="rect">
            <a:avLst/>
          </a:prstGeom>
          <a:noFill/>
        </p:spPr>
        <p:txBody>
          <a:bodyPr wrap="square" lIns="0" rIns="0" tIns="18288" bIns="18288" anchor="ctr">
            <a:spAutoFit/>
          </a:bodyPr>
          <a:lstStyle/>
          <a:p>
            <a:pPr algn="l">
              <a:lnSpc>
                <a:spcPct val="120000"/>
              </a:lnSpc>
              <a:spcAft>
                <a:spcPts val="0"/>
              </a:spcAft>
            </a:pPr>
            <a:r>
              <a:rPr sz="1350" b="0" i="0">
                <a:solidFill>
                  <a:srgbClr val="64748B"/>
                </a:solidFill>
                <a:latin typeface="Calibri"/>
              </a:rPr>
              <a:t>ICU, CCU en SCU samen op een vloer</a:t>
            </a:r>
          </a:p>
        </p:txBody>
      </p:sp>
      <p:sp>
        <p:nvSpPr>
          <p:cNvPr id="6" name="TextBox 5"/>
          <p:cNvSpPr txBox="1"/>
          <p:nvPr/>
        </p:nvSpPr>
        <p:spPr>
          <a:xfrm>
            <a:off x="502920" y="6419088"/>
            <a:ext cx="5486400" cy="274320"/>
          </a:xfrm>
          <a:prstGeom prst="rect">
            <a:avLst/>
          </a:prstGeom>
          <a:noFill/>
        </p:spPr>
        <p:txBody>
          <a:bodyPr wrap="square" lIns="0" rIns="0" tIns="18288" bIns="18288" anchor="t">
            <a:spAutoFit/>
          </a:bodyPr>
          <a:lstStyle/>
          <a:p>
            <a:pPr algn="l">
              <a:lnSpc>
                <a:spcPct val="120000"/>
              </a:lnSpc>
              <a:spcAft>
                <a:spcPts val="0"/>
              </a:spcAft>
            </a:pPr>
            <a:r>
              <a:rPr sz="900" b="0" i="0">
                <a:solidFill>
                  <a:srgbClr val="64748B"/>
                </a:solidFill>
                <a:latin typeface="Calibri"/>
              </a:rPr>
              <a:t>Acute poort en Hotfloor</a:t>
            </a:r>
          </a:p>
        </p:txBody>
      </p:sp>
      <p:sp>
        <p:nvSpPr>
          <p:cNvPr id="7" name="TextBox 6"/>
          <p:cNvSpPr txBox="1"/>
          <p:nvPr/>
        </p:nvSpPr>
        <p:spPr>
          <a:xfrm>
            <a:off x="10591495" y="6419088"/>
            <a:ext cx="1097280" cy="274320"/>
          </a:xfrm>
          <a:prstGeom prst="rect">
            <a:avLst/>
          </a:prstGeom>
          <a:noFill/>
        </p:spPr>
        <p:txBody>
          <a:bodyPr wrap="square" lIns="0" rIns="0" tIns="18288" bIns="18288" anchor="t">
            <a:spAutoFit/>
          </a:bodyPr>
          <a:lstStyle/>
          <a:p>
            <a:pPr algn="r">
              <a:lnSpc>
                <a:spcPct val="120000"/>
              </a:lnSpc>
              <a:spcAft>
                <a:spcPts val="0"/>
              </a:spcAft>
            </a:pPr>
            <a:r>
              <a:rPr sz="900" b="0" i="0">
                <a:solidFill>
                  <a:srgbClr val="64748B"/>
                </a:solidFill>
                <a:latin typeface="Calibri"/>
              </a:rPr>
              <a:t>13</a:t>
            </a:r>
          </a:p>
        </p:txBody>
      </p:sp>
      <p:sp>
        <p:nvSpPr>
          <p:cNvPr id="8" name="Rounded Rectangle 7"/>
          <p:cNvSpPr/>
          <p:nvPr/>
        </p:nvSpPr>
        <p:spPr>
          <a:xfrm>
            <a:off x="502920" y="1444752"/>
            <a:ext cx="11185855" cy="914400"/>
          </a:xfrm>
          <a:prstGeom prst="roundRect">
            <a:avLst>
              <a:gd name="adj" fmla="val 5500"/>
            </a:avLst>
          </a:prstGeom>
          <a:solidFill>
            <a:srgbClr val="E4F4F2"/>
          </a:solidFill>
          <a:ln w="19050">
            <a:solidFill>
              <a:srgbClr val="93D2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 y="1554480"/>
            <a:ext cx="10637215" cy="713232"/>
          </a:xfrm>
          <a:prstGeom prst="rect">
            <a:avLst/>
          </a:prstGeom>
          <a:noFill/>
        </p:spPr>
        <p:txBody>
          <a:bodyPr wrap="square" lIns="54864" rIns="54864" tIns="18288" bIns="18288" anchor="ctr">
            <a:spAutoFit/>
          </a:bodyPr>
          <a:lstStyle/>
          <a:p>
            <a:pPr algn="l">
              <a:lnSpc>
                <a:spcPct val="120000"/>
              </a:lnSpc>
              <a:spcAft>
                <a:spcPts val="200"/>
              </a:spcAft>
            </a:pPr>
            <a:r>
              <a:rPr sz="2400" b="1" i="0">
                <a:solidFill>
                  <a:srgbClr val="0E9A87"/>
                </a:solidFill>
                <a:latin typeface="Calibri"/>
              </a:rPr>
              <a:t>De Hotfloor past wel op 16 bedden</a:t>
            </a:r>
          </a:p>
          <a:p>
            <a:pPr algn="l">
              <a:lnSpc>
                <a:spcPct val="120000"/>
              </a:lnSpc>
              <a:spcAft>
                <a:spcPts val="0"/>
              </a:spcAft>
            </a:pPr>
            <a:r>
              <a:rPr sz="1250" b="0" i="0">
                <a:solidFill>
                  <a:srgbClr val="0F1B2D"/>
                </a:solidFill>
                <a:latin typeface="Calibri"/>
              </a:rPr>
              <a:t>ICU samen met CCU en SCU</a:t>
            </a:r>
          </a:p>
        </p:txBody>
      </p:sp>
      <p:sp>
        <p:nvSpPr>
          <p:cNvPr id="10" name="Rounded Rectangle 9"/>
          <p:cNvSpPr/>
          <p:nvPr/>
        </p:nvSpPr>
        <p:spPr>
          <a:xfrm>
            <a:off x="502920" y="2578608"/>
            <a:ext cx="5437479" cy="969264"/>
          </a:xfrm>
          <a:prstGeom prst="roundRect">
            <a:avLst>
              <a:gd name="adj" fmla="val 5500"/>
            </a:avLst>
          </a:prstGeom>
          <a:solidFill>
            <a:srgbClr val="FCF3E8"/>
          </a:solidFill>
          <a:ln w="12700">
            <a:solidFill>
              <a:srgbClr val="F1CE9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2376" y="2688336"/>
            <a:ext cx="4998567" cy="749808"/>
          </a:xfrm>
          <a:prstGeom prst="rect">
            <a:avLst/>
          </a:prstGeom>
          <a:noFill/>
        </p:spPr>
        <p:txBody>
          <a:bodyPr wrap="square" lIns="54864" rIns="54864" tIns="18288" bIns="18288" anchor="ctr">
            <a:spAutoFit/>
          </a:bodyPr>
          <a:lstStyle/>
          <a:p>
            <a:pPr algn="l">
              <a:lnSpc>
                <a:spcPct val="120000"/>
              </a:lnSpc>
              <a:spcAft>
                <a:spcPts val="200"/>
              </a:spcAft>
            </a:pPr>
            <a:r>
              <a:rPr sz="1500" b="1" i="0">
                <a:solidFill>
                  <a:srgbClr val="0F1B2D"/>
                </a:solidFill>
                <a:latin typeface="Calibri"/>
              </a:rPr>
              <a:t>Wat is de weigerkans?</a:t>
            </a:r>
          </a:p>
          <a:p>
            <a:pPr algn="l">
              <a:lnSpc>
                <a:spcPct val="120000"/>
              </a:lnSpc>
              <a:spcAft>
                <a:spcPts val="0"/>
              </a:spcAft>
            </a:pPr>
            <a:r>
              <a:rPr sz="1150" b="0" i="0">
                <a:solidFill>
                  <a:srgbClr val="64748B"/>
                </a:solidFill>
                <a:latin typeface="Calibri"/>
              </a:rPr>
              <a:t>nog niet bekend</a:t>
            </a:r>
          </a:p>
        </p:txBody>
      </p:sp>
      <p:sp>
        <p:nvSpPr>
          <p:cNvPr id="12" name="Rounded Rectangle 11"/>
          <p:cNvSpPr/>
          <p:nvPr/>
        </p:nvSpPr>
        <p:spPr>
          <a:xfrm>
            <a:off x="6251295" y="2578608"/>
            <a:ext cx="5437479" cy="969264"/>
          </a:xfrm>
          <a:prstGeom prst="roundRect">
            <a:avLst>
              <a:gd name="adj" fmla="val 5500"/>
            </a:avLst>
          </a:prstGeom>
          <a:solidFill>
            <a:srgbClr val="FCF3E8"/>
          </a:solidFill>
          <a:ln w="12700">
            <a:solidFill>
              <a:srgbClr val="F1CE9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70751" y="2688336"/>
            <a:ext cx="4998567" cy="749808"/>
          </a:xfrm>
          <a:prstGeom prst="rect">
            <a:avLst/>
          </a:prstGeom>
          <a:noFill/>
        </p:spPr>
        <p:txBody>
          <a:bodyPr wrap="square" lIns="54864" rIns="54864" tIns="18288" bIns="18288" anchor="ctr">
            <a:spAutoFit/>
          </a:bodyPr>
          <a:lstStyle/>
          <a:p>
            <a:pPr algn="l">
              <a:lnSpc>
                <a:spcPct val="120000"/>
              </a:lnSpc>
              <a:spcAft>
                <a:spcPts val="200"/>
              </a:spcAft>
            </a:pPr>
            <a:r>
              <a:rPr sz="1500" b="1" i="0">
                <a:solidFill>
                  <a:srgbClr val="0F1B2D"/>
                </a:solidFill>
                <a:latin typeface="Calibri"/>
              </a:rPr>
              <a:t>Komt de EHH er apart bij?</a:t>
            </a:r>
          </a:p>
          <a:p>
            <a:pPr algn="l">
              <a:lnSpc>
                <a:spcPct val="120000"/>
              </a:lnSpc>
              <a:spcAft>
                <a:spcPts val="0"/>
              </a:spcAft>
            </a:pPr>
            <a:r>
              <a:rPr sz="1150" b="0" i="0">
                <a:solidFill>
                  <a:srgbClr val="64748B"/>
                </a:solidFill>
                <a:latin typeface="Calibri"/>
              </a:rPr>
              <a:t>of toch mee bij de acute poort en de SEH?</a:t>
            </a:r>
          </a:p>
        </p:txBody>
      </p:sp>
      <p:sp>
        <p:nvSpPr>
          <p:cNvPr id="14" name="Rounded Rectangle 13"/>
          <p:cNvSpPr/>
          <p:nvPr/>
        </p:nvSpPr>
        <p:spPr>
          <a:xfrm>
            <a:off x="502920" y="3767328"/>
            <a:ext cx="11185855" cy="2011680"/>
          </a:xfrm>
          <a:prstGeom prst="roundRect">
            <a:avLst>
              <a:gd name="adj" fmla="val 5500"/>
            </a:avLst>
          </a:prstGeom>
          <a:solidFill>
            <a:srgbClr val="FFFFFF"/>
          </a:solidFill>
          <a:ln w="12700">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77240" y="3913632"/>
            <a:ext cx="10637215" cy="365760"/>
          </a:xfrm>
          <a:prstGeom prst="rect">
            <a:avLst/>
          </a:prstGeom>
          <a:noFill/>
        </p:spPr>
        <p:txBody>
          <a:bodyPr wrap="square" lIns="54864" rIns="54864" tIns="18288" bIns="18288" anchor="t">
            <a:spAutoFit/>
          </a:bodyPr>
          <a:lstStyle/>
          <a:p>
            <a:pPr algn="l">
              <a:lnSpc>
                <a:spcPct val="120000"/>
              </a:lnSpc>
              <a:spcAft>
                <a:spcPts val="0"/>
              </a:spcAft>
            </a:pPr>
            <a:r>
              <a:rPr sz="1400" b="1" i="0">
                <a:solidFill>
                  <a:srgbClr val="0F1B2D"/>
                </a:solidFill>
                <a:latin typeface="Calibri"/>
              </a:rPr>
              <a:t>De twee wijzigingen naast elkaar</a:t>
            </a:r>
          </a:p>
        </p:txBody>
      </p:sp>
      <p:sp>
        <p:nvSpPr>
          <p:cNvPr id="16" name="Rounded Rectangle 15"/>
          <p:cNvSpPr/>
          <p:nvPr/>
        </p:nvSpPr>
        <p:spPr>
          <a:xfrm>
            <a:off x="777240" y="4334256"/>
            <a:ext cx="5181447" cy="1188720"/>
          </a:xfrm>
          <a:prstGeom prst="roundRect">
            <a:avLst>
              <a:gd name="adj" fmla="val 5500"/>
            </a:avLst>
          </a:prstGeom>
          <a:solidFill>
            <a:srgbClr val="EFF5FA"/>
          </a:solidFill>
          <a:ln w="12700">
            <a:solidFill>
              <a:srgbClr val="BCD4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941832" y="4498848"/>
            <a:ext cx="475488" cy="47548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600" b="1">
                <a:solidFill>
                  <a:srgbClr val="FFFFFF"/>
                </a:solidFill>
                <a:latin typeface="Calibri"/>
              </a:rPr>
              <a:t>1</a:t>
            </a:r>
          </a:p>
        </p:txBody>
      </p:sp>
      <p:sp>
        <p:nvSpPr>
          <p:cNvPr id="18" name="TextBox 17"/>
          <p:cNvSpPr txBox="1"/>
          <p:nvPr/>
        </p:nvSpPr>
        <p:spPr>
          <a:xfrm>
            <a:off x="1508760" y="4462272"/>
            <a:ext cx="4267047" cy="566928"/>
          </a:xfrm>
          <a:prstGeom prst="rect">
            <a:avLst/>
          </a:prstGeom>
          <a:noFill/>
        </p:spPr>
        <p:txBody>
          <a:bodyPr wrap="square" lIns="54864" rIns="54864" tIns="18288" bIns="18288" anchor="t">
            <a:spAutoFit/>
          </a:bodyPr>
          <a:lstStyle/>
          <a:p>
            <a:pPr algn="l">
              <a:lnSpc>
                <a:spcPct val="120000"/>
              </a:lnSpc>
              <a:spcAft>
                <a:spcPts val="100"/>
              </a:spcAft>
            </a:pPr>
            <a:r>
              <a:rPr sz="1500" b="1" i="0">
                <a:solidFill>
                  <a:srgbClr val="1F6FB2"/>
                </a:solidFill>
                <a:latin typeface="Calibri"/>
              </a:rPr>
              <a:t>Acute poort</a:t>
            </a:r>
          </a:p>
          <a:p>
            <a:pPr algn="l">
              <a:lnSpc>
                <a:spcPct val="120000"/>
              </a:lnSpc>
              <a:spcAft>
                <a:spcPts val="0"/>
              </a:spcAft>
            </a:pPr>
            <a:r>
              <a:rPr sz="1100" b="0" i="0">
                <a:solidFill>
                  <a:srgbClr val="64748B"/>
                </a:solidFill>
                <a:latin typeface="Calibri"/>
              </a:rPr>
              <a:t>3 stromen naar 1 poort</a:t>
            </a:r>
          </a:p>
        </p:txBody>
      </p:sp>
      <p:sp>
        <p:nvSpPr>
          <p:cNvPr id="19" name="Rounded Rectangle 18"/>
          <p:cNvSpPr/>
          <p:nvPr/>
        </p:nvSpPr>
        <p:spPr>
          <a:xfrm>
            <a:off x="1508760" y="5065776"/>
            <a:ext cx="1371600" cy="310896"/>
          </a:xfrm>
          <a:prstGeom prst="roundRect">
            <a:avLst>
              <a:gd name="adj" fmla="val 50000"/>
            </a:avLst>
          </a:prstGeom>
          <a:solidFill>
            <a:srgbClr val="F7E3E2"/>
          </a:solidFill>
          <a:ln w="12700">
            <a:solidFill>
              <a:srgbClr val="E29C9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C4392D"/>
                </a:solidFill>
                <a:latin typeface="Calibri"/>
              </a:rPr>
              <a:t>past niet</a:t>
            </a:r>
          </a:p>
        </p:txBody>
      </p:sp>
      <p:sp>
        <p:nvSpPr>
          <p:cNvPr id="20" name="Rounded Rectangle 19"/>
          <p:cNvSpPr/>
          <p:nvPr/>
        </p:nvSpPr>
        <p:spPr>
          <a:xfrm>
            <a:off x="6233007" y="4334256"/>
            <a:ext cx="5181447" cy="1188720"/>
          </a:xfrm>
          <a:prstGeom prst="roundRect">
            <a:avLst>
              <a:gd name="adj" fmla="val 5500"/>
            </a:avLst>
          </a:prstGeom>
          <a:solidFill>
            <a:srgbClr val="EEF8F7"/>
          </a:solidFill>
          <a:ln w="12700">
            <a:solidFill>
              <a:srgbClr val="B7E1D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6397599" y="4498848"/>
            <a:ext cx="475488" cy="47548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600" b="1">
                <a:solidFill>
                  <a:srgbClr val="FFFFFF"/>
                </a:solidFill>
                <a:latin typeface="Calibri"/>
              </a:rPr>
              <a:t>2</a:t>
            </a:r>
          </a:p>
        </p:txBody>
      </p:sp>
      <p:sp>
        <p:nvSpPr>
          <p:cNvPr id="22" name="TextBox 21"/>
          <p:cNvSpPr txBox="1"/>
          <p:nvPr/>
        </p:nvSpPr>
        <p:spPr>
          <a:xfrm>
            <a:off x="6964527" y="4462272"/>
            <a:ext cx="4267047" cy="566928"/>
          </a:xfrm>
          <a:prstGeom prst="rect">
            <a:avLst/>
          </a:prstGeom>
          <a:noFill/>
        </p:spPr>
        <p:txBody>
          <a:bodyPr wrap="square" lIns="54864" rIns="54864" tIns="18288" bIns="18288" anchor="t">
            <a:spAutoFit/>
          </a:bodyPr>
          <a:lstStyle/>
          <a:p>
            <a:pPr algn="l">
              <a:lnSpc>
                <a:spcPct val="120000"/>
              </a:lnSpc>
              <a:spcAft>
                <a:spcPts val="100"/>
              </a:spcAft>
            </a:pPr>
            <a:r>
              <a:rPr sz="1500" b="1" i="0">
                <a:solidFill>
                  <a:srgbClr val="0E9A87"/>
                </a:solidFill>
                <a:latin typeface="Calibri"/>
              </a:rPr>
              <a:t>Hotfloor</a:t>
            </a:r>
          </a:p>
          <a:p>
            <a:pPr algn="l">
              <a:lnSpc>
                <a:spcPct val="120000"/>
              </a:lnSpc>
              <a:spcAft>
                <a:spcPts val="0"/>
              </a:spcAft>
            </a:pPr>
            <a:r>
              <a:rPr sz="1100" b="0" i="0">
                <a:solidFill>
                  <a:srgbClr val="64748B"/>
                </a:solidFill>
                <a:latin typeface="Calibri"/>
              </a:rPr>
              <a:t>ICU / CCU / SCU samen</a:t>
            </a:r>
          </a:p>
        </p:txBody>
      </p:sp>
      <p:sp>
        <p:nvSpPr>
          <p:cNvPr id="23" name="Rounded Rectangle 22"/>
          <p:cNvSpPr/>
          <p:nvPr/>
        </p:nvSpPr>
        <p:spPr>
          <a:xfrm>
            <a:off x="6964527" y="5065776"/>
            <a:ext cx="1371600" cy="310896"/>
          </a:xfrm>
          <a:prstGeom prst="roundRect">
            <a:avLst>
              <a:gd name="adj" fmla="val 50000"/>
            </a:avLst>
          </a:prstGeom>
          <a:solidFill>
            <a:srgbClr val="DDF1EE"/>
          </a:solidFill>
          <a:ln w="12700">
            <a:solidFill>
              <a:srgbClr val="86CCC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0E9A87"/>
                </a:solidFill>
                <a:latin typeface="Calibri"/>
              </a:rPr>
              <a:t>past wel</a:t>
            </a:r>
          </a:p>
        </p:txBody>
      </p:sp>
      <p:sp>
        <p:nvSpPr>
          <p:cNvPr id="24" name="Rounded Rectangle 23"/>
          <p:cNvSpPr/>
          <p:nvPr/>
        </p:nvSpPr>
        <p:spPr>
          <a:xfrm>
            <a:off x="502920" y="5961888"/>
            <a:ext cx="11185855" cy="658368"/>
          </a:xfrm>
          <a:prstGeom prst="roundRect">
            <a:avLst>
              <a:gd name="adj" fmla="val 5500"/>
            </a:avLst>
          </a:prstGeom>
          <a:solidFill>
            <a:srgbClr val="FBF0E1"/>
          </a:solidFill>
          <a:ln w="12700">
            <a:solidFill>
              <a:srgbClr val="F0CA9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676656" y="6135624"/>
            <a:ext cx="310896" cy="310896"/>
          </a:xfrm>
          <a:prstGeom prst="ellipse">
            <a:avLst/>
          </a:prstGeom>
          <a:solidFill>
            <a:srgbClr val="DE8A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FFFFFF"/>
                </a:solidFill>
                <a:latin typeface="Calibri"/>
              </a:rPr>
              <a:t>!</a:t>
            </a:r>
          </a:p>
        </p:txBody>
      </p:sp>
      <p:sp>
        <p:nvSpPr>
          <p:cNvPr id="26" name="TextBox 25"/>
          <p:cNvSpPr txBox="1"/>
          <p:nvPr/>
        </p:nvSpPr>
        <p:spPr>
          <a:xfrm>
            <a:off x="1106424" y="6035040"/>
            <a:ext cx="10362895" cy="512063"/>
          </a:xfrm>
          <a:prstGeom prst="rect">
            <a:avLst/>
          </a:prstGeom>
          <a:noFill/>
        </p:spPr>
        <p:txBody>
          <a:bodyPr wrap="square" lIns="54864" rIns="54864" tIns="18288" bIns="18288" anchor="ctr">
            <a:spAutoFit/>
          </a:bodyPr>
          <a:lstStyle/>
          <a:p>
            <a:pPr algn="l">
              <a:lnSpc>
                <a:spcPct val="120000"/>
              </a:lnSpc>
              <a:spcAft>
                <a:spcPts val="200"/>
              </a:spcAft>
            </a:pPr>
            <a:r>
              <a:rPr sz="950" b="1" i="0">
                <a:solidFill>
                  <a:srgbClr val="DE8A1B"/>
                </a:solidFill>
                <a:latin typeface="Calibri"/>
              </a:rPr>
              <a:t>DE VRAAG DIE BEIDE RAAKT</a:t>
            </a:r>
          </a:p>
          <a:p>
            <a:pPr algn="l">
              <a:lnSpc>
                <a:spcPct val="120000"/>
              </a:lnSpc>
              <a:spcAft>
                <a:spcPts val="0"/>
              </a:spcAft>
            </a:pPr>
            <a:r>
              <a:rPr sz="1300" b="1" i="0">
                <a:solidFill>
                  <a:srgbClr val="0F1B2D"/>
                </a:solidFill>
                <a:latin typeface="Calibri"/>
              </a:rPr>
              <a:t>Waar valt de EHH onder: bij 1 of bij 2? Zolang dat niet vastligt, staan beide analyses stil.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502920" y="429768"/>
            <a:ext cx="457200" cy="457200"/>
          </a:xfrm>
          <a:prstGeom prst="ellipse">
            <a:avLst/>
          </a:prstGeom>
          <a:solidFill>
            <a:srgbClr val="DE8A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600" b="1">
                <a:solidFill>
                  <a:srgbClr val="FFFFFF"/>
                </a:solidFill>
                <a:latin typeface="Calibri"/>
              </a:rPr>
              <a:t>14</a:t>
            </a:r>
          </a:p>
        </p:txBody>
      </p:sp>
      <p:sp>
        <p:nvSpPr>
          <p:cNvPr id="4" name="TextBox 3"/>
          <p:cNvSpPr txBox="1"/>
          <p:nvPr/>
        </p:nvSpPr>
        <p:spPr>
          <a:xfrm>
            <a:off x="1106424" y="365760"/>
            <a:ext cx="10582351" cy="402336"/>
          </a:xfrm>
          <a:prstGeom prst="rect">
            <a:avLst/>
          </a:prstGeom>
          <a:noFill/>
        </p:spPr>
        <p:txBody>
          <a:bodyPr wrap="square" lIns="0" rIns="0" tIns="18288" bIns="18288" anchor="ctr">
            <a:spAutoFit/>
          </a:bodyPr>
          <a:lstStyle/>
          <a:p>
            <a:pPr algn="l">
              <a:lnSpc>
                <a:spcPct val="120000"/>
              </a:lnSpc>
              <a:spcAft>
                <a:spcPts val="0"/>
              </a:spcAft>
            </a:pPr>
            <a:r>
              <a:rPr sz="2250" b="1" i="0">
                <a:solidFill>
                  <a:srgbClr val="0F1B2D"/>
                </a:solidFill>
                <a:latin typeface="Calibri"/>
              </a:rPr>
              <a:t>Waar valt de EHH onder?</a:t>
            </a:r>
          </a:p>
        </p:txBody>
      </p:sp>
      <p:sp>
        <p:nvSpPr>
          <p:cNvPr id="5" name="TextBox 4"/>
          <p:cNvSpPr txBox="1"/>
          <p:nvPr/>
        </p:nvSpPr>
        <p:spPr>
          <a:xfrm>
            <a:off x="1106424" y="822960"/>
            <a:ext cx="10582351" cy="329184"/>
          </a:xfrm>
          <a:prstGeom prst="rect">
            <a:avLst/>
          </a:prstGeom>
          <a:noFill/>
        </p:spPr>
        <p:txBody>
          <a:bodyPr wrap="square" lIns="0" rIns="0" tIns="18288" bIns="18288" anchor="ctr">
            <a:spAutoFit/>
          </a:bodyPr>
          <a:lstStyle/>
          <a:p>
            <a:pPr algn="l">
              <a:lnSpc>
                <a:spcPct val="120000"/>
              </a:lnSpc>
              <a:spcAft>
                <a:spcPts val="0"/>
              </a:spcAft>
            </a:pPr>
            <a:r>
              <a:rPr sz="1350" b="0" i="0">
                <a:solidFill>
                  <a:srgbClr val="64748B"/>
                </a:solidFill>
                <a:latin typeface="Calibri"/>
              </a:rPr>
              <a:t>Deze keuze bepaalt beide analyses en de personele inzet</a:t>
            </a:r>
          </a:p>
        </p:txBody>
      </p:sp>
      <p:sp>
        <p:nvSpPr>
          <p:cNvPr id="6" name="TextBox 5"/>
          <p:cNvSpPr txBox="1"/>
          <p:nvPr/>
        </p:nvSpPr>
        <p:spPr>
          <a:xfrm>
            <a:off x="502920" y="6419088"/>
            <a:ext cx="5486400" cy="274320"/>
          </a:xfrm>
          <a:prstGeom prst="rect">
            <a:avLst/>
          </a:prstGeom>
          <a:noFill/>
        </p:spPr>
        <p:txBody>
          <a:bodyPr wrap="square" lIns="0" rIns="0" tIns="18288" bIns="18288" anchor="t">
            <a:spAutoFit/>
          </a:bodyPr>
          <a:lstStyle/>
          <a:p>
            <a:pPr algn="l">
              <a:lnSpc>
                <a:spcPct val="120000"/>
              </a:lnSpc>
              <a:spcAft>
                <a:spcPts val="0"/>
              </a:spcAft>
            </a:pPr>
            <a:r>
              <a:rPr sz="900" b="0" i="0">
                <a:solidFill>
                  <a:srgbClr val="64748B"/>
                </a:solidFill>
                <a:latin typeface="Calibri"/>
              </a:rPr>
              <a:t>Acute poort en Hotfloor</a:t>
            </a:r>
          </a:p>
        </p:txBody>
      </p:sp>
      <p:sp>
        <p:nvSpPr>
          <p:cNvPr id="7" name="TextBox 6"/>
          <p:cNvSpPr txBox="1"/>
          <p:nvPr/>
        </p:nvSpPr>
        <p:spPr>
          <a:xfrm>
            <a:off x="10591495" y="6419088"/>
            <a:ext cx="1097280" cy="274320"/>
          </a:xfrm>
          <a:prstGeom prst="rect">
            <a:avLst/>
          </a:prstGeom>
          <a:noFill/>
        </p:spPr>
        <p:txBody>
          <a:bodyPr wrap="square" lIns="0" rIns="0" tIns="18288" bIns="18288" anchor="t">
            <a:spAutoFit/>
          </a:bodyPr>
          <a:lstStyle/>
          <a:p>
            <a:pPr algn="r">
              <a:lnSpc>
                <a:spcPct val="120000"/>
              </a:lnSpc>
              <a:spcAft>
                <a:spcPts val="0"/>
              </a:spcAft>
            </a:pPr>
            <a:r>
              <a:rPr sz="900" b="0" i="0">
                <a:solidFill>
                  <a:srgbClr val="64748B"/>
                </a:solidFill>
                <a:latin typeface="Calibri"/>
              </a:rPr>
              <a:t>14</a:t>
            </a:r>
          </a:p>
        </p:txBody>
      </p:sp>
      <p:sp>
        <p:nvSpPr>
          <p:cNvPr id="8" name="Rounded Rectangle 7"/>
          <p:cNvSpPr/>
          <p:nvPr/>
        </p:nvSpPr>
        <p:spPr>
          <a:xfrm>
            <a:off x="502920" y="1444752"/>
            <a:ext cx="11185855" cy="1005840"/>
          </a:xfrm>
          <a:prstGeom prst="roundRect">
            <a:avLst>
              <a:gd name="adj" fmla="val 5500"/>
            </a:avLst>
          </a:prstGeom>
          <a:solidFill>
            <a:srgbClr val="FBF2E6"/>
          </a:solidFill>
          <a:ln w="19050">
            <a:solidFill>
              <a:srgbClr val="F0CA9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 y="1572768"/>
            <a:ext cx="10637215" cy="786384"/>
          </a:xfrm>
          <a:prstGeom prst="rect">
            <a:avLst/>
          </a:prstGeom>
          <a:noFill/>
        </p:spPr>
        <p:txBody>
          <a:bodyPr wrap="square" lIns="54864" rIns="54864" tIns="18288" bIns="18288" anchor="ctr">
            <a:spAutoFit/>
          </a:bodyPr>
          <a:lstStyle/>
          <a:p>
            <a:pPr algn="l">
              <a:lnSpc>
                <a:spcPct val="120000"/>
              </a:lnSpc>
              <a:spcAft>
                <a:spcPts val="200"/>
              </a:spcAft>
            </a:pPr>
            <a:r>
              <a:rPr sz="2600" b="1" i="0">
                <a:solidFill>
                  <a:srgbClr val="DE8A1B"/>
                </a:solidFill>
                <a:latin typeface="Calibri"/>
              </a:rPr>
              <a:t>Bij 1 of bij 2?</a:t>
            </a:r>
          </a:p>
          <a:p>
            <a:pPr algn="l">
              <a:lnSpc>
                <a:spcPct val="120000"/>
              </a:lnSpc>
              <a:spcAft>
                <a:spcPts val="0"/>
              </a:spcAft>
            </a:pPr>
            <a:r>
              <a:rPr sz="1300" b="0" i="0">
                <a:solidFill>
                  <a:srgbClr val="0F1B2D"/>
                </a:solidFill>
                <a:latin typeface="Calibri"/>
              </a:rPr>
              <a:t>bij de acute poort, of bij de Hotfloor</a:t>
            </a:r>
          </a:p>
        </p:txBody>
      </p:sp>
      <p:sp>
        <p:nvSpPr>
          <p:cNvPr id="10" name="Down Arrow 9"/>
          <p:cNvSpPr/>
          <p:nvPr/>
        </p:nvSpPr>
        <p:spPr>
          <a:xfrm>
            <a:off x="3121075" y="2724912"/>
            <a:ext cx="201168" cy="292608"/>
          </a:xfrm>
          <a:prstGeom prst="downArrow">
            <a:avLst/>
          </a:prstGeom>
          <a:solidFill>
            <a:srgbClr val="DE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02920" y="3127248"/>
            <a:ext cx="5437479" cy="1371600"/>
          </a:xfrm>
          <a:prstGeom prst="roundRect">
            <a:avLst>
              <a:gd name="adj" fmla="val 5500"/>
            </a:avLst>
          </a:prstGeom>
          <a:solidFill>
            <a:srgbClr val="FFFFFF"/>
          </a:solidFill>
          <a:ln w="12700">
            <a:solidFill>
              <a:srgbClr val="F3D6A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40664" y="3273552"/>
            <a:ext cx="4961991" cy="1097280"/>
          </a:xfrm>
          <a:prstGeom prst="rect">
            <a:avLst/>
          </a:prstGeom>
          <a:noFill/>
        </p:spPr>
        <p:txBody>
          <a:bodyPr wrap="square" lIns="54864" rIns="54864" tIns="18288" bIns="18288" anchor="t">
            <a:spAutoFit/>
          </a:bodyPr>
          <a:lstStyle/>
          <a:p>
            <a:pPr algn="l">
              <a:lnSpc>
                <a:spcPct val="120000"/>
              </a:lnSpc>
              <a:spcAft>
                <a:spcPts val="400"/>
              </a:spcAft>
            </a:pPr>
            <a:r>
              <a:rPr sz="1600" b="1" i="0">
                <a:solidFill>
                  <a:srgbClr val="DE8A1B"/>
                </a:solidFill>
                <a:latin typeface="Calibri"/>
              </a:rPr>
              <a:t>Analyse plus knelpunten</a:t>
            </a:r>
          </a:p>
          <a:p>
            <a:pPr algn="l">
              <a:lnSpc>
                <a:spcPct val="125000"/>
              </a:lnSpc>
              <a:spcAft>
                <a:spcPts val="0"/>
              </a:spcAft>
            </a:pPr>
            <a:r>
              <a:rPr sz="1200" b="0" i="0">
                <a:solidFill>
                  <a:srgbClr val="0F1B2D"/>
                </a:solidFill>
                <a:latin typeface="Calibri"/>
              </a:rPr>
              <a:t>De analyses zijn gedaan en de knelpunten zijn gedeeld. Maar wat wordt er nu met die knelpunten gedaan, en welke acties volgen daaruit?</a:t>
            </a:r>
          </a:p>
        </p:txBody>
      </p:sp>
      <p:sp>
        <p:nvSpPr>
          <p:cNvPr id="13" name="Down Arrow 12"/>
          <p:cNvSpPr/>
          <p:nvPr/>
        </p:nvSpPr>
        <p:spPr>
          <a:xfrm>
            <a:off x="8869451" y="2724912"/>
            <a:ext cx="201168" cy="292608"/>
          </a:xfrm>
          <a:prstGeom prst="downArrow">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251295" y="3127248"/>
            <a:ext cx="5437479" cy="1371600"/>
          </a:xfrm>
          <a:prstGeom prst="roundRect">
            <a:avLst>
              <a:gd name="adj" fmla="val 5500"/>
            </a:avLst>
          </a:prstGeom>
          <a:solidFill>
            <a:srgbClr val="FFFFFF"/>
          </a:solidFill>
          <a:ln w="12700">
            <a:solidFill>
              <a:srgbClr val="ABDCD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89039" y="3273552"/>
            <a:ext cx="4961991" cy="1097280"/>
          </a:xfrm>
          <a:prstGeom prst="rect">
            <a:avLst/>
          </a:prstGeom>
          <a:noFill/>
        </p:spPr>
        <p:txBody>
          <a:bodyPr wrap="square" lIns="54864" rIns="54864" tIns="18288" bIns="18288" anchor="t">
            <a:spAutoFit/>
          </a:bodyPr>
          <a:lstStyle/>
          <a:p>
            <a:pPr algn="l">
              <a:lnSpc>
                <a:spcPct val="120000"/>
              </a:lnSpc>
              <a:spcAft>
                <a:spcPts val="400"/>
              </a:spcAft>
            </a:pPr>
            <a:r>
              <a:rPr sz="1600" b="1" i="0">
                <a:solidFill>
                  <a:srgbClr val="0E9A87"/>
                </a:solidFill>
                <a:latin typeface="Calibri"/>
              </a:rPr>
              <a:t>Of past het?</a:t>
            </a:r>
          </a:p>
          <a:p>
            <a:pPr algn="l">
              <a:lnSpc>
                <a:spcPct val="125000"/>
              </a:lnSpc>
              <a:spcAft>
                <a:spcPts val="0"/>
              </a:spcAft>
            </a:pPr>
            <a:r>
              <a:rPr sz="1200" b="0" i="0">
                <a:solidFill>
                  <a:srgbClr val="0F1B2D"/>
                </a:solidFill>
                <a:latin typeface="Calibri"/>
              </a:rPr>
              <a:t>Of concluderen we dat het past, en gaan we er zo mee aan de slag? Ook dat is een besluit dat genomen moet worden.</a:t>
            </a:r>
          </a:p>
        </p:txBody>
      </p:sp>
      <p:sp>
        <p:nvSpPr>
          <p:cNvPr id="16" name="Rounded Rectangle 15"/>
          <p:cNvSpPr/>
          <p:nvPr/>
        </p:nvSpPr>
        <p:spPr>
          <a:xfrm>
            <a:off x="502920" y="4681728"/>
            <a:ext cx="11185855" cy="914400"/>
          </a:xfrm>
          <a:prstGeom prst="roundRect">
            <a:avLst>
              <a:gd name="adj" fmla="val 5500"/>
            </a:avLst>
          </a:prstGeom>
          <a:solidFill>
            <a:srgbClr val="F1F3F6"/>
          </a:solidFill>
          <a:ln w="12700">
            <a:solidFill>
              <a:srgbClr val="BDC8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7240" y="4791456"/>
            <a:ext cx="10637215" cy="713232"/>
          </a:xfrm>
          <a:prstGeom prst="rect">
            <a:avLst/>
          </a:prstGeom>
          <a:noFill/>
        </p:spPr>
        <p:txBody>
          <a:bodyPr wrap="square" lIns="54864" rIns="54864" tIns="18288" bIns="18288" anchor="ctr">
            <a:spAutoFit/>
          </a:bodyPr>
          <a:lstStyle/>
          <a:p>
            <a:pPr algn="l">
              <a:lnSpc>
                <a:spcPct val="120000"/>
              </a:lnSpc>
              <a:spcAft>
                <a:spcPts val="300"/>
              </a:spcAft>
            </a:pPr>
            <a:r>
              <a:rPr sz="1300" b="1" i="0">
                <a:solidFill>
                  <a:srgbClr val="123A63"/>
                </a:solidFill>
                <a:latin typeface="Calibri"/>
              </a:rPr>
              <a:t>Wat er van afhangt</a:t>
            </a:r>
          </a:p>
          <a:p>
            <a:pPr algn="l">
              <a:lnSpc>
                <a:spcPct val="125000"/>
              </a:lnSpc>
              <a:spcAft>
                <a:spcPts val="0"/>
              </a:spcAft>
            </a:pPr>
            <a:r>
              <a:rPr sz="1200" b="0" i="0">
                <a:solidFill>
                  <a:srgbClr val="0F1B2D"/>
                </a:solidFill>
                <a:latin typeface="Calibri"/>
              </a:rPr>
              <a:t>Het aantal plekken op de acute poort, het aantal bedden op de Hotfloor, en waar het personeel van de EHH vandaan komt: van de SEH of van de ICU/CCU.</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502920" y="429768"/>
            <a:ext cx="457200" cy="457200"/>
          </a:xfrm>
          <a:prstGeom prst="ellipse">
            <a:avLst/>
          </a:prstGeom>
          <a:solidFill>
            <a:srgbClr val="123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600" b="1">
                <a:solidFill>
                  <a:srgbClr val="FFFFFF"/>
                </a:solidFill>
                <a:latin typeface="Calibri"/>
              </a:rPr>
              <a:t>15</a:t>
            </a:r>
          </a:p>
        </p:txBody>
      </p:sp>
      <p:sp>
        <p:nvSpPr>
          <p:cNvPr id="4" name="TextBox 3"/>
          <p:cNvSpPr txBox="1"/>
          <p:nvPr/>
        </p:nvSpPr>
        <p:spPr>
          <a:xfrm>
            <a:off x="1106424" y="365760"/>
            <a:ext cx="10582351" cy="402336"/>
          </a:xfrm>
          <a:prstGeom prst="rect">
            <a:avLst/>
          </a:prstGeom>
          <a:noFill/>
        </p:spPr>
        <p:txBody>
          <a:bodyPr wrap="square" lIns="0" rIns="0" tIns="18288" bIns="18288" anchor="ctr">
            <a:spAutoFit/>
          </a:bodyPr>
          <a:lstStyle/>
          <a:p>
            <a:pPr algn="l">
              <a:lnSpc>
                <a:spcPct val="120000"/>
              </a:lnSpc>
              <a:spcAft>
                <a:spcPts val="0"/>
              </a:spcAft>
            </a:pPr>
            <a:r>
              <a:rPr sz="2250" b="1" i="0">
                <a:solidFill>
                  <a:srgbClr val="0F1B2D"/>
                </a:solidFill>
                <a:latin typeface="Calibri"/>
              </a:rPr>
              <a:t>Wat weten we per situatie?</a:t>
            </a:r>
          </a:p>
        </p:txBody>
      </p:sp>
      <p:sp>
        <p:nvSpPr>
          <p:cNvPr id="5" name="TextBox 4"/>
          <p:cNvSpPr txBox="1"/>
          <p:nvPr/>
        </p:nvSpPr>
        <p:spPr>
          <a:xfrm>
            <a:off x="1106424" y="822960"/>
            <a:ext cx="10582351" cy="329184"/>
          </a:xfrm>
          <a:prstGeom prst="rect">
            <a:avLst/>
          </a:prstGeom>
          <a:noFill/>
        </p:spPr>
        <p:txBody>
          <a:bodyPr wrap="square" lIns="0" rIns="0" tIns="18288" bIns="18288" anchor="ctr">
            <a:spAutoFit/>
          </a:bodyPr>
          <a:lstStyle/>
          <a:p>
            <a:pPr algn="l">
              <a:lnSpc>
                <a:spcPct val="120000"/>
              </a:lnSpc>
              <a:spcAft>
                <a:spcPts val="0"/>
              </a:spcAft>
            </a:pPr>
            <a:r>
              <a:rPr sz="1350" b="0" i="0">
                <a:solidFill>
                  <a:srgbClr val="64748B"/>
                </a:solidFill>
                <a:latin typeface="Calibri"/>
              </a:rPr>
              <a:t>Fysieke planning en personele inzet, per situatie</a:t>
            </a:r>
          </a:p>
        </p:txBody>
      </p:sp>
      <p:sp>
        <p:nvSpPr>
          <p:cNvPr id="6" name="TextBox 5"/>
          <p:cNvSpPr txBox="1"/>
          <p:nvPr/>
        </p:nvSpPr>
        <p:spPr>
          <a:xfrm>
            <a:off x="502920" y="6419088"/>
            <a:ext cx="5486400" cy="274320"/>
          </a:xfrm>
          <a:prstGeom prst="rect">
            <a:avLst/>
          </a:prstGeom>
          <a:noFill/>
        </p:spPr>
        <p:txBody>
          <a:bodyPr wrap="square" lIns="0" rIns="0" tIns="18288" bIns="18288" anchor="t">
            <a:spAutoFit/>
          </a:bodyPr>
          <a:lstStyle/>
          <a:p>
            <a:pPr algn="l">
              <a:lnSpc>
                <a:spcPct val="120000"/>
              </a:lnSpc>
              <a:spcAft>
                <a:spcPts val="0"/>
              </a:spcAft>
            </a:pPr>
            <a:r>
              <a:rPr sz="900" b="0" i="0">
                <a:solidFill>
                  <a:srgbClr val="64748B"/>
                </a:solidFill>
                <a:latin typeface="Calibri"/>
              </a:rPr>
              <a:t>Acute poort en Hotfloor</a:t>
            </a:r>
          </a:p>
        </p:txBody>
      </p:sp>
      <p:sp>
        <p:nvSpPr>
          <p:cNvPr id="7" name="TextBox 6"/>
          <p:cNvSpPr txBox="1"/>
          <p:nvPr/>
        </p:nvSpPr>
        <p:spPr>
          <a:xfrm>
            <a:off x="10591495" y="6419088"/>
            <a:ext cx="1097280" cy="274320"/>
          </a:xfrm>
          <a:prstGeom prst="rect">
            <a:avLst/>
          </a:prstGeom>
          <a:noFill/>
        </p:spPr>
        <p:txBody>
          <a:bodyPr wrap="square" lIns="0" rIns="0" tIns="18288" bIns="18288" anchor="t">
            <a:spAutoFit/>
          </a:bodyPr>
          <a:lstStyle/>
          <a:p>
            <a:pPr algn="r">
              <a:lnSpc>
                <a:spcPct val="120000"/>
              </a:lnSpc>
              <a:spcAft>
                <a:spcPts val="0"/>
              </a:spcAft>
            </a:pPr>
            <a:r>
              <a:rPr sz="900" b="0" i="0">
                <a:solidFill>
                  <a:srgbClr val="64748B"/>
                </a:solidFill>
                <a:latin typeface="Calibri"/>
              </a:rPr>
              <a:t>15</a:t>
            </a:r>
          </a:p>
        </p:txBody>
      </p:sp>
      <p:graphicFrame>
        <p:nvGraphicFramePr>
          <p:cNvPr id="8" name="Table 7"/>
          <p:cNvGraphicFramePr>
            <a:graphicFrameLocks noGrp="1"/>
          </p:cNvGraphicFramePr>
          <p:nvPr/>
        </p:nvGraphicFramePr>
        <p:xfrm>
          <a:off x="502920" y="1536192"/>
          <a:ext cx="11185855" cy="2596896"/>
        </p:xfrm>
        <a:graphic>
          <a:graphicData uri="http://schemas.openxmlformats.org/drawingml/2006/table">
            <a:tbl>
              <a:tblPr firstRow="1">
                <a:tableStyleId>{5C22544A-7EE6-4342-B048-85BDC9FD1C3A}</a:tableStyleId>
              </a:tblPr>
              <a:tblGrid>
                <a:gridCol w="2194560"/>
                <a:gridCol w="4526280"/>
                <a:gridCol w="4465015"/>
              </a:tblGrid>
              <a:tr h="402336">
                <a:tc>
                  <a:txBody>
                    <a:bodyPr wrap="square"/>
                    <a:lstStyle/>
                    <a:p>
                      <a:pPr algn="l">
                        <a:spcAft>
                          <a:spcPts val="200"/>
                        </a:spcAft>
                      </a:pPr>
                      <a:r>
                        <a:rPr sz="1150" b="1">
                          <a:solidFill>
                            <a:srgbClr val="FFFFFF"/>
                          </a:solidFill>
                          <a:latin typeface="Calibri"/>
                        </a:rPr>
                        <a:t>Situatie</a:t>
                      </a:r>
                    </a:p>
                  </a:txBody>
                  <a:tcPr marL="82296" marR="82296" marT="36576" marB="36576" anchor="ctr">
                    <a:solidFill>
                      <a:srgbClr val="123A63"/>
                    </a:solidFill>
                  </a:tcPr>
                </a:tc>
                <a:tc>
                  <a:txBody>
                    <a:bodyPr wrap="square"/>
                    <a:lstStyle/>
                    <a:p>
                      <a:pPr algn="l">
                        <a:spcAft>
                          <a:spcPts val="200"/>
                        </a:spcAft>
                      </a:pPr>
                      <a:r>
                        <a:rPr sz="1150" b="1">
                          <a:solidFill>
                            <a:srgbClr val="FFFFFF"/>
                          </a:solidFill>
                          <a:latin typeface="Calibri"/>
                        </a:rPr>
                        <a:t>Fysieke planning</a:t>
                      </a:r>
                    </a:p>
                  </a:txBody>
                  <a:tcPr marL="82296" marR="82296" marT="36576" marB="36576" anchor="ctr">
                    <a:solidFill>
                      <a:srgbClr val="123A63"/>
                    </a:solidFill>
                  </a:tcPr>
                </a:tc>
                <a:tc>
                  <a:txBody>
                    <a:bodyPr wrap="square"/>
                    <a:lstStyle/>
                    <a:p>
                      <a:pPr algn="l">
                        <a:spcAft>
                          <a:spcPts val="200"/>
                        </a:spcAft>
                      </a:pPr>
                      <a:r>
                        <a:rPr sz="1150" b="1">
                          <a:solidFill>
                            <a:srgbClr val="FFFFFF"/>
                          </a:solidFill>
                          <a:latin typeface="Calibri"/>
                        </a:rPr>
                        <a:t>Personele inzet - opleiden? hoe?</a:t>
                      </a:r>
                    </a:p>
                  </a:txBody>
                  <a:tcPr marL="82296" marR="82296" marT="36576" marB="36576" anchor="ctr">
                    <a:solidFill>
                      <a:srgbClr val="123A63"/>
                    </a:solidFill>
                  </a:tcPr>
                </a:tc>
              </a:tr>
              <a:tr h="566928">
                <a:tc>
                  <a:txBody>
                    <a:bodyPr wrap="square"/>
                    <a:lstStyle/>
                    <a:p>
                      <a:pPr algn="l">
                        <a:spcAft>
                          <a:spcPts val="200"/>
                        </a:spcAft>
                      </a:pPr>
                      <a:r>
                        <a:rPr sz="1200" b="1">
                          <a:solidFill>
                            <a:srgbClr val="0F1B2D"/>
                          </a:solidFill>
                          <a:latin typeface="Calibri"/>
                        </a:rPr>
                        <a:t>Oudbouw</a:t>
                      </a:r>
                    </a:p>
                    <a:p>
                      <a:pPr algn="l">
                        <a:spcAft>
                          <a:spcPts val="200"/>
                        </a:spcAft>
                      </a:pPr>
                      <a:r>
                        <a:rPr sz="1200" b="1">
                          <a:solidFill>
                            <a:srgbClr val="0F1B2D"/>
                          </a:solidFill>
                          <a:latin typeface="Calibri"/>
                        </a:rPr>
                        <a:t>okt 2026 - mei 2027</a:t>
                      </a:r>
                    </a:p>
                  </a:txBody>
                  <a:tcPr marL="82296" marR="82296" marT="36576" marB="36576" anchor="ctr">
                    <a:solidFill>
                      <a:srgbClr val="FFFFFF"/>
                    </a:solidFill>
                  </a:tcPr>
                </a:tc>
                <a:tc>
                  <a:txBody>
                    <a:bodyPr wrap="square"/>
                    <a:lstStyle/>
                    <a:p>
                      <a:pPr algn="l">
                        <a:spcAft>
                          <a:spcPts val="200"/>
                        </a:spcAft>
                      </a:pPr>
                      <a:r>
                        <a:rPr sz="1200">
                          <a:solidFill>
                            <a:srgbClr val="0F1B2D"/>
                          </a:solidFill>
                          <a:latin typeface="Calibri"/>
                        </a:rPr>
                        <a:t>Zie de vijf scenario's (dia 10)</a:t>
                      </a:r>
                    </a:p>
                  </a:txBody>
                  <a:tcPr marL="82296" marR="82296" marT="36576" marB="36576" anchor="ctr">
                    <a:solidFill>
                      <a:srgbClr val="FFFFFF"/>
                    </a:solidFill>
                  </a:tcPr>
                </a:tc>
                <a:tc>
                  <a:txBody>
                    <a:bodyPr wrap="square"/>
                    <a:lstStyle/>
                    <a:p>
                      <a:pPr algn="l">
                        <a:spcAft>
                          <a:spcPts val="200"/>
                        </a:spcAft>
                      </a:pPr>
                      <a:r>
                        <a:rPr sz="1200">
                          <a:solidFill>
                            <a:srgbClr val="0F1B2D"/>
                          </a:solidFill>
                          <a:latin typeface="Calibri"/>
                        </a:rPr>
                        <a:t>nog niet ingevuld</a:t>
                      </a:r>
                    </a:p>
                  </a:txBody>
                  <a:tcPr marL="82296" marR="82296" marT="36576" marB="36576" anchor="ctr">
                    <a:solidFill>
                      <a:srgbClr val="FFFFFF"/>
                    </a:solidFill>
                  </a:tcPr>
                </a:tc>
              </a:tr>
              <a:tr h="566928">
                <a:tc>
                  <a:txBody>
                    <a:bodyPr wrap="square"/>
                    <a:lstStyle/>
                    <a:p>
                      <a:pPr algn="l">
                        <a:spcAft>
                          <a:spcPts val="200"/>
                        </a:spcAft>
                      </a:pPr>
                      <a:r>
                        <a:rPr sz="1200" b="1">
                          <a:solidFill>
                            <a:srgbClr val="0F1B2D"/>
                          </a:solidFill>
                          <a:latin typeface="Calibri"/>
                        </a:rPr>
                        <a:t>Verhuisperiode</a:t>
                      </a:r>
                    </a:p>
                    <a:p>
                      <a:pPr algn="l">
                        <a:spcAft>
                          <a:spcPts val="200"/>
                        </a:spcAft>
                      </a:pPr>
                      <a:r>
                        <a:rPr sz="1200" b="1">
                          <a:solidFill>
                            <a:srgbClr val="0F1B2D"/>
                          </a:solidFill>
                          <a:latin typeface="Calibri"/>
                        </a:rPr>
                        <a:t>juni 2027</a:t>
                      </a:r>
                    </a:p>
                  </a:txBody>
                  <a:tcPr marL="82296" marR="82296" marT="36576" marB="36576" anchor="ctr">
                    <a:solidFill>
                      <a:srgbClr val="F4F7FB"/>
                    </a:solidFill>
                  </a:tcPr>
                </a:tc>
                <a:tc>
                  <a:txBody>
                    <a:bodyPr wrap="square"/>
                    <a:lstStyle/>
                    <a:p>
                      <a:pPr algn="l">
                        <a:spcAft>
                          <a:spcPts val="200"/>
                        </a:spcAft>
                      </a:pPr>
                      <a:r>
                        <a:rPr sz="1200">
                          <a:solidFill>
                            <a:srgbClr val="0F1B2D"/>
                          </a:solidFill>
                          <a:latin typeface="Calibri"/>
                        </a:rPr>
                        <a:t>nog niet ingevuld</a:t>
                      </a:r>
                    </a:p>
                  </a:txBody>
                  <a:tcPr marL="82296" marR="82296" marT="36576" marB="36576" anchor="ctr">
                    <a:solidFill>
                      <a:srgbClr val="F4F7FB"/>
                    </a:solidFill>
                  </a:tcPr>
                </a:tc>
                <a:tc>
                  <a:txBody>
                    <a:bodyPr wrap="square"/>
                    <a:lstStyle/>
                    <a:p>
                      <a:pPr algn="l">
                        <a:spcAft>
                          <a:spcPts val="200"/>
                        </a:spcAft>
                      </a:pPr>
                      <a:r>
                        <a:rPr sz="1200">
                          <a:solidFill>
                            <a:srgbClr val="0F1B2D"/>
                          </a:solidFill>
                          <a:latin typeface="Calibri"/>
                        </a:rPr>
                        <a:t>nog niet ingevuld</a:t>
                      </a:r>
                    </a:p>
                  </a:txBody>
                  <a:tcPr marL="82296" marR="82296" marT="36576" marB="36576" anchor="ctr">
                    <a:solidFill>
                      <a:srgbClr val="F4F7FB"/>
                    </a:solidFill>
                  </a:tcPr>
                </a:tc>
              </a:tr>
              <a:tr h="1060704">
                <a:tc>
                  <a:txBody>
                    <a:bodyPr wrap="square"/>
                    <a:lstStyle/>
                    <a:p>
                      <a:pPr algn="l">
                        <a:spcAft>
                          <a:spcPts val="200"/>
                        </a:spcAft>
                      </a:pPr>
                      <a:r>
                        <a:rPr sz="1200" b="1">
                          <a:solidFill>
                            <a:srgbClr val="0F1B2D"/>
                          </a:solidFill>
                          <a:latin typeface="Calibri"/>
                        </a:rPr>
                        <a:t>Nieuwbouw</a:t>
                      </a:r>
                    </a:p>
                    <a:p>
                      <a:pPr algn="l">
                        <a:spcAft>
                          <a:spcPts val="200"/>
                        </a:spcAft>
                      </a:pPr>
                      <a:r>
                        <a:rPr sz="1200" b="1">
                          <a:solidFill>
                            <a:srgbClr val="0F1B2D"/>
                          </a:solidFill>
                          <a:latin typeface="Calibri"/>
                        </a:rPr>
                        <a:t>vanaf juni 2027</a:t>
                      </a:r>
                    </a:p>
                  </a:txBody>
                  <a:tcPr marL="82296" marR="82296" marT="36576" marB="36576" anchor="ctr">
                    <a:solidFill>
                      <a:srgbClr val="FFFFFF"/>
                    </a:solidFill>
                  </a:tcPr>
                </a:tc>
                <a:tc>
                  <a:txBody>
                    <a:bodyPr wrap="square"/>
                    <a:lstStyle/>
                    <a:p>
                      <a:pPr algn="l">
                        <a:spcAft>
                          <a:spcPts val="200"/>
                        </a:spcAft>
                      </a:pPr>
                      <a:r>
                        <a:rPr sz="1050">
                          <a:solidFill>
                            <a:srgbClr val="0F1B2D"/>
                          </a:solidFill>
                          <a:latin typeface="Calibri"/>
                        </a:rPr>
                        <a:t>1. Waar komt de recoverypatiënt in avond, nacht en weekend?</a:t>
                      </a:r>
                    </a:p>
                    <a:p>
                      <a:pPr algn="l">
                        <a:spcAft>
                          <a:spcPts val="200"/>
                        </a:spcAft>
                      </a:pPr>
                      <a:r>
                        <a:rPr sz="1050">
                          <a:solidFill>
                            <a:srgbClr val="0F1B2D"/>
                          </a:solidFill>
                          <a:latin typeface="Calibri"/>
                        </a:rPr>
                        <a:t>2. Waar komt de cardioversie?</a:t>
                      </a:r>
                    </a:p>
                    <a:p>
                      <a:pPr algn="l">
                        <a:spcAft>
                          <a:spcPts val="200"/>
                        </a:spcAft>
                      </a:pPr>
                      <a:r>
                        <a:rPr sz="1050">
                          <a:solidFill>
                            <a:srgbClr val="0F1B2D"/>
                          </a:solidFill>
                          <a:latin typeface="Calibri"/>
                        </a:rPr>
                        <a:t>3. Hoort de EHH bij de SEH of bij de Hotfloor?</a:t>
                      </a:r>
                    </a:p>
                    <a:p>
                      <a:pPr algn="l">
                        <a:spcAft>
                          <a:spcPts val="200"/>
                        </a:spcAft>
                      </a:pPr>
                      <a:r>
                        <a:rPr sz="1050">
                          <a:solidFill>
                            <a:srgbClr val="0F1B2D"/>
                          </a:solidFill>
                          <a:latin typeface="Calibri"/>
                        </a:rPr>
                        <a:t>4. Komt de OSAS post-OK patiënt nog op de ICU?</a:t>
                      </a:r>
                    </a:p>
                  </a:txBody>
                  <a:tcPr marL="82296" marR="82296" marT="36576" marB="36576" anchor="ctr">
                    <a:solidFill>
                      <a:srgbClr val="FFFFFF"/>
                    </a:solidFill>
                  </a:tcPr>
                </a:tc>
                <a:tc>
                  <a:txBody>
                    <a:bodyPr wrap="square"/>
                    <a:lstStyle/>
                    <a:p>
                      <a:pPr algn="l">
                        <a:spcAft>
                          <a:spcPts val="200"/>
                        </a:spcAft>
                      </a:pPr>
                      <a:r>
                        <a:rPr sz="1200">
                          <a:solidFill>
                            <a:srgbClr val="0F1B2D"/>
                          </a:solidFill>
                          <a:latin typeface="Calibri"/>
                        </a:rPr>
                        <a:t>1. Wat gebeurt er met de scopedienst van de CCU?</a:t>
                      </a:r>
                    </a:p>
                    <a:p>
                      <a:pPr algn="l">
                        <a:spcAft>
                          <a:spcPts val="200"/>
                        </a:spcAft>
                      </a:pPr>
                      <a:r>
                        <a:rPr sz="1200">
                          <a:solidFill>
                            <a:srgbClr val="0F1B2D"/>
                          </a:solidFill>
                          <a:latin typeface="Calibri"/>
                        </a:rPr>
                        <a:t>2. Welke norm geldt voor de Hotfloor?</a:t>
                      </a:r>
                    </a:p>
                    <a:p>
                      <a:pPr algn="l">
                        <a:spcAft>
                          <a:spcPts val="200"/>
                        </a:spcAft>
                      </a:pPr>
                      <a:r>
                        <a:rPr sz="1200">
                          <a:solidFill>
                            <a:srgbClr val="0F1B2D"/>
                          </a:solidFill>
                          <a:latin typeface="Calibri"/>
                        </a:rPr>
                        <a:t>3. Inzet kinderverpleegkundige op de SEH?</a:t>
                      </a:r>
                    </a:p>
                    <a:p>
                      <a:pPr algn="l">
                        <a:spcAft>
                          <a:spcPts val="200"/>
                        </a:spcAft>
                      </a:pPr>
                      <a:r>
                        <a:rPr sz="1200">
                          <a:solidFill>
                            <a:srgbClr val="0F1B2D"/>
                          </a:solidFill>
                          <a:latin typeface="Calibri"/>
                        </a:rPr>
                        <a:t>4. En verder</a:t>
                      </a:r>
                    </a:p>
                  </a:txBody>
                  <a:tcPr marL="82296" marR="82296" marT="36576" marB="36576" anchor="ctr">
                    <a:solidFill>
                      <a:srgbClr val="FFFFFF"/>
                    </a:solidFill>
                  </a:tcPr>
                </a:tc>
              </a:tr>
            </a:tbl>
          </a:graphicData>
        </a:graphic>
      </p:graphicFrame>
      <p:sp>
        <p:nvSpPr>
          <p:cNvPr id="9" name="Rounded Rectangle 8"/>
          <p:cNvSpPr/>
          <p:nvPr/>
        </p:nvSpPr>
        <p:spPr>
          <a:xfrm>
            <a:off x="502920" y="4736592"/>
            <a:ext cx="11185855" cy="731520"/>
          </a:xfrm>
          <a:prstGeom prst="roundRect">
            <a:avLst>
              <a:gd name="adj" fmla="val 5500"/>
            </a:avLst>
          </a:prstGeom>
          <a:solidFill>
            <a:srgbClr val="FBF0E1"/>
          </a:solidFill>
          <a:ln w="12700">
            <a:solidFill>
              <a:srgbClr val="F0CA9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676656" y="4946904"/>
            <a:ext cx="310896" cy="310896"/>
          </a:xfrm>
          <a:prstGeom prst="ellipse">
            <a:avLst/>
          </a:prstGeom>
          <a:solidFill>
            <a:srgbClr val="DE8A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FFFFFF"/>
                </a:solidFill>
                <a:latin typeface="Calibri"/>
              </a:rPr>
              <a:t>!</a:t>
            </a:r>
          </a:p>
        </p:txBody>
      </p:sp>
      <p:sp>
        <p:nvSpPr>
          <p:cNvPr id="11" name="TextBox 10"/>
          <p:cNvSpPr txBox="1"/>
          <p:nvPr/>
        </p:nvSpPr>
        <p:spPr>
          <a:xfrm>
            <a:off x="1106424" y="4809744"/>
            <a:ext cx="10362895" cy="585216"/>
          </a:xfrm>
          <a:prstGeom prst="rect">
            <a:avLst/>
          </a:prstGeom>
          <a:noFill/>
        </p:spPr>
        <p:txBody>
          <a:bodyPr wrap="square" lIns="54864" rIns="54864" tIns="18288" bIns="18288" anchor="ctr">
            <a:spAutoFit/>
          </a:bodyPr>
          <a:lstStyle/>
          <a:p>
            <a:pPr algn="l">
              <a:lnSpc>
                <a:spcPct val="120000"/>
              </a:lnSpc>
              <a:spcAft>
                <a:spcPts val="200"/>
              </a:spcAft>
            </a:pPr>
            <a:r>
              <a:rPr sz="950" b="1" i="0">
                <a:solidFill>
                  <a:srgbClr val="DE8A1B"/>
                </a:solidFill>
                <a:latin typeface="Calibri"/>
              </a:rPr>
              <a:t>OPENSTAANDE VRAAG</a:t>
            </a:r>
          </a:p>
          <a:p>
            <a:pPr algn="l">
              <a:lnSpc>
                <a:spcPct val="120000"/>
              </a:lnSpc>
              <a:spcAft>
                <a:spcPts val="0"/>
              </a:spcAft>
            </a:pPr>
            <a:r>
              <a:rPr sz="1300" b="1" i="0">
                <a:solidFill>
                  <a:srgbClr val="0F1B2D"/>
                </a:solidFill>
                <a:latin typeface="Calibri"/>
              </a:rPr>
              <a:t>Voor de verhuisperiode is nog niets ingevuld: welke extra diensten zijn er nodig, en op welke locatie?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502920" y="429768"/>
            <a:ext cx="457200" cy="457200"/>
          </a:xfrm>
          <a:prstGeom prst="ellipse">
            <a:avLst/>
          </a:prstGeom>
          <a:solidFill>
            <a:srgbClr val="DE8A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600" b="1">
                <a:solidFill>
                  <a:srgbClr val="FFFFFF"/>
                </a:solidFill>
                <a:latin typeface="Calibri"/>
              </a:rPr>
              <a:t>16</a:t>
            </a:r>
          </a:p>
        </p:txBody>
      </p:sp>
      <p:sp>
        <p:nvSpPr>
          <p:cNvPr id="4" name="TextBox 3"/>
          <p:cNvSpPr txBox="1"/>
          <p:nvPr/>
        </p:nvSpPr>
        <p:spPr>
          <a:xfrm>
            <a:off x="1106424" y="365760"/>
            <a:ext cx="10582351" cy="402336"/>
          </a:xfrm>
          <a:prstGeom prst="rect">
            <a:avLst/>
          </a:prstGeom>
          <a:noFill/>
        </p:spPr>
        <p:txBody>
          <a:bodyPr wrap="square" lIns="0" rIns="0" tIns="18288" bIns="18288" anchor="ctr">
            <a:spAutoFit/>
          </a:bodyPr>
          <a:lstStyle/>
          <a:p>
            <a:pPr algn="l">
              <a:lnSpc>
                <a:spcPct val="120000"/>
              </a:lnSpc>
              <a:spcAft>
                <a:spcPts val="0"/>
              </a:spcAft>
            </a:pPr>
            <a:r>
              <a:rPr sz="2250" b="1" i="0">
                <a:solidFill>
                  <a:srgbClr val="0F1B2D"/>
                </a:solidFill>
                <a:latin typeface="Calibri"/>
              </a:rPr>
              <a:t>De openstaande vragen in beeld</a:t>
            </a:r>
          </a:p>
        </p:txBody>
      </p:sp>
      <p:sp>
        <p:nvSpPr>
          <p:cNvPr id="5" name="TextBox 4"/>
          <p:cNvSpPr txBox="1"/>
          <p:nvPr/>
        </p:nvSpPr>
        <p:spPr>
          <a:xfrm>
            <a:off x="1106424" y="822960"/>
            <a:ext cx="10582351" cy="329184"/>
          </a:xfrm>
          <a:prstGeom prst="rect">
            <a:avLst/>
          </a:prstGeom>
          <a:noFill/>
        </p:spPr>
        <p:txBody>
          <a:bodyPr wrap="square" lIns="0" rIns="0" tIns="18288" bIns="18288" anchor="ctr">
            <a:spAutoFit/>
          </a:bodyPr>
          <a:lstStyle/>
          <a:p>
            <a:pPr algn="l">
              <a:lnSpc>
                <a:spcPct val="120000"/>
              </a:lnSpc>
              <a:spcAft>
                <a:spcPts val="0"/>
              </a:spcAft>
            </a:pPr>
            <a:r>
              <a:rPr sz="1350" b="0" i="0">
                <a:solidFill>
                  <a:srgbClr val="64748B"/>
                </a:solidFill>
                <a:latin typeface="Calibri"/>
              </a:rPr>
              <a:t>Zesendertig vragen en knelpunten van Lonneke en Maxim</a:t>
            </a:r>
          </a:p>
        </p:txBody>
      </p:sp>
      <p:sp>
        <p:nvSpPr>
          <p:cNvPr id="6" name="TextBox 5"/>
          <p:cNvSpPr txBox="1"/>
          <p:nvPr/>
        </p:nvSpPr>
        <p:spPr>
          <a:xfrm>
            <a:off x="502920" y="6419088"/>
            <a:ext cx="5486400" cy="274320"/>
          </a:xfrm>
          <a:prstGeom prst="rect">
            <a:avLst/>
          </a:prstGeom>
          <a:noFill/>
        </p:spPr>
        <p:txBody>
          <a:bodyPr wrap="square" lIns="0" rIns="0" tIns="18288" bIns="18288" anchor="t">
            <a:spAutoFit/>
          </a:bodyPr>
          <a:lstStyle/>
          <a:p>
            <a:pPr algn="l">
              <a:lnSpc>
                <a:spcPct val="120000"/>
              </a:lnSpc>
              <a:spcAft>
                <a:spcPts val="0"/>
              </a:spcAft>
            </a:pPr>
            <a:r>
              <a:rPr sz="900" b="0" i="0">
                <a:solidFill>
                  <a:srgbClr val="64748B"/>
                </a:solidFill>
                <a:latin typeface="Calibri"/>
              </a:rPr>
              <a:t>Acute poort en Hotfloor</a:t>
            </a:r>
          </a:p>
        </p:txBody>
      </p:sp>
      <p:sp>
        <p:nvSpPr>
          <p:cNvPr id="7" name="TextBox 6"/>
          <p:cNvSpPr txBox="1"/>
          <p:nvPr/>
        </p:nvSpPr>
        <p:spPr>
          <a:xfrm>
            <a:off x="10591495" y="6419088"/>
            <a:ext cx="1097280" cy="274320"/>
          </a:xfrm>
          <a:prstGeom prst="rect">
            <a:avLst/>
          </a:prstGeom>
          <a:noFill/>
        </p:spPr>
        <p:txBody>
          <a:bodyPr wrap="square" lIns="0" rIns="0" tIns="18288" bIns="18288" anchor="t">
            <a:spAutoFit/>
          </a:bodyPr>
          <a:lstStyle/>
          <a:p>
            <a:pPr algn="r">
              <a:lnSpc>
                <a:spcPct val="120000"/>
              </a:lnSpc>
              <a:spcAft>
                <a:spcPts val="0"/>
              </a:spcAft>
            </a:pPr>
            <a:r>
              <a:rPr sz="900" b="0" i="0">
                <a:solidFill>
                  <a:srgbClr val="64748B"/>
                </a:solidFill>
                <a:latin typeface="Calibri"/>
              </a:rPr>
              <a:t>16</a:t>
            </a:r>
          </a:p>
        </p:txBody>
      </p:sp>
      <p:sp>
        <p:nvSpPr>
          <p:cNvPr id="8" name="Rounded Rectangle 7"/>
          <p:cNvSpPr/>
          <p:nvPr/>
        </p:nvSpPr>
        <p:spPr>
          <a:xfrm>
            <a:off x="502920" y="1536192"/>
            <a:ext cx="3545738" cy="1691640"/>
          </a:xfrm>
          <a:prstGeom prst="roundRect">
            <a:avLst>
              <a:gd name="adj" fmla="val 5500"/>
            </a:avLst>
          </a:prstGeom>
          <a:solidFill>
            <a:srgbClr val="FFFFFF"/>
          </a:solidFill>
          <a:ln w="12700">
            <a:solidFill>
              <a:srgbClr val="B1CD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67511" y="1719072"/>
            <a:ext cx="731520" cy="731520"/>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200" b="1">
                <a:solidFill>
                  <a:srgbClr val="FFFFFF"/>
                </a:solidFill>
                <a:latin typeface="Calibri"/>
              </a:rPr>
              <a:t>7</a:t>
            </a:r>
          </a:p>
        </p:txBody>
      </p:sp>
      <p:sp>
        <p:nvSpPr>
          <p:cNvPr id="10" name="TextBox 9"/>
          <p:cNvSpPr txBox="1"/>
          <p:nvPr/>
        </p:nvSpPr>
        <p:spPr>
          <a:xfrm>
            <a:off x="1508760" y="1755648"/>
            <a:ext cx="2338730" cy="658368"/>
          </a:xfrm>
          <a:prstGeom prst="rect">
            <a:avLst/>
          </a:prstGeom>
          <a:noFill/>
        </p:spPr>
        <p:txBody>
          <a:bodyPr wrap="square" lIns="54864" rIns="54864" tIns="18288" bIns="18288" anchor="ctr">
            <a:spAutoFit/>
          </a:bodyPr>
          <a:lstStyle/>
          <a:p>
            <a:pPr algn="l">
              <a:lnSpc>
                <a:spcPct val="115000"/>
              </a:lnSpc>
              <a:spcAft>
                <a:spcPts val="0"/>
              </a:spcAft>
            </a:pPr>
            <a:r>
              <a:rPr sz="1400" b="1" i="0">
                <a:solidFill>
                  <a:srgbClr val="0F1B2D"/>
                </a:solidFill>
                <a:latin typeface="Calibri"/>
              </a:rPr>
              <a:t>Oudbouw en transitie</a:t>
            </a:r>
          </a:p>
        </p:txBody>
      </p:sp>
      <p:sp>
        <p:nvSpPr>
          <p:cNvPr id="11" name="TextBox 10"/>
          <p:cNvSpPr txBox="1"/>
          <p:nvPr/>
        </p:nvSpPr>
        <p:spPr>
          <a:xfrm>
            <a:off x="704088" y="2505456"/>
            <a:ext cx="3143402" cy="457200"/>
          </a:xfrm>
          <a:prstGeom prst="rect">
            <a:avLst/>
          </a:prstGeom>
          <a:noFill/>
        </p:spPr>
        <p:txBody>
          <a:bodyPr wrap="square" lIns="54864" rIns="54864" tIns="18288" bIns="18288" anchor="t">
            <a:spAutoFit/>
          </a:bodyPr>
          <a:lstStyle/>
          <a:p>
            <a:pPr algn="l">
              <a:lnSpc>
                <a:spcPct val="120000"/>
              </a:lnSpc>
              <a:spcAft>
                <a:spcPts val="0"/>
              </a:spcAft>
            </a:pPr>
            <a:r>
              <a:rPr sz="1050" b="0" i="0">
                <a:solidFill>
                  <a:srgbClr val="64748B"/>
                </a:solidFill>
                <a:latin typeface="Calibri"/>
              </a:rPr>
              <a:t>lopende projecten, inzet SEH, weekendformatie, regie-vpk</a:t>
            </a:r>
          </a:p>
        </p:txBody>
      </p:sp>
      <p:sp>
        <p:nvSpPr>
          <p:cNvPr id="12" name="TextBox 11"/>
          <p:cNvSpPr txBox="1"/>
          <p:nvPr/>
        </p:nvSpPr>
        <p:spPr>
          <a:xfrm>
            <a:off x="704088" y="2962656"/>
            <a:ext cx="3143402" cy="219456"/>
          </a:xfrm>
          <a:prstGeom prst="rect">
            <a:avLst/>
          </a:prstGeom>
          <a:noFill/>
        </p:spPr>
        <p:txBody>
          <a:bodyPr wrap="square" lIns="54864" rIns="54864" tIns="18288" bIns="18288" anchor="t">
            <a:spAutoFit/>
          </a:bodyPr>
          <a:lstStyle/>
          <a:p>
            <a:pPr algn="l">
              <a:lnSpc>
                <a:spcPct val="120000"/>
              </a:lnSpc>
              <a:spcAft>
                <a:spcPts val="0"/>
              </a:spcAft>
            </a:pPr>
            <a:r>
              <a:rPr sz="950" b="1" i="0">
                <a:solidFill>
                  <a:srgbClr val="1F6FB2"/>
                </a:solidFill>
                <a:latin typeface="Calibri"/>
              </a:rPr>
              <a:t>dia 17</a:t>
            </a:r>
          </a:p>
        </p:txBody>
      </p:sp>
      <p:sp>
        <p:nvSpPr>
          <p:cNvPr id="13" name="Rounded Rectangle 12"/>
          <p:cNvSpPr/>
          <p:nvPr/>
        </p:nvSpPr>
        <p:spPr>
          <a:xfrm>
            <a:off x="4322978" y="1536192"/>
            <a:ext cx="3545738" cy="1691640"/>
          </a:xfrm>
          <a:prstGeom prst="roundRect">
            <a:avLst>
              <a:gd name="adj" fmla="val 5500"/>
            </a:avLst>
          </a:prstGeom>
          <a:solidFill>
            <a:srgbClr val="FFFFFF"/>
          </a:solidFill>
          <a:ln w="12700">
            <a:solidFill>
              <a:srgbClr val="F3D6A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487570" y="1719072"/>
            <a:ext cx="731520" cy="731520"/>
          </a:xfrm>
          <a:prstGeom prst="ellipse">
            <a:avLst/>
          </a:prstGeom>
          <a:solidFill>
            <a:srgbClr val="DE8A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200" b="1">
                <a:solidFill>
                  <a:srgbClr val="FFFFFF"/>
                </a:solidFill>
                <a:latin typeface="Calibri"/>
              </a:rPr>
              <a:t>1</a:t>
            </a:r>
          </a:p>
        </p:txBody>
      </p:sp>
      <p:sp>
        <p:nvSpPr>
          <p:cNvPr id="15" name="TextBox 14"/>
          <p:cNvSpPr txBox="1"/>
          <p:nvPr/>
        </p:nvSpPr>
        <p:spPr>
          <a:xfrm>
            <a:off x="5328818" y="1755648"/>
            <a:ext cx="2338730" cy="658368"/>
          </a:xfrm>
          <a:prstGeom prst="rect">
            <a:avLst/>
          </a:prstGeom>
          <a:noFill/>
        </p:spPr>
        <p:txBody>
          <a:bodyPr wrap="square" lIns="54864" rIns="54864" tIns="18288" bIns="18288" anchor="ctr">
            <a:spAutoFit/>
          </a:bodyPr>
          <a:lstStyle/>
          <a:p>
            <a:pPr algn="l">
              <a:lnSpc>
                <a:spcPct val="115000"/>
              </a:lnSpc>
              <a:spcAft>
                <a:spcPts val="0"/>
              </a:spcAft>
            </a:pPr>
            <a:r>
              <a:rPr sz="1400" b="1" i="0">
                <a:solidFill>
                  <a:srgbClr val="0F1B2D"/>
                </a:solidFill>
                <a:latin typeface="Calibri"/>
              </a:rPr>
              <a:t>Verhuisperiode</a:t>
            </a:r>
          </a:p>
        </p:txBody>
      </p:sp>
      <p:sp>
        <p:nvSpPr>
          <p:cNvPr id="16" name="TextBox 15"/>
          <p:cNvSpPr txBox="1"/>
          <p:nvPr/>
        </p:nvSpPr>
        <p:spPr>
          <a:xfrm>
            <a:off x="4524146" y="2505456"/>
            <a:ext cx="3143402" cy="457200"/>
          </a:xfrm>
          <a:prstGeom prst="rect">
            <a:avLst/>
          </a:prstGeom>
          <a:noFill/>
        </p:spPr>
        <p:txBody>
          <a:bodyPr wrap="square" lIns="54864" rIns="54864" tIns="18288" bIns="18288" anchor="t">
            <a:spAutoFit/>
          </a:bodyPr>
          <a:lstStyle/>
          <a:p>
            <a:pPr algn="l">
              <a:lnSpc>
                <a:spcPct val="120000"/>
              </a:lnSpc>
              <a:spcAft>
                <a:spcPts val="0"/>
              </a:spcAft>
            </a:pPr>
            <a:r>
              <a:rPr sz="1050" b="0" i="0">
                <a:solidFill>
                  <a:srgbClr val="64748B"/>
                </a:solidFill>
                <a:latin typeface="Calibri"/>
              </a:rPr>
              <a:t>welke extra diensten, en waar?</a:t>
            </a:r>
          </a:p>
        </p:txBody>
      </p:sp>
      <p:sp>
        <p:nvSpPr>
          <p:cNvPr id="17" name="TextBox 16"/>
          <p:cNvSpPr txBox="1"/>
          <p:nvPr/>
        </p:nvSpPr>
        <p:spPr>
          <a:xfrm>
            <a:off x="4524146" y="2962656"/>
            <a:ext cx="3143402" cy="219456"/>
          </a:xfrm>
          <a:prstGeom prst="rect">
            <a:avLst/>
          </a:prstGeom>
          <a:noFill/>
        </p:spPr>
        <p:txBody>
          <a:bodyPr wrap="square" lIns="54864" rIns="54864" tIns="18288" bIns="18288" anchor="t">
            <a:spAutoFit/>
          </a:bodyPr>
          <a:lstStyle/>
          <a:p>
            <a:pPr algn="l">
              <a:lnSpc>
                <a:spcPct val="120000"/>
              </a:lnSpc>
              <a:spcAft>
                <a:spcPts val="0"/>
              </a:spcAft>
            </a:pPr>
            <a:r>
              <a:rPr sz="950" b="1" i="0">
                <a:solidFill>
                  <a:srgbClr val="DE8A1B"/>
                </a:solidFill>
                <a:latin typeface="Calibri"/>
              </a:rPr>
              <a:t>dia 17</a:t>
            </a:r>
          </a:p>
        </p:txBody>
      </p:sp>
      <p:sp>
        <p:nvSpPr>
          <p:cNvPr id="18" name="Rounded Rectangle 17"/>
          <p:cNvSpPr/>
          <p:nvPr/>
        </p:nvSpPr>
        <p:spPr>
          <a:xfrm>
            <a:off x="8143036" y="1536192"/>
            <a:ext cx="3545738" cy="1691640"/>
          </a:xfrm>
          <a:prstGeom prst="roundRect">
            <a:avLst>
              <a:gd name="adj" fmla="val 5500"/>
            </a:avLst>
          </a:prstGeom>
          <a:solidFill>
            <a:srgbClr val="FFFFFF"/>
          </a:solidFill>
          <a:ln w="12700">
            <a:solidFill>
              <a:srgbClr val="ABDCD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8307628" y="1719072"/>
            <a:ext cx="731520" cy="731520"/>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200" b="1">
                <a:solidFill>
                  <a:srgbClr val="FFFFFF"/>
                </a:solidFill>
                <a:latin typeface="Calibri"/>
              </a:rPr>
              <a:t>12</a:t>
            </a:r>
          </a:p>
        </p:txBody>
      </p:sp>
      <p:sp>
        <p:nvSpPr>
          <p:cNvPr id="20" name="TextBox 19"/>
          <p:cNvSpPr txBox="1"/>
          <p:nvPr/>
        </p:nvSpPr>
        <p:spPr>
          <a:xfrm>
            <a:off x="9148876" y="1755648"/>
            <a:ext cx="2338730" cy="658368"/>
          </a:xfrm>
          <a:prstGeom prst="rect">
            <a:avLst/>
          </a:prstGeom>
          <a:noFill/>
        </p:spPr>
        <p:txBody>
          <a:bodyPr wrap="square" lIns="54864" rIns="54864" tIns="18288" bIns="18288" anchor="ctr">
            <a:spAutoFit/>
          </a:bodyPr>
          <a:lstStyle/>
          <a:p>
            <a:pPr algn="l">
              <a:lnSpc>
                <a:spcPct val="115000"/>
              </a:lnSpc>
              <a:spcAft>
                <a:spcPts val="0"/>
              </a:spcAft>
            </a:pPr>
            <a:r>
              <a:rPr sz="1400" b="1" i="0">
                <a:solidFill>
                  <a:srgbClr val="0F1B2D"/>
                </a:solidFill>
                <a:latin typeface="Calibri"/>
              </a:rPr>
              <a:t>Nieuwbouw</a:t>
            </a:r>
          </a:p>
        </p:txBody>
      </p:sp>
      <p:sp>
        <p:nvSpPr>
          <p:cNvPr id="21" name="TextBox 20"/>
          <p:cNvSpPr txBox="1"/>
          <p:nvPr/>
        </p:nvSpPr>
        <p:spPr>
          <a:xfrm>
            <a:off x="8344204" y="2505456"/>
            <a:ext cx="3143402" cy="457200"/>
          </a:xfrm>
          <a:prstGeom prst="rect">
            <a:avLst/>
          </a:prstGeom>
          <a:noFill/>
        </p:spPr>
        <p:txBody>
          <a:bodyPr wrap="square" lIns="54864" rIns="54864" tIns="18288" bIns="18288" anchor="t">
            <a:spAutoFit/>
          </a:bodyPr>
          <a:lstStyle/>
          <a:p>
            <a:pPr algn="l">
              <a:lnSpc>
                <a:spcPct val="120000"/>
              </a:lnSpc>
              <a:spcAft>
                <a:spcPts val="0"/>
              </a:spcAft>
            </a:pPr>
            <a:r>
              <a:rPr sz="1050" b="0" i="0">
                <a:solidFill>
                  <a:srgbClr val="64748B"/>
                </a:solidFill>
                <a:latin typeface="Calibri"/>
              </a:rPr>
              <a:t>EHH-personeel, afkapmoment cardio, norm, scope, EPA's</a:t>
            </a:r>
          </a:p>
        </p:txBody>
      </p:sp>
      <p:sp>
        <p:nvSpPr>
          <p:cNvPr id="22" name="TextBox 21"/>
          <p:cNvSpPr txBox="1"/>
          <p:nvPr/>
        </p:nvSpPr>
        <p:spPr>
          <a:xfrm>
            <a:off x="8344204" y="2962656"/>
            <a:ext cx="3143402" cy="219456"/>
          </a:xfrm>
          <a:prstGeom prst="rect">
            <a:avLst/>
          </a:prstGeom>
          <a:noFill/>
        </p:spPr>
        <p:txBody>
          <a:bodyPr wrap="square" lIns="54864" rIns="54864" tIns="18288" bIns="18288" anchor="t">
            <a:spAutoFit/>
          </a:bodyPr>
          <a:lstStyle/>
          <a:p>
            <a:pPr algn="l">
              <a:lnSpc>
                <a:spcPct val="120000"/>
              </a:lnSpc>
              <a:spcAft>
                <a:spcPts val="0"/>
              </a:spcAft>
            </a:pPr>
            <a:r>
              <a:rPr sz="950" b="1" i="0">
                <a:solidFill>
                  <a:srgbClr val="0E9A87"/>
                </a:solidFill>
                <a:latin typeface="Calibri"/>
              </a:rPr>
              <a:t>dia 18 en 19</a:t>
            </a:r>
          </a:p>
        </p:txBody>
      </p:sp>
      <p:sp>
        <p:nvSpPr>
          <p:cNvPr id="23" name="Rounded Rectangle 22"/>
          <p:cNvSpPr/>
          <p:nvPr/>
        </p:nvSpPr>
        <p:spPr>
          <a:xfrm>
            <a:off x="502920" y="3410712"/>
            <a:ext cx="3545738" cy="1691640"/>
          </a:xfrm>
          <a:prstGeom prst="roundRect">
            <a:avLst>
              <a:gd name="adj" fmla="val 5500"/>
            </a:avLst>
          </a:prstGeom>
          <a:solidFill>
            <a:srgbClr val="FFFFFF"/>
          </a:solidFill>
          <a:ln w="12700">
            <a:solidFill>
              <a:srgbClr val="EABAB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667511" y="3593592"/>
            <a:ext cx="731520" cy="731520"/>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200" b="1">
                <a:solidFill>
                  <a:srgbClr val="FFFFFF"/>
                </a:solidFill>
                <a:latin typeface="Calibri"/>
              </a:rPr>
              <a:t>9</a:t>
            </a:r>
          </a:p>
        </p:txBody>
      </p:sp>
      <p:sp>
        <p:nvSpPr>
          <p:cNvPr id="25" name="TextBox 24"/>
          <p:cNvSpPr txBox="1"/>
          <p:nvPr/>
        </p:nvSpPr>
        <p:spPr>
          <a:xfrm>
            <a:off x="1508760" y="3630168"/>
            <a:ext cx="2338730" cy="658368"/>
          </a:xfrm>
          <a:prstGeom prst="rect">
            <a:avLst/>
          </a:prstGeom>
          <a:noFill/>
        </p:spPr>
        <p:txBody>
          <a:bodyPr wrap="square" lIns="54864" rIns="54864" tIns="18288" bIns="18288" anchor="ctr">
            <a:spAutoFit/>
          </a:bodyPr>
          <a:lstStyle/>
          <a:p>
            <a:pPr algn="l">
              <a:lnSpc>
                <a:spcPct val="115000"/>
              </a:lnSpc>
              <a:spcAft>
                <a:spcPts val="0"/>
              </a:spcAft>
            </a:pPr>
            <a:r>
              <a:rPr sz="1400" b="1" i="0">
                <a:solidFill>
                  <a:srgbClr val="0F1B2D"/>
                </a:solidFill>
                <a:latin typeface="Calibri"/>
              </a:rPr>
              <a:t>Knelpunten</a:t>
            </a:r>
          </a:p>
        </p:txBody>
      </p:sp>
      <p:sp>
        <p:nvSpPr>
          <p:cNvPr id="26" name="TextBox 25"/>
          <p:cNvSpPr txBox="1"/>
          <p:nvPr/>
        </p:nvSpPr>
        <p:spPr>
          <a:xfrm>
            <a:off x="704088" y="4379976"/>
            <a:ext cx="3143402" cy="457200"/>
          </a:xfrm>
          <a:prstGeom prst="rect">
            <a:avLst/>
          </a:prstGeom>
          <a:noFill/>
        </p:spPr>
        <p:txBody>
          <a:bodyPr wrap="square" lIns="54864" rIns="54864" tIns="18288" bIns="18288" anchor="t">
            <a:spAutoFit/>
          </a:bodyPr>
          <a:lstStyle/>
          <a:p>
            <a:pPr algn="l">
              <a:lnSpc>
                <a:spcPct val="120000"/>
              </a:lnSpc>
              <a:spcAft>
                <a:spcPts val="0"/>
              </a:spcAft>
            </a:pPr>
            <a:r>
              <a:rPr sz="1050" b="0" i="0">
                <a:solidFill>
                  <a:srgbClr val="64748B"/>
                </a:solidFill>
                <a:latin typeface="Calibri"/>
              </a:rPr>
              <a:t>norm, SEH-artsen, afwijking jaarplan, CPP, kaders</a:t>
            </a:r>
          </a:p>
        </p:txBody>
      </p:sp>
      <p:sp>
        <p:nvSpPr>
          <p:cNvPr id="27" name="TextBox 26"/>
          <p:cNvSpPr txBox="1"/>
          <p:nvPr/>
        </p:nvSpPr>
        <p:spPr>
          <a:xfrm>
            <a:off x="704088" y="4837176"/>
            <a:ext cx="3143402" cy="219456"/>
          </a:xfrm>
          <a:prstGeom prst="rect">
            <a:avLst/>
          </a:prstGeom>
          <a:noFill/>
        </p:spPr>
        <p:txBody>
          <a:bodyPr wrap="square" lIns="54864" rIns="54864" tIns="18288" bIns="18288" anchor="t">
            <a:spAutoFit/>
          </a:bodyPr>
          <a:lstStyle/>
          <a:p>
            <a:pPr algn="l">
              <a:lnSpc>
                <a:spcPct val="120000"/>
              </a:lnSpc>
              <a:spcAft>
                <a:spcPts val="0"/>
              </a:spcAft>
            </a:pPr>
            <a:r>
              <a:rPr sz="950" b="1" i="0">
                <a:solidFill>
                  <a:srgbClr val="C4392D"/>
                </a:solidFill>
                <a:latin typeface="Calibri"/>
              </a:rPr>
              <a:t>dia 20</a:t>
            </a:r>
          </a:p>
        </p:txBody>
      </p:sp>
      <p:sp>
        <p:nvSpPr>
          <p:cNvPr id="28" name="Rounded Rectangle 27"/>
          <p:cNvSpPr/>
          <p:nvPr/>
        </p:nvSpPr>
        <p:spPr>
          <a:xfrm>
            <a:off x="4322978" y="3410712"/>
            <a:ext cx="3545738" cy="1691640"/>
          </a:xfrm>
          <a:prstGeom prst="roundRect">
            <a:avLst>
              <a:gd name="adj" fmla="val 5500"/>
            </a:avLst>
          </a:prstGeom>
          <a:solidFill>
            <a:srgbClr val="FFFFFF"/>
          </a:solidFill>
          <a:ln w="12700">
            <a:solidFill>
              <a:srgbClr val="CBC0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4487570" y="3593592"/>
            <a:ext cx="731520" cy="731520"/>
          </a:xfrm>
          <a:prstGeom prst="ellipse">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200" b="1">
                <a:solidFill>
                  <a:srgbClr val="FFFFFF"/>
                </a:solidFill>
                <a:latin typeface="Calibri"/>
              </a:rPr>
              <a:t>4</a:t>
            </a:r>
          </a:p>
        </p:txBody>
      </p:sp>
      <p:sp>
        <p:nvSpPr>
          <p:cNvPr id="30" name="TextBox 29"/>
          <p:cNvSpPr txBox="1"/>
          <p:nvPr/>
        </p:nvSpPr>
        <p:spPr>
          <a:xfrm>
            <a:off x="5328818" y="3630168"/>
            <a:ext cx="2338730" cy="658368"/>
          </a:xfrm>
          <a:prstGeom prst="rect">
            <a:avLst/>
          </a:prstGeom>
          <a:noFill/>
        </p:spPr>
        <p:txBody>
          <a:bodyPr wrap="square" lIns="54864" rIns="54864" tIns="18288" bIns="18288" anchor="ctr">
            <a:spAutoFit/>
          </a:bodyPr>
          <a:lstStyle/>
          <a:p>
            <a:pPr algn="l">
              <a:lnSpc>
                <a:spcPct val="115000"/>
              </a:lnSpc>
              <a:spcAft>
                <a:spcPts val="0"/>
              </a:spcAft>
            </a:pPr>
            <a:r>
              <a:rPr sz="1400" b="1" i="0">
                <a:solidFill>
                  <a:srgbClr val="0F1B2D"/>
                </a:solidFill>
                <a:latin typeface="Calibri"/>
              </a:rPr>
              <a:t>Simulatie en jaarplan</a:t>
            </a:r>
          </a:p>
        </p:txBody>
      </p:sp>
      <p:sp>
        <p:nvSpPr>
          <p:cNvPr id="31" name="TextBox 30"/>
          <p:cNvSpPr txBox="1"/>
          <p:nvPr/>
        </p:nvSpPr>
        <p:spPr>
          <a:xfrm>
            <a:off x="4524146" y="4379976"/>
            <a:ext cx="3143402" cy="457200"/>
          </a:xfrm>
          <a:prstGeom prst="rect">
            <a:avLst/>
          </a:prstGeom>
          <a:noFill/>
        </p:spPr>
        <p:txBody>
          <a:bodyPr wrap="square" lIns="54864" rIns="54864" tIns="18288" bIns="18288" anchor="t">
            <a:spAutoFit/>
          </a:bodyPr>
          <a:lstStyle/>
          <a:p>
            <a:pPr algn="l">
              <a:lnSpc>
                <a:spcPct val="120000"/>
              </a:lnSpc>
              <a:spcAft>
                <a:spcPts val="0"/>
              </a:spcAft>
            </a:pPr>
            <a:r>
              <a:rPr sz="1050" b="0" i="0">
                <a:solidFill>
                  <a:srgbClr val="64748B"/>
                </a:solidFill>
                <a:latin typeface="Calibri"/>
              </a:rPr>
              <a:t>ICU- en CCU-data, seizoenspatroon, verdeling</a:t>
            </a:r>
          </a:p>
        </p:txBody>
      </p:sp>
      <p:sp>
        <p:nvSpPr>
          <p:cNvPr id="32" name="TextBox 31"/>
          <p:cNvSpPr txBox="1"/>
          <p:nvPr/>
        </p:nvSpPr>
        <p:spPr>
          <a:xfrm>
            <a:off x="4524146" y="4837176"/>
            <a:ext cx="3143402" cy="219456"/>
          </a:xfrm>
          <a:prstGeom prst="rect">
            <a:avLst/>
          </a:prstGeom>
          <a:noFill/>
        </p:spPr>
        <p:txBody>
          <a:bodyPr wrap="square" lIns="54864" rIns="54864" tIns="18288" bIns="18288" anchor="t">
            <a:spAutoFit/>
          </a:bodyPr>
          <a:lstStyle/>
          <a:p>
            <a:pPr algn="l">
              <a:lnSpc>
                <a:spcPct val="120000"/>
              </a:lnSpc>
              <a:spcAft>
                <a:spcPts val="0"/>
              </a:spcAft>
            </a:pPr>
            <a:r>
              <a:rPr sz="950" b="1" i="0">
                <a:solidFill>
                  <a:srgbClr val="6B4BA8"/>
                </a:solidFill>
                <a:latin typeface="Calibri"/>
              </a:rPr>
              <a:t>dia 21</a:t>
            </a:r>
          </a:p>
        </p:txBody>
      </p:sp>
      <p:sp>
        <p:nvSpPr>
          <p:cNvPr id="33" name="Rounded Rectangle 32"/>
          <p:cNvSpPr/>
          <p:nvPr/>
        </p:nvSpPr>
        <p:spPr>
          <a:xfrm>
            <a:off x="8143036" y="3410712"/>
            <a:ext cx="3545738" cy="1691640"/>
          </a:xfrm>
          <a:prstGeom prst="roundRect">
            <a:avLst>
              <a:gd name="adj" fmla="val 5500"/>
            </a:avLst>
          </a:prstGeom>
          <a:solidFill>
            <a:srgbClr val="FFFFFF"/>
          </a:solidFill>
          <a:ln w="12700">
            <a:solidFill>
              <a:srgbClr val="ACBA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8307628" y="3593592"/>
            <a:ext cx="731520" cy="731520"/>
          </a:xfrm>
          <a:prstGeom prst="ellipse">
            <a:avLst/>
          </a:prstGeom>
          <a:solidFill>
            <a:srgbClr val="123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200" b="1">
                <a:solidFill>
                  <a:srgbClr val="FFFFFF"/>
                </a:solidFill>
                <a:latin typeface="Calibri"/>
              </a:rPr>
              <a:t>3</a:t>
            </a:r>
          </a:p>
        </p:txBody>
      </p:sp>
      <p:sp>
        <p:nvSpPr>
          <p:cNvPr id="35" name="TextBox 34"/>
          <p:cNvSpPr txBox="1"/>
          <p:nvPr/>
        </p:nvSpPr>
        <p:spPr>
          <a:xfrm>
            <a:off x="9148876" y="3630168"/>
            <a:ext cx="2338730" cy="658368"/>
          </a:xfrm>
          <a:prstGeom prst="rect">
            <a:avLst/>
          </a:prstGeom>
          <a:noFill/>
        </p:spPr>
        <p:txBody>
          <a:bodyPr wrap="square" lIns="54864" rIns="54864" tIns="18288" bIns="18288" anchor="ctr">
            <a:spAutoFit/>
          </a:bodyPr>
          <a:lstStyle/>
          <a:p>
            <a:pPr algn="l">
              <a:lnSpc>
                <a:spcPct val="115000"/>
              </a:lnSpc>
              <a:spcAft>
                <a:spcPts val="0"/>
              </a:spcAft>
            </a:pPr>
            <a:r>
              <a:rPr sz="1400" b="1" i="0">
                <a:solidFill>
                  <a:srgbClr val="0F1B2D"/>
                </a:solidFill>
                <a:latin typeface="Calibri"/>
              </a:rPr>
              <a:t>Direct naar Remco</a:t>
            </a:r>
          </a:p>
        </p:txBody>
      </p:sp>
      <p:sp>
        <p:nvSpPr>
          <p:cNvPr id="36" name="TextBox 35"/>
          <p:cNvSpPr txBox="1"/>
          <p:nvPr/>
        </p:nvSpPr>
        <p:spPr>
          <a:xfrm>
            <a:off x="8344204" y="4379976"/>
            <a:ext cx="3143402" cy="457200"/>
          </a:xfrm>
          <a:prstGeom prst="rect">
            <a:avLst/>
          </a:prstGeom>
          <a:noFill/>
        </p:spPr>
        <p:txBody>
          <a:bodyPr wrap="square" lIns="54864" rIns="54864" tIns="18288" bIns="18288" anchor="t">
            <a:spAutoFit/>
          </a:bodyPr>
          <a:lstStyle/>
          <a:p>
            <a:pPr algn="l">
              <a:lnSpc>
                <a:spcPct val="120000"/>
              </a:lnSpc>
              <a:spcAft>
                <a:spcPts val="0"/>
              </a:spcAft>
            </a:pPr>
            <a:r>
              <a:rPr sz="1050" b="0" i="0">
                <a:solidFill>
                  <a:srgbClr val="64748B"/>
                </a:solidFill>
                <a:latin typeface="Calibri"/>
              </a:rPr>
              <a:t>EHH bij welk team, opvang acute cardio, verblijfsduur</a:t>
            </a:r>
          </a:p>
        </p:txBody>
      </p:sp>
      <p:sp>
        <p:nvSpPr>
          <p:cNvPr id="37" name="TextBox 36"/>
          <p:cNvSpPr txBox="1"/>
          <p:nvPr/>
        </p:nvSpPr>
        <p:spPr>
          <a:xfrm>
            <a:off x="8344204" y="4837176"/>
            <a:ext cx="3143402" cy="219456"/>
          </a:xfrm>
          <a:prstGeom prst="rect">
            <a:avLst/>
          </a:prstGeom>
          <a:noFill/>
        </p:spPr>
        <p:txBody>
          <a:bodyPr wrap="square" lIns="54864" rIns="54864" tIns="18288" bIns="18288" anchor="t">
            <a:spAutoFit/>
          </a:bodyPr>
          <a:lstStyle/>
          <a:p>
            <a:pPr algn="l">
              <a:lnSpc>
                <a:spcPct val="120000"/>
              </a:lnSpc>
              <a:spcAft>
                <a:spcPts val="0"/>
              </a:spcAft>
            </a:pPr>
            <a:r>
              <a:rPr sz="950" b="1" i="0">
                <a:solidFill>
                  <a:srgbClr val="123A63"/>
                </a:solidFill>
                <a:latin typeface="Calibri"/>
              </a:rPr>
              <a:t>dia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502920" y="429768"/>
            <a:ext cx="457200" cy="457200"/>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600" b="1">
                <a:solidFill>
                  <a:srgbClr val="FFFFFF"/>
                </a:solidFill>
                <a:latin typeface="Calibri"/>
              </a:rPr>
              <a:t>17</a:t>
            </a:r>
          </a:p>
        </p:txBody>
      </p:sp>
      <p:sp>
        <p:nvSpPr>
          <p:cNvPr id="4" name="TextBox 3"/>
          <p:cNvSpPr txBox="1"/>
          <p:nvPr/>
        </p:nvSpPr>
        <p:spPr>
          <a:xfrm>
            <a:off x="1106424" y="365760"/>
            <a:ext cx="10582351" cy="402336"/>
          </a:xfrm>
          <a:prstGeom prst="rect">
            <a:avLst/>
          </a:prstGeom>
          <a:noFill/>
        </p:spPr>
        <p:txBody>
          <a:bodyPr wrap="square" lIns="0" rIns="0" tIns="18288" bIns="18288" anchor="ctr">
            <a:spAutoFit/>
          </a:bodyPr>
          <a:lstStyle/>
          <a:p>
            <a:pPr algn="l">
              <a:lnSpc>
                <a:spcPct val="120000"/>
              </a:lnSpc>
              <a:spcAft>
                <a:spcPts val="0"/>
              </a:spcAft>
            </a:pPr>
            <a:r>
              <a:rPr sz="2250" b="1" i="0">
                <a:solidFill>
                  <a:srgbClr val="0F1B2D"/>
                </a:solidFill>
                <a:latin typeface="Calibri"/>
              </a:rPr>
              <a:t>Vragen: oudbouw, transitie en verhuisperiode</a:t>
            </a:r>
          </a:p>
        </p:txBody>
      </p:sp>
      <p:sp>
        <p:nvSpPr>
          <p:cNvPr id="5" name="TextBox 4"/>
          <p:cNvSpPr txBox="1"/>
          <p:nvPr/>
        </p:nvSpPr>
        <p:spPr>
          <a:xfrm>
            <a:off x="1106424" y="822960"/>
            <a:ext cx="10582351" cy="329184"/>
          </a:xfrm>
          <a:prstGeom prst="rect">
            <a:avLst/>
          </a:prstGeom>
          <a:noFill/>
        </p:spPr>
        <p:txBody>
          <a:bodyPr wrap="square" lIns="0" rIns="0" tIns="18288" bIns="18288" anchor="ctr">
            <a:spAutoFit/>
          </a:bodyPr>
          <a:lstStyle/>
          <a:p>
            <a:pPr algn="l">
              <a:lnSpc>
                <a:spcPct val="120000"/>
              </a:lnSpc>
              <a:spcAft>
                <a:spcPts val="0"/>
              </a:spcAft>
            </a:pPr>
            <a:r>
              <a:rPr sz="1350" b="0" i="0">
                <a:solidFill>
                  <a:srgbClr val="64748B"/>
                </a:solidFill>
                <a:latin typeface="Calibri"/>
              </a:rPr>
              <a:t>Uitgangspunten die de zorgmanager nodig heeft</a:t>
            </a:r>
          </a:p>
        </p:txBody>
      </p:sp>
      <p:sp>
        <p:nvSpPr>
          <p:cNvPr id="6" name="TextBox 5"/>
          <p:cNvSpPr txBox="1"/>
          <p:nvPr/>
        </p:nvSpPr>
        <p:spPr>
          <a:xfrm>
            <a:off x="502920" y="6419088"/>
            <a:ext cx="5486400" cy="274320"/>
          </a:xfrm>
          <a:prstGeom prst="rect">
            <a:avLst/>
          </a:prstGeom>
          <a:noFill/>
        </p:spPr>
        <p:txBody>
          <a:bodyPr wrap="square" lIns="0" rIns="0" tIns="18288" bIns="18288" anchor="t">
            <a:spAutoFit/>
          </a:bodyPr>
          <a:lstStyle/>
          <a:p>
            <a:pPr algn="l">
              <a:lnSpc>
                <a:spcPct val="120000"/>
              </a:lnSpc>
              <a:spcAft>
                <a:spcPts val="0"/>
              </a:spcAft>
            </a:pPr>
            <a:r>
              <a:rPr sz="900" b="0" i="0">
                <a:solidFill>
                  <a:srgbClr val="64748B"/>
                </a:solidFill>
                <a:latin typeface="Calibri"/>
              </a:rPr>
              <a:t>Acute poort en Hotfloor</a:t>
            </a:r>
          </a:p>
        </p:txBody>
      </p:sp>
      <p:sp>
        <p:nvSpPr>
          <p:cNvPr id="7" name="TextBox 6"/>
          <p:cNvSpPr txBox="1"/>
          <p:nvPr/>
        </p:nvSpPr>
        <p:spPr>
          <a:xfrm>
            <a:off x="10591495" y="6419088"/>
            <a:ext cx="1097280" cy="274320"/>
          </a:xfrm>
          <a:prstGeom prst="rect">
            <a:avLst/>
          </a:prstGeom>
          <a:noFill/>
        </p:spPr>
        <p:txBody>
          <a:bodyPr wrap="square" lIns="0" rIns="0" tIns="18288" bIns="18288" anchor="t">
            <a:spAutoFit/>
          </a:bodyPr>
          <a:lstStyle/>
          <a:p>
            <a:pPr algn="r">
              <a:lnSpc>
                <a:spcPct val="120000"/>
              </a:lnSpc>
              <a:spcAft>
                <a:spcPts val="0"/>
              </a:spcAft>
            </a:pPr>
            <a:r>
              <a:rPr sz="900" b="0" i="0">
                <a:solidFill>
                  <a:srgbClr val="64748B"/>
                </a:solidFill>
                <a:latin typeface="Calibri"/>
              </a:rPr>
              <a:t>17</a:t>
            </a:r>
          </a:p>
        </p:txBody>
      </p:sp>
      <p:graphicFrame>
        <p:nvGraphicFramePr>
          <p:cNvPr id="8" name="Table 7"/>
          <p:cNvGraphicFramePr>
            <a:graphicFrameLocks noGrp="1"/>
          </p:cNvGraphicFramePr>
          <p:nvPr/>
        </p:nvGraphicFramePr>
        <p:xfrm>
          <a:off x="502920" y="1517904"/>
          <a:ext cx="11185855" cy="3380229"/>
        </p:xfrm>
        <a:graphic>
          <a:graphicData uri="http://schemas.openxmlformats.org/drawingml/2006/table">
            <a:tbl>
              <a:tblPr firstRow="1">
                <a:tableStyleId>{5C22544A-7EE6-4342-B048-85BDC9FD1C3A}</a:tableStyleId>
              </a:tblPr>
              <a:tblGrid>
                <a:gridCol w="502920"/>
                <a:gridCol w="10682935"/>
              </a:tblGrid>
              <a:tr h="310896">
                <a:tc>
                  <a:txBody>
                    <a:bodyPr wrap="square"/>
                    <a:lstStyle/>
                    <a:p>
                      <a:pPr algn="ctr">
                        <a:spcAft>
                          <a:spcPts val="200"/>
                        </a:spcAft>
                      </a:pPr>
                      <a:r>
                        <a:rPr sz="1050" b="1">
                          <a:solidFill>
                            <a:srgbClr val="FFFFFF"/>
                          </a:solidFill>
                          <a:latin typeface="Calibri"/>
                        </a:rPr>
                        <a:t>#</a:t>
                      </a:r>
                    </a:p>
                  </a:txBody>
                  <a:tcPr marL="82296" marR="82296" marT="36576" marB="36576" anchor="ctr">
                    <a:solidFill>
                      <a:srgbClr val="1F6FB2"/>
                    </a:solidFill>
                  </a:tcPr>
                </a:tc>
                <a:tc>
                  <a:txBody>
                    <a:bodyPr wrap="square"/>
                    <a:lstStyle/>
                    <a:p>
                      <a:pPr algn="l">
                        <a:spcAft>
                          <a:spcPts val="200"/>
                        </a:spcAft>
                      </a:pPr>
                      <a:r>
                        <a:rPr sz="1050" b="1">
                          <a:solidFill>
                            <a:srgbClr val="FFFFFF"/>
                          </a:solidFill>
                          <a:latin typeface="Calibri"/>
                        </a:rPr>
                        <a:t>Vraag of knelpunt</a:t>
                      </a:r>
                    </a:p>
                  </a:txBody>
                  <a:tcPr marL="82296" marR="82296" marT="36576" marB="36576" anchor="ctr">
                    <a:solidFill>
                      <a:srgbClr val="1F6FB2"/>
                    </a:solidFill>
                  </a:tcPr>
                </a:tc>
              </a:tr>
              <a:tr h="313944">
                <a:tc>
                  <a:txBody>
                    <a:bodyPr wrap="square"/>
                    <a:lstStyle/>
                    <a:p>
                      <a:pPr algn="ctr">
                        <a:spcAft>
                          <a:spcPts val="200"/>
                        </a:spcAft>
                      </a:pPr>
                      <a:r>
                        <a:rPr sz="1200">
                          <a:solidFill>
                            <a:srgbClr val="0F1B2D"/>
                          </a:solidFill>
                          <a:latin typeface="Calibri"/>
                        </a:rPr>
                        <a:t>1</a:t>
                      </a:r>
                    </a:p>
                  </a:txBody>
                  <a:tcPr marL="82296" marR="82296" marT="36576" marB="36576" anchor="ctr">
                    <a:solidFill>
                      <a:srgbClr val="FFFFFF"/>
                    </a:solidFill>
                  </a:tcPr>
                </a:tc>
                <a:tc>
                  <a:txBody>
                    <a:bodyPr wrap="square"/>
                    <a:lstStyle/>
                    <a:p>
                      <a:pPr algn="l">
                        <a:spcAft>
                          <a:spcPts val="200"/>
                        </a:spcAft>
                      </a:pPr>
                      <a:r>
                        <a:rPr sz="1200">
                          <a:solidFill>
                            <a:srgbClr val="0F1B2D"/>
                          </a:solidFill>
                          <a:latin typeface="Calibri"/>
                        </a:rPr>
                        <a:t>Wat moeten we meenemen uit lopende projecten, of wordt dit later doorgevoerd in de begroting en het jaarplan?</a:t>
                      </a:r>
                    </a:p>
                  </a:txBody>
                  <a:tcPr marL="82296" marR="82296" marT="36576" marB="36576" anchor="ctr">
                    <a:solidFill>
                      <a:srgbClr val="FFFFFF"/>
                    </a:solidFill>
                  </a:tcPr>
                </a:tc>
              </a:tr>
              <a:tr h="313944">
                <a:tc>
                  <a:txBody>
                    <a:bodyPr wrap="square"/>
                    <a:lstStyle/>
                    <a:p>
                      <a:pPr algn="ctr">
                        <a:spcAft>
                          <a:spcPts val="200"/>
                        </a:spcAft>
                      </a:pPr>
                      <a:r>
                        <a:rPr sz="1200">
                          <a:solidFill>
                            <a:srgbClr val="0F1B2D"/>
                          </a:solidFill>
                          <a:latin typeface="Calibri"/>
                        </a:rPr>
                        <a:t>2</a:t>
                      </a:r>
                    </a:p>
                  </a:txBody>
                  <a:tcPr marL="82296" marR="82296" marT="36576" marB="36576" anchor="ctr">
                    <a:solidFill>
                      <a:srgbClr val="F4F7FB"/>
                    </a:solidFill>
                  </a:tcPr>
                </a:tc>
                <a:tc>
                  <a:txBody>
                    <a:bodyPr wrap="square"/>
                    <a:lstStyle/>
                    <a:p>
                      <a:pPr algn="l">
                        <a:spcAft>
                          <a:spcPts val="200"/>
                        </a:spcAft>
                      </a:pPr>
                      <a:r>
                        <a:rPr sz="1200">
                          <a:solidFill>
                            <a:srgbClr val="0F1B2D"/>
                          </a:solidFill>
                          <a:latin typeface="Calibri"/>
                        </a:rPr>
                        <a:t>Hoe werken de afdelingen nu al toe naar de nieuwbouwsituatie, en welke impact heeft dat op bedden en personeel?</a:t>
                      </a:r>
                    </a:p>
                  </a:txBody>
                  <a:tcPr marL="82296" marR="82296" marT="36576" marB="36576" anchor="ctr">
                    <a:solidFill>
                      <a:srgbClr val="F4F7FB"/>
                    </a:solidFill>
                  </a:tcPr>
                </a:tc>
              </a:tr>
              <a:tr h="313944">
                <a:tc>
                  <a:txBody>
                    <a:bodyPr wrap="square"/>
                    <a:lstStyle/>
                    <a:p>
                      <a:pPr algn="ctr">
                        <a:spcAft>
                          <a:spcPts val="200"/>
                        </a:spcAft>
                      </a:pPr>
                      <a:r>
                        <a:rPr sz="1200">
                          <a:solidFill>
                            <a:srgbClr val="0F1B2D"/>
                          </a:solidFill>
                          <a:latin typeface="Calibri"/>
                        </a:rPr>
                        <a:t>3</a:t>
                      </a:r>
                    </a:p>
                  </a:txBody>
                  <a:tcPr marL="82296" marR="82296" marT="36576" marB="36576" anchor="ctr">
                    <a:solidFill>
                      <a:srgbClr val="FFFFFF"/>
                    </a:solidFill>
                  </a:tcPr>
                </a:tc>
                <a:tc>
                  <a:txBody>
                    <a:bodyPr wrap="square"/>
                    <a:lstStyle/>
                    <a:p>
                      <a:pPr algn="l">
                        <a:spcAft>
                          <a:spcPts val="200"/>
                        </a:spcAft>
                      </a:pPr>
                      <a:r>
                        <a:rPr sz="1200">
                          <a:solidFill>
                            <a:srgbClr val="0F1B2D"/>
                          </a:solidFill>
                          <a:latin typeface="Calibri"/>
                        </a:rPr>
                        <a:t>Kunnen we de huidige personele inzet van de SEH aanhouden tot de nieuwbouw, exclusief eventuele extra inzet voor de nieuwbouw?</a:t>
                      </a:r>
                    </a:p>
                  </a:txBody>
                  <a:tcPr marL="82296" marR="82296" marT="36576" marB="36576" anchor="ctr">
                    <a:solidFill>
                      <a:srgbClr val="FFFFFF"/>
                    </a:solidFill>
                  </a:tcPr>
                </a:tc>
              </a:tr>
              <a:tr h="499871">
                <a:tc>
                  <a:txBody>
                    <a:bodyPr wrap="square"/>
                    <a:lstStyle/>
                    <a:p>
                      <a:pPr algn="ctr">
                        <a:spcAft>
                          <a:spcPts val="200"/>
                        </a:spcAft>
                      </a:pPr>
                      <a:r>
                        <a:rPr sz="1200">
                          <a:solidFill>
                            <a:srgbClr val="0F1B2D"/>
                          </a:solidFill>
                          <a:latin typeface="Calibri"/>
                        </a:rPr>
                        <a:t>4</a:t>
                      </a:r>
                    </a:p>
                  </a:txBody>
                  <a:tcPr marL="82296" marR="82296" marT="36576" marB="36576" anchor="ctr">
                    <a:solidFill>
                      <a:srgbClr val="F4F7FB"/>
                    </a:solidFill>
                  </a:tcPr>
                </a:tc>
                <a:tc>
                  <a:txBody>
                    <a:bodyPr wrap="square"/>
                    <a:lstStyle/>
                    <a:p>
                      <a:pPr algn="l">
                        <a:spcAft>
                          <a:spcPts val="200"/>
                        </a:spcAft>
                      </a:pPr>
                      <a:r>
                        <a:rPr sz="1200">
                          <a:solidFill>
                            <a:srgbClr val="0F1B2D"/>
                          </a:solidFill>
                          <a:latin typeface="Calibri"/>
                        </a:rPr>
                        <a:t>De bedbezetting is in het weekend lager dan doordeweeks; formatie daarop aanpassen komt neer op 5-5-4. In de oudbouw geen aanpassing, alleen toewerken naar de nieuwbouw: motiveren en dubbel opleiden.</a:t>
                      </a:r>
                    </a:p>
                  </a:txBody>
                  <a:tcPr marL="82296" marR="82296" marT="36576" marB="36576" anchor="ctr">
                    <a:solidFill>
                      <a:srgbClr val="F4F7FB"/>
                    </a:solidFill>
                  </a:tcPr>
                </a:tc>
              </a:tr>
              <a:tr h="499871">
                <a:tc>
                  <a:txBody>
                    <a:bodyPr wrap="square"/>
                    <a:lstStyle/>
                    <a:p>
                      <a:pPr algn="ctr">
                        <a:spcAft>
                          <a:spcPts val="200"/>
                        </a:spcAft>
                      </a:pPr>
                      <a:r>
                        <a:rPr sz="1200">
                          <a:solidFill>
                            <a:srgbClr val="0F1B2D"/>
                          </a:solidFill>
                          <a:latin typeface="Calibri"/>
                        </a:rPr>
                        <a:t>5</a:t>
                      </a:r>
                    </a:p>
                  </a:txBody>
                  <a:tcPr marL="82296" marR="82296" marT="36576" marB="36576" anchor="ctr">
                    <a:solidFill>
                      <a:srgbClr val="FFFFFF"/>
                    </a:solidFill>
                  </a:tcPr>
                </a:tc>
                <a:tc>
                  <a:txBody>
                    <a:bodyPr wrap="square"/>
                    <a:lstStyle/>
                    <a:p>
                      <a:pPr algn="l">
                        <a:spcAft>
                          <a:spcPts val="200"/>
                        </a:spcAft>
                      </a:pPr>
                      <a:r>
                        <a:rPr sz="1200">
                          <a:solidFill>
                            <a:srgbClr val="0F1B2D"/>
                          </a:solidFill>
                          <a:latin typeface="Calibri"/>
                        </a:rPr>
                        <a:t>Voor de ICU houden we de landelijke norm aan, maar daar zit bij ons ook recovery in. Welke normering hanteren we? (Geparkeerd voor later.)</a:t>
                      </a:r>
                    </a:p>
                  </a:txBody>
                  <a:tcPr marL="82296" marR="82296" marT="36576" marB="36576" anchor="ctr">
                    <a:solidFill>
                      <a:srgbClr val="FFFFFF"/>
                    </a:solidFill>
                  </a:tcPr>
                </a:tc>
              </a:tr>
              <a:tr h="313944">
                <a:tc>
                  <a:txBody>
                    <a:bodyPr wrap="square"/>
                    <a:lstStyle/>
                    <a:p>
                      <a:pPr algn="ctr">
                        <a:spcAft>
                          <a:spcPts val="200"/>
                        </a:spcAft>
                      </a:pPr>
                      <a:r>
                        <a:rPr sz="1200">
                          <a:solidFill>
                            <a:srgbClr val="0F1B2D"/>
                          </a:solidFill>
                          <a:latin typeface="Calibri"/>
                        </a:rPr>
                        <a:t>6</a:t>
                      </a:r>
                    </a:p>
                  </a:txBody>
                  <a:tcPr marL="82296" marR="82296" marT="36576" marB="36576" anchor="ctr">
                    <a:solidFill>
                      <a:srgbClr val="F4F7FB"/>
                    </a:solidFill>
                  </a:tcPr>
                </a:tc>
                <a:tc>
                  <a:txBody>
                    <a:bodyPr wrap="square"/>
                    <a:lstStyle/>
                    <a:p>
                      <a:pPr algn="l">
                        <a:spcAft>
                          <a:spcPts val="200"/>
                        </a:spcAft>
                      </a:pPr>
                      <a:r>
                        <a:rPr sz="1200">
                          <a:solidFill>
                            <a:srgbClr val="0F1B2D"/>
                          </a:solidFill>
                          <a:latin typeface="Calibri"/>
                        </a:rPr>
                        <a:t>Wat is het uitgangspunt voor de AO-dienst? Bij drukte inzet in de zorg; negen van de tien keer blijf je buiten de zorg.</a:t>
                      </a:r>
                    </a:p>
                  </a:txBody>
                  <a:tcPr marL="82296" marR="82296" marT="36576" marB="36576" anchor="ctr">
                    <a:solidFill>
                      <a:srgbClr val="F4F7FB"/>
                    </a:solidFill>
                  </a:tcPr>
                </a:tc>
              </a:tr>
              <a:tr h="499871">
                <a:tc>
                  <a:txBody>
                    <a:bodyPr wrap="square"/>
                    <a:lstStyle/>
                    <a:p>
                      <a:pPr algn="ctr">
                        <a:spcAft>
                          <a:spcPts val="200"/>
                        </a:spcAft>
                      </a:pPr>
                      <a:r>
                        <a:rPr sz="1200">
                          <a:solidFill>
                            <a:srgbClr val="0F1B2D"/>
                          </a:solidFill>
                          <a:latin typeface="Calibri"/>
                        </a:rPr>
                        <a:t>7</a:t>
                      </a:r>
                    </a:p>
                  </a:txBody>
                  <a:tcPr marL="82296" marR="82296" marT="36576" marB="36576" anchor="ctr">
                    <a:solidFill>
                      <a:srgbClr val="FFFFFF"/>
                    </a:solidFill>
                  </a:tcPr>
                </a:tc>
                <a:tc>
                  <a:txBody>
                    <a:bodyPr wrap="square"/>
                    <a:lstStyle/>
                    <a:p>
                      <a:pPr algn="l">
                        <a:spcAft>
                          <a:spcPts val="200"/>
                        </a:spcAft>
                      </a:pPr>
                      <a:r>
                        <a:rPr sz="1200">
                          <a:solidFill>
                            <a:srgbClr val="0F1B2D"/>
                          </a:solidFill>
                          <a:latin typeface="Calibri"/>
                        </a:rPr>
                        <a:t>Per september start de regieverpleegkundige. Wat betekent dat voor de personele inzet en de indirecte uren, en staat die functie binnen of buiten de zorg?</a:t>
                      </a:r>
                    </a:p>
                  </a:txBody>
                  <a:tcPr marL="82296" marR="82296" marT="36576" marB="36576" anchor="ctr">
                    <a:solidFill>
                      <a:srgbClr val="FFFFFF"/>
                    </a:solidFill>
                  </a:tcPr>
                </a:tc>
              </a:tr>
              <a:tr h="313944">
                <a:tc>
                  <a:txBody>
                    <a:bodyPr wrap="square"/>
                    <a:lstStyle/>
                    <a:p>
                      <a:pPr algn="ctr">
                        <a:spcAft>
                          <a:spcPts val="200"/>
                        </a:spcAft>
                      </a:pPr>
                      <a:r>
                        <a:rPr sz="1200">
                          <a:solidFill>
                            <a:srgbClr val="0F1B2D"/>
                          </a:solidFill>
                          <a:latin typeface="Calibri"/>
                        </a:rPr>
                        <a:t>8</a:t>
                      </a:r>
                    </a:p>
                  </a:txBody>
                  <a:tcPr marL="82296" marR="82296" marT="36576" marB="36576" anchor="ctr">
                    <a:solidFill>
                      <a:srgbClr val="F4F7FB"/>
                    </a:solidFill>
                  </a:tcPr>
                </a:tc>
                <a:tc>
                  <a:txBody>
                    <a:bodyPr wrap="square"/>
                    <a:lstStyle/>
                    <a:p>
                      <a:pPr algn="l">
                        <a:spcAft>
                          <a:spcPts val="200"/>
                        </a:spcAft>
                      </a:pPr>
                      <a:r>
                        <a:rPr sz="1200">
                          <a:solidFill>
                            <a:srgbClr val="0F1B2D"/>
                          </a:solidFill>
                          <a:latin typeface="Calibri"/>
                        </a:rPr>
                        <a:t>Verhuisperiode: welke extra diensten zijn er nodig ten opzichte van de oudbouw, en op welke locatie worden die ingezet?</a:t>
                      </a:r>
                    </a:p>
                  </a:txBody>
                  <a:tcPr marL="82296" marR="82296" marT="36576" marB="36576" anchor="ctr">
                    <a:solidFill>
                      <a:srgbClr val="F4F7FB"/>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502920" y="429768"/>
            <a:ext cx="457200" cy="457200"/>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600" b="1">
                <a:solidFill>
                  <a:srgbClr val="FFFFFF"/>
                </a:solidFill>
                <a:latin typeface="Calibri"/>
              </a:rPr>
              <a:t>18</a:t>
            </a:r>
          </a:p>
        </p:txBody>
      </p:sp>
      <p:sp>
        <p:nvSpPr>
          <p:cNvPr id="4" name="TextBox 3"/>
          <p:cNvSpPr txBox="1"/>
          <p:nvPr/>
        </p:nvSpPr>
        <p:spPr>
          <a:xfrm>
            <a:off x="1106424" y="365760"/>
            <a:ext cx="10582351" cy="402336"/>
          </a:xfrm>
          <a:prstGeom prst="rect">
            <a:avLst/>
          </a:prstGeom>
          <a:noFill/>
        </p:spPr>
        <p:txBody>
          <a:bodyPr wrap="square" lIns="0" rIns="0" tIns="18288" bIns="18288" anchor="ctr">
            <a:spAutoFit/>
          </a:bodyPr>
          <a:lstStyle/>
          <a:p>
            <a:pPr algn="l">
              <a:lnSpc>
                <a:spcPct val="120000"/>
              </a:lnSpc>
              <a:spcAft>
                <a:spcPts val="0"/>
              </a:spcAft>
            </a:pPr>
            <a:r>
              <a:rPr sz="2250" b="1" i="0">
                <a:solidFill>
                  <a:srgbClr val="0F1B2D"/>
                </a:solidFill>
                <a:latin typeface="Calibri"/>
              </a:rPr>
              <a:t>Vragen: nieuwbouw (1 van 2)</a:t>
            </a:r>
          </a:p>
        </p:txBody>
      </p:sp>
      <p:sp>
        <p:nvSpPr>
          <p:cNvPr id="5" name="TextBox 4"/>
          <p:cNvSpPr txBox="1"/>
          <p:nvPr/>
        </p:nvSpPr>
        <p:spPr>
          <a:xfrm>
            <a:off x="1106424" y="822960"/>
            <a:ext cx="10582351" cy="329184"/>
          </a:xfrm>
          <a:prstGeom prst="rect">
            <a:avLst/>
          </a:prstGeom>
          <a:noFill/>
        </p:spPr>
        <p:txBody>
          <a:bodyPr wrap="square" lIns="0" rIns="0" tIns="18288" bIns="18288" anchor="ctr">
            <a:spAutoFit/>
          </a:bodyPr>
          <a:lstStyle/>
          <a:p>
            <a:pPr algn="l">
              <a:lnSpc>
                <a:spcPct val="120000"/>
              </a:lnSpc>
              <a:spcAft>
                <a:spcPts val="0"/>
              </a:spcAft>
            </a:pPr>
            <a:r>
              <a:rPr sz="1350" b="0" i="0">
                <a:solidFill>
                  <a:srgbClr val="64748B"/>
                </a:solidFill>
                <a:latin typeface="Calibri"/>
              </a:rPr>
              <a:t>Personele inzet, norm en afkapmomenten</a:t>
            </a:r>
          </a:p>
        </p:txBody>
      </p:sp>
      <p:sp>
        <p:nvSpPr>
          <p:cNvPr id="6" name="TextBox 5"/>
          <p:cNvSpPr txBox="1"/>
          <p:nvPr/>
        </p:nvSpPr>
        <p:spPr>
          <a:xfrm>
            <a:off x="502920" y="6419088"/>
            <a:ext cx="5486400" cy="274320"/>
          </a:xfrm>
          <a:prstGeom prst="rect">
            <a:avLst/>
          </a:prstGeom>
          <a:noFill/>
        </p:spPr>
        <p:txBody>
          <a:bodyPr wrap="square" lIns="0" rIns="0" tIns="18288" bIns="18288" anchor="t">
            <a:spAutoFit/>
          </a:bodyPr>
          <a:lstStyle/>
          <a:p>
            <a:pPr algn="l">
              <a:lnSpc>
                <a:spcPct val="120000"/>
              </a:lnSpc>
              <a:spcAft>
                <a:spcPts val="0"/>
              </a:spcAft>
            </a:pPr>
            <a:r>
              <a:rPr sz="900" b="0" i="0">
                <a:solidFill>
                  <a:srgbClr val="64748B"/>
                </a:solidFill>
                <a:latin typeface="Calibri"/>
              </a:rPr>
              <a:t>Acute poort en Hotfloor</a:t>
            </a:r>
          </a:p>
        </p:txBody>
      </p:sp>
      <p:sp>
        <p:nvSpPr>
          <p:cNvPr id="7" name="TextBox 6"/>
          <p:cNvSpPr txBox="1"/>
          <p:nvPr/>
        </p:nvSpPr>
        <p:spPr>
          <a:xfrm>
            <a:off x="10591495" y="6419088"/>
            <a:ext cx="1097280" cy="274320"/>
          </a:xfrm>
          <a:prstGeom prst="rect">
            <a:avLst/>
          </a:prstGeom>
          <a:noFill/>
        </p:spPr>
        <p:txBody>
          <a:bodyPr wrap="square" lIns="0" rIns="0" tIns="18288" bIns="18288" anchor="t">
            <a:spAutoFit/>
          </a:bodyPr>
          <a:lstStyle/>
          <a:p>
            <a:pPr algn="r">
              <a:lnSpc>
                <a:spcPct val="120000"/>
              </a:lnSpc>
              <a:spcAft>
                <a:spcPts val="0"/>
              </a:spcAft>
            </a:pPr>
            <a:r>
              <a:rPr sz="900" b="0" i="0">
                <a:solidFill>
                  <a:srgbClr val="64748B"/>
                </a:solidFill>
                <a:latin typeface="Calibri"/>
              </a:rPr>
              <a:t>18</a:t>
            </a:r>
          </a:p>
        </p:txBody>
      </p:sp>
      <p:graphicFrame>
        <p:nvGraphicFramePr>
          <p:cNvPr id="8" name="Table 7"/>
          <p:cNvGraphicFramePr>
            <a:graphicFrameLocks noGrp="1"/>
          </p:cNvGraphicFramePr>
          <p:nvPr/>
        </p:nvGraphicFramePr>
        <p:xfrm>
          <a:off x="502920" y="1517904"/>
          <a:ext cx="11185855" cy="2938270"/>
        </p:xfrm>
        <a:graphic>
          <a:graphicData uri="http://schemas.openxmlformats.org/drawingml/2006/table">
            <a:tbl>
              <a:tblPr firstRow="1">
                <a:tableStyleId>{5C22544A-7EE6-4342-B048-85BDC9FD1C3A}</a:tableStyleId>
              </a:tblPr>
              <a:tblGrid>
                <a:gridCol w="502920"/>
                <a:gridCol w="10682935"/>
              </a:tblGrid>
              <a:tr h="310896">
                <a:tc>
                  <a:txBody>
                    <a:bodyPr wrap="square"/>
                    <a:lstStyle/>
                    <a:p>
                      <a:pPr algn="ctr">
                        <a:spcAft>
                          <a:spcPts val="200"/>
                        </a:spcAft>
                      </a:pPr>
                      <a:r>
                        <a:rPr sz="1050" b="1">
                          <a:solidFill>
                            <a:srgbClr val="FFFFFF"/>
                          </a:solidFill>
                          <a:latin typeface="Calibri"/>
                        </a:rPr>
                        <a:t>#</a:t>
                      </a:r>
                    </a:p>
                  </a:txBody>
                  <a:tcPr marL="82296" marR="82296" marT="36576" marB="36576" anchor="ctr">
                    <a:solidFill>
                      <a:srgbClr val="0E9A87"/>
                    </a:solidFill>
                  </a:tcPr>
                </a:tc>
                <a:tc>
                  <a:txBody>
                    <a:bodyPr wrap="square"/>
                    <a:lstStyle/>
                    <a:p>
                      <a:pPr algn="l">
                        <a:spcAft>
                          <a:spcPts val="200"/>
                        </a:spcAft>
                      </a:pPr>
                      <a:r>
                        <a:rPr sz="1050" b="1">
                          <a:solidFill>
                            <a:srgbClr val="FFFFFF"/>
                          </a:solidFill>
                          <a:latin typeface="Calibri"/>
                        </a:rPr>
                        <a:t>Vraag of knelpunt</a:t>
                      </a:r>
                    </a:p>
                  </a:txBody>
                  <a:tcPr marL="82296" marR="82296" marT="36576" marB="36576" anchor="ctr">
                    <a:solidFill>
                      <a:srgbClr val="0E9A87"/>
                    </a:solidFill>
                  </a:tcPr>
                </a:tc>
              </a:tr>
              <a:tr h="313944">
                <a:tc>
                  <a:txBody>
                    <a:bodyPr wrap="square"/>
                    <a:lstStyle/>
                    <a:p>
                      <a:pPr algn="ctr">
                        <a:spcAft>
                          <a:spcPts val="200"/>
                        </a:spcAft>
                      </a:pPr>
                      <a:r>
                        <a:rPr sz="1200">
                          <a:solidFill>
                            <a:srgbClr val="0F1B2D"/>
                          </a:solidFill>
                          <a:latin typeface="Calibri"/>
                        </a:rPr>
                        <a:t>1</a:t>
                      </a:r>
                    </a:p>
                  </a:txBody>
                  <a:tcPr marL="82296" marR="82296" marT="36576" marB="36576" anchor="ctr">
                    <a:solidFill>
                      <a:srgbClr val="FFFFFF"/>
                    </a:solidFill>
                  </a:tcPr>
                </a:tc>
                <a:tc>
                  <a:txBody>
                    <a:bodyPr wrap="square"/>
                    <a:lstStyle/>
                    <a:p>
                      <a:pPr algn="l">
                        <a:spcAft>
                          <a:spcPts val="200"/>
                        </a:spcAft>
                      </a:pPr>
                      <a:r>
                        <a:rPr sz="1200">
                          <a:solidFill>
                            <a:srgbClr val="0F1B2D"/>
                          </a:solidFill>
                          <a:latin typeface="Calibri"/>
                        </a:rPr>
                        <a:t>Waar komt de personele inzet op de EHH vandaan: van de SEH of van de ICU/CCU?</a:t>
                      </a:r>
                    </a:p>
                  </a:txBody>
                  <a:tcPr marL="82296" marR="82296" marT="36576" marB="36576" anchor="ctr">
                    <a:solidFill>
                      <a:srgbClr val="FFFFFF"/>
                    </a:solidFill>
                  </a:tcPr>
                </a:tc>
              </a:tr>
              <a:tr h="685800">
                <a:tc>
                  <a:txBody>
                    <a:bodyPr wrap="square"/>
                    <a:lstStyle/>
                    <a:p>
                      <a:pPr algn="ctr">
                        <a:spcAft>
                          <a:spcPts val="200"/>
                        </a:spcAft>
                      </a:pPr>
                      <a:r>
                        <a:rPr sz="1200">
                          <a:solidFill>
                            <a:srgbClr val="0F1B2D"/>
                          </a:solidFill>
                          <a:latin typeface="Calibri"/>
                        </a:rPr>
                        <a:t>2</a:t>
                      </a:r>
                    </a:p>
                  </a:txBody>
                  <a:tcPr marL="82296" marR="82296" marT="36576" marB="36576" anchor="ctr">
                    <a:solidFill>
                      <a:srgbClr val="F4F7FB"/>
                    </a:solidFill>
                  </a:tcPr>
                </a:tc>
                <a:tc>
                  <a:txBody>
                    <a:bodyPr wrap="square"/>
                    <a:lstStyle/>
                    <a:p>
                      <a:pPr algn="l">
                        <a:spcAft>
                          <a:spcPts val="200"/>
                        </a:spcAft>
                      </a:pPr>
                      <a:r>
                        <a:rPr sz="1200">
                          <a:solidFill>
                            <a:srgbClr val="0F1B2D"/>
                          </a:solidFill>
                          <a:latin typeface="Calibri"/>
                        </a:rPr>
                        <a:t>Dat wordt bepaald door het afkapmoment van de acute cardiologiepatiënt van SEH naar EHH/CCU. In de berekeningen is uitgegaan van inzet vanaf de CCU en een afkapmoment op 2 uur; nu wordt gekeken naar scenario's op 4, 6 en 24 uur waarbij de EHH-bedden bij de SEH zijn meegenomen.</a:t>
                      </a:r>
                    </a:p>
                  </a:txBody>
                  <a:tcPr marL="82296" marR="82296" marT="36576" marB="36576" anchor="ctr">
                    <a:solidFill>
                      <a:srgbClr val="F4F7FB"/>
                    </a:solidFill>
                  </a:tcPr>
                </a:tc>
              </a:tr>
              <a:tr h="313944">
                <a:tc>
                  <a:txBody>
                    <a:bodyPr wrap="square"/>
                    <a:lstStyle/>
                    <a:p>
                      <a:pPr algn="ctr">
                        <a:spcAft>
                          <a:spcPts val="200"/>
                        </a:spcAft>
                      </a:pPr>
                      <a:r>
                        <a:rPr sz="1200">
                          <a:solidFill>
                            <a:srgbClr val="0F1B2D"/>
                          </a:solidFill>
                          <a:latin typeface="Calibri"/>
                        </a:rPr>
                        <a:t>3</a:t>
                      </a:r>
                    </a:p>
                  </a:txBody>
                  <a:tcPr marL="82296" marR="82296" marT="36576" marB="36576" anchor="ctr">
                    <a:solidFill>
                      <a:srgbClr val="FFFFFF"/>
                    </a:solidFill>
                  </a:tcPr>
                </a:tc>
                <a:tc>
                  <a:txBody>
                    <a:bodyPr wrap="square"/>
                    <a:lstStyle/>
                    <a:p>
                      <a:pPr algn="l">
                        <a:spcAft>
                          <a:spcPts val="200"/>
                        </a:spcAft>
                      </a:pPr>
                      <a:r>
                        <a:rPr sz="1200">
                          <a:solidFill>
                            <a:srgbClr val="0F1B2D"/>
                          </a:solidFill>
                          <a:latin typeface="Calibri"/>
                        </a:rPr>
                        <a:t>Doet Remco een uitspraak over de verpleegkundige norm, of houden we de huidige normen aan en leggen we die aan hem voor?</a:t>
                      </a:r>
                    </a:p>
                  </a:txBody>
                  <a:tcPr marL="82296" marR="82296" marT="36576" marB="36576" anchor="ctr">
                    <a:solidFill>
                      <a:srgbClr val="FFFFFF"/>
                    </a:solidFill>
                  </a:tcPr>
                </a:tc>
              </a:tr>
              <a:tr h="499871">
                <a:tc>
                  <a:txBody>
                    <a:bodyPr wrap="square"/>
                    <a:lstStyle/>
                    <a:p>
                      <a:pPr algn="ctr">
                        <a:spcAft>
                          <a:spcPts val="200"/>
                        </a:spcAft>
                      </a:pPr>
                      <a:r>
                        <a:rPr sz="1200">
                          <a:solidFill>
                            <a:srgbClr val="0F1B2D"/>
                          </a:solidFill>
                          <a:latin typeface="Calibri"/>
                        </a:rPr>
                        <a:t>4</a:t>
                      </a:r>
                    </a:p>
                  </a:txBody>
                  <a:tcPr marL="82296" marR="82296" marT="36576" marB="36576" anchor="ctr">
                    <a:solidFill>
                      <a:srgbClr val="F4F7FB"/>
                    </a:solidFill>
                  </a:tcPr>
                </a:tc>
                <a:tc>
                  <a:txBody>
                    <a:bodyPr wrap="square"/>
                    <a:lstStyle/>
                    <a:p>
                      <a:pPr algn="l">
                        <a:spcAft>
                          <a:spcPts val="200"/>
                        </a:spcAft>
                      </a:pPr>
                      <a:r>
                        <a:rPr sz="1200">
                          <a:solidFill>
                            <a:srgbClr val="0F1B2D"/>
                          </a:solidFill>
                          <a:latin typeface="Calibri"/>
                        </a:rPr>
                        <a:t>In de nieuwbouw wordt de scope (CCU) anders ingericht. Hoe verwerken we dat in de personele inzet? Nu is er een extra dienst overdag en extra belasting in de late en de nachtdienst.</a:t>
                      </a:r>
                    </a:p>
                  </a:txBody>
                  <a:tcPr marL="82296" marR="82296" marT="36576" marB="36576" anchor="ctr">
                    <a:solidFill>
                      <a:srgbClr val="F4F7FB"/>
                    </a:solidFill>
                  </a:tcPr>
                </a:tc>
              </a:tr>
              <a:tr h="313944">
                <a:tc>
                  <a:txBody>
                    <a:bodyPr wrap="square"/>
                    <a:lstStyle/>
                    <a:p>
                      <a:pPr algn="ctr">
                        <a:spcAft>
                          <a:spcPts val="200"/>
                        </a:spcAft>
                      </a:pPr>
                      <a:r>
                        <a:rPr sz="1200">
                          <a:solidFill>
                            <a:srgbClr val="0F1B2D"/>
                          </a:solidFill>
                          <a:latin typeface="Calibri"/>
                        </a:rPr>
                        <a:t>5</a:t>
                      </a:r>
                    </a:p>
                  </a:txBody>
                  <a:tcPr marL="82296" marR="82296" marT="36576" marB="36576" anchor="ctr">
                    <a:solidFill>
                      <a:srgbClr val="FFFFFF"/>
                    </a:solidFill>
                  </a:tcPr>
                </a:tc>
                <a:tc>
                  <a:txBody>
                    <a:bodyPr wrap="square"/>
                    <a:lstStyle/>
                    <a:p>
                      <a:pPr algn="l">
                        <a:spcAft>
                          <a:spcPts val="200"/>
                        </a:spcAft>
                      </a:pPr>
                      <a:r>
                        <a:rPr sz="1200">
                          <a:solidFill>
                            <a:srgbClr val="0F1B2D"/>
                          </a:solidFill>
                          <a:latin typeface="Calibri"/>
                        </a:rPr>
                        <a:t>De ICU heeft een normenkader waarbij maximaal 10% afgeweken mag worden van dedicated inzet van ICU-verpleegkundigen.</a:t>
                      </a:r>
                    </a:p>
                  </a:txBody>
                  <a:tcPr marL="82296" marR="82296" marT="36576" marB="36576" anchor="ctr">
                    <a:solidFill>
                      <a:srgbClr val="FFFFFF"/>
                    </a:solidFill>
                  </a:tcPr>
                </a:tc>
              </a:tr>
              <a:tr h="499871">
                <a:tc>
                  <a:txBody>
                    <a:bodyPr wrap="square"/>
                    <a:lstStyle/>
                    <a:p>
                      <a:pPr algn="ctr">
                        <a:spcAft>
                          <a:spcPts val="200"/>
                        </a:spcAft>
                      </a:pPr>
                      <a:r>
                        <a:rPr sz="1200">
                          <a:solidFill>
                            <a:srgbClr val="0F1B2D"/>
                          </a:solidFill>
                          <a:latin typeface="Calibri"/>
                        </a:rPr>
                        <a:t>6</a:t>
                      </a:r>
                    </a:p>
                  </a:txBody>
                  <a:tcPr marL="82296" marR="82296" marT="36576" marB="36576" anchor="ctr">
                    <a:solidFill>
                      <a:srgbClr val="F4F7FB"/>
                    </a:solidFill>
                  </a:tcPr>
                </a:tc>
                <a:tc>
                  <a:txBody>
                    <a:bodyPr wrap="square"/>
                    <a:lstStyle/>
                    <a:p>
                      <a:pPr algn="l">
                        <a:spcAft>
                          <a:spcPts val="200"/>
                        </a:spcAft>
                      </a:pPr>
                      <a:r>
                        <a:rPr sz="1200">
                          <a:solidFill>
                            <a:srgbClr val="0F1B2D"/>
                          </a:solidFill>
                          <a:latin typeface="Calibri"/>
                        </a:rPr>
                        <a:t>Is er al nagedacht over de personele inzet op de SEH? Kunnen we het patroon opplussen op basis van de extra bedden, en van hoeveel bedden gaan we uit?</a:t>
                      </a:r>
                    </a:p>
                  </a:txBody>
                  <a:tcPr marL="82296" marR="82296" marT="36576" marB="36576" anchor="ctr">
                    <a:solidFill>
                      <a:srgbClr val="F4F7FB"/>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502920" y="429768"/>
            <a:ext cx="457200" cy="457200"/>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600" b="1">
                <a:solidFill>
                  <a:srgbClr val="FFFFFF"/>
                </a:solidFill>
                <a:latin typeface="Calibri"/>
              </a:rPr>
              <a:t>19</a:t>
            </a:r>
          </a:p>
        </p:txBody>
      </p:sp>
      <p:sp>
        <p:nvSpPr>
          <p:cNvPr id="4" name="TextBox 3"/>
          <p:cNvSpPr txBox="1"/>
          <p:nvPr/>
        </p:nvSpPr>
        <p:spPr>
          <a:xfrm>
            <a:off x="1106424" y="365760"/>
            <a:ext cx="10582351" cy="402336"/>
          </a:xfrm>
          <a:prstGeom prst="rect">
            <a:avLst/>
          </a:prstGeom>
          <a:noFill/>
        </p:spPr>
        <p:txBody>
          <a:bodyPr wrap="square" lIns="0" rIns="0" tIns="18288" bIns="18288" anchor="ctr">
            <a:spAutoFit/>
          </a:bodyPr>
          <a:lstStyle/>
          <a:p>
            <a:pPr algn="l">
              <a:lnSpc>
                <a:spcPct val="120000"/>
              </a:lnSpc>
              <a:spcAft>
                <a:spcPts val="0"/>
              </a:spcAft>
            </a:pPr>
            <a:r>
              <a:rPr sz="2250" b="1" i="0">
                <a:solidFill>
                  <a:srgbClr val="0F1B2D"/>
                </a:solidFill>
                <a:latin typeface="Calibri"/>
              </a:rPr>
              <a:t>Vragen: nieuwbouw (2 van 2)</a:t>
            </a:r>
          </a:p>
        </p:txBody>
      </p:sp>
      <p:sp>
        <p:nvSpPr>
          <p:cNvPr id="5" name="TextBox 4"/>
          <p:cNvSpPr txBox="1"/>
          <p:nvPr/>
        </p:nvSpPr>
        <p:spPr>
          <a:xfrm>
            <a:off x="1106424" y="822960"/>
            <a:ext cx="10582351" cy="329184"/>
          </a:xfrm>
          <a:prstGeom prst="rect">
            <a:avLst/>
          </a:prstGeom>
          <a:noFill/>
        </p:spPr>
        <p:txBody>
          <a:bodyPr wrap="square" lIns="0" rIns="0" tIns="18288" bIns="18288" anchor="ctr">
            <a:spAutoFit/>
          </a:bodyPr>
          <a:lstStyle/>
          <a:p>
            <a:pPr algn="l">
              <a:lnSpc>
                <a:spcPct val="120000"/>
              </a:lnSpc>
              <a:spcAft>
                <a:spcPts val="0"/>
              </a:spcAft>
            </a:pPr>
            <a:r>
              <a:rPr sz="1350" b="0" i="0">
                <a:solidFill>
                  <a:srgbClr val="64748B"/>
                </a:solidFill>
                <a:latin typeface="Calibri"/>
              </a:rPr>
              <a:t>Indirecte uren, opleiden en poules</a:t>
            </a:r>
          </a:p>
        </p:txBody>
      </p:sp>
      <p:sp>
        <p:nvSpPr>
          <p:cNvPr id="6" name="TextBox 5"/>
          <p:cNvSpPr txBox="1"/>
          <p:nvPr/>
        </p:nvSpPr>
        <p:spPr>
          <a:xfrm>
            <a:off x="502920" y="6419088"/>
            <a:ext cx="5486400" cy="274320"/>
          </a:xfrm>
          <a:prstGeom prst="rect">
            <a:avLst/>
          </a:prstGeom>
          <a:noFill/>
        </p:spPr>
        <p:txBody>
          <a:bodyPr wrap="square" lIns="0" rIns="0" tIns="18288" bIns="18288" anchor="t">
            <a:spAutoFit/>
          </a:bodyPr>
          <a:lstStyle/>
          <a:p>
            <a:pPr algn="l">
              <a:lnSpc>
                <a:spcPct val="120000"/>
              </a:lnSpc>
              <a:spcAft>
                <a:spcPts val="0"/>
              </a:spcAft>
            </a:pPr>
            <a:r>
              <a:rPr sz="900" b="0" i="0">
                <a:solidFill>
                  <a:srgbClr val="64748B"/>
                </a:solidFill>
                <a:latin typeface="Calibri"/>
              </a:rPr>
              <a:t>Acute poort en Hotfloor</a:t>
            </a:r>
          </a:p>
        </p:txBody>
      </p:sp>
      <p:sp>
        <p:nvSpPr>
          <p:cNvPr id="7" name="TextBox 6"/>
          <p:cNvSpPr txBox="1"/>
          <p:nvPr/>
        </p:nvSpPr>
        <p:spPr>
          <a:xfrm>
            <a:off x="10591495" y="6419088"/>
            <a:ext cx="1097280" cy="274320"/>
          </a:xfrm>
          <a:prstGeom prst="rect">
            <a:avLst/>
          </a:prstGeom>
          <a:noFill/>
        </p:spPr>
        <p:txBody>
          <a:bodyPr wrap="square" lIns="0" rIns="0" tIns="18288" bIns="18288" anchor="t">
            <a:spAutoFit/>
          </a:bodyPr>
          <a:lstStyle/>
          <a:p>
            <a:pPr algn="r">
              <a:lnSpc>
                <a:spcPct val="120000"/>
              </a:lnSpc>
              <a:spcAft>
                <a:spcPts val="0"/>
              </a:spcAft>
            </a:pPr>
            <a:r>
              <a:rPr sz="900" b="0" i="0">
                <a:solidFill>
                  <a:srgbClr val="64748B"/>
                </a:solidFill>
                <a:latin typeface="Calibri"/>
              </a:rPr>
              <a:t>19</a:t>
            </a:r>
          </a:p>
        </p:txBody>
      </p:sp>
      <p:graphicFrame>
        <p:nvGraphicFramePr>
          <p:cNvPr id="8" name="Table 7"/>
          <p:cNvGraphicFramePr>
            <a:graphicFrameLocks noGrp="1"/>
          </p:cNvGraphicFramePr>
          <p:nvPr/>
        </p:nvGraphicFramePr>
        <p:xfrm>
          <a:off x="502920" y="1517904"/>
          <a:ext cx="11185855" cy="2194560"/>
        </p:xfrm>
        <a:graphic>
          <a:graphicData uri="http://schemas.openxmlformats.org/drawingml/2006/table">
            <a:tbl>
              <a:tblPr firstRow="1">
                <a:tableStyleId>{5C22544A-7EE6-4342-B048-85BDC9FD1C3A}</a:tableStyleId>
              </a:tblPr>
              <a:tblGrid>
                <a:gridCol w="502920"/>
                <a:gridCol w="10682935"/>
              </a:tblGrid>
              <a:tr h="310896">
                <a:tc>
                  <a:txBody>
                    <a:bodyPr wrap="square"/>
                    <a:lstStyle/>
                    <a:p>
                      <a:pPr algn="ctr">
                        <a:spcAft>
                          <a:spcPts val="200"/>
                        </a:spcAft>
                      </a:pPr>
                      <a:r>
                        <a:rPr sz="1050" b="1">
                          <a:solidFill>
                            <a:srgbClr val="FFFFFF"/>
                          </a:solidFill>
                          <a:latin typeface="Calibri"/>
                        </a:rPr>
                        <a:t>#</a:t>
                      </a:r>
                    </a:p>
                  </a:txBody>
                  <a:tcPr marL="82296" marR="82296" marT="36576" marB="36576" anchor="ctr">
                    <a:solidFill>
                      <a:srgbClr val="0E9A87"/>
                    </a:solidFill>
                  </a:tcPr>
                </a:tc>
                <a:tc>
                  <a:txBody>
                    <a:bodyPr wrap="square"/>
                    <a:lstStyle/>
                    <a:p>
                      <a:pPr algn="l">
                        <a:spcAft>
                          <a:spcPts val="200"/>
                        </a:spcAft>
                      </a:pPr>
                      <a:r>
                        <a:rPr sz="1050" b="1">
                          <a:solidFill>
                            <a:srgbClr val="FFFFFF"/>
                          </a:solidFill>
                          <a:latin typeface="Calibri"/>
                        </a:rPr>
                        <a:t>Vraag of knelpunt</a:t>
                      </a:r>
                    </a:p>
                  </a:txBody>
                  <a:tcPr marL="82296" marR="82296" marT="36576" marB="36576" anchor="ctr">
                    <a:solidFill>
                      <a:srgbClr val="0E9A87"/>
                    </a:solidFill>
                  </a:tcPr>
                </a:tc>
              </a:tr>
              <a:tr h="313944">
                <a:tc>
                  <a:txBody>
                    <a:bodyPr wrap="square"/>
                    <a:lstStyle/>
                    <a:p>
                      <a:pPr algn="ctr">
                        <a:spcAft>
                          <a:spcPts val="200"/>
                        </a:spcAft>
                      </a:pPr>
                      <a:r>
                        <a:rPr sz="1200">
                          <a:solidFill>
                            <a:srgbClr val="0F1B2D"/>
                          </a:solidFill>
                          <a:latin typeface="Calibri"/>
                        </a:rPr>
                        <a:t>1</a:t>
                      </a:r>
                    </a:p>
                  </a:txBody>
                  <a:tcPr marL="82296" marR="82296" marT="36576" marB="36576" anchor="ctr">
                    <a:solidFill>
                      <a:srgbClr val="FFFFFF"/>
                    </a:solidFill>
                  </a:tcPr>
                </a:tc>
                <a:tc>
                  <a:txBody>
                    <a:bodyPr wrap="square"/>
                    <a:lstStyle/>
                    <a:p>
                      <a:pPr algn="l">
                        <a:spcAft>
                          <a:spcPts val="200"/>
                        </a:spcAft>
                      </a:pPr>
                      <a:r>
                        <a:rPr sz="1200">
                          <a:solidFill>
                            <a:srgbClr val="0F1B2D"/>
                          </a:solidFill>
                          <a:latin typeface="Calibri"/>
                        </a:rPr>
                        <a:t>Indirecte uren: de oude begroting loopt sterk uiteen. Wat houden we aan, en verlaagt de regieverpleegkundige dit per september?</a:t>
                      </a:r>
                    </a:p>
                  </a:txBody>
                  <a:tcPr marL="82296" marR="82296" marT="36576" marB="36576" anchor="ctr">
                    <a:solidFill>
                      <a:srgbClr val="FFFFFF"/>
                    </a:solidFill>
                  </a:tcPr>
                </a:tc>
              </a:tr>
              <a:tr h="313944">
                <a:tc>
                  <a:txBody>
                    <a:bodyPr wrap="square"/>
                    <a:lstStyle/>
                    <a:p>
                      <a:pPr algn="ctr">
                        <a:spcAft>
                          <a:spcPts val="200"/>
                        </a:spcAft>
                      </a:pPr>
                      <a:r>
                        <a:rPr sz="1200">
                          <a:solidFill>
                            <a:srgbClr val="0F1B2D"/>
                          </a:solidFill>
                          <a:latin typeface="Calibri"/>
                        </a:rPr>
                        <a:t>2</a:t>
                      </a:r>
                    </a:p>
                  </a:txBody>
                  <a:tcPr marL="82296" marR="82296" marT="36576" marB="36576" anchor="ctr">
                    <a:solidFill>
                      <a:srgbClr val="F4F7FB"/>
                    </a:solidFill>
                  </a:tcPr>
                </a:tc>
                <a:tc>
                  <a:txBody>
                    <a:bodyPr wrap="square"/>
                    <a:lstStyle/>
                    <a:p>
                      <a:pPr algn="l">
                        <a:spcAft>
                          <a:spcPts val="200"/>
                        </a:spcAft>
                      </a:pPr>
                      <a:r>
                        <a:rPr sz="1200">
                          <a:solidFill>
                            <a:srgbClr val="0F1B2D"/>
                          </a:solidFill>
                          <a:latin typeface="Calibri"/>
                        </a:rPr>
                        <a:t>Hoe richten we de inzet van de regieverpleegkundige in de nieuwbouw in?</a:t>
                      </a:r>
                    </a:p>
                  </a:txBody>
                  <a:tcPr marL="82296" marR="82296" marT="36576" marB="36576" anchor="ctr">
                    <a:solidFill>
                      <a:srgbClr val="F4F7FB"/>
                    </a:solidFill>
                  </a:tcPr>
                </a:tc>
              </a:tr>
              <a:tr h="313944">
                <a:tc>
                  <a:txBody>
                    <a:bodyPr wrap="square"/>
                    <a:lstStyle/>
                    <a:p>
                      <a:pPr algn="ctr">
                        <a:spcAft>
                          <a:spcPts val="200"/>
                        </a:spcAft>
                      </a:pPr>
                      <a:r>
                        <a:rPr sz="1200">
                          <a:solidFill>
                            <a:srgbClr val="0F1B2D"/>
                          </a:solidFill>
                          <a:latin typeface="Calibri"/>
                        </a:rPr>
                        <a:t>3</a:t>
                      </a:r>
                    </a:p>
                  </a:txBody>
                  <a:tcPr marL="82296" marR="82296" marT="36576" marB="36576" anchor="ctr">
                    <a:solidFill>
                      <a:srgbClr val="FFFFFF"/>
                    </a:solidFill>
                  </a:tcPr>
                </a:tc>
                <a:tc>
                  <a:txBody>
                    <a:bodyPr wrap="square"/>
                    <a:lstStyle/>
                    <a:p>
                      <a:pPr algn="l">
                        <a:spcAft>
                          <a:spcPts val="200"/>
                        </a:spcAft>
                      </a:pPr>
                      <a:r>
                        <a:rPr sz="1200">
                          <a:solidFill>
                            <a:srgbClr val="0F1B2D"/>
                          </a:solidFill>
                          <a:latin typeface="Calibri"/>
                        </a:rPr>
                        <a:t>Komt de kinderverpleegkundige dedicated op de SEH, of op afroep?</a:t>
                      </a:r>
                    </a:p>
                  </a:txBody>
                  <a:tcPr marL="82296" marR="82296" marT="36576" marB="36576" anchor="ctr">
                    <a:solidFill>
                      <a:srgbClr val="FFFFFF"/>
                    </a:solidFill>
                  </a:tcPr>
                </a:tc>
              </a:tr>
              <a:tr h="313944">
                <a:tc>
                  <a:txBody>
                    <a:bodyPr wrap="square"/>
                    <a:lstStyle/>
                    <a:p>
                      <a:pPr algn="ctr">
                        <a:spcAft>
                          <a:spcPts val="200"/>
                        </a:spcAft>
                      </a:pPr>
                      <a:r>
                        <a:rPr sz="1200">
                          <a:solidFill>
                            <a:srgbClr val="0F1B2D"/>
                          </a:solidFill>
                          <a:latin typeface="Calibri"/>
                        </a:rPr>
                        <a:t>4</a:t>
                      </a:r>
                    </a:p>
                  </a:txBody>
                  <a:tcPr marL="82296" marR="82296" marT="36576" marB="36576" anchor="ctr">
                    <a:solidFill>
                      <a:srgbClr val="F4F7FB"/>
                    </a:solidFill>
                  </a:tcPr>
                </a:tc>
                <a:tc>
                  <a:txBody>
                    <a:bodyPr wrap="square"/>
                    <a:lstStyle/>
                    <a:p>
                      <a:pPr algn="l">
                        <a:spcAft>
                          <a:spcPts val="200"/>
                        </a:spcAft>
                      </a:pPr>
                      <a:r>
                        <a:rPr sz="1200">
                          <a:solidFill>
                            <a:srgbClr val="0F1B2D"/>
                          </a:solidFill>
                          <a:latin typeface="Calibri"/>
                        </a:rPr>
                        <a:t>Hoe staat het met de EPA's? Zijn er vereisten voor SEH-verpleegkundigen, en zijn er verplichte EPA's voor ICU en CCU?</a:t>
                      </a:r>
                    </a:p>
                  </a:txBody>
                  <a:tcPr marL="82296" marR="82296" marT="36576" marB="36576" anchor="ctr">
                    <a:solidFill>
                      <a:srgbClr val="F4F7FB"/>
                    </a:solidFill>
                  </a:tcPr>
                </a:tc>
              </a:tr>
              <a:tr h="313944">
                <a:tc>
                  <a:txBody>
                    <a:bodyPr wrap="square"/>
                    <a:lstStyle/>
                    <a:p>
                      <a:pPr algn="ctr">
                        <a:spcAft>
                          <a:spcPts val="200"/>
                        </a:spcAft>
                      </a:pPr>
                      <a:r>
                        <a:rPr sz="1200">
                          <a:solidFill>
                            <a:srgbClr val="0F1B2D"/>
                          </a:solidFill>
                          <a:latin typeface="Calibri"/>
                        </a:rPr>
                        <a:t>5</a:t>
                      </a:r>
                    </a:p>
                  </a:txBody>
                  <a:tcPr marL="82296" marR="82296" marT="36576" marB="36576" anchor="ctr">
                    <a:solidFill>
                      <a:srgbClr val="FFFFFF"/>
                    </a:solidFill>
                  </a:tcPr>
                </a:tc>
                <a:tc>
                  <a:txBody>
                    <a:bodyPr wrap="square"/>
                    <a:lstStyle/>
                    <a:p>
                      <a:pPr algn="l">
                        <a:spcAft>
                          <a:spcPts val="200"/>
                        </a:spcAft>
                      </a:pPr>
                      <a:r>
                        <a:rPr sz="1200">
                          <a:solidFill>
                            <a:srgbClr val="0F1B2D"/>
                          </a:solidFill>
                          <a:latin typeface="Calibri"/>
                        </a:rPr>
                        <a:t>Als die EPA's er zijn, wat betekent dat dan in de praktijk?</a:t>
                      </a:r>
                    </a:p>
                  </a:txBody>
                  <a:tcPr marL="82296" marR="82296" marT="36576" marB="36576" anchor="ctr">
                    <a:solidFill>
                      <a:srgbClr val="FFFFFF"/>
                    </a:solidFill>
                  </a:tcPr>
                </a:tc>
              </a:tr>
              <a:tr h="313944">
                <a:tc>
                  <a:txBody>
                    <a:bodyPr wrap="square"/>
                    <a:lstStyle/>
                    <a:p>
                      <a:pPr algn="ctr">
                        <a:spcAft>
                          <a:spcPts val="200"/>
                        </a:spcAft>
                      </a:pPr>
                      <a:r>
                        <a:rPr sz="1200">
                          <a:solidFill>
                            <a:srgbClr val="0F1B2D"/>
                          </a:solidFill>
                          <a:latin typeface="Calibri"/>
                        </a:rPr>
                        <a:t>6</a:t>
                      </a:r>
                    </a:p>
                  </a:txBody>
                  <a:tcPr marL="82296" marR="82296" marT="36576" marB="36576" anchor="ctr">
                    <a:solidFill>
                      <a:srgbClr val="F4F7FB"/>
                    </a:solidFill>
                  </a:tcPr>
                </a:tc>
                <a:tc>
                  <a:txBody>
                    <a:bodyPr wrap="square"/>
                    <a:lstStyle/>
                    <a:p>
                      <a:pPr algn="l">
                        <a:spcAft>
                          <a:spcPts val="200"/>
                        </a:spcAft>
                      </a:pPr>
                      <a:r>
                        <a:rPr sz="1200">
                          <a:solidFill>
                            <a:srgbClr val="0F1B2D"/>
                          </a:solidFill>
                          <a:latin typeface="Calibri"/>
                        </a:rPr>
                        <a:t>Zetten we voor de nieuwbouw nog in op een acute poule voor CCU/ICU en CCU/SEH? Nu is dat alleen ICU/SEH.</a:t>
                      </a:r>
                    </a:p>
                  </a:txBody>
                  <a:tcPr marL="82296" marR="82296" marT="36576" marB="36576" anchor="ctr">
                    <a:solidFill>
                      <a:srgbClr val="F4F7FB"/>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502920" y="429768"/>
            <a:ext cx="457200" cy="457200"/>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600" b="1">
                <a:solidFill>
                  <a:srgbClr val="FFFFFF"/>
                </a:solidFill>
                <a:latin typeface="Calibri"/>
              </a:rPr>
              <a:t>20</a:t>
            </a:r>
          </a:p>
        </p:txBody>
      </p:sp>
      <p:sp>
        <p:nvSpPr>
          <p:cNvPr id="4" name="TextBox 3"/>
          <p:cNvSpPr txBox="1"/>
          <p:nvPr/>
        </p:nvSpPr>
        <p:spPr>
          <a:xfrm>
            <a:off x="1106424" y="365760"/>
            <a:ext cx="10582351" cy="402336"/>
          </a:xfrm>
          <a:prstGeom prst="rect">
            <a:avLst/>
          </a:prstGeom>
          <a:noFill/>
        </p:spPr>
        <p:txBody>
          <a:bodyPr wrap="square" lIns="0" rIns="0" tIns="18288" bIns="18288" anchor="ctr">
            <a:spAutoFit/>
          </a:bodyPr>
          <a:lstStyle/>
          <a:p>
            <a:pPr algn="l">
              <a:lnSpc>
                <a:spcPct val="120000"/>
              </a:lnSpc>
              <a:spcAft>
                <a:spcPts val="0"/>
              </a:spcAft>
            </a:pPr>
            <a:r>
              <a:rPr sz="2250" b="1" i="0">
                <a:solidFill>
                  <a:srgbClr val="0F1B2D"/>
                </a:solidFill>
                <a:latin typeface="Calibri"/>
              </a:rPr>
              <a:t>Knelpunten</a:t>
            </a:r>
          </a:p>
        </p:txBody>
      </p:sp>
      <p:sp>
        <p:nvSpPr>
          <p:cNvPr id="5" name="TextBox 4"/>
          <p:cNvSpPr txBox="1"/>
          <p:nvPr/>
        </p:nvSpPr>
        <p:spPr>
          <a:xfrm>
            <a:off x="1106424" y="822960"/>
            <a:ext cx="10582351" cy="329184"/>
          </a:xfrm>
          <a:prstGeom prst="rect">
            <a:avLst/>
          </a:prstGeom>
          <a:noFill/>
        </p:spPr>
        <p:txBody>
          <a:bodyPr wrap="square" lIns="0" rIns="0" tIns="18288" bIns="18288" anchor="ctr">
            <a:spAutoFit/>
          </a:bodyPr>
          <a:lstStyle/>
          <a:p>
            <a:pPr algn="l">
              <a:lnSpc>
                <a:spcPct val="120000"/>
              </a:lnSpc>
              <a:spcAft>
                <a:spcPts val="0"/>
              </a:spcAft>
            </a:pPr>
            <a:r>
              <a:rPr sz="1350" b="0" i="0">
                <a:solidFill>
                  <a:srgbClr val="64748B"/>
                </a:solidFill>
                <a:latin typeface="Calibri"/>
              </a:rPr>
              <a:t>Wat er nu in de weg zit</a:t>
            </a:r>
          </a:p>
        </p:txBody>
      </p:sp>
      <p:sp>
        <p:nvSpPr>
          <p:cNvPr id="6" name="TextBox 5"/>
          <p:cNvSpPr txBox="1"/>
          <p:nvPr/>
        </p:nvSpPr>
        <p:spPr>
          <a:xfrm>
            <a:off x="502920" y="6419088"/>
            <a:ext cx="5486400" cy="274320"/>
          </a:xfrm>
          <a:prstGeom prst="rect">
            <a:avLst/>
          </a:prstGeom>
          <a:noFill/>
        </p:spPr>
        <p:txBody>
          <a:bodyPr wrap="square" lIns="0" rIns="0" tIns="18288" bIns="18288" anchor="t">
            <a:spAutoFit/>
          </a:bodyPr>
          <a:lstStyle/>
          <a:p>
            <a:pPr algn="l">
              <a:lnSpc>
                <a:spcPct val="120000"/>
              </a:lnSpc>
              <a:spcAft>
                <a:spcPts val="0"/>
              </a:spcAft>
            </a:pPr>
            <a:r>
              <a:rPr sz="900" b="0" i="0">
                <a:solidFill>
                  <a:srgbClr val="64748B"/>
                </a:solidFill>
                <a:latin typeface="Calibri"/>
              </a:rPr>
              <a:t>Acute poort en Hotfloor</a:t>
            </a:r>
          </a:p>
        </p:txBody>
      </p:sp>
      <p:sp>
        <p:nvSpPr>
          <p:cNvPr id="7" name="TextBox 6"/>
          <p:cNvSpPr txBox="1"/>
          <p:nvPr/>
        </p:nvSpPr>
        <p:spPr>
          <a:xfrm>
            <a:off x="10591495" y="6419088"/>
            <a:ext cx="1097280" cy="274320"/>
          </a:xfrm>
          <a:prstGeom prst="rect">
            <a:avLst/>
          </a:prstGeom>
          <a:noFill/>
        </p:spPr>
        <p:txBody>
          <a:bodyPr wrap="square" lIns="0" rIns="0" tIns="18288" bIns="18288" anchor="t">
            <a:spAutoFit/>
          </a:bodyPr>
          <a:lstStyle/>
          <a:p>
            <a:pPr algn="r">
              <a:lnSpc>
                <a:spcPct val="120000"/>
              </a:lnSpc>
              <a:spcAft>
                <a:spcPts val="0"/>
              </a:spcAft>
            </a:pPr>
            <a:r>
              <a:rPr sz="900" b="0" i="0">
                <a:solidFill>
                  <a:srgbClr val="64748B"/>
                </a:solidFill>
                <a:latin typeface="Calibri"/>
              </a:rPr>
              <a:t>20</a:t>
            </a:r>
          </a:p>
        </p:txBody>
      </p:sp>
      <p:graphicFrame>
        <p:nvGraphicFramePr>
          <p:cNvPr id="8" name="Table 7"/>
          <p:cNvGraphicFramePr>
            <a:graphicFrameLocks noGrp="1"/>
          </p:cNvGraphicFramePr>
          <p:nvPr/>
        </p:nvGraphicFramePr>
        <p:xfrm>
          <a:off x="502920" y="1517904"/>
          <a:ext cx="11185855" cy="3636263"/>
        </p:xfrm>
        <a:graphic>
          <a:graphicData uri="http://schemas.openxmlformats.org/drawingml/2006/table">
            <a:tbl>
              <a:tblPr firstRow="1">
                <a:tableStyleId>{5C22544A-7EE6-4342-B048-85BDC9FD1C3A}</a:tableStyleId>
              </a:tblPr>
              <a:tblGrid>
                <a:gridCol w="502920"/>
                <a:gridCol w="10682935"/>
              </a:tblGrid>
              <a:tr h="310896">
                <a:tc>
                  <a:txBody>
                    <a:bodyPr wrap="square"/>
                    <a:lstStyle/>
                    <a:p>
                      <a:pPr algn="ctr">
                        <a:spcAft>
                          <a:spcPts val="200"/>
                        </a:spcAft>
                      </a:pPr>
                      <a:r>
                        <a:rPr sz="1050" b="1">
                          <a:solidFill>
                            <a:srgbClr val="FFFFFF"/>
                          </a:solidFill>
                          <a:latin typeface="Calibri"/>
                        </a:rPr>
                        <a:t>#</a:t>
                      </a:r>
                    </a:p>
                  </a:txBody>
                  <a:tcPr marL="82296" marR="82296" marT="36576" marB="36576" anchor="ctr">
                    <a:solidFill>
                      <a:srgbClr val="C4392D"/>
                    </a:solidFill>
                  </a:tcPr>
                </a:tc>
                <a:tc>
                  <a:txBody>
                    <a:bodyPr wrap="square"/>
                    <a:lstStyle/>
                    <a:p>
                      <a:pPr algn="l">
                        <a:spcAft>
                          <a:spcPts val="200"/>
                        </a:spcAft>
                      </a:pPr>
                      <a:r>
                        <a:rPr sz="1050" b="1">
                          <a:solidFill>
                            <a:srgbClr val="FFFFFF"/>
                          </a:solidFill>
                          <a:latin typeface="Calibri"/>
                        </a:rPr>
                        <a:t>Vraag of knelpunt</a:t>
                      </a:r>
                    </a:p>
                  </a:txBody>
                  <a:tcPr marL="82296" marR="82296" marT="36576" marB="36576" anchor="ctr">
                    <a:solidFill>
                      <a:srgbClr val="C4392D"/>
                    </a:solidFill>
                  </a:tcPr>
                </a:tc>
              </a:tr>
              <a:tr h="313944">
                <a:tc>
                  <a:txBody>
                    <a:bodyPr wrap="square"/>
                    <a:lstStyle/>
                    <a:p>
                      <a:pPr algn="ctr">
                        <a:spcAft>
                          <a:spcPts val="200"/>
                        </a:spcAft>
                      </a:pPr>
                      <a:r>
                        <a:rPr sz="1200">
                          <a:solidFill>
                            <a:srgbClr val="0F1B2D"/>
                          </a:solidFill>
                          <a:latin typeface="Calibri"/>
                        </a:rPr>
                        <a:t>1</a:t>
                      </a:r>
                    </a:p>
                  </a:txBody>
                  <a:tcPr marL="82296" marR="82296" marT="36576" marB="36576" anchor="ctr">
                    <a:solidFill>
                      <a:srgbClr val="FFFFFF"/>
                    </a:solidFill>
                  </a:tcPr>
                </a:tc>
                <a:tc>
                  <a:txBody>
                    <a:bodyPr wrap="square"/>
                    <a:lstStyle/>
                    <a:p>
                      <a:pPr algn="l">
                        <a:spcAft>
                          <a:spcPts val="200"/>
                        </a:spcAft>
                      </a:pPr>
                      <a:r>
                        <a:rPr sz="1200">
                          <a:solidFill>
                            <a:srgbClr val="0F1B2D"/>
                          </a:solidFill>
                          <a:latin typeface="Calibri"/>
                        </a:rPr>
                        <a:t>Verpleegkundige norm: aanbodgericht werken in plaats van vraaggestuurd.</a:t>
                      </a:r>
                    </a:p>
                  </a:txBody>
                  <a:tcPr marL="82296" marR="82296" marT="36576" marB="36576" anchor="ctr">
                    <a:solidFill>
                      <a:srgbClr val="FFFFFF"/>
                    </a:solidFill>
                  </a:tcPr>
                </a:tc>
              </a:tr>
              <a:tr h="313944">
                <a:tc>
                  <a:txBody>
                    <a:bodyPr wrap="square"/>
                    <a:lstStyle/>
                    <a:p>
                      <a:pPr algn="ctr">
                        <a:spcAft>
                          <a:spcPts val="200"/>
                        </a:spcAft>
                      </a:pPr>
                      <a:r>
                        <a:rPr sz="1200">
                          <a:solidFill>
                            <a:srgbClr val="0F1B2D"/>
                          </a:solidFill>
                          <a:latin typeface="Calibri"/>
                        </a:rPr>
                        <a:t>2</a:t>
                      </a:r>
                    </a:p>
                  </a:txBody>
                  <a:tcPr marL="82296" marR="82296" marT="36576" marB="36576" anchor="ctr">
                    <a:solidFill>
                      <a:srgbClr val="F4F7FB"/>
                    </a:solidFill>
                  </a:tcPr>
                </a:tc>
                <a:tc>
                  <a:txBody>
                    <a:bodyPr wrap="square"/>
                    <a:lstStyle/>
                    <a:p>
                      <a:pPr algn="l">
                        <a:spcAft>
                          <a:spcPts val="200"/>
                        </a:spcAft>
                      </a:pPr>
                      <a:r>
                        <a:rPr sz="1200">
                          <a:solidFill>
                            <a:srgbClr val="0F1B2D"/>
                          </a:solidFill>
                          <a:latin typeface="Calibri"/>
                        </a:rPr>
                        <a:t>SEH-artsen: de inzet is verhoogd maar de begroting is niet aangepast.</a:t>
                      </a:r>
                    </a:p>
                  </a:txBody>
                  <a:tcPr marL="82296" marR="82296" marT="36576" marB="36576" anchor="ctr">
                    <a:solidFill>
                      <a:srgbClr val="F4F7FB"/>
                    </a:solidFill>
                  </a:tcPr>
                </a:tc>
              </a:tr>
              <a:tr h="313944">
                <a:tc>
                  <a:txBody>
                    <a:bodyPr wrap="square"/>
                    <a:lstStyle/>
                    <a:p>
                      <a:pPr algn="ctr">
                        <a:spcAft>
                          <a:spcPts val="200"/>
                        </a:spcAft>
                      </a:pPr>
                      <a:r>
                        <a:rPr sz="1200">
                          <a:solidFill>
                            <a:srgbClr val="0F1B2D"/>
                          </a:solidFill>
                          <a:latin typeface="Calibri"/>
                        </a:rPr>
                        <a:t>3</a:t>
                      </a:r>
                    </a:p>
                  </a:txBody>
                  <a:tcPr marL="82296" marR="82296" marT="36576" marB="36576" anchor="ctr">
                    <a:solidFill>
                      <a:srgbClr val="FFFFFF"/>
                    </a:solidFill>
                  </a:tcPr>
                </a:tc>
                <a:tc>
                  <a:txBody>
                    <a:bodyPr wrap="square"/>
                    <a:lstStyle/>
                    <a:p>
                      <a:pPr algn="l">
                        <a:spcAft>
                          <a:spcPts val="200"/>
                        </a:spcAft>
                      </a:pPr>
                      <a:r>
                        <a:rPr sz="1200">
                          <a:solidFill>
                            <a:srgbClr val="0F1B2D"/>
                          </a:solidFill>
                          <a:latin typeface="Calibri"/>
                        </a:rPr>
                        <a:t>Acute poort: wat komt waar, en wat kunnen wij doorrekenen?</a:t>
                      </a:r>
                    </a:p>
                  </a:txBody>
                  <a:tcPr marL="82296" marR="82296" marT="36576" marB="36576" anchor="ctr">
                    <a:solidFill>
                      <a:srgbClr val="FFFFFF"/>
                    </a:solidFill>
                  </a:tcPr>
                </a:tc>
              </a:tr>
              <a:tr h="313944">
                <a:tc>
                  <a:txBody>
                    <a:bodyPr wrap="square"/>
                    <a:lstStyle/>
                    <a:p>
                      <a:pPr algn="ctr">
                        <a:spcAft>
                          <a:spcPts val="200"/>
                        </a:spcAft>
                      </a:pPr>
                      <a:r>
                        <a:rPr sz="1200">
                          <a:solidFill>
                            <a:srgbClr val="0F1B2D"/>
                          </a:solidFill>
                          <a:latin typeface="Calibri"/>
                        </a:rPr>
                        <a:t>4</a:t>
                      </a:r>
                    </a:p>
                  </a:txBody>
                  <a:tcPr marL="82296" marR="82296" marT="36576" marB="36576" anchor="ctr">
                    <a:solidFill>
                      <a:srgbClr val="F4F7FB"/>
                    </a:solidFill>
                  </a:tcPr>
                </a:tc>
                <a:tc>
                  <a:txBody>
                    <a:bodyPr wrap="square"/>
                    <a:lstStyle/>
                    <a:p>
                      <a:pPr algn="l">
                        <a:spcAft>
                          <a:spcPts val="200"/>
                        </a:spcAft>
                      </a:pPr>
                      <a:r>
                        <a:rPr sz="1200">
                          <a:solidFill>
                            <a:srgbClr val="0F1B2D"/>
                          </a:solidFill>
                          <a:latin typeface="Calibri"/>
                        </a:rPr>
                        <a:t>ICU en CCU wijken structureel af van het jaarplan BIC.</a:t>
                      </a:r>
                    </a:p>
                  </a:txBody>
                  <a:tcPr marL="82296" marR="82296" marT="36576" marB="36576" anchor="ctr">
                    <a:solidFill>
                      <a:srgbClr val="F4F7FB"/>
                    </a:solidFill>
                  </a:tcPr>
                </a:tc>
              </a:tr>
              <a:tr h="313944">
                <a:tc>
                  <a:txBody>
                    <a:bodyPr wrap="square"/>
                    <a:lstStyle/>
                    <a:p>
                      <a:pPr algn="ctr">
                        <a:spcAft>
                          <a:spcPts val="200"/>
                        </a:spcAft>
                      </a:pPr>
                      <a:r>
                        <a:rPr sz="1200">
                          <a:solidFill>
                            <a:srgbClr val="0F1B2D"/>
                          </a:solidFill>
                          <a:latin typeface="Calibri"/>
                        </a:rPr>
                        <a:t>5</a:t>
                      </a:r>
                    </a:p>
                  </a:txBody>
                  <a:tcPr marL="82296" marR="82296" marT="36576" marB="36576" anchor="ctr">
                    <a:solidFill>
                      <a:srgbClr val="FFFFFF"/>
                    </a:solidFill>
                  </a:tcPr>
                </a:tc>
                <a:tc>
                  <a:txBody>
                    <a:bodyPr wrap="square"/>
                    <a:lstStyle/>
                    <a:p>
                      <a:pPr algn="l">
                        <a:spcAft>
                          <a:spcPts val="200"/>
                        </a:spcAft>
                      </a:pPr>
                      <a:r>
                        <a:rPr sz="1200">
                          <a:solidFill>
                            <a:srgbClr val="0F1B2D"/>
                          </a:solidFill>
                          <a:latin typeface="Calibri"/>
                        </a:rPr>
                        <a:t>De personele planning loopt niet volledig via CPP, met name rond de acute poule.</a:t>
                      </a:r>
                    </a:p>
                  </a:txBody>
                  <a:tcPr marL="82296" marR="82296" marT="36576" marB="36576" anchor="ctr">
                    <a:solidFill>
                      <a:srgbClr val="FFFFFF"/>
                    </a:solidFill>
                  </a:tcPr>
                </a:tc>
              </a:tr>
              <a:tr h="313944">
                <a:tc>
                  <a:txBody>
                    <a:bodyPr wrap="square"/>
                    <a:lstStyle/>
                    <a:p>
                      <a:pPr algn="ctr">
                        <a:spcAft>
                          <a:spcPts val="200"/>
                        </a:spcAft>
                      </a:pPr>
                      <a:r>
                        <a:rPr sz="1200">
                          <a:solidFill>
                            <a:srgbClr val="0F1B2D"/>
                          </a:solidFill>
                          <a:latin typeface="Calibri"/>
                        </a:rPr>
                        <a:t>6</a:t>
                      </a:r>
                    </a:p>
                  </a:txBody>
                  <a:tcPr marL="82296" marR="82296" marT="36576" marB="36576" anchor="ctr">
                    <a:solidFill>
                      <a:srgbClr val="F4F7FB"/>
                    </a:solidFill>
                  </a:tcPr>
                </a:tc>
                <a:tc>
                  <a:txBody>
                    <a:bodyPr wrap="square"/>
                    <a:lstStyle/>
                    <a:p>
                      <a:pPr algn="l">
                        <a:spcAft>
                          <a:spcPts val="200"/>
                        </a:spcAft>
                      </a:pPr>
                      <a:r>
                        <a:rPr sz="1200">
                          <a:solidFill>
                            <a:srgbClr val="0F1B2D"/>
                          </a:solidFill>
                          <a:latin typeface="Calibri"/>
                        </a:rPr>
                        <a:t>Indirecte uren.</a:t>
                      </a:r>
                    </a:p>
                  </a:txBody>
                  <a:tcPr marL="82296" marR="82296" marT="36576" marB="36576" anchor="ctr">
                    <a:solidFill>
                      <a:srgbClr val="F4F7FB"/>
                    </a:solidFill>
                  </a:tcPr>
                </a:tc>
              </a:tr>
              <a:tr h="313944">
                <a:tc>
                  <a:txBody>
                    <a:bodyPr wrap="square"/>
                    <a:lstStyle/>
                    <a:p>
                      <a:pPr algn="ctr">
                        <a:spcAft>
                          <a:spcPts val="200"/>
                        </a:spcAft>
                      </a:pPr>
                      <a:r>
                        <a:rPr sz="1200">
                          <a:solidFill>
                            <a:srgbClr val="0F1B2D"/>
                          </a:solidFill>
                          <a:latin typeface="Calibri"/>
                        </a:rPr>
                        <a:t>7</a:t>
                      </a:r>
                    </a:p>
                  </a:txBody>
                  <a:tcPr marL="82296" marR="82296" marT="36576" marB="36576" anchor="ctr">
                    <a:solidFill>
                      <a:srgbClr val="FFFFFF"/>
                    </a:solidFill>
                  </a:tcPr>
                </a:tc>
                <a:tc>
                  <a:txBody>
                    <a:bodyPr wrap="square"/>
                    <a:lstStyle/>
                    <a:p>
                      <a:pPr algn="l">
                        <a:spcAft>
                          <a:spcPts val="200"/>
                        </a:spcAft>
                      </a:pPr>
                      <a:r>
                        <a:rPr sz="1200">
                          <a:solidFill>
                            <a:srgbClr val="0F1B2D"/>
                          </a:solidFill>
                          <a:latin typeface="Calibri"/>
                        </a:rPr>
                        <a:t>Uitgangspunten en kaders ontbreken.</a:t>
                      </a:r>
                    </a:p>
                  </a:txBody>
                  <a:tcPr marL="82296" marR="82296" marT="36576" marB="36576" anchor="ctr">
                    <a:solidFill>
                      <a:srgbClr val="FFFFFF"/>
                    </a:solidFill>
                  </a:tcPr>
                </a:tc>
              </a:tr>
              <a:tr h="499871">
                <a:tc>
                  <a:txBody>
                    <a:bodyPr wrap="square"/>
                    <a:lstStyle/>
                    <a:p>
                      <a:pPr algn="ctr">
                        <a:spcAft>
                          <a:spcPts val="200"/>
                        </a:spcAft>
                      </a:pPr>
                      <a:r>
                        <a:rPr sz="1200">
                          <a:solidFill>
                            <a:srgbClr val="0F1B2D"/>
                          </a:solidFill>
                          <a:latin typeface="Calibri"/>
                        </a:rPr>
                        <a:t>8</a:t>
                      </a:r>
                    </a:p>
                  </a:txBody>
                  <a:tcPr marL="82296" marR="82296" marT="36576" marB="36576" anchor="ctr">
                    <a:solidFill>
                      <a:srgbClr val="F4F7FB"/>
                    </a:solidFill>
                  </a:tcPr>
                </a:tc>
                <a:tc>
                  <a:txBody>
                    <a:bodyPr wrap="square"/>
                    <a:lstStyle/>
                    <a:p>
                      <a:pPr algn="l">
                        <a:spcAft>
                          <a:spcPts val="200"/>
                        </a:spcAft>
                      </a:pPr>
                      <a:r>
                        <a:rPr sz="1200">
                          <a:solidFill>
                            <a:srgbClr val="0F1B2D"/>
                          </a:solidFill>
                          <a:latin typeface="Calibri"/>
                        </a:rPr>
                        <a:t>Vakantiegoedkeuringen niet integraal en te ruim vrijgegeven, met name bij de CCU. Actie: samen met Remco een vakantiegoedkeuring opstellen; hij noemde 20 tot 25%.</a:t>
                      </a:r>
                    </a:p>
                  </a:txBody>
                  <a:tcPr marL="82296" marR="82296" marT="36576" marB="36576" anchor="ctr">
                    <a:solidFill>
                      <a:srgbClr val="F4F7FB"/>
                    </a:solidFill>
                  </a:tcPr>
                </a:tc>
              </a:tr>
              <a:tr h="313944">
                <a:tc>
                  <a:txBody>
                    <a:bodyPr wrap="square"/>
                    <a:lstStyle/>
                    <a:p>
                      <a:pPr algn="ctr">
                        <a:spcAft>
                          <a:spcPts val="200"/>
                        </a:spcAft>
                      </a:pPr>
                      <a:r>
                        <a:rPr sz="1200">
                          <a:solidFill>
                            <a:srgbClr val="0F1B2D"/>
                          </a:solidFill>
                          <a:latin typeface="Calibri"/>
                        </a:rPr>
                        <a:t>9</a:t>
                      </a:r>
                    </a:p>
                  </a:txBody>
                  <a:tcPr marL="82296" marR="82296" marT="36576" marB="36576" anchor="ctr">
                    <a:solidFill>
                      <a:srgbClr val="FFFFFF"/>
                    </a:solidFill>
                  </a:tcPr>
                </a:tc>
                <a:tc>
                  <a:txBody>
                    <a:bodyPr wrap="square"/>
                    <a:lstStyle/>
                    <a:p>
                      <a:pPr algn="l">
                        <a:spcAft>
                          <a:spcPts val="200"/>
                        </a:spcAft>
                      </a:pPr>
                      <a:r>
                        <a:rPr sz="1200">
                          <a:solidFill>
                            <a:srgbClr val="0F1B2D"/>
                          </a:solidFill>
                          <a:latin typeface="Calibri"/>
                        </a:rPr>
                        <a:t>Slapers op de SEH.</a:t>
                      </a:r>
                    </a:p>
                  </a:txBody>
                  <a:tcPr marL="82296" marR="82296" marT="36576" marB="36576" anchor="ctr">
                    <a:solidFill>
                      <a:srgbClr val="FFFFFF"/>
                    </a:solidFill>
                  </a:tcPr>
                </a:tc>
              </a:tr>
              <a:tr h="313944">
                <a:tc>
                  <a:txBody>
                    <a:bodyPr wrap="square"/>
                    <a:lstStyle/>
                    <a:p>
                      <a:pPr algn="ctr">
                        <a:spcAft>
                          <a:spcPts val="200"/>
                        </a:spcAft>
                      </a:pPr>
                      <a:r>
                        <a:rPr sz="1200">
                          <a:solidFill>
                            <a:srgbClr val="0F1B2D"/>
                          </a:solidFill>
                          <a:latin typeface="Calibri"/>
                        </a:rPr>
                        <a:t>10</a:t>
                      </a:r>
                    </a:p>
                  </a:txBody>
                  <a:tcPr marL="82296" marR="82296" marT="36576" marB="36576" anchor="ctr">
                    <a:solidFill>
                      <a:srgbClr val="F4F7FB"/>
                    </a:solidFill>
                  </a:tcPr>
                </a:tc>
                <a:tc>
                  <a:txBody>
                    <a:bodyPr wrap="square"/>
                    <a:lstStyle/>
                    <a:p>
                      <a:pPr algn="l">
                        <a:spcAft>
                          <a:spcPts val="200"/>
                        </a:spcAft>
                      </a:pPr>
                      <a:r>
                        <a:rPr sz="1200">
                          <a:solidFill>
                            <a:srgbClr val="0F1B2D"/>
                          </a:solidFill>
                          <a:latin typeface="Calibri"/>
                        </a:rPr>
                        <a:t>Kanttekening bij de JDT: je kunt vol liggen waardoor de druk hoog is, terwijl de JDT-score dat niet laat zien.</a:t>
                      </a:r>
                    </a:p>
                  </a:txBody>
                  <a:tcPr marL="82296" marR="82296" marT="36576" marB="36576" anchor="ctr">
                    <a:solidFill>
                      <a:srgbClr val="F4F7FB"/>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502920" y="429768"/>
            <a:ext cx="457200" cy="457200"/>
          </a:xfrm>
          <a:prstGeom prst="ellipse">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600" b="1">
                <a:solidFill>
                  <a:srgbClr val="FFFFFF"/>
                </a:solidFill>
                <a:latin typeface="Calibri"/>
              </a:rPr>
              <a:t>21</a:t>
            </a:r>
          </a:p>
        </p:txBody>
      </p:sp>
      <p:sp>
        <p:nvSpPr>
          <p:cNvPr id="4" name="TextBox 3"/>
          <p:cNvSpPr txBox="1"/>
          <p:nvPr/>
        </p:nvSpPr>
        <p:spPr>
          <a:xfrm>
            <a:off x="1106424" y="365760"/>
            <a:ext cx="10582351" cy="402336"/>
          </a:xfrm>
          <a:prstGeom prst="rect">
            <a:avLst/>
          </a:prstGeom>
          <a:noFill/>
        </p:spPr>
        <p:txBody>
          <a:bodyPr wrap="square" lIns="0" rIns="0" tIns="18288" bIns="18288" anchor="ctr">
            <a:spAutoFit/>
          </a:bodyPr>
          <a:lstStyle/>
          <a:p>
            <a:pPr algn="l">
              <a:lnSpc>
                <a:spcPct val="120000"/>
              </a:lnSpc>
              <a:spcAft>
                <a:spcPts val="0"/>
              </a:spcAft>
            </a:pPr>
            <a:r>
              <a:rPr sz="2250" b="1" i="0">
                <a:solidFill>
                  <a:srgbClr val="0F1B2D"/>
                </a:solidFill>
                <a:latin typeface="Calibri"/>
              </a:rPr>
              <a:t>Simulatie, aantekeningen en de vragen voor Remco</a:t>
            </a:r>
          </a:p>
        </p:txBody>
      </p:sp>
      <p:sp>
        <p:nvSpPr>
          <p:cNvPr id="5" name="TextBox 4"/>
          <p:cNvSpPr txBox="1"/>
          <p:nvPr/>
        </p:nvSpPr>
        <p:spPr>
          <a:xfrm>
            <a:off x="1106424" y="822960"/>
            <a:ext cx="10582351" cy="329184"/>
          </a:xfrm>
          <a:prstGeom prst="rect">
            <a:avLst/>
          </a:prstGeom>
          <a:noFill/>
        </p:spPr>
        <p:txBody>
          <a:bodyPr wrap="square" lIns="0" rIns="0" tIns="18288" bIns="18288" anchor="ctr">
            <a:spAutoFit/>
          </a:bodyPr>
          <a:lstStyle/>
          <a:p>
            <a:pPr algn="l">
              <a:lnSpc>
                <a:spcPct val="120000"/>
              </a:lnSpc>
              <a:spcAft>
                <a:spcPts val="0"/>
              </a:spcAft>
            </a:pPr>
            <a:r>
              <a:rPr sz="1350" b="0" i="0">
                <a:solidFill>
                  <a:srgbClr val="64748B"/>
                </a:solidFill>
                <a:latin typeface="Calibri"/>
              </a:rPr>
              <a:t>Wat er nog uitgezocht en gevraagd moet worden</a:t>
            </a:r>
          </a:p>
        </p:txBody>
      </p:sp>
      <p:sp>
        <p:nvSpPr>
          <p:cNvPr id="6" name="TextBox 5"/>
          <p:cNvSpPr txBox="1"/>
          <p:nvPr/>
        </p:nvSpPr>
        <p:spPr>
          <a:xfrm>
            <a:off x="502920" y="6419088"/>
            <a:ext cx="5486400" cy="274320"/>
          </a:xfrm>
          <a:prstGeom prst="rect">
            <a:avLst/>
          </a:prstGeom>
          <a:noFill/>
        </p:spPr>
        <p:txBody>
          <a:bodyPr wrap="square" lIns="0" rIns="0" tIns="18288" bIns="18288" anchor="t">
            <a:spAutoFit/>
          </a:bodyPr>
          <a:lstStyle/>
          <a:p>
            <a:pPr algn="l">
              <a:lnSpc>
                <a:spcPct val="120000"/>
              </a:lnSpc>
              <a:spcAft>
                <a:spcPts val="0"/>
              </a:spcAft>
            </a:pPr>
            <a:r>
              <a:rPr sz="900" b="0" i="0">
                <a:solidFill>
                  <a:srgbClr val="64748B"/>
                </a:solidFill>
                <a:latin typeface="Calibri"/>
              </a:rPr>
              <a:t>Acute poort en Hotfloor</a:t>
            </a:r>
          </a:p>
        </p:txBody>
      </p:sp>
      <p:sp>
        <p:nvSpPr>
          <p:cNvPr id="7" name="TextBox 6"/>
          <p:cNvSpPr txBox="1"/>
          <p:nvPr/>
        </p:nvSpPr>
        <p:spPr>
          <a:xfrm>
            <a:off x="10591495" y="6419088"/>
            <a:ext cx="1097280" cy="274320"/>
          </a:xfrm>
          <a:prstGeom prst="rect">
            <a:avLst/>
          </a:prstGeom>
          <a:noFill/>
        </p:spPr>
        <p:txBody>
          <a:bodyPr wrap="square" lIns="0" rIns="0" tIns="18288" bIns="18288" anchor="t">
            <a:spAutoFit/>
          </a:bodyPr>
          <a:lstStyle/>
          <a:p>
            <a:pPr algn="r">
              <a:lnSpc>
                <a:spcPct val="120000"/>
              </a:lnSpc>
              <a:spcAft>
                <a:spcPts val="0"/>
              </a:spcAft>
            </a:pPr>
            <a:r>
              <a:rPr sz="900" b="0" i="0">
                <a:solidFill>
                  <a:srgbClr val="64748B"/>
                </a:solidFill>
                <a:latin typeface="Calibri"/>
              </a:rPr>
              <a:t>21</a:t>
            </a:r>
          </a:p>
        </p:txBody>
      </p:sp>
      <p:graphicFrame>
        <p:nvGraphicFramePr>
          <p:cNvPr id="8" name="Table 7"/>
          <p:cNvGraphicFramePr>
            <a:graphicFrameLocks noGrp="1"/>
          </p:cNvGraphicFramePr>
          <p:nvPr/>
        </p:nvGraphicFramePr>
        <p:xfrm>
          <a:off x="502920" y="1517904"/>
          <a:ext cx="11185855" cy="3822190"/>
        </p:xfrm>
        <a:graphic>
          <a:graphicData uri="http://schemas.openxmlformats.org/drawingml/2006/table">
            <a:tbl>
              <a:tblPr firstRow="1">
                <a:tableStyleId>{5C22544A-7EE6-4342-B048-85BDC9FD1C3A}</a:tableStyleId>
              </a:tblPr>
              <a:tblGrid>
                <a:gridCol w="502920"/>
                <a:gridCol w="10682935"/>
              </a:tblGrid>
              <a:tr h="310896">
                <a:tc>
                  <a:txBody>
                    <a:bodyPr wrap="square"/>
                    <a:lstStyle/>
                    <a:p>
                      <a:pPr algn="ctr">
                        <a:spcAft>
                          <a:spcPts val="200"/>
                        </a:spcAft>
                      </a:pPr>
                      <a:r>
                        <a:rPr sz="1050" b="1">
                          <a:solidFill>
                            <a:srgbClr val="FFFFFF"/>
                          </a:solidFill>
                          <a:latin typeface="Calibri"/>
                        </a:rPr>
                        <a:t>#</a:t>
                      </a:r>
                    </a:p>
                  </a:txBody>
                  <a:tcPr marL="82296" marR="82296" marT="36576" marB="36576" anchor="ctr">
                    <a:solidFill>
                      <a:srgbClr val="6B4BA8"/>
                    </a:solidFill>
                  </a:tcPr>
                </a:tc>
                <a:tc>
                  <a:txBody>
                    <a:bodyPr wrap="square"/>
                    <a:lstStyle/>
                    <a:p>
                      <a:pPr algn="l">
                        <a:spcAft>
                          <a:spcPts val="200"/>
                        </a:spcAft>
                      </a:pPr>
                      <a:r>
                        <a:rPr sz="1050" b="1">
                          <a:solidFill>
                            <a:srgbClr val="FFFFFF"/>
                          </a:solidFill>
                          <a:latin typeface="Calibri"/>
                        </a:rPr>
                        <a:t>Vraag of knelpunt</a:t>
                      </a:r>
                    </a:p>
                  </a:txBody>
                  <a:tcPr marL="82296" marR="82296" marT="36576" marB="36576" anchor="ctr">
                    <a:solidFill>
                      <a:srgbClr val="6B4BA8"/>
                    </a:solidFill>
                  </a:tcPr>
                </a:tc>
              </a:tr>
              <a:tr h="313944">
                <a:tc>
                  <a:txBody>
                    <a:bodyPr wrap="square"/>
                    <a:lstStyle/>
                    <a:p>
                      <a:pPr algn="ctr">
                        <a:spcAft>
                          <a:spcPts val="200"/>
                        </a:spcAft>
                      </a:pPr>
                      <a:r>
                        <a:rPr sz="1200">
                          <a:solidFill>
                            <a:srgbClr val="0F1B2D"/>
                          </a:solidFill>
                          <a:latin typeface="Calibri"/>
                        </a:rPr>
                        <a:t>1</a:t>
                      </a:r>
                    </a:p>
                  </a:txBody>
                  <a:tcPr marL="82296" marR="82296" marT="36576" marB="36576" anchor="ctr">
                    <a:solidFill>
                      <a:srgbClr val="FFFFFF"/>
                    </a:solidFill>
                  </a:tcPr>
                </a:tc>
                <a:tc>
                  <a:txBody>
                    <a:bodyPr wrap="square"/>
                    <a:lstStyle/>
                    <a:p>
                      <a:pPr algn="l">
                        <a:spcAft>
                          <a:spcPts val="200"/>
                        </a:spcAft>
                      </a:pPr>
                      <a:r>
                        <a:rPr sz="1200">
                          <a:solidFill>
                            <a:srgbClr val="0F1B2D"/>
                          </a:solidFill>
                          <a:latin typeface="Calibri"/>
                        </a:rPr>
                        <a:t>Simulatie nieuwbouw: volledige ICU-data.</a:t>
                      </a:r>
                    </a:p>
                  </a:txBody>
                  <a:tcPr marL="82296" marR="82296" marT="36576" marB="36576" anchor="ctr">
                    <a:solidFill>
                      <a:srgbClr val="FFFFFF"/>
                    </a:solidFill>
                  </a:tcPr>
                </a:tc>
              </a:tr>
              <a:tr h="313944">
                <a:tc>
                  <a:txBody>
                    <a:bodyPr wrap="square"/>
                    <a:lstStyle/>
                    <a:p>
                      <a:pPr algn="ctr">
                        <a:spcAft>
                          <a:spcPts val="200"/>
                        </a:spcAft>
                      </a:pPr>
                      <a:r>
                        <a:rPr sz="1200">
                          <a:solidFill>
                            <a:srgbClr val="0F1B2D"/>
                          </a:solidFill>
                          <a:latin typeface="Calibri"/>
                        </a:rPr>
                        <a:t>2</a:t>
                      </a:r>
                    </a:p>
                  </a:txBody>
                  <a:tcPr marL="82296" marR="82296" marT="36576" marB="36576" anchor="ctr">
                    <a:solidFill>
                      <a:srgbClr val="F4F7FB"/>
                    </a:solidFill>
                  </a:tcPr>
                </a:tc>
                <a:tc>
                  <a:txBody>
                    <a:bodyPr wrap="square"/>
                    <a:lstStyle/>
                    <a:p>
                      <a:pPr algn="l">
                        <a:spcAft>
                          <a:spcPts val="200"/>
                        </a:spcAft>
                      </a:pPr>
                      <a:r>
                        <a:rPr sz="1200">
                          <a:solidFill>
                            <a:srgbClr val="0F1B2D"/>
                          </a:solidFill>
                          <a:latin typeface="Calibri"/>
                        </a:rPr>
                        <a:t>Simulatie nieuwbouw: CCU-data exclusief de eerste 2 uur van CCU-patiënten die naar de SEH gaan.</a:t>
                      </a:r>
                    </a:p>
                  </a:txBody>
                  <a:tcPr marL="82296" marR="82296" marT="36576" marB="36576" anchor="ctr">
                    <a:solidFill>
                      <a:srgbClr val="F4F7FB"/>
                    </a:solidFill>
                  </a:tcPr>
                </a:tc>
              </a:tr>
              <a:tr h="313944">
                <a:tc>
                  <a:txBody>
                    <a:bodyPr wrap="square"/>
                    <a:lstStyle/>
                    <a:p>
                      <a:pPr algn="ctr">
                        <a:spcAft>
                          <a:spcPts val="200"/>
                        </a:spcAft>
                      </a:pPr>
                      <a:r>
                        <a:rPr sz="1200">
                          <a:solidFill>
                            <a:srgbClr val="0F1B2D"/>
                          </a:solidFill>
                          <a:latin typeface="Calibri"/>
                        </a:rPr>
                        <a:t>3</a:t>
                      </a:r>
                    </a:p>
                  </a:txBody>
                  <a:tcPr marL="82296" marR="82296" marT="36576" marB="36576" anchor="ctr">
                    <a:solidFill>
                      <a:srgbClr val="FFFFFF"/>
                    </a:solidFill>
                  </a:tcPr>
                </a:tc>
                <a:tc>
                  <a:txBody>
                    <a:bodyPr wrap="square"/>
                    <a:lstStyle/>
                    <a:p>
                      <a:pPr algn="l">
                        <a:spcAft>
                          <a:spcPts val="200"/>
                        </a:spcAft>
                      </a:pPr>
                      <a:r>
                        <a:rPr sz="1200">
                          <a:solidFill>
                            <a:srgbClr val="0F1B2D"/>
                          </a:solidFill>
                          <a:latin typeface="Calibri"/>
                        </a:rPr>
                        <a:t>Op hoeveel bedden komen we op dagniveau uit, en zijn er seizoenspatronen? Hoe is de verdeling ICU/CCU voor het personeel?</a:t>
                      </a:r>
                    </a:p>
                  </a:txBody>
                  <a:tcPr marL="82296" marR="82296" marT="36576" marB="36576" anchor="ctr">
                    <a:solidFill>
                      <a:srgbClr val="FFFFFF"/>
                    </a:solidFill>
                  </a:tcPr>
                </a:tc>
              </a:tr>
              <a:tr h="313944">
                <a:tc>
                  <a:txBody>
                    <a:bodyPr wrap="square"/>
                    <a:lstStyle/>
                    <a:p>
                      <a:pPr algn="ctr">
                        <a:spcAft>
                          <a:spcPts val="200"/>
                        </a:spcAft>
                      </a:pPr>
                      <a:r>
                        <a:rPr sz="1200">
                          <a:solidFill>
                            <a:srgbClr val="0F1B2D"/>
                          </a:solidFill>
                          <a:latin typeface="Calibri"/>
                        </a:rPr>
                        <a:t>4</a:t>
                      </a:r>
                    </a:p>
                  </a:txBody>
                  <a:tcPr marL="82296" marR="82296" marT="36576" marB="36576" anchor="ctr">
                    <a:solidFill>
                      <a:srgbClr val="F4F7FB"/>
                    </a:solidFill>
                  </a:tcPr>
                </a:tc>
                <a:tc>
                  <a:txBody>
                    <a:bodyPr wrap="square"/>
                    <a:lstStyle/>
                    <a:p>
                      <a:pPr algn="l">
                        <a:spcAft>
                          <a:spcPts val="200"/>
                        </a:spcAft>
                      </a:pPr>
                      <a:r>
                        <a:rPr sz="1200">
                          <a:solidFill>
                            <a:srgbClr val="0F1B2D"/>
                          </a:solidFill>
                          <a:latin typeface="Calibri"/>
                        </a:rPr>
                        <a:t>Versneld jaarplan CCU, en het document van Daniek: huidig, transitie, nieuwbouw.</a:t>
                      </a:r>
                    </a:p>
                  </a:txBody>
                  <a:tcPr marL="82296" marR="82296" marT="36576" marB="36576" anchor="ctr">
                    <a:solidFill>
                      <a:srgbClr val="F4F7FB"/>
                    </a:solidFill>
                  </a:tcPr>
                </a:tc>
              </a:tr>
              <a:tr h="499871">
                <a:tc>
                  <a:txBody>
                    <a:bodyPr wrap="square"/>
                    <a:lstStyle/>
                    <a:p>
                      <a:pPr algn="ctr">
                        <a:spcAft>
                          <a:spcPts val="200"/>
                        </a:spcAft>
                      </a:pPr>
                      <a:r>
                        <a:rPr sz="1200">
                          <a:solidFill>
                            <a:srgbClr val="0F1B2D"/>
                          </a:solidFill>
                          <a:latin typeface="Calibri"/>
                        </a:rPr>
                        <a:t>5</a:t>
                      </a:r>
                    </a:p>
                  </a:txBody>
                  <a:tcPr marL="82296" marR="82296" marT="36576" marB="36576" anchor="ctr">
                    <a:solidFill>
                      <a:srgbClr val="FFFFFF"/>
                    </a:solidFill>
                  </a:tcPr>
                </a:tc>
                <a:tc>
                  <a:txBody>
                    <a:bodyPr wrap="square"/>
                    <a:lstStyle/>
                    <a:p>
                      <a:pPr algn="l">
                        <a:spcAft>
                          <a:spcPts val="200"/>
                        </a:spcAft>
                      </a:pPr>
                      <a:r>
                        <a:rPr sz="1200">
                          <a:solidFill>
                            <a:srgbClr val="0F1B2D"/>
                          </a:solidFill>
                          <a:latin typeface="Calibri"/>
                        </a:rPr>
                        <a:t>Aftrap jaarplannen Acuut 2027: we kijken nu naar de verpleegkundige inzet; voor de SEH-artsen is eerder al iets gedaan. Wat is de wens en de verwachting?</a:t>
                      </a:r>
                    </a:p>
                  </a:txBody>
                  <a:tcPr marL="82296" marR="82296" marT="36576" marB="36576" anchor="ctr">
                    <a:solidFill>
                      <a:srgbClr val="FFFFFF"/>
                    </a:solidFill>
                  </a:tcPr>
                </a:tc>
              </a:tr>
              <a:tr h="499871">
                <a:tc>
                  <a:txBody>
                    <a:bodyPr wrap="square"/>
                    <a:lstStyle/>
                    <a:p>
                      <a:pPr algn="ctr">
                        <a:spcAft>
                          <a:spcPts val="200"/>
                        </a:spcAft>
                      </a:pPr>
                      <a:r>
                        <a:rPr sz="1200">
                          <a:solidFill>
                            <a:srgbClr val="0F1B2D"/>
                          </a:solidFill>
                          <a:latin typeface="Calibri"/>
                        </a:rPr>
                        <a:t>6</a:t>
                      </a:r>
                    </a:p>
                  </a:txBody>
                  <a:tcPr marL="82296" marR="82296" marT="36576" marB="36576" anchor="ctr">
                    <a:solidFill>
                      <a:srgbClr val="F4F7FB"/>
                    </a:solidFill>
                  </a:tcPr>
                </a:tc>
                <a:tc>
                  <a:txBody>
                    <a:bodyPr wrap="square"/>
                    <a:lstStyle/>
                    <a:p>
                      <a:pPr algn="l">
                        <a:spcAft>
                          <a:spcPts val="200"/>
                        </a:spcAft>
                      </a:pPr>
                      <a:r>
                        <a:rPr sz="1200">
                          <a:solidFill>
                            <a:srgbClr val="0F1B2D"/>
                          </a:solidFill>
                          <a:latin typeface="Calibri"/>
                        </a:rPr>
                        <a:t>Inzet op integratie van afdelingen per nu: ICU en CCU, waarbij de SEH nog even buiten beschouwing blijft. Er is nog geen inzet van de ICU op de CCU; andersom gebeurt dat wel, maar alleen ad hoc.</a:t>
                      </a:r>
                    </a:p>
                  </a:txBody>
                  <a:tcPr marL="82296" marR="82296" marT="36576" marB="36576" anchor="ctr">
                    <a:solidFill>
                      <a:srgbClr val="F4F7FB"/>
                    </a:solidFill>
                  </a:tcPr>
                </a:tc>
              </a:tr>
              <a:tr h="313944">
                <a:tc>
                  <a:txBody>
                    <a:bodyPr wrap="square"/>
                    <a:lstStyle/>
                    <a:p>
                      <a:pPr algn="ctr">
                        <a:spcAft>
                          <a:spcPts val="200"/>
                        </a:spcAft>
                      </a:pPr>
                      <a:r>
                        <a:rPr sz="1200">
                          <a:solidFill>
                            <a:srgbClr val="0F1B2D"/>
                          </a:solidFill>
                          <a:latin typeface="Calibri"/>
                        </a:rPr>
                        <a:t>7</a:t>
                      </a:r>
                    </a:p>
                  </a:txBody>
                  <a:tcPr marL="82296" marR="82296" marT="36576" marB="36576" anchor="ctr">
                    <a:solidFill>
                      <a:srgbClr val="FFFFFF"/>
                    </a:solidFill>
                  </a:tcPr>
                </a:tc>
                <a:tc>
                  <a:txBody>
                    <a:bodyPr wrap="square"/>
                    <a:lstStyle/>
                    <a:p>
                      <a:pPr algn="l">
                        <a:spcAft>
                          <a:spcPts val="200"/>
                        </a:spcAft>
                      </a:pPr>
                      <a:r>
                        <a:rPr sz="1200">
                          <a:solidFill>
                            <a:srgbClr val="0F1B2D"/>
                          </a:solidFill>
                          <a:latin typeface="Calibri"/>
                        </a:rPr>
                        <a:t>Naar Remco: hoort de EHH bij het personeel van de ICU/CCU of bij de SEH?</a:t>
                      </a:r>
                    </a:p>
                  </a:txBody>
                  <a:tcPr marL="82296" marR="82296" marT="36576" marB="36576" anchor="ctr">
                    <a:solidFill>
                      <a:srgbClr val="FFFFFF"/>
                    </a:solidFill>
                  </a:tcPr>
                </a:tc>
              </a:tr>
              <a:tr h="313944">
                <a:tc>
                  <a:txBody>
                    <a:bodyPr wrap="square"/>
                    <a:lstStyle/>
                    <a:p>
                      <a:pPr algn="ctr">
                        <a:spcAft>
                          <a:spcPts val="200"/>
                        </a:spcAft>
                      </a:pPr>
                      <a:r>
                        <a:rPr sz="1200">
                          <a:solidFill>
                            <a:srgbClr val="0F1B2D"/>
                          </a:solidFill>
                          <a:latin typeface="Calibri"/>
                        </a:rPr>
                        <a:t>8</a:t>
                      </a:r>
                    </a:p>
                  </a:txBody>
                  <a:tcPr marL="82296" marR="82296" marT="36576" marB="36576" anchor="ctr">
                    <a:solidFill>
                      <a:srgbClr val="F4F7FB"/>
                    </a:solidFill>
                  </a:tcPr>
                </a:tc>
                <a:tc>
                  <a:txBody>
                    <a:bodyPr wrap="square"/>
                    <a:lstStyle/>
                    <a:p>
                      <a:pPr algn="l">
                        <a:spcAft>
                          <a:spcPts val="200"/>
                        </a:spcAft>
                      </a:pPr>
                      <a:r>
                        <a:rPr sz="1200">
                          <a:solidFill>
                            <a:srgbClr val="0F1B2D"/>
                          </a:solidFill>
                          <a:latin typeface="Calibri"/>
                        </a:rPr>
                        <a:t>Naar Remco: waar is de opvang van de acute cardiologiepatiënt, op de SEH of op de EHH?</a:t>
                      </a:r>
                    </a:p>
                  </a:txBody>
                  <a:tcPr marL="82296" marR="82296" marT="36576" marB="36576" anchor="ctr">
                    <a:solidFill>
                      <a:srgbClr val="F4F7FB"/>
                    </a:solidFill>
                  </a:tcPr>
                </a:tc>
              </a:tr>
              <a:tr h="313944">
                <a:tc>
                  <a:txBody>
                    <a:bodyPr wrap="square"/>
                    <a:lstStyle/>
                    <a:p>
                      <a:pPr algn="ctr">
                        <a:spcAft>
                          <a:spcPts val="200"/>
                        </a:spcAft>
                      </a:pPr>
                      <a:r>
                        <a:rPr sz="1200">
                          <a:solidFill>
                            <a:srgbClr val="0F1B2D"/>
                          </a:solidFill>
                          <a:latin typeface="Calibri"/>
                        </a:rPr>
                        <a:t>9</a:t>
                      </a:r>
                    </a:p>
                  </a:txBody>
                  <a:tcPr marL="82296" marR="82296" marT="36576" marB="36576" anchor="ctr">
                    <a:solidFill>
                      <a:srgbClr val="FFFFFF"/>
                    </a:solidFill>
                  </a:tcPr>
                </a:tc>
                <a:tc>
                  <a:txBody>
                    <a:bodyPr wrap="square"/>
                    <a:lstStyle/>
                    <a:p>
                      <a:pPr algn="l">
                        <a:spcAft>
                          <a:spcPts val="200"/>
                        </a:spcAft>
                      </a:pPr>
                      <a:r>
                        <a:rPr sz="1200">
                          <a:solidFill>
                            <a:srgbClr val="0F1B2D"/>
                          </a:solidFill>
                          <a:latin typeface="Calibri"/>
                        </a:rPr>
                        <a:t>Naar Remco: hoe lang blijft een patiënt op de SEH voordat die naar de EHH gaat?</a:t>
                      </a:r>
                    </a:p>
                  </a:txBody>
                  <a:tcPr marL="82296" marR="82296" marT="36576" marB="36576" anchor="ctr">
                    <a:solidFill>
                      <a:srgbClr val="FFFFFF"/>
                    </a:solidFill>
                  </a:tcPr>
                </a:tc>
              </a:tr>
              <a:tr h="313944">
                <a:tc>
                  <a:txBody>
                    <a:bodyPr wrap="square"/>
                    <a:lstStyle/>
                    <a:p>
                      <a:pPr algn="ctr">
                        <a:spcAft>
                          <a:spcPts val="200"/>
                        </a:spcAft>
                      </a:pPr>
                      <a:r>
                        <a:rPr sz="1200">
                          <a:solidFill>
                            <a:srgbClr val="0F1B2D"/>
                          </a:solidFill>
                          <a:latin typeface="Calibri"/>
                        </a:rPr>
                        <a:t>10</a:t>
                      </a:r>
                    </a:p>
                  </a:txBody>
                  <a:tcPr marL="82296" marR="82296" marT="36576" marB="36576" anchor="ctr">
                    <a:solidFill>
                      <a:srgbClr val="F4F7FB"/>
                    </a:solidFill>
                  </a:tcPr>
                </a:tc>
                <a:tc>
                  <a:txBody>
                    <a:bodyPr wrap="square"/>
                    <a:lstStyle/>
                    <a:p>
                      <a:pPr algn="l">
                        <a:spcAft>
                          <a:spcPts val="200"/>
                        </a:spcAft>
                      </a:pPr>
                      <a:r>
                        <a:rPr sz="1200">
                          <a:solidFill>
                            <a:srgbClr val="0F1B2D"/>
                          </a:solidFill>
                          <a:latin typeface="Calibri"/>
                        </a:rPr>
                        <a:t>Masterplan Acuut: wat ontbreekt er nog voor de transitie? Voorstel: een jaarplan opstellen en dat naast het huidige plan leggen.</a:t>
                      </a:r>
                    </a:p>
                  </a:txBody>
                  <a:tcPr marL="82296" marR="82296" marT="36576" marB="36576" anchor="ctr">
                    <a:solidFill>
                      <a:srgbClr val="F4F7FB"/>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502920" y="429768"/>
            <a:ext cx="457200" cy="457200"/>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600" b="1">
                <a:solidFill>
                  <a:srgbClr val="FFFFFF"/>
                </a:solidFill>
                <a:latin typeface="Calibri"/>
              </a:rPr>
              <a:t>22</a:t>
            </a:r>
          </a:p>
        </p:txBody>
      </p:sp>
      <p:sp>
        <p:nvSpPr>
          <p:cNvPr id="4" name="TextBox 3"/>
          <p:cNvSpPr txBox="1"/>
          <p:nvPr/>
        </p:nvSpPr>
        <p:spPr>
          <a:xfrm>
            <a:off x="1106424" y="365760"/>
            <a:ext cx="10582351" cy="402336"/>
          </a:xfrm>
          <a:prstGeom prst="rect">
            <a:avLst/>
          </a:prstGeom>
          <a:noFill/>
        </p:spPr>
        <p:txBody>
          <a:bodyPr wrap="square" lIns="0" rIns="0" tIns="18288" bIns="18288" anchor="ctr">
            <a:spAutoFit/>
          </a:bodyPr>
          <a:lstStyle/>
          <a:p>
            <a:pPr algn="l">
              <a:lnSpc>
                <a:spcPct val="120000"/>
              </a:lnSpc>
              <a:spcAft>
                <a:spcPts val="0"/>
              </a:spcAft>
            </a:pPr>
            <a:r>
              <a:rPr sz="2250" b="1" i="0">
                <a:solidFill>
                  <a:srgbClr val="0F1B2D"/>
                </a:solidFill>
                <a:latin typeface="Calibri"/>
              </a:rPr>
              <a:t>Wat moet er besloten worden</a:t>
            </a:r>
          </a:p>
        </p:txBody>
      </p:sp>
      <p:sp>
        <p:nvSpPr>
          <p:cNvPr id="5" name="TextBox 4"/>
          <p:cNvSpPr txBox="1"/>
          <p:nvPr/>
        </p:nvSpPr>
        <p:spPr>
          <a:xfrm>
            <a:off x="1106424" y="822960"/>
            <a:ext cx="10582351" cy="329184"/>
          </a:xfrm>
          <a:prstGeom prst="rect">
            <a:avLst/>
          </a:prstGeom>
          <a:noFill/>
        </p:spPr>
        <p:txBody>
          <a:bodyPr wrap="square" lIns="0" rIns="0" tIns="18288" bIns="18288" anchor="ctr">
            <a:spAutoFit/>
          </a:bodyPr>
          <a:lstStyle/>
          <a:p>
            <a:pPr algn="l">
              <a:lnSpc>
                <a:spcPct val="120000"/>
              </a:lnSpc>
              <a:spcAft>
                <a:spcPts val="0"/>
              </a:spcAft>
            </a:pPr>
            <a:r>
              <a:rPr sz="1350" b="0" i="0">
                <a:solidFill>
                  <a:srgbClr val="64748B"/>
                </a:solidFill>
                <a:latin typeface="Calibri"/>
              </a:rPr>
              <a:t>Zes beslissingen waar de rest van het traject op wacht</a:t>
            </a:r>
          </a:p>
        </p:txBody>
      </p:sp>
      <p:sp>
        <p:nvSpPr>
          <p:cNvPr id="6" name="TextBox 5"/>
          <p:cNvSpPr txBox="1"/>
          <p:nvPr/>
        </p:nvSpPr>
        <p:spPr>
          <a:xfrm>
            <a:off x="502920" y="6419088"/>
            <a:ext cx="5486400" cy="274320"/>
          </a:xfrm>
          <a:prstGeom prst="rect">
            <a:avLst/>
          </a:prstGeom>
          <a:noFill/>
        </p:spPr>
        <p:txBody>
          <a:bodyPr wrap="square" lIns="0" rIns="0" tIns="18288" bIns="18288" anchor="t">
            <a:spAutoFit/>
          </a:bodyPr>
          <a:lstStyle/>
          <a:p>
            <a:pPr algn="l">
              <a:lnSpc>
                <a:spcPct val="120000"/>
              </a:lnSpc>
              <a:spcAft>
                <a:spcPts val="0"/>
              </a:spcAft>
            </a:pPr>
            <a:r>
              <a:rPr sz="900" b="0" i="0">
                <a:solidFill>
                  <a:srgbClr val="64748B"/>
                </a:solidFill>
                <a:latin typeface="Calibri"/>
              </a:rPr>
              <a:t>Acute poort en Hotfloor</a:t>
            </a:r>
          </a:p>
        </p:txBody>
      </p:sp>
      <p:sp>
        <p:nvSpPr>
          <p:cNvPr id="7" name="TextBox 6"/>
          <p:cNvSpPr txBox="1"/>
          <p:nvPr/>
        </p:nvSpPr>
        <p:spPr>
          <a:xfrm>
            <a:off x="10591495" y="6419088"/>
            <a:ext cx="1097280" cy="274320"/>
          </a:xfrm>
          <a:prstGeom prst="rect">
            <a:avLst/>
          </a:prstGeom>
          <a:noFill/>
        </p:spPr>
        <p:txBody>
          <a:bodyPr wrap="square" lIns="0" rIns="0" tIns="18288" bIns="18288" anchor="t">
            <a:spAutoFit/>
          </a:bodyPr>
          <a:lstStyle/>
          <a:p>
            <a:pPr algn="r">
              <a:lnSpc>
                <a:spcPct val="120000"/>
              </a:lnSpc>
              <a:spcAft>
                <a:spcPts val="0"/>
              </a:spcAft>
            </a:pPr>
            <a:r>
              <a:rPr sz="900" b="0" i="0">
                <a:solidFill>
                  <a:srgbClr val="64748B"/>
                </a:solidFill>
                <a:latin typeface="Calibri"/>
              </a:rPr>
              <a:t>22</a:t>
            </a:r>
          </a:p>
        </p:txBody>
      </p:sp>
      <p:sp>
        <p:nvSpPr>
          <p:cNvPr id="8" name="Rounded Rectangle 7"/>
          <p:cNvSpPr/>
          <p:nvPr/>
        </p:nvSpPr>
        <p:spPr>
          <a:xfrm>
            <a:off x="502920" y="1499616"/>
            <a:ext cx="11185855" cy="603504"/>
          </a:xfrm>
          <a:prstGeom prst="roundRect">
            <a:avLst>
              <a:gd name="adj" fmla="val 5500"/>
            </a:avLst>
          </a:prstGeom>
          <a:solidFill>
            <a:srgbClr val="FBF1F0"/>
          </a:solidFill>
          <a:ln w="12700">
            <a:solidFill>
              <a:srgbClr val="ED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58368" y="1591056"/>
            <a:ext cx="420624" cy="420624"/>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FFFFFF"/>
                </a:solidFill>
                <a:latin typeface="Calibri"/>
              </a:rPr>
              <a:t>1</a:t>
            </a:r>
          </a:p>
        </p:txBody>
      </p:sp>
      <p:sp>
        <p:nvSpPr>
          <p:cNvPr id="10" name="TextBox 9"/>
          <p:cNvSpPr txBox="1"/>
          <p:nvPr/>
        </p:nvSpPr>
        <p:spPr>
          <a:xfrm>
            <a:off x="1179576" y="1536192"/>
            <a:ext cx="6675120" cy="530352"/>
          </a:xfrm>
          <a:prstGeom prst="rect">
            <a:avLst/>
          </a:prstGeom>
          <a:noFill/>
        </p:spPr>
        <p:txBody>
          <a:bodyPr wrap="square" lIns="54864" rIns="54864" tIns="18288" bIns="18288" anchor="ctr">
            <a:spAutoFit/>
          </a:bodyPr>
          <a:lstStyle/>
          <a:p>
            <a:pPr algn="l">
              <a:lnSpc>
                <a:spcPct val="120000"/>
              </a:lnSpc>
              <a:spcAft>
                <a:spcPts val="100"/>
              </a:spcAft>
            </a:pPr>
            <a:r>
              <a:rPr sz="1350" b="1" i="0">
                <a:solidFill>
                  <a:srgbClr val="0F1B2D"/>
                </a:solidFill>
                <a:latin typeface="Calibri"/>
              </a:rPr>
              <a:t>Waar valt de EHH onder: acute poort of Hotfloor?</a:t>
            </a:r>
          </a:p>
          <a:p>
            <a:pPr algn="l">
              <a:lnSpc>
                <a:spcPct val="120000"/>
              </a:lnSpc>
              <a:spcAft>
                <a:spcPts val="0"/>
              </a:spcAft>
            </a:pPr>
            <a:r>
              <a:rPr sz="1050" b="0" i="0">
                <a:solidFill>
                  <a:srgbClr val="64748B"/>
                </a:solidFill>
                <a:latin typeface="Calibri"/>
              </a:rPr>
              <a:t>blokkeert beide analyses en de personele inzet</a:t>
            </a:r>
          </a:p>
        </p:txBody>
      </p:sp>
      <p:sp>
        <p:nvSpPr>
          <p:cNvPr id="11" name="Rounded Rectangle 10"/>
          <p:cNvSpPr/>
          <p:nvPr/>
        </p:nvSpPr>
        <p:spPr>
          <a:xfrm>
            <a:off x="8092440" y="1645920"/>
            <a:ext cx="1280160" cy="310896"/>
          </a:xfrm>
          <a:prstGeom prst="roundRect">
            <a:avLst>
              <a:gd name="adj" fmla="val 50000"/>
            </a:avLst>
          </a:prstGeom>
          <a:solidFill>
            <a:srgbClr val="F6DFDD"/>
          </a:solidFill>
          <a:ln w="12700">
            <a:solidFill>
              <a:srgbClr val="E29C9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C4392D"/>
                </a:solidFill>
                <a:latin typeface="Calibri"/>
              </a:rPr>
              <a:t>blokkerend</a:t>
            </a:r>
          </a:p>
        </p:txBody>
      </p:sp>
      <p:sp>
        <p:nvSpPr>
          <p:cNvPr id="12" name="TextBox 11"/>
          <p:cNvSpPr txBox="1"/>
          <p:nvPr/>
        </p:nvSpPr>
        <p:spPr>
          <a:xfrm>
            <a:off x="9555480" y="1536192"/>
            <a:ext cx="2133295" cy="530352"/>
          </a:xfrm>
          <a:prstGeom prst="rect">
            <a:avLst/>
          </a:prstGeom>
          <a:noFill/>
        </p:spPr>
        <p:txBody>
          <a:bodyPr wrap="square" lIns="54864" rIns="54864" tIns="18288" bIns="18288" anchor="ctr">
            <a:spAutoFit/>
          </a:bodyPr>
          <a:lstStyle/>
          <a:p>
            <a:pPr algn="r">
              <a:lnSpc>
                <a:spcPct val="120000"/>
              </a:lnSpc>
              <a:spcAft>
                <a:spcPts val="0"/>
              </a:spcAft>
            </a:pPr>
            <a:r>
              <a:rPr sz="1050" b="0" i="0">
                <a:solidFill>
                  <a:srgbClr val="64748B"/>
                </a:solidFill>
                <a:latin typeface="Calibri"/>
              </a:rPr>
              <a:t>dia 14</a:t>
            </a:r>
          </a:p>
        </p:txBody>
      </p:sp>
      <p:sp>
        <p:nvSpPr>
          <p:cNvPr id="13" name="Rounded Rectangle 12"/>
          <p:cNvSpPr/>
          <p:nvPr/>
        </p:nvSpPr>
        <p:spPr>
          <a:xfrm>
            <a:off x="502920" y="2212848"/>
            <a:ext cx="11185855" cy="603504"/>
          </a:xfrm>
          <a:prstGeom prst="roundRect">
            <a:avLst>
              <a:gd name="adj" fmla="val 5500"/>
            </a:avLst>
          </a:prstGeom>
          <a:solidFill>
            <a:srgbClr val="FBF1F0"/>
          </a:solidFill>
          <a:ln w="12700">
            <a:solidFill>
              <a:srgbClr val="ED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658368" y="2304288"/>
            <a:ext cx="420624" cy="420624"/>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FFFFFF"/>
                </a:solidFill>
                <a:latin typeface="Calibri"/>
              </a:rPr>
              <a:t>2</a:t>
            </a:r>
          </a:p>
        </p:txBody>
      </p:sp>
      <p:sp>
        <p:nvSpPr>
          <p:cNvPr id="15" name="TextBox 14"/>
          <p:cNvSpPr txBox="1"/>
          <p:nvPr/>
        </p:nvSpPr>
        <p:spPr>
          <a:xfrm>
            <a:off x="1179576" y="2249424"/>
            <a:ext cx="6675120" cy="530352"/>
          </a:xfrm>
          <a:prstGeom prst="rect">
            <a:avLst/>
          </a:prstGeom>
          <a:noFill/>
        </p:spPr>
        <p:txBody>
          <a:bodyPr wrap="square" lIns="54864" rIns="54864" tIns="18288" bIns="18288" anchor="ctr">
            <a:spAutoFit/>
          </a:bodyPr>
          <a:lstStyle/>
          <a:p>
            <a:pPr algn="l">
              <a:lnSpc>
                <a:spcPct val="120000"/>
              </a:lnSpc>
              <a:spcAft>
                <a:spcPts val="100"/>
              </a:spcAft>
            </a:pPr>
            <a:r>
              <a:rPr sz="1350" b="1" i="0">
                <a:solidFill>
                  <a:srgbClr val="0F1B2D"/>
                </a:solidFill>
                <a:latin typeface="Calibri"/>
              </a:rPr>
              <a:t>Hoeveel plekken krijgt de acute poort?</a:t>
            </a:r>
          </a:p>
          <a:p>
            <a:pPr algn="l">
              <a:lnSpc>
                <a:spcPct val="120000"/>
              </a:lnSpc>
              <a:spcAft>
                <a:spcPts val="0"/>
              </a:spcAft>
            </a:pPr>
            <a:r>
              <a:rPr sz="1050" b="0" i="0">
                <a:solidFill>
                  <a:srgbClr val="64748B"/>
                </a:solidFill>
                <a:latin typeface="Calibri"/>
              </a:rPr>
              <a:t>de analyse zegt nu: drie stromen passen niet achter een poort</a:t>
            </a:r>
          </a:p>
        </p:txBody>
      </p:sp>
      <p:sp>
        <p:nvSpPr>
          <p:cNvPr id="16" name="Rounded Rectangle 15"/>
          <p:cNvSpPr/>
          <p:nvPr/>
        </p:nvSpPr>
        <p:spPr>
          <a:xfrm>
            <a:off x="8092440" y="2359152"/>
            <a:ext cx="1280160" cy="310896"/>
          </a:xfrm>
          <a:prstGeom prst="roundRect">
            <a:avLst>
              <a:gd name="adj" fmla="val 50000"/>
            </a:avLst>
          </a:prstGeom>
          <a:solidFill>
            <a:srgbClr val="F6DFDD"/>
          </a:solidFill>
          <a:ln w="12700">
            <a:solidFill>
              <a:srgbClr val="E29C9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C4392D"/>
                </a:solidFill>
                <a:latin typeface="Calibri"/>
              </a:rPr>
              <a:t>blokkerend</a:t>
            </a:r>
          </a:p>
        </p:txBody>
      </p:sp>
      <p:sp>
        <p:nvSpPr>
          <p:cNvPr id="17" name="TextBox 16"/>
          <p:cNvSpPr txBox="1"/>
          <p:nvPr/>
        </p:nvSpPr>
        <p:spPr>
          <a:xfrm>
            <a:off x="9555480" y="2249424"/>
            <a:ext cx="2133295" cy="530352"/>
          </a:xfrm>
          <a:prstGeom prst="rect">
            <a:avLst/>
          </a:prstGeom>
          <a:noFill/>
        </p:spPr>
        <p:txBody>
          <a:bodyPr wrap="square" lIns="54864" rIns="54864" tIns="18288" bIns="18288" anchor="ctr">
            <a:spAutoFit/>
          </a:bodyPr>
          <a:lstStyle/>
          <a:p>
            <a:pPr algn="r">
              <a:lnSpc>
                <a:spcPct val="120000"/>
              </a:lnSpc>
              <a:spcAft>
                <a:spcPts val="0"/>
              </a:spcAft>
            </a:pPr>
            <a:r>
              <a:rPr sz="1050" b="0" i="0">
                <a:solidFill>
                  <a:srgbClr val="64748B"/>
                </a:solidFill>
                <a:latin typeface="Calibri"/>
              </a:rPr>
              <a:t>dia 12</a:t>
            </a:r>
          </a:p>
        </p:txBody>
      </p:sp>
      <p:sp>
        <p:nvSpPr>
          <p:cNvPr id="18" name="Rounded Rectangle 17"/>
          <p:cNvSpPr/>
          <p:nvPr/>
        </p:nvSpPr>
        <p:spPr>
          <a:xfrm>
            <a:off x="502920" y="2926080"/>
            <a:ext cx="11185855" cy="603504"/>
          </a:xfrm>
          <a:prstGeom prst="roundRect">
            <a:avLst>
              <a:gd name="adj" fmla="val 5500"/>
            </a:avLst>
          </a:prstGeom>
          <a:solidFill>
            <a:srgbClr val="FBF1F0"/>
          </a:solidFill>
          <a:ln w="12700">
            <a:solidFill>
              <a:srgbClr val="ED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58368" y="3017520"/>
            <a:ext cx="420624" cy="420624"/>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FFFFFF"/>
                </a:solidFill>
                <a:latin typeface="Calibri"/>
              </a:rPr>
              <a:t>3</a:t>
            </a:r>
          </a:p>
        </p:txBody>
      </p:sp>
      <p:sp>
        <p:nvSpPr>
          <p:cNvPr id="20" name="TextBox 19"/>
          <p:cNvSpPr txBox="1"/>
          <p:nvPr/>
        </p:nvSpPr>
        <p:spPr>
          <a:xfrm>
            <a:off x="1179576" y="2962656"/>
            <a:ext cx="6675120" cy="530352"/>
          </a:xfrm>
          <a:prstGeom prst="rect">
            <a:avLst/>
          </a:prstGeom>
          <a:noFill/>
        </p:spPr>
        <p:txBody>
          <a:bodyPr wrap="square" lIns="54864" rIns="54864" tIns="18288" bIns="18288" anchor="ctr">
            <a:spAutoFit/>
          </a:bodyPr>
          <a:lstStyle/>
          <a:p>
            <a:pPr algn="l">
              <a:lnSpc>
                <a:spcPct val="120000"/>
              </a:lnSpc>
              <a:spcAft>
                <a:spcPts val="100"/>
              </a:spcAft>
            </a:pPr>
            <a:r>
              <a:rPr sz="1350" b="1" i="0">
                <a:solidFill>
                  <a:srgbClr val="0F1B2D"/>
                </a:solidFill>
                <a:latin typeface="Calibri"/>
              </a:rPr>
              <a:t>Wie stelt de norm verpleegkundigen vast?</a:t>
            </a:r>
          </a:p>
          <a:p>
            <a:pPr algn="l">
              <a:lnSpc>
                <a:spcPct val="120000"/>
              </a:lnSpc>
              <a:spcAft>
                <a:spcPts val="0"/>
              </a:spcAft>
            </a:pPr>
            <a:r>
              <a:rPr sz="1050" b="0" i="0">
                <a:solidFill>
                  <a:srgbClr val="64748B"/>
                </a:solidFill>
                <a:latin typeface="Calibri"/>
              </a:rPr>
              <a:t>geen enkele afdeling heeft een vastgestelde norm</a:t>
            </a:r>
          </a:p>
        </p:txBody>
      </p:sp>
      <p:sp>
        <p:nvSpPr>
          <p:cNvPr id="21" name="Rounded Rectangle 20"/>
          <p:cNvSpPr/>
          <p:nvPr/>
        </p:nvSpPr>
        <p:spPr>
          <a:xfrm>
            <a:off x="8092440" y="3072384"/>
            <a:ext cx="1280160" cy="310896"/>
          </a:xfrm>
          <a:prstGeom prst="roundRect">
            <a:avLst>
              <a:gd name="adj" fmla="val 50000"/>
            </a:avLst>
          </a:prstGeom>
          <a:solidFill>
            <a:srgbClr val="F6DFDD"/>
          </a:solidFill>
          <a:ln w="12700">
            <a:solidFill>
              <a:srgbClr val="E29C9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C4392D"/>
                </a:solidFill>
                <a:latin typeface="Calibri"/>
              </a:rPr>
              <a:t>blokkerend</a:t>
            </a:r>
          </a:p>
        </p:txBody>
      </p:sp>
      <p:sp>
        <p:nvSpPr>
          <p:cNvPr id="22" name="TextBox 21"/>
          <p:cNvSpPr txBox="1"/>
          <p:nvPr/>
        </p:nvSpPr>
        <p:spPr>
          <a:xfrm>
            <a:off x="9555480" y="2962656"/>
            <a:ext cx="2133295" cy="530352"/>
          </a:xfrm>
          <a:prstGeom prst="rect">
            <a:avLst/>
          </a:prstGeom>
          <a:noFill/>
        </p:spPr>
        <p:txBody>
          <a:bodyPr wrap="square" lIns="54864" rIns="54864" tIns="18288" bIns="18288" anchor="ctr">
            <a:spAutoFit/>
          </a:bodyPr>
          <a:lstStyle/>
          <a:p>
            <a:pPr algn="r">
              <a:lnSpc>
                <a:spcPct val="120000"/>
              </a:lnSpc>
              <a:spcAft>
                <a:spcPts val="0"/>
              </a:spcAft>
            </a:pPr>
            <a:r>
              <a:rPr sz="1050" b="0" i="0">
                <a:solidFill>
                  <a:srgbClr val="64748B"/>
                </a:solidFill>
                <a:latin typeface="Calibri"/>
              </a:rPr>
              <a:t>dia 3 en 6</a:t>
            </a:r>
          </a:p>
        </p:txBody>
      </p:sp>
      <p:sp>
        <p:nvSpPr>
          <p:cNvPr id="23" name="Rounded Rectangle 22"/>
          <p:cNvSpPr/>
          <p:nvPr/>
        </p:nvSpPr>
        <p:spPr>
          <a:xfrm>
            <a:off x="502920" y="3639312"/>
            <a:ext cx="11185855" cy="603504"/>
          </a:xfrm>
          <a:prstGeom prst="roundRect">
            <a:avLst>
              <a:gd name="adj" fmla="val 5500"/>
            </a:avLst>
          </a:prstGeom>
          <a:solidFill>
            <a:srgbClr val="FDF7EF"/>
          </a:solidFill>
          <a:ln w="12700">
            <a:solidFill>
              <a:srgbClr val="F5DC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658368" y="3730751"/>
            <a:ext cx="420624" cy="420624"/>
          </a:xfrm>
          <a:prstGeom prst="ellipse">
            <a:avLst/>
          </a:prstGeom>
          <a:solidFill>
            <a:srgbClr val="DE8A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FFFFFF"/>
                </a:solidFill>
                <a:latin typeface="Calibri"/>
              </a:rPr>
              <a:t>4</a:t>
            </a:r>
          </a:p>
        </p:txBody>
      </p:sp>
      <p:sp>
        <p:nvSpPr>
          <p:cNvPr id="25" name="TextBox 24"/>
          <p:cNvSpPr txBox="1"/>
          <p:nvPr/>
        </p:nvSpPr>
        <p:spPr>
          <a:xfrm>
            <a:off x="1179576" y="3675887"/>
            <a:ext cx="6675120" cy="530352"/>
          </a:xfrm>
          <a:prstGeom prst="rect">
            <a:avLst/>
          </a:prstGeom>
          <a:noFill/>
        </p:spPr>
        <p:txBody>
          <a:bodyPr wrap="square" lIns="54864" rIns="54864" tIns="18288" bIns="18288" anchor="ctr">
            <a:spAutoFit/>
          </a:bodyPr>
          <a:lstStyle/>
          <a:p>
            <a:pPr algn="l">
              <a:lnSpc>
                <a:spcPct val="120000"/>
              </a:lnSpc>
              <a:spcAft>
                <a:spcPts val="100"/>
              </a:spcAft>
            </a:pPr>
            <a:r>
              <a:rPr sz="1350" b="1" i="0">
                <a:solidFill>
                  <a:srgbClr val="0F1B2D"/>
                </a:solidFill>
                <a:latin typeface="Calibri"/>
              </a:rPr>
              <a:t>Welk scenario kiezen we?</a:t>
            </a:r>
          </a:p>
          <a:p>
            <a:pPr algn="l">
              <a:lnSpc>
                <a:spcPct val="120000"/>
              </a:lnSpc>
              <a:spcAft>
                <a:spcPts val="0"/>
              </a:spcAft>
            </a:pPr>
            <a:r>
              <a:rPr sz="1050" b="0" i="0">
                <a:solidFill>
                  <a:srgbClr val="64748B"/>
                </a:solidFill>
                <a:latin typeface="Calibri"/>
              </a:rPr>
              <a:t>de keuze gebeurt op basis van BIC-data; tot die tijd staat het rooster stil</a:t>
            </a:r>
          </a:p>
        </p:txBody>
      </p:sp>
      <p:sp>
        <p:nvSpPr>
          <p:cNvPr id="26" name="Rounded Rectangle 25"/>
          <p:cNvSpPr/>
          <p:nvPr/>
        </p:nvSpPr>
        <p:spPr>
          <a:xfrm>
            <a:off x="8092440" y="3785615"/>
            <a:ext cx="1280160" cy="310896"/>
          </a:xfrm>
          <a:prstGeom prst="roundRect">
            <a:avLst>
              <a:gd name="adj" fmla="val 50000"/>
            </a:avLst>
          </a:prstGeom>
          <a:solidFill>
            <a:srgbClr val="FAECDB"/>
          </a:solidFill>
          <a:ln w="12700">
            <a:solidFill>
              <a:srgbClr val="EEC48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DE8A1B"/>
                </a:solidFill>
                <a:latin typeface="Calibri"/>
              </a:rPr>
              <a:t>urgent</a:t>
            </a:r>
          </a:p>
        </p:txBody>
      </p:sp>
      <p:sp>
        <p:nvSpPr>
          <p:cNvPr id="27" name="TextBox 26"/>
          <p:cNvSpPr txBox="1"/>
          <p:nvPr/>
        </p:nvSpPr>
        <p:spPr>
          <a:xfrm>
            <a:off x="9555480" y="3675887"/>
            <a:ext cx="2133295" cy="530352"/>
          </a:xfrm>
          <a:prstGeom prst="rect">
            <a:avLst/>
          </a:prstGeom>
          <a:noFill/>
        </p:spPr>
        <p:txBody>
          <a:bodyPr wrap="square" lIns="54864" rIns="54864" tIns="18288" bIns="18288" anchor="ctr">
            <a:spAutoFit/>
          </a:bodyPr>
          <a:lstStyle/>
          <a:p>
            <a:pPr algn="r">
              <a:lnSpc>
                <a:spcPct val="120000"/>
              </a:lnSpc>
              <a:spcAft>
                <a:spcPts val="0"/>
              </a:spcAft>
            </a:pPr>
            <a:r>
              <a:rPr sz="1050" b="0" i="0">
                <a:solidFill>
                  <a:srgbClr val="64748B"/>
                </a:solidFill>
                <a:latin typeface="Calibri"/>
              </a:rPr>
              <a:t>dia 10</a:t>
            </a:r>
          </a:p>
        </p:txBody>
      </p:sp>
      <p:sp>
        <p:nvSpPr>
          <p:cNvPr id="28" name="Rounded Rectangle 27"/>
          <p:cNvSpPr/>
          <p:nvPr/>
        </p:nvSpPr>
        <p:spPr>
          <a:xfrm>
            <a:off x="502920" y="4352544"/>
            <a:ext cx="11185855" cy="603504"/>
          </a:xfrm>
          <a:prstGeom prst="roundRect">
            <a:avLst>
              <a:gd name="adj" fmla="val 5500"/>
            </a:avLst>
          </a:prstGeom>
          <a:solidFill>
            <a:srgbClr val="FDF7EF"/>
          </a:solidFill>
          <a:ln w="12700">
            <a:solidFill>
              <a:srgbClr val="F5DC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58368" y="4443983"/>
            <a:ext cx="420624" cy="420624"/>
          </a:xfrm>
          <a:prstGeom prst="ellipse">
            <a:avLst/>
          </a:prstGeom>
          <a:solidFill>
            <a:srgbClr val="DE8A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FFFFFF"/>
                </a:solidFill>
                <a:latin typeface="Calibri"/>
              </a:rPr>
              <a:t>5</a:t>
            </a:r>
          </a:p>
        </p:txBody>
      </p:sp>
      <p:sp>
        <p:nvSpPr>
          <p:cNvPr id="30" name="TextBox 29"/>
          <p:cNvSpPr txBox="1"/>
          <p:nvPr/>
        </p:nvSpPr>
        <p:spPr>
          <a:xfrm>
            <a:off x="1179576" y="4389120"/>
            <a:ext cx="6675120" cy="530352"/>
          </a:xfrm>
          <a:prstGeom prst="rect">
            <a:avLst/>
          </a:prstGeom>
          <a:noFill/>
        </p:spPr>
        <p:txBody>
          <a:bodyPr wrap="square" lIns="54864" rIns="54864" tIns="18288" bIns="18288" anchor="ctr">
            <a:spAutoFit/>
          </a:bodyPr>
          <a:lstStyle/>
          <a:p>
            <a:pPr algn="l">
              <a:lnSpc>
                <a:spcPct val="120000"/>
              </a:lnSpc>
              <a:spcAft>
                <a:spcPts val="100"/>
              </a:spcAft>
            </a:pPr>
            <a:r>
              <a:rPr sz="1350" b="1" i="0">
                <a:solidFill>
                  <a:srgbClr val="0F1B2D"/>
                </a:solidFill>
                <a:latin typeface="Calibri"/>
              </a:rPr>
              <a:t>Wat is de weigerkans bij 16 bedden?</a:t>
            </a:r>
          </a:p>
          <a:p>
            <a:pPr algn="l">
              <a:lnSpc>
                <a:spcPct val="120000"/>
              </a:lnSpc>
              <a:spcAft>
                <a:spcPts val="0"/>
              </a:spcAft>
            </a:pPr>
            <a:r>
              <a:rPr sz="1050" b="0" i="0">
                <a:solidFill>
                  <a:srgbClr val="64748B"/>
                </a:solidFill>
                <a:latin typeface="Calibri"/>
              </a:rPr>
              <a:t>de Hotfloor past wel, maar het risico is niet becijferd</a:t>
            </a:r>
          </a:p>
        </p:txBody>
      </p:sp>
      <p:sp>
        <p:nvSpPr>
          <p:cNvPr id="31" name="Rounded Rectangle 30"/>
          <p:cNvSpPr/>
          <p:nvPr/>
        </p:nvSpPr>
        <p:spPr>
          <a:xfrm>
            <a:off x="8092440" y="4498848"/>
            <a:ext cx="1280160" cy="310896"/>
          </a:xfrm>
          <a:prstGeom prst="roundRect">
            <a:avLst>
              <a:gd name="adj" fmla="val 50000"/>
            </a:avLst>
          </a:prstGeom>
          <a:solidFill>
            <a:srgbClr val="FAECDB"/>
          </a:solidFill>
          <a:ln w="12700">
            <a:solidFill>
              <a:srgbClr val="EEC48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DE8A1B"/>
                </a:solidFill>
                <a:latin typeface="Calibri"/>
              </a:rPr>
              <a:t>urgent</a:t>
            </a:r>
          </a:p>
        </p:txBody>
      </p:sp>
      <p:sp>
        <p:nvSpPr>
          <p:cNvPr id="32" name="TextBox 31"/>
          <p:cNvSpPr txBox="1"/>
          <p:nvPr/>
        </p:nvSpPr>
        <p:spPr>
          <a:xfrm>
            <a:off x="9555480" y="4389120"/>
            <a:ext cx="2133295" cy="530352"/>
          </a:xfrm>
          <a:prstGeom prst="rect">
            <a:avLst/>
          </a:prstGeom>
          <a:noFill/>
        </p:spPr>
        <p:txBody>
          <a:bodyPr wrap="square" lIns="54864" rIns="54864" tIns="18288" bIns="18288" anchor="ctr">
            <a:spAutoFit/>
          </a:bodyPr>
          <a:lstStyle/>
          <a:p>
            <a:pPr algn="r">
              <a:lnSpc>
                <a:spcPct val="120000"/>
              </a:lnSpc>
              <a:spcAft>
                <a:spcPts val="0"/>
              </a:spcAft>
            </a:pPr>
            <a:r>
              <a:rPr sz="1050" b="0" i="0">
                <a:solidFill>
                  <a:srgbClr val="64748B"/>
                </a:solidFill>
                <a:latin typeface="Calibri"/>
              </a:rPr>
              <a:t>dia 13</a:t>
            </a:r>
          </a:p>
        </p:txBody>
      </p:sp>
      <p:sp>
        <p:nvSpPr>
          <p:cNvPr id="33" name="Rounded Rectangle 32"/>
          <p:cNvSpPr/>
          <p:nvPr/>
        </p:nvSpPr>
        <p:spPr>
          <a:xfrm>
            <a:off x="502920" y="5065776"/>
            <a:ext cx="11185855" cy="603504"/>
          </a:xfrm>
          <a:prstGeom prst="roundRect">
            <a:avLst>
              <a:gd name="adj" fmla="val 5500"/>
            </a:avLst>
          </a:prstGeom>
          <a:solidFill>
            <a:srgbClr val="FDF7EF"/>
          </a:solidFill>
          <a:ln w="12700">
            <a:solidFill>
              <a:srgbClr val="F5DC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58368" y="5157216"/>
            <a:ext cx="420624" cy="420624"/>
          </a:xfrm>
          <a:prstGeom prst="ellipse">
            <a:avLst/>
          </a:prstGeom>
          <a:solidFill>
            <a:srgbClr val="DE8A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FFFFFF"/>
                </a:solidFill>
                <a:latin typeface="Calibri"/>
              </a:rPr>
              <a:t>6</a:t>
            </a:r>
          </a:p>
        </p:txBody>
      </p:sp>
      <p:sp>
        <p:nvSpPr>
          <p:cNvPr id="35" name="TextBox 34"/>
          <p:cNvSpPr txBox="1"/>
          <p:nvPr/>
        </p:nvSpPr>
        <p:spPr>
          <a:xfrm>
            <a:off x="1179576" y="5102352"/>
            <a:ext cx="6675120" cy="530352"/>
          </a:xfrm>
          <a:prstGeom prst="rect">
            <a:avLst/>
          </a:prstGeom>
          <a:noFill/>
        </p:spPr>
        <p:txBody>
          <a:bodyPr wrap="square" lIns="54864" rIns="54864" tIns="18288" bIns="18288" anchor="ctr">
            <a:spAutoFit/>
          </a:bodyPr>
          <a:lstStyle/>
          <a:p>
            <a:pPr algn="l">
              <a:lnSpc>
                <a:spcPct val="120000"/>
              </a:lnSpc>
              <a:spcAft>
                <a:spcPts val="100"/>
              </a:spcAft>
            </a:pPr>
            <a:r>
              <a:rPr sz="1350" b="1" i="0">
                <a:solidFill>
                  <a:srgbClr val="0F1B2D"/>
                </a:solidFill>
                <a:latin typeface="Calibri"/>
              </a:rPr>
              <a:t>Wat doen we met de gedeelde knelpunten?</a:t>
            </a:r>
          </a:p>
          <a:p>
            <a:pPr algn="l">
              <a:lnSpc>
                <a:spcPct val="120000"/>
              </a:lnSpc>
              <a:spcAft>
                <a:spcPts val="0"/>
              </a:spcAft>
            </a:pPr>
            <a:r>
              <a:rPr sz="1050" b="0" i="0">
                <a:solidFill>
                  <a:srgbClr val="64748B"/>
                </a:solidFill>
                <a:latin typeface="Calibri"/>
              </a:rPr>
              <a:t>de analyses zijn gedeeld, de vervolgacties zijn niet belegd</a:t>
            </a:r>
          </a:p>
        </p:txBody>
      </p:sp>
      <p:sp>
        <p:nvSpPr>
          <p:cNvPr id="36" name="Rounded Rectangle 35"/>
          <p:cNvSpPr/>
          <p:nvPr/>
        </p:nvSpPr>
        <p:spPr>
          <a:xfrm>
            <a:off x="8092440" y="5212080"/>
            <a:ext cx="1280160" cy="310896"/>
          </a:xfrm>
          <a:prstGeom prst="roundRect">
            <a:avLst>
              <a:gd name="adj" fmla="val 50000"/>
            </a:avLst>
          </a:prstGeom>
          <a:solidFill>
            <a:srgbClr val="FAECDB"/>
          </a:solidFill>
          <a:ln w="12700">
            <a:solidFill>
              <a:srgbClr val="EEC48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DE8A1B"/>
                </a:solidFill>
                <a:latin typeface="Calibri"/>
              </a:rPr>
              <a:t>urgent</a:t>
            </a:r>
          </a:p>
        </p:txBody>
      </p:sp>
      <p:sp>
        <p:nvSpPr>
          <p:cNvPr id="37" name="TextBox 36"/>
          <p:cNvSpPr txBox="1"/>
          <p:nvPr/>
        </p:nvSpPr>
        <p:spPr>
          <a:xfrm>
            <a:off x="9555480" y="5102352"/>
            <a:ext cx="2133295" cy="530352"/>
          </a:xfrm>
          <a:prstGeom prst="rect">
            <a:avLst/>
          </a:prstGeom>
          <a:noFill/>
        </p:spPr>
        <p:txBody>
          <a:bodyPr wrap="square" lIns="54864" rIns="54864" tIns="18288" bIns="18288" anchor="ctr">
            <a:spAutoFit/>
          </a:bodyPr>
          <a:lstStyle/>
          <a:p>
            <a:pPr algn="r">
              <a:lnSpc>
                <a:spcPct val="120000"/>
              </a:lnSpc>
              <a:spcAft>
                <a:spcPts val="0"/>
              </a:spcAft>
            </a:pPr>
            <a:r>
              <a:rPr sz="1050" b="0" i="0">
                <a:solidFill>
                  <a:srgbClr val="64748B"/>
                </a:solidFill>
                <a:latin typeface="Calibri"/>
              </a:rPr>
              <a:t>dia 12 en 20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868680" y="1737360"/>
            <a:ext cx="10515600" cy="822960"/>
          </a:xfrm>
          <a:prstGeom prst="rect">
            <a:avLst/>
          </a:prstGeom>
          <a:noFill/>
        </p:spPr>
        <p:txBody>
          <a:bodyPr wrap="square" lIns="0" rIns="0" tIns="18288" bIns="18288" anchor="t">
            <a:spAutoFit/>
          </a:bodyPr>
          <a:lstStyle/>
          <a:p>
            <a:pPr algn="l">
              <a:lnSpc>
                <a:spcPct val="120000"/>
              </a:lnSpc>
              <a:spcAft>
                <a:spcPts val="0"/>
              </a:spcAft>
            </a:pPr>
            <a:r>
              <a:rPr sz="3400" b="1" i="0">
                <a:solidFill>
                  <a:srgbClr val="FFFFFF"/>
                </a:solidFill>
                <a:latin typeface="Calibri"/>
              </a:rPr>
              <a:t>Waar het op neerkomt</a:t>
            </a:r>
          </a:p>
        </p:txBody>
      </p:sp>
      <p:sp>
        <p:nvSpPr>
          <p:cNvPr id="4" name="Oval 3"/>
          <p:cNvSpPr/>
          <p:nvPr/>
        </p:nvSpPr>
        <p:spPr>
          <a:xfrm>
            <a:off x="978407" y="3017520"/>
            <a:ext cx="182880" cy="182880"/>
          </a:xfrm>
          <a:prstGeom prst="ellipse">
            <a:avLst/>
          </a:prstGeom>
          <a:solidFill>
            <a:srgbClr val="6DA9D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FFFFFF"/>
                </a:solidFill>
                <a:latin typeface="Calibri"/>
              </a:rPr>
              <a:t/>
            </a:r>
          </a:p>
        </p:txBody>
      </p:sp>
      <p:sp>
        <p:nvSpPr>
          <p:cNvPr id="5" name="TextBox 4"/>
          <p:cNvSpPr txBox="1"/>
          <p:nvPr/>
        </p:nvSpPr>
        <p:spPr>
          <a:xfrm>
            <a:off x="1371600" y="2816352"/>
            <a:ext cx="10058400" cy="310896"/>
          </a:xfrm>
          <a:prstGeom prst="rect">
            <a:avLst/>
          </a:prstGeom>
          <a:noFill/>
        </p:spPr>
        <p:txBody>
          <a:bodyPr wrap="square" lIns="0" rIns="0" tIns="18288" bIns="18288" anchor="t">
            <a:spAutoFit/>
          </a:bodyPr>
          <a:lstStyle/>
          <a:p>
            <a:pPr algn="l">
              <a:lnSpc>
                <a:spcPct val="120000"/>
              </a:lnSpc>
              <a:spcAft>
                <a:spcPts val="0"/>
              </a:spcAft>
            </a:pPr>
            <a:r>
              <a:rPr sz="1650" b="1" i="0">
                <a:solidFill>
                  <a:srgbClr val="6DA9DC"/>
                </a:solidFill>
                <a:latin typeface="Calibri"/>
              </a:rPr>
              <a:t>Fysiek eerst</a:t>
            </a:r>
          </a:p>
        </p:txBody>
      </p:sp>
      <p:sp>
        <p:nvSpPr>
          <p:cNvPr id="6" name="TextBox 5"/>
          <p:cNvSpPr txBox="1"/>
          <p:nvPr/>
        </p:nvSpPr>
        <p:spPr>
          <a:xfrm>
            <a:off x="1371600" y="3145536"/>
            <a:ext cx="9692640" cy="457200"/>
          </a:xfrm>
          <a:prstGeom prst="rect">
            <a:avLst/>
          </a:prstGeom>
          <a:noFill/>
        </p:spPr>
        <p:txBody>
          <a:bodyPr wrap="square" lIns="0" rIns="0" tIns="18288" bIns="18288" anchor="t">
            <a:spAutoFit/>
          </a:bodyPr>
          <a:lstStyle/>
          <a:p>
            <a:pPr algn="l">
              <a:lnSpc>
                <a:spcPct val="120000"/>
              </a:lnSpc>
              <a:spcAft>
                <a:spcPts val="0"/>
              </a:spcAft>
            </a:pPr>
            <a:r>
              <a:rPr sz="1300" b="0" i="0">
                <a:solidFill>
                  <a:srgbClr val="C9DCEE"/>
                </a:solidFill>
                <a:latin typeface="Calibri"/>
              </a:rPr>
              <a:t>Wat en waar. De personele inzet volgt daaruit; andersom werkt het niet.</a:t>
            </a:r>
          </a:p>
        </p:txBody>
      </p:sp>
      <p:sp>
        <p:nvSpPr>
          <p:cNvPr id="7" name="Oval 6"/>
          <p:cNvSpPr/>
          <p:nvPr/>
        </p:nvSpPr>
        <p:spPr>
          <a:xfrm>
            <a:off x="978407" y="4069080"/>
            <a:ext cx="182880" cy="182880"/>
          </a:xfrm>
          <a:prstGeom prst="ellipse">
            <a:avLst/>
          </a:prstGeom>
          <a:solidFill>
            <a:srgbClr val="F0A94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FFFFFF"/>
                </a:solidFill>
                <a:latin typeface="Calibri"/>
              </a:rPr>
              <a:t/>
            </a:r>
          </a:p>
        </p:txBody>
      </p:sp>
      <p:sp>
        <p:nvSpPr>
          <p:cNvPr id="8" name="TextBox 7"/>
          <p:cNvSpPr txBox="1"/>
          <p:nvPr/>
        </p:nvSpPr>
        <p:spPr>
          <a:xfrm>
            <a:off x="1371600" y="3867912"/>
            <a:ext cx="10058400" cy="310896"/>
          </a:xfrm>
          <a:prstGeom prst="rect">
            <a:avLst/>
          </a:prstGeom>
          <a:noFill/>
        </p:spPr>
        <p:txBody>
          <a:bodyPr wrap="square" lIns="0" rIns="0" tIns="18288" bIns="18288" anchor="t">
            <a:spAutoFit/>
          </a:bodyPr>
          <a:lstStyle/>
          <a:p>
            <a:pPr algn="l">
              <a:lnSpc>
                <a:spcPct val="120000"/>
              </a:lnSpc>
              <a:spcAft>
                <a:spcPts val="0"/>
              </a:spcAft>
            </a:pPr>
            <a:r>
              <a:rPr sz="1650" b="1" i="0">
                <a:solidFill>
                  <a:srgbClr val="F0A94A"/>
                </a:solidFill>
                <a:latin typeface="Calibri"/>
              </a:rPr>
              <a:t>Drie besluiten blokkeren</a:t>
            </a:r>
          </a:p>
        </p:txBody>
      </p:sp>
      <p:sp>
        <p:nvSpPr>
          <p:cNvPr id="9" name="TextBox 8"/>
          <p:cNvSpPr txBox="1"/>
          <p:nvPr/>
        </p:nvSpPr>
        <p:spPr>
          <a:xfrm>
            <a:off x="1371600" y="4197096"/>
            <a:ext cx="9692640" cy="457200"/>
          </a:xfrm>
          <a:prstGeom prst="rect">
            <a:avLst/>
          </a:prstGeom>
          <a:noFill/>
        </p:spPr>
        <p:txBody>
          <a:bodyPr wrap="square" lIns="0" rIns="0" tIns="18288" bIns="18288" anchor="t">
            <a:spAutoFit/>
          </a:bodyPr>
          <a:lstStyle/>
          <a:p>
            <a:pPr algn="l">
              <a:lnSpc>
                <a:spcPct val="120000"/>
              </a:lnSpc>
              <a:spcAft>
                <a:spcPts val="0"/>
              </a:spcAft>
            </a:pPr>
            <a:r>
              <a:rPr sz="1300" b="0" i="0">
                <a:solidFill>
                  <a:srgbClr val="C9DCEE"/>
                </a:solidFill>
                <a:latin typeface="Calibri"/>
              </a:rPr>
              <a:t>De EHH-vraag, het aantal plekken op de acute poort en de norm verpleegkundigen.</a:t>
            </a:r>
          </a:p>
        </p:txBody>
      </p:sp>
      <p:sp>
        <p:nvSpPr>
          <p:cNvPr id="10" name="Oval 9"/>
          <p:cNvSpPr/>
          <p:nvPr/>
        </p:nvSpPr>
        <p:spPr>
          <a:xfrm>
            <a:off x="978407" y="5120640"/>
            <a:ext cx="182880" cy="182880"/>
          </a:xfrm>
          <a:prstGeom prst="ellipse">
            <a:avLst/>
          </a:prstGeom>
          <a:solidFill>
            <a:srgbClr val="6FCBB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FFFFFF"/>
                </a:solidFill>
                <a:latin typeface="Calibri"/>
              </a:rPr>
              <a:t/>
            </a:r>
          </a:p>
        </p:txBody>
      </p:sp>
      <p:sp>
        <p:nvSpPr>
          <p:cNvPr id="11" name="TextBox 10"/>
          <p:cNvSpPr txBox="1"/>
          <p:nvPr/>
        </p:nvSpPr>
        <p:spPr>
          <a:xfrm>
            <a:off x="1371600" y="4919472"/>
            <a:ext cx="10058400" cy="310896"/>
          </a:xfrm>
          <a:prstGeom prst="rect">
            <a:avLst/>
          </a:prstGeom>
          <a:noFill/>
        </p:spPr>
        <p:txBody>
          <a:bodyPr wrap="square" lIns="0" rIns="0" tIns="18288" bIns="18288" anchor="t">
            <a:spAutoFit/>
          </a:bodyPr>
          <a:lstStyle/>
          <a:p>
            <a:pPr algn="l">
              <a:lnSpc>
                <a:spcPct val="120000"/>
              </a:lnSpc>
              <a:spcAft>
                <a:spcPts val="0"/>
              </a:spcAft>
            </a:pPr>
            <a:r>
              <a:rPr sz="1650" b="1" i="0">
                <a:solidFill>
                  <a:srgbClr val="6FCBBB"/>
                </a:solidFill>
                <a:latin typeface="Calibri"/>
              </a:rPr>
              <a:t>Nu apart, straks samen</a:t>
            </a:r>
          </a:p>
        </p:txBody>
      </p:sp>
      <p:sp>
        <p:nvSpPr>
          <p:cNvPr id="12" name="TextBox 11"/>
          <p:cNvSpPr txBox="1"/>
          <p:nvPr/>
        </p:nvSpPr>
        <p:spPr>
          <a:xfrm>
            <a:off x="1371600" y="5248656"/>
            <a:ext cx="9692640" cy="457200"/>
          </a:xfrm>
          <a:prstGeom prst="rect">
            <a:avLst/>
          </a:prstGeom>
          <a:noFill/>
        </p:spPr>
        <p:txBody>
          <a:bodyPr wrap="square" lIns="0" rIns="0" tIns="18288" bIns="18288" anchor="t">
            <a:spAutoFit/>
          </a:bodyPr>
          <a:lstStyle/>
          <a:p>
            <a:pPr algn="l">
              <a:lnSpc>
                <a:spcPct val="120000"/>
              </a:lnSpc>
              <a:spcAft>
                <a:spcPts val="0"/>
              </a:spcAft>
            </a:pPr>
            <a:r>
              <a:rPr sz="1300" b="0" i="0">
                <a:solidFill>
                  <a:srgbClr val="C9DCEE"/>
                </a:solidFill>
                <a:latin typeface="Calibri"/>
              </a:rPr>
              <a:t>De huidige berekeningen gelden per afdeling. Bij samenvoeging moet opnieuw geteld worden.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