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6812279" y="548640"/>
            <a:ext cx="5303520" cy="5303520"/>
          </a:xfrm>
          <a:prstGeom prst="ellipse">
            <a:avLst/>
          </a:prstGeom>
          <a:noFill/>
          <a:ln w="12700">
            <a:solidFill>
              <a:srgbClr val="0E9A87">
                <a:alpha val="1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7498079" y="1234440"/>
            <a:ext cx="3931920" cy="3931920"/>
          </a:xfrm>
          <a:prstGeom prst="ellipse">
            <a:avLst/>
          </a:prstGeom>
          <a:noFill/>
          <a:ln w="12700">
            <a:solidFill>
              <a:srgbClr val="0E9A87">
                <a:alpha val="1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183879" y="1920240"/>
            <a:ext cx="2560320" cy="2560320"/>
          </a:xfrm>
          <a:prstGeom prst="ellipse">
            <a:avLst/>
          </a:prstGeom>
          <a:noFill/>
          <a:ln w="12700">
            <a:solidFill>
              <a:srgbClr val="0E9A87">
                <a:alpha val="24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40080" y="1481328"/>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INTEGRAAL CAPACITEITSMANAGEMENT</a:t>
            </a:r>
          </a:p>
        </p:txBody>
      </p:sp>
      <p:sp>
        <p:nvSpPr>
          <p:cNvPr id="7" name="TextBox 6"/>
          <p:cNvSpPr txBox="1"/>
          <p:nvPr/>
        </p:nvSpPr>
        <p:spPr>
          <a:xfrm>
            <a:off x="640080" y="1810512"/>
            <a:ext cx="7863840" cy="1828800"/>
          </a:xfrm>
          <a:prstGeom prst="rect">
            <a:avLst/>
          </a:prstGeom>
          <a:noFill/>
        </p:spPr>
        <p:txBody>
          <a:bodyPr wrap="square" lIns="0" rIns="0" tIns="0" bIns="0" anchor="t">
            <a:spAutoFit/>
          </a:bodyPr>
          <a:lstStyle/>
          <a:p>
            <a:pPr algn="l">
              <a:lnSpc>
                <a:spcPct val="100000"/>
              </a:lnSpc>
              <a:spcAft>
                <a:spcPts val="0"/>
              </a:spcAft>
            </a:pPr>
            <a:r>
              <a:rPr sz="6200" b="1">
                <a:solidFill>
                  <a:srgbClr val="0D1B2A"/>
                </a:solidFill>
                <a:latin typeface="Calibri"/>
              </a:rPr>
              <a:t>Acute poort</a:t>
            </a:r>
          </a:p>
          <a:p>
            <a:pPr algn="l">
              <a:lnSpc>
                <a:spcPct val="100000"/>
              </a:lnSpc>
              <a:spcAft>
                <a:spcPts val="0"/>
              </a:spcAft>
            </a:pPr>
            <a:r>
              <a:rPr sz="6200" b="1">
                <a:solidFill>
                  <a:srgbClr val="0E9A87"/>
                </a:solidFill>
                <a:latin typeface="Calibri"/>
              </a:rPr>
              <a:t>en Hotfloor</a:t>
            </a:r>
          </a:p>
        </p:txBody>
      </p:sp>
      <p:cxnSp>
        <p:nvCxnSpPr>
          <p:cNvPr id="8" name="Connector 7"/>
          <p:cNvCxnSpPr/>
          <p:nvPr/>
        </p:nvCxnSpPr>
        <p:spPr>
          <a:xfrm>
            <a:off x="640080" y="3803904"/>
            <a:ext cx="3108959"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40080" y="3986784"/>
            <a:ext cx="6766560" cy="548640"/>
          </a:xfrm>
          <a:prstGeom prst="rect">
            <a:avLst/>
          </a:prstGeom>
          <a:noFill/>
        </p:spPr>
        <p:txBody>
          <a:bodyPr wrap="square" lIns="0" rIns="0" tIns="0" bIns="0" anchor="t">
            <a:spAutoFit/>
          </a:bodyPr>
          <a:lstStyle/>
          <a:p>
            <a:pPr algn="l">
              <a:lnSpc>
                <a:spcPct val="120000"/>
              </a:lnSpc>
              <a:spcAft>
                <a:spcPts val="0"/>
              </a:spcAft>
            </a:pPr>
            <a:r>
              <a:rPr sz="1600" b="0">
                <a:solidFill>
                  <a:srgbClr val="55677C"/>
                </a:solidFill>
                <a:latin typeface="Calibri"/>
              </a:rPr>
              <a:t>Van de huidige situatie naar de nieuwbouw, juni 2027</a:t>
            </a:r>
          </a:p>
        </p:txBody>
      </p:sp>
      <p:sp>
        <p:nvSpPr>
          <p:cNvPr id="10" name="TextBox 9"/>
          <p:cNvSpPr txBox="1"/>
          <p:nvPr/>
        </p:nvSpPr>
        <p:spPr>
          <a:xfrm>
            <a:off x="64008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0E9A87"/>
                </a:solidFill>
                <a:latin typeface="Calibri"/>
              </a:rPr>
              <a:t>36</a:t>
            </a:r>
          </a:p>
        </p:txBody>
      </p:sp>
      <p:sp>
        <p:nvSpPr>
          <p:cNvPr id="11" name="TextBox 10"/>
          <p:cNvSpPr txBox="1"/>
          <p:nvPr/>
        </p:nvSpPr>
        <p:spPr>
          <a:xfrm>
            <a:off x="64008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OPENSTAANDE VRAGEN</a:t>
            </a:r>
          </a:p>
        </p:txBody>
      </p:sp>
      <p:sp>
        <p:nvSpPr>
          <p:cNvPr id="12" name="TextBox 11"/>
          <p:cNvSpPr txBox="1"/>
          <p:nvPr/>
        </p:nvSpPr>
        <p:spPr>
          <a:xfrm>
            <a:off x="370332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C4392D"/>
                </a:solidFill>
                <a:latin typeface="Calibri"/>
              </a:rPr>
              <a:t>6</a:t>
            </a:r>
          </a:p>
        </p:txBody>
      </p:sp>
      <p:sp>
        <p:nvSpPr>
          <p:cNvPr id="13" name="TextBox 12"/>
          <p:cNvSpPr txBox="1"/>
          <p:nvPr/>
        </p:nvSpPr>
        <p:spPr>
          <a:xfrm>
            <a:off x="370332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BESLUITEN DIE KLEMMEN</a:t>
            </a:r>
          </a:p>
        </p:txBody>
      </p:sp>
      <p:sp>
        <p:nvSpPr>
          <p:cNvPr id="14" name="TextBox 13"/>
          <p:cNvSpPr txBox="1"/>
          <p:nvPr/>
        </p:nvSpPr>
        <p:spPr>
          <a:xfrm>
            <a:off x="6766560" y="4791456"/>
            <a:ext cx="2834640" cy="658368"/>
          </a:xfrm>
          <a:prstGeom prst="rect">
            <a:avLst/>
          </a:prstGeom>
          <a:noFill/>
        </p:spPr>
        <p:txBody>
          <a:bodyPr wrap="square" lIns="0" rIns="0" tIns="0" bIns="0" anchor="t">
            <a:spAutoFit/>
          </a:bodyPr>
          <a:lstStyle/>
          <a:p>
            <a:pPr algn="l">
              <a:lnSpc>
                <a:spcPct val="120000"/>
              </a:lnSpc>
              <a:spcAft>
                <a:spcPts val="0"/>
              </a:spcAft>
            </a:pPr>
            <a:r>
              <a:rPr sz="4000" b="1">
                <a:solidFill>
                  <a:srgbClr val="C87E12"/>
                </a:solidFill>
                <a:latin typeface="Calibri"/>
              </a:rPr>
              <a:t>2</a:t>
            </a:r>
          </a:p>
        </p:txBody>
      </p:sp>
      <p:sp>
        <p:nvSpPr>
          <p:cNvPr id="15" name="TextBox 14"/>
          <p:cNvSpPr txBox="1"/>
          <p:nvPr/>
        </p:nvSpPr>
        <p:spPr>
          <a:xfrm>
            <a:off x="6766560" y="5413248"/>
            <a:ext cx="2834640" cy="237744"/>
          </a:xfrm>
          <a:prstGeom prst="rect">
            <a:avLst/>
          </a:prstGeom>
          <a:noFill/>
        </p:spPr>
        <p:txBody>
          <a:bodyPr wrap="square" lIns="0" rIns="0" tIns="0" bIns="0" anchor="t">
            <a:spAutoFit/>
          </a:bodyPr>
          <a:lstStyle/>
          <a:p>
            <a:pPr algn="l">
              <a:lnSpc>
                <a:spcPct val="120000"/>
              </a:lnSpc>
              <a:spcAft>
                <a:spcPts val="0"/>
              </a:spcAft>
            </a:pPr>
            <a:r>
              <a:rPr sz="950" b="1" spc="140">
                <a:solidFill>
                  <a:srgbClr val="55677C"/>
                </a:solidFill>
                <a:latin typeface="Calibri"/>
              </a:rPr>
              <a:t>GROTE WIJZIGINGEN</a:t>
            </a:r>
          </a:p>
        </p:txBody>
      </p:sp>
      <p:sp>
        <p:nvSpPr>
          <p:cNvPr id="16" name="Freeform 15"/>
          <p:cNvSpPr/>
          <p:nvPr/>
        </p:nvSpPr>
        <p:spPr>
          <a:xfrm>
            <a:off x="0" y="5943600"/>
            <a:ext cx="12191695" cy="595274"/>
          </a:xfrm>
          <a:custGeom>
            <a:avLst/>
            <a:gdLst/>
            <a:ahLst/>
            <a:cxnLst/>
            <a:rect l="l" t="t" r="r" b="b"/>
            <a:pathLst>
              <a:path w="12191695" h="595274">
                <a:moveTo>
                  <a:pt x="0" y="384048"/>
                </a:moveTo>
                <a:lnTo>
                  <a:pt x="914377" y="384048"/>
                </a:lnTo>
                <a:lnTo>
                  <a:pt x="1097252" y="322600"/>
                </a:lnTo>
                <a:lnTo>
                  <a:pt x="1280127" y="422452"/>
                </a:lnTo>
                <a:lnTo>
                  <a:pt x="1523961" y="0"/>
                </a:lnTo>
                <a:lnTo>
                  <a:pt x="1767795" y="595274"/>
                </a:lnTo>
                <a:lnTo>
                  <a:pt x="2011629" y="384048"/>
                </a:lnTo>
                <a:lnTo>
                  <a:pt x="3047923" y="384048"/>
                </a:lnTo>
                <a:lnTo>
                  <a:pt x="3047923" y="384048"/>
                </a:lnTo>
                <a:lnTo>
                  <a:pt x="3962300" y="384048"/>
                </a:lnTo>
                <a:lnTo>
                  <a:pt x="4145176" y="322600"/>
                </a:lnTo>
                <a:lnTo>
                  <a:pt x="4328051" y="422452"/>
                </a:lnTo>
                <a:lnTo>
                  <a:pt x="4571885" y="0"/>
                </a:lnTo>
                <a:lnTo>
                  <a:pt x="4815719" y="595274"/>
                </a:lnTo>
                <a:lnTo>
                  <a:pt x="5059553" y="384048"/>
                </a:lnTo>
                <a:lnTo>
                  <a:pt x="6095847" y="384048"/>
                </a:lnTo>
                <a:lnTo>
                  <a:pt x="6095847" y="384048"/>
                </a:lnTo>
                <a:lnTo>
                  <a:pt x="7010224" y="384048"/>
                </a:lnTo>
                <a:lnTo>
                  <a:pt x="7193100" y="322600"/>
                </a:lnTo>
                <a:lnTo>
                  <a:pt x="7375975" y="422452"/>
                </a:lnTo>
                <a:lnTo>
                  <a:pt x="7619809" y="0"/>
                </a:lnTo>
                <a:lnTo>
                  <a:pt x="7863643" y="595274"/>
                </a:lnTo>
                <a:lnTo>
                  <a:pt x="8107477" y="384048"/>
                </a:lnTo>
                <a:lnTo>
                  <a:pt x="9143771" y="384048"/>
                </a:lnTo>
                <a:lnTo>
                  <a:pt x="9143771" y="384048"/>
                </a:lnTo>
                <a:lnTo>
                  <a:pt x="10058148" y="384048"/>
                </a:lnTo>
                <a:lnTo>
                  <a:pt x="10241023" y="322600"/>
                </a:lnTo>
                <a:lnTo>
                  <a:pt x="10423899" y="422452"/>
                </a:lnTo>
                <a:lnTo>
                  <a:pt x="10667733" y="0"/>
                </a:lnTo>
                <a:lnTo>
                  <a:pt x="10911567" y="595274"/>
                </a:lnTo>
                <a:lnTo>
                  <a:pt x="11155401" y="384048"/>
                </a:lnTo>
                <a:lnTo>
                  <a:pt x="12191695" y="384048"/>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0E9A87">
                    <a:alpha val="9000"/>
                  </a:srgbClr>
                </a:solidFill>
                <a:latin typeface="Calibri"/>
              </a:rPr>
              <a:t>01</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DEEL 01</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Waar staan we nu</a:t>
            </a:r>
          </a:p>
        </p:txBody>
      </p:sp>
      <p:cxnSp>
        <p:nvCxnSpPr>
          <p:cNvPr id="6" name="Connector 5"/>
          <p:cNvCxnSpPr/>
          <p:nvPr/>
        </p:nvCxnSpPr>
        <p:spPr>
          <a:xfrm>
            <a:off x="640080" y="3584448"/>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De startsituatie per afdeling</a:t>
            </a:r>
          </a:p>
        </p:txBody>
      </p:sp>
      <p:sp>
        <p:nvSpPr>
          <p:cNvPr id="9" name="Oval 8"/>
          <p:cNvSpPr/>
          <p:nvPr/>
        </p:nvSpPr>
        <p:spPr>
          <a:xfrm>
            <a:off x="649224" y="4279392"/>
            <a:ext cx="109728" cy="10972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Waarom tien en vijftien kamers niet optelbaar zijn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0E9A87">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Startsituatie per afdeling</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Zonder vastgestelde norm is de personele inzet niet te onderbouwen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03</a:t>
            </a:r>
          </a:p>
        </p:txBody>
      </p:sp>
      <p:graphicFrame>
        <p:nvGraphicFramePr>
          <p:cNvPr id="10" name="Table 9"/>
          <p:cNvGraphicFramePr>
            <a:graphicFrameLocks noGrp="1"/>
          </p:cNvGraphicFramePr>
          <p:nvPr/>
        </p:nvGraphicFramePr>
        <p:xfrm>
          <a:off x="640080" y="1700784"/>
          <a:ext cx="10865814" cy="1938528"/>
        </p:xfrm>
        <a:graphic>
          <a:graphicData uri="http://schemas.openxmlformats.org/drawingml/2006/table">
            <a:tbl>
              <a:tblPr>
                <a:tableStyleId>{5C22544A-7EE6-4342-B048-85BDC9FD1C3A}</a:tableStyleId>
              </a:tblPr>
              <a:tblGrid>
                <a:gridCol w="1965960"/>
                <a:gridCol w="1097280"/>
                <a:gridCol w="1691640"/>
                <a:gridCol w="1051560"/>
                <a:gridCol w="1874519"/>
                <a:gridCol w="1691640"/>
                <a:gridCol w="1493215"/>
              </a:tblGrid>
              <a:tr h="329184">
                <a:tc>
                  <a:txBody>
                    <a:bodyPr wrap="square"/>
                    <a:lstStyle/>
                    <a:p>
                      <a:pPr algn="l">
                        <a:spcAft>
                          <a:spcPts val="200"/>
                        </a:spcAft>
                      </a:pPr>
                      <a:r>
                        <a:rPr sz="950" b="1">
                          <a:solidFill>
                            <a:srgbClr val="0E9A87"/>
                          </a:solidFill>
                          <a:latin typeface="Calibri"/>
                        </a:rPr>
                        <a:t>AFDELING</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KAMERS NU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JAARPLAN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NORM VPK</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HUIDIGE INZET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00" b="1">
                          <a:solidFill>
                            <a:srgbClr val="0E9A87"/>
                          </a:solidFill>
                          <a:latin typeface="Calibri"/>
                        </a:rPr>
                        <a:t>OMGEREKENDE NORM</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950" b="1">
                          <a:solidFill>
                            <a:srgbClr val="0E9A87"/>
                          </a:solidFill>
                          <a:latin typeface="Calibri"/>
                        </a:rPr>
                        <a:t>GEWENSTE NORM</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ICU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D1B2A"/>
                          </a:solidFill>
                          <a:latin typeface="Calibri"/>
                        </a:rPr>
                        <a:t>10</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L · 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CCU / SCU / EHH</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D1B2A"/>
                          </a:solidFill>
                          <a:latin typeface="Calibri"/>
                        </a:rPr>
                        <a:t>15</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ja, versneld jaarplan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L · 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SEH</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0E9A87"/>
                          </a:solidFill>
                          <a:latin typeface="Calibri"/>
                        </a:rPr>
                        <a:t>D · T · L · 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FFFFF"/>
                    </a:solidFill>
                    <a:lnL w="0">
                      <a:noFill/>
                    </a:lnL>
                    <a:lnR w="0">
                      <a:noFill/>
                    </a:lnR>
                    <a:lnT w="0">
                      <a:noFill/>
                    </a:lnT>
                    <a:lnB w="6350" cap="flat">
                      <a:solidFill>
                        <a:srgbClr val="E2E9F1"/>
                      </a:solidFill>
                    </a:lnB>
                  </a:tcPr>
                </a:tc>
              </a:tr>
              <a:tr h="402336">
                <a:tc>
                  <a:txBody>
                    <a:bodyPr wrap="square"/>
                    <a:lstStyle/>
                    <a:p>
                      <a:pPr algn="l">
                        <a:spcAft>
                          <a:spcPts val="200"/>
                        </a:spcAft>
                      </a:pPr>
                      <a:r>
                        <a:rPr sz="1100" b="1">
                          <a:solidFill>
                            <a:srgbClr val="0D1B2A"/>
                          </a:solidFill>
                          <a:latin typeface="Calibri"/>
                        </a:rPr>
                        <a:t>Kind spoed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4392D"/>
                          </a:solidFill>
                          <a:latin typeface="Calibri"/>
                        </a:rPr>
                        <a:t>nee</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8B9AAA"/>
                          </a:solidFill>
                          <a:latin typeface="Calibri"/>
                        </a:rPr>
                        <a:t>onbekend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ctr">
                        <a:spcAft>
                          <a:spcPts val="200"/>
                        </a:spcAft>
                      </a:pPr>
                      <a:r>
                        <a:rPr sz="1100" b="0">
                          <a:solidFill>
                            <a:srgbClr val="C87E12"/>
                          </a:solidFill>
                          <a:latin typeface="Calibri"/>
                        </a:rPr>
                        <a:t>in te vullen</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
        <p:nvSpPr>
          <p:cNvPr id="11" name="Rounded Rectangle 10"/>
          <p:cNvSpPr/>
          <p:nvPr/>
        </p:nvSpPr>
        <p:spPr>
          <a:xfrm>
            <a:off x="640080"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40080" y="3950208"/>
            <a:ext cx="45720" cy="122529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4400" y="4078224"/>
            <a:ext cx="2942234" cy="566928"/>
          </a:xfrm>
          <a:prstGeom prst="rect">
            <a:avLst/>
          </a:prstGeom>
          <a:noFill/>
        </p:spPr>
        <p:txBody>
          <a:bodyPr wrap="square" lIns="0" rIns="0" tIns="0" bIns="0" anchor="t">
            <a:spAutoFit/>
          </a:bodyPr>
          <a:lstStyle/>
          <a:p>
            <a:pPr algn="l">
              <a:lnSpc>
                <a:spcPct val="120000"/>
              </a:lnSpc>
              <a:spcAft>
                <a:spcPts val="0"/>
              </a:spcAft>
            </a:pPr>
            <a:r>
              <a:rPr sz="3400" b="1">
                <a:solidFill>
                  <a:srgbClr val="C4392D"/>
                </a:solidFill>
                <a:latin typeface="Calibri"/>
              </a:rPr>
              <a:t>0 / 4</a:t>
            </a:r>
          </a:p>
        </p:txBody>
      </p:sp>
      <p:sp>
        <p:nvSpPr>
          <p:cNvPr id="14" name="TextBox 13"/>
          <p:cNvSpPr txBox="1"/>
          <p:nvPr/>
        </p:nvSpPr>
        <p:spPr>
          <a:xfrm>
            <a:off x="914400" y="4645152"/>
            <a:ext cx="2942234"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AFDELINGEN MET EEN NORM</a:t>
            </a:r>
          </a:p>
        </p:txBody>
      </p:sp>
      <p:sp>
        <p:nvSpPr>
          <p:cNvPr id="15" name="TextBox 14"/>
          <p:cNvSpPr txBox="1"/>
          <p:nvPr/>
        </p:nvSpPr>
        <p:spPr>
          <a:xfrm>
            <a:off x="914400" y="4882896"/>
            <a:ext cx="294223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voor geen enkele afdeling is de norm verpleegkundigen vastgesteld</a:t>
            </a:r>
          </a:p>
        </p:txBody>
      </p:sp>
      <p:sp>
        <p:nvSpPr>
          <p:cNvPr id="16" name="Rounded Rectangle 15"/>
          <p:cNvSpPr/>
          <p:nvPr/>
        </p:nvSpPr>
        <p:spPr>
          <a:xfrm>
            <a:off x="4368698"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4368698" y="3950208"/>
            <a:ext cx="45720" cy="1225296"/>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43018" y="4078224"/>
            <a:ext cx="2942234" cy="566928"/>
          </a:xfrm>
          <a:prstGeom prst="rect">
            <a:avLst/>
          </a:prstGeom>
          <a:noFill/>
        </p:spPr>
        <p:txBody>
          <a:bodyPr wrap="square" lIns="0" rIns="0" tIns="0" bIns="0" anchor="t">
            <a:spAutoFit/>
          </a:bodyPr>
          <a:lstStyle/>
          <a:p>
            <a:pPr algn="l">
              <a:lnSpc>
                <a:spcPct val="120000"/>
              </a:lnSpc>
              <a:spcAft>
                <a:spcPts val="0"/>
              </a:spcAft>
            </a:pPr>
            <a:r>
              <a:rPr sz="3400" b="1">
                <a:solidFill>
                  <a:srgbClr val="0E9A87"/>
                </a:solidFill>
                <a:latin typeface="Calibri"/>
              </a:rPr>
              <a:t>1 / 4</a:t>
            </a:r>
          </a:p>
        </p:txBody>
      </p:sp>
      <p:sp>
        <p:nvSpPr>
          <p:cNvPr id="19" name="TextBox 18"/>
          <p:cNvSpPr txBox="1"/>
          <p:nvPr/>
        </p:nvSpPr>
        <p:spPr>
          <a:xfrm>
            <a:off x="4643018" y="4645152"/>
            <a:ext cx="2942234"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AFDELINGEN MET EEN JAARPLAN</a:t>
            </a:r>
          </a:p>
        </p:txBody>
      </p:sp>
      <p:sp>
        <p:nvSpPr>
          <p:cNvPr id="20" name="TextBox 19"/>
          <p:cNvSpPr txBox="1"/>
          <p:nvPr/>
        </p:nvSpPr>
        <p:spPr>
          <a:xfrm>
            <a:off x="4643018" y="4882896"/>
            <a:ext cx="294223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CCU/SCU/EHH heeft een versneld jaarplan; de rest heeft er geen</a:t>
            </a:r>
          </a:p>
        </p:txBody>
      </p:sp>
      <p:sp>
        <p:nvSpPr>
          <p:cNvPr id="21" name="Rounded Rectangle 20"/>
          <p:cNvSpPr/>
          <p:nvPr/>
        </p:nvSpPr>
        <p:spPr>
          <a:xfrm>
            <a:off x="8097316" y="3950208"/>
            <a:ext cx="3454298" cy="122529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8097316" y="3950208"/>
            <a:ext cx="45720" cy="122529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371636" y="4078224"/>
            <a:ext cx="2942234" cy="566928"/>
          </a:xfrm>
          <a:prstGeom prst="rect">
            <a:avLst/>
          </a:prstGeom>
          <a:noFill/>
        </p:spPr>
        <p:txBody>
          <a:bodyPr wrap="square" lIns="0" rIns="0" tIns="0" bIns="0" anchor="t">
            <a:spAutoFit/>
          </a:bodyPr>
          <a:lstStyle/>
          <a:p>
            <a:pPr algn="l">
              <a:lnSpc>
                <a:spcPct val="120000"/>
              </a:lnSpc>
              <a:spcAft>
                <a:spcPts val="0"/>
              </a:spcAft>
            </a:pPr>
            <a:r>
              <a:rPr sz="3400" b="1">
                <a:solidFill>
                  <a:srgbClr val="1F6FB2"/>
                </a:solidFill>
                <a:latin typeface="Calibri"/>
              </a:rPr>
              <a:t>4 / 4</a:t>
            </a:r>
          </a:p>
        </p:txBody>
      </p:sp>
      <p:sp>
        <p:nvSpPr>
          <p:cNvPr id="24" name="TextBox 23"/>
          <p:cNvSpPr txBox="1"/>
          <p:nvPr/>
        </p:nvSpPr>
        <p:spPr>
          <a:xfrm>
            <a:off x="8371636" y="4645152"/>
            <a:ext cx="2942234" cy="219456"/>
          </a:xfrm>
          <a:prstGeom prst="rect">
            <a:avLst/>
          </a:prstGeom>
          <a:noFill/>
        </p:spPr>
        <p:txBody>
          <a:bodyPr wrap="square" lIns="0" rIns="0" tIns="0" bIns="0" anchor="t">
            <a:spAutoFit/>
          </a:bodyPr>
          <a:lstStyle/>
          <a:p>
            <a:pPr algn="l">
              <a:lnSpc>
                <a:spcPct val="120000"/>
              </a:lnSpc>
              <a:spcAft>
                <a:spcPts val="0"/>
              </a:spcAft>
            </a:pPr>
            <a:r>
              <a:rPr sz="950" b="1" spc="130">
                <a:solidFill>
                  <a:srgbClr val="0D1B2A"/>
                </a:solidFill>
                <a:latin typeface="Calibri"/>
              </a:rPr>
              <a:t>REKENEN NU APART</a:t>
            </a:r>
          </a:p>
        </p:txBody>
      </p:sp>
      <p:sp>
        <p:nvSpPr>
          <p:cNvPr id="25" name="TextBox 24"/>
          <p:cNvSpPr txBox="1"/>
          <p:nvPr/>
        </p:nvSpPr>
        <p:spPr>
          <a:xfrm>
            <a:off x="8371636" y="4882896"/>
            <a:ext cx="2942234" cy="274320"/>
          </a:xfrm>
          <a:prstGeom prst="rect">
            <a:avLst/>
          </a:prstGeom>
          <a:noFill/>
        </p:spPr>
        <p:txBody>
          <a:bodyPr wrap="square" lIns="0" rIns="0" tIns="0" bIns="0" anchor="t">
            <a:spAutoFit/>
          </a:bodyPr>
          <a:lstStyle/>
          <a:p>
            <a:pPr algn="l">
              <a:lnSpc>
                <a:spcPct val="118000"/>
              </a:lnSpc>
              <a:spcAft>
                <a:spcPts val="0"/>
              </a:spcAft>
            </a:pPr>
            <a:r>
              <a:rPr sz="900" b="0">
                <a:solidFill>
                  <a:srgbClr val="55677C"/>
                </a:solidFill>
                <a:latin typeface="Calibri"/>
              </a:rPr>
              <a:t>elke afdeling heeft een eigen berekening op de huidige situatie</a:t>
            </a:r>
          </a:p>
        </p:txBody>
      </p:sp>
      <p:sp>
        <p:nvSpPr>
          <p:cNvPr id="26" name="Rounded Rectangle 25"/>
          <p:cNvSpPr/>
          <p:nvPr/>
        </p:nvSpPr>
        <p:spPr>
          <a:xfrm>
            <a:off x="640080" y="5394959"/>
            <a:ext cx="10911535" cy="822960"/>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40080" y="5394959"/>
            <a:ext cx="50292" cy="822960"/>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NIET OPTELLEN</a:t>
            </a:r>
          </a:p>
          <a:p>
            <a:pPr algn="l">
              <a:lnSpc>
                <a:spcPct val="120000"/>
              </a:lnSpc>
              <a:spcAft>
                <a:spcPts val="0"/>
              </a:spcAft>
            </a:pPr>
            <a:r>
              <a:rPr sz="1250" b="1">
                <a:solidFill>
                  <a:srgbClr val="0D1B2A"/>
                </a:solidFill>
                <a:latin typeface="Calibri"/>
              </a:rPr>
              <a:t>10 en 15 zijn geen 25. Het zijn verschillende kamers voor verschillende specialismen — zie de volgende dia.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01  ·  WAAR STAAN WE NU</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10 en 15 zijn niet optelbaar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Verschillende kamers, verschillende specialismen, aparte berekeningen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04</a:t>
            </a:r>
          </a:p>
        </p:txBody>
      </p:sp>
      <p:sp>
        <p:nvSpPr>
          <p:cNvPr id="10" name="Rounded Rectangle 9"/>
          <p:cNvSpPr/>
          <p:nvPr/>
        </p:nvSpPr>
        <p:spPr>
          <a:xfrm>
            <a:off x="640080"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1920240"/>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1F6FB2"/>
                </a:solidFill>
                <a:latin typeface="Calibri"/>
              </a:rPr>
              <a:t>ICU</a:t>
            </a:r>
          </a:p>
        </p:txBody>
      </p:sp>
      <p:sp>
        <p:nvSpPr>
          <p:cNvPr id="12" name="TextBox 11"/>
          <p:cNvSpPr txBox="1"/>
          <p:nvPr/>
        </p:nvSpPr>
        <p:spPr>
          <a:xfrm>
            <a:off x="932688" y="2267712"/>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10 KAMERS</a:t>
            </a:r>
          </a:p>
        </p:txBody>
      </p:sp>
      <p:sp>
        <p:nvSpPr>
          <p:cNvPr id="13" name="TextBox 12"/>
          <p:cNvSpPr txBox="1"/>
          <p:nvPr/>
        </p:nvSpPr>
        <p:spPr>
          <a:xfrm>
            <a:off x="932688" y="2505456"/>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8B9AAA"/>
                </a:solidFill>
                <a:latin typeface="Calibri"/>
              </a:rPr>
              <a:t>intensive care</a:t>
            </a:r>
          </a:p>
        </p:txBody>
      </p:sp>
      <p:sp>
        <p:nvSpPr>
          <p:cNvPr id="14" name="Rounded Rectangle 13"/>
          <p:cNvSpPr/>
          <p:nvPr/>
        </p:nvSpPr>
        <p:spPr>
          <a:xfrm>
            <a:off x="1705355"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2281427"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2857500"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3433572"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4009644" y="3374136"/>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1705355"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2281427"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2857500"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3433572"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4009644" y="3950208"/>
            <a:ext cx="457200" cy="457200"/>
          </a:xfrm>
          <a:prstGeom prst="roundRect">
            <a:avLst>
              <a:gd name="adj" fmla="val 14000"/>
            </a:avLst>
          </a:prstGeom>
          <a:solidFill>
            <a:srgbClr val="1F6FB2">
              <a:alpha val="92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659575" y="1700784"/>
            <a:ext cx="4892040" cy="296265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52183" y="1920240"/>
            <a:ext cx="4306824" cy="329184"/>
          </a:xfrm>
          <a:prstGeom prst="rect">
            <a:avLst/>
          </a:prstGeom>
          <a:noFill/>
        </p:spPr>
        <p:txBody>
          <a:bodyPr wrap="square" lIns="0" rIns="0" tIns="0" bIns="0" anchor="t">
            <a:spAutoFit/>
          </a:bodyPr>
          <a:lstStyle/>
          <a:p>
            <a:pPr algn="l">
              <a:lnSpc>
                <a:spcPct val="120000"/>
              </a:lnSpc>
              <a:spcAft>
                <a:spcPts val="0"/>
              </a:spcAft>
            </a:pPr>
            <a:r>
              <a:rPr sz="2000" b="1">
                <a:solidFill>
                  <a:srgbClr val="6B4BA8"/>
                </a:solidFill>
                <a:latin typeface="Calibri"/>
              </a:rPr>
              <a:t>CCU / SCU / EHH</a:t>
            </a:r>
          </a:p>
        </p:txBody>
      </p:sp>
      <p:sp>
        <p:nvSpPr>
          <p:cNvPr id="26" name="TextBox 25"/>
          <p:cNvSpPr txBox="1"/>
          <p:nvPr/>
        </p:nvSpPr>
        <p:spPr>
          <a:xfrm>
            <a:off x="6952183" y="2267712"/>
            <a:ext cx="4306824" cy="237744"/>
          </a:xfrm>
          <a:prstGeom prst="rect">
            <a:avLst/>
          </a:prstGeom>
          <a:noFill/>
        </p:spPr>
        <p:txBody>
          <a:bodyPr wrap="square" lIns="0" rIns="0" tIns="0" bIns="0" anchor="t">
            <a:spAutoFit/>
          </a:bodyPr>
          <a:lstStyle/>
          <a:p>
            <a:pPr algn="l">
              <a:lnSpc>
                <a:spcPct val="120000"/>
              </a:lnSpc>
              <a:spcAft>
                <a:spcPts val="0"/>
              </a:spcAft>
            </a:pPr>
            <a:r>
              <a:rPr sz="1000" b="1" spc="160">
                <a:solidFill>
                  <a:srgbClr val="55677C"/>
                </a:solidFill>
                <a:latin typeface="Calibri"/>
              </a:rPr>
              <a:t>15 KAMERS</a:t>
            </a:r>
          </a:p>
        </p:txBody>
      </p:sp>
      <p:sp>
        <p:nvSpPr>
          <p:cNvPr id="27" name="TextBox 26"/>
          <p:cNvSpPr txBox="1"/>
          <p:nvPr/>
        </p:nvSpPr>
        <p:spPr>
          <a:xfrm>
            <a:off x="6952183" y="2505456"/>
            <a:ext cx="4306824" cy="237744"/>
          </a:xfrm>
          <a:prstGeom prst="rect">
            <a:avLst/>
          </a:prstGeom>
          <a:noFill/>
        </p:spPr>
        <p:txBody>
          <a:bodyPr wrap="square" lIns="0" rIns="0" tIns="0" bIns="0" anchor="t">
            <a:spAutoFit/>
          </a:bodyPr>
          <a:lstStyle/>
          <a:p>
            <a:pPr algn="l">
              <a:lnSpc>
                <a:spcPct val="120000"/>
              </a:lnSpc>
              <a:spcAft>
                <a:spcPts val="0"/>
              </a:spcAft>
            </a:pPr>
            <a:r>
              <a:rPr sz="1050" b="0">
                <a:solidFill>
                  <a:srgbClr val="8B9AAA"/>
                </a:solidFill>
                <a:latin typeface="Calibri"/>
              </a:rPr>
              <a:t>coronary, stroke en eerste hart hulp</a:t>
            </a:r>
          </a:p>
        </p:txBody>
      </p:sp>
      <p:sp>
        <p:nvSpPr>
          <p:cNvPr id="28" name="Rounded Rectangle 27"/>
          <p:cNvSpPr/>
          <p:nvPr/>
        </p:nvSpPr>
        <p:spPr>
          <a:xfrm>
            <a:off x="7724851"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300923"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8876995"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9453067"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10029139" y="2798064"/>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7724851"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ounded Rectangle 33"/>
          <p:cNvSpPr/>
          <p:nvPr/>
        </p:nvSpPr>
        <p:spPr>
          <a:xfrm>
            <a:off x="8300923"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8876995"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ounded Rectangle 35"/>
          <p:cNvSpPr/>
          <p:nvPr/>
        </p:nvSpPr>
        <p:spPr>
          <a:xfrm>
            <a:off x="9453067"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ounded Rectangle 36"/>
          <p:cNvSpPr/>
          <p:nvPr/>
        </p:nvSpPr>
        <p:spPr>
          <a:xfrm>
            <a:off x="10029139" y="3374136"/>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7724851"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8300923"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ounded Rectangle 39"/>
          <p:cNvSpPr/>
          <p:nvPr/>
        </p:nvSpPr>
        <p:spPr>
          <a:xfrm>
            <a:off x="8876995"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ounded Rectangle 40"/>
          <p:cNvSpPr/>
          <p:nvPr/>
        </p:nvSpPr>
        <p:spPr>
          <a:xfrm>
            <a:off x="9453067"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ounded Rectangle 41"/>
          <p:cNvSpPr/>
          <p:nvPr/>
        </p:nvSpPr>
        <p:spPr>
          <a:xfrm>
            <a:off x="10029139" y="3950208"/>
            <a:ext cx="457200" cy="457200"/>
          </a:xfrm>
          <a:prstGeom prst="roundRect">
            <a:avLst>
              <a:gd name="adj" fmla="val 14000"/>
            </a:avLst>
          </a:prstGeom>
          <a:solidFill>
            <a:srgbClr val="6B4BA8">
              <a:alpha val="92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5532120" y="2761488"/>
            <a:ext cx="1127455" cy="914400"/>
          </a:xfrm>
          <a:prstGeom prst="rect">
            <a:avLst/>
          </a:prstGeom>
          <a:noFill/>
        </p:spPr>
        <p:txBody>
          <a:bodyPr wrap="square" lIns="0" rIns="0" tIns="0" bIns="0" anchor="t">
            <a:spAutoFit/>
          </a:bodyPr>
          <a:lstStyle/>
          <a:p>
            <a:pPr algn="ctr">
              <a:lnSpc>
                <a:spcPct val="120000"/>
              </a:lnSpc>
              <a:spcAft>
                <a:spcPts val="0"/>
              </a:spcAft>
            </a:pPr>
            <a:r>
              <a:rPr sz="5600" b="1">
                <a:solidFill>
                  <a:srgbClr val="C4392D"/>
                </a:solidFill>
                <a:latin typeface="Calibri"/>
              </a:rPr>
              <a:t>≠</a:t>
            </a:r>
          </a:p>
        </p:txBody>
      </p:sp>
      <p:sp>
        <p:nvSpPr>
          <p:cNvPr id="44" name="TextBox 43"/>
          <p:cNvSpPr txBox="1"/>
          <p:nvPr/>
        </p:nvSpPr>
        <p:spPr>
          <a:xfrm>
            <a:off x="5532120" y="3675888"/>
            <a:ext cx="1127455" cy="548640"/>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niet bij elkaar</a:t>
            </a:r>
          </a:p>
          <a:p>
            <a:pPr algn="ctr">
              <a:lnSpc>
                <a:spcPct val="120000"/>
              </a:lnSpc>
              <a:spcAft>
                <a:spcPts val="0"/>
              </a:spcAft>
            </a:pPr>
            <a:r>
              <a:rPr sz="1050" b="0">
                <a:solidFill>
                  <a:srgbClr val="55677C"/>
                </a:solidFill>
                <a:latin typeface="Calibri"/>
              </a:rPr>
              <a:t>op te tellen</a:t>
            </a:r>
          </a:p>
        </p:txBody>
      </p:sp>
      <p:sp>
        <p:nvSpPr>
          <p:cNvPr id="45" name="Rounded Rectangle 44"/>
          <p:cNvSpPr/>
          <p:nvPr/>
        </p:nvSpPr>
        <p:spPr>
          <a:xfrm>
            <a:off x="640080"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6112" y="4873752"/>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SEH</a:t>
            </a:r>
          </a:p>
        </p:txBody>
      </p:sp>
      <p:sp>
        <p:nvSpPr>
          <p:cNvPr id="47" name="TextBox 46"/>
          <p:cNvSpPr txBox="1"/>
          <p:nvPr/>
        </p:nvSpPr>
        <p:spPr>
          <a:xfrm>
            <a:off x="2849727" y="4873752"/>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48" name="Rounded Rectangle 47"/>
          <p:cNvSpPr/>
          <p:nvPr/>
        </p:nvSpPr>
        <p:spPr>
          <a:xfrm>
            <a:off x="6233007" y="4846320"/>
            <a:ext cx="5318607" cy="493776"/>
          </a:xfrm>
          <a:prstGeom prst="roundRect">
            <a:avLst>
              <a:gd name="adj" fmla="val 8000"/>
            </a:avLst>
          </a:prstGeom>
          <a:no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489039" y="4873752"/>
            <a:ext cx="2194560" cy="438912"/>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Kind spoed</a:t>
            </a:r>
          </a:p>
        </p:txBody>
      </p:sp>
      <p:sp>
        <p:nvSpPr>
          <p:cNvPr id="50" name="TextBox 49"/>
          <p:cNvSpPr txBox="1"/>
          <p:nvPr/>
        </p:nvSpPr>
        <p:spPr>
          <a:xfrm>
            <a:off x="8442655" y="4873752"/>
            <a:ext cx="2852928" cy="438912"/>
          </a:xfrm>
          <a:prstGeom prst="rect">
            <a:avLst/>
          </a:prstGeom>
          <a:noFill/>
        </p:spPr>
        <p:txBody>
          <a:bodyPr wrap="square" lIns="0" rIns="0" tIns="0" bIns="0" anchor="ctr">
            <a:spAutoFit/>
          </a:bodyPr>
          <a:lstStyle/>
          <a:p>
            <a:pPr algn="r">
              <a:lnSpc>
                <a:spcPct val="120000"/>
              </a:lnSpc>
              <a:spcAft>
                <a:spcPts val="0"/>
              </a:spcAft>
            </a:pPr>
            <a:r>
              <a:rPr sz="1050" b="0">
                <a:solidFill>
                  <a:srgbClr val="8B9AAA"/>
                </a:solidFill>
                <a:latin typeface="Calibri"/>
              </a:rPr>
              <a:t>aantal kamers nog niet in beeld</a:t>
            </a:r>
          </a:p>
        </p:txBody>
      </p:sp>
      <p:sp>
        <p:nvSpPr>
          <p:cNvPr id="51" name="Rounded Rectangle 50"/>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Rounded Rectangle 51"/>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WAT DIT BETEKENT VOOR DE CIJFERS</a:t>
            </a:r>
          </a:p>
          <a:p>
            <a:pPr algn="l">
              <a:lnSpc>
                <a:spcPct val="120000"/>
              </a:lnSpc>
              <a:spcAft>
                <a:spcPts val="0"/>
              </a:spcAft>
            </a:pPr>
            <a:r>
              <a:rPr sz="1250" b="1">
                <a:solidFill>
                  <a:srgbClr val="0D1B2A"/>
                </a:solidFill>
                <a:latin typeface="Calibri"/>
              </a:rPr>
              <a:t>De berekeningen zijn per specialisme apart gemaakt, op de huidige gescheiden situatie. Ze zijn niet een op een over te zetten naar nieuwbouwscenario's waarin afdelingen samengaan.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6B4BA8">
                    <a:alpha val="9000"/>
                  </a:srgbClr>
                </a:solidFill>
                <a:latin typeface="Calibri"/>
              </a:rPr>
              <a:t>02</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6B4BA8"/>
                </a:solidFill>
                <a:latin typeface="Calibri"/>
              </a:rPr>
              <a:t>DEEL 02</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gaan we rekenen</a:t>
            </a:r>
          </a:p>
        </p:txBody>
      </p:sp>
      <p:cxnSp>
        <p:nvCxnSpPr>
          <p:cNvPr id="6" name="Connector 5"/>
          <p:cNvCxnSpPr/>
          <p:nvPr/>
        </p:nvCxnSpPr>
        <p:spPr>
          <a:xfrm>
            <a:off x="640080" y="3584448"/>
            <a:ext cx="2377440" cy="0"/>
          </a:xfrm>
          <a:prstGeom prst="line">
            <a:avLst/>
          </a:prstGeom>
          <a:ln w="25400">
            <a:solidFill>
              <a:srgbClr val="6B4BA8"/>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Het tijdpad van september 2026 tot de verhuizing</a:t>
            </a:r>
          </a:p>
        </p:txBody>
      </p:sp>
      <p:sp>
        <p:nvSpPr>
          <p:cNvPr id="9" name="Oval 8"/>
          <p:cNvSpPr/>
          <p:nvPr/>
        </p:nvSpPr>
        <p:spPr>
          <a:xfrm>
            <a:off x="649224" y="4279392"/>
            <a:ext cx="109728" cy="109728"/>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De drie berekeningen en de stromen die meetellen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6B4BA8">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Het tijdpad</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Van de eerste berekening tot de verhuizing</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06</a:t>
            </a:r>
          </a:p>
        </p:txBody>
      </p:sp>
      <p:sp>
        <p:nvSpPr>
          <p:cNvPr id="10" name="Rounded Rectangle 9"/>
          <p:cNvSpPr/>
          <p:nvPr/>
        </p:nvSpPr>
        <p:spPr>
          <a:xfrm>
            <a:off x="667512" y="1920240"/>
            <a:ext cx="724531" cy="548640"/>
          </a:xfrm>
          <a:prstGeom prst="roundRect">
            <a:avLst>
              <a:gd name="adj" fmla="val 16000"/>
            </a:avLst>
          </a:prstGeom>
          <a:solidFill>
            <a:srgbClr val="E2E8F0"/>
          </a:solidFill>
          <a:ln w="15875">
            <a:solidFill>
              <a:srgbClr val="CAD3D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31519" y="1993392"/>
            <a:ext cx="596515"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8B9AAA"/>
                </a:solidFill>
                <a:latin typeface="Calibri"/>
              </a:rPr>
              <a:t>NU</a:t>
            </a:r>
          </a:p>
          <a:p>
            <a:pPr algn="ctr">
              <a:lnSpc>
                <a:spcPct val="120000"/>
              </a:lnSpc>
              <a:spcAft>
                <a:spcPts val="0"/>
              </a:spcAft>
            </a:pPr>
            <a:r>
              <a:rPr sz="900" b="0">
                <a:solidFill>
                  <a:srgbClr val="55677C"/>
                </a:solidFill>
                <a:latin typeface="Calibri"/>
              </a:rPr>
              <a:t>2026</a:t>
            </a:r>
          </a:p>
        </p:txBody>
      </p:sp>
      <p:sp>
        <p:nvSpPr>
          <p:cNvPr id="12" name="Rounded Rectangle 11"/>
          <p:cNvSpPr/>
          <p:nvPr/>
        </p:nvSpPr>
        <p:spPr>
          <a:xfrm>
            <a:off x="1446907" y="1920240"/>
            <a:ext cx="6180298" cy="548640"/>
          </a:xfrm>
          <a:prstGeom prst="roundRect">
            <a:avLst>
              <a:gd name="adj" fmla="val 16000"/>
            </a:avLst>
          </a:prstGeom>
          <a:solidFill>
            <a:srgbClr val="D2E2F1"/>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10915" y="1993392"/>
            <a:ext cx="6052282"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1F6FB2"/>
                </a:solidFill>
                <a:latin typeface="Calibri"/>
              </a:rPr>
              <a:t>OUDBOUW</a:t>
            </a:r>
          </a:p>
          <a:p>
            <a:pPr algn="ctr">
              <a:lnSpc>
                <a:spcPct val="120000"/>
              </a:lnSpc>
              <a:spcAft>
                <a:spcPts val="0"/>
              </a:spcAft>
            </a:pPr>
            <a:r>
              <a:rPr sz="900" b="0">
                <a:solidFill>
                  <a:srgbClr val="55677C"/>
                </a:solidFill>
                <a:latin typeface="Calibri"/>
              </a:rPr>
              <a:t>okt 2026 - mei 2027</a:t>
            </a:r>
          </a:p>
        </p:txBody>
      </p:sp>
      <p:sp>
        <p:nvSpPr>
          <p:cNvPr id="14" name="Rounded Rectangle 13"/>
          <p:cNvSpPr/>
          <p:nvPr/>
        </p:nvSpPr>
        <p:spPr>
          <a:xfrm>
            <a:off x="7682070" y="1920240"/>
            <a:ext cx="3842112" cy="548640"/>
          </a:xfrm>
          <a:prstGeom prst="roundRect">
            <a:avLst>
              <a:gd name="adj" fmla="val 16000"/>
            </a:avLst>
          </a:prstGeom>
          <a:solidFill>
            <a:srgbClr val="CFE8EA"/>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46078" y="1993392"/>
            <a:ext cx="3714096" cy="420624"/>
          </a:xfrm>
          <a:prstGeom prst="rect">
            <a:avLst/>
          </a:prstGeom>
          <a:noFill/>
        </p:spPr>
        <p:txBody>
          <a:bodyPr wrap="square" lIns="0" rIns="0" tIns="0" bIns="0" anchor="ctr">
            <a:spAutoFit/>
          </a:bodyPr>
          <a:lstStyle/>
          <a:p>
            <a:pPr algn="ctr">
              <a:lnSpc>
                <a:spcPct val="120000"/>
              </a:lnSpc>
              <a:spcAft>
                <a:spcPts val="100"/>
              </a:spcAft>
            </a:pPr>
            <a:r>
              <a:rPr sz="1100" b="1" spc="140">
                <a:solidFill>
                  <a:srgbClr val="0E9A87"/>
                </a:solidFill>
                <a:latin typeface="Calibri"/>
              </a:rPr>
              <a:t>NIEUWBOUW</a:t>
            </a:r>
          </a:p>
          <a:p>
            <a:pPr algn="ctr">
              <a:lnSpc>
                <a:spcPct val="120000"/>
              </a:lnSpc>
              <a:spcAft>
                <a:spcPts val="0"/>
              </a:spcAft>
            </a:pPr>
            <a:r>
              <a:rPr sz="900" b="0">
                <a:solidFill>
                  <a:srgbClr val="55677C"/>
                </a:solidFill>
                <a:latin typeface="Calibri"/>
              </a:rPr>
              <a:t>vanaf juni 2027</a:t>
            </a:r>
          </a:p>
        </p:txBody>
      </p:sp>
      <p:sp>
        <p:nvSpPr>
          <p:cNvPr id="16" name="Rounded Rectangle 15"/>
          <p:cNvSpPr/>
          <p:nvPr/>
        </p:nvSpPr>
        <p:spPr>
          <a:xfrm>
            <a:off x="640080" y="2944368"/>
            <a:ext cx="779395" cy="10972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1419475" y="2944368"/>
            <a:ext cx="6235162" cy="10972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7654638" y="2944368"/>
            <a:ext cx="3896976" cy="109728"/>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9" name="Connector 18"/>
          <p:cNvCxnSpPr/>
          <p:nvPr/>
        </p:nvCxnSpPr>
        <p:spPr>
          <a:xfrm>
            <a:off x="64008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41947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198870"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97826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757661"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537056"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31645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095847"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75242"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54638"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434033"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21342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9992824"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772219"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1551615" y="3054096"/>
            <a:ext cx="0"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102520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0D1B2A"/>
                </a:solidFill>
                <a:latin typeface="Calibri"/>
              </a:rPr>
              <a:t>sept</a:t>
            </a:r>
          </a:p>
        </p:txBody>
      </p:sp>
      <p:sp>
        <p:nvSpPr>
          <p:cNvPr id="36" name="Rectangle 35"/>
          <p:cNvSpPr/>
          <p:nvPr/>
        </p:nvSpPr>
        <p:spPr>
          <a:xfrm>
            <a:off x="180460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419475"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okt</a:t>
            </a:r>
          </a:p>
        </p:txBody>
      </p:sp>
      <p:sp>
        <p:nvSpPr>
          <p:cNvPr id="38" name="Rectangle 37"/>
          <p:cNvSpPr/>
          <p:nvPr/>
        </p:nvSpPr>
        <p:spPr>
          <a:xfrm>
            <a:off x="2583996"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2198870"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nov</a:t>
            </a:r>
          </a:p>
        </p:txBody>
      </p:sp>
      <p:sp>
        <p:nvSpPr>
          <p:cNvPr id="40" name="Rectangle 39"/>
          <p:cNvSpPr/>
          <p:nvPr/>
        </p:nvSpPr>
        <p:spPr>
          <a:xfrm>
            <a:off x="3363391"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297826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dec</a:t>
            </a:r>
          </a:p>
        </p:txBody>
      </p:sp>
      <p:sp>
        <p:nvSpPr>
          <p:cNvPr id="42" name="Rectangle 41"/>
          <p:cNvSpPr/>
          <p:nvPr/>
        </p:nvSpPr>
        <p:spPr>
          <a:xfrm>
            <a:off x="414278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57661"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jan</a:t>
            </a:r>
          </a:p>
        </p:txBody>
      </p:sp>
      <p:sp>
        <p:nvSpPr>
          <p:cNvPr id="44" name="Rectangle 43"/>
          <p:cNvSpPr/>
          <p:nvPr/>
        </p:nvSpPr>
        <p:spPr>
          <a:xfrm>
            <a:off x="4922182"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537056"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feb</a:t>
            </a:r>
          </a:p>
        </p:txBody>
      </p:sp>
      <p:sp>
        <p:nvSpPr>
          <p:cNvPr id="46" name="Rectangle 45"/>
          <p:cNvSpPr/>
          <p:nvPr/>
        </p:nvSpPr>
        <p:spPr>
          <a:xfrm>
            <a:off x="5701577"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531645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mrt</a:t>
            </a:r>
          </a:p>
        </p:txBody>
      </p:sp>
      <p:sp>
        <p:nvSpPr>
          <p:cNvPr id="48" name="Rectangle 47"/>
          <p:cNvSpPr/>
          <p:nvPr/>
        </p:nvSpPr>
        <p:spPr>
          <a:xfrm>
            <a:off x="6480973"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095847"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apr</a:t>
            </a:r>
          </a:p>
        </p:txBody>
      </p:sp>
      <p:sp>
        <p:nvSpPr>
          <p:cNvPr id="50" name="Rectangle 49"/>
          <p:cNvSpPr/>
          <p:nvPr/>
        </p:nvSpPr>
        <p:spPr>
          <a:xfrm>
            <a:off x="7260368"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875242"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mei</a:t>
            </a:r>
          </a:p>
        </p:txBody>
      </p:sp>
      <p:sp>
        <p:nvSpPr>
          <p:cNvPr id="52" name="Rectangle 51"/>
          <p:cNvSpPr/>
          <p:nvPr/>
        </p:nvSpPr>
        <p:spPr>
          <a:xfrm>
            <a:off x="803976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7654638" y="3218688"/>
            <a:ext cx="779395" cy="237744"/>
          </a:xfrm>
          <a:prstGeom prst="rect">
            <a:avLst/>
          </a:prstGeom>
          <a:noFill/>
        </p:spPr>
        <p:txBody>
          <a:bodyPr wrap="square" lIns="0" rIns="0" tIns="0" bIns="0" anchor="t">
            <a:spAutoFit/>
          </a:bodyPr>
          <a:lstStyle/>
          <a:p>
            <a:pPr algn="ctr">
              <a:lnSpc>
                <a:spcPct val="120000"/>
              </a:lnSpc>
              <a:spcAft>
                <a:spcPts val="0"/>
              </a:spcAft>
            </a:pPr>
            <a:r>
              <a:rPr sz="1050" b="1">
                <a:solidFill>
                  <a:srgbClr val="0D1B2A"/>
                </a:solidFill>
                <a:latin typeface="Calibri"/>
              </a:rPr>
              <a:t>juni</a:t>
            </a:r>
          </a:p>
        </p:txBody>
      </p:sp>
      <p:sp>
        <p:nvSpPr>
          <p:cNvPr id="54" name="Rectangle 53"/>
          <p:cNvSpPr/>
          <p:nvPr/>
        </p:nvSpPr>
        <p:spPr>
          <a:xfrm>
            <a:off x="8819159"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434033"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juli</a:t>
            </a:r>
          </a:p>
        </p:txBody>
      </p:sp>
      <p:sp>
        <p:nvSpPr>
          <p:cNvPr id="56" name="Rectangle 55"/>
          <p:cNvSpPr/>
          <p:nvPr/>
        </p:nvSpPr>
        <p:spPr>
          <a:xfrm>
            <a:off x="9598554"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21342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aug</a:t>
            </a:r>
          </a:p>
        </p:txBody>
      </p:sp>
      <p:sp>
        <p:nvSpPr>
          <p:cNvPr id="58" name="Rectangle 57"/>
          <p:cNvSpPr/>
          <p:nvPr/>
        </p:nvSpPr>
        <p:spPr>
          <a:xfrm>
            <a:off x="10377950"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9992824"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sept</a:t>
            </a:r>
          </a:p>
        </p:txBody>
      </p:sp>
      <p:sp>
        <p:nvSpPr>
          <p:cNvPr id="60" name="Rectangle 59"/>
          <p:cNvSpPr/>
          <p:nvPr/>
        </p:nvSpPr>
        <p:spPr>
          <a:xfrm>
            <a:off x="11157345" y="3072384"/>
            <a:ext cx="9144" cy="91440"/>
          </a:xfrm>
          <a:prstGeom prst="rect">
            <a:avLst/>
          </a:prstGeom>
          <a:solidFill>
            <a:srgbClr val="C6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10772219" y="3218688"/>
            <a:ext cx="779395" cy="237744"/>
          </a:xfrm>
          <a:prstGeom prst="rect">
            <a:avLst/>
          </a:prstGeom>
          <a:noFill/>
        </p:spPr>
        <p:txBody>
          <a:bodyPr wrap="square" lIns="0" rIns="0" tIns="0" bIns="0" anchor="t">
            <a:spAutoFit/>
          </a:bodyPr>
          <a:lstStyle/>
          <a:p>
            <a:pPr algn="ctr">
              <a:lnSpc>
                <a:spcPct val="120000"/>
              </a:lnSpc>
              <a:spcAft>
                <a:spcPts val="0"/>
              </a:spcAft>
            </a:pPr>
            <a:r>
              <a:rPr sz="1050" b="0">
                <a:solidFill>
                  <a:srgbClr val="55677C"/>
                </a:solidFill>
                <a:latin typeface="Calibri"/>
              </a:rPr>
              <a:t>okt</a:t>
            </a:r>
          </a:p>
        </p:txBody>
      </p:sp>
      <p:sp>
        <p:nvSpPr>
          <p:cNvPr id="62" name="Oval 61"/>
          <p:cNvSpPr/>
          <p:nvPr/>
        </p:nvSpPr>
        <p:spPr>
          <a:xfrm>
            <a:off x="846897" y="2816352"/>
            <a:ext cx="365760" cy="365760"/>
          </a:xfrm>
          <a:prstGeom prst="ellipse">
            <a:avLst/>
          </a:prstGeom>
          <a:solidFill>
            <a:srgbClr val="6B4B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938337" y="2907792"/>
            <a:ext cx="182880" cy="182880"/>
          </a:xfrm>
          <a:prstGeom prst="ellipse">
            <a:avLst/>
          </a:prstGeom>
          <a:solidFill>
            <a:srgbClr val="6B4B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Freeform 63"/>
          <p:cNvSpPr/>
          <p:nvPr/>
        </p:nvSpPr>
        <p:spPr>
          <a:xfrm>
            <a:off x="1029777" y="3108960"/>
            <a:ext cx="1530543" cy="786384"/>
          </a:xfrm>
          <a:custGeom>
            <a:avLst/>
            <a:gdLst/>
            <a:ahLst/>
            <a:cxnLst/>
            <a:rect l="l" t="t" r="r" b="b"/>
            <a:pathLst>
              <a:path w="1530543" h="786384">
                <a:moveTo>
                  <a:pt x="0" y="0"/>
                </a:moveTo>
                <a:lnTo>
                  <a:pt x="0" y="621792"/>
                </a:lnTo>
                <a:lnTo>
                  <a:pt x="1530543" y="621792"/>
                </a:lnTo>
                <a:lnTo>
                  <a:pt x="1530543" y="786384"/>
                </a:lnTo>
              </a:path>
            </a:pathLst>
          </a:custGeom>
          <a:noFill/>
          <a:ln w="15875">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40080" y="3950208"/>
            <a:ext cx="3840480" cy="1225296"/>
          </a:xfrm>
          <a:prstGeom prst="roundRect">
            <a:avLst>
              <a:gd name="adj" fmla="val 3000"/>
            </a:avLst>
          </a:prstGeom>
          <a:solidFill>
            <a:srgbClr val="DDDC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914400"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6B4BA8"/>
                </a:solidFill>
                <a:latin typeface="Calibri"/>
              </a:rPr>
              <a:t>Berekeningen starten</a:t>
            </a:r>
          </a:p>
          <a:p>
            <a:pPr algn="l">
              <a:lnSpc>
                <a:spcPct val="124000"/>
              </a:lnSpc>
              <a:spcAft>
                <a:spcPts val="0"/>
              </a:spcAft>
            </a:pPr>
            <a:r>
              <a:rPr sz="1150" b="0">
                <a:solidFill>
                  <a:srgbClr val="55677C"/>
                </a:solidFill>
                <a:latin typeface="Calibri"/>
              </a:rPr>
              <a:t>aantal bedden, norm verpleegkundigen en indirecte uren</a:t>
            </a:r>
          </a:p>
        </p:txBody>
      </p:sp>
      <p:sp>
        <p:nvSpPr>
          <p:cNvPr id="67" name="Oval 66"/>
          <p:cNvSpPr/>
          <p:nvPr/>
        </p:nvSpPr>
        <p:spPr>
          <a:xfrm>
            <a:off x="7861456" y="2816352"/>
            <a:ext cx="365760" cy="365760"/>
          </a:xfrm>
          <a:prstGeom prst="ellipse">
            <a:avLst/>
          </a:prstGeom>
          <a:solidFill>
            <a:srgbClr val="C87E12">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7952896" y="2907792"/>
            <a:ext cx="182880" cy="182880"/>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Freeform 68"/>
          <p:cNvSpPr/>
          <p:nvPr/>
        </p:nvSpPr>
        <p:spPr>
          <a:xfrm>
            <a:off x="8044336" y="3108960"/>
            <a:ext cx="0" cy="786384"/>
          </a:xfrm>
          <a:custGeom>
            <a:avLst/>
            <a:gdLst/>
            <a:ahLst/>
            <a:cxnLst/>
            <a:rect l="l" t="t" r="r" b="b"/>
            <a:pathLst>
              <a:path w="0" h="786384">
                <a:moveTo>
                  <a:pt x="0" y="0"/>
                </a:moveTo>
                <a:lnTo>
                  <a:pt x="0" y="621792"/>
                </a:lnTo>
                <a:lnTo>
                  <a:pt x="0" y="621792"/>
                </a:lnTo>
                <a:lnTo>
                  <a:pt x="0" y="786384"/>
                </a:lnTo>
              </a:path>
            </a:pathLst>
          </a:custGeom>
          <a:noFill/>
          <a:ln w="15875">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6124096" y="3950208"/>
            <a:ext cx="3840480" cy="1225296"/>
          </a:xfrm>
          <a:prstGeom prst="roundRect">
            <a:avLst>
              <a:gd name="adj" fmla="val 3000"/>
            </a:avLst>
          </a:prstGeom>
          <a:solidFill>
            <a:srgbClr val="EBE4D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Box 70"/>
          <p:cNvSpPr txBox="1"/>
          <p:nvPr/>
        </p:nvSpPr>
        <p:spPr>
          <a:xfrm>
            <a:off x="6398416" y="4114800"/>
            <a:ext cx="3291840" cy="1005840"/>
          </a:xfrm>
          <a:prstGeom prst="rect">
            <a:avLst/>
          </a:prstGeom>
          <a:noFill/>
        </p:spPr>
        <p:txBody>
          <a:bodyPr wrap="square" lIns="0" rIns="0" tIns="0" bIns="0" anchor="t">
            <a:spAutoFit/>
          </a:bodyPr>
          <a:lstStyle/>
          <a:p>
            <a:pPr algn="l">
              <a:lnSpc>
                <a:spcPct val="120000"/>
              </a:lnSpc>
              <a:spcAft>
                <a:spcPts val="500"/>
              </a:spcAft>
            </a:pPr>
            <a:r>
              <a:rPr sz="1600" b="1">
                <a:solidFill>
                  <a:srgbClr val="C87E12"/>
                </a:solidFill>
                <a:latin typeface="Calibri"/>
              </a:rPr>
              <a:t>Verhuizing</a:t>
            </a:r>
          </a:p>
          <a:p>
            <a:pPr algn="l">
              <a:lnSpc>
                <a:spcPct val="124000"/>
              </a:lnSpc>
              <a:spcAft>
                <a:spcPts val="0"/>
              </a:spcAft>
            </a:pPr>
            <a:r>
              <a:rPr sz="1150" b="0">
                <a:solidFill>
                  <a:srgbClr val="55677C"/>
                </a:solidFill>
                <a:latin typeface="Calibri"/>
              </a:rPr>
              <a:t>daarna draait de zorg in de nieuwbouw</a:t>
            </a:r>
          </a:p>
        </p:txBody>
      </p:sp>
      <p:sp>
        <p:nvSpPr>
          <p:cNvPr id="72" name="Rounded Rectangle 71"/>
          <p:cNvSpPr/>
          <p:nvPr/>
        </p:nvSpPr>
        <p:spPr>
          <a:xfrm>
            <a:off x="640080" y="5431536"/>
            <a:ext cx="10911535" cy="822960"/>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640080" y="5431536"/>
            <a:ext cx="50292" cy="822960"/>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969264" y="5513831"/>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1F6FB2"/>
                </a:solidFill>
                <a:latin typeface="Calibri"/>
              </a:rPr>
              <a:t>WAT DIT BETEKENT</a:t>
            </a:r>
          </a:p>
          <a:p>
            <a:pPr algn="l">
              <a:lnSpc>
                <a:spcPct val="120000"/>
              </a:lnSpc>
              <a:spcAft>
                <a:spcPts val="0"/>
              </a:spcAft>
            </a:pPr>
            <a:r>
              <a:rPr sz="1250" b="1">
                <a:solidFill>
                  <a:srgbClr val="0D1B2A"/>
                </a:solidFill>
                <a:latin typeface="Calibri"/>
              </a:rPr>
              <a:t>In de oudbouw werken de afdelingen al toe naar de nieuwe situatie. Wat schuift daar al, en wat pas na de verhuizing?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02  ·  WAT GAAN WE REKENEN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Berekeningen</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Start september 2026 — drie onderdelen, waarvan het eerste per afdeling is uitgesplitst naar patiëntstroom</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07</a:t>
            </a:r>
          </a:p>
        </p:txBody>
      </p:sp>
      <p:sp>
        <p:nvSpPr>
          <p:cNvPr id="10" name="Rounded Rectangle 9"/>
          <p:cNvSpPr/>
          <p:nvPr/>
        </p:nvSpPr>
        <p:spPr>
          <a:xfrm>
            <a:off x="640080" y="1700784"/>
            <a:ext cx="7772400" cy="360273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813815" y="1874520"/>
            <a:ext cx="457200" cy="457200"/>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500" b="1">
                <a:solidFill>
                  <a:srgbClr val="1F6FB2"/>
                </a:solidFill>
                <a:latin typeface="Calibri"/>
              </a:rPr>
              <a:t>1</a:t>
            </a:r>
          </a:p>
        </p:txBody>
      </p:sp>
      <p:sp>
        <p:nvSpPr>
          <p:cNvPr id="12" name="TextBox 11"/>
          <p:cNvSpPr txBox="1"/>
          <p:nvPr/>
        </p:nvSpPr>
        <p:spPr>
          <a:xfrm>
            <a:off x="1389888" y="1883664"/>
            <a:ext cx="6675120" cy="457200"/>
          </a:xfrm>
          <a:prstGeom prst="rect">
            <a:avLst/>
          </a:prstGeom>
          <a:noFill/>
        </p:spPr>
        <p:txBody>
          <a:bodyPr wrap="square" lIns="0" rIns="0" tIns="0" bIns="0" anchor="ctr">
            <a:spAutoFit/>
          </a:bodyPr>
          <a:lstStyle/>
          <a:p>
            <a:pPr algn="l">
              <a:lnSpc>
                <a:spcPct val="120000"/>
              </a:lnSpc>
              <a:spcAft>
                <a:spcPts val="0"/>
              </a:spcAft>
            </a:pPr>
            <a:r>
              <a:rPr sz="1700" b="1">
                <a:solidFill>
                  <a:srgbClr val="0D1B2A"/>
                </a:solidFill>
                <a:latin typeface="Calibri"/>
              </a:rPr>
              <a:t>Aantal bedden op basis van patiëntaanwezigheid</a:t>
            </a:r>
          </a:p>
        </p:txBody>
      </p:sp>
      <p:sp>
        <p:nvSpPr>
          <p:cNvPr id="13" name="TextBox 12"/>
          <p:cNvSpPr txBox="1"/>
          <p:nvPr/>
        </p:nvSpPr>
        <p:spPr>
          <a:xfrm>
            <a:off x="1389888" y="2267712"/>
            <a:ext cx="6675120" cy="237744"/>
          </a:xfrm>
          <a:prstGeom prst="rect">
            <a:avLst/>
          </a:prstGeom>
          <a:noFill/>
        </p:spPr>
        <p:txBody>
          <a:bodyPr wrap="square" lIns="0" rIns="0" tIns="0" bIns="0" anchor="t">
            <a:spAutoFit/>
          </a:bodyPr>
          <a:lstStyle/>
          <a:p>
            <a:pPr algn="l">
              <a:lnSpc>
                <a:spcPct val="120000"/>
              </a:lnSpc>
              <a:spcAft>
                <a:spcPts val="0"/>
              </a:spcAft>
            </a:pPr>
            <a:r>
              <a:rPr sz="1100" b="0">
                <a:solidFill>
                  <a:srgbClr val="55677C"/>
                </a:solidFill>
                <a:latin typeface="Calibri"/>
              </a:rPr>
              <a:t>dit hebben we nu per afdeling in kaart</a:t>
            </a:r>
          </a:p>
        </p:txBody>
      </p:sp>
      <p:cxnSp>
        <p:nvCxnSpPr>
          <p:cNvPr id="14" name="Connector 13"/>
          <p:cNvCxnSpPr/>
          <p:nvPr/>
        </p:nvCxnSpPr>
        <p:spPr>
          <a:xfrm>
            <a:off x="932688" y="2596896"/>
            <a:ext cx="7187184"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32688" y="2761488"/>
            <a:ext cx="1097280" cy="457200"/>
          </a:xfrm>
          <a:prstGeom prst="roundRect">
            <a:avLst>
              <a:gd name="adj" fmla="val 14000"/>
            </a:avLst>
          </a:prstGeom>
          <a:solidFill>
            <a:srgbClr val="CFE0F0"/>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2761488"/>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1F6FB2"/>
                </a:solidFill>
                <a:latin typeface="Calibri"/>
              </a:rPr>
              <a:t>ICU</a:t>
            </a:r>
          </a:p>
        </p:txBody>
      </p:sp>
      <p:sp>
        <p:nvSpPr>
          <p:cNvPr id="17" name="Freeform 16"/>
          <p:cNvSpPr/>
          <p:nvPr/>
        </p:nvSpPr>
        <p:spPr>
          <a:xfrm>
            <a:off x="2066543" y="2990088"/>
            <a:ext cx="237744" cy="0"/>
          </a:xfrm>
          <a:custGeom>
            <a:avLst/>
            <a:gdLst/>
            <a:ahLst/>
            <a:cxnLst/>
            <a:rect l="l" t="t" r="r" b="b"/>
            <a:pathLst>
              <a:path w="237744" h="0">
                <a:moveTo>
                  <a:pt x="0" y="0"/>
                </a:moveTo>
                <a:lnTo>
                  <a:pt x="237744"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340863"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spoed</a:t>
            </a:r>
          </a:p>
        </p:txBody>
      </p:sp>
      <p:sp>
        <p:nvSpPr>
          <p:cNvPr id="19" name="Freeform 18"/>
          <p:cNvSpPr/>
          <p:nvPr/>
        </p:nvSpPr>
        <p:spPr>
          <a:xfrm>
            <a:off x="3611879" y="2990088"/>
            <a:ext cx="237745" cy="0"/>
          </a:xfrm>
          <a:custGeom>
            <a:avLst/>
            <a:gdLst/>
            <a:ahLst/>
            <a:cxnLst/>
            <a:rect l="l" t="t" r="r" b="b"/>
            <a:pathLst>
              <a:path w="237745" h="0">
                <a:moveTo>
                  <a:pt x="0" y="0"/>
                </a:moveTo>
                <a:lnTo>
                  <a:pt x="237745"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886200"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electief</a:t>
            </a:r>
          </a:p>
        </p:txBody>
      </p:sp>
      <p:sp>
        <p:nvSpPr>
          <p:cNvPr id="21" name="Freeform 20"/>
          <p:cNvSpPr/>
          <p:nvPr/>
        </p:nvSpPr>
        <p:spPr>
          <a:xfrm>
            <a:off x="5157216" y="2990088"/>
            <a:ext cx="237743" cy="0"/>
          </a:xfrm>
          <a:custGeom>
            <a:avLst/>
            <a:gdLst/>
            <a:ahLst/>
            <a:cxnLst/>
            <a:rect l="l" t="t" r="r" b="b"/>
            <a:pathLst>
              <a:path w="237743" h="0">
                <a:moveTo>
                  <a:pt x="0" y="0"/>
                </a:moveTo>
                <a:lnTo>
                  <a:pt x="237743" y="0"/>
                </a:lnTo>
              </a:path>
            </a:pathLst>
          </a:custGeom>
          <a:noFill/>
          <a:ln w="19050">
            <a:solidFill>
              <a:srgbClr val="73A5D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431536" y="2761488"/>
            <a:ext cx="1234440" cy="457200"/>
          </a:xfrm>
          <a:prstGeom prst="roundRect">
            <a:avLst>
              <a:gd name="adj" fmla="val 50000"/>
            </a:avLst>
          </a:prstGeom>
          <a:solidFill>
            <a:srgbClr val="1F6FB2">
              <a:alpha val="9000"/>
            </a:srgbClr>
          </a:solidFill>
          <a:ln w="12700">
            <a:solidFill>
              <a:srgbClr val="88B2D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F6FB2"/>
                </a:solidFill>
                <a:latin typeface="Calibri"/>
              </a:rPr>
              <a:t>recovery</a:t>
            </a:r>
          </a:p>
        </p:txBody>
      </p:sp>
      <p:sp>
        <p:nvSpPr>
          <p:cNvPr id="23" name="Rounded Rectangle 22"/>
          <p:cNvSpPr/>
          <p:nvPr/>
        </p:nvSpPr>
        <p:spPr>
          <a:xfrm>
            <a:off x="932688" y="3273552"/>
            <a:ext cx="1097280" cy="457200"/>
          </a:xfrm>
          <a:prstGeom prst="roundRect">
            <a:avLst>
              <a:gd name="adj" fmla="val 14000"/>
            </a:avLst>
          </a:prstGeom>
          <a:solidFill>
            <a:srgbClr val="DCDBEF"/>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932688" y="3273552"/>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6B4BA8"/>
                </a:solidFill>
                <a:latin typeface="Calibri"/>
              </a:rPr>
              <a:t>CCU</a:t>
            </a:r>
          </a:p>
        </p:txBody>
      </p:sp>
      <p:sp>
        <p:nvSpPr>
          <p:cNvPr id="25" name="Freeform 24"/>
          <p:cNvSpPr/>
          <p:nvPr/>
        </p:nvSpPr>
        <p:spPr>
          <a:xfrm>
            <a:off x="2066543" y="3502152"/>
            <a:ext cx="237744" cy="0"/>
          </a:xfrm>
          <a:custGeom>
            <a:avLst/>
            <a:gdLst/>
            <a:ahLst/>
            <a:cxnLst/>
            <a:rect l="l" t="t" r="r" b="b"/>
            <a:pathLst>
              <a:path w="237744" h="0">
                <a:moveTo>
                  <a:pt x="0" y="0"/>
                </a:moveTo>
                <a:lnTo>
                  <a:pt x="237744"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340863" y="3273552"/>
            <a:ext cx="1234440"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6B4BA8"/>
                </a:solidFill>
                <a:latin typeface="Calibri"/>
              </a:rPr>
              <a:t>spoed</a:t>
            </a:r>
          </a:p>
        </p:txBody>
      </p:sp>
      <p:sp>
        <p:nvSpPr>
          <p:cNvPr id="27" name="Freeform 26"/>
          <p:cNvSpPr/>
          <p:nvPr/>
        </p:nvSpPr>
        <p:spPr>
          <a:xfrm>
            <a:off x="3611879" y="3502152"/>
            <a:ext cx="237745" cy="0"/>
          </a:xfrm>
          <a:custGeom>
            <a:avLst/>
            <a:gdLst/>
            <a:ahLst/>
            <a:cxnLst/>
            <a:rect l="l" t="t" r="r" b="b"/>
            <a:pathLst>
              <a:path w="237745" h="0">
                <a:moveTo>
                  <a:pt x="0" y="0"/>
                </a:moveTo>
                <a:lnTo>
                  <a:pt x="237745" y="0"/>
                </a:lnTo>
              </a:path>
            </a:pathLst>
          </a:custGeom>
          <a:noFill/>
          <a:ln w="19050">
            <a:solidFill>
              <a:srgbClr val="A18FC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3886200" y="3273552"/>
            <a:ext cx="1283817" cy="457200"/>
          </a:xfrm>
          <a:prstGeom prst="roundRect">
            <a:avLst>
              <a:gd name="adj" fmla="val 50000"/>
            </a:avLst>
          </a:prstGeom>
          <a:solidFill>
            <a:srgbClr val="6B4BA8">
              <a:alpha val="9000"/>
            </a:srgbClr>
          </a:solidFill>
          <a:ln w="12700">
            <a:solidFill>
              <a:srgbClr val="AEA0D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6B4BA8"/>
                </a:solidFill>
                <a:latin typeface="Calibri"/>
              </a:rPr>
              <a:t>cardioversie</a:t>
            </a:r>
          </a:p>
        </p:txBody>
      </p:sp>
      <p:sp>
        <p:nvSpPr>
          <p:cNvPr id="29" name="Rounded Rectangle 28"/>
          <p:cNvSpPr/>
          <p:nvPr/>
        </p:nvSpPr>
        <p:spPr>
          <a:xfrm>
            <a:off x="932688" y="3785616"/>
            <a:ext cx="1097280" cy="457200"/>
          </a:xfrm>
          <a:prstGeom prst="roundRect">
            <a:avLst>
              <a:gd name="adj" fmla="val 14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32688" y="3785616"/>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0E9A87"/>
                </a:solidFill>
                <a:latin typeface="Calibri"/>
              </a:rPr>
              <a:t>SCU</a:t>
            </a:r>
          </a:p>
        </p:txBody>
      </p:sp>
      <p:sp>
        <p:nvSpPr>
          <p:cNvPr id="31" name="Freeform 30"/>
          <p:cNvSpPr/>
          <p:nvPr/>
        </p:nvSpPr>
        <p:spPr>
          <a:xfrm>
            <a:off x="2066543" y="4014216"/>
            <a:ext cx="237744" cy="0"/>
          </a:xfrm>
          <a:custGeom>
            <a:avLst/>
            <a:gdLst/>
            <a:ahLst/>
            <a:cxnLst/>
            <a:rect l="l" t="t" r="r" b="b"/>
            <a:pathLst>
              <a:path w="237744" h="0">
                <a:moveTo>
                  <a:pt x="0" y="0"/>
                </a:moveTo>
                <a:lnTo>
                  <a:pt x="237744" y="0"/>
                </a:lnTo>
              </a:path>
            </a:pathLst>
          </a:custGeom>
          <a:noFill/>
          <a:ln w="19050">
            <a:solidFill>
              <a:srgbClr val="69BF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2340863" y="3785616"/>
            <a:ext cx="1234440" cy="457200"/>
          </a:xfrm>
          <a:prstGeom prst="roundRect">
            <a:avLst>
              <a:gd name="adj" fmla="val 50000"/>
            </a:avLst>
          </a:prstGeom>
          <a:solidFill>
            <a:srgbClr val="0E9A87">
              <a:alpha val="9000"/>
            </a:srgbClr>
          </a:solidFill>
          <a:ln w="12700">
            <a:solidFill>
              <a:srgbClr val="80C8C2"/>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0E9A87"/>
                </a:solidFill>
                <a:latin typeface="Calibri"/>
              </a:rPr>
              <a:t>spoed</a:t>
            </a:r>
          </a:p>
        </p:txBody>
      </p:sp>
      <p:sp>
        <p:nvSpPr>
          <p:cNvPr id="33" name="Rounded Rectangle 32"/>
          <p:cNvSpPr/>
          <p:nvPr/>
        </p:nvSpPr>
        <p:spPr>
          <a:xfrm>
            <a:off x="932688" y="4297680"/>
            <a:ext cx="1097280" cy="457200"/>
          </a:xfrm>
          <a:prstGeom prst="roundRect">
            <a:avLst>
              <a:gd name="adj" fmla="val 14000"/>
            </a:avLst>
          </a:prstGeom>
          <a:solidFill>
            <a:srgbClr val="EAE3D7"/>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32688" y="4297680"/>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C87E12"/>
                </a:solidFill>
                <a:latin typeface="Calibri"/>
              </a:rPr>
              <a:t>EHH</a:t>
            </a:r>
          </a:p>
        </p:txBody>
      </p:sp>
      <p:sp>
        <p:nvSpPr>
          <p:cNvPr id="35" name="Freeform 34"/>
          <p:cNvSpPr/>
          <p:nvPr/>
        </p:nvSpPr>
        <p:spPr>
          <a:xfrm>
            <a:off x="2066543" y="4526280"/>
            <a:ext cx="237744" cy="0"/>
          </a:xfrm>
          <a:custGeom>
            <a:avLst/>
            <a:gdLst/>
            <a:ahLst/>
            <a:cxnLst/>
            <a:rect l="l" t="t" r="r" b="b"/>
            <a:pathLst>
              <a:path w="237744" h="0">
                <a:moveTo>
                  <a:pt x="0" y="0"/>
                </a:moveTo>
                <a:lnTo>
                  <a:pt x="237744" y="0"/>
                </a:lnTo>
              </a:path>
            </a:pathLst>
          </a:custGeom>
          <a:noFill/>
          <a:ln w="19050">
            <a:solidFill>
              <a:srgbClr val="D8A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2340863" y="4297680"/>
            <a:ext cx="1234440" cy="457200"/>
          </a:xfrm>
          <a:prstGeom prst="roundRect">
            <a:avLst>
              <a:gd name="adj" fmla="val 50000"/>
            </a:avLst>
          </a:prstGeom>
          <a:solidFill>
            <a:srgbClr val="C87E12">
              <a:alpha val="9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C87E12"/>
                </a:solidFill>
                <a:latin typeface="Calibri"/>
              </a:rPr>
              <a:t>spoed</a:t>
            </a:r>
          </a:p>
        </p:txBody>
      </p:sp>
      <p:sp>
        <p:nvSpPr>
          <p:cNvPr id="37" name="Rounded Rectangle 36"/>
          <p:cNvSpPr/>
          <p:nvPr/>
        </p:nvSpPr>
        <p:spPr>
          <a:xfrm>
            <a:off x="932688" y="4809744"/>
            <a:ext cx="1097280" cy="457200"/>
          </a:xfrm>
          <a:prstGeom prst="roundRect">
            <a:avLst>
              <a:gd name="adj" fmla="val 14000"/>
            </a:avLst>
          </a:prstGeom>
          <a:solidFill>
            <a:srgbClr val="CDD8E4"/>
          </a:solidFill>
          <a:ln w="15875">
            <a:solidFill>
              <a:srgbClr val="9CAFC2"/>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32688" y="4809744"/>
            <a:ext cx="1097280" cy="457200"/>
          </a:xfrm>
          <a:prstGeom prst="rect">
            <a:avLst/>
          </a:prstGeom>
          <a:noFill/>
        </p:spPr>
        <p:txBody>
          <a:bodyPr wrap="square" lIns="0" rIns="0" tIns="0" bIns="0" anchor="ctr">
            <a:spAutoFit/>
          </a:bodyPr>
          <a:lstStyle/>
          <a:p>
            <a:pPr algn="ctr">
              <a:lnSpc>
                <a:spcPct val="120000"/>
              </a:lnSpc>
              <a:spcAft>
                <a:spcPts val="0"/>
              </a:spcAft>
            </a:pPr>
            <a:r>
              <a:rPr sz="1400" b="1">
                <a:solidFill>
                  <a:srgbClr val="123A63"/>
                </a:solidFill>
                <a:latin typeface="Calibri"/>
              </a:rPr>
              <a:t>SEH</a:t>
            </a:r>
          </a:p>
        </p:txBody>
      </p:sp>
      <p:sp>
        <p:nvSpPr>
          <p:cNvPr id="39" name="Freeform 38"/>
          <p:cNvSpPr/>
          <p:nvPr/>
        </p:nvSpPr>
        <p:spPr>
          <a:xfrm>
            <a:off x="2066543" y="5038344"/>
            <a:ext cx="237744" cy="0"/>
          </a:xfrm>
          <a:custGeom>
            <a:avLst/>
            <a:gdLst/>
            <a:ahLst/>
            <a:cxnLst/>
            <a:rect l="l" t="t" r="r" b="b"/>
            <a:pathLst>
              <a:path w="237744" h="0">
                <a:moveTo>
                  <a:pt x="0" y="0"/>
                </a:moveTo>
                <a:lnTo>
                  <a:pt x="237744" y="0"/>
                </a:lnTo>
              </a:path>
            </a:pathLst>
          </a:custGeom>
          <a:noFill/>
          <a:ln w="19050">
            <a:solidFill>
              <a:srgbClr val="6B85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2340863" y="4809744"/>
            <a:ext cx="2633472" cy="457200"/>
          </a:xfrm>
          <a:prstGeom prst="roundRect">
            <a:avLst>
              <a:gd name="adj" fmla="val 50000"/>
            </a:avLst>
          </a:prstGeom>
          <a:solidFill>
            <a:srgbClr val="123A63">
              <a:alpha val="9000"/>
            </a:srgbClr>
          </a:solidFill>
          <a:ln w="12700">
            <a:solidFill>
              <a:srgbClr val="8298B0"/>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150" b="0">
                <a:solidFill>
                  <a:srgbClr val="123A63"/>
                </a:solidFill>
                <a:latin typeface="Calibri"/>
              </a:rPr>
              <a:t>scenario's van Maxim en Sigrid</a:t>
            </a:r>
          </a:p>
        </p:txBody>
      </p:sp>
      <p:sp>
        <p:nvSpPr>
          <p:cNvPr id="41" name="Rounded Rectangle 40"/>
          <p:cNvSpPr/>
          <p:nvPr/>
        </p:nvSpPr>
        <p:spPr>
          <a:xfrm>
            <a:off x="8714232" y="1700784"/>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8887967" y="1874520"/>
            <a:ext cx="420624" cy="42062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2</a:t>
            </a:r>
          </a:p>
        </p:txBody>
      </p:sp>
      <p:sp>
        <p:nvSpPr>
          <p:cNvPr id="43" name="TextBox 42"/>
          <p:cNvSpPr txBox="1"/>
          <p:nvPr/>
        </p:nvSpPr>
        <p:spPr>
          <a:xfrm>
            <a:off x="9427463" y="1883664"/>
            <a:ext cx="1831543" cy="420624"/>
          </a:xfrm>
          <a:prstGeom prst="rect">
            <a:avLst/>
          </a:prstGeom>
          <a:noFill/>
        </p:spPr>
        <p:txBody>
          <a:bodyPr wrap="square" lIns="0" rIns="0" tIns="0" bIns="0" anchor="ctr">
            <a:spAutoFit/>
          </a:bodyPr>
          <a:lstStyle/>
          <a:p>
            <a:pPr algn="l">
              <a:lnSpc>
                <a:spcPct val="114000"/>
              </a:lnSpc>
              <a:spcAft>
                <a:spcPts val="0"/>
              </a:spcAft>
            </a:pPr>
            <a:r>
              <a:rPr sz="1400" b="1">
                <a:solidFill>
                  <a:srgbClr val="0D1B2A"/>
                </a:solidFill>
                <a:latin typeface="Calibri"/>
              </a:rPr>
              <a:t>Norm verpleegkundigen</a:t>
            </a:r>
          </a:p>
        </p:txBody>
      </p:sp>
      <p:sp>
        <p:nvSpPr>
          <p:cNvPr id="44" name="TextBox 43"/>
          <p:cNvSpPr txBox="1"/>
          <p:nvPr/>
        </p:nvSpPr>
        <p:spPr>
          <a:xfrm>
            <a:off x="8970263" y="2395728"/>
            <a:ext cx="2325319" cy="219456"/>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patiëntenzorg, per dienst</a:t>
            </a:r>
          </a:p>
        </p:txBody>
      </p:sp>
      <p:sp>
        <p:nvSpPr>
          <p:cNvPr id="45" name="Rounded Rectangle 44"/>
          <p:cNvSpPr/>
          <p:nvPr/>
        </p:nvSpPr>
        <p:spPr>
          <a:xfrm>
            <a:off x="8970263"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970263" y="2743200"/>
            <a:ext cx="701954" cy="237744"/>
          </a:xfrm>
          <a:prstGeom prst="rect">
            <a:avLst/>
          </a:prstGeom>
          <a:noFill/>
        </p:spPr>
        <p:txBody>
          <a:bodyPr wrap="square" lIns="0" rIns="0" tIns="0" bIns="0" anchor="t">
            <a:spAutoFit/>
          </a:bodyPr>
          <a:lstStyle/>
          <a:p>
            <a:pPr algn="ctr">
              <a:lnSpc>
                <a:spcPct val="120000"/>
              </a:lnSpc>
              <a:spcAft>
                <a:spcPts val="0"/>
              </a:spcAft>
            </a:pPr>
            <a:r>
              <a:rPr sz="1300" b="1">
                <a:solidFill>
                  <a:srgbClr val="6B4BA8"/>
                </a:solidFill>
                <a:latin typeface="Calibri"/>
              </a:rPr>
              <a:t>D</a:t>
            </a:r>
          </a:p>
        </p:txBody>
      </p:sp>
      <p:sp>
        <p:nvSpPr>
          <p:cNvPr id="47" name="TextBox 46"/>
          <p:cNvSpPr txBox="1"/>
          <p:nvPr/>
        </p:nvSpPr>
        <p:spPr>
          <a:xfrm>
            <a:off x="8970263" y="2980944"/>
            <a:ext cx="701954" cy="201168"/>
          </a:xfrm>
          <a:prstGeom prst="rect">
            <a:avLst/>
          </a:prstGeom>
          <a:noFill/>
        </p:spPr>
        <p:txBody>
          <a:bodyPr wrap="square" lIns="0" rIns="0" tIns="0" bIns="0" anchor="t">
            <a:spAutoFit/>
          </a:bodyPr>
          <a:lstStyle/>
          <a:p>
            <a:pPr algn="ctr">
              <a:lnSpc>
                <a:spcPct val="120000"/>
              </a:lnSpc>
              <a:spcAft>
                <a:spcPts val="0"/>
              </a:spcAft>
            </a:pPr>
            <a:r>
              <a:rPr sz="1100" b="0">
                <a:solidFill>
                  <a:srgbClr val="8B9AAA"/>
                </a:solidFill>
                <a:latin typeface="Calibri"/>
              </a:rPr>
              <a:t>___</a:t>
            </a:r>
          </a:p>
        </p:txBody>
      </p:sp>
      <p:sp>
        <p:nvSpPr>
          <p:cNvPr id="48" name="Rounded Rectangle 47"/>
          <p:cNvSpPr/>
          <p:nvPr/>
        </p:nvSpPr>
        <p:spPr>
          <a:xfrm>
            <a:off x="9781946"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9781946" y="2743200"/>
            <a:ext cx="701954" cy="237744"/>
          </a:xfrm>
          <a:prstGeom prst="rect">
            <a:avLst/>
          </a:prstGeom>
          <a:noFill/>
        </p:spPr>
        <p:txBody>
          <a:bodyPr wrap="square" lIns="0" rIns="0" tIns="0" bIns="0" anchor="t">
            <a:spAutoFit/>
          </a:bodyPr>
          <a:lstStyle/>
          <a:p>
            <a:pPr algn="ctr">
              <a:lnSpc>
                <a:spcPct val="120000"/>
              </a:lnSpc>
              <a:spcAft>
                <a:spcPts val="0"/>
              </a:spcAft>
            </a:pPr>
            <a:r>
              <a:rPr sz="1300" b="1">
                <a:solidFill>
                  <a:srgbClr val="6B4BA8"/>
                </a:solidFill>
                <a:latin typeface="Calibri"/>
              </a:rPr>
              <a:t>L</a:t>
            </a:r>
          </a:p>
        </p:txBody>
      </p:sp>
      <p:sp>
        <p:nvSpPr>
          <p:cNvPr id="50" name="TextBox 49"/>
          <p:cNvSpPr txBox="1"/>
          <p:nvPr/>
        </p:nvSpPr>
        <p:spPr>
          <a:xfrm>
            <a:off x="9781946" y="2980944"/>
            <a:ext cx="701954" cy="201168"/>
          </a:xfrm>
          <a:prstGeom prst="rect">
            <a:avLst/>
          </a:prstGeom>
          <a:noFill/>
        </p:spPr>
        <p:txBody>
          <a:bodyPr wrap="square" lIns="0" rIns="0" tIns="0" bIns="0" anchor="t">
            <a:spAutoFit/>
          </a:bodyPr>
          <a:lstStyle/>
          <a:p>
            <a:pPr algn="ctr">
              <a:lnSpc>
                <a:spcPct val="120000"/>
              </a:lnSpc>
              <a:spcAft>
                <a:spcPts val="0"/>
              </a:spcAft>
            </a:pPr>
            <a:r>
              <a:rPr sz="1100" b="0">
                <a:solidFill>
                  <a:srgbClr val="8B9AAA"/>
                </a:solidFill>
                <a:latin typeface="Calibri"/>
              </a:rPr>
              <a:t>___</a:t>
            </a:r>
          </a:p>
        </p:txBody>
      </p:sp>
      <p:sp>
        <p:nvSpPr>
          <p:cNvPr id="51" name="Rounded Rectangle 50"/>
          <p:cNvSpPr/>
          <p:nvPr/>
        </p:nvSpPr>
        <p:spPr>
          <a:xfrm>
            <a:off x="10593628" y="2706624"/>
            <a:ext cx="701954" cy="512064"/>
          </a:xfrm>
          <a:prstGeom prst="roundRect">
            <a:avLst>
              <a:gd name="adj" fmla="val 10000"/>
            </a:avLst>
          </a:prstGeom>
          <a:solidFill>
            <a:srgbClr val="F6F9FD"/>
          </a:solidFill>
          <a:ln w="12700">
            <a:solidFill>
              <a:srgbClr val="E2E9F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0593628" y="2743200"/>
            <a:ext cx="701954" cy="237744"/>
          </a:xfrm>
          <a:prstGeom prst="rect">
            <a:avLst/>
          </a:prstGeom>
          <a:noFill/>
        </p:spPr>
        <p:txBody>
          <a:bodyPr wrap="square" lIns="0" rIns="0" tIns="0" bIns="0" anchor="t">
            <a:spAutoFit/>
          </a:bodyPr>
          <a:lstStyle/>
          <a:p>
            <a:pPr algn="ctr">
              <a:lnSpc>
                <a:spcPct val="120000"/>
              </a:lnSpc>
              <a:spcAft>
                <a:spcPts val="0"/>
              </a:spcAft>
            </a:pPr>
            <a:r>
              <a:rPr sz="1300" b="1">
                <a:solidFill>
                  <a:srgbClr val="6B4BA8"/>
                </a:solidFill>
                <a:latin typeface="Calibri"/>
              </a:rPr>
              <a:t>N</a:t>
            </a:r>
          </a:p>
        </p:txBody>
      </p:sp>
      <p:sp>
        <p:nvSpPr>
          <p:cNvPr id="53" name="TextBox 52"/>
          <p:cNvSpPr txBox="1"/>
          <p:nvPr/>
        </p:nvSpPr>
        <p:spPr>
          <a:xfrm>
            <a:off x="10593628" y="2980944"/>
            <a:ext cx="701954" cy="201168"/>
          </a:xfrm>
          <a:prstGeom prst="rect">
            <a:avLst/>
          </a:prstGeom>
          <a:noFill/>
        </p:spPr>
        <p:txBody>
          <a:bodyPr wrap="square" lIns="0" rIns="0" tIns="0" bIns="0" anchor="t">
            <a:spAutoFit/>
          </a:bodyPr>
          <a:lstStyle/>
          <a:p>
            <a:pPr algn="ctr">
              <a:lnSpc>
                <a:spcPct val="120000"/>
              </a:lnSpc>
              <a:spcAft>
                <a:spcPts val="0"/>
              </a:spcAft>
            </a:pPr>
            <a:r>
              <a:rPr sz="1100" b="0">
                <a:solidFill>
                  <a:srgbClr val="8B9AAA"/>
                </a:solidFill>
                <a:latin typeface="Calibri"/>
              </a:rPr>
              <a:t>___</a:t>
            </a:r>
          </a:p>
        </p:txBody>
      </p:sp>
      <p:sp>
        <p:nvSpPr>
          <p:cNvPr id="54" name="Rounded Rectangle 53"/>
          <p:cNvSpPr/>
          <p:nvPr/>
        </p:nvSpPr>
        <p:spPr>
          <a:xfrm>
            <a:off x="8714232" y="3566160"/>
            <a:ext cx="2837383" cy="173736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8887967" y="3739896"/>
            <a:ext cx="420624" cy="42062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0E9A87"/>
                </a:solidFill>
                <a:latin typeface="Calibri"/>
              </a:rPr>
              <a:t>3</a:t>
            </a:r>
          </a:p>
        </p:txBody>
      </p:sp>
      <p:sp>
        <p:nvSpPr>
          <p:cNvPr id="56" name="TextBox 55"/>
          <p:cNvSpPr txBox="1"/>
          <p:nvPr/>
        </p:nvSpPr>
        <p:spPr>
          <a:xfrm>
            <a:off x="9427463" y="3749040"/>
            <a:ext cx="1831543" cy="420624"/>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Indirecte uren</a:t>
            </a:r>
          </a:p>
        </p:txBody>
      </p:sp>
      <p:sp>
        <p:nvSpPr>
          <p:cNvPr id="57" name="TextBox 56"/>
          <p:cNvSpPr txBox="1"/>
          <p:nvPr/>
        </p:nvSpPr>
        <p:spPr>
          <a:xfrm>
            <a:off x="8970263" y="4261104"/>
            <a:ext cx="2325319" cy="219456"/>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per afdeling</a:t>
            </a:r>
          </a:p>
        </p:txBody>
      </p:sp>
      <p:sp>
        <p:nvSpPr>
          <p:cNvPr id="58" name="TextBox 57"/>
          <p:cNvSpPr txBox="1"/>
          <p:nvPr/>
        </p:nvSpPr>
        <p:spPr>
          <a:xfrm>
            <a:off x="8970263" y="4572000"/>
            <a:ext cx="2325319" cy="603504"/>
          </a:xfrm>
          <a:prstGeom prst="rect">
            <a:avLst/>
          </a:prstGeom>
          <a:noFill/>
        </p:spPr>
        <p:txBody>
          <a:bodyPr wrap="square" lIns="0" rIns="0" tIns="0" bIns="0" anchor="t">
            <a:spAutoFit/>
          </a:bodyPr>
          <a:lstStyle/>
          <a:p>
            <a:pPr algn="l">
              <a:lnSpc>
                <a:spcPct val="124000"/>
              </a:lnSpc>
              <a:spcAft>
                <a:spcPts val="0"/>
              </a:spcAft>
            </a:pPr>
            <a:r>
              <a:rPr sz="1100" b="0">
                <a:solidFill>
                  <a:srgbClr val="55677C"/>
                </a:solidFill>
                <a:latin typeface="Calibri"/>
              </a:rPr>
              <a:t>In beeld gebracht, maar de oude begroting loopt sterk uiteen: wat houden we aan?</a:t>
            </a:r>
          </a:p>
        </p:txBody>
      </p:sp>
      <p:sp>
        <p:nvSpPr>
          <p:cNvPr id="59" name="Rounded Rectangle 58"/>
          <p:cNvSpPr/>
          <p:nvPr/>
        </p:nvSpPr>
        <p:spPr>
          <a:xfrm>
            <a:off x="640080" y="5431536"/>
            <a:ext cx="10911535" cy="713232"/>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Rounded Rectangle 59"/>
          <p:cNvSpPr/>
          <p:nvPr/>
        </p:nvSpPr>
        <p:spPr>
          <a:xfrm>
            <a:off x="640080" y="5431536"/>
            <a:ext cx="50292" cy="71323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Box 60"/>
          <p:cNvSpPr txBox="1"/>
          <p:nvPr/>
        </p:nvSpPr>
        <p:spPr>
          <a:xfrm>
            <a:off x="969264" y="5513831"/>
            <a:ext cx="9997135" cy="548640"/>
          </a:xfrm>
          <a:prstGeom prst="rect">
            <a:avLst/>
          </a:prstGeom>
          <a:noFill/>
        </p:spPr>
        <p:txBody>
          <a:bodyPr wrap="square" lIns="0" rIns="0" tIns="0" bIns="0" anchor="ctr">
            <a:spAutoFit/>
          </a:bodyPr>
          <a:lstStyle/>
          <a:p>
            <a:pPr algn="l">
              <a:lnSpc>
                <a:spcPct val="120000"/>
              </a:lnSpc>
              <a:spcAft>
                <a:spcPts val="300"/>
              </a:spcAft>
            </a:pPr>
            <a:r>
              <a:rPr sz="900" b="1" spc="180">
                <a:solidFill>
                  <a:srgbClr val="C4392D"/>
                </a:solidFill>
                <a:latin typeface="Calibri"/>
              </a:rPr>
              <a:t>NOG NIET IN TE VULLEN</a:t>
            </a:r>
          </a:p>
          <a:p>
            <a:pPr algn="l">
              <a:lnSpc>
                <a:spcPct val="120000"/>
              </a:lnSpc>
              <a:spcAft>
                <a:spcPts val="0"/>
              </a:spcAft>
            </a:pPr>
            <a:r>
              <a:rPr sz="1200" b="1">
                <a:solidFill>
                  <a:srgbClr val="0D1B2A"/>
                </a:solidFill>
                <a:latin typeface="Calibri"/>
              </a:rPr>
              <a:t>Van geen van de drie onderdelen is te zeggen hoe ver ze zijn: de norm verpleegkundigen ligt nergens vast en de indirecte uren zijn nog niet vastgesteld.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1F6FB2">
                    <a:alpha val="9000"/>
                  </a:srgbClr>
                </a:solidFill>
                <a:latin typeface="Calibri"/>
              </a:rPr>
              <a:t>03</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1F6FB2"/>
                </a:solidFill>
                <a:latin typeface="Calibri"/>
              </a:rPr>
              <a:t>DEEL 03</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verandert er</a:t>
            </a:r>
          </a:p>
        </p:txBody>
      </p:sp>
      <p:cxnSp>
        <p:nvCxnSpPr>
          <p:cNvPr id="6" name="Connector 5"/>
          <p:cNvCxnSpPr/>
          <p:nvPr/>
        </p:nvCxnSpPr>
        <p:spPr>
          <a:xfrm>
            <a:off x="640080" y="3584448"/>
            <a:ext cx="237744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Vier locaties worden twee clusters</a:t>
            </a:r>
          </a:p>
        </p:txBody>
      </p:sp>
      <p:sp>
        <p:nvSpPr>
          <p:cNvPr id="9" name="Oval 8"/>
          <p:cNvSpPr/>
          <p:nvPr/>
        </p:nvSpPr>
        <p:spPr>
          <a:xfrm>
            <a:off x="649224" y="4279392"/>
            <a:ext cx="109728" cy="10972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Vijf scenario's, twee analyses en één keuze die alles bepaalt</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1F6FB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transitie naar de nieuwbouw</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Welk onderdeel gaat waarheen — en waar de EHH van de CCU/SCU loskomt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09</a:t>
            </a:r>
          </a:p>
        </p:txBody>
      </p:sp>
      <p:sp>
        <p:nvSpPr>
          <p:cNvPr id="10" name="TextBox 9"/>
          <p:cNvSpPr txBox="1"/>
          <p:nvPr/>
        </p:nvSpPr>
        <p:spPr>
          <a:xfrm>
            <a:off x="640080" y="1682496"/>
            <a:ext cx="329184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HUIDIGE SITUATIE</a:t>
            </a:r>
          </a:p>
        </p:txBody>
      </p:sp>
      <p:cxnSp>
        <p:nvCxnSpPr>
          <p:cNvPr id="11" name="Connector 10"/>
          <p:cNvCxnSpPr/>
          <p:nvPr/>
        </p:nvCxnSpPr>
        <p:spPr>
          <a:xfrm>
            <a:off x="640080" y="1883664"/>
            <a:ext cx="3291840" cy="0"/>
          </a:xfrm>
          <a:prstGeom prst="line">
            <a:avLst/>
          </a:prstGeom>
          <a:ln w="25400">
            <a:solidFill>
              <a:srgbClr val="C6D6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1682496"/>
            <a:ext cx="402336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1F6FB2"/>
                </a:solidFill>
                <a:latin typeface="Calibri"/>
              </a:rPr>
              <a:t>DE NIEUWBOUW</a:t>
            </a:r>
          </a:p>
        </p:txBody>
      </p:sp>
      <p:cxnSp>
        <p:nvCxnSpPr>
          <p:cNvPr id="13" name="Connector 12"/>
          <p:cNvCxnSpPr/>
          <p:nvPr/>
        </p:nvCxnSpPr>
        <p:spPr>
          <a:xfrm>
            <a:off x="6720840" y="1883664"/>
            <a:ext cx="4023360" cy="0"/>
          </a:xfrm>
          <a:prstGeom prst="line">
            <a:avLst/>
          </a:prstGeom>
          <a:ln w="25400">
            <a:solidFill>
              <a:srgbClr val="1F6FB2"/>
            </a:solidFill>
          </a:ln>
        </p:spPr>
        <p:style>
          <a:lnRef idx="2">
            <a:schemeClr val="accent1"/>
          </a:lnRef>
          <a:fillRef idx="0">
            <a:schemeClr val="accent1"/>
          </a:fillRef>
          <a:effectRef idx="1">
            <a:schemeClr val="accent1"/>
          </a:effectRef>
          <a:fontRef idx="minor">
            <a:schemeClr val="tx1"/>
          </a:fontRef>
        </p:style>
      </p:cxnSp>
      <p:sp>
        <p:nvSpPr>
          <p:cNvPr id="14" name="Freeform 13"/>
          <p:cNvSpPr/>
          <p:nvPr/>
        </p:nvSpPr>
        <p:spPr>
          <a:xfrm>
            <a:off x="3611880" y="2121408"/>
            <a:ext cx="603504" cy="1207008"/>
          </a:xfrm>
          <a:custGeom>
            <a:avLst/>
            <a:gdLst/>
            <a:ahLst/>
            <a:cxnLst/>
            <a:rect l="l" t="t" r="r" b="b"/>
            <a:pathLst>
              <a:path w="603504" h="1207008">
                <a:moveTo>
                  <a:pt x="0" y="0"/>
                </a:moveTo>
                <a:lnTo>
                  <a:pt x="47350" y="1860"/>
                </a:lnTo>
                <a:lnTo>
                  <a:pt x="94408" y="7430"/>
                </a:lnTo>
                <a:lnTo>
                  <a:pt x="140885" y="16674"/>
                </a:lnTo>
                <a:lnTo>
                  <a:pt x="186492" y="29537"/>
                </a:lnTo>
                <a:lnTo>
                  <a:pt x="230950" y="45939"/>
                </a:lnTo>
                <a:lnTo>
                  <a:pt x="273985" y="65777"/>
                </a:lnTo>
                <a:lnTo>
                  <a:pt x="315329" y="88932"/>
                </a:lnTo>
                <a:lnTo>
                  <a:pt x="354730" y="115259"/>
                </a:lnTo>
                <a:lnTo>
                  <a:pt x="391944" y="144595"/>
                </a:lnTo>
                <a:lnTo>
                  <a:pt x="426741" y="176762"/>
                </a:lnTo>
                <a:lnTo>
                  <a:pt x="458908" y="211559"/>
                </a:lnTo>
                <a:lnTo>
                  <a:pt x="488244" y="248773"/>
                </a:lnTo>
                <a:lnTo>
                  <a:pt x="514571" y="288174"/>
                </a:lnTo>
                <a:lnTo>
                  <a:pt x="537726" y="329518"/>
                </a:lnTo>
                <a:lnTo>
                  <a:pt x="557564" y="372553"/>
                </a:lnTo>
                <a:lnTo>
                  <a:pt x="573966" y="417011"/>
                </a:lnTo>
                <a:lnTo>
                  <a:pt x="586829" y="462618"/>
                </a:lnTo>
                <a:lnTo>
                  <a:pt x="596073" y="509095"/>
                </a:lnTo>
                <a:lnTo>
                  <a:pt x="601643" y="556153"/>
                </a:lnTo>
                <a:lnTo>
                  <a:pt x="603504" y="603504"/>
                </a:lnTo>
                <a:lnTo>
                  <a:pt x="601643" y="650854"/>
                </a:lnTo>
                <a:lnTo>
                  <a:pt x="596073" y="697912"/>
                </a:lnTo>
                <a:lnTo>
                  <a:pt x="586829" y="744389"/>
                </a:lnTo>
                <a:lnTo>
                  <a:pt x="573966" y="789996"/>
                </a:lnTo>
                <a:lnTo>
                  <a:pt x="557564" y="834454"/>
                </a:lnTo>
                <a:lnTo>
                  <a:pt x="537726" y="877489"/>
                </a:lnTo>
                <a:lnTo>
                  <a:pt x="514571" y="918833"/>
                </a:lnTo>
                <a:lnTo>
                  <a:pt x="488244" y="958234"/>
                </a:lnTo>
                <a:lnTo>
                  <a:pt x="458908" y="995448"/>
                </a:lnTo>
                <a:lnTo>
                  <a:pt x="426741" y="1030245"/>
                </a:lnTo>
                <a:lnTo>
                  <a:pt x="391944" y="1062412"/>
                </a:lnTo>
                <a:lnTo>
                  <a:pt x="354730" y="1091748"/>
                </a:lnTo>
                <a:lnTo>
                  <a:pt x="315329" y="1118075"/>
                </a:lnTo>
                <a:lnTo>
                  <a:pt x="273985" y="1141230"/>
                </a:lnTo>
                <a:lnTo>
                  <a:pt x="230950" y="1161068"/>
                </a:lnTo>
                <a:lnTo>
                  <a:pt x="186492" y="1177470"/>
                </a:lnTo>
                <a:lnTo>
                  <a:pt x="140885" y="1190333"/>
                </a:lnTo>
                <a:lnTo>
                  <a:pt x="94408" y="1199577"/>
                </a:lnTo>
                <a:lnTo>
                  <a:pt x="47350" y="1205147"/>
                </a:lnTo>
                <a:lnTo>
                  <a:pt x="0" y="1207008"/>
                </a:lnTo>
                <a:lnTo>
                  <a:pt x="0"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6688" y="2654935"/>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SEH</a:t>
            </a:r>
          </a:p>
        </p:txBody>
      </p:sp>
      <p:sp>
        <p:nvSpPr>
          <p:cNvPr id="16" name="Freeform 15"/>
          <p:cNvSpPr/>
          <p:nvPr/>
        </p:nvSpPr>
        <p:spPr>
          <a:xfrm>
            <a:off x="3008376" y="2121408"/>
            <a:ext cx="603504" cy="1207008"/>
          </a:xfrm>
          <a:custGeom>
            <a:avLst/>
            <a:gdLst/>
            <a:ahLst/>
            <a:cxnLst/>
            <a:rect l="l" t="t" r="r" b="b"/>
            <a:pathLst>
              <a:path w="603504" h="1207008">
                <a:moveTo>
                  <a:pt x="603504" y="1207008"/>
                </a:moveTo>
                <a:lnTo>
                  <a:pt x="556153" y="1205147"/>
                </a:lnTo>
                <a:lnTo>
                  <a:pt x="509095" y="1199577"/>
                </a:lnTo>
                <a:lnTo>
                  <a:pt x="462618" y="1190333"/>
                </a:lnTo>
                <a:lnTo>
                  <a:pt x="417011" y="1177470"/>
                </a:lnTo>
                <a:lnTo>
                  <a:pt x="372553" y="1161068"/>
                </a:lnTo>
                <a:lnTo>
                  <a:pt x="329518" y="1141230"/>
                </a:lnTo>
                <a:lnTo>
                  <a:pt x="288174" y="1118075"/>
                </a:lnTo>
                <a:lnTo>
                  <a:pt x="248773" y="1091748"/>
                </a:lnTo>
                <a:lnTo>
                  <a:pt x="211559" y="1062412"/>
                </a:lnTo>
                <a:lnTo>
                  <a:pt x="176762" y="1030245"/>
                </a:lnTo>
                <a:lnTo>
                  <a:pt x="144595" y="995448"/>
                </a:lnTo>
                <a:lnTo>
                  <a:pt x="115259" y="958234"/>
                </a:lnTo>
                <a:lnTo>
                  <a:pt x="88932" y="918833"/>
                </a:lnTo>
                <a:lnTo>
                  <a:pt x="65777" y="877489"/>
                </a:lnTo>
                <a:lnTo>
                  <a:pt x="45939" y="834454"/>
                </a:lnTo>
                <a:lnTo>
                  <a:pt x="29537" y="789996"/>
                </a:lnTo>
                <a:lnTo>
                  <a:pt x="16674" y="744389"/>
                </a:lnTo>
                <a:lnTo>
                  <a:pt x="7430" y="697912"/>
                </a:lnTo>
                <a:lnTo>
                  <a:pt x="1860" y="650854"/>
                </a:lnTo>
                <a:lnTo>
                  <a:pt x="0" y="603504"/>
                </a:lnTo>
                <a:lnTo>
                  <a:pt x="1860" y="556153"/>
                </a:lnTo>
                <a:lnTo>
                  <a:pt x="7430" y="509095"/>
                </a:lnTo>
                <a:lnTo>
                  <a:pt x="16674" y="462618"/>
                </a:lnTo>
                <a:lnTo>
                  <a:pt x="29537" y="417011"/>
                </a:lnTo>
                <a:lnTo>
                  <a:pt x="45939" y="372553"/>
                </a:lnTo>
                <a:lnTo>
                  <a:pt x="65777" y="329518"/>
                </a:lnTo>
                <a:lnTo>
                  <a:pt x="88932" y="288174"/>
                </a:lnTo>
                <a:lnTo>
                  <a:pt x="115259" y="248773"/>
                </a:lnTo>
                <a:lnTo>
                  <a:pt x="144595" y="211559"/>
                </a:lnTo>
                <a:lnTo>
                  <a:pt x="176762" y="176762"/>
                </a:lnTo>
                <a:lnTo>
                  <a:pt x="211559" y="144595"/>
                </a:lnTo>
                <a:lnTo>
                  <a:pt x="248773" y="115259"/>
                </a:lnTo>
                <a:lnTo>
                  <a:pt x="288174" y="88932"/>
                </a:lnTo>
                <a:lnTo>
                  <a:pt x="329518" y="65777"/>
                </a:lnTo>
                <a:lnTo>
                  <a:pt x="372553" y="45939"/>
                </a:lnTo>
                <a:lnTo>
                  <a:pt x="417011" y="29537"/>
                </a:lnTo>
                <a:lnTo>
                  <a:pt x="462618" y="16674"/>
                </a:lnTo>
                <a:lnTo>
                  <a:pt x="509095" y="7430"/>
                </a:lnTo>
                <a:lnTo>
                  <a:pt x="556153" y="1860"/>
                </a:lnTo>
                <a:lnTo>
                  <a:pt x="603504" y="0"/>
                </a:lnTo>
                <a:lnTo>
                  <a:pt x="603504" y="603504"/>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06624" y="2654935"/>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Kind</a:t>
            </a:r>
          </a:p>
        </p:txBody>
      </p:sp>
      <p:sp>
        <p:nvSpPr>
          <p:cNvPr id="18" name="Oval 17"/>
          <p:cNvSpPr/>
          <p:nvPr/>
        </p:nvSpPr>
        <p:spPr>
          <a:xfrm>
            <a:off x="3008376" y="2121408"/>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0080" y="2267712"/>
            <a:ext cx="2240280" cy="310896"/>
          </a:xfrm>
          <a:prstGeom prst="rect">
            <a:avLst/>
          </a:prstGeom>
          <a:noFill/>
        </p:spPr>
        <p:txBody>
          <a:bodyPr wrap="square" lIns="0" rIns="0" tIns="0" bIns="0" anchor="t">
            <a:spAutoFit/>
          </a:bodyPr>
          <a:lstStyle/>
          <a:p>
            <a:pPr algn="r">
              <a:lnSpc>
                <a:spcPct val="114000"/>
              </a:lnSpc>
              <a:spcAft>
                <a:spcPts val="0"/>
              </a:spcAft>
            </a:pPr>
            <a:r>
              <a:rPr sz="1400" b="1">
                <a:solidFill>
                  <a:srgbClr val="0D1B2A"/>
                </a:solidFill>
                <a:latin typeface="Calibri"/>
              </a:rPr>
              <a:t>SEH &amp; Kind</a:t>
            </a:r>
          </a:p>
        </p:txBody>
      </p:sp>
      <p:sp>
        <p:nvSpPr>
          <p:cNvPr id="20" name="TextBox 19"/>
          <p:cNvSpPr txBox="1"/>
          <p:nvPr/>
        </p:nvSpPr>
        <p:spPr>
          <a:xfrm>
            <a:off x="640080" y="2670048"/>
            <a:ext cx="2240280" cy="548640"/>
          </a:xfrm>
          <a:prstGeom prst="rect">
            <a:avLst/>
          </a:prstGeom>
          <a:noFill/>
        </p:spPr>
        <p:txBody>
          <a:bodyPr wrap="square" lIns="0" rIns="0" tIns="0" bIns="0" anchor="t">
            <a:spAutoFit/>
          </a:bodyPr>
          <a:lstStyle/>
          <a:p>
            <a:pPr algn="r">
              <a:lnSpc>
                <a:spcPct val="122000"/>
              </a:lnSpc>
              <a:spcAft>
                <a:spcPts val="0"/>
              </a:spcAft>
            </a:pPr>
            <a:r>
              <a:rPr sz="1000" b="0">
                <a:solidFill>
                  <a:srgbClr val="55677C"/>
                </a:solidFill>
                <a:latin typeface="Calibri"/>
              </a:rPr>
              <a:t>Werken nu als afzonderlijke onderdelen.</a:t>
            </a:r>
          </a:p>
        </p:txBody>
      </p:sp>
      <p:sp>
        <p:nvSpPr>
          <p:cNvPr id="21" name="Freeform 20"/>
          <p:cNvSpPr/>
          <p:nvPr/>
        </p:nvSpPr>
        <p:spPr>
          <a:xfrm>
            <a:off x="3611880" y="3529583"/>
            <a:ext cx="603504" cy="905257"/>
          </a:xfrm>
          <a:custGeom>
            <a:avLst/>
            <a:gdLst/>
            <a:ahLst/>
            <a:cxnLst/>
            <a:rect l="l" t="t" r="r" b="b"/>
            <a:pathLst>
              <a:path w="603504" h="905257">
                <a:moveTo>
                  <a:pt x="0" y="0"/>
                </a:moveTo>
                <a:lnTo>
                  <a:pt x="31584" y="828"/>
                </a:lnTo>
                <a:lnTo>
                  <a:pt x="63083" y="3307"/>
                </a:lnTo>
                <a:lnTo>
                  <a:pt x="94408" y="7431"/>
                </a:lnTo>
                <a:lnTo>
                  <a:pt x="125475" y="13189"/>
                </a:lnTo>
                <a:lnTo>
                  <a:pt x="156198" y="20564"/>
                </a:lnTo>
                <a:lnTo>
                  <a:pt x="186492" y="29538"/>
                </a:lnTo>
                <a:lnTo>
                  <a:pt x="216276" y="40085"/>
                </a:lnTo>
                <a:lnTo>
                  <a:pt x="245467" y="52176"/>
                </a:lnTo>
                <a:lnTo>
                  <a:pt x="273985" y="65778"/>
                </a:lnTo>
                <a:lnTo>
                  <a:pt x="301752" y="80855"/>
                </a:lnTo>
                <a:lnTo>
                  <a:pt x="328691" y="97363"/>
                </a:lnTo>
                <a:lnTo>
                  <a:pt x="354730" y="115260"/>
                </a:lnTo>
                <a:lnTo>
                  <a:pt x="379797" y="134494"/>
                </a:lnTo>
                <a:lnTo>
                  <a:pt x="403822" y="155014"/>
                </a:lnTo>
                <a:lnTo>
                  <a:pt x="426741" y="176763"/>
                </a:lnTo>
                <a:lnTo>
                  <a:pt x="448490" y="199682"/>
                </a:lnTo>
                <a:lnTo>
                  <a:pt x="469010" y="223707"/>
                </a:lnTo>
                <a:lnTo>
                  <a:pt x="488244" y="248774"/>
                </a:lnTo>
                <a:lnTo>
                  <a:pt x="506141" y="274813"/>
                </a:lnTo>
                <a:lnTo>
                  <a:pt x="522649" y="301752"/>
                </a:lnTo>
                <a:lnTo>
                  <a:pt x="537726" y="329519"/>
                </a:lnTo>
                <a:lnTo>
                  <a:pt x="551328" y="358037"/>
                </a:lnTo>
                <a:lnTo>
                  <a:pt x="563419" y="387228"/>
                </a:lnTo>
                <a:lnTo>
                  <a:pt x="573966" y="417012"/>
                </a:lnTo>
                <a:lnTo>
                  <a:pt x="582940" y="447306"/>
                </a:lnTo>
                <a:lnTo>
                  <a:pt x="590315" y="478029"/>
                </a:lnTo>
                <a:lnTo>
                  <a:pt x="596073" y="509096"/>
                </a:lnTo>
                <a:lnTo>
                  <a:pt x="600197" y="540421"/>
                </a:lnTo>
                <a:lnTo>
                  <a:pt x="602676" y="571920"/>
                </a:lnTo>
                <a:lnTo>
                  <a:pt x="603504" y="603504"/>
                </a:lnTo>
                <a:lnTo>
                  <a:pt x="602676" y="635089"/>
                </a:lnTo>
                <a:lnTo>
                  <a:pt x="600197" y="666588"/>
                </a:lnTo>
                <a:lnTo>
                  <a:pt x="596073" y="697913"/>
                </a:lnTo>
                <a:lnTo>
                  <a:pt x="590315" y="728980"/>
                </a:lnTo>
                <a:lnTo>
                  <a:pt x="582940" y="759703"/>
                </a:lnTo>
                <a:lnTo>
                  <a:pt x="573966" y="789997"/>
                </a:lnTo>
                <a:lnTo>
                  <a:pt x="563419" y="819781"/>
                </a:lnTo>
                <a:lnTo>
                  <a:pt x="551328" y="848972"/>
                </a:lnTo>
                <a:lnTo>
                  <a:pt x="537726" y="877490"/>
                </a:lnTo>
                <a:lnTo>
                  <a:pt x="522649" y="905257"/>
                </a:lnTo>
                <a:lnTo>
                  <a:pt x="0" y="603504"/>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59793" y="3888094"/>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CCU</a:t>
            </a:r>
          </a:p>
        </p:txBody>
      </p:sp>
      <p:sp>
        <p:nvSpPr>
          <p:cNvPr id="23" name="Freeform 22"/>
          <p:cNvSpPr/>
          <p:nvPr/>
        </p:nvSpPr>
        <p:spPr>
          <a:xfrm>
            <a:off x="3089230" y="4133087"/>
            <a:ext cx="1045299" cy="603505"/>
          </a:xfrm>
          <a:custGeom>
            <a:avLst/>
            <a:gdLst/>
            <a:ahLst/>
            <a:cxnLst/>
            <a:rect l="l" t="t" r="r" b="b"/>
            <a:pathLst>
              <a:path w="1045299" h="603505">
                <a:moveTo>
                  <a:pt x="1045299" y="301753"/>
                </a:moveTo>
                <a:lnTo>
                  <a:pt x="1028791" y="328692"/>
                </a:lnTo>
                <a:lnTo>
                  <a:pt x="1010894" y="354731"/>
                </a:lnTo>
                <a:lnTo>
                  <a:pt x="991660" y="379798"/>
                </a:lnTo>
                <a:lnTo>
                  <a:pt x="971140" y="403823"/>
                </a:lnTo>
                <a:lnTo>
                  <a:pt x="949391" y="426742"/>
                </a:lnTo>
                <a:lnTo>
                  <a:pt x="926472" y="448491"/>
                </a:lnTo>
                <a:lnTo>
                  <a:pt x="902447" y="469011"/>
                </a:lnTo>
                <a:lnTo>
                  <a:pt x="877380" y="488245"/>
                </a:lnTo>
                <a:lnTo>
                  <a:pt x="851341" y="506142"/>
                </a:lnTo>
                <a:lnTo>
                  <a:pt x="824402" y="522650"/>
                </a:lnTo>
                <a:lnTo>
                  <a:pt x="796635" y="537727"/>
                </a:lnTo>
                <a:lnTo>
                  <a:pt x="768117" y="551329"/>
                </a:lnTo>
                <a:lnTo>
                  <a:pt x="738926" y="563420"/>
                </a:lnTo>
                <a:lnTo>
                  <a:pt x="709142" y="573967"/>
                </a:lnTo>
                <a:lnTo>
                  <a:pt x="678848" y="582941"/>
                </a:lnTo>
                <a:lnTo>
                  <a:pt x="648125" y="590316"/>
                </a:lnTo>
                <a:lnTo>
                  <a:pt x="617058" y="596074"/>
                </a:lnTo>
                <a:lnTo>
                  <a:pt x="585733" y="600198"/>
                </a:lnTo>
                <a:lnTo>
                  <a:pt x="554234" y="602677"/>
                </a:lnTo>
                <a:lnTo>
                  <a:pt x="522650" y="603505"/>
                </a:lnTo>
                <a:lnTo>
                  <a:pt x="491065" y="602677"/>
                </a:lnTo>
                <a:lnTo>
                  <a:pt x="459566" y="600198"/>
                </a:lnTo>
                <a:lnTo>
                  <a:pt x="428241" y="596074"/>
                </a:lnTo>
                <a:lnTo>
                  <a:pt x="397174" y="590316"/>
                </a:lnTo>
                <a:lnTo>
                  <a:pt x="366451" y="582941"/>
                </a:lnTo>
                <a:lnTo>
                  <a:pt x="336157" y="573967"/>
                </a:lnTo>
                <a:lnTo>
                  <a:pt x="306373" y="563420"/>
                </a:lnTo>
                <a:lnTo>
                  <a:pt x="277182" y="551329"/>
                </a:lnTo>
                <a:lnTo>
                  <a:pt x="248664" y="537727"/>
                </a:lnTo>
                <a:lnTo>
                  <a:pt x="220898" y="522650"/>
                </a:lnTo>
                <a:lnTo>
                  <a:pt x="193958" y="506142"/>
                </a:lnTo>
                <a:lnTo>
                  <a:pt x="167919" y="488245"/>
                </a:lnTo>
                <a:lnTo>
                  <a:pt x="142852" y="469011"/>
                </a:lnTo>
                <a:lnTo>
                  <a:pt x="118827" y="448491"/>
                </a:lnTo>
                <a:lnTo>
                  <a:pt x="95908" y="426742"/>
                </a:lnTo>
                <a:lnTo>
                  <a:pt x="74159" y="403823"/>
                </a:lnTo>
                <a:lnTo>
                  <a:pt x="53639" y="379798"/>
                </a:lnTo>
                <a:lnTo>
                  <a:pt x="34405" y="354731"/>
                </a:lnTo>
                <a:lnTo>
                  <a:pt x="16508" y="328692"/>
                </a:lnTo>
                <a:lnTo>
                  <a:pt x="0" y="301753"/>
                </a:lnTo>
                <a:lnTo>
                  <a:pt x="522650" y="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56656" y="4413143"/>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SCU</a:t>
            </a:r>
          </a:p>
        </p:txBody>
      </p:sp>
      <p:sp>
        <p:nvSpPr>
          <p:cNvPr id="25" name="Freeform 24"/>
          <p:cNvSpPr/>
          <p:nvPr/>
        </p:nvSpPr>
        <p:spPr>
          <a:xfrm>
            <a:off x="3008376" y="3529583"/>
            <a:ext cx="603504" cy="905257"/>
          </a:xfrm>
          <a:custGeom>
            <a:avLst/>
            <a:gdLst/>
            <a:ahLst/>
            <a:cxnLst/>
            <a:rect l="l" t="t" r="r" b="b"/>
            <a:pathLst>
              <a:path w="603504" h="905257">
                <a:moveTo>
                  <a:pt x="80854" y="905257"/>
                </a:moveTo>
                <a:lnTo>
                  <a:pt x="65777" y="877490"/>
                </a:lnTo>
                <a:lnTo>
                  <a:pt x="52175" y="848972"/>
                </a:lnTo>
                <a:lnTo>
                  <a:pt x="40084" y="819781"/>
                </a:lnTo>
                <a:lnTo>
                  <a:pt x="29537" y="789997"/>
                </a:lnTo>
                <a:lnTo>
                  <a:pt x="20563" y="759703"/>
                </a:lnTo>
                <a:lnTo>
                  <a:pt x="13188" y="728980"/>
                </a:lnTo>
                <a:lnTo>
                  <a:pt x="7430" y="697913"/>
                </a:lnTo>
                <a:lnTo>
                  <a:pt x="3306" y="666588"/>
                </a:lnTo>
                <a:lnTo>
                  <a:pt x="827" y="635089"/>
                </a:lnTo>
                <a:lnTo>
                  <a:pt x="0" y="603504"/>
                </a:lnTo>
                <a:lnTo>
                  <a:pt x="827" y="571920"/>
                </a:lnTo>
                <a:lnTo>
                  <a:pt x="3306" y="540421"/>
                </a:lnTo>
                <a:lnTo>
                  <a:pt x="7430" y="509096"/>
                </a:lnTo>
                <a:lnTo>
                  <a:pt x="13188" y="478029"/>
                </a:lnTo>
                <a:lnTo>
                  <a:pt x="20563" y="447306"/>
                </a:lnTo>
                <a:lnTo>
                  <a:pt x="29537" y="417012"/>
                </a:lnTo>
                <a:lnTo>
                  <a:pt x="40084" y="387228"/>
                </a:lnTo>
                <a:lnTo>
                  <a:pt x="52175" y="358037"/>
                </a:lnTo>
                <a:lnTo>
                  <a:pt x="65777" y="329519"/>
                </a:lnTo>
                <a:lnTo>
                  <a:pt x="80854" y="301752"/>
                </a:lnTo>
                <a:lnTo>
                  <a:pt x="97362" y="274813"/>
                </a:lnTo>
                <a:lnTo>
                  <a:pt x="115259" y="248774"/>
                </a:lnTo>
                <a:lnTo>
                  <a:pt x="134493" y="223707"/>
                </a:lnTo>
                <a:lnTo>
                  <a:pt x="155013" y="199682"/>
                </a:lnTo>
                <a:lnTo>
                  <a:pt x="176762" y="176763"/>
                </a:lnTo>
                <a:lnTo>
                  <a:pt x="199681" y="155014"/>
                </a:lnTo>
                <a:lnTo>
                  <a:pt x="223706" y="134494"/>
                </a:lnTo>
                <a:lnTo>
                  <a:pt x="248773" y="115260"/>
                </a:lnTo>
                <a:lnTo>
                  <a:pt x="274812" y="97363"/>
                </a:lnTo>
                <a:lnTo>
                  <a:pt x="301752" y="80855"/>
                </a:lnTo>
                <a:lnTo>
                  <a:pt x="329518" y="65778"/>
                </a:lnTo>
                <a:lnTo>
                  <a:pt x="358036" y="52176"/>
                </a:lnTo>
                <a:lnTo>
                  <a:pt x="387227" y="40085"/>
                </a:lnTo>
                <a:lnTo>
                  <a:pt x="417011" y="29538"/>
                </a:lnTo>
                <a:lnTo>
                  <a:pt x="447305" y="20564"/>
                </a:lnTo>
                <a:lnTo>
                  <a:pt x="478028" y="13189"/>
                </a:lnTo>
                <a:lnTo>
                  <a:pt x="509095" y="7431"/>
                </a:lnTo>
                <a:lnTo>
                  <a:pt x="540420" y="3307"/>
                </a:lnTo>
                <a:lnTo>
                  <a:pt x="571919" y="828"/>
                </a:lnTo>
                <a:lnTo>
                  <a:pt x="603504" y="0"/>
                </a:lnTo>
                <a:lnTo>
                  <a:pt x="603504" y="603504"/>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53519" y="3888094"/>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EHH</a:t>
            </a:r>
          </a:p>
        </p:txBody>
      </p:sp>
      <p:sp>
        <p:nvSpPr>
          <p:cNvPr id="27" name="Oval 26"/>
          <p:cNvSpPr/>
          <p:nvPr/>
        </p:nvSpPr>
        <p:spPr>
          <a:xfrm>
            <a:off x="3008376" y="35295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3675887"/>
            <a:ext cx="2240280" cy="310896"/>
          </a:xfrm>
          <a:prstGeom prst="rect">
            <a:avLst/>
          </a:prstGeom>
          <a:noFill/>
        </p:spPr>
        <p:txBody>
          <a:bodyPr wrap="square" lIns="0" rIns="0" tIns="0" bIns="0" anchor="t">
            <a:spAutoFit/>
          </a:bodyPr>
          <a:lstStyle/>
          <a:p>
            <a:pPr algn="r">
              <a:lnSpc>
                <a:spcPct val="114000"/>
              </a:lnSpc>
              <a:spcAft>
                <a:spcPts val="0"/>
              </a:spcAft>
            </a:pPr>
            <a:r>
              <a:rPr sz="1400" b="1">
                <a:solidFill>
                  <a:srgbClr val="0D1B2A"/>
                </a:solidFill>
                <a:latin typeface="Calibri"/>
              </a:rPr>
              <a:t>CCU / SCU / EHH</a:t>
            </a:r>
          </a:p>
        </p:txBody>
      </p:sp>
      <p:sp>
        <p:nvSpPr>
          <p:cNvPr id="29" name="TextBox 28"/>
          <p:cNvSpPr txBox="1"/>
          <p:nvPr/>
        </p:nvSpPr>
        <p:spPr>
          <a:xfrm>
            <a:off x="640080" y="4078224"/>
            <a:ext cx="2240280" cy="548640"/>
          </a:xfrm>
          <a:prstGeom prst="rect">
            <a:avLst/>
          </a:prstGeom>
          <a:noFill/>
        </p:spPr>
        <p:txBody>
          <a:bodyPr wrap="square" lIns="0" rIns="0" tIns="0" bIns="0" anchor="t">
            <a:spAutoFit/>
          </a:bodyPr>
          <a:lstStyle/>
          <a:p>
            <a:pPr algn="r">
              <a:lnSpc>
                <a:spcPct val="122000"/>
              </a:lnSpc>
              <a:spcAft>
                <a:spcPts val="0"/>
              </a:spcAft>
            </a:pPr>
            <a:r>
              <a:rPr sz="1000" b="0">
                <a:solidFill>
                  <a:srgbClr val="55677C"/>
                </a:solidFill>
                <a:latin typeface="Calibri"/>
              </a:rPr>
              <a:t>Vormen nu samen één fysieke afdeling.</a:t>
            </a:r>
          </a:p>
        </p:txBody>
      </p:sp>
      <p:sp>
        <p:nvSpPr>
          <p:cNvPr id="30" name="Freeform 29"/>
          <p:cNvSpPr/>
          <p:nvPr/>
        </p:nvSpPr>
        <p:spPr>
          <a:xfrm>
            <a:off x="3008376" y="4901183"/>
            <a:ext cx="1207008" cy="1207009"/>
          </a:xfrm>
          <a:custGeom>
            <a:avLst/>
            <a:gdLst/>
            <a:ahLst/>
            <a:cxnLst/>
            <a:rect l="l" t="t" r="r" b="b"/>
            <a:pathLst>
              <a:path w="1207008" h="1207009">
                <a:moveTo>
                  <a:pt x="603504" y="0"/>
                </a:moveTo>
                <a:lnTo>
                  <a:pt x="697912" y="7431"/>
                </a:lnTo>
                <a:lnTo>
                  <a:pt x="789996" y="29538"/>
                </a:lnTo>
                <a:lnTo>
                  <a:pt x="877489" y="65778"/>
                </a:lnTo>
                <a:lnTo>
                  <a:pt x="958234" y="115260"/>
                </a:lnTo>
                <a:lnTo>
                  <a:pt x="1030245" y="176763"/>
                </a:lnTo>
                <a:lnTo>
                  <a:pt x="1091748" y="248774"/>
                </a:lnTo>
                <a:lnTo>
                  <a:pt x="1141230" y="329519"/>
                </a:lnTo>
                <a:lnTo>
                  <a:pt x="1177470" y="417012"/>
                </a:lnTo>
                <a:lnTo>
                  <a:pt x="1199577" y="509096"/>
                </a:lnTo>
                <a:lnTo>
                  <a:pt x="1207008" y="603505"/>
                </a:lnTo>
                <a:lnTo>
                  <a:pt x="1199577" y="697913"/>
                </a:lnTo>
                <a:lnTo>
                  <a:pt x="1177470" y="789997"/>
                </a:lnTo>
                <a:lnTo>
                  <a:pt x="1141230" y="877490"/>
                </a:lnTo>
                <a:lnTo>
                  <a:pt x="1091748" y="958235"/>
                </a:lnTo>
                <a:lnTo>
                  <a:pt x="1030245" y="1030246"/>
                </a:lnTo>
                <a:lnTo>
                  <a:pt x="958234" y="1091749"/>
                </a:lnTo>
                <a:lnTo>
                  <a:pt x="877489" y="1141231"/>
                </a:lnTo>
                <a:lnTo>
                  <a:pt x="789996" y="1177471"/>
                </a:lnTo>
                <a:lnTo>
                  <a:pt x="697912" y="1199578"/>
                </a:lnTo>
                <a:lnTo>
                  <a:pt x="603504" y="1207009"/>
                </a:lnTo>
                <a:lnTo>
                  <a:pt x="509095" y="1199578"/>
                </a:lnTo>
                <a:lnTo>
                  <a:pt x="417011" y="1177471"/>
                </a:lnTo>
                <a:lnTo>
                  <a:pt x="329518" y="1141231"/>
                </a:lnTo>
                <a:lnTo>
                  <a:pt x="248773" y="1091749"/>
                </a:lnTo>
                <a:lnTo>
                  <a:pt x="176762" y="1030246"/>
                </a:lnTo>
                <a:lnTo>
                  <a:pt x="115259" y="958235"/>
                </a:lnTo>
                <a:lnTo>
                  <a:pt x="65777" y="877490"/>
                </a:lnTo>
                <a:lnTo>
                  <a:pt x="29537" y="789997"/>
                </a:lnTo>
                <a:lnTo>
                  <a:pt x="7430" y="697913"/>
                </a:lnTo>
                <a:lnTo>
                  <a:pt x="0" y="603505"/>
                </a:lnTo>
                <a:lnTo>
                  <a:pt x="7430" y="509096"/>
                </a:lnTo>
                <a:lnTo>
                  <a:pt x="29537" y="417012"/>
                </a:lnTo>
                <a:lnTo>
                  <a:pt x="65777" y="329519"/>
                </a:lnTo>
                <a:lnTo>
                  <a:pt x="115259" y="248774"/>
                </a:lnTo>
                <a:lnTo>
                  <a:pt x="176762" y="176763"/>
                </a:lnTo>
                <a:lnTo>
                  <a:pt x="248773" y="115260"/>
                </a:lnTo>
                <a:lnTo>
                  <a:pt x="329518" y="65778"/>
                </a:lnTo>
                <a:lnTo>
                  <a:pt x="417011" y="29538"/>
                </a:lnTo>
                <a:lnTo>
                  <a:pt x="509095" y="7431"/>
                </a:lnTo>
                <a:lnTo>
                  <a:pt x="603504" y="0"/>
                </a:lnTo>
                <a:lnTo>
                  <a:pt x="603504" y="603505"/>
                </a:lnTo>
                <a:close/>
              </a:path>
            </a:pathLst>
          </a:custGeom>
          <a:solidFill>
            <a:srgbClr val="106F7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056656" y="5434711"/>
            <a:ext cx="1110447" cy="139954"/>
          </a:xfrm>
          <a:prstGeom prst="rect">
            <a:avLst/>
          </a:prstGeom>
          <a:noFill/>
        </p:spPr>
        <p:txBody>
          <a:bodyPr wrap="square" lIns="0" rIns="0" tIns="0" bIns="0" anchor="t">
            <a:spAutoFit/>
          </a:bodyPr>
          <a:lstStyle/>
          <a:p>
            <a:pPr algn="ctr">
              <a:lnSpc>
                <a:spcPct val="116000"/>
              </a:lnSpc>
              <a:spcAft>
                <a:spcPts val="0"/>
              </a:spcAft>
            </a:pPr>
            <a:r>
              <a:rPr sz="950" b="1">
                <a:solidFill>
                  <a:srgbClr val="FFFFFF"/>
                </a:solidFill>
                <a:latin typeface="Calibri"/>
              </a:rPr>
              <a:t>IC</a:t>
            </a:r>
          </a:p>
        </p:txBody>
      </p:sp>
      <p:sp>
        <p:nvSpPr>
          <p:cNvPr id="32" name="Oval 31"/>
          <p:cNvSpPr/>
          <p:nvPr/>
        </p:nvSpPr>
        <p:spPr>
          <a:xfrm>
            <a:off x="3008376" y="4901183"/>
            <a:ext cx="1207008" cy="1207008"/>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5047488"/>
            <a:ext cx="2240280" cy="310896"/>
          </a:xfrm>
          <a:prstGeom prst="rect">
            <a:avLst/>
          </a:prstGeom>
          <a:noFill/>
        </p:spPr>
        <p:txBody>
          <a:bodyPr wrap="square" lIns="0" rIns="0" tIns="0" bIns="0" anchor="t">
            <a:spAutoFit/>
          </a:bodyPr>
          <a:lstStyle/>
          <a:p>
            <a:pPr algn="r">
              <a:lnSpc>
                <a:spcPct val="114000"/>
              </a:lnSpc>
              <a:spcAft>
                <a:spcPts val="0"/>
              </a:spcAft>
            </a:pPr>
            <a:r>
              <a:rPr sz="1400" b="1">
                <a:solidFill>
                  <a:srgbClr val="0D1B2A"/>
                </a:solidFill>
                <a:latin typeface="Calibri"/>
              </a:rPr>
              <a:t>IC</a:t>
            </a:r>
          </a:p>
        </p:txBody>
      </p:sp>
      <p:sp>
        <p:nvSpPr>
          <p:cNvPr id="34" name="TextBox 33"/>
          <p:cNvSpPr txBox="1"/>
          <p:nvPr/>
        </p:nvSpPr>
        <p:spPr>
          <a:xfrm>
            <a:off x="640080" y="5449824"/>
            <a:ext cx="2240280" cy="548640"/>
          </a:xfrm>
          <a:prstGeom prst="rect">
            <a:avLst/>
          </a:prstGeom>
          <a:noFill/>
        </p:spPr>
        <p:txBody>
          <a:bodyPr wrap="square" lIns="0" rIns="0" tIns="0" bIns="0" anchor="t">
            <a:spAutoFit/>
          </a:bodyPr>
          <a:lstStyle/>
          <a:p>
            <a:pPr algn="r">
              <a:lnSpc>
                <a:spcPct val="122000"/>
              </a:lnSpc>
              <a:spcAft>
                <a:spcPts val="0"/>
              </a:spcAft>
            </a:pPr>
            <a:r>
              <a:rPr sz="1000" b="0">
                <a:solidFill>
                  <a:srgbClr val="55677C"/>
                </a:solidFill>
                <a:latin typeface="Calibri"/>
              </a:rPr>
              <a:t>Zelfstandige afdeling voor hoog complexe zorg.</a:t>
            </a:r>
          </a:p>
        </p:txBody>
      </p:sp>
      <p:sp>
        <p:nvSpPr>
          <p:cNvPr id="35" name="Freeform 34"/>
          <p:cNvSpPr/>
          <p:nvPr/>
        </p:nvSpPr>
        <p:spPr>
          <a:xfrm>
            <a:off x="7635240" y="1938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F6FB2"/>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253290" y="2503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SEH</a:t>
            </a:r>
          </a:p>
        </p:txBody>
      </p:sp>
      <p:sp>
        <p:nvSpPr>
          <p:cNvPr id="37" name="Freeform 36"/>
          <p:cNvSpPr/>
          <p:nvPr/>
        </p:nvSpPr>
        <p:spPr>
          <a:xfrm>
            <a:off x="6843346" y="2852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1A5689"/>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793992" y="3298571"/>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Kind</a:t>
            </a:r>
          </a:p>
        </p:txBody>
      </p:sp>
      <p:sp>
        <p:nvSpPr>
          <p:cNvPr id="39" name="Freeform 38"/>
          <p:cNvSpPr/>
          <p:nvPr/>
        </p:nvSpPr>
        <p:spPr>
          <a:xfrm>
            <a:off x="6720840" y="1938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1852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34693" y="2503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EHH</a:t>
            </a:r>
          </a:p>
        </p:txBody>
      </p:sp>
      <p:sp>
        <p:nvSpPr>
          <p:cNvPr id="41" name="Oval 40"/>
          <p:cNvSpPr/>
          <p:nvPr/>
        </p:nvSpPr>
        <p:spPr>
          <a:xfrm>
            <a:off x="6720840" y="1938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796528" y="2286000"/>
            <a:ext cx="2755087" cy="310896"/>
          </a:xfrm>
          <a:prstGeom prst="rect">
            <a:avLst/>
          </a:prstGeom>
          <a:noFill/>
        </p:spPr>
        <p:txBody>
          <a:bodyPr wrap="square" lIns="0" rIns="0" tIns="0" bIns="0" anchor="t">
            <a:spAutoFit/>
          </a:bodyPr>
          <a:lstStyle/>
          <a:p>
            <a:pPr algn="l">
              <a:lnSpc>
                <a:spcPct val="120000"/>
              </a:lnSpc>
              <a:spcAft>
                <a:spcPts val="0"/>
              </a:spcAft>
            </a:pPr>
            <a:r>
              <a:rPr sz="1600" b="1">
                <a:solidFill>
                  <a:srgbClr val="0D1B2A"/>
                </a:solidFill>
                <a:latin typeface="Calibri"/>
              </a:rPr>
              <a:t>De acute poort</a:t>
            </a:r>
          </a:p>
        </p:txBody>
      </p:sp>
      <p:sp>
        <p:nvSpPr>
          <p:cNvPr id="43" name="TextBox 42"/>
          <p:cNvSpPr txBox="1"/>
          <p:nvPr/>
        </p:nvSpPr>
        <p:spPr>
          <a:xfrm>
            <a:off x="8796528" y="2670048"/>
            <a:ext cx="2755087" cy="786384"/>
          </a:xfrm>
          <a:prstGeom prst="rect">
            <a:avLst/>
          </a:prstGeom>
          <a:noFill/>
        </p:spPr>
        <p:txBody>
          <a:bodyPr wrap="square" lIns="0" rIns="0" tIns="0" bIns="0" anchor="t">
            <a:spAutoFit/>
          </a:bodyPr>
          <a:lstStyle/>
          <a:p>
            <a:pPr algn="l">
              <a:lnSpc>
                <a:spcPct val="124000"/>
              </a:lnSpc>
              <a:spcAft>
                <a:spcPts val="0"/>
              </a:spcAft>
            </a:pPr>
            <a:r>
              <a:rPr sz="1050" b="0">
                <a:solidFill>
                  <a:srgbClr val="55677C"/>
                </a:solidFill>
                <a:latin typeface="Calibri"/>
              </a:rPr>
              <a:t>De huidige SEH, de kinderspoed en de EHH komen hier samen achter één poort.</a:t>
            </a:r>
          </a:p>
        </p:txBody>
      </p:sp>
      <p:sp>
        <p:nvSpPr>
          <p:cNvPr id="44" name="Freeform 43"/>
          <p:cNvSpPr/>
          <p:nvPr/>
        </p:nvSpPr>
        <p:spPr>
          <a:xfrm>
            <a:off x="7635240" y="4224528"/>
            <a:ext cx="914400" cy="1371600"/>
          </a:xfrm>
          <a:custGeom>
            <a:avLst/>
            <a:gdLst/>
            <a:ahLst/>
            <a:cxnLst/>
            <a:rect l="l" t="t" r="r" b="b"/>
            <a:pathLst>
              <a:path w="914400" h="1371600">
                <a:moveTo>
                  <a:pt x="0" y="0"/>
                </a:moveTo>
                <a:lnTo>
                  <a:pt x="47855" y="1253"/>
                </a:lnTo>
                <a:lnTo>
                  <a:pt x="95580" y="5009"/>
                </a:lnTo>
                <a:lnTo>
                  <a:pt x="143043" y="11257"/>
                </a:lnTo>
                <a:lnTo>
                  <a:pt x="190114" y="19981"/>
                </a:lnTo>
                <a:lnTo>
                  <a:pt x="236664" y="31157"/>
                </a:lnTo>
                <a:lnTo>
                  <a:pt x="282565" y="44753"/>
                </a:lnTo>
                <a:lnTo>
                  <a:pt x="327691" y="60734"/>
                </a:lnTo>
                <a:lnTo>
                  <a:pt x="371919" y="79054"/>
                </a:lnTo>
                <a:lnTo>
                  <a:pt x="415128" y="99663"/>
                </a:lnTo>
                <a:lnTo>
                  <a:pt x="457200" y="122506"/>
                </a:lnTo>
                <a:lnTo>
                  <a:pt x="498017" y="147519"/>
                </a:lnTo>
                <a:lnTo>
                  <a:pt x="537470" y="174634"/>
                </a:lnTo>
                <a:lnTo>
                  <a:pt x="575450" y="203777"/>
                </a:lnTo>
                <a:lnTo>
                  <a:pt x="611853" y="234868"/>
                </a:lnTo>
                <a:lnTo>
                  <a:pt x="646578" y="267821"/>
                </a:lnTo>
                <a:lnTo>
                  <a:pt x="679531" y="302546"/>
                </a:lnTo>
                <a:lnTo>
                  <a:pt x="710622" y="338949"/>
                </a:lnTo>
                <a:lnTo>
                  <a:pt x="739765" y="376929"/>
                </a:lnTo>
                <a:lnTo>
                  <a:pt x="766880" y="416382"/>
                </a:lnTo>
                <a:lnTo>
                  <a:pt x="791893" y="457200"/>
                </a:lnTo>
                <a:lnTo>
                  <a:pt x="814736" y="499271"/>
                </a:lnTo>
                <a:lnTo>
                  <a:pt x="835345" y="542480"/>
                </a:lnTo>
                <a:lnTo>
                  <a:pt x="853665" y="586708"/>
                </a:lnTo>
                <a:lnTo>
                  <a:pt x="869646" y="631834"/>
                </a:lnTo>
                <a:lnTo>
                  <a:pt x="883242" y="677735"/>
                </a:lnTo>
                <a:lnTo>
                  <a:pt x="894418" y="724285"/>
                </a:lnTo>
                <a:lnTo>
                  <a:pt x="903142" y="771356"/>
                </a:lnTo>
                <a:lnTo>
                  <a:pt x="909390" y="818819"/>
                </a:lnTo>
                <a:lnTo>
                  <a:pt x="913146" y="866544"/>
                </a:lnTo>
                <a:lnTo>
                  <a:pt x="914400" y="914400"/>
                </a:lnTo>
                <a:lnTo>
                  <a:pt x="913146" y="962255"/>
                </a:lnTo>
                <a:lnTo>
                  <a:pt x="909390" y="1009980"/>
                </a:lnTo>
                <a:lnTo>
                  <a:pt x="903142" y="1057443"/>
                </a:lnTo>
                <a:lnTo>
                  <a:pt x="894418" y="1104514"/>
                </a:lnTo>
                <a:lnTo>
                  <a:pt x="883242" y="1151064"/>
                </a:lnTo>
                <a:lnTo>
                  <a:pt x="869646" y="1196965"/>
                </a:lnTo>
                <a:lnTo>
                  <a:pt x="853665" y="1242091"/>
                </a:lnTo>
                <a:lnTo>
                  <a:pt x="835345" y="1286319"/>
                </a:lnTo>
                <a:lnTo>
                  <a:pt x="814736" y="1329528"/>
                </a:lnTo>
                <a:lnTo>
                  <a:pt x="791893" y="1371600"/>
                </a:lnTo>
                <a:lnTo>
                  <a:pt x="0" y="914400"/>
                </a:lnTo>
                <a:close/>
              </a:path>
            </a:pathLst>
          </a:custGeom>
          <a:solidFill>
            <a:srgbClr val="106F7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53290" y="4789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IC</a:t>
            </a:r>
          </a:p>
        </p:txBody>
      </p:sp>
      <p:sp>
        <p:nvSpPr>
          <p:cNvPr id="46" name="Freeform 45"/>
          <p:cNvSpPr/>
          <p:nvPr/>
        </p:nvSpPr>
        <p:spPr>
          <a:xfrm>
            <a:off x="6843346" y="5138928"/>
            <a:ext cx="1583787" cy="914400"/>
          </a:xfrm>
          <a:custGeom>
            <a:avLst/>
            <a:gdLst/>
            <a:ahLst/>
            <a:cxnLst/>
            <a:rect l="l" t="t" r="r" b="b"/>
            <a:pathLst>
              <a:path w="1583787" h="914400">
                <a:moveTo>
                  <a:pt x="1583787" y="457200"/>
                </a:moveTo>
                <a:lnTo>
                  <a:pt x="1558774" y="498017"/>
                </a:lnTo>
                <a:lnTo>
                  <a:pt x="1531659" y="537470"/>
                </a:lnTo>
                <a:lnTo>
                  <a:pt x="1502516" y="575450"/>
                </a:lnTo>
                <a:lnTo>
                  <a:pt x="1471425" y="611853"/>
                </a:lnTo>
                <a:lnTo>
                  <a:pt x="1438472" y="646578"/>
                </a:lnTo>
                <a:lnTo>
                  <a:pt x="1403747" y="679531"/>
                </a:lnTo>
                <a:lnTo>
                  <a:pt x="1367344" y="710622"/>
                </a:lnTo>
                <a:lnTo>
                  <a:pt x="1329364" y="739765"/>
                </a:lnTo>
                <a:lnTo>
                  <a:pt x="1289911" y="766880"/>
                </a:lnTo>
                <a:lnTo>
                  <a:pt x="1249094" y="791893"/>
                </a:lnTo>
                <a:lnTo>
                  <a:pt x="1207022" y="814736"/>
                </a:lnTo>
                <a:lnTo>
                  <a:pt x="1163813" y="835345"/>
                </a:lnTo>
                <a:lnTo>
                  <a:pt x="1119585" y="853665"/>
                </a:lnTo>
                <a:lnTo>
                  <a:pt x="1074459" y="869646"/>
                </a:lnTo>
                <a:lnTo>
                  <a:pt x="1028558" y="883242"/>
                </a:lnTo>
                <a:lnTo>
                  <a:pt x="982008" y="894418"/>
                </a:lnTo>
                <a:lnTo>
                  <a:pt x="934937" y="903142"/>
                </a:lnTo>
                <a:lnTo>
                  <a:pt x="887474" y="909390"/>
                </a:lnTo>
                <a:lnTo>
                  <a:pt x="839749" y="913146"/>
                </a:lnTo>
                <a:lnTo>
                  <a:pt x="791894" y="914400"/>
                </a:lnTo>
                <a:lnTo>
                  <a:pt x="744038" y="913146"/>
                </a:lnTo>
                <a:lnTo>
                  <a:pt x="696313" y="909390"/>
                </a:lnTo>
                <a:lnTo>
                  <a:pt x="648850" y="903142"/>
                </a:lnTo>
                <a:lnTo>
                  <a:pt x="601779" y="894418"/>
                </a:lnTo>
                <a:lnTo>
                  <a:pt x="555229" y="883242"/>
                </a:lnTo>
                <a:lnTo>
                  <a:pt x="509328" y="869646"/>
                </a:lnTo>
                <a:lnTo>
                  <a:pt x="464202" y="853665"/>
                </a:lnTo>
                <a:lnTo>
                  <a:pt x="419974" y="835345"/>
                </a:lnTo>
                <a:lnTo>
                  <a:pt x="376765" y="814736"/>
                </a:lnTo>
                <a:lnTo>
                  <a:pt x="334694" y="791893"/>
                </a:lnTo>
                <a:lnTo>
                  <a:pt x="293876" y="766880"/>
                </a:lnTo>
                <a:lnTo>
                  <a:pt x="254423" y="739765"/>
                </a:lnTo>
                <a:lnTo>
                  <a:pt x="216443" y="710622"/>
                </a:lnTo>
                <a:lnTo>
                  <a:pt x="180040" y="679531"/>
                </a:lnTo>
                <a:lnTo>
                  <a:pt x="145315" y="646578"/>
                </a:lnTo>
                <a:lnTo>
                  <a:pt x="112362" y="611853"/>
                </a:lnTo>
                <a:lnTo>
                  <a:pt x="81271" y="575450"/>
                </a:lnTo>
                <a:lnTo>
                  <a:pt x="52128" y="537470"/>
                </a:lnTo>
                <a:lnTo>
                  <a:pt x="25013" y="498017"/>
                </a:lnTo>
                <a:lnTo>
                  <a:pt x="0" y="457200"/>
                </a:lnTo>
                <a:lnTo>
                  <a:pt x="791894" y="0"/>
                </a:lnTo>
                <a:close/>
              </a:path>
            </a:pathLst>
          </a:custGeom>
          <a:solidFill>
            <a:srgbClr val="0E9A87"/>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793992" y="5584571"/>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CCU</a:t>
            </a:r>
          </a:p>
        </p:txBody>
      </p:sp>
      <p:sp>
        <p:nvSpPr>
          <p:cNvPr id="48" name="Freeform 47"/>
          <p:cNvSpPr/>
          <p:nvPr/>
        </p:nvSpPr>
        <p:spPr>
          <a:xfrm>
            <a:off x="6720840" y="4224528"/>
            <a:ext cx="914400" cy="1371600"/>
          </a:xfrm>
          <a:custGeom>
            <a:avLst/>
            <a:gdLst/>
            <a:ahLst/>
            <a:cxnLst/>
            <a:rect l="l" t="t" r="r" b="b"/>
            <a:pathLst>
              <a:path w="914400" h="1371600">
                <a:moveTo>
                  <a:pt x="122506" y="1371600"/>
                </a:moveTo>
                <a:lnTo>
                  <a:pt x="99663" y="1329528"/>
                </a:lnTo>
                <a:lnTo>
                  <a:pt x="79054" y="1286319"/>
                </a:lnTo>
                <a:lnTo>
                  <a:pt x="60734" y="1242091"/>
                </a:lnTo>
                <a:lnTo>
                  <a:pt x="44753" y="1196965"/>
                </a:lnTo>
                <a:lnTo>
                  <a:pt x="31157" y="1151064"/>
                </a:lnTo>
                <a:lnTo>
                  <a:pt x="19981" y="1104514"/>
                </a:lnTo>
                <a:lnTo>
                  <a:pt x="11257" y="1057443"/>
                </a:lnTo>
                <a:lnTo>
                  <a:pt x="5009" y="1009980"/>
                </a:lnTo>
                <a:lnTo>
                  <a:pt x="1253" y="962255"/>
                </a:lnTo>
                <a:lnTo>
                  <a:pt x="0" y="914400"/>
                </a:lnTo>
                <a:lnTo>
                  <a:pt x="1253" y="866544"/>
                </a:lnTo>
                <a:lnTo>
                  <a:pt x="5009" y="818819"/>
                </a:lnTo>
                <a:lnTo>
                  <a:pt x="11257" y="771356"/>
                </a:lnTo>
                <a:lnTo>
                  <a:pt x="19981" y="724285"/>
                </a:lnTo>
                <a:lnTo>
                  <a:pt x="31157" y="677735"/>
                </a:lnTo>
                <a:lnTo>
                  <a:pt x="44753" y="631834"/>
                </a:lnTo>
                <a:lnTo>
                  <a:pt x="60734" y="586708"/>
                </a:lnTo>
                <a:lnTo>
                  <a:pt x="79054" y="542480"/>
                </a:lnTo>
                <a:lnTo>
                  <a:pt x="99663" y="499271"/>
                </a:lnTo>
                <a:lnTo>
                  <a:pt x="122506" y="457200"/>
                </a:lnTo>
                <a:lnTo>
                  <a:pt x="147519" y="416382"/>
                </a:lnTo>
                <a:lnTo>
                  <a:pt x="174634" y="376929"/>
                </a:lnTo>
                <a:lnTo>
                  <a:pt x="203777" y="338949"/>
                </a:lnTo>
                <a:lnTo>
                  <a:pt x="234868" y="302546"/>
                </a:lnTo>
                <a:lnTo>
                  <a:pt x="267821" y="267821"/>
                </a:lnTo>
                <a:lnTo>
                  <a:pt x="302546" y="234868"/>
                </a:lnTo>
                <a:lnTo>
                  <a:pt x="338949" y="203777"/>
                </a:lnTo>
                <a:lnTo>
                  <a:pt x="376929" y="174634"/>
                </a:lnTo>
                <a:lnTo>
                  <a:pt x="416382" y="147519"/>
                </a:lnTo>
                <a:lnTo>
                  <a:pt x="457200" y="122506"/>
                </a:lnTo>
                <a:lnTo>
                  <a:pt x="499271" y="99663"/>
                </a:lnTo>
                <a:lnTo>
                  <a:pt x="542480" y="79054"/>
                </a:lnTo>
                <a:lnTo>
                  <a:pt x="586708" y="60734"/>
                </a:lnTo>
                <a:lnTo>
                  <a:pt x="631834" y="44753"/>
                </a:lnTo>
                <a:lnTo>
                  <a:pt x="677735" y="31157"/>
                </a:lnTo>
                <a:lnTo>
                  <a:pt x="724285" y="19981"/>
                </a:lnTo>
                <a:lnTo>
                  <a:pt x="771356" y="11257"/>
                </a:lnTo>
                <a:lnTo>
                  <a:pt x="818819" y="5009"/>
                </a:lnTo>
                <a:lnTo>
                  <a:pt x="866544" y="1253"/>
                </a:lnTo>
                <a:lnTo>
                  <a:pt x="914400" y="0"/>
                </a:lnTo>
                <a:lnTo>
                  <a:pt x="914400" y="914400"/>
                </a:lnTo>
                <a:close/>
              </a:path>
            </a:pathLst>
          </a:custGeom>
          <a:solidFill>
            <a:srgbClr val="0E766D"/>
          </a:solid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34693" y="4789043"/>
            <a:ext cx="1682496" cy="169418"/>
          </a:xfrm>
          <a:prstGeom prst="rect">
            <a:avLst/>
          </a:prstGeom>
          <a:noFill/>
        </p:spPr>
        <p:txBody>
          <a:bodyPr wrap="square" lIns="0" rIns="0" tIns="0" bIns="0" anchor="t">
            <a:spAutoFit/>
          </a:bodyPr>
          <a:lstStyle/>
          <a:p>
            <a:pPr algn="ctr">
              <a:lnSpc>
                <a:spcPct val="116000"/>
              </a:lnSpc>
              <a:spcAft>
                <a:spcPts val="0"/>
              </a:spcAft>
            </a:pPr>
            <a:r>
              <a:rPr sz="1150" b="1">
                <a:solidFill>
                  <a:srgbClr val="FFFFFF"/>
                </a:solidFill>
                <a:latin typeface="Calibri"/>
              </a:rPr>
              <a:t>SCU</a:t>
            </a:r>
          </a:p>
        </p:txBody>
      </p:sp>
      <p:sp>
        <p:nvSpPr>
          <p:cNvPr id="50" name="Oval 49"/>
          <p:cNvSpPr/>
          <p:nvPr/>
        </p:nvSpPr>
        <p:spPr>
          <a:xfrm>
            <a:off x="6720840" y="4224528"/>
            <a:ext cx="1828800" cy="1828800"/>
          </a:xfrm>
          <a:prstGeom prst="ellipse">
            <a:avLst/>
          </a:prstGeom>
          <a:noFill/>
          <a:ln w="508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796528" y="4572000"/>
            <a:ext cx="2755087" cy="310896"/>
          </a:xfrm>
          <a:prstGeom prst="rect">
            <a:avLst/>
          </a:prstGeom>
          <a:noFill/>
        </p:spPr>
        <p:txBody>
          <a:bodyPr wrap="square" lIns="0" rIns="0" tIns="0" bIns="0" anchor="t">
            <a:spAutoFit/>
          </a:bodyPr>
          <a:lstStyle/>
          <a:p>
            <a:pPr algn="l">
              <a:lnSpc>
                <a:spcPct val="120000"/>
              </a:lnSpc>
              <a:spcAft>
                <a:spcPts val="0"/>
              </a:spcAft>
            </a:pPr>
            <a:r>
              <a:rPr sz="1600" b="1">
                <a:solidFill>
                  <a:srgbClr val="0D1B2A"/>
                </a:solidFill>
                <a:latin typeface="Calibri"/>
              </a:rPr>
              <a:t>De Hotfloor</a:t>
            </a:r>
          </a:p>
        </p:txBody>
      </p:sp>
      <p:sp>
        <p:nvSpPr>
          <p:cNvPr id="52" name="TextBox 51"/>
          <p:cNvSpPr txBox="1"/>
          <p:nvPr/>
        </p:nvSpPr>
        <p:spPr>
          <a:xfrm>
            <a:off x="8796528" y="4956048"/>
            <a:ext cx="2755087" cy="786384"/>
          </a:xfrm>
          <a:prstGeom prst="rect">
            <a:avLst/>
          </a:prstGeom>
          <a:noFill/>
        </p:spPr>
        <p:txBody>
          <a:bodyPr wrap="square" lIns="0" rIns="0" tIns="0" bIns="0" anchor="t">
            <a:spAutoFit/>
          </a:bodyPr>
          <a:lstStyle/>
          <a:p>
            <a:pPr algn="l">
              <a:lnSpc>
                <a:spcPct val="124000"/>
              </a:lnSpc>
              <a:spcAft>
                <a:spcPts val="0"/>
              </a:spcAft>
            </a:pPr>
            <a:r>
              <a:rPr sz="1050" b="0">
                <a:solidFill>
                  <a:srgbClr val="55677C"/>
                </a:solidFill>
                <a:latin typeface="Calibri"/>
              </a:rPr>
              <a:t>De IC smelt samen met de CCU en de SCU tot één cluster voor bewakingszorg.</a:t>
            </a:r>
          </a:p>
        </p:txBody>
      </p:sp>
      <p:sp>
        <p:nvSpPr>
          <p:cNvPr id="53" name="Freeform 52"/>
          <p:cNvSpPr/>
          <p:nvPr/>
        </p:nvSpPr>
        <p:spPr>
          <a:xfrm>
            <a:off x="4361688" y="2432304"/>
            <a:ext cx="2212848" cy="182880"/>
          </a:xfrm>
          <a:custGeom>
            <a:avLst/>
            <a:gdLst/>
            <a:ahLst/>
            <a:cxnLst/>
            <a:rect l="l" t="t" r="r" b="b"/>
            <a:pathLst>
              <a:path w="2212848" h="182880">
                <a:moveTo>
                  <a:pt x="0" y="182880"/>
                </a:moveTo>
                <a:lnTo>
                  <a:pt x="50292" y="182600"/>
                </a:lnTo>
                <a:lnTo>
                  <a:pt x="100584" y="181780"/>
                </a:lnTo>
                <a:lnTo>
                  <a:pt x="150876" y="180445"/>
                </a:lnTo>
                <a:lnTo>
                  <a:pt x="201168" y="178620"/>
                </a:lnTo>
                <a:lnTo>
                  <a:pt x="251460" y="176332"/>
                </a:lnTo>
                <a:lnTo>
                  <a:pt x="301752" y="173605"/>
                </a:lnTo>
                <a:lnTo>
                  <a:pt x="352044" y="170466"/>
                </a:lnTo>
                <a:lnTo>
                  <a:pt x="402336" y="166941"/>
                </a:lnTo>
                <a:lnTo>
                  <a:pt x="452628" y="163055"/>
                </a:lnTo>
                <a:lnTo>
                  <a:pt x="502920" y="158834"/>
                </a:lnTo>
                <a:lnTo>
                  <a:pt x="553212" y="154305"/>
                </a:lnTo>
                <a:lnTo>
                  <a:pt x="603504" y="149491"/>
                </a:lnTo>
                <a:lnTo>
                  <a:pt x="653796" y="144420"/>
                </a:lnTo>
                <a:lnTo>
                  <a:pt x="704088" y="139117"/>
                </a:lnTo>
                <a:lnTo>
                  <a:pt x="754380" y="133609"/>
                </a:lnTo>
                <a:lnTo>
                  <a:pt x="804672" y="127919"/>
                </a:lnTo>
                <a:lnTo>
                  <a:pt x="854964" y="122076"/>
                </a:lnTo>
                <a:lnTo>
                  <a:pt x="905256" y="116103"/>
                </a:lnTo>
                <a:lnTo>
                  <a:pt x="955548" y="110027"/>
                </a:lnTo>
                <a:lnTo>
                  <a:pt x="1005840" y="103874"/>
                </a:lnTo>
                <a:lnTo>
                  <a:pt x="1056132" y="97670"/>
                </a:lnTo>
                <a:lnTo>
                  <a:pt x="1106424" y="91440"/>
                </a:lnTo>
                <a:lnTo>
                  <a:pt x="1156716" y="85209"/>
                </a:lnTo>
                <a:lnTo>
                  <a:pt x="1207008" y="79005"/>
                </a:lnTo>
                <a:lnTo>
                  <a:pt x="1257300" y="72852"/>
                </a:lnTo>
                <a:lnTo>
                  <a:pt x="1307592" y="66776"/>
                </a:lnTo>
                <a:lnTo>
                  <a:pt x="1357884" y="60803"/>
                </a:lnTo>
                <a:lnTo>
                  <a:pt x="1408176" y="54960"/>
                </a:lnTo>
                <a:lnTo>
                  <a:pt x="1458468" y="49270"/>
                </a:lnTo>
                <a:lnTo>
                  <a:pt x="1508760" y="43762"/>
                </a:lnTo>
                <a:lnTo>
                  <a:pt x="1559052" y="38459"/>
                </a:lnTo>
                <a:lnTo>
                  <a:pt x="1609343" y="33388"/>
                </a:lnTo>
                <a:lnTo>
                  <a:pt x="1659636" y="28575"/>
                </a:lnTo>
                <a:lnTo>
                  <a:pt x="1709928" y="24045"/>
                </a:lnTo>
                <a:lnTo>
                  <a:pt x="1760219" y="19824"/>
                </a:lnTo>
                <a:lnTo>
                  <a:pt x="1810512" y="15938"/>
                </a:lnTo>
                <a:lnTo>
                  <a:pt x="1860804" y="12413"/>
                </a:lnTo>
                <a:lnTo>
                  <a:pt x="1911095" y="9274"/>
                </a:lnTo>
                <a:lnTo>
                  <a:pt x="1961387" y="6547"/>
                </a:lnTo>
                <a:lnTo>
                  <a:pt x="2011679" y="4259"/>
                </a:lnTo>
                <a:lnTo>
                  <a:pt x="2061971" y="2434"/>
                </a:lnTo>
                <a:lnTo>
                  <a:pt x="2112264" y="1099"/>
                </a:lnTo>
                <a:lnTo>
                  <a:pt x="2162556" y="279"/>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4288536" y="254203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501383" y="2359152"/>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Freeform 55"/>
          <p:cNvSpPr/>
          <p:nvPr/>
        </p:nvSpPr>
        <p:spPr>
          <a:xfrm>
            <a:off x="4361688" y="2724912"/>
            <a:ext cx="2212848" cy="128016"/>
          </a:xfrm>
          <a:custGeom>
            <a:avLst/>
            <a:gdLst/>
            <a:ahLst/>
            <a:cxnLst/>
            <a:rect l="l" t="t" r="r" b="b"/>
            <a:pathLst>
              <a:path w="2212848" h="128016">
                <a:moveTo>
                  <a:pt x="0" y="128016"/>
                </a:moveTo>
                <a:lnTo>
                  <a:pt x="50292" y="127820"/>
                </a:lnTo>
                <a:lnTo>
                  <a:pt x="100584" y="127246"/>
                </a:lnTo>
                <a:lnTo>
                  <a:pt x="150876" y="126311"/>
                </a:lnTo>
                <a:lnTo>
                  <a:pt x="201168" y="125034"/>
                </a:lnTo>
                <a:lnTo>
                  <a:pt x="251460" y="123432"/>
                </a:lnTo>
                <a:lnTo>
                  <a:pt x="301752" y="121523"/>
                </a:lnTo>
                <a:lnTo>
                  <a:pt x="352044" y="119326"/>
                </a:lnTo>
                <a:lnTo>
                  <a:pt x="402336" y="116859"/>
                </a:lnTo>
                <a:lnTo>
                  <a:pt x="452628" y="114138"/>
                </a:lnTo>
                <a:lnTo>
                  <a:pt x="502920" y="111184"/>
                </a:lnTo>
                <a:lnTo>
                  <a:pt x="553212" y="108013"/>
                </a:lnTo>
                <a:lnTo>
                  <a:pt x="603504" y="104644"/>
                </a:lnTo>
                <a:lnTo>
                  <a:pt x="653796" y="101094"/>
                </a:lnTo>
                <a:lnTo>
                  <a:pt x="704088" y="97382"/>
                </a:lnTo>
                <a:lnTo>
                  <a:pt x="754380" y="93526"/>
                </a:lnTo>
                <a:lnTo>
                  <a:pt x="804672" y="89543"/>
                </a:lnTo>
                <a:lnTo>
                  <a:pt x="854964" y="85453"/>
                </a:lnTo>
                <a:lnTo>
                  <a:pt x="905256" y="81272"/>
                </a:lnTo>
                <a:lnTo>
                  <a:pt x="955548" y="77019"/>
                </a:lnTo>
                <a:lnTo>
                  <a:pt x="1005840" y="72712"/>
                </a:lnTo>
                <a:lnTo>
                  <a:pt x="1056132" y="68369"/>
                </a:lnTo>
                <a:lnTo>
                  <a:pt x="1106424" y="64008"/>
                </a:lnTo>
                <a:lnTo>
                  <a:pt x="1156716" y="59646"/>
                </a:lnTo>
                <a:lnTo>
                  <a:pt x="1207008" y="55303"/>
                </a:lnTo>
                <a:lnTo>
                  <a:pt x="1257300" y="50996"/>
                </a:lnTo>
                <a:lnTo>
                  <a:pt x="1307592" y="46743"/>
                </a:lnTo>
                <a:lnTo>
                  <a:pt x="1357884" y="42562"/>
                </a:lnTo>
                <a:lnTo>
                  <a:pt x="1408176" y="38472"/>
                </a:lnTo>
                <a:lnTo>
                  <a:pt x="1458468" y="34489"/>
                </a:lnTo>
                <a:lnTo>
                  <a:pt x="1508760" y="30633"/>
                </a:lnTo>
                <a:lnTo>
                  <a:pt x="1559052" y="26921"/>
                </a:lnTo>
                <a:lnTo>
                  <a:pt x="1609343" y="23371"/>
                </a:lnTo>
                <a:lnTo>
                  <a:pt x="1659636" y="20002"/>
                </a:lnTo>
                <a:lnTo>
                  <a:pt x="1709928" y="16831"/>
                </a:lnTo>
                <a:lnTo>
                  <a:pt x="1760219" y="13877"/>
                </a:lnTo>
                <a:lnTo>
                  <a:pt x="1810512" y="11156"/>
                </a:lnTo>
                <a:lnTo>
                  <a:pt x="1860804" y="8689"/>
                </a:lnTo>
                <a:lnTo>
                  <a:pt x="1911095" y="6492"/>
                </a:lnTo>
                <a:lnTo>
                  <a:pt x="1961387" y="4583"/>
                </a:lnTo>
                <a:lnTo>
                  <a:pt x="2011679" y="2981"/>
                </a:lnTo>
                <a:lnTo>
                  <a:pt x="2061971" y="1704"/>
                </a:lnTo>
                <a:lnTo>
                  <a:pt x="2112264" y="769"/>
                </a:lnTo>
                <a:lnTo>
                  <a:pt x="2162556" y="195"/>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4288536" y="27797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Oval 57"/>
          <p:cNvSpPr/>
          <p:nvPr/>
        </p:nvSpPr>
        <p:spPr>
          <a:xfrm>
            <a:off x="6501383" y="2651760"/>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Freeform 58"/>
          <p:cNvSpPr/>
          <p:nvPr/>
        </p:nvSpPr>
        <p:spPr>
          <a:xfrm>
            <a:off x="4361688" y="3054096"/>
            <a:ext cx="2212848" cy="1170432"/>
          </a:xfrm>
          <a:custGeom>
            <a:avLst/>
            <a:gdLst/>
            <a:ahLst/>
            <a:cxnLst/>
            <a:rect l="l" t="t" r="r" b="b"/>
            <a:pathLst>
              <a:path w="2212848" h="1170432">
                <a:moveTo>
                  <a:pt x="0" y="1170432"/>
                </a:moveTo>
                <a:lnTo>
                  <a:pt x="50292" y="1168645"/>
                </a:lnTo>
                <a:lnTo>
                  <a:pt x="100584" y="1163397"/>
                </a:lnTo>
                <a:lnTo>
                  <a:pt x="150876" y="1154850"/>
                </a:lnTo>
                <a:lnTo>
                  <a:pt x="201168" y="1143171"/>
                </a:lnTo>
                <a:lnTo>
                  <a:pt x="251460" y="1128524"/>
                </a:lnTo>
                <a:lnTo>
                  <a:pt x="301752" y="1111075"/>
                </a:lnTo>
                <a:lnTo>
                  <a:pt x="352044" y="1090987"/>
                </a:lnTo>
                <a:lnTo>
                  <a:pt x="402336" y="1068425"/>
                </a:lnTo>
                <a:lnTo>
                  <a:pt x="452628" y="1043556"/>
                </a:lnTo>
                <a:lnTo>
                  <a:pt x="502920" y="1016543"/>
                </a:lnTo>
                <a:lnTo>
                  <a:pt x="553212" y="987552"/>
                </a:lnTo>
                <a:lnTo>
                  <a:pt x="603504" y="956746"/>
                </a:lnTo>
                <a:lnTo>
                  <a:pt x="653796" y="924292"/>
                </a:lnTo>
                <a:lnTo>
                  <a:pt x="704088" y="890354"/>
                </a:lnTo>
                <a:lnTo>
                  <a:pt x="754380" y="855097"/>
                </a:lnTo>
                <a:lnTo>
                  <a:pt x="804672" y="818686"/>
                </a:lnTo>
                <a:lnTo>
                  <a:pt x="854964" y="781286"/>
                </a:lnTo>
                <a:lnTo>
                  <a:pt x="905256" y="743061"/>
                </a:lnTo>
                <a:lnTo>
                  <a:pt x="955548" y="704177"/>
                </a:lnTo>
                <a:lnTo>
                  <a:pt x="1005840" y="664798"/>
                </a:lnTo>
                <a:lnTo>
                  <a:pt x="1056132" y="625089"/>
                </a:lnTo>
                <a:lnTo>
                  <a:pt x="1106424" y="585216"/>
                </a:lnTo>
                <a:lnTo>
                  <a:pt x="1156716" y="545342"/>
                </a:lnTo>
                <a:lnTo>
                  <a:pt x="1207008" y="505633"/>
                </a:lnTo>
                <a:lnTo>
                  <a:pt x="1257300" y="466254"/>
                </a:lnTo>
                <a:lnTo>
                  <a:pt x="1307592" y="427370"/>
                </a:lnTo>
                <a:lnTo>
                  <a:pt x="1357884" y="389145"/>
                </a:lnTo>
                <a:lnTo>
                  <a:pt x="1408176" y="351745"/>
                </a:lnTo>
                <a:lnTo>
                  <a:pt x="1458468" y="315334"/>
                </a:lnTo>
                <a:lnTo>
                  <a:pt x="1508760" y="280077"/>
                </a:lnTo>
                <a:lnTo>
                  <a:pt x="1559052" y="246139"/>
                </a:lnTo>
                <a:lnTo>
                  <a:pt x="1609343" y="213685"/>
                </a:lnTo>
                <a:lnTo>
                  <a:pt x="1659636" y="182880"/>
                </a:lnTo>
                <a:lnTo>
                  <a:pt x="1709928" y="153888"/>
                </a:lnTo>
                <a:lnTo>
                  <a:pt x="1760219" y="126875"/>
                </a:lnTo>
                <a:lnTo>
                  <a:pt x="1810512" y="102006"/>
                </a:lnTo>
                <a:lnTo>
                  <a:pt x="1860804" y="79444"/>
                </a:lnTo>
                <a:lnTo>
                  <a:pt x="1911095" y="59356"/>
                </a:lnTo>
                <a:lnTo>
                  <a:pt x="1961387" y="41907"/>
                </a:lnTo>
                <a:lnTo>
                  <a:pt x="2011679" y="27260"/>
                </a:lnTo>
                <a:lnTo>
                  <a:pt x="2061971" y="15581"/>
                </a:lnTo>
                <a:lnTo>
                  <a:pt x="2112264" y="7034"/>
                </a:lnTo>
                <a:lnTo>
                  <a:pt x="2162556" y="1786"/>
                </a:lnTo>
                <a:lnTo>
                  <a:pt x="2212848" y="0"/>
                </a:lnTo>
              </a:path>
            </a:pathLst>
          </a:custGeom>
          <a:noFill/>
          <a:ln w="57150">
            <a:solidFill>
              <a:srgbClr val="1F6FB2">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4288536" y="4151376"/>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6501383" y="2980944"/>
            <a:ext cx="146304" cy="146304"/>
          </a:xfrm>
          <a:prstGeom prst="ellipse">
            <a:avLst/>
          </a:prstGeom>
          <a:solidFill>
            <a:srgbClr val="1F6FB2"/>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Freeform 61"/>
          <p:cNvSpPr/>
          <p:nvPr/>
        </p:nvSpPr>
        <p:spPr>
          <a:xfrm>
            <a:off x="4361688" y="3931920"/>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4288536" y="385876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Oval 63"/>
          <p:cNvSpPr/>
          <p:nvPr/>
        </p:nvSpPr>
        <p:spPr>
          <a:xfrm>
            <a:off x="6501383" y="4681728"/>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Freeform 64"/>
          <p:cNvSpPr/>
          <p:nvPr/>
        </p:nvSpPr>
        <p:spPr>
          <a:xfrm>
            <a:off x="4361688" y="4315968"/>
            <a:ext cx="2212848" cy="822960"/>
          </a:xfrm>
          <a:custGeom>
            <a:avLst/>
            <a:gdLst/>
            <a:ahLst/>
            <a:cxnLst/>
            <a:rect l="l" t="t" r="r" b="b"/>
            <a:pathLst>
              <a:path w="2212848" h="822960">
                <a:moveTo>
                  <a:pt x="0" y="0"/>
                </a:moveTo>
                <a:lnTo>
                  <a:pt x="50292" y="1255"/>
                </a:lnTo>
                <a:lnTo>
                  <a:pt x="100584" y="4946"/>
                </a:lnTo>
                <a:lnTo>
                  <a:pt x="150876" y="10955"/>
                </a:lnTo>
                <a:lnTo>
                  <a:pt x="201168" y="19167"/>
                </a:lnTo>
                <a:lnTo>
                  <a:pt x="251460" y="29465"/>
                </a:lnTo>
                <a:lnTo>
                  <a:pt x="301752" y="41735"/>
                </a:lnTo>
                <a:lnTo>
                  <a:pt x="352044" y="55859"/>
                </a:lnTo>
                <a:lnTo>
                  <a:pt x="402336" y="71723"/>
                </a:lnTo>
                <a:lnTo>
                  <a:pt x="452628" y="89209"/>
                </a:lnTo>
                <a:lnTo>
                  <a:pt x="502920" y="108202"/>
                </a:lnTo>
                <a:lnTo>
                  <a:pt x="553212" y="128587"/>
                </a:lnTo>
                <a:lnTo>
                  <a:pt x="603504" y="150247"/>
                </a:lnTo>
                <a:lnTo>
                  <a:pt x="653796" y="173066"/>
                </a:lnTo>
                <a:lnTo>
                  <a:pt x="704088" y="196929"/>
                </a:lnTo>
                <a:lnTo>
                  <a:pt x="754380" y="221719"/>
                </a:lnTo>
                <a:lnTo>
                  <a:pt x="804672" y="247320"/>
                </a:lnTo>
                <a:lnTo>
                  <a:pt x="854964" y="273617"/>
                </a:lnTo>
                <a:lnTo>
                  <a:pt x="905256" y="300494"/>
                </a:lnTo>
                <a:lnTo>
                  <a:pt x="955548" y="327835"/>
                </a:lnTo>
                <a:lnTo>
                  <a:pt x="1005840" y="355523"/>
                </a:lnTo>
                <a:lnTo>
                  <a:pt x="1056132" y="383443"/>
                </a:lnTo>
                <a:lnTo>
                  <a:pt x="1106424" y="411480"/>
                </a:lnTo>
                <a:lnTo>
                  <a:pt x="1156716" y="439516"/>
                </a:lnTo>
                <a:lnTo>
                  <a:pt x="1207008" y="467436"/>
                </a:lnTo>
                <a:lnTo>
                  <a:pt x="1257300" y="495124"/>
                </a:lnTo>
                <a:lnTo>
                  <a:pt x="1307592" y="522465"/>
                </a:lnTo>
                <a:lnTo>
                  <a:pt x="1357884" y="549342"/>
                </a:lnTo>
                <a:lnTo>
                  <a:pt x="1408176" y="575639"/>
                </a:lnTo>
                <a:lnTo>
                  <a:pt x="1458468" y="601240"/>
                </a:lnTo>
                <a:lnTo>
                  <a:pt x="1508760" y="626030"/>
                </a:lnTo>
                <a:lnTo>
                  <a:pt x="1559052" y="649893"/>
                </a:lnTo>
                <a:lnTo>
                  <a:pt x="1609343" y="672712"/>
                </a:lnTo>
                <a:lnTo>
                  <a:pt x="1659636" y="694372"/>
                </a:lnTo>
                <a:lnTo>
                  <a:pt x="1709928" y="714757"/>
                </a:lnTo>
                <a:lnTo>
                  <a:pt x="1760219" y="733750"/>
                </a:lnTo>
                <a:lnTo>
                  <a:pt x="1810512" y="751236"/>
                </a:lnTo>
                <a:lnTo>
                  <a:pt x="1860804" y="767100"/>
                </a:lnTo>
                <a:lnTo>
                  <a:pt x="1911095" y="781224"/>
                </a:lnTo>
                <a:lnTo>
                  <a:pt x="1961387" y="793494"/>
                </a:lnTo>
                <a:lnTo>
                  <a:pt x="2011679" y="803792"/>
                </a:lnTo>
                <a:lnTo>
                  <a:pt x="2061971" y="812004"/>
                </a:lnTo>
                <a:lnTo>
                  <a:pt x="2112264" y="818013"/>
                </a:lnTo>
                <a:lnTo>
                  <a:pt x="2162556" y="821704"/>
                </a:lnTo>
                <a:lnTo>
                  <a:pt x="2212848" y="822960"/>
                </a:lnTo>
              </a:path>
            </a:pathLst>
          </a:custGeom>
          <a:noFill/>
          <a:ln w="57150">
            <a:solidFill>
              <a:srgbClr val="0E9A8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4288536" y="424281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501383" y="5065776"/>
            <a:ext cx="146304" cy="146304"/>
          </a:xfrm>
          <a:prstGeom prst="ellipse">
            <a:avLst/>
          </a:prstGeom>
          <a:solidFill>
            <a:srgbClr val="0E9A8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Freeform 67"/>
          <p:cNvSpPr/>
          <p:nvPr/>
        </p:nvSpPr>
        <p:spPr>
          <a:xfrm>
            <a:off x="4361688" y="5504688"/>
            <a:ext cx="2212848" cy="0"/>
          </a:xfrm>
          <a:custGeom>
            <a:avLst/>
            <a:gdLst/>
            <a:ahLst/>
            <a:cxnLst/>
            <a:rect l="l" t="t" r="r" b="b"/>
            <a:pathLst>
              <a:path w="2212848" h="0">
                <a:moveTo>
                  <a:pt x="0" y="0"/>
                </a:moveTo>
                <a:lnTo>
                  <a:pt x="50292" y="0"/>
                </a:lnTo>
                <a:lnTo>
                  <a:pt x="100584" y="0"/>
                </a:lnTo>
                <a:lnTo>
                  <a:pt x="150876" y="0"/>
                </a:lnTo>
                <a:lnTo>
                  <a:pt x="201168" y="0"/>
                </a:lnTo>
                <a:lnTo>
                  <a:pt x="251460" y="0"/>
                </a:lnTo>
                <a:lnTo>
                  <a:pt x="301752" y="0"/>
                </a:lnTo>
                <a:lnTo>
                  <a:pt x="352044" y="0"/>
                </a:lnTo>
                <a:lnTo>
                  <a:pt x="402336" y="0"/>
                </a:lnTo>
                <a:lnTo>
                  <a:pt x="452628" y="0"/>
                </a:lnTo>
                <a:lnTo>
                  <a:pt x="502920" y="0"/>
                </a:lnTo>
                <a:lnTo>
                  <a:pt x="553212" y="0"/>
                </a:lnTo>
                <a:lnTo>
                  <a:pt x="603504" y="0"/>
                </a:lnTo>
                <a:lnTo>
                  <a:pt x="653796" y="0"/>
                </a:lnTo>
                <a:lnTo>
                  <a:pt x="704088" y="0"/>
                </a:lnTo>
                <a:lnTo>
                  <a:pt x="754380" y="0"/>
                </a:lnTo>
                <a:lnTo>
                  <a:pt x="804672" y="0"/>
                </a:lnTo>
                <a:lnTo>
                  <a:pt x="854964" y="0"/>
                </a:lnTo>
                <a:lnTo>
                  <a:pt x="905256" y="0"/>
                </a:lnTo>
                <a:lnTo>
                  <a:pt x="955548" y="0"/>
                </a:lnTo>
                <a:lnTo>
                  <a:pt x="1005840" y="0"/>
                </a:lnTo>
                <a:lnTo>
                  <a:pt x="1056132" y="0"/>
                </a:lnTo>
                <a:lnTo>
                  <a:pt x="1106424" y="0"/>
                </a:lnTo>
                <a:lnTo>
                  <a:pt x="1156716" y="0"/>
                </a:lnTo>
                <a:lnTo>
                  <a:pt x="1207008" y="0"/>
                </a:lnTo>
                <a:lnTo>
                  <a:pt x="1257300" y="0"/>
                </a:lnTo>
                <a:lnTo>
                  <a:pt x="1307592" y="0"/>
                </a:lnTo>
                <a:lnTo>
                  <a:pt x="1357884" y="0"/>
                </a:lnTo>
                <a:lnTo>
                  <a:pt x="1408176" y="0"/>
                </a:lnTo>
                <a:lnTo>
                  <a:pt x="1458468" y="0"/>
                </a:lnTo>
                <a:lnTo>
                  <a:pt x="1508760" y="0"/>
                </a:lnTo>
                <a:lnTo>
                  <a:pt x="1559052" y="0"/>
                </a:lnTo>
                <a:lnTo>
                  <a:pt x="1609343" y="0"/>
                </a:lnTo>
                <a:lnTo>
                  <a:pt x="1659636" y="0"/>
                </a:lnTo>
                <a:lnTo>
                  <a:pt x="1709928" y="0"/>
                </a:lnTo>
                <a:lnTo>
                  <a:pt x="1760219" y="0"/>
                </a:lnTo>
                <a:lnTo>
                  <a:pt x="1810512" y="0"/>
                </a:lnTo>
                <a:lnTo>
                  <a:pt x="1860804" y="0"/>
                </a:lnTo>
                <a:lnTo>
                  <a:pt x="1911095" y="0"/>
                </a:lnTo>
                <a:lnTo>
                  <a:pt x="1961387" y="0"/>
                </a:lnTo>
                <a:lnTo>
                  <a:pt x="2011679" y="0"/>
                </a:lnTo>
                <a:lnTo>
                  <a:pt x="2061971" y="0"/>
                </a:lnTo>
                <a:lnTo>
                  <a:pt x="2112264" y="0"/>
                </a:lnTo>
                <a:lnTo>
                  <a:pt x="2162556" y="0"/>
                </a:lnTo>
                <a:lnTo>
                  <a:pt x="2212848" y="0"/>
                </a:lnTo>
              </a:path>
            </a:pathLst>
          </a:custGeom>
          <a:noFill/>
          <a:ln w="57150">
            <a:solidFill>
              <a:srgbClr val="106F77">
                <a:alpha val="7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288536"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Oval 69"/>
          <p:cNvSpPr/>
          <p:nvPr/>
        </p:nvSpPr>
        <p:spPr>
          <a:xfrm>
            <a:off x="6501383" y="5431536"/>
            <a:ext cx="146304" cy="146304"/>
          </a:xfrm>
          <a:prstGeom prst="ellipse">
            <a:avLst/>
          </a:prstGeom>
          <a:solidFill>
            <a:srgbClr val="106F77"/>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Rounded Rectangle 70"/>
          <p:cNvSpPr/>
          <p:nvPr/>
        </p:nvSpPr>
        <p:spPr>
          <a:xfrm>
            <a:off x="8796528" y="3529584"/>
            <a:ext cx="2755087" cy="969264"/>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Rounded Rectangle 71"/>
          <p:cNvSpPr/>
          <p:nvPr/>
        </p:nvSpPr>
        <p:spPr>
          <a:xfrm>
            <a:off x="8796528" y="3529584"/>
            <a:ext cx="45720" cy="969264"/>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Box 72"/>
          <p:cNvSpPr txBox="1"/>
          <p:nvPr/>
        </p:nvSpPr>
        <p:spPr>
          <a:xfrm>
            <a:off x="9052559" y="3639312"/>
            <a:ext cx="2297887" cy="310896"/>
          </a:xfrm>
          <a:prstGeom prst="rect">
            <a:avLst/>
          </a:prstGeom>
          <a:noFill/>
        </p:spPr>
        <p:txBody>
          <a:bodyPr wrap="square" lIns="0" rIns="0" tIns="0" bIns="0" anchor="t">
            <a:spAutoFit/>
          </a:bodyPr>
          <a:lstStyle/>
          <a:p>
            <a:pPr algn="l">
              <a:lnSpc>
                <a:spcPct val="120000"/>
              </a:lnSpc>
              <a:spcAft>
                <a:spcPts val="0"/>
              </a:spcAft>
            </a:pPr>
            <a:r>
              <a:rPr sz="1200" b="1">
                <a:solidFill>
                  <a:srgbClr val="1F6FB2"/>
                </a:solidFill>
                <a:latin typeface="Calibri"/>
              </a:rPr>
              <a:t>Verschuiving van de EHH</a:t>
            </a:r>
          </a:p>
        </p:txBody>
      </p:sp>
      <p:sp>
        <p:nvSpPr>
          <p:cNvPr id="74" name="TextBox 73"/>
          <p:cNvSpPr txBox="1"/>
          <p:nvPr/>
        </p:nvSpPr>
        <p:spPr>
          <a:xfrm>
            <a:off x="9052559" y="3986784"/>
            <a:ext cx="2297887" cy="457200"/>
          </a:xfrm>
          <a:prstGeom prst="rect">
            <a:avLst/>
          </a:prstGeom>
          <a:noFill/>
        </p:spPr>
        <p:txBody>
          <a:bodyPr wrap="square" lIns="0" rIns="0" tIns="0" bIns="0" anchor="t">
            <a:spAutoFit/>
          </a:bodyPr>
          <a:lstStyle/>
          <a:p>
            <a:pPr algn="l">
              <a:lnSpc>
                <a:spcPct val="122000"/>
              </a:lnSpc>
              <a:spcAft>
                <a:spcPts val="0"/>
              </a:spcAft>
            </a:pPr>
            <a:r>
              <a:rPr sz="950" b="0">
                <a:solidFill>
                  <a:srgbClr val="55677C"/>
                </a:solidFill>
                <a:latin typeface="Calibri"/>
              </a:rPr>
              <a:t>De eerste hart hulp komt los van de CCU/SCU en verhuist naar de acute poort.</a:t>
            </a:r>
          </a:p>
        </p:txBody>
      </p:sp>
      <p:sp>
        <p:nvSpPr>
          <p:cNvPr id="75" name="Oval 74"/>
          <p:cNvSpPr/>
          <p:nvPr/>
        </p:nvSpPr>
        <p:spPr>
          <a:xfrm>
            <a:off x="5170931" y="1696212"/>
            <a:ext cx="118872" cy="118872"/>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367528" y="1645920"/>
            <a:ext cx="2103120" cy="237744"/>
          </a:xfrm>
          <a:prstGeom prst="rect">
            <a:avLst/>
          </a:prstGeom>
          <a:noFill/>
        </p:spPr>
        <p:txBody>
          <a:bodyPr wrap="square" lIns="0" rIns="0" tIns="0" bIns="0" anchor="t">
            <a:spAutoFit/>
          </a:bodyPr>
          <a:lstStyle/>
          <a:p>
            <a:pPr algn="l">
              <a:lnSpc>
                <a:spcPct val="120000"/>
              </a:lnSpc>
              <a:spcAft>
                <a:spcPts val="0"/>
              </a:spcAft>
            </a:pPr>
            <a:r>
              <a:rPr sz="950" b="1" spc="60">
                <a:solidFill>
                  <a:srgbClr val="1F6FB2"/>
                </a:solidFill>
                <a:latin typeface="Calibri"/>
              </a:rPr>
              <a:t>naar de acute poort</a:t>
            </a:r>
          </a:p>
        </p:txBody>
      </p:sp>
      <p:sp>
        <p:nvSpPr>
          <p:cNvPr id="77" name="Oval 76"/>
          <p:cNvSpPr/>
          <p:nvPr/>
        </p:nvSpPr>
        <p:spPr>
          <a:xfrm>
            <a:off x="7456931" y="1696212"/>
            <a:ext cx="118872" cy="118872"/>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653527" y="1645920"/>
            <a:ext cx="2103120" cy="237744"/>
          </a:xfrm>
          <a:prstGeom prst="rect">
            <a:avLst/>
          </a:prstGeom>
          <a:noFill/>
        </p:spPr>
        <p:txBody>
          <a:bodyPr wrap="square" lIns="0" rIns="0" tIns="0" bIns="0" anchor="t">
            <a:spAutoFit/>
          </a:bodyPr>
          <a:lstStyle/>
          <a:p>
            <a:pPr algn="l">
              <a:lnSpc>
                <a:spcPct val="120000"/>
              </a:lnSpc>
              <a:spcAft>
                <a:spcPts val="0"/>
              </a:spcAft>
            </a:pPr>
            <a:r>
              <a:rPr sz="950" b="1" spc="60">
                <a:solidFill>
                  <a:srgbClr val="0E9A87"/>
                </a:solidFill>
                <a:latin typeface="Calibri"/>
              </a:rPr>
              <a:t>naar de Hotfloor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nieuwbouw fysiek</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Twee clusters — en per onderdeel de vraag hoeveel plekken erin passen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10</a:t>
            </a:r>
          </a:p>
        </p:txBody>
      </p:sp>
      <p:sp>
        <p:nvSpPr>
          <p:cNvPr id="10" name="Rounded Rectangle 9"/>
          <p:cNvSpPr/>
          <p:nvPr/>
        </p:nvSpPr>
        <p:spPr>
          <a:xfrm>
            <a:off x="640080" y="1700784"/>
            <a:ext cx="5272887" cy="3200400"/>
          </a:xfrm>
          <a:prstGeom prst="roundRect">
            <a:avLst>
              <a:gd name="adj" fmla="val 4000"/>
            </a:avLst>
          </a:prstGeom>
          <a:solidFill>
            <a:srgbClr val="DEEA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50976" y="1938528"/>
            <a:ext cx="3626967" cy="384048"/>
          </a:xfrm>
          <a:prstGeom prst="rect">
            <a:avLst/>
          </a:prstGeom>
          <a:noFill/>
        </p:spPr>
        <p:txBody>
          <a:bodyPr wrap="square" lIns="0" rIns="0" tIns="0" bIns="0" anchor="t">
            <a:spAutoFit/>
          </a:bodyPr>
          <a:lstStyle/>
          <a:p>
            <a:pPr algn="l">
              <a:lnSpc>
                <a:spcPct val="120000"/>
              </a:lnSpc>
              <a:spcAft>
                <a:spcPts val="0"/>
              </a:spcAft>
            </a:pPr>
            <a:r>
              <a:rPr sz="2200" b="1">
                <a:solidFill>
                  <a:srgbClr val="1F6FB2"/>
                </a:solidFill>
                <a:latin typeface="Calibri"/>
              </a:rPr>
              <a:t>Acute poort</a:t>
            </a:r>
          </a:p>
        </p:txBody>
      </p:sp>
      <p:sp>
        <p:nvSpPr>
          <p:cNvPr id="12" name="TextBox 11"/>
          <p:cNvSpPr txBox="1"/>
          <p:nvPr/>
        </p:nvSpPr>
        <p:spPr>
          <a:xfrm>
            <a:off x="950976" y="2359152"/>
            <a:ext cx="3626967" cy="237744"/>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totaal aantal plekken nog te bepalen</a:t>
            </a:r>
          </a:p>
        </p:txBody>
      </p:sp>
      <p:sp>
        <p:nvSpPr>
          <p:cNvPr id="13" name="TextBox 12"/>
          <p:cNvSpPr txBox="1"/>
          <p:nvPr/>
        </p:nvSpPr>
        <p:spPr>
          <a:xfrm>
            <a:off x="4358487" y="1847088"/>
            <a:ext cx="1243584" cy="658368"/>
          </a:xfrm>
          <a:prstGeom prst="rect">
            <a:avLst/>
          </a:prstGeom>
          <a:noFill/>
        </p:spPr>
        <p:txBody>
          <a:bodyPr wrap="square" lIns="0" rIns="0" tIns="0" bIns="0" anchor="t">
            <a:spAutoFit/>
          </a:bodyPr>
          <a:lstStyle/>
          <a:p>
            <a:pPr algn="r">
              <a:lnSpc>
                <a:spcPct val="120000"/>
              </a:lnSpc>
              <a:spcAft>
                <a:spcPts val="0"/>
              </a:spcAft>
            </a:pPr>
            <a:r>
              <a:rPr sz="4000" b="1">
                <a:solidFill>
                  <a:srgbClr val="C87E12"/>
                </a:solidFill>
                <a:latin typeface="Calibri"/>
              </a:rPr>
              <a:t>?</a:t>
            </a:r>
          </a:p>
        </p:txBody>
      </p:sp>
      <p:sp>
        <p:nvSpPr>
          <p:cNvPr id="14" name="TextBox 13"/>
          <p:cNvSpPr txBox="1"/>
          <p:nvPr/>
        </p:nvSpPr>
        <p:spPr>
          <a:xfrm>
            <a:off x="4358487" y="2414016"/>
            <a:ext cx="1243584" cy="201168"/>
          </a:xfrm>
          <a:prstGeom prst="rect">
            <a:avLst/>
          </a:prstGeom>
          <a:noFill/>
        </p:spPr>
        <p:txBody>
          <a:bodyPr wrap="square" lIns="0" rIns="0" tIns="0" bIns="0" anchor="t">
            <a:spAutoFit/>
          </a:bodyPr>
          <a:lstStyle/>
          <a:p>
            <a:pPr algn="r">
              <a:lnSpc>
                <a:spcPct val="120000"/>
              </a:lnSpc>
              <a:spcAft>
                <a:spcPts val="0"/>
              </a:spcAft>
            </a:pPr>
            <a:r>
              <a:rPr sz="850" b="1" spc="140">
                <a:solidFill>
                  <a:srgbClr val="8B9AAA"/>
                </a:solidFill>
                <a:latin typeface="Calibri"/>
              </a:rPr>
              <a:t>PLEKKEN</a:t>
            </a:r>
          </a:p>
        </p:txBody>
      </p:sp>
      <p:cxnSp>
        <p:nvCxnSpPr>
          <p:cNvPr id="15" name="Connector 14"/>
          <p:cNvCxnSpPr/>
          <p:nvPr/>
        </p:nvCxnSpPr>
        <p:spPr>
          <a:xfrm>
            <a:off x="950976" y="2724912"/>
            <a:ext cx="4651095"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50976" y="2907792"/>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70431" y="2944368"/>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SEH</a:t>
            </a:r>
          </a:p>
        </p:txBody>
      </p:sp>
      <p:sp>
        <p:nvSpPr>
          <p:cNvPr id="18" name="TextBox 17"/>
          <p:cNvSpPr txBox="1"/>
          <p:nvPr/>
        </p:nvSpPr>
        <p:spPr>
          <a:xfrm>
            <a:off x="3590391" y="2944368"/>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plekken</a:t>
            </a:r>
          </a:p>
        </p:txBody>
      </p:sp>
      <p:sp>
        <p:nvSpPr>
          <p:cNvPr id="19" name="Rounded Rectangle 18"/>
          <p:cNvSpPr/>
          <p:nvPr/>
        </p:nvSpPr>
        <p:spPr>
          <a:xfrm>
            <a:off x="950976" y="3584448"/>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70431" y="3621024"/>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Kind</a:t>
            </a:r>
          </a:p>
        </p:txBody>
      </p:sp>
      <p:sp>
        <p:nvSpPr>
          <p:cNvPr id="21" name="TextBox 20"/>
          <p:cNvSpPr txBox="1"/>
          <p:nvPr/>
        </p:nvSpPr>
        <p:spPr>
          <a:xfrm>
            <a:off x="3590391" y="3621024"/>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plekken</a:t>
            </a:r>
          </a:p>
        </p:txBody>
      </p:sp>
      <p:sp>
        <p:nvSpPr>
          <p:cNvPr id="22" name="Rounded Rectangle 21"/>
          <p:cNvSpPr/>
          <p:nvPr/>
        </p:nvSpPr>
        <p:spPr>
          <a:xfrm>
            <a:off x="950976" y="4261104"/>
            <a:ext cx="4651095" cy="548640"/>
          </a:xfrm>
          <a:prstGeom prst="roundRect">
            <a:avLst>
              <a:gd name="adj" fmla="val 8000"/>
            </a:avLst>
          </a:prstGeom>
          <a:solidFill>
            <a:srgbClr val="FFFFFF"/>
          </a:solidFill>
          <a:ln w="12700">
            <a:solidFill>
              <a:srgbClr val="9DC0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170431" y="4297680"/>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EHH</a:t>
            </a:r>
          </a:p>
        </p:txBody>
      </p:sp>
      <p:sp>
        <p:nvSpPr>
          <p:cNvPr id="24" name="TextBox 23"/>
          <p:cNvSpPr txBox="1"/>
          <p:nvPr/>
        </p:nvSpPr>
        <p:spPr>
          <a:xfrm>
            <a:off x="3590391" y="4297680"/>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plekken</a:t>
            </a:r>
          </a:p>
        </p:txBody>
      </p:sp>
      <p:sp>
        <p:nvSpPr>
          <p:cNvPr id="25" name="Rounded Rectangle 24"/>
          <p:cNvSpPr/>
          <p:nvPr/>
        </p:nvSpPr>
        <p:spPr>
          <a:xfrm>
            <a:off x="6278727" y="1700784"/>
            <a:ext cx="5272887" cy="3200400"/>
          </a:xfrm>
          <a:prstGeom prst="roundRect">
            <a:avLst>
              <a:gd name="adj" fmla="val 4000"/>
            </a:avLst>
          </a:prstGeom>
          <a:solidFill>
            <a:srgbClr val="DDEEF1"/>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589623" y="1938528"/>
            <a:ext cx="3626967" cy="384048"/>
          </a:xfrm>
          <a:prstGeom prst="rect">
            <a:avLst/>
          </a:prstGeom>
          <a:noFill/>
        </p:spPr>
        <p:txBody>
          <a:bodyPr wrap="square" lIns="0" rIns="0" tIns="0" bIns="0" anchor="t">
            <a:spAutoFit/>
          </a:bodyPr>
          <a:lstStyle/>
          <a:p>
            <a:pPr algn="l">
              <a:lnSpc>
                <a:spcPct val="120000"/>
              </a:lnSpc>
              <a:spcAft>
                <a:spcPts val="0"/>
              </a:spcAft>
            </a:pPr>
            <a:r>
              <a:rPr sz="2200" b="1">
                <a:solidFill>
                  <a:srgbClr val="0E9A87"/>
                </a:solidFill>
                <a:latin typeface="Calibri"/>
              </a:rPr>
              <a:t>Hotfloor</a:t>
            </a:r>
          </a:p>
        </p:txBody>
      </p:sp>
      <p:sp>
        <p:nvSpPr>
          <p:cNvPr id="27" name="TextBox 26"/>
          <p:cNvSpPr txBox="1"/>
          <p:nvPr/>
        </p:nvSpPr>
        <p:spPr>
          <a:xfrm>
            <a:off x="6589623" y="2359152"/>
            <a:ext cx="3626967" cy="237744"/>
          </a:xfrm>
          <a:prstGeom prst="rect">
            <a:avLst/>
          </a:prstGeom>
          <a:noFill/>
        </p:spPr>
        <p:txBody>
          <a:bodyPr wrap="square" lIns="0" rIns="0" tIns="0" bIns="0" anchor="t">
            <a:spAutoFit/>
          </a:bodyPr>
          <a:lstStyle/>
          <a:p>
            <a:pPr algn="l">
              <a:lnSpc>
                <a:spcPct val="120000"/>
              </a:lnSpc>
              <a:spcAft>
                <a:spcPts val="0"/>
              </a:spcAft>
            </a:pPr>
            <a:r>
              <a:rPr sz="1050" b="0">
                <a:solidFill>
                  <a:srgbClr val="55677C"/>
                </a:solidFill>
                <a:latin typeface="Calibri"/>
              </a:rPr>
              <a:t>16 bedden vastgesteld</a:t>
            </a:r>
          </a:p>
        </p:txBody>
      </p:sp>
      <p:sp>
        <p:nvSpPr>
          <p:cNvPr id="28" name="TextBox 27"/>
          <p:cNvSpPr txBox="1"/>
          <p:nvPr/>
        </p:nvSpPr>
        <p:spPr>
          <a:xfrm>
            <a:off x="9997135" y="1847088"/>
            <a:ext cx="1243584" cy="658368"/>
          </a:xfrm>
          <a:prstGeom prst="rect">
            <a:avLst/>
          </a:prstGeom>
          <a:noFill/>
        </p:spPr>
        <p:txBody>
          <a:bodyPr wrap="square" lIns="0" rIns="0" tIns="0" bIns="0" anchor="t">
            <a:spAutoFit/>
          </a:bodyPr>
          <a:lstStyle/>
          <a:p>
            <a:pPr algn="r">
              <a:lnSpc>
                <a:spcPct val="120000"/>
              </a:lnSpc>
              <a:spcAft>
                <a:spcPts val="0"/>
              </a:spcAft>
            </a:pPr>
            <a:r>
              <a:rPr sz="4000" b="1">
                <a:solidFill>
                  <a:srgbClr val="0E9A87"/>
                </a:solidFill>
                <a:latin typeface="Calibri"/>
              </a:rPr>
              <a:t>16</a:t>
            </a:r>
          </a:p>
        </p:txBody>
      </p:sp>
      <p:sp>
        <p:nvSpPr>
          <p:cNvPr id="29" name="TextBox 28"/>
          <p:cNvSpPr txBox="1"/>
          <p:nvPr/>
        </p:nvSpPr>
        <p:spPr>
          <a:xfrm>
            <a:off x="9997135" y="2414016"/>
            <a:ext cx="1243584" cy="201168"/>
          </a:xfrm>
          <a:prstGeom prst="rect">
            <a:avLst/>
          </a:prstGeom>
          <a:noFill/>
        </p:spPr>
        <p:txBody>
          <a:bodyPr wrap="square" lIns="0" rIns="0" tIns="0" bIns="0" anchor="t">
            <a:spAutoFit/>
          </a:bodyPr>
          <a:lstStyle/>
          <a:p>
            <a:pPr algn="r">
              <a:lnSpc>
                <a:spcPct val="120000"/>
              </a:lnSpc>
              <a:spcAft>
                <a:spcPts val="0"/>
              </a:spcAft>
            </a:pPr>
            <a:r>
              <a:rPr sz="850" b="1" spc="140">
                <a:solidFill>
                  <a:srgbClr val="8B9AAA"/>
                </a:solidFill>
                <a:latin typeface="Calibri"/>
              </a:rPr>
              <a:t>BEDDEN</a:t>
            </a:r>
          </a:p>
        </p:txBody>
      </p:sp>
      <p:cxnSp>
        <p:nvCxnSpPr>
          <p:cNvPr id="30" name="Connector 29"/>
          <p:cNvCxnSpPr/>
          <p:nvPr/>
        </p:nvCxnSpPr>
        <p:spPr>
          <a:xfrm>
            <a:off x="6589623" y="2724912"/>
            <a:ext cx="4651096"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589623" y="2907792"/>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809079" y="2944368"/>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ICU</a:t>
            </a:r>
          </a:p>
        </p:txBody>
      </p:sp>
      <p:sp>
        <p:nvSpPr>
          <p:cNvPr id="33" name="TextBox 32"/>
          <p:cNvSpPr txBox="1"/>
          <p:nvPr/>
        </p:nvSpPr>
        <p:spPr>
          <a:xfrm>
            <a:off x="9229039" y="2944368"/>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plekken</a:t>
            </a:r>
          </a:p>
        </p:txBody>
      </p:sp>
      <p:sp>
        <p:nvSpPr>
          <p:cNvPr id="34" name="Rounded Rectangle 33"/>
          <p:cNvSpPr/>
          <p:nvPr/>
        </p:nvSpPr>
        <p:spPr>
          <a:xfrm>
            <a:off x="6589623" y="3584448"/>
            <a:ext cx="4651095" cy="548640"/>
          </a:xfrm>
          <a:prstGeom prst="roundRect">
            <a:avLst>
              <a:gd name="adj" fmla="val 8000"/>
            </a:avLst>
          </a:prstGeom>
          <a:solidFill>
            <a:srgbClr val="FFFFFF"/>
          </a:solidFill>
          <a:ln w="12700">
            <a:solidFill>
              <a:srgbClr val="96D1C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809079" y="3621024"/>
            <a:ext cx="2325547" cy="475488"/>
          </a:xfrm>
          <a:prstGeom prst="rect">
            <a:avLst/>
          </a:prstGeom>
          <a:noFill/>
        </p:spPr>
        <p:txBody>
          <a:bodyPr wrap="square" lIns="0" rIns="0" tIns="0" bIns="0" anchor="ctr">
            <a:spAutoFit/>
          </a:bodyPr>
          <a:lstStyle/>
          <a:p>
            <a:pPr algn="l">
              <a:lnSpc>
                <a:spcPct val="120000"/>
              </a:lnSpc>
              <a:spcAft>
                <a:spcPts val="0"/>
              </a:spcAft>
            </a:pPr>
            <a:r>
              <a:rPr sz="1400" b="1">
                <a:solidFill>
                  <a:srgbClr val="0D1B2A"/>
                </a:solidFill>
                <a:latin typeface="Calibri"/>
              </a:rPr>
              <a:t>CCU / SCU</a:t>
            </a:r>
          </a:p>
        </p:txBody>
      </p:sp>
      <p:sp>
        <p:nvSpPr>
          <p:cNvPr id="36" name="TextBox 35"/>
          <p:cNvSpPr txBox="1"/>
          <p:nvPr/>
        </p:nvSpPr>
        <p:spPr>
          <a:xfrm>
            <a:off x="9229039" y="3621024"/>
            <a:ext cx="1792224" cy="475488"/>
          </a:xfrm>
          <a:prstGeom prst="rect">
            <a:avLst/>
          </a:prstGeom>
          <a:noFill/>
        </p:spPr>
        <p:txBody>
          <a:bodyPr wrap="square" lIns="0" rIns="0" tIns="0" bIns="0" anchor="ctr">
            <a:spAutoFit/>
          </a:bodyPr>
          <a:lstStyle/>
          <a:p>
            <a:pPr algn="r">
              <a:lnSpc>
                <a:spcPct val="120000"/>
              </a:lnSpc>
              <a:spcAft>
                <a:spcPts val="0"/>
              </a:spcAft>
            </a:pPr>
            <a:r>
              <a:rPr sz="1200" b="1">
                <a:solidFill>
                  <a:srgbClr val="C87E12"/>
                </a:solidFill>
                <a:latin typeface="Calibri"/>
              </a:rPr>
              <a:t>? plekken</a:t>
            </a:r>
          </a:p>
        </p:txBody>
      </p:sp>
      <p:sp>
        <p:nvSpPr>
          <p:cNvPr id="37" name="Rounded Rectangle 3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le 3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WAT ER NOG BEPAALD MOET WORDEN</a:t>
            </a:r>
          </a:p>
          <a:p>
            <a:pPr algn="l">
              <a:lnSpc>
                <a:spcPct val="120000"/>
              </a:lnSpc>
              <a:spcAft>
                <a:spcPts val="0"/>
              </a:spcAft>
            </a:pPr>
            <a:r>
              <a:rPr sz="1250" b="1">
                <a:solidFill>
                  <a:srgbClr val="0D1B2A"/>
                </a:solidFill>
                <a:latin typeface="Calibri"/>
              </a:rPr>
              <a:t>Voor de Hotfloor staat het totaal op zestien bedden, maar de verdeling over ICU en CCU/SCU niet. Voor de acute poort is noch het totaal noch de verdeling over SEH, kind en EHH bekend.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vertrekpunt naar scenario's</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Waar we nu staan, wat er in de oudbouw moet gebeuren, en welke varianten daaruit volgen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11</a:t>
            </a:r>
          </a:p>
        </p:txBody>
      </p:sp>
      <p:sp>
        <p:nvSpPr>
          <p:cNvPr id="10" name="Rounded Rectangle 9"/>
          <p:cNvSpPr/>
          <p:nvPr/>
        </p:nvSpPr>
        <p:spPr>
          <a:xfrm>
            <a:off x="640080" y="1700784"/>
            <a:ext cx="5272887" cy="859536"/>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45720" cy="85953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14400" y="1810512"/>
            <a:ext cx="4724247" cy="274320"/>
          </a:xfrm>
          <a:prstGeom prst="rect">
            <a:avLst/>
          </a:prstGeom>
          <a:noFill/>
        </p:spPr>
        <p:txBody>
          <a:bodyPr wrap="square" lIns="0" rIns="0" tIns="0" bIns="0" anchor="t">
            <a:spAutoFit/>
          </a:bodyPr>
          <a:lstStyle/>
          <a:p>
            <a:pPr algn="l">
              <a:lnSpc>
                <a:spcPct val="120000"/>
              </a:lnSpc>
              <a:spcAft>
                <a:spcPts val="0"/>
              </a:spcAft>
            </a:pPr>
            <a:r>
              <a:rPr sz="1500" b="1">
                <a:solidFill>
                  <a:srgbClr val="C4392D"/>
                </a:solidFill>
                <a:latin typeface="Calibri"/>
              </a:rPr>
              <a:t>2026 / nu</a:t>
            </a:r>
          </a:p>
        </p:txBody>
      </p:sp>
      <p:sp>
        <p:nvSpPr>
          <p:cNvPr id="13" name="TextBox 12"/>
          <p:cNvSpPr txBox="1"/>
          <p:nvPr/>
        </p:nvSpPr>
        <p:spPr>
          <a:xfrm>
            <a:off x="2986887" y="1828800"/>
            <a:ext cx="2651760" cy="237744"/>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VERTREKPUNT</a:t>
            </a:r>
          </a:p>
        </p:txBody>
      </p:sp>
      <p:sp>
        <p:nvSpPr>
          <p:cNvPr id="14" name="TextBox 13"/>
          <p:cNvSpPr txBox="1"/>
          <p:nvPr/>
        </p:nvSpPr>
        <p:spPr>
          <a:xfrm>
            <a:off x="914400" y="2121408"/>
            <a:ext cx="4724247" cy="384048"/>
          </a:xfrm>
          <a:prstGeom prst="rect">
            <a:avLst/>
          </a:prstGeom>
          <a:noFill/>
        </p:spPr>
        <p:txBody>
          <a:bodyPr wrap="square" lIns="0" rIns="0" tIns="0" bIns="0" anchor="t">
            <a:spAutoFit/>
          </a:bodyPr>
          <a:lstStyle/>
          <a:p>
            <a:pPr algn="l">
              <a:lnSpc>
                <a:spcPct val="120000"/>
              </a:lnSpc>
              <a:spcAft>
                <a:spcPts val="0"/>
              </a:spcAft>
            </a:pPr>
            <a:r>
              <a:rPr sz="1100" b="0">
                <a:solidFill>
                  <a:srgbClr val="55677C"/>
                </a:solidFill>
                <a:latin typeface="Calibri"/>
              </a:rPr>
              <a:t>Geen vastgestelde norm en geen vastgestelde roostersleutel.</a:t>
            </a:r>
          </a:p>
        </p:txBody>
      </p:sp>
      <p:sp>
        <p:nvSpPr>
          <p:cNvPr id="15" name="Rounded Rectangle 14"/>
          <p:cNvSpPr/>
          <p:nvPr/>
        </p:nvSpPr>
        <p:spPr>
          <a:xfrm>
            <a:off x="6278727" y="1700784"/>
            <a:ext cx="5272887" cy="859536"/>
          </a:xfrm>
          <a:prstGeom prst="roundRect">
            <a:avLst>
              <a:gd name="adj" fmla="val 3000"/>
            </a:avLst>
          </a:prstGeom>
          <a:solidFill>
            <a:srgbClr val="DCE8F5"/>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6278727" y="1700784"/>
            <a:ext cx="45720" cy="859536"/>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53047" y="1810512"/>
            <a:ext cx="4724247" cy="274320"/>
          </a:xfrm>
          <a:prstGeom prst="rect">
            <a:avLst/>
          </a:prstGeom>
          <a:noFill/>
        </p:spPr>
        <p:txBody>
          <a:bodyPr wrap="square" lIns="0" rIns="0" tIns="0" bIns="0" anchor="t">
            <a:spAutoFit/>
          </a:bodyPr>
          <a:lstStyle/>
          <a:p>
            <a:pPr algn="l">
              <a:lnSpc>
                <a:spcPct val="120000"/>
              </a:lnSpc>
              <a:spcAft>
                <a:spcPts val="0"/>
              </a:spcAft>
            </a:pPr>
            <a:r>
              <a:rPr sz="1500" b="1">
                <a:solidFill>
                  <a:srgbClr val="1F6FB2"/>
                </a:solidFill>
                <a:latin typeface="Calibri"/>
              </a:rPr>
              <a:t>Oudbouw</a:t>
            </a:r>
          </a:p>
        </p:txBody>
      </p:sp>
      <p:sp>
        <p:nvSpPr>
          <p:cNvPr id="18" name="TextBox 17"/>
          <p:cNvSpPr txBox="1"/>
          <p:nvPr/>
        </p:nvSpPr>
        <p:spPr>
          <a:xfrm>
            <a:off x="8625535" y="1828800"/>
            <a:ext cx="2651760" cy="237744"/>
          </a:xfrm>
          <a:prstGeom prst="rect">
            <a:avLst/>
          </a:prstGeom>
          <a:noFill/>
        </p:spPr>
        <p:txBody>
          <a:bodyPr wrap="square" lIns="0" rIns="0" tIns="0" bIns="0" anchor="t">
            <a:spAutoFit/>
          </a:bodyPr>
          <a:lstStyle/>
          <a:p>
            <a:pPr algn="r">
              <a:lnSpc>
                <a:spcPct val="120000"/>
              </a:lnSpc>
              <a:spcAft>
                <a:spcPts val="0"/>
              </a:spcAft>
            </a:pPr>
            <a:r>
              <a:rPr sz="850" b="1" spc="120">
                <a:solidFill>
                  <a:srgbClr val="8B9AAA"/>
                </a:solidFill>
                <a:latin typeface="Calibri"/>
              </a:rPr>
              <a:t>OKTOBER 2026 TOT MEI 2027</a:t>
            </a:r>
          </a:p>
        </p:txBody>
      </p:sp>
      <p:sp>
        <p:nvSpPr>
          <p:cNvPr id="19" name="TextBox 18"/>
          <p:cNvSpPr txBox="1"/>
          <p:nvPr/>
        </p:nvSpPr>
        <p:spPr>
          <a:xfrm>
            <a:off x="6553047" y="2121408"/>
            <a:ext cx="4724247" cy="384048"/>
          </a:xfrm>
          <a:prstGeom prst="rect">
            <a:avLst/>
          </a:prstGeom>
          <a:noFill/>
        </p:spPr>
        <p:txBody>
          <a:bodyPr wrap="square" lIns="0" rIns="0" tIns="0" bIns="0" anchor="t">
            <a:spAutoFit/>
          </a:bodyPr>
          <a:lstStyle/>
          <a:p>
            <a:pPr algn="l">
              <a:lnSpc>
                <a:spcPct val="120000"/>
              </a:lnSpc>
              <a:spcAft>
                <a:spcPts val="0"/>
              </a:spcAft>
            </a:pPr>
            <a:r>
              <a:rPr sz="1100" b="0">
                <a:solidFill>
                  <a:srgbClr val="55677C"/>
                </a:solidFill>
                <a:latin typeface="Calibri"/>
              </a:rPr>
              <a:t>Hoe gaan we samenwerken? Diensten uitruilen, of fysieke patiëntcategorieën al schuiven?</a:t>
            </a:r>
          </a:p>
        </p:txBody>
      </p:sp>
      <p:sp>
        <p:nvSpPr>
          <p:cNvPr id="20" name="Down Arrow 19"/>
          <p:cNvSpPr/>
          <p:nvPr/>
        </p:nvSpPr>
        <p:spPr>
          <a:xfrm>
            <a:off x="5976975" y="2651760"/>
            <a:ext cx="237744" cy="292608"/>
          </a:xfrm>
          <a:prstGeom prst="downArrow">
            <a:avLst/>
          </a:prstGeom>
          <a:solidFill>
            <a:srgbClr val="1F6FB2">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3035808"/>
            <a:ext cx="4572000"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1F6FB2"/>
                </a:solidFill>
                <a:latin typeface="Calibri"/>
              </a:rPr>
              <a:t>SCENARIO'S  ·  MOGELIJK</a:t>
            </a:r>
          </a:p>
        </p:txBody>
      </p:sp>
      <p:sp>
        <p:nvSpPr>
          <p:cNvPr id="22" name="Rounded Rectangle 21"/>
          <p:cNvSpPr/>
          <p:nvPr/>
        </p:nvSpPr>
        <p:spPr>
          <a:xfrm>
            <a:off x="640080" y="3310128"/>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640080" y="3310128"/>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859536" y="3383279"/>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1</a:t>
            </a:r>
          </a:p>
        </p:txBody>
      </p:sp>
      <p:sp>
        <p:nvSpPr>
          <p:cNvPr id="25" name="TextBox 24"/>
          <p:cNvSpPr txBox="1"/>
          <p:nvPr/>
        </p:nvSpPr>
        <p:spPr>
          <a:xfrm>
            <a:off x="1316736" y="3337560"/>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EHH naar SEH</a:t>
            </a:r>
          </a:p>
          <a:p>
            <a:pPr algn="l">
              <a:lnSpc>
                <a:spcPct val="120000"/>
              </a:lnSpc>
              <a:spcAft>
                <a:spcPts val="0"/>
              </a:spcAft>
            </a:pPr>
            <a:r>
              <a:rPr sz="950" b="0">
                <a:solidFill>
                  <a:srgbClr val="8B9AAA"/>
                </a:solidFill>
                <a:latin typeface="Calibri"/>
              </a:rPr>
              <a:t>overdag, of ook 's avonds?</a:t>
            </a:r>
          </a:p>
        </p:txBody>
      </p:sp>
      <p:sp>
        <p:nvSpPr>
          <p:cNvPr id="26" name="Rounded Rectangle 25"/>
          <p:cNvSpPr/>
          <p:nvPr/>
        </p:nvSpPr>
        <p:spPr>
          <a:xfrm>
            <a:off x="640080" y="3877056"/>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640080" y="3877056"/>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59536" y="3950208"/>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2</a:t>
            </a:r>
          </a:p>
        </p:txBody>
      </p:sp>
      <p:sp>
        <p:nvSpPr>
          <p:cNvPr id="29" name="TextBox 28"/>
          <p:cNvSpPr txBox="1"/>
          <p:nvPr/>
        </p:nvSpPr>
        <p:spPr>
          <a:xfrm>
            <a:off x="1316736" y="3904488"/>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ICU en SCU samen op de ICU</a:t>
            </a:r>
          </a:p>
        </p:txBody>
      </p:sp>
      <p:sp>
        <p:nvSpPr>
          <p:cNvPr id="30" name="Rounded Rectangle 29"/>
          <p:cNvSpPr/>
          <p:nvPr/>
        </p:nvSpPr>
        <p:spPr>
          <a:xfrm>
            <a:off x="640080" y="4443984"/>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4443984"/>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859536" y="4517136"/>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3</a:t>
            </a:r>
          </a:p>
        </p:txBody>
      </p:sp>
      <p:sp>
        <p:nvSpPr>
          <p:cNvPr id="33" name="TextBox 32"/>
          <p:cNvSpPr txBox="1"/>
          <p:nvPr/>
        </p:nvSpPr>
        <p:spPr>
          <a:xfrm>
            <a:off x="1316736" y="4471416"/>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Recovery ICU naar CCU / SCU</a:t>
            </a:r>
          </a:p>
        </p:txBody>
      </p:sp>
      <p:sp>
        <p:nvSpPr>
          <p:cNvPr id="34" name="Rounded Rectangle 33"/>
          <p:cNvSpPr/>
          <p:nvPr/>
        </p:nvSpPr>
        <p:spPr>
          <a:xfrm>
            <a:off x="640080" y="5010912"/>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ounded Rectangle 34"/>
          <p:cNvSpPr/>
          <p:nvPr/>
        </p:nvSpPr>
        <p:spPr>
          <a:xfrm>
            <a:off x="640080" y="5010912"/>
            <a:ext cx="41148" cy="475488"/>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859536" y="5084064"/>
            <a:ext cx="329184" cy="32918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1F6FB2"/>
                </a:solidFill>
                <a:latin typeface="Calibri"/>
              </a:rPr>
              <a:t>4</a:t>
            </a:r>
          </a:p>
        </p:txBody>
      </p:sp>
      <p:sp>
        <p:nvSpPr>
          <p:cNvPr id="37" name="TextBox 36"/>
          <p:cNvSpPr txBox="1"/>
          <p:nvPr/>
        </p:nvSpPr>
        <p:spPr>
          <a:xfrm>
            <a:off x="1316736" y="5038344"/>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Cardioversies CCU verplaatsen</a:t>
            </a:r>
          </a:p>
        </p:txBody>
      </p:sp>
      <p:sp>
        <p:nvSpPr>
          <p:cNvPr id="38" name="Rounded Rectangle 37"/>
          <p:cNvSpPr/>
          <p:nvPr/>
        </p:nvSpPr>
        <p:spPr>
          <a:xfrm>
            <a:off x="640080" y="5577840"/>
            <a:ext cx="7132320" cy="475488"/>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640080" y="5577840"/>
            <a:ext cx="41148" cy="475488"/>
          </a:xfrm>
          <a:prstGeom prst="roundRect">
            <a:avLst>
              <a:gd name="adj" fmla="val 50000"/>
            </a:avLst>
          </a:prstGeom>
          <a:solidFill>
            <a:srgbClr val="8B9A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59536" y="5650992"/>
            <a:ext cx="329184" cy="329184"/>
          </a:xfrm>
          <a:prstGeom prst="ellipse">
            <a:avLst/>
          </a:prstGeom>
          <a:solidFill>
            <a:srgbClr val="8B9AAA">
              <a:alpha val="10000"/>
            </a:srgbClr>
          </a:solidFill>
          <a:ln w="15875">
            <a:solidFill>
              <a:srgbClr val="8B9AAA"/>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8B9AAA"/>
                </a:solidFill>
                <a:latin typeface="Calibri"/>
              </a:rPr>
              <a:t>5</a:t>
            </a:r>
          </a:p>
        </p:txBody>
      </p:sp>
      <p:sp>
        <p:nvSpPr>
          <p:cNvPr id="41" name="TextBox 40"/>
          <p:cNvSpPr txBox="1"/>
          <p:nvPr/>
        </p:nvSpPr>
        <p:spPr>
          <a:xfrm>
            <a:off x="1316736" y="5605272"/>
            <a:ext cx="6163056" cy="420624"/>
          </a:xfrm>
          <a:prstGeom prst="rect">
            <a:avLst/>
          </a:prstGeom>
          <a:noFill/>
        </p:spPr>
        <p:txBody>
          <a:bodyPr wrap="square" lIns="0" rIns="0" tIns="0" bIns="0" anchor="ctr">
            <a:spAutoFit/>
          </a:bodyPr>
          <a:lstStyle/>
          <a:p>
            <a:pPr algn="l">
              <a:lnSpc>
                <a:spcPct val="120000"/>
              </a:lnSpc>
              <a:spcAft>
                <a:spcPts val="100"/>
              </a:spcAft>
            </a:pPr>
            <a:r>
              <a:rPr sz="1300" b="1">
                <a:solidFill>
                  <a:srgbClr val="0D1B2A"/>
                </a:solidFill>
                <a:latin typeface="Calibri"/>
              </a:rPr>
              <a:t>Huidig: ICU, CCU/SCU/EHH en SEH apart</a:t>
            </a:r>
          </a:p>
          <a:p>
            <a:pPr algn="l">
              <a:lnSpc>
                <a:spcPct val="120000"/>
              </a:lnSpc>
              <a:spcAft>
                <a:spcPts val="0"/>
              </a:spcAft>
            </a:pPr>
            <a:r>
              <a:rPr sz="950" b="0">
                <a:solidFill>
                  <a:srgbClr val="8B9AAA"/>
                </a:solidFill>
                <a:latin typeface="Calibri"/>
              </a:rPr>
              <a:t>referentiescenario</a:t>
            </a:r>
          </a:p>
        </p:txBody>
      </p:sp>
      <p:sp>
        <p:nvSpPr>
          <p:cNvPr id="42" name="Rounded Rectangle 41"/>
          <p:cNvSpPr/>
          <p:nvPr/>
        </p:nvSpPr>
        <p:spPr>
          <a:xfrm>
            <a:off x="8101583" y="3310128"/>
            <a:ext cx="3450031" cy="2834640"/>
          </a:xfrm>
          <a:prstGeom prst="roundRect">
            <a:avLst>
              <a:gd name="adj" fmla="val 3000"/>
            </a:avLst>
          </a:prstGeom>
          <a:solidFill>
            <a:srgbClr val="E5E7F4"/>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357615" y="3493008"/>
            <a:ext cx="2937967" cy="548640"/>
          </a:xfrm>
          <a:prstGeom prst="rect">
            <a:avLst/>
          </a:prstGeom>
          <a:noFill/>
        </p:spPr>
        <p:txBody>
          <a:bodyPr wrap="square" lIns="0" rIns="0" tIns="0" bIns="0" anchor="t">
            <a:spAutoFit/>
          </a:bodyPr>
          <a:lstStyle/>
          <a:p>
            <a:pPr algn="l">
              <a:lnSpc>
                <a:spcPct val="120000"/>
              </a:lnSpc>
              <a:spcAft>
                <a:spcPts val="0"/>
              </a:spcAft>
            </a:pPr>
            <a:r>
              <a:rPr sz="1500" b="1">
                <a:solidFill>
                  <a:srgbClr val="6B4BA8"/>
                </a:solidFill>
                <a:latin typeface="Calibri"/>
              </a:rPr>
              <a:t>Elk scenario raakt</a:t>
            </a:r>
          </a:p>
          <a:p>
            <a:pPr algn="l">
              <a:lnSpc>
                <a:spcPct val="120000"/>
              </a:lnSpc>
              <a:spcAft>
                <a:spcPts val="0"/>
              </a:spcAft>
            </a:pPr>
            <a:r>
              <a:rPr sz="1500" b="1">
                <a:solidFill>
                  <a:srgbClr val="6B4BA8"/>
                </a:solidFill>
                <a:latin typeface="Calibri"/>
              </a:rPr>
              <a:t>twee dingen</a:t>
            </a:r>
          </a:p>
        </p:txBody>
      </p:sp>
      <p:sp>
        <p:nvSpPr>
          <p:cNvPr id="44" name="Rounded Rectangle 43"/>
          <p:cNvSpPr/>
          <p:nvPr/>
        </p:nvSpPr>
        <p:spPr>
          <a:xfrm>
            <a:off x="8339327" y="4133088"/>
            <a:ext cx="2974543" cy="731520"/>
          </a:xfrm>
          <a:prstGeom prst="roundRect">
            <a:avLst>
              <a:gd name="adj" fmla="val 8000"/>
            </a:avLst>
          </a:prstGeom>
          <a:solidFill>
            <a:srgbClr val="FFFFFF"/>
          </a:solidFill>
          <a:ln w="12700">
            <a:solidFill>
              <a:srgbClr val="92B9D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522208" y="4224528"/>
            <a:ext cx="2608783" cy="548640"/>
          </a:xfrm>
          <a:prstGeom prst="rect">
            <a:avLst/>
          </a:prstGeom>
          <a:noFill/>
        </p:spPr>
        <p:txBody>
          <a:bodyPr wrap="square" lIns="0" rIns="0" tIns="0" bIns="0" anchor="t">
            <a:spAutoFit/>
          </a:bodyPr>
          <a:lstStyle/>
          <a:p>
            <a:pPr algn="l">
              <a:lnSpc>
                <a:spcPct val="120000"/>
              </a:lnSpc>
              <a:spcAft>
                <a:spcPts val="200"/>
              </a:spcAft>
            </a:pPr>
            <a:r>
              <a:rPr sz="1250" b="1">
                <a:solidFill>
                  <a:srgbClr val="1F6FB2"/>
                </a:solidFill>
                <a:latin typeface="Calibri"/>
              </a:rPr>
              <a:t>Fysieke capaciteit</a:t>
            </a:r>
          </a:p>
          <a:p>
            <a:pPr algn="l">
              <a:lnSpc>
                <a:spcPct val="118000"/>
              </a:lnSpc>
              <a:spcAft>
                <a:spcPts val="0"/>
              </a:spcAft>
            </a:pPr>
            <a:r>
              <a:rPr sz="950" b="0">
                <a:solidFill>
                  <a:srgbClr val="55677C"/>
                </a:solidFill>
                <a:latin typeface="Calibri"/>
              </a:rPr>
              <a:t>aantal plekken, type plek, locatie</a:t>
            </a:r>
          </a:p>
        </p:txBody>
      </p:sp>
      <p:sp>
        <p:nvSpPr>
          <p:cNvPr id="46" name="Rounded Rectangle 45"/>
          <p:cNvSpPr/>
          <p:nvPr/>
        </p:nvSpPr>
        <p:spPr>
          <a:xfrm>
            <a:off x="8339327" y="4992624"/>
            <a:ext cx="2974543" cy="731520"/>
          </a:xfrm>
          <a:prstGeom prst="roundRect">
            <a:avLst>
              <a:gd name="adj" fmla="val 8000"/>
            </a:avLst>
          </a:prstGeom>
          <a:solidFill>
            <a:srgbClr val="FFFFFF"/>
          </a:solidFill>
          <a:ln w="12700">
            <a:solidFill>
              <a:srgbClr val="8BCDC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8522208" y="5084064"/>
            <a:ext cx="2608783" cy="548640"/>
          </a:xfrm>
          <a:prstGeom prst="rect">
            <a:avLst/>
          </a:prstGeom>
          <a:noFill/>
        </p:spPr>
        <p:txBody>
          <a:bodyPr wrap="square" lIns="0" rIns="0" tIns="0" bIns="0" anchor="t">
            <a:spAutoFit/>
          </a:bodyPr>
          <a:lstStyle/>
          <a:p>
            <a:pPr algn="l">
              <a:lnSpc>
                <a:spcPct val="120000"/>
              </a:lnSpc>
              <a:spcAft>
                <a:spcPts val="200"/>
              </a:spcAft>
            </a:pPr>
            <a:r>
              <a:rPr sz="1250" b="1">
                <a:solidFill>
                  <a:srgbClr val="0E9A87"/>
                </a:solidFill>
                <a:latin typeface="Calibri"/>
              </a:rPr>
              <a:t>Personele inzet</a:t>
            </a:r>
          </a:p>
          <a:p>
            <a:pPr algn="l">
              <a:lnSpc>
                <a:spcPct val="118000"/>
              </a:lnSpc>
              <a:spcAft>
                <a:spcPts val="0"/>
              </a:spcAft>
            </a:pPr>
            <a:r>
              <a:rPr sz="950" b="0">
                <a:solidFill>
                  <a:srgbClr val="55677C"/>
                </a:solidFill>
                <a:latin typeface="Calibri"/>
              </a:rPr>
              <a:t>norm en deskundigheid</a:t>
            </a:r>
          </a:p>
        </p:txBody>
      </p:sp>
      <p:sp>
        <p:nvSpPr>
          <p:cNvPr id="48" name="TextBox 47"/>
          <p:cNvSpPr txBox="1"/>
          <p:nvPr/>
        </p:nvSpPr>
        <p:spPr>
          <a:xfrm>
            <a:off x="8357615" y="5833872"/>
            <a:ext cx="2937967" cy="274320"/>
          </a:xfrm>
          <a:prstGeom prst="rect">
            <a:avLst/>
          </a:prstGeom>
          <a:noFill/>
        </p:spPr>
        <p:txBody>
          <a:bodyPr wrap="square" lIns="0" rIns="0" tIns="0" bIns="0" anchor="t">
            <a:spAutoFit/>
          </a:bodyPr>
          <a:lstStyle/>
          <a:p>
            <a:pPr algn="l">
              <a:lnSpc>
                <a:spcPct val="120000"/>
              </a:lnSpc>
              <a:spcAft>
                <a:spcPts val="0"/>
              </a:spcAft>
            </a:pPr>
            <a:r>
              <a:rPr sz="1000" b="0">
                <a:solidFill>
                  <a:srgbClr val="55677C"/>
                </a:solidFill>
                <a:latin typeface="Calibri"/>
              </a:rPr>
              <a:t>De keuze gebeurt op basis van data uit BIC.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Van scenario naar rooster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 route die na de keuze gevolgd wordt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12</a:t>
            </a:r>
          </a:p>
        </p:txBody>
      </p:sp>
      <p:sp>
        <p:nvSpPr>
          <p:cNvPr id="10" name="Rounded Rectangle 9"/>
          <p:cNvSpPr/>
          <p:nvPr/>
        </p:nvSpPr>
        <p:spPr>
          <a:xfrm>
            <a:off x="640080"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209522"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01</a:t>
            </a:r>
          </a:p>
        </p:txBody>
      </p:sp>
      <p:sp>
        <p:nvSpPr>
          <p:cNvPr id="12" name="TextBox 11"/>
          <p:cNvSpPr txBox="1"/>
          <p:nvPr/>
        </p:nvSpPr>
        <p:spPr>
          <a:xfrm>
            <a:off x="786384"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Scenario's uitwerken</a:t>
            </a:r>
          </a:p>
        </p:txBody>
      </p:sp>
      <p:sp>
        <p:nvSpPr>
          <p:cNvPr id="13" name="TextBox 12"/>
          <p:cNvSpPr txBox="1"/>
          <p:nvPr/>
        </p:nvSpPr>
        <p:spPr>
          <a:xfrm>
            <a:off x="786384"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de vijf varianten doorrekenen</a:t>
            </a:r>
          </a:p>
        </p:txBody>
      </p:sp>
      <p:sp>
        <p:nvSpPr>
          <p:cNvPr id="14" name="Right Arrow 13"/>
          <p:cNvSpPr/>
          <p:nvPr/>
        </p:nvSpPr>
        <p:spPr>
          <a:xfrm>
            <a:off x="2309317"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492197"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3061639"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02</a:t>
            </a:r>
          </a:p>
        </p:txBody>
      </p:sp>
      <p:sp>
        <p:nvSpPr>
          <p:cNvPr id="17" name="TextBox 16"/>
          <p:cNvSpPr txBox="1"/>
          <p:nvPr/>
        </p:nvSpPr>
        <p:spPr>
          <a:xfrm>
            <a:off x="2638501"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Keuze maken</a:t>
            </a:r>
          </a:p>
        </p:txBody>
      </p:sp>
      <p:sp>
        <p:nvSpPr>
          <p:cNvPr id="18" name="TextBox 17"/>
          <p:cNvSpPr txBox="1"/>
          <p:nvPr/>
        </p:nvSpPr>
        <p:spPr>
          <a:xfrm>
            <a:off x="2638501"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op basis van data uit BIC</a:t>
            </a:r>
          </a:p>
        </p:txBody>
      </p:sp>
      <p:sp>
        <p:nvSpPr>
          <p:cNvPr id="19" name="Right Arrow 18"/>
          <p:cNvSpPr/>
          <p:nvPr/>
        </p:nvSpPr>
        <p:spPr>
          <a:xfrm>
            <a:off x="4161434"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344314"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4913757"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03</a:t>
            </a:r>
          </a:p>
        </p:txBody>
      </p:sp>
      <p:sp>
        <p:nvSpPr>
          <p:cNvPr id="22" name="TextBox 21"/>
          <p:cNvSpPr txBox="1"/>
          <p:nvPr/>
        </p:nvSpPr>
        <p:spPr>
          <a:xfrm>
            <a:off x="4490618"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Week- en dagplan</a:t>
            </a:r>
          </a:p>
        </p:txBody>
      </p:sp>
      <p:sp>
        <p:nvSpPr>
          <p:cNvPr id="23" name="TextBox 22"/>
          <p:cNvSpPr txBox="1"/>
          <p:nvPr/>
        </p:nvSpPr>
        <p:spPr>
          <a:xfrm>
            <a:off x="4490618"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wat is er wanneer nodig</a:t>
            </a:r>
          </a:p>
        </p:txBody>
      </p:sp>
      <p:sp>
        <p:nvSpPr>
          <p:cNvPr id="24" name="Right Arrow 23"/>
          <p:cNvSpPr/>
          <p:nvPr/>
        </p:nvSpPr>
        <p:spPr>
          <a:xfrm>
            <a:off x="6013551"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96431"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765874"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04</a:t>
            </a:r>
          </a:p>
        </p:txBody>
      </p:sp>
      <p:sp>
        <p:nvSpPr>
          <p:cNvPr id="27" name="TextBox 26"/>
          <p:cNvSpPr txBox="1"/>
          <p:nvPr/>
        </p:nvSpPr>
        <p:spPr>
          <a:xfrm>
            <a:off x="6342735"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Roostersleutels</a:t>
            </a:r>
          </a:p>
        </p:txBody>
      </p:sp>
      <p:sp>
        <p:nvSpPr>
          <p:cNvPr id="28" name="TextBox 27"/>
          <p:cNvSpPr txBox="1"/>
          <p:nvPr/>
        </p:nvSpPr>
        <p:spPr>
          <a:xfrm>
            <a:off x="6342735"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vertaling naar de roosters</a:t>
            </a:r>
          </a:p>
        </p:txBody>
      </p:sp>
      <p:sp>
        <p:nvSpPr>
          <p:cNvPr id="29" name="Right Arrow 28"/>
          <p:cNvSpPr/>
          <p:nvPr/>
        </p:nvSpPr>
        <p:spPr>
          <a:xfrm>
            <a:off x="7865668"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8048548"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8617991"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05</a:t>
            </a:r>
          </a:p>
        </p:txBody>
      </p:sp>
      <p:sp>
        <p:nvSpPr>
          <p:cNvPr id="32" name="TextBox 31"/>
          <p:cNvSpPr txBox="1"/>
          <p:nvPr/>
        </p:nvSpPr>
        <p:spPr>
          <a:xfrm>
            <a:off x="8194852"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Planning CPP</a:t>
            </a:r>
          </a:p>
        </p:txBody>
      </p:sp>
      <p:sp>
        <p:nvSpPr>
          <p:cNvPr id="33" name="TextBox 32"/>
          <p:cNvSpPr txBox="1"/>
          <p:nvPr/>
        </p:nvSpPr>
        <p:spPr>
          <a:xfrm>
            <a:off x="8194852"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capaciteits- en personeelsplanning</a:t>
            </a:r>
          </a:p>
        </p:txBody>
      </p:sp>
      <p:sp>
        <p:nvSpPr>
          <p:cNvPr id="34" name="Right Arrow 33"/>
          <p:cNvSpPr/>
          <p:nvPr/>
        </p:nvSpPr>
        <p:spPr>
          <a:xfrm>
            <a:off x="9717786" y="2980944"/>
            <a:ext cx="164592" cy="164592"/>
          </a:xfrm>
          <a:prstGeom prst="rightArrow">
            <a:avLst/>
          </a:prstGeom>
          <a:solidFill>
            <a:srgbClr val="6B4BA8">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900666" y="2066544"/>
            <a:ext cx="1650949" cy="201168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0470108" y="2249424"/>
            <a:ext cx="512064" cy="512064"/>
          </a:xfrm>
          <a:prstGeom prst="ellipse">
            <a:avLst/>
          </a:prstGeom>
          <a:solidFill>
            <a:srgbClr val="6B4BA8">
              <a:alpha val="10000"/>
            </a:srgbClr>
          </a:solidFill>
          <a:ln w="15875">
            <a:solidFill>
              <a:srgbClr val="6B4BA8"/>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a:solidFill>
                  <a:srgbClr val="6B4BA8"/>
                </a:solidFill>
                <a:latin typeface="Calibri"/>
              </a:rPr>
              <a:t>06</a:t>
            </a:r>
          </a:p>
        </p:txBody>
      </p:sp>
      <p:sp>
        <p:nvSpPr>
          <p:cNvPr id="37" name="TextBox 36"/>
          <p:cNvSpPr txBox="1"/>
          <p:nvPr/>
        </p:nvSpPr>
        <p:spPr>
          <a:xfrm>
            <a:off x="10046970" y="2889504"/>
            <a:ext cx="1358341" cy="566928"/>
          </a:xfrm>
          <a:prstGeom prst="rect">
            <a:avLst/>
          </a:prstGeom>
          <a:noFill/>
        </p:spPr>
        <p:txBody>
          <a:bodyPr wrap="square" lIns="0" rIns="0" tIns="0" bIns="0" anchor="t">
            <a:spAutoFit/>
          </a:bodyPr>
          <a:lstStyle/>
          <a:p>
            <a:pPr algn="ctr">
              <a:lnSpc>
                <a:spcPct val="115000"/>
              </a:lnSpc>
              <a:spcAft>
                <a:spcPts val="0"/>
              </a:spcAft>
            </a:pPr>
            <a:r>
              <a:rPr sz="1250" b="1">
                <a:solidFill>
                  <a:srgbClr val="0D1B2A"/>
                </a:solidFill>
                <a:latin typeface="Calibri"/>
              </a:rPr>
              <a:t>Monitoring</a:t>
            </a:r>
          </a:p>
        </p:txBody>
      </p:sp>
      <p:sp>
        <p:nvSpPr>
          <p:cNvPr id="38" name="TextBox 37"/>
          <p:cNvSpPr txBox="1"/>
          <p:nvPr/>
        </p:nvSpPr>
        <p:spPr>
          <a:xfrm>
            <a:off x="10046970" y="3511296"/>
            <a:ext cx="1358341" cy="457200"/>
          </a:xfrm>
          <a:prstGeom prst="rect">
            <a:avLst/>
          </a:prstGeom>
          <a:noFill/>
        </p:spPr>
        <p:txBody>
          <a:bodyPr wrap="square" lIns="0" rIns="0" tIns="0" bIns="0" anchor="t">
            <a:spAutoFit/>
          </a:bodyPr>
          <a:lstStyle/>
          <a:p>
            <a:pPr algn="ctr">
              <a:lnSpc>
                <a:spcPct val="115000"/>
              </a:lnSpc>
              <a:spcAft>
                <a:spcPts val="0"/>
              </a:spcAft>
            </a:pPr>
            <a:r>
              <a:rPr sz="950" b="0">
                <a:solidFill>
                  <a:srgbClr val="55677C"/>
                </a:solidFill>
                <a:latin typeface="Calibri"/>
              </a:rPr>
              <a:t>instroom, stops, knelpunten, uren</a:t>
            </a:r>
          </a:p>
        </p:txBody>
      </p:sp>
      <p:sp>
        <p:nvSpPr>
          <p:cNvPr id="39" name="Rounded Rectangle 38"/>
          <p:cNvSpPr/>
          <p:nvPr/>
        </p:nvSpPr>
        <p:spPr>
          <a:xfrm>
            <a:off x="640080" y="4315968"/>
            <a:ext cx="3454298" cy="749808"/>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859536"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1F6FB2"/>
                </a:solidFill>
                <a:latin typeface="Calibri"/>
              </a:rPr>
              <a:t>Fysiek gaat voor</a:t>
            </a:r>
          </a:p>
          <a:p>
            <a:pPr algn="l">
              <a:lnSpc>
                <a:spcPct val="120000"/>
              </a:lnSpc>
              <a:spcAft>
                <a:spcPts val="0"/>
              </a:spcAft>
            </a:pPr>
            <a:r>
              <a:rPr sz="1000" b="0">
                <a:solidFill>
                  <a:srgbClr val="55677C"/>
                </a:solidFill>
                <a:latin typeface="Calibri"/>
              </a:rPr>
              <a:t>eerst wat en waar</a:t>
            </a:r>
          </a:p>
        </p:txBody>
      </p:sp>
      <p:sp>
        <p:nvSpPr>
          <p:cNvPr id="41" name="Rounded Rectangle 40"/>
          <p:cNvSpPr/>
          <p:nvPr/>
        </p:nvSpPr>
        <p:spPr>
          <a:xfrm>
            <a:off x="4368698" y="4315968"/>
            <a:ext cx="3454298" cy="749808"/>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4588154"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0E9A87"/>
                </a:solidFill>
                <a:latin typeface="Calibri"/>
              </a:rPr>
              <a:t>Personele inzet volgt</a:t>
            </a:r>
          </a:p>
          <a:p>
            <a:pPr algn="l">
              <a:lnSpc>
                <a:spcPct val="120000"/>
              </a:lnSpc>
              <a:spcAft>
                <a:spcPts val="0"/>
              </a:spcAft>
            </a:pPr>
            <a:r>
              <a:rPr sz="1000" b="0">
                <a:solidFill>
                  <a:srgbClr val="55677C"/>
                </a:solidFill>
                <a:latin typeface="Calibri"/>
              </a:rPr>
              <a:t>uit wat en waar</a:t>
            </a:r>
          </a:p>
        </p:txBody>
      </p:sp>
      <p:sp>
        <p:nvSpPr>
          <p:cNvPr id="43" name="Rounded Rectangle 42"/>
          <p:cNvSpPr/>
          <p:nvPr/>
        </p:nvSpPr>
        <p:spPr>
          <a:xfrm>
            <a:off x="8097316" y="4315968"/>
            <a:ext cx="3454298" cy="749808"/>
          </a:xfrm>
          <a:prstGeom prst="roundRect">
            <a:avLst>
              <a:gd name="adj" fmla="val 3000"/>
            </a:avLst>
          </a:prstGeom>
          <a:solidFill>
            <a:srgbClr val="E1E1F2"/>
          </a:solidFill>
          <a:ln w="15875">
            <a:solidFill>
              <a:srgbClr val="BEB5DC"/>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316772" y="4407407"/>
            <a:ext cx="3015386" cy="566928"/>
          </a:xfrm>
          <a:prstGeom prst="rect">
            <a:avLst/>
          </a:prstGeom>
          <a:noFill/>
        </p:spPr>
        <p:txBody>
          <a:bodyPr wrap="square" lIns="0" rIns="0" tIns="0" bIns="0" anchor="ctr">
            <a:spAutoFit/>
          </a:bodyPr>
          <a:lstStyle/>
          <a:p>
            <a:pPr algn="l">
              <a:lnSpc>
                <a:spcPct val="120000"/>
              </a:lnSpc>
              <a:spcAft>
                <a:spcPts val="200"/>
              </a:spcAft>
            </a:pPr>
            <a:r>
              <a:rPr sz="1250" b="1">
                <a:solidFill>
                  <a:srgbClr val="6B4BA8"/>
                </a:solidFill>
                <a:latin typeface="Calibri"/>
              </a:rPr>
              <a:t>Daarna monitoren</a:t>
            </a:r>
          </a:p>
          <a:p>
            <a:pPr algn="l">
              <a:lnSpc>
                <a:spcPct val="120000"/>
              </a:lnSpc>
              <a:spcAft>
                <a:spcPts val="0"/>
              </a:spcAft>
            </a:pPr>
            <a:r>
              <a:rPr sz="1000" b="0">
                <a:solidFill>
                  <a:srgbClr val="55677C"/>
                </a:solidFill>
                <a:latin typeface="Calibri"/>
              </a:rPr>
              <a:t>instroom, stops, knelpunten, uren</a:t>
            </a:r>
          </a:p>
        </p:txBody>
      </p:sp>
      <p:sp>
        <p:nvSpPr>
          <p:cNvPr id="45" name="Rounded Rectangle 44"/>
          <p:cNvSpPr/>
          <p:nvPr/>
        </p:nvSpPr>
        <p:spPr>
          <a:xfrm>
            <a:off x="640080" y="5486400"/>
            <a:ext cx="10911535" cy="658368"/>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486400"/>
            <a:ext cx="50292" cy="658368"/>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69264" y="5568696"/>
            <a:ext cx="9997135" cy="493776"/>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De personele planning loopt nu niet volledig via CPP, met name rond de acute poule.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03  ·  ANALYSE 1</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acute poort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Drie stromen achter één poort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13</a:t>
            </a:r>
          </a:p>
        </p:txBody>
      </p:sp>
      <p:sp>
        <p:nvSpPr>
          <p:cNvPr id="10" name="Rounded Rectangle 9"/>
          <p:cNvSpPr/>
          <p:nvPr/>
        </p:nvSpPr>
        <p:spPr>
          <a:xfrm>
            <a:off x="640080" y="1700784"/>
            <a:ext cx="5943600" cy="1243584"/>
          </a:xfrm>
          <a:prstGeom prst="roundRect">
            <a:avLst>
              <a:gd name="adj" fmla="val 3000"/>
            </a:avLst>
          </a:prstGeom>
          <a:solidFill>
            <a:srgbClr val="EAD8DB"/>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C4392D"/>
                </a:solidFill>
                <a:latin typeface="Calibri"/>
              </a:rPr>
              <a:t>Past niet</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geanalyseerd voor kind, EHH en SEH samen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Analyse op dag- en uurniveau</a:t>
            </a:r>
          </a:p>
          <a:p>
            <a:pPr algn="l">
              <a:lnSpc>
                <a:spcPct val="120000"/>
              </a:lnSpc>
              <a:spcAft>
                <a:spcPts val="0"/>
              </a:spcAft>
            </a:pPr>
            <a:r>
              <a:rPr sz="1000" b="0">
                <a:solidFill>
                  <a:srgbClr val="8B9AAA"/>
                </a:solidFill>
                <a:latin typeface="Calibri"/>
              </a:rPr>
              <a:t>instroompatroon per uur</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Jaarpatroon in beeld gebracht</a:t>
            </a:r>
          </a:p>
          <a:p>
            <a:pPr algn="l">
              <a:lnSpc>
                <a:spcPct val="120000"/>
              </a:lnSpc>
              <a:spcAft>
                <a:spcPts val="0"/>
              </a:spcAft>
            </a:pPr>
            <a:r>
              <a:rPr sz="1000" b="0">
                <a:solidFill>
                  <a:srgbClr val="8B9AAA"/>
                </a:solidFill>
                <a:latin typeface="Calibri"/>
              </a:rPr>
              <a:t>seizoensinvloed zichtbaar</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Data beschikbaar</a:t>
            </a:r>
          </a:p>
          <a:p>
            <a:pPr algn="l">
              <a:lnSpc>
                <a:spcPct val="120000"/>
              </a:lnSpc>
              <a:spcAft>
                <a:spcPts val="0"/>
              </a:spcAft>
            </a:pPr>
            <a:r>
              <a:rPr sz="1000" b="0">
                <a:solidFill>
                  <a:srgbClr val="8B9AAA"/>
                </a:solidFill>
                <a:latin typeface="Calibri"/>
              </a:rPr>
              <a:t>met verschillende scenario's</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DE DRIE STROMEN</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1F6FB2"/>
                </a:solidFill>
                <a:latin typeface="Calibri"/>
              </a:rPr>
              <a:t>kind spoed</a:t>
            </a:r>
          </a:p>
          <a:p>
            <a:pPr algn="l">
              <a:lnSpc>
                <a:spcPct val="120000"/>
              </a:lnSpc>
              <a:spcAft>
                <a:spcPts val="0"/>
              </a:spcAft>
            </a:pPr>
            <a:r>
              <a:rPr sz="1000" b="0">
                <a:solidFill>
                  <a:srgbClr val="55677C"/>
                </a:solidFill>
                <a:latin typeface="Calibri"/>
              </a:rPr>
              <a:t>eigen stroom</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6B4BA8"/>
                </a:solidFill>
                <a:latin typeface="Calibri"/>
              </a:rPr>
              <a:t>EHH</a:t>
            </a:r>
          </a:p>
          <a:p>
            <a:pPr algn="l">
              <a:lnSpc>
                <a:spcPct val="120000"/>
              </a:lnSpc>
              <a:spcAft>
                <a:spcPts val="0"/>
              </a:spcAft>
            </a:pPr>
            <a:r>
              <a:rPr sz="1000" b="0">
                <a:solidFill>
                  <a:srgbClr val="55677C"/>
                </a:solidFill>
                <a:latin typeface="Calibri"/>
              </a:rPr>
              <a:t>eigen stroom</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0E9A87"/>
                </a:solidFill>
                <a:latin typeface="Calibri"/>
              </a:rPr>
              <a:t>SEH</a:t>
            </a:r>
          </a:p>
          <a:p>
            <a:pPr algn="l">
              <a:lnSpc>
                <a:spcPct val="120000"/>
              </a:lnSpc>
              <a:spcAft>
                <a:spcPts val="0"/>
              </a:spcAft>
            </a:pPr>
            <a:r>
              <a:rPr sz="1000" b="0">
                <a:solidFill>
                  <a:srgbClr val="55677C"/>
                </a:solidFill>
                <a:latin typeface="Calibri"/>
              </a:rPr>
              <a:t>eigen stroom</a:t>
            </a:r>
          </a:p>
        </p:txBody>
      </p:sp>
      <p:sp>
        <p:nvSpPr>
          <p:cNvPr id="30" name="Rounded Rectangle 29"/>
          <p:cNvSpPr/>
          <p:nvPr/>
        </p:nvSpPr>
        <p:spPr>
          <a:xfrm>
            <a:off x="640080" y="5358383"/>
            <a:ext cx="10911535" cy="786384"/>
          </a:xfrm>
          <a:prstGeom prst="roundRect">
            <a:avLst>
              <a:gd name="adj" fmla="val 3000"/>
            </a:avLst>
          </a:prstGeom>
          <a:solidFill>
            <a:srgbClr val="ECE3E7"/>
          </a:solidFill>
          <a:ln w="15875">
            <a:solidFill>
              <a:srgbClr val="E0AEAD"/>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4392D"/>
                </a:solidFill>
                <a:latin typeface="Calibri"/>
              </a:rPr>
              <a:t>DOEL EN VERVOLG</a:t>
            </a:r>
          </a:p>
          <a:p>
            <a:pPr algn="l">
              <a:lnSpc>
                <a:spcPct val="120000"/>
              </a:lnSpc>
              <a:spcAft>
                <a:spcPts val="0"/>
              </a:spcAft>
            </a:pPr>
            <a:r>
              <a:rPr sz="1250" b="1">
                <a:solidFill>
                  <a:srgbClr val="0D1B2A"/>
                </a:solidFill>
                <a:latin typeface="Calibri"/>
              </a:rPr>
              <a:t>De zorg passend maken op de fysieke nieuwe SEH. De analyse is gedeeld — welke acties volgen eruit, en wie pakt ze op?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03  ·  ANALYSE 2</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De Hotfloor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ICU, CCU en SCU samen op één vloer</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14</a:t>
            </a:r>
          </a:p>
        </p:txBody>
      </p:sp>
      <p:sp>
        <p:nvSpPr>
          <p:cNvPr id="10" name="Rounded Rectangle 9"/>
          <p:cNvSpPr/>
          <p:nvPr/>
        </p:nvSpPr>
        <p:spPr>
          <a:xfrm>
            <a:off x="640080" y="1700784"/>
            <a:ext cx="5943600" cy="1243584"/>
          </a:xfrm>
          <a:prstGeom prst="roundRect">
            <a:avLst>
              <a:gd name="adj" fmla="val 3000"/>
            </a:avLst>
          </a:prstGeom>
          <a:solidFill>
            <a:srgbClr val="CDE7E9"/>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 y="1883664"/>
            <a:ext cx="5285232" cy="658368"/>
          </a:xfrm>
          <a:prstGeom prst="rect">
            <a:avLst/>
          </a:prstGeom>
          <a:noFill/>
        </p:spPr>
        <p:txBody>
          <a:bodyPr wrap="square" lIns="0" rIns="0" tIns="0" bIns="0" anchor="t">
            <a:spAutoFit/>
          </a:bodyPr>
          <a:lstStyle/>
          <a:p>
            <a:pPr algn="l">
              <a:lnSpc>
                <a:spcPct val="120000"/>
              </a:lnSpc>
              <a:spcAft>
                <a:spcPts val="0"/>
              </a:spcAft>
            </a:pPr>
            <a:r>
              <a:rPr sz="4000" b="1">
                <a:solidFill>
                  <a:srgbClr val="0E9A87"/>
                </a:solidFill>
                <a:latin typeface="Calibri"/>
              </a:rPr>
              <a:t>Past wel</a:t>
            </a:r>
          </a:p>
        </p:txBody>
      </p:sp>
      <p:sp>
        <p:nvSpPr>
          <p:cNvPr id="12" name="TextBox 11"/>
          <p:cNvSpPr txBox="1"/>
          <p:nvPr/>
        </p:nvSpPr>
        <p:spPr>
          <a:xfrm>
            <a:off x="969264" y="2523744"/>
            <a:ext cx="5285232" cy="310896"/>
          </a:xfrm>
          <a:prstGeom prst="rect">
            <a:avLst/>
          </a:prstGeom>
          <a:noFill/>
        </p:spPr>
        <p:txBody>
          <a:bodyPr wrap="square" lIns="0" rIns="0" tIns="0" bIns="0" anchor="t">
            <a:spAutoFit/>
          </a:bodyPr>
          <a:lstStyle/>
          <a:p>
            <a:pPr algn="l">
              <a:lnSpc>
                <a:spcPct val="120000"/>
              </a:lnSpc>
              <a:spcAft>
                <a:spcPts val="0"/>
              </a:spcAft>
            </a:pPr>
            <a:r>
              <a:rPr sz="1250" b="0">
                <a:solidFill>
                  <a:srgbClr val="55677C"/>
                </a:solidFill>
                <a:latin typeface="Calibri"/>
              </a:rPr>
              <a:t>op zestien bedden</a:t>
            </a:r>
          </a:p>
        </p:txBody>
      </p:sp>
      <p:sp>
        <p:nvSpPr>
          <p:cNvPr id="13" name="Rounded Rectangle 12"/>
          <p:cNvSpPr/>
          <p:nvPr/>
        </p:nvSpPr>
        <p:spPr>
          <a:xfrm>
            <a:off x="640080" y="3163824"/>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282696"/>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1</a:t>
            </a:r>
          </a:p>
        </p:txBody>
      </p:sp>
      <p:sp>
        <p:nvSpPr>
          <p:cNvPr id="15" name="TextBox 14"/>
          <p:cNvSpPr txBox="1"/>
          <p:nvPr/>
        </p:nvSpPr>
        <p:spPr>
          <a:xfrm>
            <a:off x="1316736" y="3218688"/>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Weigerkans onbekend</a:t>
            </a:r>
          </a:p>
          <a:p>
            <a:pPr algn="l">
              <a:lnSpc>
                <a:spcPct val="120000"/>
              </a:lnSpc>
              <a:spcAft>
                <a:spcPts val="0"/>
              </a:spcAft>
            </a:pPr>
            <a:r>
              <a:rPr sz="1000" b="0">
                <a:solidFill>
                  <a:srgbClr val="8B9AAA"/>
                </a:solidFill>
                <a:latin typeface="Calibri"/>
              </a:rPr>
              <a:t>het risico is niet becijferd</a:t>
            </a:r>
          </a:p>
        </p:txBody>
      </p:sp>
      <p:sp>
        <p:nvSpPr>
          <p:cNvPr id="16" name="Rounded Rectangle 15"/>
          <p:cNvSpPr/>
          <p:nvPr/>
        </p:nvSpPr>
        <p:spPr>
          <a:xfrm>
            <a:off x="640080" y="3858768"/>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22960" y="3977639"/>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2</a:t>
            </a:r>
          </a:p>
        </p:txBody>
      </p:sp>
      <p:sp>
        <p:nvSpPr>
          <p:cNvPr id="18" name="TextBox 17"/>
          <p:cNvSpPr txBox="1"/>
          <p:nvPr/>
        </p:nvSpPr>
        <p:spPr>
          <a:xfrm>
            <a:off x="1316736" y="3913631"/>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EHH nog niet belegd</a:t>
            </a:r>
          </a:p>
          <a:p>
            <a:pPr algn="l">
              <a:lnSpc>
                <a:spcPct val="120000"/>
              </a:lnSpc>
              <a:spcAft>
                <a:spcPts val="0"/>
              </a:spcAft>
            </a:pPr>
            <a:r>
              <a:rPr sz="1000" b="0">
                <a:solidFill>
                  <a:srgbClr val="8B9AAA"/>
                </a:solidFill>
                <a:latin typeface="Calibri"/>
              </a:rPr>
              <a:t>apart, of toch bij de acute poort?</a:t>
            </a:r>
          </a:p>
        </p:txBody>
      </p:sp>
      <p:sp>
        <p:nvSpPr>
          <p:cNvPr id="19" name="Rounded Rectangle 18"/>
          <p:cNvSpPr/>
          <p:nvPr/>
        </p:nvSpPr>
        <p:spPr>
          <a:xfrm>
            <a:off x="640080" y="4553712"/>
            <a:ext cx="5943600" cy="60350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22960" y="4672583"/>
            <a:ext cx="365760" cy="365760"/>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0E9A87"/>
                </a:solidFill>
                <a:latin typeface="Calibri"/>
              </a:rPr>
              <a:t>3</a:t>
            </a:r>
          </a:p>
        </p:txBody>
      </p:sp>
      <p:sp>
        <p:nvSpPr>
          <p:cNvPr id="21" name="TextBox 20"/>
          <p:cNvSpPr txBox="1"/>
          <p:nvPr/>
        </p:nvSpPr>
        <p:spPr>
          <a:xfrm>
            <a:off x="1316736" y="4608575"/>
            <a:ext cx="4937760" cy="493776"/>
          </a:xfrm>
          <a:prstGeom prst="rect">
            <a:avLst/>
          </a:prstGeom>
          <a:noFill/>
        </p:spPr>
        <p:txBody>
          <a:bodyPr wrap="square" lIns="0" rIns="0" tIns="0" bIns="0" anchor="ctr">
            <a:spAutoFit/>
          </a:bodyPr>
          <a:lstStyle/>
          <a:p>
            <a:pPr algn="l">
              <a:lnSpc>
                <a:spcPct val="120000"/>
              </a:lnSpc>
              <a:spcAft>
                <a:spcPts val="100"/>
              </a:spcAft>
            </a:pPr>
            <a:r>
              <a:rPr sz="1250" b="1">
                <a:solidFill>
                  <a:srgbClr val="0D1B2A"/>
                </a:solidFill>
                <a:latin typeface="Calibri"/>
              </a:rPr>
              <a:t>Personele verdeling open</a:t>
            </a:r>
          </a:p>
          <a:p>
            <a:pPr algn="l">
              <a:lnSpc>
                <a:spcPct val="120000"/>
              </a:lnSpc>
              <a:spcAft>
                <a:spcPts val="0"/>
              </a:spcAft>
            </a:pPr>
            <a:r>
              <a:rPr sz="1000" b="0">
                <a:solidFill>
                  <a:srgbClr val="8B9AAA"/>
                </a:solidFill>
                <a:latin typeface="Calibri"/>
              </a:rPr>
              <a:t>waar komt het personeel vandaan?</a:t>
            </a:r>
          </a:p>
        </p:txBody>
      </p:sp>
      <p:sp>
        <p:nvSpPr>
          <p:cNvPr id="22" name="Rounded Rectangle 21"/>
          <p:cNvSpPr/>
          <p:nvPr/>
        </p:nvSpPr>
        <p:spPr>
          <a:xfrm>
            <a:off x="6949440" y="1700784"/>
            <a:ext cx="4602175" cy="3072384"/>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05472" y="1920240"/>
            <a:ext cx="4090111" cy="219456"/>
          </a:xfrm>
          <a:prstGeom prst="rect">
            <a:avLst/>
          </a:prstGeom>
          <a:noFill/>
        </p:spPr>
        <p:txBody>
          <a:bodyPr wrap="square" lIns="0" rIns="0" tIns="0" bIns="0" anchor="t">
            <a:spAutoFit/>
          </a:bodyPr>
          <a:lstStyle/>
          <a:p>
            <a:pPr algn="l">
              <a:lnSpc>
                <a:spcPct val="120000"/>
              </a:lnSpc>
              <a:spcAft>
                <a:spcPts val="0"/>
              </a:spcAft>
            </a:pPr>
            <a:r>
              <a:rPr sz="950" b="1" spc="220">
                <a:solidFill>
                  <a:srgbClr val="8B9AAA"/>
                </a:solidFill>
                <a:latin typeface="Calibri"/>
              </a:rPr>
              <a:t>WAT NOG OPEN STAAT</a:t>
            </a:r>
          </a:p>
        </p:txBody>
      </p:sp>
      <p:sp>
        <p:nvSpPr>
          <p:cNvPr id="24" name="Rounded Rectangle 23"/>
          <p:cNvSpPr/>
          <p:nvPr/>
        </p:nvSpPr>
        <p:spPr>
          <a:xfrm>
            <a:off x="7187184" y="2304288"/>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370064" y="2359152"/>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0E9A87"/>
                </a:solidFill>
                <a:latin typeface="Calibri"/>
              </a:rPr>
              <a:t>16 bedden</a:t>
            </a:r>
          </a:p>
          <a:p>
            <a:pPr algn="l">
              <a:lnSpc>
                <a:spcPct val="120000"/>
              </a:lnSpc>
              <a:spcAft>
                <a:spcPts val="0"/>
              </a:spcAft>
            </a:pPr>
            <a:r>
              <a:rPr sz="1000" b="0">
                <a:solidFill>
                  <a:srgbClr val="55677C"/>
                </a:solidFill>
                <a:latin typeface="Calibri"/>
              </a:rPr>
              <a:t>vastgesteld</a:t>
            </a:r>
          </a:p>
        </p:txBody>
      </p:sp>
      <p:sp>
        <p:nvSpPr>
          <p:cNvPr id="26" name="Rounded Rectangle 25"/>
          <p:cNvSpPr/>
          <p:nvPr/>
        </p:nvSpPr>
        <p:spPr>
          <a:xfrm>
            <a:off x="7187184" y="3072384"/>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70064" y="3127248"/>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C87E12"/>
                </a:solidFill>
                <a:latin typeface="Calibri"/>
              </a:rPr>
              <a:t>weigerkans</a:t>
            </a:r>
          </a:p>
          <a:p>
            <a:pPr algn="l">
              <a:lnSpc>
                <a:spcPct val="120000"/>
              </a:lnSpc>
              <a:spcAft>
                <a:spcPts val="0"/>
              </a:spcAft>
            </a:pPr>
            <a:r>
              <a:rPr sz="1000" b="0">
                <a:solidFill>
                  <a:srgbClr val="55677C"/>
                </a:solidFill>
                <a:latin typeface="Calibri"/>
              </a:rPr>
              <a:t>nog niet bekend</a:t>
            </a:r>
          </a:p>
        </p:txBody>
      </p:sp>
      <p:sp>
        <p:nvSpPr>
          <p:cNvPr id="28" name="Rounded Rectangle 27"/>
          <p:cNvSpPr/>
          <p:nvPr/>
        </p:nvSpPr>
        <p:spPr>
          <a:xfrm>
            <a:off x="7187184" y="3840480"/>
            <a:ext cx="4126687" cy="658368"/>
          </a:xfrm>
          <a:prstGeom prst="roundRect">
            <a:avLst>
              <a:gd name="adj" fmla="val 3000"/>
            </a:avLst>
          </a:prstGeom>
          <a:solidFill>
            <a:srgbClr val="F6F9FD"/>
          </a:solidFill>
          <a:ln w="12700">
            <a:solidFill>
              <a:srgbClr val="C6D6E6"/>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3895344"/>
            <a:ext cx="3760927" cy="548640"/>
          </a:xfrm>
          <a:prstGeom prst="rect">
            <a:avLst/>
          </a:prstGeom>
          <a:noFill/>
        </p:spPr>
        <p:txBody>
          <a:bodyPr wrap="square" lIns="0" rIns="0" tIns="0" bIns="0" anchor="ctr">
            <a:spAutoFit/>
          </a:bodyPr>
          <a:lstStyle/>
          <a:p>
            <a:pPr algn="l">
              <a:lnSpc>
                <a:spcPct val="120000"/>
              </a:lnSpc>
              <a:spcAft>
                <a:spcPts val="100"/>
              </a:spcAft>
            </a:pPr>
            <a:r>
              <a:rPr sz="1250" b="1">
                <a:solidFill>
                  <a:srgbClr val="C87E12"/>
                </a:solidFill>
                <a:latin typeface="Calibri"/>
              </a:rPr>
              <a:t>EHH erbij?</a:t>
            </a:r>
          </a:p>
          <a:p>
            <a:pPr algn="l">
              <a:lnSpc>
                <a:spcPct val="120000"/>
              </a:lnSpc>
              <a:spcAft>
                <a:spcPts val="0"/>
              </a:spcAft>
            </a:pPr>
            <a:r>
              <a:rPr sz="1000" b="0">
                <a:solidFill>
                  <a:srgbClr val="55677C"/>
                </a:solidFill>
                <a:latin typeface="Calibri"/>
              </a:rPr>
              <a:t>nog te beslissen</a:t>
            </a:r>
          </a:p>
        </p:txBody>
      </p:sp>
      <p:sp>
        <p:nvSpPr>
          <p:cNvPr id="30" name="Rounded Rectangle 29"/>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WAT ER NOG MOET GEBEUREN</a:t>
            </a:r>
          </a:p>
          <a:p>
            <a:pPr algn="l">
              <a:lnSpc>
                <a:spcPct val="120000"/>
              </a:lnSpc>
              <a:spcAft>
                <a:spcPts val="0"/>
              </a:spcAft>
            </a:pPr>
            <a:r>
              <a:rPr sz="1250" b="1">
                <a:solidFill>
                  <a:srgbClr val="0D1B2A"/>
                </a:solidFill>
                <a:latin typeface="Calibri"/>
              </a:rPr>
              <a:t>De uitkomst is positief, maar zonder weigerkans en zonder besluit over de EHH is het beeld niet compleet.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87E12"/>
                </a:solidFill>
                <a:latin typeface="Calibri"/>
              </a:rPr>
              <a:t>DEEL 03  ·  WAT VERANDERT ER</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Waar valt de EHH onder?</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Deze ene keuze bepaalt beide analyses en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15</a:t>
            </a:r>
          </a:p>
        </p:txBody>
      </p:sp>
      <p:sp>
        <p:nvSpPr>
          <p:cNvPr id="10" name="Rounded Rectangle 9"/>
          <p:cNvSpPr/>
          <p:nvPr/>
        </p:nvSpPr>
        <p:spPr>
          <a:xfrm>
            <a:off x="2103120" y="1700784"/>
            <a:ext cx="7985455" cy="1060704"/>
          </a:xfrm>
          <a:prstGeom prst="roundRect">
            <a:avLst>
              <a:gd name="adj" fmla="val 3000"/>
            </a:avLst>
          </a:prstGeom>
          <a:solidFill>
            <a:srgbClr val="E8DCC9"/>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103120" y="1847088"/>
            <a:ext cx="7985455" cy="548640"/>
          </a:xfrm>
          <a:prstGeom prst="rect">
            <a:avLst/>
          </a:prstGeom>
          <a:noFill/>
        </p:spPr>
        <p:txBody>
          <a:bodyPr wrap="square" lIns="0" rIns="0" tIns="0" bIns="0" anchor="t">
            <a:spAutoFit/>
          </a:bodyPr>
          <a:lstStyle/>
          <a:p>
            <a:pPr algn="ctr">
              <a:lnSpc>
                <a:spcPct val="120000"/>
              </a:lnSpc>
              <a:spcAft>
                <a:spcPts val="0"/>
              </a:spcAft>
            </a:pPr>
            <a:r>
              <a:rPr sz="3400" b="1">
                <a:solidFill>
                  <a:srgbClr val="C87E12"/>
                </a:solidFill>
                <a:latin typeface="Calibri"/>
              </a:rPr>
              <a:t>Bij 1 of bij 2?</a:t>
            </a:r>
          </a:p>
        </p:txBody>
      </p:sp>
      <p:sp>
        <p:nvSpPr>
          <p:cNvPr id="12" name="TextBox 11"/>
          <p:cNvSpPr txBox="1"/>
          <p:nvPr/>
        </p:nvSpPr>
        <p:spPr>
          <a:xfrm>
            <a:off x="2103120" y="2414016"/>
            <a:ext cx="7985455" cy="274320"/>
          </a:xfrm>
          <a:prstGeom prst="rect">
            <a:avLst/>
          </a:prstGeom>
          <a:noFill/>
        </p:spPr>
        <p:txBody>
          <a:bodyPr wrap="square" lIns="0" rIns="0" tIns="0" bIns="0" anchor="t">
            <a:spAutoFit/>
          </a:bodyPr>
          <a:lstStyle/>
          <a:p>
            <a:pPr algn="ctr">
              <a:lnSpc>
                <a:spcPct val="120000"/>
              </a:lnSpc>
              <a:spcAft>
                <a:spcPts val="0"/>
              </a:spcAft>
            </a:pPr>
            <a:r>
              <a:rPr sz="1250" b="0">
                <a:solidFill>
                  <a:srgbClr val="55677C"/>
                </a:solidFill>
                <a:latin typeface="Calibri"/>
              </a:rPr>
              <a:t>bij de acute poort, of bij de Hotfloor</a:t>
            </a:r>
          </a:p>
        </p:txBody>
      </p:sp>
      <p:sp>
        <p:nvSpPr>
          <p:cNvPr id="13" name="Freeform 12"/>
          <p:cNvSpPr/>
          <p:nvPr/>
        </p:nvSpPr>
        <p:spPr>
          <a:xfrm>
            <a:off x="3253663" y="2779776"/>
            <a:ext cx="2842184" cy="274320"/>
          </a:xfrm>
          <a:custGeom>
            <a:avLst/>
            <a:gdLst/>
            <a:ahLst/>
            <a:cxnLst/>
            <a:rect l="l" t="t" r="r" b="b"/>
            <a:pathLst>
              <a:path w="2842184" h="274320">
                <a:moveTo>
                  <a:pt x="2842184" y="0"/>
                </a:moveTo>
                <a:lnTo>
                  <a:pt x="2842184" y="109728"/>
                </a:lnTo>
                <a:lnTo>
                  <a:pt x="0" y="109728"/>
                </a:lnTo>
                <a:lnTo>
                  <a:pt x="0"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0080" y="3072384"/>
            <a:ext cx="5227167" cy="1920240"/>
          </a:xfrm>
          <a:prstGeom prst="roundRect">
            <a:avLst>
              <a:gd name="adj" fmla="val 3000"/>
            </a:avLst>
          </a:prstGeom>
          <a:solidFill>
            <a:srgbClr val="D8E6F3"/>
          </a:solidFill>
          <a:ln w="15875">
            <a:solidFill>
              <a:srgbClr val="A1C3E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04671" y="3218688"/>
            <a:ext cx="512064" cy="512064"/>
          </a:xfrm>
          <a:prstGeom prst="ellipse">
            <a:avLst/>
          </a:prstGeom>
          <a:solidFill>
            <a:srgbClr val="1F6FB2">
              <a:alpha val="10000"/>
            </a:srgbClr>
          </a:solidFill>
          <a:ln w="15875">
            <a:solidFill>
              <a:srgbClr val="1F6FB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1F6FB2"/>
                </a:solidFill>
                <a:latin typeface="Calibri"/>
              </a:rPr>
              <a:t>1</a:t>
            </a:r>
          </a:p>
        </p:txBody>
      </p:sp>
      <p:sp>
        <p:nvSpPr>
          <p:cNvPr id="16" name="TextBox 15"/>
          <p:cNvSpPr txBox="1"/>
          <p:nvPr/>
        </p:nvSpPr>
        <p:spPr>
          <a:xfrm>
            <a:off x="1426464"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1F6FB2"/>
                </a:solidFill>
                <a:latin typeface="Calibri"/>
              </a:rPr>
              <a:t>Acute poort</a:t>
            </a:r>
          </a:p>
        </p:txBody>
      </p:sp>
      <p:sp>
        <p:nvSpPr>
          <p:cNvPr id="17" name="TextBox 16"/>
          <p:cNvSpPr txBox="1"/>
          <p:nvPr/>
        </p:nvSpPr>
        <p:spPr>
          <a:xfrm>
            <a:off x="896112"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0D1B2A"/>
                </a:solidFill>
                <a:latin typeface="Calibri"/>
              </a:rPr>
              <a:t>SEH · kind · EHH</a:t>
            </a:r>
          </a:p>
        </p:txBody>
      </p:sp>
      <p:cxnSp>
        <p:nvCxnSpPr>
          <p:cNvPr id="18" name="Connector 17"/>
          <p:cNvCxnSpPr/>
          <p:nvPr/>
        </p:nvCxnSpPr>
        <p:spPr>
          <a:xfrm>
            <a:off x="896112" y="4169664"/>
            <a:ext cx="4715103" cy="0"/>
          </a:xfrm>
          <a:prstGeom prst="line">
            <a:avLst/>
          </a:prstGeom>
          <a:ln w="12700">
            <a:solidFill>
              <a:srgbClr val="92B9DB"/>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96112"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55677C"/>
                </a:solidFill>
                <a:latin typeface="Calibri"/>
              </a:rPr>
              <a:t>De EHH telt mee in de plekken van de acute poort, die nu al te klein is.</a:t>
            </a:r>
          </a:p>
        </p:txBody>
      </p:sp>
      <p:sp>
        <p:nvSpPr>
          <p:cNvPr id="20" name="Freeform 19"/>
          <p:cNvSpPr/>
          <p:nvPr/>
        </p:nvSpPr>
        <p:spPr>
          <a:xfrm>
            <a:off x="6095847" y="2779776"/>
            <a:ext cx="2842184" cy="274320"/>
          </a:xfrm>
          <a:custGeom>
            <a:avLst/>
            <a:gdLst/>
            <a:ahLst/>
            <a:cxnLst/>
            <a:rect l="l" t="t" r="r" b="b"/>
            <a:pathLst>
              <a:path w="2842184" h="274320">
                <a:moveTo>
                  <a:pt x="0" y="0"/>
                </a:moveTo>
                <a:lnTo>
                  <a:pt x="0" y="109728"/>
                </a:lnTo>
                <a:lnTo>
                  <a:pt x="2842184" y="109728"/>
                </a:lnTo>
                <a:lnTo>
                  <a:pt x="2842184" y="274320"/>
                </a:lnTo>
              </a:path>
            </a:pathLst>
          </a:custGeom>
          <a:noFill/>
          <a:ln w="19050">
            <a:solidFill>
              <a:srgbClr val="DAB4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447" y="3072384"/>
            <a:ext cx="5227167" cy="1920240"/>
          </a:xfrm>
          <a:prstGeom prst="roundRect">
            <a:avLst>
              <a:gd name="adj" fmla="val 3000"/>
            </a:avLst>
          </a:prstGeom>
          <a:solidFill>
            <a:srgbClr val="D6EBEE"/>
          </a:solidFill>
          <a:ln w="15875">
            <a:solidFill>
              <a:srgbClr val="9BD3D0"/>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89039" y="3218688"/>
            <a:ext cx="512064" cy="512064"/>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600" b="1">
                <a:solidFill>
                  <a:srgbClr val="0E9A87"/>
                </a:solidFill>
                <a:latin typeface="Calibri"/>
              </a:rPr>
              <a:t>2</a:t>
            </a:r>
          </a:p>
        </p:txBody>
      </p:sp>
      <p:sp>
        <p:nvSpPr>
          <p:cNvPr id="23" name="TextBox 22"/>
          <p:cNvSpPr txBox="1"/>
          <p:nvPr/>
        </p:nvSpPr>
        <p:spPr>
          <a:xfrm>
            <a:off x="7110831" y="3236976"/>
            <a:ext cx="4129887" cy="457200"/>
          </a:xfrm>
          <a:prstGeom prst="rect">
            <a:avLst/>
          </a:prstGeom>
          <a:noFill/>
        </p:spPr>
        <p:txBody>
          <a:bodyPr wrap="square" lIns="0" rIns="0" tIns="0" bIns="0" anchor="ctr">
            <a:spAutoFit/>
          </a:bodyPr>
          <a:lstStyle/>
          <a:p>
            <a:pPr algn="l">
              <a:lnSpc>
                <a:spcPct val="120000"/>
              </a:lnSpc>
              <a:spcAft>
                <a:spcPts val="0"/>
              </a:spcAft>
            </a:pPr>
            <a:r>
              <a:rPr sz="1900" b="1">
                <a:solidFill>
                  <a:srgbClr val="0E9A87"/>
                </a:solidFill>
                <a:latin typeface="Calibri"/>
              </a:rPr>
              <a:t>Hotfloor</a:t>
            </a:r>
          </a:p>
        </p:txBody>
      </p:sp>
      <p:sp>
        <p:nvSpPr>
          <p:cNvPr id="24" name="TextBox 23"/>
          <p:cNvSpPr txBox="1"/>
          <p:nvPr/>
        </p:nvSpPr>
        <p:spPr>
          <a:xfrm>
            <a:off x="6580479" y="3822192"/>
            <a:ext cx="4715103" cy="256032"/>
          </a:xfrm>
          <a:prstGeom prst="rect">
            <a:avLst/>
          </a:prstGeom>
          <a:noFill/>
        </p:spPr>
        <p:txBody>
          <a:bodyPr wrap="square" lIns="0" rIns="0" tIns="0" bIns="0" anchor="t">
            <a:spAutoFit/>
          </a:bodyPr>
          <a:lstStyle/>
          <a:p>
            <a:pPr algn="l">
              <a:lnSpc>
                <a:spcPct val="120000"/>
              </a:lnSpc>
              <a:spcAft>
                <a:spcPts val="0"/>
              </a:spcAft>
            </a:pPr>
            <a:r>
              <a:rPr sz="1150" b="0">
                <a:solidFill>
                  <a:srgbClr val="0D1B2A"/>
                </a:solidFill>
                <a:latin typeface="Calibri"/>
              </a:rPr>
              <a:t>ICU · CCU / SCU · EHH</a:t>
            </a:r>
          </a:p>
        </p:txBody>
      </p:sp>
      <p:cxnSp>
        <p:nvCxnSpPr>
          <p:cNvPr id="25" name="Connector 24"/>
          <p:cNvCxnSpPr/>
          <p:nvPr/>
        </p:nvCxnSpPr>
        <p:spPr>
          <a:xfrm>
            <a:off x="6580479" y="4169664"/>
            <a:ext cx="4715104" cy="0"/>
          </a:xfrm>
          <a:prstGeom prst="line">
            <a:avLst/>
          </a:prstGeom>
          <a:ln w="12700">
            <a:solidFill>
              <a:srgbClr val="8BCDC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580479" y="4315968"/>
            <a:ext cx="4715103" cy="548640"/>
          </a:xfrm>
          <a:prstGeom prst="rect">
            <a:avLst/>
          </a:prstGeom>
          <a:noFill/>
        </p:spPr>
        <p:txBody>
          <a:bodyPr wrap="square" lIns="0" rIns="0" tIns="0" bIns="0" anchor="t">
            <a:spAutoFit/>
          </a:bodyPr>
          <a:lstStyle/>
          <a:p>
            <a:pPr algn="l">
              <a:lnSpc>
                <a:spcPct val="125000"/>
              </a:lnSpc>
              <a:spcAft>
                <a:spcPts val="0"/>
              </a:spcAft>
            </a:pPr>
            <a:r>
              <a:rPr sz="1150" b="0">
                <a:solidFill>
                  <a:srgbClr val="55677C"/>
                </a:solidFill>
                <a:latin typeface="Calibri"/>
              </a:rPr>
              <a:t>De EHH komt bij de zestien bedden, en het personeel komt van ICU of CCU.</a:t>
            </a:r>
          </a:p>
        </p:txBody>
      </p:sp>
      <p:sp>
        <p:nvSpPr>
          <p:cNvPr id="27" name="Rounded Rectangle 26"/>
          <p:cNvSpPr/>
          <p:nvPr/>
        </p:nvSpPr>
        <p:spPr>
          <a:xfrm>
            <a:off x="640080" y="5358383"/>
            <a:ext cx="10911535" cy="786384"/>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40080" y="5358383"/>
            <a:ext cx="50292" cy="786384"/>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69264" y="5440679"/>
            <a:ext cx="9997135" cy="621792"/>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EN DAARNA?</a:t>
            </a:r>
          </a:p>
          <a:p>
            <a:pPr algn="l">
              <a:lnSpc>
                <a:spcPct val="120000"/>
              </a:lnSpc>
              <a:spcAft>
                <a:spcPts val="0"/>
              </a:spcAft>
            </a:pPr>
            <a:r>
              <a:rPr sz="1250" b="1">
                <a:solidFill>
                  <a:srgbClr val="0D1B2A"/>
                </a:solidFill>
                <a:latin typeface="Calibri"/>
              </a:rPr>
              <a:t>De analyses zijn gedaan en de knelpunten zijn gedeeld. Wat wordt daarmee gedaan, en welke acties volgen eruit? Of concluderen we dat het past en gaan we ermee aan de slag?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309360" y="457200"/>
            <a:ext cx="5486400" cy="3108960"/>
          </a:xfrm>
          <a:prstGeom prst="rect">
            <a:avLst/>
          </a:prstGeom>
          <a:noFill/>
        </p:spPr>
        <p:txBody>
          <a:bodyPr wrap="square" lIns="0" rIns="0" tIns="0" bIns="0" anchor="t">
            <a:spAutoFit/>
          </a:bodyPr>
          <a:lstStyle/>
          <a:p>
            <a:pPr algn="r">
              <a:lnSpc>
                <a:spcPct val="100000"/>
              </a:lnSpc>
              <a:spcAft>
                <a:spcPts val="0"/>
              </a:spcAft>
            </a:pPr>
            <a:r>
              <a:rPr sz="21000" b="1">
                <a:solidFill>
                  <a:srgbClr val="C87E12">
                    <a:alpha val="9000"/>
                  </a:srgbClr>
                </a:solidFill>
                <a:latin typeface="Calibri"/>
              </a:rPr>
              <a:t>04</a:t>
            </a:r>
          </a:p>
        </p:txBody>
      </p:sp>
      <p:sp>
        <p:nvSpPr>
          <p:cNvPr id="4" name="TextBox 3"/>
          <p:cNvSpPr txBox="1"/>
          <p:nvPr/>
        </p:nvSpPr>
        <p:spPr>
          <a:xfrm>
            <a:off x="640080" y="2286000"/>
            <a:ext cx="54864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C87E12"/>
                </a:solidFill>
                <a:latin typeface="Calibri"/>
              </a:rPr>
              <a:t>DEEL 04</a:t>
            </a:r>
          </a:p>
        </p:txBody>
      </p:sp>
      <p:sp>
        <p:nvSpPr>
          <p:cNvPr id="5" name="TextBox 4"/>
          <p:cNvSpPr txBox="1"/>
          <p:nvPr/>
        </p:nvSpPr>
        <p:spPr>
          <a:xfrm>
            <a:off x="640080" y="2523744"/>
            <a:ext cx="6949440" cy="1316736"/>
          </a:xfrm>
          <a:prstGeom prst="rect">
            <a:avLst/>
          </a:prstGeom>
          <a:noFill/>
        </p:spPr>
        <p:txBody>
          <a:bodyPr wrap="square" lIns="0" rIns="0" tIns="0" bIns="0" anchor="t">
            <a:spAutoFit/>
          </a:bodyPr>
          <a:lstStyle/>
          <a:p>
            <a:pPr algn="l">
              <a:lnSpc>
                <a:spcPct val="105000"/>
              </a:lnSpc>
              <a:spcAft>
                <a:spcPts val="0"/>
              </a:spcAft>
            </a:pPr>
            <a:r>
              <a:rPr sz="4600" b="1">
                <a:solidFill>
                  <a:srgbClr val="0D1B2A"/>
                </a:solidFill>
                <a:latin typeface="Calibri"/>
              </a:rPr>
              <a:t>Wat moet er besloten worden</a:t>
            </a:r>
          </a:p>
        </p:txBody>
      </p:sp>
      <p:cxnSp>
        <p:nvCxnSpPr>
          <p:cNvPr id="6" name="Connector 5"/>
          <p:cNvCxnSpPr/>
          <p:nvPr/>
        </p:nvCxnSpPr>
        <p:spPr>
          <a:xfrm>
            <a:off x="640080" y="3584448"/>
            <a:ext cx="2377440" cy="0"/>
          </a:xfrm>
          <a:prstGeom prst="line">
            <a:avLst/>
          </a:prstGeom>
          <a:ln w="25400">
            <a:solidFill>
              <a:srgbClr val="C87E12"/>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649224" y="3895344"/>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32688" y="3840480"/>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Wat we per situatie weten</a:t>
            </a:r>
          </a:p>
        </p:txBody>
      </p:sp>
      <p:sp>
        <p:nvSpPr>
          <p:cNvPr id="9" name="Oval 8"/>
          <p:cNvSpPr/>
          <p:nvPr/>
        </p:nvSpPr>
        <p:spPr>
          <a:xfrm>
            <a:off x="649224" y="4279392"/>
            <a:ext cx="109728" cy="109728"/>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4224528"/>
            <a:ext cx="7680960" cy="274320"/>
          </a:xfrm>
          <a:prstGeom prst="rect">
            <a:avLst/>
          </a:prstGeom>
          <a:noFill/>
        </p:spPr>
        <p:txBody>
          <a:bodyPr wrap="square" lIns="0" rIns="0" tIns="0" bIns="0" anchor="t">
            <a:spAutoFit/>
          </a:bodyPr>
          <a:lstStyle/>
          <a:p>
            <a:pPr algn="l">
              <a:lnSpc>
                <a:spcPct val="120000"/>
              </a:lnSpc>
              <a:spcAft>
                <a:spcPts val="0"/>
              </a:spcAft>
            </a:pPr>
            <a:r>
              <a:rPr sz="1350" b="0">
                <a:solidFill>
                  <a:srgbClr val="55677C"/>
                </a:solidFill>
                <a:latin typeface="Calibri"/>
              </a:rPr>
              <a:t>Zesendertig vragen en zes besluiten</a:t>
            </a:r>
          </a:p>
        </p:txBody>
      </p:sp>
      <p:sp>
        <p:nvSpPr>
          <p:cNvPr id="11" name="Freeform 10"/>
          <p:cNvSpPr/>
          <p:nvPr/>
        </p:nvSpPr>
        <p:spPr>
          <a:xfrm>
            <a:off x="0" y="5998464"/>
            <a:ext cx="12191695" cy="510235"/>
          </a:xfrm>
          <a:custGeom>
            <a:avLst/>
            <a:gdLst/>
            <a:ahLst/>
            <a:cxnLst/>
            <a:rect l="l" t="t" r="r" b="b"/>
            <a:pathLst>
              <a:path w="12191695" h="510235">
                <a:moveTo>
                  <a:pt x="0" y="329184"/>
                </a:moveTo>
                <a:lnTo>
                  <a:pt x="914377" y="329184"/>
                </a:lnTo>
                <a:lnTo>
                  <a:pt x="1097252" y="276514"/>
                </a:lnTo>
                <a:lnTo>
                  <a:pt x="1280127" y="362102"/>
                </a:lnTo>
                <a:lnTo>
                  <a:pt x="1523961" y="0"/>
                </a:lnTo>
                <a:lnTo>
                  <a:pt x="1767795" y="510235"/>
                </a:lnTo>
                <a:lnTo>
                  <a:pt x="2011629" y="329184"/>
                </a:lnTo>
                <a:lnTo>
                  <a:pt x="3047923" y="329184"/>
                </a:lnTo>
                <a:lnTo>
                  <a:pt x="3047923" y="329184"/>
                </a:lnTo>
                <a:lnTo>
                  <a:pt x="3962300" y="329184"/>
                </a:lnTo>
                <a:lnTo>
                  <a:pt x="4145176" y="276514"/>
                </a:lnTo>
                <a:lnTo>
                  <a:pt x="4328051" y="362102"/>
                </a:lnTo>
                <a:lnTo>
                  <a:pt x="4571885" y="0"/>
                </a:lnTo>
                <a:lnTo>
                  <a:pt x="4815719" y="510235"/>
                </a:lnTo>
                <a:lnTo>
                  <a:pt x="5059553" y="329184"/>
                </a:lnTo>
                <a:lnTo>
                  <a:pt x="6095847" y="329184"/>
                </a:lnTo>
                <a:lnTo>
                  <a:pt x="6095847" y="329184"/>
                </a:lnTo>
                <a:lnTo>
                  <a:pt x="7010224" y="329184"/>
                </a:lnTo>
                <a:lnTo>
                  <a:pt x="7193100" y="276514"/>
                </a:lnTo>
                <a:lnTo>
                  <a:pt x="7375975" y="362102"/>
                </a:lnTo>
                <a:lnTo>
                  <a:pt x="7619809" y="0"/>
                </a:lnTo>
                <a:lnTo>
                  <a:pt x="7863643" y="510235"/>
                </a:lnTo>
                <a:lnTo>
                  <a:pt x="8107477" y="329184"/>
                </a:lnTo>
                <a:lnTo>
                  <a:pt x="9143771" y="329184"/>
                </a:lnTo>
                <a:lnTo>
                  <a:pt x="9143771" y="329184"/>
                </a:lnTo>
                <a:lnTo>
                  <a:pt x="10058148" y="329184"/>
                </a:lnTo>
                <a:lnTo>
                  <a:pt x="10241023" y="276514"/>
                </a:lnTo>
                <a:lnTo>
                  <a:pt x="10423899" y="362102"/>
                </a:lnTo>
                <a:lnTo>
                  <a:pt x="10667733" y="0"/>
                </a:lnTo>
                <a:lnTo>
                  <a:pt x="10911567" y="510235"/>
                </a:lnTo>
                <a:lnTo>
                  <a:pt x="11155401" y="329184"/>
                </a:lnTo>
                <a:lnTo>
                  <a:pt x="12191695" y="329184"/>
                </a:lnTo>
              </a:path>
            </a:pathLst>
          </a:custGeom>
          <a:noFill/>
          <a:ln w="15875">
            <a:solidFill>
              <a:srgbClr val="C87E12">
                <a:alpha val="36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14" name="TextBox 13"/>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Wat weten we per situatie</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Fysieke planning naast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17</a:t>
            </a:r>
          </a:p>
        </p:txBody>
      </p:sp>
      <p:graphicFrame>
        <p:nvGraphicFramePr>
          <p:cNvPr id="10" name="Table 9"/>
          <p:cNvGraphicFramePr>
            <a:graphicFrameLocks noGrp="1"/>
          </p:cNvGraphicFramePr>
          <p:nvPr/>
        </p:nvGraphicFramePr>
        <p:xfrm>
          <a:off x="640080" y="1700784"/>
          <a:ext cx="10911535" cy="2852928"/>
        </p:xfrm>
        <a:graphic>
          <a:graphicData uri="http://schemas.openxmlformats.org/drawingml/2006/table">
            <a:tbl>
              <a:tblPr>
                <a:tableStyleId>{5C22544A-7EE6-4342-B048-85BDC9FD1C3A}</a:tableStyleId>
              </a:tblPr>
              <a:tblGrid>
                <a:gridCol w="2286000"/>
                <a:gridCol w="4343400"/>
                <a:gridCol w="4282135"/>
              </a:tblGrid>
              <a:tr h="347472">
                <a:tc>
                  <a:txBody>
                    <a:bodyPr wrap="square"/>
                    <a:lstStyle/>
                    <a:p>
                      <a:pPr algn="l">
                        <a:spcAft>
                          <a:spcPts val="200"/>
                        </a:spcAft>
                      </a:pPr>
                      <a:r>
                        <a:rPr sz="950" b="1">
                          <a:solidFill>
                            <a:srgbClr val="0E9A87"/>
                          </a:solidFill>
                          <a:latin typeface="Calibri"/>
                        </a:rPr>
                        <a:t>SITUATIE</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FYSIEKE PLANNING</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PERSONELE INZET · OPLEIDEN</a:t>
                      </a:r>
                    </a:p>
                  </a:txBody>
                  <a:tcPr marL="91440" marR="91440" marT="36576" marB="36576" anchor="ctr">
                    <a:solidFill>
                      <a:srgbClr val="FFFFFF"/>
                    </a:solidFill>
                    <a:lnL w="0">
                      <a:noFill/>
                    </a:lnL>
                    <a:lnR w="0">
                      <a:noFill/>
                    </a:lnR>
                    <a:lnT w="0">
                      <a:noFill/>
                    </a:lnT>
                    <a:lnB w="6350" cap="flat">
                      <a:solidFill>
                        <a:srgbClr val="E2E9F1"/>
                      </a:solidFill>
                    </a:lnB>
                  </a:tcPr>
                </a:tc>
              </a:tr>
              <a:tr h="566928">
                <a:tc>
                  <a:txBody>
                    <a:bodyPr wrap="square"/>
                    <a:lstStyle/>
                    <a:p>
                      <a:pPr algn="l">
                        <a:spcAft>
                          <a:spcPts val="200"/>
                        </a:spcAft>
                      </a:pPr>
                      <a:r>
                        <a:rPr sz="1150" b="1">
                          <a:solidFill>
                            <a:srgbClr val="0D1B2A"/>
                          </a:solidFill>
                          <a:latin typeface="Calibri"/>
                        </a:rPr>
                        <a:t>Oudbouw</a:t>
                      </a:r>
                    </a:p>
                    <a:p>
                      <a:pPr algn="l">
                        <a:spcAft>
                          <a:spcPts val="200"/>
                        </a:spcAft>
                      </a:pPr>
                      <a:r>
                        <a:rPr sz="1150" b="1">
                          <a:solidFill>
                            <a:srgbClr val="0D1B2A"/>
                          </a:solidFill>
                          <a:latin typeface="Calibri"/>
                        </a:rPr>
                        <a:t>okt 2026 - mei 2027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55677C"/>
                          </a:solidFill>
                          <a:latin typeface="Calibri"/>
                        </a:rPr>
                        <a:t>Zie de vijf scenario's (dia 12)</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FFFFF"/>
                    </a:solidFill>
                    <a:lnL w="0">
                      <a:noFill/>
                    </a:lnL>
                    <a:lnR w="0">
                      <a:noFill/>
                    </a:lnR>
                    <a:lnT w="0">
                      <a:noFill/>
                    </a:lnT>
                    <a:lnB w="6350" cap="flat">
                      <a:solidFill>
                        <a:srgbClr val="E2E9F1"/>
                      </a:solidFill>
                    </a:lnB>
                  </a:tcPr>
                </a:tc>
              </a:tr>
              <a:tr h="566928">
                <a:tc>
                  <a:txBody>
                    <a:bodyPr wrap="square"/>
                    <a:lstStyle/>
                    <a:p>
                      <a:pPr algn="l">
                        <a:spcAft>
                          <a:spcPts val="200"/>
                        </a:spcAft>
                      </a:pPr>
                      <a:r>
                        <a:rPr sz="1150" b="1">
                          <a:solidFill>
                            <a:srgbClr val="0D1B2A"/>
                          </a:solidFill>
                          <a:latin typeface="Calibri"/>
                        </a:rPr>
                        <a:t>Verhuisperiode</a:t>
                      </a:r>
                    </a:p>
                    <a:p>
                      <a:pPr algn="l">
                        <a:spcAft>
                          <a:spcPts val="200"/>
                        </a:spcAft>
                      </a:pPr>
                      <a:r>
                        <a:rPr sz="1150" b="1">
                          <a:solidFill>
                            <a:srgbClr val="0D1B2A"/>
                          </a:solidFill>
                          <a:latin typeface="Calibri"/>
                        </a:rPr>
                        <a:t>juni 2027</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8B9AAA"/>
                          </a:solidFill>
                          <a:latin typeface="Calibri"/>
                        </a:rPr>
                        <a:t>nog niet ingevuld</a:t>
                      </a:r>
                    </a:p>
                  </a:txBody>
                  <a:tcPr marL="91440" marR="91440" marT="36576" marB="36576" anchor="ctr">
                    <a:solidFill>
                      <a:srgbClr val="F6F9FD"/>
                    </a:solidFill>
                    <a:lnL w="0">
                      <a:noFill/>
                    </a:lnL>
                    <a:lnR w="0">
                      <a:noFill/>
                    </a:lnR>
                    <a:lnT w="0">
                      <a:noFill/>
                    </a:lnT>
                    <a:lnB w="6350" cap="flat">
                      <a:solidFill>
                        <a:srgbClr val="E2E9F1"/>
                      </a:solidFill>
                    </a:lnB>
                  </a:tcPr>
                </a:tc>
              </a:tr>
              <a:tr h="1371600">
                <a:tc>
                  <a:txBody>
                    <a:bodyPr wrap="square"/>
                    <a:lstStyle/>
                    <a:p>
                      <a:pPr algn="l">
                        <a:spcAft>
                          <a:spcPts val="200"/>
                        </a:spcAft>
                      </a:pPr>
                      <a:r>
                        <a:rPr sz="1150" b="1">
                          <a:solidFill>
                            <a:srgbClr val="0D1B2A"/>
                          </a:solidFill>
                          <a:latin typeface="Calibri"/>
                        </a:rPr>
                        <a:t>Nieuwbouw</a:t>
                      </a:r>
                    </a:p>
                    <a:p>
                      <a:pPr algn="l">
                        <a:spcAft>
                          <a:spcPts val="200"/>
                        </a:spcAft>
                      </a:pPr>
                      <a:r>
                        <a:rPr sz="1150" b="1">
                          <a:solidFill>
                            <a:srgbClr val="0D1B2A"/>
                          </a:solidFill>
                          <a:latin typeface="Calibri"/>
                        </a:rPr>
                        <a:t>vanaf juni 2027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050" b="0">
                          <a:solidFill>
                            <a:srgbClr val="55677C"/>
                          </a:solidFill>
                          <a:latin typeface="Calibri"/>
                        </a:rPr>
                        <a:t>1   Waar komt de recoverypatiënt in avond, nacht en weekend?</a:t>
                      </a:r>
                    </a:p>
                    <a:p>
                      <a:pPr algn="l">
                        <a:spcAft>
                          <a:spcPts val="200"/>
                        </a:spcAft>
                      </a:pPr>
                      <a:r>
                        <a:rPr sz="1050" b="0">
                          <a:solidFill>
                            <a:srgbClr val="55677C"/>
                          </a:solidFill>
                          <a:latin typeface="Calibri"/>
                        </a:rPr>
                        <a:t>2   Waar komt de cardioversie?</a:t>
                      </a:r>
                    </a:p>
                    <a:p>
                      <a:pPr algn="l">
                        <a:spcAft>
                          <a:spcPts val="200"/>
                        </a:spcAft>
                      </a:pPr>
                      <a:r>
                        <a:rPr sz="1050" b="0">
                          <a:solidFill>
                            <a:srgbClr val="55677C"/>
                          </a:solidFill>
                          <a:latin typeface="Calibri"/>
                        </a:rPr>
                        <a:t>3   Hoort de EHH bij de SEH of bij de Hotfloor?</a:t>
                      </a:r>
                    </a:p>
                    <a:p>
                      <a:pPr algn="l">
                        <a:spcAft>
                          <a:spcPts val="200"/>
                        </a:spcAft>
                      </a:pPr>
                      <a:r>
                        <a:rPr sz="1050" b="0">
                          <a:solidFill>
                            <a:srgbClr val="55677C"/>
                          </a:solidFill>
                          <a:latin typeface="Calibri"/>
                        </a:rPr>
                        <a:t>4   Komt de OSAS post-OK patiënt nog op de ICU?</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150" b="0">
                          <a:solidFill>
                            <a:srgbClr val="55677C"/>
                          </a:solidFill>
                          <a:latin typeface="Calibri"/>
                        </a:rPr>
                        <a:t>1   Wat gebeurt er met de scopedienst van de CCU?</a:t>
                      </a:r>
                    </a:p>
                    <a:p>
                      <a:pPr algn="l">
                        <a:spcAft>
                          <a:spcPts val="200"/>
                        </a:spcAft>
                      </a:pPr>
                      <a:r>
                        <a:rPr sz="1150" b="0">
                          <a:solidFill>
                            <a:srgbClr val="55677C"/>
                          </a:solidFill>
                          <a:latin typeface="Calibri"/>
                        </a:rPr>
                        <a:t>2   Welke norm geldt voor de Hotfloor?</a:t>
                      </a:r>
                    </a:p>
                    <a:p>
                      <a:pPr algn="l">
                        <a:spcAft>
                          <a:spcPts val="200"/>
                        </a:spcAft>
                      </a:pPr>
                      <a:r>
                        <a:rPr sz="1150" b="0">
                          <a:solidFill>
                            <a:srgbClr val="55677C"/>
                          </a:solidFill>
                          <a:latin typeface="Calibri"/>
                        </a:rPr>
                        <a:t>3   Inzet kinderverpleegkundige op de SEH?</a:t>
                      </a:r>
                    </a:p>
                    <a:p>
                      <a:pPr algn="l">
                        <a:spcAft>
                          <a:spcPts val="200"/>
                        </a:spcAft>
                      </a:pPr>
                      <a:r>
                        <a:rPr sz="1150" b="0">
                          <a:solidFill>
                            <a:srgbClr val="55677C"/>
                          </a:solidFill>
                          <a:latin typeface="Calibri"/>
                        </a:rPr>
                        <a:t>4   En verder</a:t>
                      </a:r>
                    </a:p>
                  </a:txBody>
                  <a:tcPr marL="91440" marR="91440" marT="36576" marB="36576" anchor="ctr">
                    <a:solidFill>
                      <a:srgbClr val="FFFFFF"/>
                    </a:solidFill>
                    <a:lnL w="0">
                      <a:noFill/>
                    </a:lnL>
                    <a:lnR w="0">
                      <a:noFill/>
                    </a:lnR>
                    <a:lnT w="0">
                      <a:noFill/>
                    </a:lnT>
                    <a:lnB w="6350" cap="flat">
                      <a:solidFill>
                        <a:srgbClr val="E2E9F1"/>
                      </a:solidFill>
                    </a:lnB>
                  </a:tcPr>
                </a:tc>
              </a:tr>
            </a:tbl>
          </a:graphicData>
        </a:graphic>
      </p:graphicFrame>
      <p:sp>
        <p:nvSpPr>
          <p:cNvPr id="11" name="Rounded Rectangle 10"/>
          <p:cNvSpPr/>
          <p:nvPr/>
        </p:nvSpPr>
        <p:spPr>
          <a:xfrm>
            <a:off x="640080" y="5394959"/>
            <a:ext cx="10911535" cy="822960"/>
          </a:xfrm>
          <a:prstGeom prst="roundRect">
            <a:avLst>
              <a:gd name="adj" fmla="val 3000"/>
            </a:avLst>
          </a:prstGeom>
          <a:solidFill>
            <a:srgbClr val="EDEAE5"/>
          </a:solidFill>
          <a:ln w="15875">
            <a:solidFill>
              <a:srgbClr val="E1C8A3"/>
            </a:solidFill>
          </a:ln>
          <a:effectLst>
            <a:outerShdw blurRad="60000" dist="18000" dir="5400000" rotWithShape="0">
              <a:srgbClr val="1B3A5C">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640080" y="5394959"/>
            <a:ext cx="50292" cy="822960"/>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69264" y="5477255"/>
            <a:ext cx="9997135" cy="658368"/>
          </a:xfrm>
          <a:prstGeom prst="rect">
            <a:avLst/>
          </a:prstGeom>
          <a:noFill/>
        </p:spPr>
        <p:txBody>
          <a:bodyPr wrap="square" lIns="0" rIns="0" tIns="0" bIns="0" anchor="ctr">
            <a:spAutoFit/>
          </a:bodyPr>
          <a:lstStyle/>
          <a:p>
            <a:pPr algn="l">
              <a:lnSpc>
                <a:spcPct val="120000"/>
              </a:lnSpc>
              <a:spcAft>
                <a:spcPts val="300"/>
              </a:spcAft>
            </a:pPr>
            <a:r>
              <a:rPr sz="950" b="1" spc="180">
                <a:solidFill>
                  <a:srgbClr val="C87E12"/>
                </a:solidFill>
                <a:latin typeface="Calibri"/>
              </a:rPr>
              <a:t>OPENSTAANDE VRAAG</a:t>
            </a:r>
          </a:p>
          <a:p>
            <a:pPr algn="l">
              <a:lnSpc>
                <a:spcPct val="120000"/>
              </a:lnSpc>
              <a:spcAft>
                <a:spcPts val="0"/>
              </a:spcAft>
            </a:pPr>
            <a:r>
              <a:rPr sz="1250" b="1">
                <a:solidFill>
                  <a:srgbClr val="0D1B2A"/>
                </a:solidFill>
                <a:latin typeface="Calibri"/>
              </a:rPr>
              <a:t>Voor de verhuisperiode is nog niets ingevuld: welke extra diensten zijn er nodig, en op welke locatie?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87E12"/>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Zesendertig punten, drie blokken</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De vragen en knelpunten van Lonneke en Maxim, gegroepeerd</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18</a:t>
            </a:r>
          </a:p>
        </p:txBody>
      </p:sp>
      <p:sp>
        <p:nvSpPr>
          <p:cNvPr id="10" name="Rounded Rectangle 9"/>
          <p:cNvSpPr/>
          <p:nvPr/>
        </p:nvSpPr>
        <p:spPr>
          <a:xfrm>
            <a:off x="640080"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00784"/>
            <a:ext cx="3417722" cy="50292"/>
          </a:xfrm>
          <a:prstGeom prst="roundRect">
            <a:avLst>
              <a:gd name="adj" fmla="val 50000"/>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1975104"/>
            <a:ext cx="1097280" cy="237744"/>
          </a:xfrm>
          <a:prstGeom prst="rect">
            <a:avLst/>
          </a:prstGeom>
          <a:noFill/>
        </p:spPr>
        <p:txBody>
          <a:bodyPr wrap="square" lIns="0" rIns="0" tIns="0" bIns="0" anchor="t">
            <a:spAutoFit/>
          </a:bodyPr>
          <a:lstStyle/>
          <a:p>
            <a:pPr algn="l">
              <a:lnSpc>
                <a:spcPct val="120000"/>
              </a:lnSpc>
              <a:spcAft>
                <a:spcPts val="0"/>
              </a:spcAft>
            </a:pPr>
            <a:r>
              <a:rPr sz="900" b="1" spc="140">
                <a:solidFill>
                  <a:srgbClr val="8B9AAA"/>
                </a:solidFill>
                <a:latin typeface="Calibri"/>
              </a:rPr>
              <a:t>BLOK 01</a:t>
            </a:r>
          </a:p>
        </p:txBody>
      </p:sp>
      <p:sp>
        <p:nvSpPr>
          <p:cNvPr id="13" name="TextBox 12"/>
          <p:cNvSpPr txBox="1"/>
          <p:nvPr/>
        </p:nvSpPr>
        <p:spPr>
          <a:xfrm>
            <a:off x="2594762" y="1920240"/>
            <a:ext cx="1170432" cy="237744"/>
          </a:xfrm>
          <a:prstGeom prst="rect">
            <a:avLst/>
          </a:prstGeom>
          <a:noFill/>
        </p:spPr>
        <p:txBody>
          <a:bodyPr wrap="square" lIns="0" rIns="0" tIns="0" bIns="0" anchor="t">
            <a:spAutoFit/>
          </a:bodyPr>
          <a:lstStyle/>
          <a:p>
            <a:pPr algn="r">
              <a:lnSpc>
                <a:spcPct val="120000"/>
              </a:lnSpc>
              <a:spcAft>
                <a:spcPts val="0"/>
              </a:spcAft>
            </a:pPr>
            <a:r>
              <a:rPr sz="950" b="1">
                <a:solidFill>
                  <a:srgbClr val="1F6FB2"/>
                </a:solidFill>
                <a:latin typeface="Calibri"/>
              </a:rPr>
              <a:t>dia 19</a:t>
            </a:r>
          </a:p>
        </p:txBody>
      </p:sp>
      <p:sp>
        <p:nvSpPr>
          <p:cNvPr id="14" name="TextBox 13"/>
          <p:cNvSpPr txBox="1"/>
          <p:nvPr/>
        </p:nvSpPr>
        <p:spPr>
          <a:xfrm>
            <a:off x="932688" y="2267712"/>
            <a:ext cx="2832506" cy="786384"/>
          </a:xfrm>
          <a:prstGeom prst="rect">
            <a:avLst/>
          </a:prstGeom>
          <a:noFill/>
        </p:spPr>
        <p:txBody>
          <a:bodyPr wrap="square" lIns="0" rIns="0" tIns="0" bIns="0" anchor="t">
            <a:spAutoFit/>
          </a:bodyPr>
          <a:lstStyle/>
          <a:p>
            <a:pPr algn="l">
              <a:lnSpc>
                <a:spcPct val="120000"/>
              </a:lnSpc>
              <a:spcAft>
                <a:spcPts val="0"/>
              </a:spcAft>
            </a:pPr>
            <a:r>
              <a:rPr sz="4600" b="1">
                <a:solidFill>
                  <a:srgbClr val="1F6FB2"/>
                </a:solidFill>
                <a:latin typeface="Calibri"/>
              </a:rPr>
              <a:t>8</a:t>
            </a:r>
          </a:p>
        </p:txBody>
      </p:sp>
      <p:sp>
        <p:nvSpPr>
          <p:cNvPr id="15" name="TextBox 14"/>
          <p:cNvSpPr txBox="1"/>
          <p:nvPr/>
        </p:nvSpPr>
        <p:spPr>
          <a:xfrm>
            <a:off x="932688" y="3035808"/>
            <a:ext cx="2832506" cy="603504"/>
          </a:xfrm>
          <a:prstGeom prst="rect">
            <a:avLst/>
          </a:prstGeom>
          <a:noFill/>
        </p:spPr>
        <p:txBody>
          <a:bodyPr wrap="square" lIns="0" rIns="0" tIns="0" bIns="0" anchor="t">
            <a:spAutoFit/>
          </a:bodyPr>
          <a:lstStyle/>
          <a:p>
            <a:pPr algn="l">
              <a:lnSpc>
                <a:spcPct val="116000"/>
              </a:lnSpc>
              <a:spcAft>
                <a:spcPts val="0"/>
              </a:spcAft>
            </a:pPr>
            <a:r>
              <a:rPr sz="1600" b="1">
                <a:solidFill>
                  <a:srgbClr val="0D1B2A"/>
                </a:solidFill>
                <a:latin typeface="Calibri"/>
              </a:rPr>
              <a:t>Oudbouw, transitie</a:t>
            </a:r>
          </a:p>
          <a:p>
            <a:pPr algn="l">
              <a:lnSpc>
                <a:spcPct val="116000"/>
              </a:lnSpc>
              <a:spcAft>
                <a:spcPts val="0"/>
              </a:spcAft>
            </a:pPr>
            <a:r>
              <a:rPr sz="1600" b="1">
                <a:solidFill>
                  <a:srgbClr val="0D1B2A"/>
                </a:solidFill>
                <a:latin typeface="Calibri"/>
              </a:rPr>
              <a:t>en verhuisperiode</a:t>
            </a:r>
          </a:p>
        </p:txBody>
      </p:sp>
      <p:cxnSp>
        <p:nvCxnSpPr>
          <p:cNvPr id="16" name="Connector 15"/>
          <p:cNvCxnSpPr/>
          <p:nvPr/>
        </p:nvCxnSpPr>
        <p:spPr>
          <a:xfrm>
            <a:off x="932688"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955548" y="3977639"/>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52144" y="3931920"/>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lopende projecten</a:t>
            </a:r>
          </a:p>
        </p:txBody>
      </p:sp>
      <p:sp>
        <p:nvSpPr>
          <p:cNvPr id="19" name="Oval 18"/>
          <p:cNvSpPr/>
          <p:nvPr/>
        </p:nvSpPr>
        <p:spPr>
          <a:xfrm>
            <a:off x="955548" y="4170552"/>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52144" y="4124832"/>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inzet SEH tot de nieuwbouw</a:t>
            </a:r>
          </a:p>
        </p:txBody>
      </p:sp>
      <p:sp>
        <p:nvSpPr>
          <p:cNvPr id="21" name="Oval 20"/>
          <p:cNvSpPr/>
          <p:nvPr/>
        </p:nvSpPr>
        <p:spPr>
          <a:xfrm>
            <a:off x="955548" y="4363465"/>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52144" y="4317745"/>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weekendformatie 5-5-4</a:t>
            </a:r>
          </a:p>
        </p:txBody>
      </p:sp>
      <p:sp>
        <p:nvSpPr>
          <p:cNvPr id="23" name="Oval 22"/>
          <p:cNvSpPr/>
          <p:nvPr/>
        </p:nvSpPr>
        <p:spPr>
          <a:xfrm>
            <a:off x="955548" y="4556378"/>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52144" y="4510658"/>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norm ICU met recovery</a:t>
            </a:r>
          </a:p>
        </p:txBody>
      </p:sp>
      <p:sp>
        <p:nvSpPr>
          <p:cNvPr id="25" name="Oval 24"/>
          <p:cNvSpPr/>
          <p:nvPr/>
        </p:nvSpPr>
        <p:spPr>
          <a:xfrm>
            <a:off x="955548" y="4749291"/>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52144" y="4703571"/>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AO-dienst</a:t>
            </a:r>
          </a:p>
        </p:txBody>
      </p:sp>
      <p:sp>
        <p:nvSpPr>
          <p:cNvPr id="27" name="Oval 26"/>
          <p:cNvSpPr/>
          <p:nvPr/>
        </p:nvSpPr>
        <p:spPr>
          <a:xfrm>
            <a:off x="955548" y="4942204"/>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52144" y="4896484"/>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regieverpleegkundige</a:t>
            </a:r>
          </a:p>
        </p:txBody>
      </p:sp>
      <p:sp>
        <p:nvSpPr>
          <p:cNvPr id="29" name="Oval 28"/>
          <p:cNvSpPr/>
          <p:nvPr/>
        </p:nvSpPr>
        <p:spPr>
          <a:xfrm>
            <a:off x="955548" y="5135117"/>
            <a:ext cx="64008" cy="64008"/>
          </a:xfrm>
          <a:prstGeom prst="ellipse">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52144" y="5089397"/>
            <a:ext cx="2594762" cy="192913"/>
          </a:xfrm>
          <a:prstGeom prst="rect">
            <a:avLst/>
          </a:prstGeom>
          <a:noFill/>
        </p:spPr>
        <p:txBody>
          <a:bodyPr wrap="square" lIns="0" rIns="0" tIns="0" bIns="0" anchor="t">
            <a:spAutoFit/>
          </a:bodyPr>
          <a:lstStyle/>
          <a:p>
            <a:pPr algn="l">
              <a:lnSpc>
                <a:spcPct val="118000"/>
              </a:lnSpc>
              <a:spcAft>
                <a:spcPts val="0"/>
              </a:spcAft>
            </a:pPr>
            <a:r>
              <a:rPr sz="950" b="0">
                <a:solidFill>
                  <a:srgbClr val="55677C"/>
                </a:solidFill>
                <a:latin typeface="Calibri"/>
              </a:rPr>
              <a:t>extra diensten bij de verhuizing</a:t>
            </a:r>
          </a:p>
        </p:txBody>
      </p:sp>
      <p:sp>
        <p:nvSpPr>
          <p:cNvPr id="31" name="Rounded Rectangle 30"/>
          <p:cNvSpPr/>
          <p:nvPr/>
        </p:nvSpPr>
        <p:spPr>
          <a:xfrm>
            <a:off x="4386986"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386986" y="1700784"/>
            <a:ext cx="3417722" cy="50292"/>
          </a:xfrm>
          <a:prstGeom prst="roundRect">
            <a:avLst>
              <a:gd name="adj" fmla="val 50000"/>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679594" y="1975104"/>
            <a:ext cx="1097280" cy="237744"/>
          </a:xfrm>
          <a:prstGeom prst="rect">
            <a:avLst/>
          </a:prstGeom>
          <a:noFill/>
        </p:spPr>
        <p:txBody>
          <a:bodyPr wrap="square" lIns="0" rIns="0" tIns="0" bIns="0" anchor="t">
            <a:spAutoFit/>
          </a:bodyPr>
          <a:lstStyle/>
          <a:p>
            <a:pPr algn="l">
              <a:lnSpc>
                <a:spcPct val="120000"/>
              </a:lnSpc>
              <a:spcAft>
                <a:spcPts val="0"/>
              </a:spcAft>
            </a:pPr>
            <a:r>
              <a:rPr sz="900" b="1" spc="140">
                <a:solidFill>
                  <a:srgbClr val="8B9AAA"/>
                </a:solidFill>
                <a:latin typeface="Calibri"/>
              </a:rPr>
              <a:t>BLOK 02</a:t>
            </a:r>
          </a:p>
        </p:txBody>
      </p:sp>
      <p:sp>
        <p:nvSpPr>
          <p:cNvPr id="34" name="TextBox 33"/>
          <p:cNvSpPr txBox="1"/>
          <p:nvPr/>
        </p:nvSpPr>
        <p:spPr>
          <a:xfrm>
            <a:off x="6341668" y="1920240"/>
            <a:ext cx="1170432"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dia 20 en 21</a:t>
            </a:r>
          </a:p>
        </p:txBody>
      </p:sp>
      <p:sp>
        <p:nvSpPr>
          <p:cNvPr id="35" name="TextBox 34"/>
          <p:cNvSpPr txBox="1"/>
          <p:nvPr/>
        </p:nvSpPr>
        <p:spPr>
          <a:xfrm>
            <a:off x="4679594" y="2267712"/>
            <a:ext cx="2832506" cy="786384"/>
          </a:xfrm>
          <a:prstGeom prst="rect">
            <a:avLst/>
          </a:prstGeom>
          <a:noFill/>
        </p:spPr>
        <p:txBody>
          <a:bodyPr wrap="square" lIns="0" rIns="0" tIns="0" bIns="0" anchor="t">
            <a:spAutoFit/>
          </a:bodyPr>
          <a:lstStyle/>
          <a:p>
            <a:pPr algn="l">
              <a:lnSpc>
                <a:spcPct val="120000"/>
              </a:lnSpc>
              <a:spcAft>
                <a:spcPts val="0"/>
              </a:spcAft>
            </a:pPr>
            <a:r>
              <a:rPr sz="4600" b="1">
                <a:solidFill>
                  <a:srgbClr val="0E9A87"/>
                </a:solidFill>
                <a:latin typeface="Calibri"/>
              </a:rPr>
              <a:t>12</a:t>
            </a:r>
          </a:p>
        </p:txBody>
      </p:sp>
      <p:sp>
        <p:nvSpPr>
          <p:cNvPr id="36" name="TextBox 35"/>
          <p:cNvSpPr txBox="1"/>
          <p:nvPr/>
        </p:nvSpPr>
        <p:spPr>
          <a:xfrm>
            <a:off x="4679594" y="3035808"/>
            <a:ext cx="2832506" cy="603504"/>
          </a:xfrm>
          <a:prstGeom prst="rect">
            <a:avLst/>
          </a:prstGeom>
          <a:noFill/>
        </p:spPr>
        <p:txBody>
          <a:bodyPr wrap="square" lIns="0" rIns="0" tIns="0" bIns="0" anchor="t">
            <a:spAutoFit/>
          </a:bodyPr>
          <a:lstStyle/>
          <a:p>
            <a:pPr algn="l">
              <a:lnSpc>
                <a:spcPct val="116000"/>
              </a:lnSpc>
              <a:spcAft>
                <a:spcPts val="0"/>
              </a:spcAft>
            </a:pPr>
            <a:r>
              <a:rPr sz="1600" b="1">
                <a:solidFill>
                  <a:srgbClr val="0D1B2A"/>
                </a:solidFill>
                <a:latin typeface="Calibri"/>
              </a:rPr>
              <a:t>Nieuwbouw</a:t>
            </a:r>
          </a:p>
        </p:txBody>
      </p:sp>
      <p:cxnSp>
        <p:nvCxnSpPr>
          <p:cNvPr id="37" name="Connector 36"/>
          <p:cNvCxnSpPr/>
          <p:nvPr/>
        </p:nvCxnSpPr>
        <p:spPr>
          <a:xfrm>
            <a:off x="4679594" y="3712464"/>
            <a:ext cx="2832506"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4702454" y="3977639"/>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899050" y="393192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personeel EHH: SEH of ICU/CCU</a:t>
            </a:r>
          </a:p>
        </p:txBody>
      </p:sp>
      <p:sp>
        <p:nvSpPr>
          <p:cNvPr id="40" name="Oval 39"/>
          <p:cNvSpPr/>
          <p:nvPr/>
        </p:nvSpPr>
        <p:spPr>
          <a:xfrm>
            <a:off x="4702454" y="415137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99050" y="410565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afkapmoment acute cardio</a:t>
            </a:r>
          </a:p>
        </p:txBody>
      </p:sp>
      <p:sp>
        <p:nvSpPr>
          <p:cNvPr id="42" name="Oval 41"/>
          <p:cNvSpPr/>
          <p:nvPr/>
        </p:nvSpPr>
        <p:spPr>
          <a:xfrm>
            <a:off x="4702454" y="432511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899050" y="427939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uitspraak norm door Remco</a:t>
            </a:r>
          </a:p>
        </p:txBody>
      </p:sp>
      <p:sp>
        <p:nvSpPr>
          <p:cNvPr id="44" name="Oval 43"/>
          <p:cNvSpPr/>
          <p:nvPr/>
        </p:nvSpPr>
        <p:spPr>
          <a:xfrm>
            <a:off x="4702454" y="449884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99050" y="445312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scope CCU anders ingericht</a:t>
            </a:r>
          </a:p>
        </p:txBody>
      </p:sp>
      <p:sp>
        <p:nvSpPr>
          <p:cNvPr id="46" name="Oval 45"/>
          <p:cNvSpPr/>
          <p:nvPr/>
        </p:nvSpPr>
        <p:spPr>
          <a:xfrm>
            <a:off x="4702454" y="467258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899050" y="4626864"/>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normenkader ICU, 10% afwijking</a:t>
            </a:r>
          </a:p>
        </p:txBody>
      </p:sp>
      <p:sp>
        <p:nvSpPr>
          <p:cNvPr id="48" name="Oval 47"/>
          <p:cNvSpPr/>
          <p:nvPr/>
        </p:nvSpPr>
        <p:spPr>
          <a:xfrm>
            <a:off x="4702454" y="484632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899050" y="480060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personele inzet SEH</a:t>
            </a:r>
          </a:p>
        </p:txBody>
      </p:sp>
      <p:sp>
        <p:nvSpPr>
          <p:cNvPr id="50" name="Oval 49"/>
          <p:cNvSpPr/>
          <p:nvPr/>
        </p:nvSpPr>
        <p:spPr>
          <a:xfrm>
            <a:off x="4702454" y="5020056"/>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899050" y="497433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indirecte uren</a:t>
            </a:r>
          </a:p>
        </p:txBody>
      </p:sp>
      <p:sp>
        <p:nvSpPr>
          <p:cNvPr id="52" name="Oval 51"/>
          <p:cNvSpPr/>
          <p:nvPr/>
        </p:nvSpPr>
        <p:spPr>
          <a:xfrm>
            <a:off x="4702454" y="5193792"/>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899050" y="514807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regieverpleegkundige in de nieuwbouw</a:t>
            </a:r>
          </a:p>
        </p:txBody>
      </p:sp>
      <p:sp>
        <p:nvSpPr>
          <p:cNvPr id="54" name="Oval 53"/>
          <p:cNvSpPr/>
          <p:nvPr/>
        </p:nvSpPr>
        <p:spPr>
          <a:xfrm>
            <a:off x="4702454" y="5367528"/>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899050" y="532180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kinderverpleegkundige op de SEH</a:t>
            </a:r>
          </a:p>
        </p:txBody>
      </p:sp>
      <p:sp>
        <p:nvSpPr>
          <p:cNvPr id="56" name="Oval 55"/>
          <p:cNvSpPr/>
          <p:nvPr/>
        </p:nvSpPr>
        <p:spPr>
          <a:xfrm>
            <a:off x="4702454" y="5541264"/>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899050" y="5495544"/>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EPA's</a:t>
            </a:r>
          </a:p>
        </p:txBody>
      </p:sp>
      <p:sp>
        <p:nvSpPr>
          <p:cNvPr id="58" name="Oval 57"/>
          <p:cNvSpPr/>
          <p:nvPr/>
        </p:nvSpPr>
        <p:spPr>
          <a:xfrm>
            <a:off x="4702454" y="5715000"/>
            <a:ext cx="64008" cy="64008"/>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899050" y="566928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acute poule</a:t>
            </a:r>
          </a:p>
        </p:txBody>
      </p:sp>
      <p:sp>
        <p:nvSpPr>
          <p:cNvPr id="60" name="Rounded Rectangle 59"/>
          <p:cNvSpPr/>
          <p:nvPr/>
        </p:nvSpPr>
        <p:spPr>
          <a:xfrm>
            <a:off x="8133892" y="1700784"/>
            <a:ext cx="3417722" cy="4206240"/>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Rounded Rectangle 60"/>
          <p:cNvSpPr/>
          <p:nvPr/>
        </p:nvSpPr>
        <p:spPr>
          <a:xfrm>
            <a:off x="8133892" y="1700784"/>
            <a:ext cx="3417722" cy="50292"/>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8426500" y="1975104"/>
            <a:ext cx="1097280" cy="237744"/>
          </a:xfrm>
          <a:prstGeom prst="rect">
            <a:avLst/>
          </a:prstGeom>
          <a:noFill/>
        </p:spPr>
        <p:txBody>
          <a:bodyPr wrap="square" lIns="0" rIns="0" tIns="0" bIns="0" anchor="t">
            <a:spAutoFit/>
          </a:bodyPr>
          <a:lstStyle/>
          <a:p>
            <a:pPr algn="l">
              <a:lnSpc>
                <a:spcPct val="120000"/>
              </a:lnSpc>
              <a:spcAft>
                <a:spcPts val="0"/>
              </a:spcAft>
            </a:pPr>
            <a:r>
              <a:rPr sz="900" b="1" spc="140">
                <a:solidFill>
                  <a:srgbClr val="8B9AAA"/>
                </a:solidFill>
                <a:latin typeface="Calibri"/>
              </a:rPr>
              <a:t>BLOK 03</a:t>
            </a:r>
          </a:p>
        </p:txBody>
      </p:sp>
      <p:sp>
        <p:nvSpPr>
          <p:cNvPr id="63" name="TextBox 62"/>
          <p:cNvSpPr txBox="1"/>
          <p:nvPr/>
        </p:nvSpPr>
        <p:spPr>
          <a:xfrm>
            <a:off x="10088575" y="1920240"/>
            <a:ext cx="1170432" cy="237744"/>
          </a:xfrm>
          <a:prstGeom prst="rect">
            <a:avLst/>
          </a:prstGeom>
          <a:noFill/>
        </p:spPr>
        <p:txBody>
          <a:bodyPr wrap="square" lIns="0" rIns="0" tIns="0" bIns="0" anchor="t">
            <a:spAutoFit/>
          </a:bodyPr>
          <a:lstStyle/>
          <a:p>
            <a:pPr algn="r">
              <a:lnSpc>
                <a:spcPct val="120000"/>
              </a:lnSpc>
              <a:spcAft>
                <a:spcPts val="0"/>
              </a:spcAft>
            </a:pPr>
            <a:r>
              <a:rPr sz="950" b="1">
                <a:solidFill>
                  <a:srgbClr val="C4392D"/>
                </a:solidFill>
                <a:latin typeface="Calibri"/>
              </a:rPr>
              <a:t>dia 22 en 23</a:t>
            </a:r>
          </a:p>
        </p:txBody>
      </p:sp>
      <p:sp>
        <p:nvSpPr>
          <p:cNvPr id="64" name="TextBox 63"/>
          <p:cNvSpPr txBox="1"/>
          <p:nvPr/>
        </p:nvSpPr>
        <p:spPr>
          <a:xfrm>
            <a:off x="8426500" y="2267712"/>
            <a:ext cx="2832506" cy="786384"/>
          </a:xfrm>
          <a:prstGeom prst="rect">
            <a:avLst/>
          </a:prstGeom>
          <a:noFill/>
        </p:spPr>
        <p:txBody>
          <a:bodyPr wrap="square" lIns="0" rIns="0" tIns="0" bIns="0" anchor="t">
            <a:spAutoFit/>
          </a:bodyPr>
          <a:lstStyle/>
          <a:p>
            <a:pPr algn="l">
              <a:lnSpc>
                <a:spcPct val="120000"/>
              </a:lnSpc>
              <a:spcAft>
                <a:spcPts val="0"/>
              </a:spcAft>
            </a:pPr>
            <a:r>
              <a:rPr sz="4600" b="1">
                <a:solidFill>
                  <a:srgbClr val="C4392D"/>
                </a:solidFill>
                <a:latin typeface="Calibri"/>
              </a:rPr>
              <a:t>16</a:t>
            </a:r>
          </a:p>
        </p:txBody>
      </p:sp>
      <p:sp>
        <p:nvSpPr>
          <p:cNvPr id="65" name="TextBox 64"/>
          <p:cNvSpPr txBox="1"/>
          <p:nvPr/>
        </p:nvSpPr>
        <p:spPr>
          <a:xfrm>
            <a:off x="8426500" y="3035808"/>
            <a:ext cx="2832506" cy="603504"/>
          </a:xfrm>
          <a:prstGeom prst="rect">
            <a:avLst/>
          </a:prstGeom>
          <a:noFill/>
        </p:spPr>
        <p:txBody>
          <a:bodyPr wrap="square" lIns="0" rIns="0" tIns="0" bIns="0" anchor="t">
            <a:spAutoFit/>
          </a:bodyPr>
          <a:lstStyle/>
          <a:p>
            <a:pPr algn="l">
              <a:lnSpc>
                <a:spcPct val="116000"/>
              </a:lnSpc>
              <a:spcAft>
                <a:spcPts val="0"/>
              </a:spcAft>
            </a:pPr>
            <a:r>
              <a:rPr sz="1600" b="1">
                <a:solidFill>
                  <a:srgbClr val="0D1B2A"/>
                </a:solidFill>
                <a:latin typeface="Calibri"/>
              </a:rPr>
              <a:t>Knelpunten</a:t>
            </a:r>
          </a:p>
          <a:p>
            <a:pPr algn="l">
              <a:lnSpc>
                <a:spcPct val="116000"/>
              </a:lnSpc>
              <a:spcAft>
                <a:spcPts val="0"/>
              </a:spcAft>
            </a:pPr>
            <a:r>
              <a:rPr sz="1600" b="1">
                <a:solidFill>
                  <a:srgbClr val="0D1B2A"/>
                </a:solidFill>
                <a:latin typeface="Calibri"/>
              </a:rPr>
              <a:t>en vervolg</a:t>
            </a:r>
          </a:p>
        </p:txBody>
      </p:sp>
      <p:cxnSp>
        <p:nvCxnSpPr>
          <p:cNvPr id="66" name="Connector 65"/>
          <p:cNvCxnSpPr/>
          <p:nvPr/>
        </p:nvCxnSpPr>
        <p:spPr>
          <a:xfrm>
            <a:off x="8426500" y="3712464"/>
            <a:ext cx="2832507"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8449360" y="397763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645956" y="3931920"/>
            <a:ext cx="2594762" cy="278130"/>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norm aanbodgericht in plaats van vraaggestuurd</a:t>
            </a:r>
          </a:p>
        </p:txBody>
      </p:sp>
      <p:sp>
        <p:nvSpPr>
          <p:cNvPr id="69" name="Oval 68"/>
          <p:cNvSpPr/>
          <p:nvPr/>
        </p:nvSpPr>
        <p:spPr>
          <a:xfrm>
            <a:off x="8449360" y="4255769"/>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645956" y="4210049"/>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SEH-artsen en begroting</a:t>
            </a:r>
          </a:p>
        </p:txBody>
      </p:sp>
      <p:sp>
        <p:nvSpPr>
          <p:cNvPr id="71" name="Oval 70"/>
          <p:cNvSpPr/>
          <p:nvPr/>
        </p:nvSpPr>
        <p:spPr>
          <a:xfrm>
            <a:off x="8449360" y="442950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645956" y="438378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afwijking van het jaarplan BIC</a:t>
            </a:r>
          </a:p>
        </p:txBody>
      </p:sp>
      <p:sp>
        <p:nvSpPr>
          <p:cNvPr id="73" name="Oval 72"/>
          <p:cNvSpPr/>
          <p:nvPr/>
        </p:nvSpPr>
        <p:spPr>
          <a:xfrm>
            <a:off x="8449360" y="460324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45956" y="455752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planning buiten CPP om</a:t>
            </a:r>
          </a:p>
        </p:txBody>
      </p:sp>
      <p:sp>
        <p:nvSpPr>
          <p:cNvPr id="75" name="Oval 74"/>
          <p:cNvSpPr/>
          <p:nvPr/>
        </p:nvSpPr>
        <p:spPr>
          <a:xfrm>
            <a:off x="8449360" y="477697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645956" y="473125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uitgangspunten en kaders ontbreken</a:t>
            </a:r>
          </a:p>
        </p:txBody>
      </p:sp>
      <p:sp>
        <p:nvSpPr>
          <p:cNvPr id="77" name="Oval 76"/>
          <p:cNvSpPr/>
          <p:nvPr/>
        </p:nvSpPr>
        <p:spPr>
          <a:xfrm>
            <a:off x="8449360" y="4950714"/>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645956" y="4904994"/>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vakantiegoedkeuringen</a:t>
            </a:r>
          </a:p>
        </p:txBody>
      </p:sp>
      <p:sp>
        <p:nvSpPr>
          <p:cNvPr id="79" name="Oval 78"/>
          <p:cNvSpPr/>
          <p:nvPr/>
        </p:nvSpPr>
        <p:spPr>
          <a:xfrm>
            <a:off x="8449360" y="5124450"/>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645956" y="5078730"/>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slapers op de SEH</a:t>
            </a:r>
          </a:p>
        </p:txBody>
      </p:sp>
      <p:sp>
        <p:nvSpPr>
          <p:cNvPr id="81" name="Oval 80"/>
          <p:cNvSpPr/>
          <p:nvPr/>
        </p:nvSpPr>
        <p:spPr>
          <a:xfrm>
            <a:off x="8449360" y="5298186"/>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645956" y="5252466"/>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simulatie ICU- en CCU-data</a:t>
            </a:r>
          </a:p>
        </p:txBody>
      </p:sp>
      <p:sp>
        <p:nvSpPr>
          <p:cNvPr id="83" name="Oval 82"/>
          <p:cNvSpPr/>
          <p:nvPr/>
        </p:nvSpPr>
        <p:spPr>
          <a:xfrm>
            <a:off x="8449360" y="5471922"/>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645956" y="5426202"/>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versneld jaarplan CCU</a:t>
            </a:r>
          </a:p>
        </p:txBody>
      </p:sp>
      <p:sp>
        <p:nvSpPr>
          <p:cNvPr id="85" name="Oval 84"/>
          <p:cNvSpPr/>
          <p:nvPr/>
        </p:nvSpPr>
        <p:spPr>
          <a:xfrm>
            <a:off x="8449360" y="5645658"/>
            <a:ext cx="64008" cy="64008"/>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645956" y="5599938"/>
            <a:ext cx="2594762" cy="173736"/>
          </a:xfrm>
          <a:prstGeom prst="rect">
            <a:avLst/>
          </a:prstGeom>
          <a:noFill/>
        </p:spPr>
        <p:txBody>
          <a:bodyPr wrap="square" lIns="0" rIns="0" tIns="0" bIns="0" anchor="t">
            <a:spAutoFit/>
          </a:bodyPr>
          <a:lstStyle/>
          <a:p>
            <a:pPr algn="l">
              <a:lnSpc>
                <a:spcPct val="118000"/>
              </a:lnSpc>
              <a:spcAft>
                <a:spcPts val="0"/>
              </a:spcAft>
            </a:pPr>
            <a:r>
              <a:rPr sz="700" b="0">
                <a:solidFill>
                  <a:srgbClr val="55677C"/>
                </a:solidFill>
                <a:latin typeface="Calibri"/>
              </a:rPr>
              <a:t>drie vragen direct naar Remco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1F6FB2"/>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Oudbouw, transitie en verhuisperiode</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Uitgangspunten die de zorgmanager nodig heeft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19</a:t>
            </a:r>
          </a:p>
        </p:txBody>
      </p:sp>
      <p:graphicFrame>
        <p:nvGraphicFramePr>
          <p:cNvPr id="10" name="Table 9"/>
          <p:cNvGraphicFramePr>
            <a:graphicFrameLocks noGrp="1"/>
          </p:cNvGraphicFramePr>
          <p:nvPr/>
        </p:nvGraphicFramePr>
        <p:xfrm>
          <a:off x="640080" y="1700784"/>
          <a:ext cx="10911535" cy="3730752"/>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1F6FB2"/>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1F6FB2"/>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Wat moeten we meenemen uit lopende projecten, of wordt dit later doorgevoerd in de begroting en het jaarplan?</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werken de afdelingen nu al toe naar de nieuwbouwsituatie, en welke impact heeft dat op bedden en personeel?</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Kunnen we de huidige personele inzet van de SEH aanhouden tot de nieuwbouw, exclusief eventuele extra inzet voor de nieuwbouw?</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bedbezetting is in het weekend lager dan doordeweeks; formatie daarop aanpassen komt neer op 5-5-4. In de oudbouw geen aanpassing, alleen toewerken naar de nieuwbouw: motiveren en dubbel opleiden.</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Voor de ICU houden we de landelijke norm aan, maar daar zit bij ons ook recovery in. Welke normering hanteren we? (Geparkeerd voor later.)</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Wat is het uitgangspunt voor de AO-dienst? Bij drukte inzet in de zorg; negen van de tien keer blijf je buiten de zorg.</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1F6FB2"/>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Per september start de regieverpleegkundige. Wat betekent dat voor de personele inzet en de indirecte uren, en staat die functie binnen of buiten de zorg?</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1F6FB2"/>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Verhuisperiode: welke extra diensten zijn er nodig ten opzichte van de oudbouw, en op welke locatie worden die ingezet?</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Nieuwbouw, deel 1</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Personele inzet, norm en afkapmomenten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20</a:t>
            </a:r>
          </a:p>
        </p:txBody>
      </p:sp>
      <p:graphicFrame>
        <p:nvGraphicFramePr>
          <p:cNvPr id="10" name="Table 9"/>
          <p:cNvGraphicFramePr>
            <a:graphicFrameLocks noGrp="1"/>
          </p:cNvGraphicFramePr>
          <p:nvPr/>
        </p:nvGraphicFramePr>
        <p:xfrm>
          <a:off x="640080" y="1700784"/>
          <a:ext cx="10911535" cy="3066288"/>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0E9A87"/>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Waar komt de personele inzet op de EHH vandaan: van de SEH of van de ICU/CCU?</a:t>
                      </a:r>
                    </a:p>
                  </a:txBody>
                  <a:tcPr marL="91440" marR="91440" marT="36576" marB="36576" anchor="ctr">
                    <a:solidFill>
                      <a:srgbClr val="FFFFFF"/>
                    </a:solidFill>
                    <a:lnL w="0">
                      <a:noFill/>
                    </a:lnL>
                    <a:lnR w="0">
                      <a:noFill/>
                    </a:lnR>
                    <a:lnT w="0">
                      <a:noFill/>
                    </a:lnT>
                    <a:lnB w="6350" cap="flat">
                      <a:solidFill>
                        <a:srgbClr val="E2E9F1"/>
                      </a:solidFill>
                    </a:lnB>
                  </a:tcPr>
                </a:tc>
              </a:tr>
              <a:tr h="704088">
                <a:tc>
                  <a:txBody>
                    <a:bodyPr wrap="square"/>
                    <a:lstStyle/>
                    <a:p>
                      <a:pPr algn="ctr">
                        <a:spcAft>
                          <a:spcPts val="200"/>
                        </a:spcAft>
                      </a:pPr>
                      <a:r>
                        <a:rPr sz="1200" b="1">
                          <a:solidFill>
                            <a:srgbClr val="0E9A87"/>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Dat wordt bepaald door het afkapmoment van de acute cardiologiepatiënt van SEH naar EHH/CCU. In de berekeningen is uitgegaan van inzet vanaf de CCU en een afkapmoment op 2 uur; nu wordt gekeken naar scenario's op 4, 6 en 24 uur waarbij de EHH-bedden bij de SEH zijn meegenomen.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Doet Remco een uitspraak over de verpleegkundige norm, of houden we de huidige normen aan en leggen we die aan hem voor?</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 de nieuwbouw wordt de scope (CCU) anders ingericht. Hoe verwerken we dat in de personele inzet? Nu is er een extra dienst overdag en extra belasting in de late en de nachtdienst.</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ICU heeft een normenkader waarbij maximaal 10% afgeweken mag worden van dedicated inzet van ICU-verpleegkundigen.</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Is er al nagedacht over de personele inzet op de SEH? Kunnen we het patroon opplussen op basis van de extra bedden, en van hoeveel bedden gaan we uit?</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0E9A87"/>
                </a:solidFill>
                <a:latin typeface="Calibri"/>
              </a:rPr>
              <a:t>DEEL 04  ·  VRAGEN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Nieuwbouw, deel 2</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Indirecte uren, opleiden en poules</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21</a:t>
            </a:r>
          </a:p>
        </p:txBody>
      </p:sp>
      <p:graphicFrame>
        <p:nvGraphicFramePr>
          <p:cNvPr id="10" name="Table 9"/>
          <p:cNvGraphicFramePr>
            <a:graphicFrameLocks noGrp="1"/>
          </p:cNvGraphicFramePr>
          <p:nvPr/>
        </p:nvGraphicFramePr>
        <p:xfrm>
          <a:off x="640080" y="1700784"/>
          <a:ext cx="10911535" cy="2508504"/>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0E9A87"/>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0E9A87"/>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0E9A87"/>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Indirecte uren: de oude begroting loopt sterk uiteen. Wat houden we aan, en verlaagt de regieverpleegkundige dit per september?</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richten we de inzet van de regieverpleegkundige in de nieuwbouw in?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Komt de kinderverpleegkundige dedicated op de SEH, of op afroep?</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Hoe staat het met de EPA's? Zijn er vereisten voor SEH-verpleegkundigen, en zijn er verplichte EPA's voor ICU en CCU?</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Als die EPA's er zijn, wat betekent dat dan in de praktijk?</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0E9A87"/>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Zetten we voor de nieuwbouw nog in op een acute poule voor CCU/ICU en CCU/SEH? Nu is dat alleen ICU/SEH.</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04  ·  KNELPUNTEN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Wat er nu in de weg zit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Negen punten uit de sessie</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22</a:t>
            </a:r>
          </a:p>
        </p:txBody>
      </p:sp>
      <p:graphicFrame>
        <p:nvGraphicFramePr>
          <p:cNvPr id="10" name="Table 9"/>
          <p:cNvGraphicFramePr>
            <a:graphicFrameLocks noGrp="1"/>
          </p:cNvGraphicFramePr>
          <p:nvPr/>
        </p:nvGraphicFramePr>
        <p:xfrm>
          <a:off x="640080" y="1700784"/>
          <a:ext cx="10911535" cy="350520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C4392D"/>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C4392D"/>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Verpleegkundige norm: aanbodgericht werken in plaats van vraaggestuurd.</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SEH-artsen: de inzet is verhoogd maar de begroting is niet aangepast.</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Acute poort: wat komt waar, en wat kunnen wij doorrekenen?</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ICU en CCU wijken structureel af van het jaarplan BIC.</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De personele planning loopt niet volledig via CPP, met name rond de acute poule.</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Indirecte uren.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Uitgangspunten en kaders ontbreken.</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C4392D"/>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Vakantiegoedkeuringen niet integraal en te ruim vrijgegeven, met name bij de CCU. Actie: samen met Remco een vakantiegoedkeuring opstellen; hij noemde 20 tot 25%.</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C4392D"/>
                          </a:solidFill>
                          <a:latin typeface="Calibri"/>
                        </a:rPr>
                        <a:t>9</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Slapers op de SEH. Kanttekening bij de JDT: je kunt vol liggen waardoor de druk hoog is, terwijl de JDT-score dat niet laat zien.</a:t>
                      </a:r>
                    </a:p>
                  </a:txBody>
                  <a:tcPr marL="91440" marR="91440" marT="36576" marB="36576" anchor="ctr">
                    <a:solidFill>
                      <a:srgbClr val="FFFFFF"/>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6B4BA8"/>
                </a:solidFill>
                <a:latin typeface="Calibri"/>
              </a:rPr>
              <a:t>DEEL 04  ·  VERVOLG</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Simulatie, aantekeningen en Remco</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Wat er nog uitgezocht en gevraagd moet worden</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23</a:t>
            </a:r>
          </a:p>
        </p:txBody>
      </p:sp>
      <p:graphicFrame>
        <p:nvGraphicFramePr>
          <p:cNvPr id="10" name="Table 9"/>
          <p:cNvGraphicFramePr>
            <a:graphicFrameLocks noGrp="1"/>
          </p:cNvGraphicFramePr>
          <p:nvPr/>
        </p:nvGraphicFramePr>
        <p:xfrm>
          <a:off x="640080" y="1700784"/>
          <a:ext cx="10911535" cy="4023360"/>
        </p:xfrm>
        <a:graphic>
          <a:graphicData uri="http://schemas.openxmlformats.org/drawingml/2006/table">
            <a:tbl>
              <a:tblPr>
                <a:tableStyleId>{5C22544A-7EE6-4342-B048-85BDC9FD1C3A}</a:tableStyleId>
              </a:tblPr>
              <a:tblGrid>
                <a:gridCol w="548640"/>
                <a:gridCol w="10362895"/>
              </a:tblGrid>
              <a:tr h="329184">
                <a:tc>
                  <a:txBody>
                    <a:bodyPr wrap="square"/>
                    <a:lstStyle/>
                    <a:p>
                      <a:pPr algn="ctr">
                        <a:spcAft>
                          <a:spcPts val="200"/>
                        </a:spcAft>
                      </a:pPr>
                      <a:r>
                        <a:rPr sz="950" b="1">
                          <a:solidFill>
                            <a:srgbClr val="6B4BA8"/>
                          </a:solidFill>
                          <a:latin typeface="Calibri"/>
                        </a:rPr>
                        <a:t>#</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950" b="1">
                          <a:solidFill>
                            <a:srgbClr val="6B4BA8"/>
                          </a:solidFill>
                          <a:latin typeface="Calibri"/>
                        </a:rPr>
                        <a:t>VRAAG OF KNELPUNT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1</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Simulatie nieuwbouw: volledige ICU-data.</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2</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Simulatie nieuwbouw: CCU-data exclusief de eerste 2 uur van CCU-patiënten die naar de SEH gaan.</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3</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Op hoeveel bedden komen we op dagniveau uit, en zijn er seizoenspatronen? Hoe is de verdeling ICU/CCU voor het personeel?</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4</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Versneld jaarplan CCU, en het document van Daniek: huidig, transitie, nieuwbouw.</a:t>
                      </a:r>
                    </a:p>
                  </a:txBody>
                  <a:tcPr marL="91440" marR="91440" marT="36576" marB="36576" anchor="ctr">
                    <a:solidFill>
                      <a:srgbClr val="F6F9FD"/>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6B4BA8"/>
                          </a:solidFill>
                          <a:latin typeface="Calibri"/>
                        </a:rPr>
                        <a:t>5</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Aftrap jaarplannen Acuut 2027: we kijken nu naar de verpleegkundige inzet; voor de SEH-artsen is eerder al iets gedaan. Wat is de wens?</a:t>
                      </a:r>
                    </a:p>
                  </a:txBody>
                  <a:tcPr marL="91440" marR="91440" marT="36576" marB="36576" anchor="ctr">
                    <a:solidFill>
                      <a:srgbClr val="FFFFFF"/>
                    </a:solidFill>
                    <a:lnL w="0">
                      <a:noFill/>
                    </a:lnL>
                    <a:lnR w="0">
                      <a:noFill/>
                    </a:lnR>
                    <a:lnT w="0">
                      <a:noFill/>
                    </a:lnT>
                    <a:lnB w="6350" cap="flat">
                      <a:solidFill>
                        <a:srgbClr val="E2E9F1"/>
                      </a:solidFill>
                    </a:lnB>
                  </a:tcPr>
                </a:tc>
              </a:tr>
              <a:tr h="518160">
                <a:tc>
                  <a:txBody>
                    <a:bodyPr wrap="square"/>
                    <a:lstStyle/>
                    <a:p>
                      <a:pPr algn="ctr">
                        <a:spcAft>
                          <a:spcPts val="200"/>
                        </a:spcAft>
                      </a:pPr>
                      <a:r>
                        <a:rPr sz="1200" b="1">
                          <a:solidFill>
                            <a:srgbClr val="6B4BA8"/>
                          </a:solidFill>
                          <a:latin typeface="Calibri"/>
                        </a:rPr>
                        <a:t>6</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Integratie van afdelingen per nu: ICU en CCU, waarbij de SEH nog even buiten beschouwing blijft. Inzet van de ICU op de CCU gebeurt nog niet; andersom wel, maar alleen ad hoc.</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7</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hoort de EHH bij het personeel van de ICU/CCU of bij de SEH?</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8</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waar is de opvang van de acute cardiologiepatiënt, op de SEH of op de EHH?</a:t>
                      </a:r>
                    </a:p>
                  </a:txBody>
                  <a:tcPr marL="91440" marR="91440" marT="36576" marB="36576" anchor="ctr">
                    <a:solidFill>
                      <a:srgbClr val="F6F9FD"/>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9</a:t>
                      </a:r>
                    </a:p>
                  </a:txBody>
                  <a:tcPr marL="91440" marR="91440" marT="36576" marB="36576" anchor="ctr">
                    <a:solidFill>
                      <a:srgbClr val="FFFFFF"/>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Naar Remco: hoe lang blijft een patiënt op de SEH voordat die naar de EHH gaat?</a:t>
                      </a:r>
                    </a:p>
                  </a:txBody>
                  <a:tcPr marL="91440" marR="91440" marT="36576" marB="36576" anchor="ctr">
                    <a:solidFill>
                      <a:srgbClr val="FFFFFF"/>
                    </a:solidFill>
                    <a:lnL w="0">
                      <a:noFill/>
                    </a:lnL>
                    <a:lnR w="0">
                      <a:noFill/>
                    </a:lnR>
                    <a:lnT w="0">
                      <a:noFill/>
                    </a:lnT>
                    <a:lnB w="6350" cap="flat">
                      <a:solidFill>
                        <a:srgbClr val="E2E9F1"/>
                      </a:solidFill>
                    </a:lnB>
                  </a:tcPr>
                </a:tc>
              </a:tr>
              <a:tr h="332232">
                <a:tc>
                  <a:txBody>
                    <a:bodyPr wrap="square"/>
                    <a:lstStyle/>
                    <a:p>
                      <a:pPr algn="ctr">
                        <a:spcAft>
                          <a:spcPts val="200"/>
                        </a:spcAft>
                      </a:pPr>
                      <a:r>
                        <a:rPr sz="1200" b="1">
                          <a:solidFill>
                            <a:srgbClr val="6B4BA8"/>
                          </a:solidFill>
                          <a:latin typeface="Calibri"/>
                        </a:rPr>
                        <a:t>10</a:t>
                      </a:r>
                    </a:p>
                  </a:txBody>
                  <a:tcPr marL="91440" marR="91440" marT="36576" marB="36576" anchor="ctr">
                    <a:solidFill>
                      <a:srgbClr val="F6F9FD"/>
                    </a:solidFill>
                    <a:lnL w="0">
                      <a:noFill/>
                    </a:lnL>
                    <a:lnR w="0">
                      <a:noFill/>
                    </a:lnR>
                    <a:lnT w="0">
                      <a:noFill/>
                    </a:lnT>
                    <a:lnB w="6350" cap="flat">
                      <a:solidFill>
                        <a:srgbClr val="E2E9F1"/>
                      </a:solidFill>
                    </a:lnB>
                  </a:tcPr>
                </a:tc>
                <a:tc>
                  <a:txBody>
                    <a:bodyPr wrap="square"/>
                    <a:lstStyle/>
                    <a:p>
                      <a:pPr algn="l">
                        <a:spcAft>
                          <a:spcPts val="200"/>
                        </a:spcAft>
                      </a:pPr>
                      <a:r>
                        <a:rPr sz="1200" b="0">
                          <a:solidFill>
                            <a:srgbClr val="55677C"/>
                          </a:solidFill>
                          <a:latin typeface="Calibri"/>
                        </a:rPr>
                        <a:t>Masterplan Acuut: wat ontbreekt er nog voor de transitie? Voorstel: een jaarplan opstellen en dat naast het huidige plan leggen.</a:t>
                      </a:r>
                    </a:p>
                  </a:txBody>
                  <a:tcPr marL="91440" marR="91440" marT="36576" marB="36576" anchor="ctr">
                    <a:solidFill>
                      <a:srgbClr val="F6F9FD"/>
                    </a:solidFill>
                    <a:lnL w="0">
                      <a:noFill/>
                    </a:lnL>
                    <a:lnR w="0">
                      <a:noFill/>
                    </a:lnR>
                    <a:lnT w="0">
                      <a:noFill/>
                    </a:lnT>
                    <a:lnB w="6350" cap="flat">
                      <a:solidFill>
                        <a:srgbClr val="E2E9F1"/>
                      </a:solidFill>
                    </a:lnB>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66928"/>
            <a:ext cx="10911535" cy="219456"/>
          </a:xfrm>
          <a:prstGeom prst="rect">
            <a:avLst/>
          </a:prstGeom>
          <a:noFill/>
        </p:spPr>
        <p:txBody>
          <a:bodyPr wrap="square" lIns="0" rIns="0" tIns="0" bIns="0" anchor="t">
            <a:spAutoFit/>
          </a:bodyPr>
          <a:lstStyle/>
          <a:p>
            <a:pPr algn="l">
              <a:lnSpc>
                <a:spcPct val="120000"/>
              </a:lnSpc>
              <a:spcAft>
                <a:spcPts val="0"/>
              </a:spcAft>
            </a:pPr>
            <a:r>
              <a:rPr sz="1050" b="1" spc="220">
                <a:solidFill>
                  <a:srgbClr val="C4392D"/>
                </a:solidFill>
                <a:latin typeface="Calibri"/>
              </a:rPr>
              <a:t>DEEL 04  ·  WAT MOET ER BESLOTEN WORDEN</a:t>
            </a:r>
          </a:p>
        </p:txBody>
      </p:sp>
      <p:sp>
        <p:nvSpPr>
          <p:cNvPr id="4" name="TextBox 3"/>
          <p:cNvSpPr txBox="1"/>
          <p:nvPr/>
        </p:nvSpPr>
        <p:spPr>
          <a:xfrm>
            <a:off x="640080" y="859536"/>
            <a:ext cx="10911535" cy="566928"/>
          </a:xfrm>
          <a:prstGeom prst="rect">
            <a:avLst/>
          </a:prstGeom>
          <a:noFill/>
        </p:spPr>
        <p:txBody>
          <a:bodyPr wrap="square" lIns="0" rIns="0" tIns="0" bIns="0" anchor="t">
            <a:spAutoFit/>
          </a:bodyPr>
          <a:lstStyle/>
          <a:p>
            <a:pPr algn="l">
              <a:lnSpc>
                <a:spcPct val="120000"/>
              </a:lnSpc>
              <a:spcAft>
                <a:spcPts val="0"/>
              </a:spcAft>
            </a:pPr>
            <a:r>
              <a:rPr sz="3400" b="1">
                <a:solidFill>
                  <a:srgbClr val="0D1B2A"/>
                </a:solidFill>
                <a:latin typeface="Calibri"/>
              </a:rPr>
              <a:t>Zes besluiten waar de rest op wacht</a:t>
            </a:r>
          </a:p>
        </p:txBody>
      </p:sp>
      <p:sp>
        <p:nvSpPr>
          <p:cNvPr id="5" name="TextBox 4"/>
          <p:cNvSpPr txBox="1"/>
          <p:nvPr/>
        </p:nvSpPr>
        <p:spPr>
          <a:xfrm>
            <a:off x="640080" y="1335024"/>
            <a:ext cx="8510997" cy="274320"/>
          </a:xfrm>
          <a:prstGeom prst="rect">
            <a:avLst/>
          </a:prstGeom>
          <a:noFill/>
        </p:spPr>
        <p:txBody>
          <a:bodyPr wrap="square" lIns="0" rIns="0" tIns="0" bIns="0" anchor="t">
            <a:spAutoFit/>
          </a:bodyPr>
          <a:lstStyle/>
          <a:p>
            <a:pPr algn="l">
              <a:lnSpc>
                <a:spcPct val="120000"/>
              </a:lnSpc>
              <a:spcAft>
                <a:spcPts val="0"/>
              </a:spcAft>
            </a:pPr>
            <a:r>
              <a:rPr sz="1300" b="0">
                <a:solidFill>
                  <a:srgbClr val="55677C"/>
                </a:solidFill>
                <a:latin typeface="Calibri"/>
              </a:rPr>
              <a:t>Drie ervan blokkeren de onderbouwing van de personele inzet</a:t>
            </a:r>
          </a:p>
        </p:txBody>
      </p:sp>
      <p:cxnSp>
        <p:nvCxnSpPr>
          <p:cNvPr id="6" name="Connector 5"/>
          <p:cNvCxnSpPr/>
          <p:nvPr/>
        </p:nvCxnSpPr>
        <p:spPr>
          <a:xfrm>
            <a:off x="640080" y="1609344"/>
            <a:ext cx="10911535" cy="0"/>
          </a:xfrm>
          <a:prstGeom prst="line">
            <a:avLst/>
          </a:prstGeom>
          <a:ln w="12700">
            <a:solidFill>
              <a:srgbClr val="E2E9F1"/>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40080" y="6291072"/>
            <a:ext cx="10911535" cy="0"/>
          </a:xfrm>
          <a:prstGeom prst="line">
            <a:avLst/>
          </a:prstGeom>
          <a:ln w="9525">
            <a:solidFill>
              <a:srgbClr val="E2E9F1"/>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40080" y="6382512"/>
            <a:ext cx="5486400" cy="237744"/>
          </a:xfrm>
          <a:prstGeom prst="rect">
            <a:avLst/>
          </a:prstGeom>
          <a:noFill/>
        </p:spPr>
        <p:txBody>
          <a:bodyPr wrap="square" lIns="0" rIns="0" tIns="0" bIns="0" anchor="t">
            <a:spAutoFit/>
          </a:bodyPr>
          <a:lstStyle/>
          <a:p>
            <a:pPr algn="l">
              <a:lnSpc>
                <a:spcPct val="120000"/>
              </a:lnSpc>
              <a:spcAft>
                <a:spcPts val="0"/>
              </a:spcAft>
            </a:pPr>
            <a:r>
              <a:rPr sz="900" b="0" spc="80">
                <a:solidFill>
                  <a:srgbClr val="8B9AAA"/>
                </a:solidFill>
                <a:latin typeface="Calibri"/>
              </a:rPr>
              <a:t>Acute poort en Hotfloor</a:t>
            </a:r>
          </a:p>
        </p:txBody>
      </p:sp>
      <p:sp>
        <p:nvSpPr>
          <p:cNvPr id="9" name="TextBox 8"/>
          <p:cNvSpPr txBox="1"/>
          <p:nvPr/>
        </p:nvSpPr>
        <p:spPr>
          <a:xfrm>
            <a:off x="10637215" y="6382512"/>
            <a:ext cx="914400" cy="237744"/>
          </a:xfrm>
          <a:prstGeom prst="rect">
            <a:avLst/>
          </a:prstGeom>
          <a:noFill/>
        </p:spPr>
        <p:txBody>
          <a:bodyPr wrap="square" lIns="0" rIns="0" tIns="0" bIns="0" anchor="t">
            <a:spAutoFit/>
          </a:bodyPr>
          <a:lstStyle/>
          <a:p>
            <a:pPr algn="r">
              <a:lnSpc>
                <a:spcPct val="120000"/>
              </a:lnSpc>
              <a:spcAft>
                <a:spcPts val="0"/>
              </a:spcAft>
            </a:pPr>
            <a:r>
              <a:rPr sz="950" b="1">
                <a:solidFill>
                  <a:srgbClr val="0E9A87"/>
                </a:solidFill>
                <a:latin typeface="Calibri"/>
              </a:rPr>
              <a:t>24</a:t>
            </a:r>
          </a:p>
        </p:txBody>
      </p:sp>
      <p:sp>
        <p:nvSpPr>
          <p:cNvPr id="10" name="Rounded Rectangle 9"/>
          <p:cNvSpPr/>
          <p:nvPr/>
        </p:nvSpPr>
        <p:spPr>
          <a:xfrm>
            <a:off x="640080" y="175564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40080" y="1755648"/>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50392" y="1856232"/>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1</a:t>
            </a:r>
          </a:p>
        </p:txBody>
      </p:sp>
      <p:sp>
        <p:nvSpPr>
          <p:cNvPr id="13" name="TextBox 12"/>
          <p:cNvSpPr txBox="1"/>
          <p:nvPr/>
        </p:nvSpPr>
        <p:spPr>
          <a:xfrm>
            <a:off x="1371600" y="180136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Waar valt de EHH onder?</a:t>
            </a:r>
          </a:p>
          <a:p>
            <a:pPr algn="l">
              <a:lnSpc>
                <a:spcPct val="120000"/>
              </a:lnSpc>
              <a:spcAft>
                <a:spcPts val="0"/>
              </a:spcAft>
            </a:pPr>
            <a:r>
              <a:rPr sz="1000" b="0">
                <a:solidFill>
                  <a:srgbClr val="8B9AAA"/>
                </a:solidFill>
                <a:latin typeface="Calibri"/>
              </a:rPr>
              <a:t>blokkeert beide analyses en de personele inzet</a:t>
            </a:r>
          </a:p>
        </p:txBody>
      </p:sp>
      <p:sp>
        <p:nvSpPr>
          <p:cNvPr id="14" name="TextBox 13"/>
          <p:cNvSpPr txBox="1"/>
          <p:nvPr/>
        </p:nvSpPr>
        <p:spPr>
          <a:xfrm>
            <a:off x="7315200" y="180136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acute poort of Hotfloor</a:t>
            </a:r>
          </a:p>
        </p:txBody>
      </p:sp>
      <p:sp>
        <p:nvSpPr>
          <p:cNvPr id="15" name="Rounded Rectangle 14"/>
          <p:cNvSpPr/>
          <p:nvPr/>
        </p:nvSpPr>
        <p:spPr>
          <a:xfrm>
            <a:off x="9326880" y="1901952"/>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16" name="TextBox 15"/>
          <p:cNvSpPr txBox="1"/>
          <p:nvPr/>
        </p:nvSpPr>
        <p:spPr>
          <a:xfrm>
            <a:off x="10362895" y="180136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15</a:t>
            </a:r>
          </a:p>
        </p:txBody>
      </p:sp>
      <p:sp>
        <p:nvSpPr>
          <p:cNvPr id="17" name="Rounded Rectangle 16"/>
          <p:cNvSpPr/>
          <p:nvPr/>
        </p:nvSpPr>
        <p:spPr>
          <a:xfrm>
            <a:off x="640080" y="2450592"/>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0080" y="2450592"/>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50392" y="2551176"/>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2</a:t>
            </a:r>
          </a:p>
        </p:txBody>
      </p:sp>
      <p:sp>
        <p:nvSpPr>
          <p:cNvPr id="20" name="TextBox 19"/>
          <p:cNvSpPr txBox="1"/>
          <p:nvPr/>
        </p:nvSpPr>
        <p:spPr>
          <a:xfrm>
            <a:off x="1371600" y="2496312"/>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Hoeveel plekken krijgt de acute poort?</a:t>
            </a:r>
          </a:p>
          <a:p>
            <a:pPr algn="l">
              <a:lnSpc>
                <a:spcPct val="120000"/>
              </a:lnSpc>
              <a:spcAft>
                <a:spcPts val="0"/>
              </a:spcAft>
            </a:pPr>
            <a:r>
              <a:rPr sz="1000" b="0">
                <a:solidFill>
                  <a:srgbClr val="8B9AAA"/>
                </a:solidFill>
                <a:latin typeface="Calibri"/>
              </a:rPr>
              <a:t>de analyse zegt nu: drie stromen passen niet achter een poort</a:t>
            </a:r>
          </a:p>
        </p:txBody>
      </p:sp>
      <p:sp>
        <p:nvSpPr>
          <p:cNvPr id="21" name="TextBox 20"/>
          <p:cNvSpPr txBox="1"/>
          <p:nvPr/>
        </p:nvSpPr>
        <p:spPr>
          <a:xfrm>
            <a:off x="7315200" y="2496312"/>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kind, EHH en SEH samen</a:t>
            </a:r>
          </a:p>
        </p:txBody>
      </p:sp>
      <p:sp>
        <p:nvSpPr>
          <p:cNvPr id="22" name="Rounded Rectangle 21"/>
          <p:cNvSpPr/>
          <p:nvPr/>
        </p:nvSpPr>
        <p:spPr>
          <a:xfrm>
            <a:off x="9326880" y="2596896"/>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23" name="TextBox 22"/>
          <p:cNvSpPr txBox="1"/>
          <p:nvPr/>
        </p:nvSpPr>
        <p:spPr>
          <a:xfrm>
            <a:off x="10362895" y="2496312"/>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13</a:t>
            </a:r>
          </a:p>
        </p:txBody>
      </p:sp>
      <p:sp>
        <p:nvSpPr>
          <p:cNvPr id="24" name="Rounded Rectangle 23"/>
          <p:cNvSpPr/>
          <p:nvPr/>
        </p:nvSpPr>
        <p:spPr>
          <a:xfrm>
            <a:off x="640080" y="3145536"/>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40080" y="3145536"/>
            <a:ext cx="45720" cy="585216"/>
          </a:xfrm>
          <a:prstGeom prst="roundRect">
            <a:avLst>
              <a:gd name="adj" fmla="val 50000"/>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50392" y="3246120"/>
            <a:ext cx="384048" cy="38404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4392D"/>
                </a:solidFill>
                <a:latin typeface="Calibri"/>
              </a:rPr>
              <a:t>3</a:t>
            </a:r>
          </a:p>
        </p:txBody>
      </p:sp>
      <p:sp>
        <p:nvSpPr>
          <p:cNvPr id="27" name="TextBox 26"/>
          <p:cNvSpPr txBox="1"/>
          <p:nvPr/>
        </p:nvSpPr>
        <p:spPr>
          <a:xfrm>
            <a:off x="1371600" y="3191256"/>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Wie stelt de norm verpleegkundigen vast?</a:t>
            </a:r>
          </a:p>
          <a:p>
            <a:pPr algn="l">
              <a:lnSpc>
                <a:spcPct val="120000"/>
              </a:lnSpc>
              <a:spcAft>
                <a:spcPts val="0"/>
              </a:spcAft>
            </a:pPr>
            <a:r>
              <a:rPr sz="1000" b="0">
                <a:solidFill>
                  <a:srgbClr val="8B9AAA"/>
                </a:solidFill>
                <a:latin typeface="Calibri"/>
              </a:rPr>
              <a:t>geen enkele afdeling heeft een vastgestelde norm</a:t>
            </a:r>
          </a:p>
        </p:txBody>
      </p:sp>
      <p:sp>
        <p:nvSpPr>
          <p:cNvPr id="28" name="TextBox 27"/>
          <p:cNvSpPr txBox="1"/>
          <p:nvPr/>
        </p:nvSpPr>
        <p:spPr>
          <a:xfrm>
            <a:off x="7315200" y="3191256"/>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Remco, of wij met een voorstel</a:t>
            </a:r>
          </a:p>
        </p:txBody>
      </p:sp>
      <p:sp>
        <p:nvSpPr>
          <p:cNvPr id="29" name="Rounded Rectangle 28"/>
          <p:cNvSpPr/>
          <p:nvPr/>
        </p:nvSpPr>
        <p:spPr>
          <a:xfrm>
            <a:off x="9326880" y="3291840"/>
            <a:ext cx="1225296" cy="292608"/>
          </a:xfrm>
          <a:prstGeom prst="roundRect">
            <a:avLst>
              <a:gd name="adj" fmla="val 50000"/>
            </a:avLst>
          </a:prstGeom>
          <a:solidFill>
            <a:srgbClr val="C4392D">
              <a:alpha val="11000"/>
            </a:srgbClr>
          </a:solidFill>
          <a:ln w="12700">
            <a:solidFill>
              <a:srgbClr val="DA9894"/>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4392D"/>
                </a:solidFill>
                <a:latin typeface="Calibri"/>
              </a:rPr>
              <a:t>blokkerend</a:t>
            </a:r>
          </a:p>
        </p:txBody>
      </p:sp>
      <p:sp>
        <p:nvSpPr>
          <p:cNvPr id="30" name="TextBox 29"/>
          <p:cNvSpPr txBox="1"/>
          <p:nvPr/>
        </p:nvSpPr>
        <p:spPr>
          <a:xfrm>
            <a:off x="10362895" y="3191256"/>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3 en 7</a:t>
            </a:r>
          </a:p>
        </p:txBody>
      </p:sp>
      <p:sp>
        <p:nvSpPr>
          <p:cNvPr id="31" name="Rounded Rectangle 30"/>
          <p:cNvSpPr/>
          <p:nvPr/>
        </p:nvSpPr>
        <p:spPr>
          <a:xfrm>
            <a:off x="640080" y="3840480"/>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640080" y="3840480"/>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50392" y="3941064"/>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4</a:t>
            </a:r>
          </a:p>
        </p:txBody>
      </p:sp>
      <p:sp>
        <p:nvSpPr>
          <p:cNvPr id="34" name="TextBox 33"/>
          <p:cNvSpPr txBox="1"/>
          <p:nvPr/>
        </p:nvSpPr>
        <p:spPr>
          <a:xfrm>
            <a:off x="1371600" y="3886200"/>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Welk scenario kiezen we?</a:t>
            </a:r>
          </a:p>
          <a:p>
            <a:pPr algn="l">
              <a:lnSpc>
                <a:spcPct val="120000"/>
              </a:lnSpc>
              <a:spcAft>
                <a:spcPts val="0"/>
              </a:spcAft>
            </a:pPr>
            <a:r>
              <a:rPr sz="1000" b="0">
                <a:solidFill>
                  <a:srgbClr val="8B9AAA"/>
                </a:solidFill>
                <a:latin typeface="Calibri"/>
              </a:rPr>
              <a:t>de keuze gebeurt op basis van BIC-data; tot die tijd staat het rooster stil</a:t>
            </a:r>
          </a:p>
        </p:txBody>
      </p:sp>
      <p:sp>
        <p:nvSpPr>
          <p:cNvPr id="35" name="TextBox 34"/>
          <p:cNvSpPr txBox="1"/>
          <p:nvPr/>
        </p:nvSpPr>
        <p:spPr>
          <a:xfrm>
            <a:off x="7315200" y="3886200"/>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vijf varianten liggen er</a:t>
            </a:r>
          </a:p>
        </p:txBody>
      </p:sp>
      <p:sp>
        <p:nvSpPr>
          <p:cNvPr id="36" name="Rounded Rectangle 35"/>
          <p:cNvSpPr/>
          <p:nvPr/>
        </p:nvSpPr>
        <p:spPr>
          <a:xfrm>
            <a:off x="9326880" y="3986784"/>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37" name="TextBox 36"/>
          <p:cNvSpPr txBox="1"/>
          <p:nvPr/>
        </p:nvSpPr>
        <p:spPr>
          <a:xfrm>
            <a:off x="10362895" y="3886200"/>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11</a:t>
            </a:r>
          </a:p>
        </p:txBody>
      </p:sp>
      <p:sp>
        <p:nvSpPr>
          <p:cNvPr id="38" name="Rounded Rectangle 37"/>
          <p:cNvSpPr/>
          <p:nvPr/>
        </p:nvSpPr>
        <p:spPr>
          <a:xfrm>
            <a:off x="640080" y="4535424"/>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ounded Rectangle 38"/>
          <p:cNvSpPr/>
          <p:nvPr/>
        </p:nvSpPr>
        <p:spPr>
          <a:xfrm>
            <a:off x="640080" y="4535424"/>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850392" y="4636008"/>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5</a:t>
            </a:r>
          </a:p>
        </p:txBody>
      </p:sp>
      <p:sp>
        <p:nvSpPr>
          <p:cNvPr id="41" name="TextBox 40"/>
          <p:cNvSpPr txBox="1"/>
          <p:nvPr/>
        </p:nvSpPr>
        <p:spPr>
          <a:xfrm>
            <a:off x="1371600" y="4581144"/>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Wat is de weigerkans bij 16 bedden?</a:t>
            </a:r>
          </a:p>
          <a:p>
            <a:pPr algn="l">
              <a:lnSpc>
                <a:spcPct val="120000"/>
              </a:lnSpc>
              <a:spcAft>
                <a:spcPts val="0"/>
              </a:spcAft>
            </a:pPr>
            <a:r>
              <a:rPr sz="1000" b="0">
                <a:solidFill>
                  <a:srgbClr val="8B9AAA"/>
                </a:solidFill>
                <a:latin typeface="Calibri"/>
              </a:rPr>
              <a:t>de Hotfloor past wel, maar het risico is niet becijferd</a:t>
            </a:r>
          </a:p>
        </p:txBody>
      </p:sp>
      <p:sp>
        <p:nvSpPr>
          <p:cNvPr id="42" name="TextBox 41"/>
          <p:cNvSpPr txBox="1"/>
          <p:nvPr/>
        </p:nvSpPr>
        <p:spPr>
          <a:xfrm>
            <a:off x="7315200" y="4581144"/>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Hotfloor</a:t>
            </a:r>
          </a:p>
        </p:txBody>
      </p:sp>
      <p:sp>
        <p:nvSpPr>
          <p:cNvPr id="43" name="Rounded Rectangle 42"/>
          <p:cNvSpPr/>
          <p:nvPr/>
        </p:nvSpPr>
        <p:spPr>
          <a:xfrm>
            <a:off x="9326880" y="4681728"/>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44" name="TextBox 43"/>
          <p:cNvSpPr txBox="1"/>
          <p:nvPr/>
        </p:nvSpPr>
        <p:spPr>
          <a:xfrm>
            <a:off x="10362895" y="4581144"/>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15</a:t>
            </a:r>
          </a:p>
        </p:txBody>
      </p:sp>
      <p:sp>
        <p:nvSpPr>
          <p:cNvPr id="45" name="Rounded Rectangle 44"/>
          <p:cNvSpPr/>
          <p:nvPr/>
        </p:nvSpPr>
        <p:spPr>
          <a:xfrm>
            <a:off x="640080" y="5230368"/>
            <a:ext cx="10911535" cy="585216"/>
          </a:xfrm>
          <a:prstGeom prst="roundRect">
            <a:avLst>
              <a:gd name="adj" fmla="val 3000"/>
            </a:avLst>
          </a:prstGeom>
          <a:solidFill>
            <a:srgbClr val="FFFFFF"/>
          </a:solidFill>
          <a:ln w="12700">
            <a:solidFill>
              <a:srgbClr val="E2E9F1"/>
            </a:solidFill>
          </a:ln>
          <a:effectLst>
            <a:outerShdw blurRad="70000" dist="22000" dir="5400000" rotWithShape="0">
              <a:srgbClr val="1B3A5C">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ounded Rectangle 45"/>
          <p:cNvSpPr/>
          <p:nvPr/>
        </p:nvSpPr>
        <p:spPr>
          <a:xfrm>
            <a:off x="640080" y="5230368"/>
            <a:ext cx="45720" cy="585216"/>
          </a:xfrm>
          <a:prstGeom prst="roundRect">
            <a:avLst>
              <a:gd name="adj" fmla="val 50000"/>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50392" y="5330952"/>
            <a:ext cx="384048" cy="38404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200" b="1">
                <a:solidFill>
                  <a:srgbClr val="C87E12"/>
                </a:solidFill>
                <a:latin typeface="Calibri"/>
              </a:rPr>
              <a:t>6</a:t>
            </a:r>
          </a:p>
        </p:txBody>
      </p:sp>
      <p:sp>
        <p:nvSpPr>
          <p:cNvPr id="48" name="TextBox 47"/>
          <p:cNvSpPr txBox="1"/>
          <p:nvPr/>
        </p:nvSpPr>
        <p:spPr>
          <a:xfrm>
            <a:off x="1371600" y="5276088"/>
            <a:ext cx="5852160" cy="493776"/>
          </a:xfrm>
          <a:prstGeom prst="rect">
            <a:avLst/>
          </a:prstGeom>
          <a:noFill/>
        </p:spPr>
        <p:txBody>
          <a:bodyPr wrap="square" lIns="0" rIns="0" tIns="0" bIns="0" anchor="ctr">
            <a:spAutoFit/>
          </a:bodyPr>
          <a:lstStyle/>
          <a:p>
            <a:pPr algn="l">
              <a:lnSpc>
                <a:spcPct val="120000"/>
              </a:lnSpc>
              <a:spcAft>
                <a:spcPts val="100"/>
              </a:spcAft>
            </a:pPr>
            <a:r>
              <a:rPr sz="1350" b="1">
                <a:solidFill>
                  <a:srgbClr val="0D1B2A"/>
                </a:solidFill>
                <a:latin typeface="Calibri"/>
              </a:rPr>
              <a:t>Wat doen we met de knelpunten?</a:t>
            </a:r>
          </a:p>
          <a:p>
            <a:pPr algn="l">
              <a:lnSpc>
                <a:spcPct val="120000"/>
              </a:lnSpc>
              <a:spcAft>
                <a:spcPts val="0"/>
              </a:spcAft>
            </a:pPr>
            <a:r>
              <a:rPr sz="1000" b="0">
                <a:solidFill>
                  <a:srgbClr val="8B9AAA"/>
                </a:solidFill>
                <a:latin typeface="Calibri"/>
              </a:rPr>
              <a:t>de analyses zijn gedeeld, de vervolgacties zijn niet belegd</a:t>
            </a:r>
          </a:p>
        </p:txBody>
      </p:sp>
      <p:sp>
        <p:nvSpPr>
          <p:cNvPr id="49" name="TextBox 48"/>
          <p:cNvSpPr txBox="1"/>
          <p:nvPr/>
        </p:nvSpPr>
        <p:spPr>
          <a:xfrm>
            <a:off x="7315200" y="5276088"/>
            <a:ext cx="1920240" cy="493776"/>
          </a:xfrm>
          <a:prstGeom prst="rect">
            <a:avLst/>
          </a:prstGeom>
          <a:noFill/>
        </p:spPr>
        <p:txBody>
          <a:bodyPr wrap="square" lIns="0" rIns="0" tIns="0" bIns="0" anchor="ctr">
            <a:spAutoFit/>
          </a:bodyPr>
          <a:lstStyle/>
          <a:p>
            <a:pPr algn="l">
              <a:lnSpc>
                <a:spcPct val="120000"/>
              </a:lnSpc>
              <a:spcAft>
                <a:spcPts val="0"/>
              </a:spcAft>
            </a:pPr>
            <a:r>
              <a:rPr sz="1050" b="0">
                <a:solidFill>
                  <a:srgbClr val="55677C"/>
                </a:solidFill>
                <a:latin typeface="Calibri"/>
              </a:rPr>
              <a:t>uit beide analyses</a:t>
            </a:r>
          </a:p>
        </p:txBody>
      </p:sp>
      <p:sp>
        <p:nvSpPr>
          <p:cNvPr id="50" name="Rounded Rectangle 49"/>
          <p:cNvSpPr/>
          <p:nvPr/>
        </p:nvSpPr>
        <p:spPr>
          <a:xfrm>
            <a:off x="9326880" y="5376672"/>
            <a:ext cx="1225296" cy="292608"/>
          </a:xfrm>
          <a:prstGeom prst="roundRect">
            <a:avLst>
              <a:gd name="adj" fmla="val 50000"/>
            </a:avLst>
          </a:prstGeom>
          <a:solidFill>
            <a:srgbClr val="C87E12">
              <a:alpha val="11000"/>
            </a:srgbClr>
          </a:solidFill>
          <a:ln w="12700">
            <a:solidFill>
              <a:srgbClr val="DCBA87"/>
            </a:solidFill>
          </a:ln>
          <a:effectLst/>
        </p:spPr>
        <p:style>
          <a:lnRef idx="1">
            <a:schemeClr val="accent1"/>
          </a:lnRef>
          <a:fillRef idx="3">
            <a:schemeClr val="accent1"/>
          </a:fillRef>
          <a:effectRef idx="2">
            <a:schemeClr val="accent1"/>
          </a:effectRef>
          <a:fontRef idx="minor">
            <a:schemeClr val="lt1"/>
          </a:fontRef>
        </p:style>
        <p:txBody>
          <a:bodyPr rtlCol="0" anchor="ctr" wrap="square" lIns="64008" rIns="64008" tIns="0" bIns="0"/>
          <a:lstStyle/>
          <a:p>
            <a:pPr algn="ctr"/>
            <a:r>
              <a:rPr sz="1000" b="1">
                <a:solidFill>
                  <a:srgbClr val="C87E12"/>
                </a:solidFill>
                <a:latin typeface="Calibri"/>
              </a:rPr>
              <a:t>urgent</a:t>
            </a:r>
          </a:p>
        </p:txBody>
      </p:sp>
      <p:sp>
        <p:nvSpPr>
          <p:cNvPr id="51" name="TextBox 50"/>
          <p:cNvSpPr txBox="1"/>
          <p:nvPr/>
        </p:nvSpPr>
        <p:spPr>
          <a:xfrm>
            <a:off x="10362895" y="5276088"/>
            <a:ext cx="1133856" cy="493776"/>
          </a:xfrm>
          <a:prstGeom prst="rect">
            <a:avLst/>
          </a:prstGeom>
          <a:noFill/>
        </p:spPr>
        <p:txBody>
          <a:bodyPr wrap="square" lIns="0" rIns="0" tIns="0" bIns="0" anchor="ctr">
            <a:spAutoFit/>
          </a:bodyPr>
          <a:lstStyle/>
          <a:p>
            <a:pPr algn="r">
              <a:lnSpc>
                <a:spcPct val="120000"/>
              </a:lnSpc>
              <a:spcAft>
                <a:spcPts val="0"/>
              </a:spcAft>
            </a:pPr>
            <a:r>
              <a:rPr sz="1000" b="0">
                <a:solidFill>
                  <a:srgbClr val="8B9AAA"/>
                </a:solidFill>
                <a:latin typeface="Calibri"/>
              </a:rPr>
              <a:t>dia 13 en 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FFFFFF"/>
              </a:gs>
              <a:gs pos="100000">
                <a:srgbClr val="F1F6FC"/>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1371600"/>
            <a:ext cx="7315200" cy="219456"/>
          </a:xfrm>
          <a:prstGeom prst="rect">
            <a:avLst/>
          </a:prstGeom>
          <a:noFill/>
        </p:spPr>
        <p:txBody>
          <a:bodyPr wrap="square" lIns="0" rIns="0" tIns="0" bIns="0" anchor="t">
            <a:spAutoFit/>
          </a:bodyPr>
          <a:lstStyle/>
          <a:p>
            <a:pPr algn="l">
              <a:lnSpc>
                <a:spcPct val="120000"/>
              </a:lnSpc>
              <a:spcAft>
                <a:spcPts val="0"/>
              </a:spcAft>
            </a:pPr>
            <a:r>
              <a:rPr sz="1100" b="1" spc="220">
                <a:solidFill>
                  <a:srgbClr val="0E9A87"/>
                </a:solidFill>
                <a:latin typeface="Calibri"/>
              </a:rPr>
              <a:t>WAAR HET OP NEERKOMT</a:t>
            </a:r>
          </a:p>
        </p:txBody>
      </p:sp>
      <p:sp>
        <p:nvSpPr>
          <p:cNvPr id="4" name="TextBox 3"/>
          <p:cNvSpPr txBox="1"/>
          <p:nvPr/>
        </p:nvSpPr>
        <p:spPr>
          <a:xfrm>
            <a:off x="640080" y="1700784"/>
            <a:ext cx="7863840" cy="914400"/>
          </a:xfrm>
          <a:prstGeom prst="rect">
            <a:avLst/>
          </a:prstGeom>
          <a:noFill/>
        </p:spPr>
        <p:txBody>
          <a:bodyPr wrap="square" lIns="0" rIns="0" tIns="0" bIns="0" anchor="t">
            <a:spAutoFit/>
          </a:bodyPr>
          <a:lstStyle/>
          <a:p>
            <a:pPr algn="l">
              <a:lnSpc>
                <a:spcPct val="120000"/>
              </a:lnSpc>
              <a:spcAft>
                <a:spcPts val="0"/>
              </a:spcAft>
            </a:pPr>
            <a:r>
              <a:rPr sz="4600" b="1">
                <a:solidFill>
                  <a:srgbClr val="0D1B2A"/>
                </a:solidFill>
                <a:latin typeface="Calibri"/>
              </a:rPr>
              <a:t>Drie dingen</a:t>
            </a:r>
          </a:p>
        </p:txBody>
      </p:sp>
      <p:cxnSp>
        <p:nvCxnSpPr>
          <p:cNvPr id="5" name="Connector 4"/>
          <p:cNvCxnSpPr/>
          <p:nvPr/>
        </p:nvCxnSpPr>
        <p:spPr>
          <a:xfrm>
            <a:off x="640080" y="2743200"/>
            <a:ext cx="2377440" cy="0"/>
          </a:xfrm>
          <a:prstGeom prst="line">
            <a:avLst/>
          </a:prstGeom>
          <a:ln w="25400">
            <a:solidFill>
              <a:srgbClr val="0E9A87"/>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640080" y="3054096"/>
            <a:ext cx="475488" cy="475488"/>
          </a:xfrm>
          <a:prstGeom prst="ellipse">
            <a:avLst/>
          </a:prstGeom>
          <a:solidFill>
            <a:srgbClr val="0E9A87">
              <a:alpha val="10000"/>
            </a:srgbClr>
          </a:solidFill>
          <a:ln w="15875">
            <a:solidFill>
              <a:srgbClr val="0E9A87"/>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0E9A87"/>
                </a:solidFill>
                <a:latin typeface="Calibri"/>
              </a:rPr>
              <a:t/>
            </a:r>
          </a:p>
        </p:txBody>
      </p:sp>
      <p:sp>
        <p:nvSpPr>
          <p:cNvPr id="7" name="Oval 6"/>
          <p:cNvSpPr/>
          <p:nvPr/>
        </p:nvSpPr>
        <p:spPr>
          <a:xfrm>
            <a:off x="804672" y="3218687"/>
            <a:ext cx="146304" cy="146304"/>
          </a:xfrm>
          <a:prstGeom prst="ellipse">
            <a:avLst/>
          </a:prstGeom>
          <a:solidFill>
            <a:srgbClr val="0E9A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3054096"/>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0E9A87"/>
                </a:solidFill>
                <a:latin typeface="Calibri"/>
              </a:rPr>
              <a:t>Fysiek eerst</a:t>
            </a:r>
          </a:p>
        </p:txBody>
      </p:sp>
      <p:sp>
        <p:nvSpPr>
          <p:cNvPr id="9" name="TextBox 8"/>
          <p:cNvSpPr txBox="1"/>
          <p:nvPr/>
        </p:nvSpPr>
        <p:spPr>
          <a:xfrm>
            <a:off x="1298448" y="3383279"/>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Wat en waar. De personele inzet volgt daaruit; andersom werkt het niet.</a:t>
            </a:r>
          </a:p>
        </p:txBody>
      </p:sp>
      <p:sp>
        <p:nvSpPr>
          <p:cNvPr id="10" name="Oval 9"/>
          <p:cNvSpPr/>
          <p:nvPr/>
        </p:nvSpPr>
        <p:spPr>
          <a:xfrm>
            <a:off x="640080" y="4096511"/>
            <a:ext cx="475488" cy="475488"/>
          </a:xfrm>
          <a:prstGeom prst="ellipse">
            <a:avLst/>
          </a:prstGeom>
          <a:solidFill>
            <a:srgbClr val="C4392D">
              <a:alpha val="10000"/>
            </a:srgbClr>
          </a:solidFill>
          <a:ln w="15875">
            <a:solidFill>
              <a:srgbClr val="C4392D"/>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C4392D"/>
                </a:solidFill>
                <a:latin typeface="Calibri"/>
              </a:rPr>
              <a:t/>
            </a:r>
          </a:p>
        </p:txBody>
      </p:sp>
      <p:sp>
        <p:nvSpPr>
          <p:cNvPr id="11" name="Oval 10"/>
          <p:cNvSpPr/>
          <p:nvPr/>
        </p:nvSpPr>
        <p:spPr>
          <a:xfrm>
            <a:off x="804672" y="4261103"/>
            <a:ext cx="146304" cy="146304"/>
          </a:xfrm>
          <a:prstGeom prst="ellipse">
            <a:avLst/>
          </a:prstGeom>
          <a:solidFill>
            <a:srgbClr val="C439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98448" y="4096511"/>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C4392D"/>
                </a:solidFill>
                <a:latin typeface="Calibri"/>
              </a:rPr>
              <a:t>Drie besluiten blokkeren</a:t>
            </a:r>
          </a:p>
        </p:txBody>
      </p:sp>
      <p:sp>
        <p:nvSpPr>
          <p:cNvPr id="13" name="TextBox 12"/>
          <p:cNvSpPr txBox="1"/>
          <p:nvPr/>
        </p:nvSpPr>
        <p:spPr>
          <a:xfrm>
            <a:off x="1298448" y="4425696"/>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De EHH-vraag, het aantal plekken op de acute poort en de norm verpleegkundigen.</a:t>
            </a:r>
          </a:p>
        </p:txBody>
      </p:sp>
      <p:sp>
        <p:nvSpPr>
          <p:cNvPr id="14" name="Oval 13"/>
          <p:cNvSpPr/>
          <p:nvPr/>
        </p:nvSpPr>
        <p:spPr>
          <a:xfrm>
            <a:off x="640080" y="5138927"/>
            <a:ext cx="475488" cy="475488"/>
          </a:xfrm>
          <a:prstGeom prst="ellipse">
            <a:avLst/>
          </a:prstGeom>
          <a:solidFill>
            <a:srgbClr val="C87E12">
              <a:alpha val="10000"/>
            </a:srgbClr>
          </a:solidFill>
          <a:ln w="15875">
            <a:solidFill>
              <a:srgbClr val="C87E12"/>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768" b="1">
                <a:solidFill>
                  <a:srgbClr val="C87E12"/>
                </a:solidFill>
                <a:latin typeface="Calibri"/>
              </a:rPr>
              <a:t/>
            </a:r>
          </a:p>
        </p:txBody>
      </p:sp>
      <p:sp>
        <p:nvSpPr>
          <p:cNvPr id="15" name="Oval 14"/>
          <p:cNvSpPr/>
          <p:nvPr/>
        </p:nvSpPr>
        <p:spPr>
          <a:xfrm>
            <a:off x="804672" y="5303519"/>
            <a:ext cx="146304" cy="146304"/>
          </a:xfrm>
          <a:prstGeom prst="ellipse">
            <a:avLst/>
          </a:prstGeom>
          <a:solidFill>
            <a:srgbClr val="C87E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298448" y="5138927"/>
            <a:ext cx="8778240" cy="292608"/>
          </a:xfrm>
          <a:prstGeom prst="rect">
            <a:avLst/>
          </a:prstGeom>
          <a:noFill/>
        </p:spPr>
        <p:txBody>
          <a:bodyPr wrap="square" lIns="0" rIns="0" tIns="0" bIns="0" anchor="t">
            <a:spAutoFit/>
          </a:bodyPr>
          <a:lstStyle/>
          <a:p>
            <a:pPr algn="l">
              <a:lnSpc>
                <a:spcPct val="120000"/>
              </a:lnSpc>
              <a:spcAft>
                <a:spcPts val="0"/>
              </a:spcAft>
            </a:pPr>
            <a:r>
              <a:rPr sz="1700" b="1">
                <a:solidFill>
                  <a:srgbClr val="C87E12"/>
                </a:solidFill>
                <a:latin typeface="Calibri"/>
              </a:rPr>
              <a:t>Nu apart, straks samen</a:t>
            </a:r>
          </a:p>
        </p:txBody>
      </p:sp>
      <p:sp>
        <p:nvSpPr>
          <p:cNvPr id="17" name="TextBox 16"/>
          <p:cNvSpPr txBox="1"/>
          <p:nvPr/>
        </p:nvSpPr>
        <p:spPr>
          <a:xfrm>
            <a:off x="1298448" y="5468112"/>
            <a:ext cx="8412480" cy="457200"/>
          </a:xfrm>
          <a:prstGeom prst="rect">
            <a:avLst/>
          </a:prstGeom>
          <a:noFill/>
        </p:spPr>
        <p:txBody>
          <a:bodyPr wrap="square" lIns="0" rIns="0" tIns="0" bIns="0" anchor="t">
            <a:spAutoFit/>
          </a:bodyPr>
          <a:lstStyle/>
          <a:p>
            <a:pPr algn="l">
              <a:lnSpc>
                <a:spcPct val="125000"/>
              </a:lnSpc>
              <a:spcAft>
                <a:spcPts val="0"/>
              </a:spcAft>
            </a:pPr>
            <a:r>
              <a:rPr sz="1250" b="0">
                <a:solidFill>
                  <a:srgbClr val="55677C"/>
                </a:solidFill>
                <a:latin typeface="Calibri"/>
              </a:rPr>
              <a:t>De huidige berekeningen gelden per afdeling. Bij samenvoeging moet opnieuw geteld worden.</a:t>
            </a:r>
          </a:p>
        </p:txBody>
      </p:sp>
      <p:sp>
        <p:nvSpPr>
          <p:cNvPr id="18" name="Freeform 17"/>
          <p:cNvSpPr/>
          <p:nvPr/>
        </p:nvSpPr>
        <p:spPr>
          <a:xfrm>
            <a:off x="0" y="5980176"/>
            <a:ext cx="12191695" cy="566928"/>
          </a:xfrm>
          <a:custGeom>
            <a:avLst/>
            <a:gdLst/>
            <a:ahLst/>
            <a:cxnLst/>
            <a:rect l="l" t="t" r="r" b="b"/>
            <a:pathLst>
              <a:path w="12191695" h="566928">
                <a:moveTo>
                  <a:pt x="0" y="365760"/>
                </a:moveTo>
                <a:lnTo>
                  <a:pt x="914377" y="365760"/>
                </a:lnTo>
                <a:lnTo>
                  <a:pt x="1097252" y="307238"/>
                </a:lnTo>
                <a:lnTo>
                  <a:pt x="1280127" y="402336"/>
                </a:lnTo>
                <a:lnTo>
                  <a:pt x="1523961" y="0"/>
                </a:lnTo>
                <a:lnTo>
                  <a:pt x="1767795" y="566928"/>
                </a:lnTo>
                <a:lnTo>
                  <a:pt x="2011629" y="365760"/>
                </a:lnTo>
                <a:lnTo>
                  <a:pt x="3047923" y="365760"/>
                </a:lnTo>
                <a:lnTo>
                  <a:pt x="3047923" y="365760"/>
                </a:lnTo>
                <a:lnTo>
                  <a:pt x="3962300" y="365760"/>
                </a:lnTo>
                <a:lnTo>
                  <a:pt x="4145176" y="307238"/>
                </a:lnTo>
                <a:lnTo>
                  <a:pt x="4328051" y="402336"/>
                </a:lnTo>
                <a:lnTo>
                  <a:pt x="4571885" y="0"/>
                </a:lnTo>
                <a:lnTo>
                  <a:pt x="4815719" y="566928"/>
                </a:lnTo>
                <a:lnTo>
                  <a:pt x="5059553" y="365760"/>
                </a:lnTo>
                <a:lnTo>
                  <a:pt x="6095847" y="365760"/>
                </a:lnTo>
                <a:lnTo>
                  <a:pt x="6095847" y="365760"/>
                </a:lnTo>
                <a:lnTo>
                  <a:pt x="7010224" y="365760"/>
                </a:lnTo>
                <a:lnTo>
                  <a:pt x="7193100" y="307238"/>
                </a:lnTo>
                <a:lnTo>
                  <a:pt x="7375975" y="402336"/>
                </a:lnTo>
                <a:lnTo>
                  <a:pt x="7619809" y="0"/>
                </a:lnTo>
                <a:lnTo>
                  <a:pt x="7863643" y="566928"/>
                </a:lnTo>
                <a:lnTo>
                  <a:pt x="8107477" y="365760"/>
                </a:lnTo>
                <a:lnTo>
                  <a:pt x="9143771" y="365760"/>
                </a:lnTo>
                <a:lnTo>
                  <a:pt x="9143771" y="365760"/>
                </a:lnTo>
                <a:lnTo>
                  <a:pt x="10058148" y="365760"/>
                </a:lnTo>
                <a:lnTo>
                  <a:pt x="10241023" y="307238"/>
                </a:lnTo>
                <a:lnTo>
                  <a:pt x="10423899" y="402336"/>
                </a:lnTo>
                <a:lnTo>
                  <a:pt x="10667733" y="0"/>
                </a:lnTo>
                <a:lnTo>
                  <a:pt x="10911567" y="566928"/>
                </a:lnTo>
                <a:lnTo>
                  <a:pt x="11155401" y="365760"/>
                </a:lnTo>
                <a:lnTo>
                  <a:pt x="12191695" y="365760"/>
                </a:lnTo>
              </a:path>
            </a:pathLst>
          </a:custGeom>
          <a:noFill/>
          <a:ln w="19050">
            <a:solidFill>
              <a:srgbClr val="0E9A87">
                <a:alpha val="40000"/>
              </a:srgb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