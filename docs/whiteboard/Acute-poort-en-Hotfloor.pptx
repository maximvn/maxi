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548640" y="-365759"/>
            <a:ext cx="4754880" cy="4754880"/>
          </a:xfrm>
          <a:prstGeom prst="ellipse">
            <a:avLst/>
          </a:prstGeom>
          <a:solidFill>
            <a:srgbClr val="35E0C4">
              <a:alpha val="9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3152" y="109728"/>
            <a:ext cx="3803904" cy="3803904"/>
          </a:xfrm>
          <a:prstGeom prst="ellipse">
            <a:avLst/>
          </a:prstGeom>
          <a:solidFill>
            <a:srgbClr val="35E0C4">
              <a:alpha val="1125"/>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02335" y="585216"/>
            <a:ext cx="2852928" cy="2852928"/>
          </a:xfrm>
          <a:prstGeom prst="ellipse">
            <a:avLst/>
          </a:prstGeom>
          <a:solidFill>
            <a:srgbClr val="35E0C4">
              <a:alpha val="15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1060704"/>
            <a:ext cx="1901952" cy="1901952"/>
          </a:xfrm>
          <a:prstGeom prst="ellipse">
            <a:avLst/>
          </a:prstGeom>
          <a:solidFill>
            <a:srgbClr val="35E0C4">
              <a:alpha val="225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1536192"/>
            <a:ext cx="950976" cy="950976"/>
          </a:xfrm>
          <a:prstGeom prst="ellipse">
            <a:avLst/>
          </a:prstGeom>
          <a:solidFill>
            <a:srgbClr val="35E0C4">
              <a:alpha val="45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12279" y="548640"/>
            <a:ext cx="5303520" cy="5303520"/>
          </a:xfrm>
          <a:prstGeom prst="ellipse">
            <a:avLst/>
          </a:prstGeom>
          <a:noFill/>
          <a:ln w="12700">
            <a:solidFill>
              <a:srgbClr val="35E0C4">
                <a:alpha val="1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98079" y="1234440"/>
            <a:ext cx="3931920" cy="3931920"/>
          </a:xfrm>
          <a:prstGeom prst="ellipse">
            <a:avLst/>
          </a:prstGeom>
          <a:noFill/>
          <a:ln w="12700">
            <a:solidFill>
              <a:srgbClr val="35E0C4">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183879" y="1920240"/>
            <a:ext cx="2560320" cy="2560320"/>
          </a:xfrm>
          <a:prstGeom prst="ellipse">
            <a:avLst/>
          </a:prstGeom>
          <a:noFill/>
          <a:ln w="12700">
            <a:solidFill>
              <a:srgbClr val="35E0C4">
                <a:alpha val="3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0080" y="1481328"/>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35E0C4"/>
                </a:solidFill>
                <a:latin typeface="Calibri"/>
              </a:rPr>
              <a:t>INTEGRAAL CAPACITEITSMANAGEMENT</a:t>
            </a:r>
          </a:p>
        </p:txBody>
      </p:sp>
      <p:sp>
        <p:nvSpPr>
          <p:cNvPr id="12" name="TextBox 11"/>
          <p:cNvSpPr txBox="1"/>
          <p:nvPr/>
        </p:nvSpPr>
        <p:spPr>
          <a:xfrm>
            <a:off x="640080" y="1810512"/>
            <a:ext cx="7863840" cy="1828800"/>
          </a:xfrm>
          <a:prstGeom prst="rect">
            <a:avLst/>
          </a:prstGeom>
          <a:noFill/>
        </p:spPr>
        <p:txBody>
          <a:bodyPr wrap="square" lIns="0" rIns="0" tIns="0" bIns="0" anchor="t">
            <a:spAutoFit/>
          </a:bodyPr>
          <a:lstStyle/>
          <a:p>
            <a:pPr algn="l">
              <a:lnSpc>
                <a:spcPct val="100000"/>
              </a:lnSpc>
              <a:spcAft>
                <a:spcPts val="0"/>
              </a:spcAft>
            </a:pPr>
            <a:r>
              <a:rPr sz="6200" b="1">
                <a:solidFill>
                  <a:srgbClr val="EAF2FA"/>
                </a:solidFill>
                <a:latin typeface="Calibri"/>
              </a:rPr>
              <a:t>Acute poort</a:t>
            </a:r>
          </a:p>
          <a:p>
            <a:pPr algn="l">
              <a:lnSpc>
                <a:spcPct val="100000"/>
              </a:lnSpc>
              <a:spcAft>
                <a:spcPts val="0"/>
              </a:spcAft>
            </a:pPr>
            <a:r>
              <a:rPr sz="6200" b="1">
                <a:solidFill>
                  <a:srgbClr val="35E0C4"/>
                </a:solidFill>
                <a:latin typeface="Calibri"/>
              </a:rPr>
              <a:t>en Hotfloor</a:t>
            </a:r>
          </a:p>
        </p:txBody>
      </p:sp>
      <p:cxnSp>
        <p:nvCxnSpPr>
          <p:cNvPr id="13" name="Connector 12"/>
          <p:cNvCxnSpPr/>
          <p:nvPr/>
        </p:nvCxnSpPr>
        <p:spPr>
          <a:xfrm>
            <a:off x="640080" y="3803904"/>
            <a:ext cx="3108959" cy="0"/>
          </a:xfrm>
          <a:prstGeom prst="line">
            <a:avLst/>
          </a:prstGeom>
          <a:ln w="25400">
            <a:solidFill>
              <a:srgbClr val="35E0C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3986784"/>
            <a:ext cx="6766560" cy="548640"/>
          </a:xfrm>
          <a:prstGeom prst="rect">
            <a:avLst/>
          </a:prstGeom>
          <a:noFill/>
        </p:spPr>
        <p:txBody>
          <a:bodyPr wrap="square" lIns="0" rIns="0" tIns="0" bIns="0" anchor="t">
            <a:spAutoFit/>
          </a:bodyPr>
          <a:lstStyle/>
          <a:p>
            <a:pPr algn="l">
              <a:lnSpc>
                <a:spcPct val="120000"/>
              </a:lnSpc>
              <a:spcAft>
                <a:spcPts val="0"/>
              </a:spcAft>
            </a:pPr>
            <a:r>
              <a:rPr sz="1600" b="0">
                <a:solidFill>
                  <a:srgbClr val="8BA5C0"/>
                </a:solidFill>
                <a:latin typeface="Calibri"/>
              </a:rPr>
              <a:t>Van de huidige situatie naar de nieuwbouw, juni 2027</a:t>
            </a:r>
          </a:p>
        </p:txBody>
      </p:sp>
      <p:sp>
        <p:nvSpPr>
          <p:cNvPr id="15" name="TextBox 14"/>
          <p:cNvSpPr txBox="1"/>
          <p:nvPr/>
        </p:nvSpPr>
        <p:spPr>
          <a:xfrm>
            <a:off x="64008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35E0C4"/>
                </a:solidFill>
                <a:latin typeface="Calibri"/>
              </a:rPr>
              <a:t>36</a:t>
            </a:r>
          </a:p>
        </p:txBody>
      </p:sp>
      <p:sp>
        <p:nvSpPr>
          <p:cNvPr id="16" name="TextBox 15"/>
          <p:cNvSpPr txBox="1"/>
          <p:nvPr/>
        </p:nvSpPr>
        <p:spPr>
          <a:xfrm>
            <a:off x="64008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8BA5C0"/>
                </a:solidFill>
                <a:latin typeface="Calibri"/>
              </a:rPr>
              <a:t>OPENSTAANDE VRAGEN</a:t>
            </a:r>
          </a:p>
        </p:txBody>
      </p:sp>
      <p:sp>
        <p:nvSpPr>
          <p:cNvPr id="17" name="TextBox 16"/>
          <p:cNvSpPr txBox="1"/>
          <p:nvPr/>
        </p:nvSpPr>
        <p:spPr>
          <a:xfrm>
            <a:off x="370332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FF6B5A"/>
                </a:solidFill>
                <a:latin typeface="Calibri"/>
              </a:rPr>
              <a:t>6</a:t>
            </a:r>
          </a:p>
        </p:txBody>
      </p:sp>
      <p:sp>
        <p:nvSpPr>
          <p:cNvPr id="18" name="TextBox 17"/>
          <p:cNvSpPr txBox="1"/>
          <p:nvPr/>
        </p:nvSpPr>
        <p:spPr>
          <a:xfrm>
            <a:off x="370332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8BA5C0"/>
                </a:solidFill>
                <a:latin typeface="Calibri"/>
              </a:rPr>
              <a:t>BESLUITEN DIE KLEMMEN</a:t>
            </a:r>
          </a:p>
        </p:txBody>
      </p:sp>
      <p:sp>
        <p:nvSpPr>
          <p:cNvPr id="19" name="TextBox 18"/>
          <p:cNvSpPr txBox="1"/>
          <p:nvPr/>
        </p:nvSpPr>
        <p:spPr>
          <a:xfrm>
            <a:off x="676656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FFB547"/>
                </a:solidFill>
                <a:latin typeface="Calibri"/>
              </a:rPr>
              <a:t>2</a:t>
            </a:r>
          </a:p>
        </p:txBody>
      </p:sp>
      <p:sp>
        <p:nvSpPr>
          <p:cNvPr id="20" name="TextBox 19"/>
          <p:cNvSpPr txBox="1"/>
          <p:nvPr/>
        </p:nvSpPr>
        <p:spPr>
          <a:xfrm>
            <a:off x="676656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8BA5C0"/>
                </a:solidFill>
                <a:latin typeface="Calibri"/>
              </a:rPr>
              <a:t>GROTE WIJZIGINGEN</a:t>
            </a:r>
          </a:p>
        </p:txBody>
      </p:sp>
      <p:sp>
        <p:nvSpPr>
          <p:cNvPr id="21" name="Freeform 20"/>
          <p:cNvSpPr/>
          <p:nvPr/>
        </p:nvSpPr>
        <p:spPr>
          <a:xfrm>
            <a:off x="0" y="5943600"/>
            <a:ext cx="12191695" cy="595274"/>
          </a:xfrm>
          <a:custGeom>
            <a:avLst/>
            <a:gdLst/>
            <a:ahLst/>
            <a:cxnLst/>
            <a:rect l="l" t="t" r="r" b="b"/>
            <a:pathLst>
              <a:path w="12191695" h="595274">
                <a:moveTo>
                  <a:pt x="0" y="384048"/>
                </a:moveTo>
                <a:lnTo>
                  <a:pt x="914377" y="384048"/>
                </a:lnTo>
                <a:lnTo>
                  <a:pt x="1097252" y="322600"/>
                </a:lnTo>
                <a:lnTo>
                  <a:pt x="1280127" y="422452"/>
                </a:lnTo>
                <a:lnTo>
                  <a:pt x="1523961" y="0"/>
                </a:lnTo>
                <a:lnTo>
                  <a:pt x="1767795" y="595274"/>
                </a:lnTo>
                <a:lnTo>
                  <a:pt x="2011629" y="384048"/>
                </a:lnTo>
                <a:lnTo>
                  <a:pt x="3047923" y="384048"/>
                </a:lnTo>
                <a:lnTo>
                  <a:pt x="3047923" y="384048"/>
                </a:lnTo>
                <a:lnTo>
                  <a:pt x="3962300" y="384048"/>
                </a:lnTo>
                <a:lnTo>
                  <a:pt x="4145176" y="322600"/>
                </a:lnTo>
                <a:lnTo>
                  <a:pt x="4328051" y="422452"/>
                </a:lnTo>
                <a:lnTo>
                  <a:pt x="4571885" y="0"/>
                </a:lnTo>
                <a:lnTo>
                  <a:pt x="4815719" y="595274"/>
                </a:lnTo>
                <a:lnTo>
                  <a:pt x="5059553" y="384048"/>
                </a:lnTo>
                <a:lnTo>
                  <a:pt x="6095847" y="384048"/>
                </a:lnTo>
                <a:lnTo>
                  <a:pt x="6095847" y="384048"/>
                </a:lnTo>
                <a:lnTo>
                  <a:pt x="7010224" y="384048"/>
                </a:lnTo>
                <a:lnTo>
                  <a:pt x="7193100" y="322600"/>
                </a:lnTo>
                <a:lnTo>
                  <a:pt x="7375975" y="422452"/>
                </a:lnTo>
                <a:lnTo>
                  <a:pt x="7619809" y="0"/>
                </a:lnTo>
                <a:lnTo>
                  <a:pt x="7863643" y="595274"/>
                </a:lnTo>
                <a:lnTo>
                  <a:pt x="8107477" y="384048"/>
                </a:lnTo>
                <a:lnTo>
                  <a:pt x="9143771" y="384048"/>
                </a:lnTo>
                <a:lnTo>
                  <a:pt x="9143771" y="384048"/>
                </a:lnTo>
                <a:lnTo>
                  <a:pt x="10058148" y="384048"/>
                </a:lnTo>
                <a:lnTo>
                  <a:pt x="10241023" y="322600"/>
                </a:lnTo>
                <a:lnTo>
                  <a:pt x="10423899" y="422452"/>
                </a:lnTo>
                <a:lnTo>
                  <a:pt x="10667733" y="0"/>
                </a:lnTo>
                <a:lnTo>
                  <a:pt x="10911567" y="595274"/>
                </a:lnTo>
                <a:lnTo>
                  <a:pt x="11155401" y="384048"/>
                </a:lnTo>
                <a:lnTo>
                  <a:pt x="12191695" y="384048"/>
                </a:lnTo>
              </a:path>
            </a:pathLst>
          </a:custGeom>
          <a:noFill/>
          <a:ln w="19050">
            <a:solidFill>
              <a:srgbClr val="35E0C4">
                <a:alpha val="2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046719" y="2743200"/>
            <a:ext cx="4389120" cy="4389120"/>
          </a:xfrm>
          <a:prstGeom prst="ellipse">
            <a:avLst/>
          </a:prstGeom>
          <a:solidFill>
            <a:srgbClr val="35E0C4">
              <a:alpha val="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85632" y="3182112"/>
            <a:ext cx="3511296" cy="3511296"/>
          </a:xfrm>
          <a:prstGeom prst="ellipse">
            <a:avLst/>
          </a:prstGeom>
          <a:solidFill>
            <a:srgbClr val="35E0C4">
              <a:alpha val="1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924544" y="3621024"/>
            <a:ext cx="2633472" cy="2633472"/>
          </a:xfrm>
          <a:prstGeom prst="ellipse">
            <a:avLst/>
          </a:prstGeom>
          <a:solidFill>
            <a:srgbClr val="35E0C4">
              <a:alpha val="1333"/>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363455" y="4059936"/>
            <a:ext cx="1755648" cy="1755648"/>
          </a:xfrm>
          <a:prstGeom prst="ellipse">
            <a:avLst/>
          </a:prstGeom>
          <a:solidFill>
            <a:srgbClr val="35E0C4">
              <a:alpha val="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802367" y="4498848"/>
            <a:ext cx="877824" cy="877824"/>
          </a:xfrm>
          <a:prstGeom prst="ellipse">
            <a:avLst/>
          </a:prstGeom>
          <a:solidFill>
            <a:srgbClr val="35E0C4">
              <a:alpha val="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EAF2FA">
                    <a:alpha val="6000"/>
                  </a:srgbClr>
                </a:solidFill>
                <a:latin typeface="Calibri"/>
              </a:rPr>
              <a:t>01</a:t>
            </a:r>
          </a:p>
        </p:txBody>
      </p:sp>
      <p:sp>
        <p:nvSpPr>
          <p:cNvPr id="9" name="TextBox 8"/>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35E0C4"/>
                </a:solidFill>
                <a:latin typeface="Calibri"/>
              </a:rPr>
              <a:t>DEEL 01</a:t>
            </a:r>
          </a:p>
        </p:txBody>
      </p:sp>
      <p:sp>
        <p:nvSpPr>
          <p:cNvPr id="10" name="TextBox 9"/>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EAF2FA"/>
                </a:solidFill>
                <a:latin typeface="Calibri"/>
              </a:rPr>
              <a:t>Waar staan we nu</a:t>
            </a:r>
          </a:p>
        </p:txBody>
      </p:sp>
      <p:cxnSp>
        <p:nvCxnSpPr>
          <p:cNvPr id="11" name="Connector 10"/>
          <p:cNvCxnSpPr/>
          <p:nvPr/>
        </p:nvCxnSpPr>
        <p:spPr>
          <a:xfrm>
            <a:off x="640080" y="3584448"/>
            <a:ext cx="2377440" cy="0"/>
          </a:xfrm>
          <a:prstGeom prst="line">
            <a:avLst/>
          </a:prstGeom>
          <a:ln w="25400">
            <a:solidFill>
              <a:srgbClr val="35E0C4"/>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49224" y="3895344"/>
            <a:ext cx="109728" cy="10972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8BA5C0"/>
                </a:solidFill>
                <a:latin typeface="Calibri"/>
              </a:rPr>
              <a:t>De startsituatie per afdeling</a:t>
            </a:r>
          </a:p>
        </p:txBody>
      </p:sp>
      <p:sp>
        <p:nvSpPr>
          <p:cNvPr id="14" name="Oval 13"/>
          <p:cNvSpPr/>
          <p:nvPr/>
        </p:nvSpPr>
        <p:spPr>
          <a:xfrm>
            <a:off x="649224" y="4279392"/>
            <a:ext cx="109728" cy="10972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8BA5C0"/>
                </a:solidFill>
                <a:latin typeface="Calibri"/>
              </a:rPr>
              <a:t>Waarom tien en vijftien kamers niet optelbaar zijn</a:t>
            </a:r>
          </a:p>
        </p:txBody>
      </p:sp>
      <p:sp>
        <p:nvSpPr>
          <p:cNvPr id="16" name="Freeform 15"/>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35E0C4">
                <a:alpha val="2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19" name="TextBox 1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35E0C4"/>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Startsituatie per afdeling</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Zonder vastgestelde norm is de personele inzet niet te onderbouwen</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03</a:t>
            </a:r>
          </a:p>
        </p:txBody>
      </p:sp>
      <p:graphicFrame>
        <p:nvGraphicFramePr>
          <p:cNvPr id="10" name="Table 9"/>
          <p:cNvGraphicFramePr>
            <a:graphicFrameLocks noGrp="1"/>
          </p:cNvGraphicFramePr>
          <p:nvPr/>
        </p:nvGraphicFramePr>
        <p:xfrm>
          <a:off x="640080" y="1700784"/>
          <a:ext cx="10865814" cy="1938528"/>
        </p:xfrm>
        <a:graphic>
          <a:graphicData uri="http://schemas.openxmlformats.org/drawingml/2006/table">
            <a:tbl>
              <a:tblPr>
                <a:tableStyleId>{5C22544A-7EE6-4342-B048-85BDC9FD1C3A}</a:tableStyleId>
              </a:tblPr>
              <a:tblGrid>
                <a:gridCol w="1965960"/>
                <a:gridCol w="1097280"/>
                <a:gridCol w="1691640"/>
                <a:gridCol w="1051560"/>
                <a:gridCol w="1874519"/>
                <a:gridCol w="1691640"/>
                <a:gridCol w="1493215"/>
              </a:tblGrid>
              <a:tr h="329184">
                <a:tc>
                  <a:txBody>
                    <a:bodyPr wrap="square"/>
                    <a:lstStyle/>
                    <a:p>
                      <a:pPr algn="l">
                        <a:spcAft>
                          <a:spcPts val="200"/>
                        </a:spcAft>
                      </a:pPr>
                      <a:r>
                        <a:rPr sz="950" b="1">
                          <a:solidFill>
                            <a:srgbClr val="35E0C4"/>
                          </a:solidFill>
                          <a:latin typeface="Calibri"/>
                        </a:rPr>
                        <a:t>AFDELING</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ctr">
                        <a:spcAft>
                          <a:spcPts val="200"/>
                        </a:spcAft>
                      </a:pPr>
                      <a:r>
                        <a:rPr sz="950" b="1">
                          <a:solidFill>
                            <a:srgbClr val="35E0C4"/>
                          </a:solidFill>
                          <a:latin typeface="Calibri"/>
                        </a:rPr>
                        <a:t>KAMERS NU</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ctr">
                        <a:spcAft>
                          <a:spcPts val="200"/>
                        </a:spcAft>
                      </a:pPr>
                      <a:r>
                        <a:rPr sz="950" b="1">
                          <a:solidFill>
                            <a:srgbClr val="35E0C4"/>
                          </a:solidFill>
                          <a:latin typeface="Calibri"/>
                        </a:rPr>
                        <a:t>JAARPLAN</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ctr">
                        <a:spcAft>
                          <a:spcPts val="200"/>
                        </a:spcAft>
                      </a:pPr>
                      <a:r>
                        <a:rPr sz="950" b="1">
                          <a:solidFill>
                            <a:srgbClr val="35E0C4"/>
                          </a:solidFill>
                          <a:latin typeface="Calibri"/>
                        </a:rPr>
                        <a:t>NORM VPK</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ctr">
                        <a:spcAft>
                          <a:spcPts val="200"/>
                        </a:spcAft>
                      </a:pPr>
                      <a:r>
                        <a:rPr sz="950" b="1">
                          <a:solidFill>
                            <a:srgbClr val="35E0C4"/>
                          </a:solidFill>
                          <a:latin typeface="Calibri"/>
                        </a:rPr>
                        <a:t>HUIDIGE INZET</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ctr">
                        <a:spcAft>
                          <a:spcPts val="200"/>
                        </a:spcAft>
                      </a:pPr>
                      <a:r>
                        <a:rPr sz="900" b="1">
                          <a:solidFill>
                            <a:srgbClr val="35E0C4"/>
                          </a:solidFill>
                          <a:latin typeface="Calibri"/>
                        </a:rPr>
                        <a:t>OMGEREKENDE NORM</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ctr">
                        <a:spcAft>
                          <a:spcPts val="200"/>
                        </a:spcAft>
                      </a:pPr>
                      <a:r>
                        <a:rPr sz="950" b="1">
                          <a:solidFill>
                            <a:srgbClr val="35E0C4"/>
                          </a:solidFill>
                          <a:latin typeface="Calibri"/>
                        </a:rPr>
                        <a:t>GEWENSTE NORM</a:t>
                      </a:r>
                    </a:p>
                  </a:txBody>
                  <a:tcPr marL="91440" marR="91440" marT="36576" marB="36576" anchor="ctr">
                    <a:solidFill>
                      <a:srgbClr val="05101E"/>
                    </a:solidFill>
                    <a:lnL w="0">
                      <a:noFill/>
                    </a:lnL>
                    <a:lnR w="0">
                      <a:noFill/>
                    </a:lnR>
                    <a:lnT w="0">
                      <a:noFill/>
                    </a:lnT>
                    <a:lnB w="6350" cap="flat">
                      <a:solidFill>
                        <a:srgbClr val="1D3B5E"/>
                      </a:solidFill>
                    </a:lnB>
                  </a:tcPr>
                </a:tc>
              </a:tr>
              <a:tr h="402336">
                <a:tc>
                  <a:txBody>
                    <a:bodyPr wrap="square"/>
                    <a:lstStyle/>
                    <a:p>
                      <a:pPr algn="l">
                        <a:spcAft>
                          <a:spcPts val="200"/>
                        </a:spcAft>
                      </a:pPr>
                      <a:r>
                        <a:rPr sz="1100" b="1">
                          <a:solidFill>
                            <a:srgbClr val="EAF2FA"/>
                          </a:solidFill>
                          <a:latin typeface="Calibri"/>
                        </a:rPr>
                        <a:t>ICU</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EAF2FA"/>
                          </a:solidFill>
                          <a:latin typeface="Calibri"/>
                        </a:rPr>
                        <a:t>10</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6B5A"/>
                          </a:solidFill>
                          <a:latin typeface="Calibri"/>
                        </a:rPr>
                        <a:t>nee</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6B5A"/>
                          </a:solidFill>
                          <a:latin typeface="Calibri"/>
                        </a:rPr>
                        <a:t>nee</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35E0C4"/>
                          </a:solidFill>
                          <a:latin typeface="Calibri"/>
                        </a:rPr>
                        <a:t>D · L · N</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B547"/>
                          </a:solidFill>
                          <a:latin typeface="Calibri"/>
                        </a:rPr>
                        <a:t>in te vullen</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B547"/>
                          </a:solidFill>
                          <a:latin typeface="Calibri"/>
                        </a:rPr>
                        <a:t>in te vullen</a:t>
                      </a:r>
                    </a:p>
                  </a:txBody>
                  <a:tcPr marL="91440" marR="91440" marT="36576" marB="36576" anchor="ctr">
                    <a:solidFill>
                      <a:srgbClr val="0F2440"/>
                    </a:solidFill>
                    <a:lnL w="0">
                      <a:noFill/>
                    </a:lnL>
                    <a:lnR w="0">
                      <a:noFill/>
                    </a:lnR>
                    <a:lnT w="0">
                      <a:noFill/>
                    </a:lnT>
                    <a:lnB w="6350" cap="flat">
                      <a:solidFill>
                        <a:srgbClr val="1D3B5E"/>
                      </a:solidFill>
                    </a:lnB>
                  </a:tcPr>
                </a:tc>
              </a:tr>
              <a:tr h="402336">
                <a:tc>
                  <a:txBody>
                    <a:bodyPr wrap="square"/>
                    <a:lstStyle/>
                    <a:p>
                      <a:pPr algn="l">
                        <a:spcAft>
                          <a:spcPts val="200"/>
                        </a:spcAft>
                      </a:pPr>
                      <a:r>
                        <a:rPr sz="1100" b="1">
                          <a:solidFill>
                            <a:srgbClr val="EAF2FA"/>
                          </a:solidFill>
                          <a:latin typeface="Calibri"/>
                        </a:rPr>
                        <a:t>CCU / SCU / EHH</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EAF2FA"/>
                          </a:solidFill>
                          <a:latin typeface="Calibri"/>
                        </a:rPr>
                        <a:t>15</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B547"/>
                          </a:solidFill>
                          <a:latin typeface="Calibri"/>
                        </a:rPr>
                        <a:t>ja, niet ingevoerd</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6B5A"/>
                          </a:solidFill>
                          <a:latin typeface="Calibri"/>
                        </a:rPr>
                        <a:t>nee</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35E0C4"/>
                          </a:solidFill>
                          <a:latin typeface="Calibri"/>
                        </a:rPr>
                        <a:t>D · L · N</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B547"/>
                          </a:solidFill>
                          <a:latin typeface="Calibri"/>
                        </a:rPr>
                        <a:t>in te vullen</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B547"/>
                          </a:solidFill>
                          <a:latin typeface="Calibri"/>
                        </a:rPr>
                        <a:t>in te vullen</a:t>
                      </a:r>
                    </a:p>
                  </a:txBody>
                  <a:tcPr marL="91440" marR="91440" marT="36576" marB="36576" anchor="ctr">
                    <a:solidFill>
                      <a:srgbClr val="16314F"/>
                    </a:solidFill>
                    <a:lnL w="0">
                      <a:noFill/>
                    </a:lnL>
                    <a:lnR w="0">
                      <a:noFill/>
                    </a:lnR>
                    <a:lnT w="0">
                      <a:noFill/>
                    </a:lnT>
                    <a:lnB w="6350" cap="flat">
                      <a:solidFill>
                        <a:srgbClr val="1D3B5E"/>
                      </a:solidFill>
                    </a:lnB>
                  </a:tcPr>
                </a:tc>
              </a:tr>
              <a:tr h="402336">
                <a:tc>
                  <a:txBody>
                    <a:bodyPr wrap="square"/>
                    <a:lstStyle/>
                    <a:p>
                      <a:pPr algn="l">
                        <a:spcAft>
                          <a:spcPts val="200"/>
                        </a:spcAft>
                      </a:pPr>
                      <a:r>
                        <a:rPr sz="1100" b="1">
                          <a:solidFill>
                            <a:srgbClr val="EAF2FA"/>
                          </a:solidFill>
                          <a:latin typeface="Calibri"/>
                        </a:rPr>
                        <a:t>SEH</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5F7B9A"/>
                          </a:solidFill>
                          <a:latin typeface="Calibri"/>
                        </a:rPr>
                        <a:t>onbekend</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5F7B9A"/>
                          </a:solidFill>
                          <a:latin typeface="Calibri"/>
                        </a:rPr>
                        <a:t>onbekend</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6B5A"/>
                          </a:solidFill>
                          <a:latin typeface="Calibri"/>
                        </a:rPr>
                        <a:t>nee</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35E0C4"/>
                          </a:solidFill>
                          <a:latin typeface="Calibri"/>
                        </a:rPr>
                        <a:t>D · T · L · N</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B547"/>
                          </a:solidFill>
                          <a:latin typeface="Calibri"/>
                        </a:rPr>
                        <a:t>in te vullen</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B547"/>
                          </a:solidFill>
                          <a:latin typeface="Calibri"/>
                        </a:rPr>
                        <a:t>in te vullen</a:t>
                      </a:r>
                    </a:p>
                  </a:txBody>
                  <a:tcPr marL="91440" marR="91440" marT="36576" marB="36576" anchor="ctr">
                    <a:solidFill>
                      <a:srgbClr val="0F2440"/>
                    </a:solidFill>
                    <a:lnL w="0">
                      <a:noFill/>
                    </a:lnL>
                    <a:lnR w="0">
                      <a:noFill/>
                    </a:lnR>
                    <a:lnT w="0">
                      <a:noFill/>
                    </a:lnT>
                    <a:lnB w="6350" cap="flat">
                      <a:solidFill>
                        <a:srgbClr val="1D3B5E"/>
                      </a:solidFill>
                    </a:lnB>
                  </a:tcPr>
                </a:tc>
              </a:tr>
              <a:tr h="402336">
                <a:tc>
                  <a:txBody>
                    <a:bodyPr wrap="square"/>
                    <a:lstStyle/>
                    <a:p>
                      <a:pPr algn="l">
                        <a:spcAft>
                          <a:spcPts val="200"/>
                        </a:spcAft>
                      </a:pPr>
                      <a:r>
                        <a:rPr sz="1100" b="1">
                          <a:solidFill>
                            <a:srgbClr val="EAF2FA"/>
                          </a:solidFill>
                          <a:latin typeface="Calibri"/>
                        </a:rPr>
                        <a:t>Kind spoed</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5F7B9A"/>
                          </a:solidFill>
                          <a:latin typeface="Calibri"/>
                        </a:rPr>
                        <a:t>onbekend</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6B5A"/>
                          </a:solidFill>
                          <a:latin typeface="Calibri"/>
                        </a:rPr>
                        <a:t>nee</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5F7B9A"/>
                          </a:solidFill>
                          <a:latin typeface="Calibri"/>
                        </a:rPr>
                        <a:t>onbekend</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5F7B9A"/>
                          </a:solidFill>
                          <a:latin typeface="Calibri"/>
                        </a:rPr>
                        <a:t>onbekend</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5F7B9A"/>
                          </a:solidFill>
                          <a:latin typeface="Calibri"/>
                        </a:rPr>
                        <a:t>onbekend</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ctr">
                        <a:spcAft>
                          <a:spcPts val="200"/>
                        </a:spcAft>
                      </a:pPr>
                      <a:r>
                        <a:rPr sz="1100" b="0">
                          <a:solidFill>
                            <a:srgbClr val="FFB547"/>
                          </a:solidFill>
                          <a:latin typeface="Calibri"/>
                        </a:rPr>
                        <a:t>in te vullen</a:t>
                      </a:r>
                    </a:p>
                  </a:txBody>
                  <a:tcPr marL="91440" marR="91440" marT="36576" marB="36576" anchor="ctr">
                    <a:solidFill>
                      <a:srgbClr val="16314F"/>
                    </a:solidFill>
                    <a:lnL w="0">
                      <a:noFill/>
                    </a:lnL>
                    <a:lnR w="0">
                      <a:noFill/>
                    </a:lnR>
                    <a:lnT w="0">
                      <a:noFill/>
                    </a:lnT>
                    <a:lnB w="6350" cap="flat">
                      <a:solidFill>
                        <a:srgbClr val="1D3B5E"/>
                      </a:solidFill>
                    </a:lnB>
                  </a:tcPr>
                </a:tc>
              </a:tr>
            </a:tbl>
          </a:graphicData>
        </a:graphic>
      </p:graphicFrame>
      <p:sp>
        <p:nvSpPr>
          <p:cNvPr id="11" name="Rounded Rectangle 10"/>
          <p:cNvSpPr/>
          <p:nvPr/>
        </p:nvSpPr>
        <p:spPr>
          <a:xfrm>
            <a:off x="640080" y="3950208"/>
            <a:ext cx="3454298" cy="122529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77824" y="4078224"/>
            <a:ext cx="2978810" cy="566928"/>
          </a:xfrm>
          <a:prstGeom prst="rect">
            <a:avLst/>
          </a:prstGeom>
          <a:noFill/>
        </p:spPr>
        <p:txBody>
          <a:bodyPr wrap="square" lIns="0" rIns="0" tIns="0" bIns="0" anchor="t">
            <a:spAutoFit/>
          </a:bodyPr>
          <a:lstStyle/>
          <a:p>
            <a:pPr algn="l">
              <a:lnSpc>
                <a:spcPct val="120000"/>
              </a:lnSpc>
              <a:spcAft>
                <a:spcPts val="0"/>
              </a:spcAft>
            </a:pPr>
            <a:r>
              <a:rPr sz="3400" b="1">
                <a:solidFill>
                  <a:srgbClr val="FF6B5A"/>
                </a:solidFill>
                <a:latin typeface="Calibri"/>
              </a:rPr>
              <a:t>0 / 4</a:t>
            </a:r>
          </a:p>
        </p:txBody>
      </p:sp>
      <p:sp>
        <p:nvSpPr>
          <p:cNvPr id="13" name="TextBox 12"/>
          <p:cNvSpPr txBox="1"/>
          <p:nvPr/>
        </p:nvSpPr>
        <p:spPr>
          <a:xfrm>
            <a:off x="877824" y="4645152"/>
            <a:ext cx="2978810"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EAF2FA"/>
                </a:solidFill>
                <a:latin typeface="Calibri"/>
              </a:rPr>
              <a:t>AFDELINGEN MET NORM</a:t>
            </a:r>
          </a:p>
        </p:txBody>
      </p:sp>
      <p:sp>
        <p:nvSpPr>
          <p:cNvPr id="14" name="TextBox 13"/>
          <p:cNvSpPr txBox="1"/>
          <p:nvPr/>
        </p:nvSpPr>
        <p:spPr>
          <a:xfrm>
            <a:off x="877824" y="4882896"/>
            <a:ext cx="2978810" cy="274320"/>
          </a:xfrm>
          <a:prstGeom prst="rect">
            <a:avLst/>
          </a:prstGeom>
          <a:noFill/>
        </p:spPr>
        <p:txBody>
          <a:bodyPr wrap="square" lIns="0" rIns="0" tIns="0" bIns="0" anchor="t">
            <a:spAutoFit/>
          </a:bodyPr>
          <a:lstStyle/>
          <a:p>
            <a:pPr algn="l">
              <a:lnSpc>
                <a:spcPct val="118000"/>
              </a:lnSpc>
              <a:spcAft>
                <a:spcPts val="0"/>
              </a:spcAft>
            </a:pPr>
            <a:r>
              <a:rPr sz="900" b="0">
                <a:solidFill>
                  <a:srgbClr val="8BA5C0"/>
                </a:solidFill>
                <a:latin typeface="Calibri"/>
              </a:rPr>
              <a:t>voor geen enkele afdeling is de norm verpleegkundigen vastgesteld</a:t>
            </a:r>
          </a:p>
        </p:txBody>
      </p:sp>
      <p:sp>
        <p:nvSpPr>
          <p:cNvPr id="15" name="Rounded Rectangle 14"/>
          <p:cNvSpPr/>
          <p:nvPr/>
        </p:nvSpPr>
        <p:spPr>
          <a:xfrm>
            <a:off x="4368698" y="3950208"/>
            <a:ext cx="3454298" cy="122529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606442" y="4078224"/>
            <a:ext cx="2978810" cy="566928"/>
          </a:xfrm>
          <a:prstGeom prst="rect">
            <a:avLst/>
          </a:prstGeom>
          <a:noFill/>
        </p:spPr>
        <p:txBody>
          <a:bodyPr wrap="square" lIns="0" rIns="0" tIns="0" bIns="0" anchor="t">
            <a:spAutoFit/>
          </a:bodyPr>
          <a:lstStyle/>
          <a:p>
            <a:pPr algn="l">
              <a:lnSpc>
                <a:spcPct val="120000"/>
              </a:lnSpc>
              <a:spcAft>
                <a:spcPts val="0"/>
              </a:spcAft>
            </a:pPr>
            <a:r>
              <a:rPr sz="3400" b="1">
                <a:solidFill>
                  <a:srgbClr val="FFB547"/>
                </a:solidFill>
                <a:latin typeface="Calibri"/>
              </a:rPr>
              <a:t>1 / 4</a:t>
            </a:r>
          </a:p>
        </p:txBody>
      </p:sp>
      <p:sp>
        <p:nvSpPr>
          <p:cNvPr id="17" name="TextBox 16"/>
          <p:cNvSpPr txBox="1"/>
          <p:nvPr/>
        </p:nvSpPr>
        <p:spPr>
          <a:xfrm>
            <a:off x="4606442" y="4645152"/>
            <a:ext cx="2978810"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EAF2FA"/>
                </a:solidFill>
                <a:latin typeface="Calibri"/>
              </a:rPr>
              <a:t>AFDELINGEN MET JAARPLAN</a:t>
            </a:r>
          </a:p>
        </p:txBody>
      </p:sp>
      <p:sp>
        <p:nvSpPr>
          <p:cNvPr id="18" name="TextBox 17"/>
          <p:cNvSpPr txBox="1"/>
          <p:nvPr/>
        </p:nvSpPr>
        <p:spPr>
          <a:xfrm>
            <a:off x="4606442" y="4882896"/>
            <a:ext cx="2978810" cy="274320"/>
          </a:xfrm>
          <a:prstGeom prst="rect">
            <a:avLst/>
          </a:prstGeom>
          <a:noFill/>
        </p:spPr>
        <p:txBody>
          <a:bodyPr wrap="square" lIns="0" rIns="0" tIns="0" bIns="0" anchor="t">
            <a:spAutoFit/>
          </a:bodyPr>
          <a:lstStyle/>
          <a:p>
            <a:pPr algn="l">
              <a:lnSpc>
                <a:spcPct val="118000"/>
              </a:lnSpc>
              <a:spcAft>
                <a:spcPts val="0"/>
              </a:spcAft>
            </a:pPr>
            <a:r>
              <a:rPr sz="1000" b="0">
                <a:solidFill>
                  <a:srgbClr val="8BA5C0"/>
                </a:solidFill>
                <a:latin typeface="Calibri"/>
              </a:rPr>
              <a:t>en dat ene jaarplan is niet ingevoerd</a:t>
            </a:r>
          </a:p>
        </p:txBody>
      </p:sp>
      <p:sp>
        <p:nvSpPr>
          <p:cNvPr id="19" name="Rounded Rectangle 18"/>
          <p:cNvSpPr/>
          <p:nvPr/>
        </p:nvSpPr>
        <p:spPr>
          <a:xfrm>
            <a:off x="8097316" y="3950208"/>
            <a:ext cx="3454298" cy="122529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35060" y="4078224"/>
            <a:ext cx="2978810" cy="566928"/>
          </a:xfrm>
          <a:prstGeom prst="rect">
            <a:avLst/>
          </a:prstGeom>
          <a:noFill/>
        </p:spPr>
        <p:txBody>
          <a:bodyPr wrap="square" lIns="0" rIns="0" tIns="0" bIns="0" anchor="t">
            <a:spAutoFit/>
          </a:bodyPr>
          <a:lstStyle/>
          <a:p>
            <a:pPr algn="l">
              <a:lnSpc>
                <a:spcPct val="120000"/>
              </a:lnSpc>
              <a:spcAft>
                <a:spcPts val="0"/>
              </a:spcAft>
            </a:pPr>
            <a:r>
              <a:rPr sz="3400" b="1">
                <a:solidFill>
                  <a:srgbClr val="4A9BE8"/>
                </a:solidFill>
                <a:latin typeface="Calibri"/>
              </a:rPr>
              <a:t>4 / 4</a:t>
            </a:r>
          </a:p>
        </p:txBody>
      </p:sp>
      <p:sp>
        <p:nvSpPr>
          <p:cNvPr id="21" name="TextBox 20"/>
          <p:cNvSpPr txBox="1"/>
          <p:nvPr/>
        </p:nvSpPr>
        <p:spPr>
          <a:xfrm>
            <a:off x="8335060" y="4645152"/>
            <a:ext cx="2978810"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EAF2FA"/>
                </a:solidFill>
                <a:latin typeface="Calibri"/>
              </a:rPr>
              <a:t>REKENEN NU APART</a:t>
            </a:r>
          </a:p>
        </p:txBody>
      </p:sp>
      <p:sp>
        <p:nvSpPr>
          <p:cNvPr id="22" name="TextBox 21"/>
          <p:cNvSpPr txBox="1"/>
          <p:nvPr/>
        </p:nvSpPr>
        <p:spPr>
          <a:xfrm>
            <a:off x="8335060" y="4882896"/>
            <a:ext cx="2978810" cy="274320"/>
          </a:xfrm>
          <a:prstGeom prst="rect">
            <a:avLst/>
          </a:prstGeom>
          <a:noFill/>
        </p:spPr>
        <p:txBody>
          <a:bodyPr wrap="square" lIns="0" rIns="0" tIns="0" bIns="0" anchor="t">
            <a:spAutoFit/>
          </a:bodyPr>
          <a:lstStyle/>
          <a:p>
            <a:pPr algn="l">
              <a:lnSpc>
                <a:spcPct val="118000"/>
              </a:lnSpc>
              <a:spcAft>
                <a:spcPts val="0"/>
              </a:spcAft>
            </a:pPr>
            <a:r>
              <a:rPr sz="900" b="0">
                <a:solidFill>
                  <a:srgbClr val="8BA5C0"/>
                </a:solidFill>
                <a:latin typeface="Calibri"/>
              </a:rPr>
              <a:t>elke afdeling heeft een eigen berekening op de huidige situatie</a:t>
            </a:r>
          </a:p>
        </p:txBody>
      </p:sp>
      <p:sp>
        <p:nvSpPr>
          <p:cNvPr id="23" name="Rounded Rectangle 22"/>
          <p:cNvSpPr/>
          <p:nvPr/>
        </p:nvSpPr>
        <p:spPr>
          <a:xfrm>
            <a:off x="640080" y="5394959"/>
            <a:ext cx="10911535" cy="822960"/>
          </a:xfrm>
          <a:prstGeom prst="roundRect">
            <a:avLst>
              <a:gd name="adj" fmla="val 3000"/>
            </a:avLst>
          </a:prstGeom>
          <a:solidFill>
            <a:srgbClr val="382E3E"/>
          </a:solidFill>
          <a:ln w="15875">
            <a:solidFill>
              <a:srgbClr val="794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0080" y="5394959"/>
            <a:ext cx="50292" cy="822960"/>
          </a:xfrm>
          <a:prstGeom prst="roundRect">
            <a:avLst>
              <a:gd name="adj" fmla="val 50000"/>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976" y="5477255"/>
            <a:ext cx="10289743"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FF6B5A"/>
                </a:solidFill>
                <a:latin typeface="Calibri"/>
              </a:rPr>
              <a:t>NIET OPTELLEN</a:t>
            </a:r>
          </a:p>
          <a:p>
            <a:pPr algn="l">
              <a:lnSpc>
                <a:spcPct val="120000"/>
              </a:lnSpc>
              <a:spcAft>
                <a:spcPts val="0"/>
              </a:spcAft>
            </a:pPr>
            <a:r>
              <a:rPr sz="1250" b="1">
                <a:solidFill>
                  <a:srgbClr val="EAF2FA"/>
                </a:solidFill>
                <a:latin typeface="Calibri"/>
              </a:rPr>
              <a:t>10 en 15 zijn geen 25. Het zijn verschillende kamers voor verschillende specialismen — zie de volgende dia.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FF6B5A"/>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10 en 15 zijn niet optelbaar</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Verschillende kamers, verschillende specialismen, aparte berekeningen</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04</a:t>
            </a:r>
          </a:p>
        </p:txBody>
      </p:sp>
      <p:sp>
        <p:nvSpPr>
          <p:cNvPr id="10" name="Rounded Rectangle 9"/>
          <p:cNvSpPr/>
          <p:nvPr/>
        </p:nvSpPr>
        <p:spPr>
          <a:xfrm>
            <a:off x="640080" y="1700784"/>
            <a:ext cx="4892040" cy="283464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1901952"/>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4A9BE8"/>
                </a:solidFill>
                <a:latin typeface="Calibri"/>
              </a:rPr>
              <a:t>ICU</a:t>
            </a:r>
          </a:p>
        </p:txBody>
      </p:sp>
      <p:sp>
        <p:nvSpPr>
          <p:cNvPr id="12" name="TextBox 11"/>
          <p:cNvSpPr txBox="1"/>
          <p:nvPr/>
        </p:nvSpPr>
        <p:spPr>
          <a:xfrm>
            <a:off x="932688" y="2249424"/>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8BA5C0"/>
                </a:solidFill>
                <a:latin typeface="Calibri"/>
              </a:rPr>
              <a:t>10 KAMERS</a:t>
            </a:r>
          </a:p>
        </p:txBody>
      </p:sp>
      <p:sp>
        <p:nvSpPr>
          <p:cNvPr id="13" name="TextBox 12"/>
          <p:cNvSpPr txBox="1"/>
          <p:nvPr/>
        </p:nvSpPr>
        <p:spPr>
          <a:xfrm>
            <a:off x="932688" y="2487168"/>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5F7B9A"/>
                </a:solidFill>
                <a:latin typeface="Calibri"/>
              </a:rPr>
              <a:t>intensive care</a:t>
            </a:r>
          </a:p>
        </p:txBody>
      </p:sp>
      <p:sp>
        <p:nvSpPr>
          <p:cNvPr id="14" name="Rounded Rectangle 13"/>
          <p:cNvSpPr/>
          <p:nvPr/>
        </p:nvSpPr>
        <p:spPr>
          <a:xfrm>
            <a:off x="1632203" y="2816352"/>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2235708" y="2816352"/>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839211" y="2816352"/>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3442715" y="2816352"/>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046220" y="2816352"/>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632203" y="3419856"/>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2235708" y="3419856"/>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839211" y="3419856"/>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442715" y="3419856"/>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4046220" y="3419856"/>
            <a:ext cx="493776" cy="493776"/>
          </a:xfrm>
          <a:prstGeom prst="roundRect">
            <a:avLst>
              <a:gd name="adj" fmla="val 14000"/>
            </a:avLst>
          </a:prstGeom>
          <a:solidFill>
            <a:srgbClr val="4A9BE8">
              <a:alpha val="88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659575" y="1700784"/>
            <a:ext cx="4892040" cy="283464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52183" y="1901952"/>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A98BFF"/>
                </a:solidFill>
                <a:latin typeface="Calibri"/>
              </a:rPr>
              <a:t>CCU / SCU / EHH</a:t>
            </a:r>
          </a:p>
        </p:txBody>
      </p:sp>
      <p:sp>
        <p:nvSpPr>
          <p:cNvPr id="26" name="TextBox 25"/>
          <p:cNvSpPr txBox="1"/>
          <p:nvPr/>
        </p:nvSpPr>
        <p:spPr>
          <a:xfrm>
            <a:off x="6952183" y="2249424"/>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8BA5C0"/>
                </a:solidFill>
                <a:latin typeface="Calibri"/>
              </a:rPr>
              <a:t>15 KAMERS</a:t>
            </a:r>
          </a:p>
        </p:txBody>
      </p:sp>
      <p:sp>
        <p:nvSpPr>
          <p:cNvPr id="27" name="TextBox 26"/>
          <p:cNvSpPr txBox="1"/>
          <p:nvPr/>
        </p:nvSpPr>
        <p:spPr>
          <a:xfrm>
            <a:off x="6952183" y="2487168"/>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5F7B9A"/>
                </a:solidFill>
                <a:latin typeface="Calibri"/>
              </a:rPr>
              <a:t>coronary, stroke en eerste hart hulp</a:t>
            </a:r>
          </a:p>
        </p:txBody>
      </p:sp>
      <p:sp>
        <p:nvSpPr>
          <p:cNvPr id="28" name="Rounded Rectangle 27"/>
          <p:cNvSpPr/>
          <p:nvPr/>
        </p:nvSpPr>
        <p:spPr>
          <a:xfrm>
            <a:off x="7651699" y="2816352"/>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255203" y="2816352"/>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8858707" y="2816352"/>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9462211" y="2816352"/>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0065715" y="2816352"/>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7651699" y="3419856"/>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8255203" y="3419856"/>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8858707" y="3419856"/>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9462211" y="3419856"/>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10065715" y="3419856"/>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651699" y="4023360"/>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8255203" y="4023360"/>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8858707" y="4023360"/>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9462211" y="4023360"/>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065715" y="4023360"/>
            <a:ext cx="493776" cy="493776"/>
          </a:xfrm>
          <a:prstGeom prst="roundRect">
            <a:avLst>
              <a:gd name="adj" fmla="val 14000"/>
            </a:avLst>
          </a:prstGeom>
          <a:solidFill>
            <a:srgbClr val="A98BFF">
              <a:alpha val="88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532120" y="2670048"/>
            <a:ext cx="1127455" cy="914400"/>
          </a:xfrm>
          <a:prstGeom prst="rect">
            <a:avLst/>
          </a:prstGeom>
          <a:noFill/>
        </p:spPr>
        <p:txBody>
          <a:bodyPr wrap="square" lIns="0" rIns="0" tIns="0" bIns="0" anchor="t">
            <a:spAutoFit/>
          </a:bodyPr>
          <a:lstStyle/>
          <a:p>
            <a:pPr algn="ctr">
              <a:lnSpc>
                <a:spcPct val="120000"/>
              </a:lnSpc>
              <a:spcAft>
                <a:spcPts val="0"/>
              </a:spcAft>
            </a:pPr>
            <a:r>
              <a:rPr sz="5600" b="1">
                <a:solidFill>
                  <a:srgbClr val="FF6B5A"/>
                </a:solidFill>
                <a:latin typeface="Calibri"/>
              </a:rPr>
              <a:t>≠</a:t>
            </a:r>
          </a:p>
        </p:txBody>
      </p:sp>
      <p:sp>
        <p:nvSpPr>
          <p:cNvPr id="44" name="TextBox 43"/>
          <p:cNvSpPr txBox="1"/>
          <p:nvPr/>
        </p:nvSpPr>
        <p:spPr>
          <a:xfrm>
            <a:off x="5532120" y="3584448"/>
            <a:ext cx="1127455" cy="548640"/>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niet bij elkaar</a:t>
            </a:r>
          </a:p>
          <a:p>
            <a:pPr algn="ctr">
              <a:lnSpc>
                <a:spcPct val="120000"/>
              </a:lnSpc>
              <a:spcAft>
                <a:spcPts val="0"/>
              </a:spcAft>
            </a:pPr>
            <a:r>
              <a:rPr sz="1050" b="0">
                <a:solidFill>
                  <a:srgbClr val="8BA5C0"/>
                </a:solidFill>
                <a:latin typeface="Calibri"/>
              </a:rPr>
              <a:t>op te tellen</a:t>
            </a:r>
          </a:p>
        </p:txBody>
      </p:sp>
      <p:sp>
        <p:nvSpPr>
          <p:cNvPr id="45" name="Rounded Rectangle 44"/>
          <p:cNvSpPr/>
          <p:nvPr/>
        </p:nvSpPr>
        <p:spPr>
          <a:xfrm>
            <a:off x="640080" y="4718304"/>
            <a:ext cx="5318607" cy="512064"/>
          </a:xfrm>
          <a:prstGeom prst="roundRect">
            <a:avLst>
              <a:gd name="adj" fmla="val 8000"/>
            </a:avLst>
          </a:prstGeom>
          <a:no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754880"/>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EAF2FA"/>
                </a:solidFill>
                <a:latin typeface="Calibri"/>
              </a:rPr>
              <a:t>SEH</a:t>
            </a:r>
          </a:p>
        </p:txBody>
      </p:sp>
      <p:sp>
        <p:nvSpPr>
          <p:cNvPr id="47" name="TextBox 46"/>
          <p:cNvSpPr txBox="1"/>
          <p:nvPr/>
        </p:nvSpPr>
        <p:spPr>
          <a:xfrm>
            <a:off x="2849727" y="4754880"/>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5F7B9A"/>
                </a:solidFill>
                <a:latin typeface="Calibri"/>
              </a:rPr>
              <a:t>aantal kamers nog niet in beeld</a:t>
            </a:r>
          </a:p>
        </p:txBody>
      </p:sp>
      <p:sp>
        <p:nvSpPr>
          <p:cNvPr id="48" name="Rounded Rectangle 47"/>
          <p:cNvSpPr/>
          <p:nvPr/>
        </p:nvSpPr>
        <p:spPr>
          <a:xfrm>
            <a:off x="6233007" y="4718304"/>
            <a:ext cx="5318607" cy="512064"/>
          </a:xfrm>
          <a:prstGeom prst="roundRect">
            <a:avLst>
              <a:gd name="adj" fmla="val 8000"/>
            </a:avLst>
          </a:prstGeom>
          <a:no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489039" y="4754880"/>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EAF2FA"/>
                </a:solidFill>
                <a:latin typeface="Calibri"/>
              </a:rPr>
              <a:t>Kind spoed</a:t>
            </a:r>
          </a:p>
        </p:txBody>
      </p:sp>
      <p:sp>
        <p:nvSpPr>
          <p:cNvPr id="50" name="TextBox 49"/>
          <p:cNvSpPr txBox="1"/>
          <p:nvPr/>
        </p:nvSpPr>
        <p:spPr>
          <a:xfrm>
            <a:off x="8442655" y="4754880"/>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5F7B9A"/>
                </a:solidFill>
                <a:latin typeface="Calibri"/>
              </a:rPr>
              <a:t>aantal kamers nog niet in beeld</a:t>
            </a:r>
          </a:p>
        </p:txBody>
      </p:sp>
      <p:sp>
        <p:nvSpPr>
          <p:cNvPr id="51" name="Rounded Rectangle 50"/>
          <p:cNvSpPr/>
          <p:nvPr/>
        </p:nvSpPr>
        <p:spPr>
          <a:xfrm>
            <a:off x="640080" y="5321807"/>
            <a:ext cx="10911535" cy="822960"/>
          </a:xfrm>
          <a:prstGeom prst="roundRect">
            <a:avLst>
              <a:gd name="adj" fmla="val 3000"/>
            </a:avLst>
          </a:prstGeom>
          <a:solidFill>
            <a:srgbClr val="382E3E"/>
          </a:solidFill>
          <a:ln w="15875">
            <a:solidFill>
              <a:srgbClr val="794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640080" y="5321807"/>
            <a:ext cx="50292" cy="822960"/>
          </a:xfrm>
          <a:prstGeom prst="roundRect">
            <a:avLst>
              <a:gd name="adj" fmla="val 50000"/>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50976" y="5404103"/>
            <a:ext cx="10289743"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FF6B5A"/>
                </a:solidFill>
                <a:latin typeface="Calibri"/>
              </a:rPr>
              <a:t>WAT DIT BETEKENT VOOR DE CIJFERS</a:t>
            </a:r>
          </a:p>
          <a:p>
            <a:pPr algn="l">
              <a:lnSpc>
                <a:spcPct val="120000"/>
              </a:lnSpc>
              <a:spcAft>
                <a:spcPts val="0"/>
              </a:spcAft>
            </a:pPr>
            <a:r>
              <a:rPr sz="1250" b="1">
                <a:solidFill>
                  <a:srgbClr val="EAF2FA"/>
                </a:solidFill>
                <a:latin typeface="Calibri"/>
              </a:rPr>
              <a:t>De berekeningen zijn per specialisme apart gemaakt, op de huidige gescheiden situatie. Ze zijn niet een op een over te zetten naar nieuwbouwscenario's waarin afdelingen samengaan.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046719" y="2743200"/>
            <a:ext cx="4389120" cy="4389120"/>
          </a:xfrm>
          <a:prstGeom prst="ellipse">
            <a:avLst/>
          </a:prstGeom>
          <a:solidFill>
            <a:srgbClr val="A98BFF">
              <a:alpha val="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85632" y="3182112"/>
            <a:ext cx="3511296" cy="3511296"/>
          </a:xfrm>
          <a:prstGeom prst="ellipse">
            <a:avLst/>
          </a:prstGeom>
          <a:solidFill>
            <a:srgbClr val="A98BFF">
              <a:alpha val="1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924544" y="3621024"/>
            <a:ext cx="2633472" cy="2633472"/>
          </a:xfrm>
          <a:prstGeom prst="ellipse">
            <a:avLst/>
          </a:prstGeom>
          <a:solidFill>
            <a:srgbClr val="A98BFF">
              <a:alpha val="1333"/>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363455" y="4059936"/>
            <a:ext cx="1755648" cy="1755648"/>
          </a:xfrm>
          <a:prstGeom prst="ellipse">
            <a:avLst/>
          </a:prstGeom>
          <a:solidFill>
            <a:srgbClr val="A98BFF">
              <a:alpha val="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802367" y="4498848"/>
            <a:ext cx="877824" cy="877824"/>
          </a:xfrm>
          <a:prstGeom prst="ellipse">
            <a:avLst/>
          </a:prstGeom>
          <a:solidFill>
            <a:srgbClr val="A98BFF">
              <a:alpha val="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EAF2FA">
                    <a:alpha val="6000"/>
                  </a:srgbClr>
                </a:solidFill>
                <a:latin typeface="Calibri"/>
              </a:rPr>
              <a:t>02</a:t>
            </a:r>
          </a:p>
        </p:txBody>
      </p:sp>
      <p:sp>
        <p:nvSpPr>
          <p:cNvPr id="9" name="TextBox 8"/>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A98BFF"/>
                </a:solidFill>
                <a:latin typeface="Calibri"/>
              </a:rPr>
              <a:t>DEEL 02</a:t>
            </a:r>
          </a:p>
        </p:txBody>
      </p:sp>
      <p:sp>
        <p:nvSpPr>
          <p:cNvPr id="10" name="TextBox 9"/>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EAF2FA"/>
                </a:solidFill>
                <a:latin typeface="Calibri"/>
              </a:rPr>
              <a:t>Wat gaan we rekenen</a:t>
            </a:r>
          </a:p>
        </p:txBody>
      </p:sp>
      <p:cxnSp>
        <p:nvCxnSpPr>
          <p:cNvPr id="11" name="Connector 10"/>
          <p:cNvCxnSpPr/>
          <p:nvPr/>
        </p:nvCxnSpPr>
        <p:spPr>
          <a:xfrm>
            <a:off x="640080" y="3584448"/>
            <a:ext cx="2377440" cy="0"/>
          </a:xfrm>
          <a:prstGeom prst="line">
            <a:avLst/>
          </a:prstGeom>
          <a:ln w="25400">
            <a:solidFill>
              <a:srgbClr val="A98BFF"/>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49224" y="3895344"/>
            <a:ext cx="109728" cy="109728"/>
          </a:xfrm>
          <a:prstGeom prst="ellipse">
            <a:avLst/>
          </a:prstGeom>
          <a:solidFill>
            <a:srgbClr val="A98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8BA5C0"/>
                </a:solidFill>
                <a:latin typeface="Calibri"/>
              </a:rPr>
              <a:t>Het tijdpad van september 2026 tot de verhuizing</a:t>
            </a:r>
          </a:p>
        </p:txBody>
      </p:sp>
      <p:sp>
        <p:nvSpPr>
          <p:cNvPr id="14" name="Oval 13"/>
          <p:cNvSpPr/>
          <p:nvPr/>
        </p:nvSpPr>
        <p:spPr>
          <a:xfrm>
            <a:off x="649224" y="4279392"/>
            <a:ext cx="109728" cy="109728"/>
          </a:xfrm>
          <a:prstGeom prst="ellipse">
            <a:avLst/>
          </a:prstGeom>
          <a:solidFill>
            <a:srgbClr val="A98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8BA5C0"/>
                </a:solidFill>
                <a:latin typeface="Calibri"/>
              </a:rPr>
              <a:t>De drie berekeningen en de stromen die meetellen</a:t>
            </a:r>
          </a:p>
        </p:txBody>
      </p:sp>
      <p:sp>
        <p:nvSpPr>
          <p:cNvPr id="16" name="Freeform 15"/>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A98BFF">
                <a:alpha val="2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19" name="TextBox 1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A98BFF"/>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Het tijdpad</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Van de eerste berekening tot de verhuizing</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06</a:t>
            </a:r>
          </a:p>
        </p:txBody>
      </p:sp>
      <p:sp>
        <p:nvSpPr>
          <p:cNvPr id="10" name="Rounded Rectangle 9"/>
          <p:cNvSpPr/>
          <p:nvPr/>
        </p:nvSpPr>
        <p:spPr>
          <a:xfrm>
            <a:off x="667512" y="1920240"/>
            <a:ext cx="724531" cy="548640"/>
          </a:xfrm>
          <a:prstGeom prst="roundRect">
            <a:avLst>
              <a:gd name="adj" fmla="val 16000"/>
            </a:avLst>
          </a:prstGeom>
          <a:solidFill>
            <a:srgbClr val="182E47"/>
          </a:solidFill>
          <a:ln w="15875">
            <a:solidFill>
              <a:srgbClr val="314A6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19" y="1993392"/>
            <a:ext cx="596515"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5F7B9A"/>
                </a:solidFill>
                <a:latin typeface="Calibri"/>
              </a:rPr>
              <a:t>NU</a:t>
            </a:r>
          </a:p>
          <a:p>
            <a:pPr algn="ctr">
              <a:lnSpc>
                <a:spcPct val="120000"/>
              </a:lnSpc>
              <a:spcAft>
                <a:spcPts val="0"/>
              </a:spcAft>
            </a:pPr>
            <a:r>
              <a:rPr sz="900" b="0">
                <a:solidFill>
                  <a:srgbClr val="8BA5C0"/>
                </a:solidFill>
                <a:latin typeface="Calibri"/>
              </a:rPr>
              <a:t>2026</a:t>
            </a:r>
          </a:p>
        </p:txBody>
      </p:sp>
      <p:sp>
        <p:nvSpPr>
          <p:cNvPr id="12" name="Rounded Rectangle 11"/>
          <p:cNvSpPr/>
          <p:nvPr/>
        </p:nvSpPr>
        <p:spPr>
          <a:xfrm>
            <a:off x="1446907" y="1920240"/>
            <a:ext cx="6180298" cy="548640"/>
          </a:xfrm>
          <a:prstGeom prst="roundRect">
            <a:avLst>
              <a:gd name="adj" fmla="val 16000"/>
            </a:avLst>
          </a:prstGeom>
          <a:solidFill>
            <a:srgbClr val="153352"/>
          </a:solidFill>
          <a:ln w="15875">
            <a:solidFill>
              <a:srgbClr val="2858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10915" y="1993392"/>
            <a:ext cx="6052282"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4A9BE8"/>
                </a:solidFill>
                <a:latin typeface="Calibri"/>
              </a:rPr>
              <a:t>OUDBOUW</a:t>
            </a:r>
          </a:p>
          <a:p>
            <a:pPr algn="ctr">
              <a:lnSpc>
                <a:spcPct val="120000"/>
              </a:lnSpc>
              <a:spcAft>
                <a:spcPts val="0"/>
              </a:spcAft>
            </a:pPr>
            <a:r>
              <a:rPr sz="900" b="0">
                <a:solidFill>
                  <a:srgbClr val="8BA5C0"/>
                </a:solidFill>
                <a:latin typeface="Calibri"/>
              </a:rPr>
              <a:t>okt 2026 - mei 2027</a:t>
            </a:r>
          </a:p>
        </p:txBody>
      </p:sp>
      <p:sp>
        <p:nvSpPr>
          <p:cNvPr id="14" name="Rounded Rectangle 13"/>
          <p:cNvSpPr/>
          <p:nvPr/>
        </p:nvSpPr>
        <p:spPr>
          <a:xfrm>
            <a:off x="7682070" y="1920240"/>
            <a:ext cx="3842112" cy="548640"/>
          </a:xfrm>
          <a:prstGeom prst="roundRect">
            <a:avLst>
              <a:gd name="adj" fmla="val 16000"/>
            </a:avLst>
          </a:prstGeom>
          <a:solidFill>
            <a:srgbClr val="123E4D"/>
          </a:solid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46078" y="1993392"/>
            <a:ext cx="3714096"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35E0C4"/>
                </a:solidFill>
                <a:latin typeface="Calibri"/>
              </a:rPr>
              <a:t>NIEUWBOUW</a:t>
            </a:r>
          </a:p>
          <a:p>
            <a:pPr algn="ctr">
              <a:lnSpc>
                <a:spcPct val="120000"/>
              </a:lnSpc>
              <a:spcAft>
                <a:spcPts val="0"/>
              </a:spcAft>
            </a:pPr>
            <a:r>
              <a:rPr sz="900" b="0">
                <a:solidFill>
                  <a:srgbClr val="8BA5C0"/>
                </a:solidFill>
                <a:latin typeface="Calibri"/>
              </a:rPr>
              <a:t>vanaf juni 2027</a:t>
            </a:r>
          </a:p>
        </p:txBody>
      </p:sp>
      <p:sp>
        <p:nvSpPr>
          <p:cNvPr id="16" name="Rounded Rectangle 15"/>
          <p:cNvSpPr/>
          <p:nvPr/>
        </p:nvSpPr>
        <p:spPr>
          <a:xfrm>
            <a:off x="640080" y="2944368"/>
            <a:ext cx="779395" cy="109728"/>
          </a:xfrm>
          <a:prstGeom prst="roundRect">
            <a:avLst>
              <a:gd name="adj" fmla="val 50000"/>
            </a:avLst>
          </a:prstGeom>
          <a:solidFill>
            <a:srgbClr val="5F7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419475" y="2944368"/>
            <a:ext cx="6235162" cy="109728"/>
          </a:xfrm>
          <a:prstGeom prst="roundRect">
            <a:avLst>
              <a:gd name="adj" fmla="val 50000"/>
            </a:avLst>
          </a:prstGeom>
          <a:solidFill>
            <a:srgbClr val="4A9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654638" y="2944368"/>
            <a:ext cx="3896976" cy="109728"/>
          </a:xfrm>
          <a:prstGeom prst="roundRect">
            <a:avLst>
              <a:gd name="adj" fmla="val 50000"/>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a:off x="640080"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9475"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98870"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78266"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57661"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537056"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316452"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95847"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75242"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54638"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34033"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13429"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92824"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772219"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551615" y="3054096"/>
            <a:ext cx="0"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025205"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EAF2FA"/>
                </a:solidFill>
                <a:latin typeface="Calibri"/>
              </a:rPr>
              <a:t>sept</a:t>
            </a:r>
          </a:p>
        </p:txBody>
      </p:sp>
      <p:sp>
        <p:nvSpPr>
          <p:cNvPr id="36" name="Rectangle 35"/>
          <p:cNvSpPr/>
          <p:nvPr/>
        </p:nvSpPr>
        <p:spPr>
          <a:xfrm>
            <a:off x="1804601"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419475"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okt</a:t>
            </a:r>
          </a:p>
        </p:txBody>
      </p:sp>
      <p:sp>
        <p:nvSpPr>
          <p:cNvPr id="38" name="Rectangle 37"/>
          <p:cNvSpPr/>
          <p:nvPr/>
        </p:nvSpPr>
        <p:spPr>
          <a:xfrm>
            <a:off x="2583996"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198870"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nov</a:t>
            </a:r>
          </a:p>
        </p:txBody>
      </p:sp>
      <p:sp>
        <p:nvSpPr>
          <p:cNvPr id="40" name="Rectangle 39"/>
          <p:cNvSpPr/>
          <p:nvPr/>
        </p:nvSpPr>
        <p:spPr>
          <a:xfrm>
            <a:off x="3363391"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97826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dec</a:t>
            </a:r>
          </a:p>
        </p:txBody>
      </p:sp>
      <p:sp>
        <p:nvSpPr>
          <p:cNvPr id="42" name="Rectangle 41"/>
          <p:cNvSpPr/>
          <p:nvPr/>
        </p:nvSpPr>
        <p:spPr>
          <a:xfrm>
            <a:off x="4142787"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57661"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jan</a:t>
            </a:r>
          </a:p>
        </p:txBody>
      </p:sp>
      <p:sp>
        <p:nvSpPr>
          <p:cNvPr id="44" name="Rectangle 43"/>
          <p:cNvSpPr/>
          <p:nvPr/>
        </p:nvSpPr>
        <p:spPr>
          <a:xfrm>
            <a:off x="4922182"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53705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feb</a:t>
            </a:r>
          </a:p>
        </p:txBody>
      </p:sp>
      <p:sp>
        <p:nvSpPr>
          <p:cNvPr id="46" name="Rectangle 45"/>
          <p:cNvSpPr/>
          <p:nvPr/>
        </p:nvSpPr>
        <p:spPr>
          <a:xfrm>
            <a:off x="5701577"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31645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mrt</a:t>
            </a:r>
          </a:p>
        </p:txBody>
      </p:sp>
      <p:sp>
        <p:nvSpPr>
          <p:cNvPr id="48" name="Rectangle 47"/>
          <p:cNvSpPr/>
          <p:nvPr/>
        </p:nvSpPr>
        <p:spPr>
          <a:xfrm>
            <a:off x="6480973"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095847"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apr</a:t>
            </a:r>
          </a:p>
        </p:txBody>
      </p:sp>
      <p:sp>
        <p:nvSpPr>
          <p:cNvPr id="50" name="Rectangle 49"/>
          <p:cNvSpPr/>
          <p:nvPr/>
        </p:nvSpPr>
        <p:spPr>
          <a:xfrm>
            <a:off x="7260368"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87524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mei</a:t>
            </a:r>
          </a:p>
        </p:txBody>
      </p:sp>
      <p:sp>
        <p:nvSpPr>
          <p:cNvPr id="52" name="Rectangle 51"/>
          <p:cNvSpPr/>
          <p:nvPr/>
        </p:nvSpPr>
        <p:spPr>
          <a:xfrm>
            <a:off x="8039764"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654638"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EAF2FA"/>
                </a:solidFill>
                <a:latin typeface="Calibri"/>
              </a:rPr>
              <a:t>juni</a:t>
            </a:r>
          </a:p>
        </p:txBody>
      </p:sp>
      <p:sp>
        <p:nvSpPr>
          <p:cNvPr id="54" name="Rectangle 53"/>
          <p:cNvSpPr/>
          <p:nvPr/>
        </p:nvSpPr>
        <p:spPr>
          <a:xfrm>
            <a:off x="8819159"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434033"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juli</a:t>
            </a:r>
          </a:p>
        </p:txBody>
      </p:sp>
      <p:sp>
        <p:nvSpPr>
          <p:cNvPr id="56" name="Rectangle 55"/>
          <p:cNvSpPr/>
          <p:nvPr/>
        </p:nvSpPr>
        <p:spPr>
          <a:xfrm>
            <a:off x="9598554"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21342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aug</a:t>
            </a:r>
          </a:p>
        </p:txBody>
      </p:sp>
      <p:sp>
        <p:nvSpPr>
          <p:cNvPr id="58" name="Rectangle 57"/>
          <p:cNvSpPr/>
          <p:nvPr/>
        </p:nvSpPr>
        <p:spPr>
          <a:xfrm>
            <a:off x="10377950"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992824"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sept</a:t>
            </a:r>
          </a:p>
        </p:txBody>
      </p:sp>
      <p:sp>
        <p:nvSpPr>
          <p:cNvPr id="60" name="Rectangle 59"/>
          <p:cNvSpPr/>
          <p:nvPr/>
        </p:nvSpPr>
        <p:spPr>
          <a:xfrm>
            <a:off x="11157345" y="3072384"/>
            <a:ext cx="9144" cy="91440"/>
          </a:xfrm>
          <a:prstGeom prst="rect">
            <a:avLst/>
          </a:prstGeom>
          <a:solidFill>
            <a:srgbClr val="2A5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77221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8BA5C0"/>
                </a:solidFill>
                <a:latin typeface="Calibri"/>
              </a:rPr>
              <a:t>okt</a:t>
            </a:r>
          </a:p>
        </p:txBody>
      </p:sp>
      <p:sp>
        <p:nvSpPr>
          <p:cNvPr id="62" name="Oval 61"/>
          <p:cNvSpPr/>
          <p:nvPr/>
        </p:nvSpPr>
        <p:spPr>
          <a:xfrm>
            <a:off x="846897" y="2816352"/>
            <a:ext cx="365760" cy="365760"/>
          </a:xfrm>
          <a:prstGeom prst="ellipse">
            <a:avLst/>
          </a:prstGeom>
          <a:solidFill>
            <a:srgbClr val="A98B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38337" y="2907792"/>
            <a:ext cx="182880" cy="182880"/>
          </a:xfrm>
          <a:prstGeom prst="ellipse">
            <a:avLst/>
          </a:prstGeom>
          <a:solidFill>
            <a:srgbClr val="A98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1029777" y="3108960"/>
            <a:ext cx="1530543" cy="786384"/>
          </a:xfrm>
          <a:custGeom>
            <a:avLst/>
            <a:gdLst/>
            <a:ahLst/>
            <a:cxnLst/>
            <a:rect l="l" t="t" r="r" b="b"/>
            <a:pathLst>
              <a:path w="1530543" h="786384">
                <a:moveTo>
                  <a:pt x="0" y="0"/>
                </a:moveTo>
                <a:lnTo>
                  <a:pt x="0" y="621792"/>
                </a:lnTo>
                <a:lnTo>
                  <a:pt x="1530543" y="621792"/>
                </a:lnTo>
                <a:lnTo>
                  <a:pt x="1530543" y="786384"/>
                </a:lnTo>
              </a:path>
            </a:pathLst>
          </a:custGeom>
          <a:noFill/>
          <a:ln w="15875">
            <a:solidFill>
              <a:srgbClr val="6A61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40080" y="3950208"/>
            <a:ext cx="3840480" cy="1225296"/>
          </a:xfrm>
          <a:prstGeom prst="roundRect">
            <a:avLst>
              <a:gd name="adj" fmla="val 3000"/>
            </a:avLst>
          </a:prstGeom>
          <a:solidFill>
            <a:srgbClr val="243156"/>
          </a:solidFill>
          <a:ln w="15875">
            <a:solidFill>
              <a:srgbClr val="53519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14400"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A98BFF"/>
                </a:solidFill>
                <a:latin typeface="Calibri"/>
              </a:rPr>
              <a:t>Berekeningen starten</a:t>
            </a:r>
          </a:p>
          <a:p>
            <a:pPr algn="l">
              <a:lnSpc>
                <a:spcPct val="124000"/>
              </a:lnSpc>
              <a:spcAft>
                <a:spcPts val="0"/>
              </a:spcAft>
            </a:pPr>
            <a:r>
              <a:rPr sz="1150" b="0">
                <a:solidFill>
                  <a:srgbClr val="8BA5C0"/>
                </a:solidFill>
                <a:latin typeface="Calibri"/>
              </a:rPr>
              <a:t>aantal bedden, norm verpleegkundigen en indirecte uren</a:t>
            </a:r>
          </a:p>
        </p:txBody>
      </p:sp>
      <p:sp>
        <p:nvSpPr>
          <p:cNvPr id="67" name="Oval 66"/>
          <p:cNvSpPr/>
          <p:nvPr/>
        </p:nvSpPr>
        <p:spPr>
          <a:xfrm>
            <a:off x="7861456" y="2816352"/>
            <a:ext cx="365760" cy="365760"/>
          </a:xfrm>
          <a:prstGeom prst="ellipse">
            <a:avLst/>
          </a:prstGeom>
          <a:solidFill>
            <a:srgbClr val="FFB547">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952896" y="2907792"/>
            <a:ext cx="182880" cy="182880"/>
          </a:xfrm>
          <a:prstGeom prst="ellipse">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Freeform 68"/>
          <p:cNvSpPr/>
          <p:nvPr/>
        </p:nvSpPr>
        <p:spPr>
          <a:xfrm>
            <a:off x="8044336" y="3108960"/>
            <a:ext cx="0" cy="786384"/>
          </a:xfrm>
          <a:custGeom>
            <a:avLst/>
            <a:gdLst/>
            <a:ahLst/>
            <a:cxnLst/>
            <a:rect l="l" t="t" r="r" b="b"/>
            <a:pathLst>
              <a:path w="0" h="786384">
                <a:moveTo>
                  <a:pt x="0" y="0"/>
                </a:moveTo>
                <a:lnTo>
                  <a:pt x="0" y="621792"/>
                </a:lnTo>
                <a:lnTo>
                  <a:pt x="0" y="621792"/>
                </a:lnTo>
                <a:lnTo>
                  <a:pt x="0" y="786384"/>
                </a:lnTo>
              </a:path>
            </a:pathLst>
          </a:custGeom>
          <a:noFill/>
          <a:ln w="15875">
            <a:solidFill>
              <a:srgbClr val="9E7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6124096" y="3950208"/>
            <a:ext cx="3840480" cy="1225296"/>
          </a:xfrm>
          <a:prstGeom prst="roundRect">
            <a:avLst>
              <a:gd name="adj" fmla="val 3000"/>
            </a:avLst>
          </a:prstGeom>
          <a:solidFill>
            <a:srgbClr val="30373A"/>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6398416"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FFB547"/>
                </a:solidFill>
                <a:latin typeface="Calibri"/>
              </a:rPr>
              <a:t>Verhuizing</a:t>
            </a:r>
          </a:p>
          <a:p>
            <a:pPr algn="l">
              <a:lnSpc>
                <a:spcPct val="124000"/>
              </a:lnSpc>
              <a:spcAft>
                <a:spcPts val="0"/>
              </a:spcAft>
            </a:pPr>
            <a:r>
              <a:rPr sz="1150" b="0">
                <a:solidFill>
                  <a:srgbClr val="8BA5C0"/>
                </a:solidFill>
                <a:latin typeface="Calibri"/>
              </a:rPr>
              <a:t>daarna draait de zorg in de nieuwbouw</a:t>
            </a:r>
          </a:p>
        </p:txBody>
      </p:sp>
      <p:sp>
        <p:nvSpPr>
          <p:cNvPr id="72" name="Rounded Rectangle 71"/>
          <p:cNvSpPr/>
          <p:nvPr/>
        </p:nvSpPr>
        <p:spPr>
          <a:xfrm>
            <a:off x="640080" y="5431536"/>
            <a:ext cx="10911535" cy="822960"/>
          </a:xfrm>
          <a:prstGeom prst="roundRect">
            <a:avLst>
              <a:gd name="adj" fmla="val 3000"/>
            </a:avLst>
          </a:prstGeom>
          <a:solidFill>
            <a:srgbClr val="173758"/>
          </a:solidFill>
          <a:ln w="15875">
            <a:solidFill>
              <a:srgbClr val="2858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640080" y="5431536"/>
            <a:ext cx="50292" cy="822960"/>
          </a:xfrm>
          <a:prstGeom prst="roundRect">
            <a:avLst>
              <a:gd name="adj" fmla="val 50000"/>
            </a:avLst>
          </a:prstGeom>
          <a:solidFill>
            <a:srgbClr val="4A9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950976" y="5513831"/>
            <a:ext cx="10289743"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4A9BE8"/>
                </a:solidFill>
                <a:latin typeface="Calibri"/>
              </a:rPr>
              <a:t>WAT DIT BETEKENT</a:t>
            </a:r>
          </a:p>
          <a:p>
            <a:pPr algn="l">
              <a:lnSpc>
                <a:spcPct val="120000"/>
              </a:lnSpc>
              <a:spcAft>
                <a:spcPts val="0"/>
              </a:spcAft>
            </a:pPr>
            <a:r>
              <a:rPr sz="1250" b="1">
                <a:solidFill>
                  <a:srgbClr val="EAF2FA"/>
                </a:solidFill>
                <a:latin typeface="Calibri"/>
              </a:rPr>
              <a:t>In de oudbouw werken de afdelingen al toe naar de nieuwe situatie. Wat schuift daar al, en wat pas na de verhuizing?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A98BFF"/>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Drie berekeningen</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Alle drie moeten gereed zijn voordat er een scenario gekozen kan worden</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07</a:t>
            </a:r>
          </a:p>
        </p:txBody>
      </p:sp>
      <p:sp>
        <p:nvSpPr>
          <p:cNvPr id="10" name="Rounded Rectangle 9"/>
          <p:cNvSpPr/>
          <p:nvPr/>
        </p:nvSpPr>
        <p:spPr>
          <a:xfrm>
            <a:off x="640080" y="1700784"/>
            <a:ext cx="3429914" cy="298094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744114" y="1810512"/>
            <a:ext cx="1188720" cy="713232"/>
          </a:xfrm>
          <a:prstGeom prst="rect">
            <a:avLst/>
          </a:prstGeom>
          <a:noFill/>
        </p:spPr>
        <p:txBody>
          <a:bodyPr wrap="square" lIns="0" rIns="0" tIns="0" bIns="0" anchor="t">
            <a:spAutoFit/>
          </a:bodyPr>
          <a:lstStyle/>
          <a:p>
            <a:pPr algn="r">
              <a:lnSpc>
                <a:spcPct val="120000"/>
              </a:lnSpc>
              <a:spcAft>
                <a:spcPts val="0"/>
              </a:spcAft>
            </a:pPr>
            <a:r>
              <a:rPr sz="4200" b="1">
                <a:solidFill>
                  <a:srgbClr val="4A9BE8">
                    <a:alpha val="26000"/>
                  </a:srgbClr>
                </a:solidFill>
                <a:latin typeface="Calibri"/>
              </a:rPr>
              <a:t>01</a:t>
            </a:r>
          </a:p>
        </p:txBody>
      </p:sp>
      <p:sp>
        <p:nvSpPr>
          <p:cNvPr id="12" name="TextBox 11"/>
          <p:cNvSpPr txBox="1"/>
          <p:nvPr/>
        </p:nvSpPr>
        <p:spPr>
          <a:xfrm>
            <a:off x="914400" y="1975104"/>
            <a:ext cx="1966874" cy="585216"/>
          </a:xfrm>
          <a:prstGeom prst="rect">
            <a:avLst/>
          </a:prstGeom>
          <a:noFill/>
        </p:spPr>
        <p:txBody>
          <a:bodyPr wrap="square" lIns="0" rIns="0" tIns="0" bIns="0" anchor="t">
            <a:spAutoFit/>
          </a:bodyPr>
          <a:lstStyle/>
          <a:p>
            <a:pPr algn="l">
              <a:lnSpc>
                <a:spcPct val="114000"/>
              </a:lnSpc>
              <a:spcAft>
                <a:spcPts val="0"/>
              </a:spcAft>
            </a:pPr>
            <a:r>
              <a:rPr sz="1700" b="1">
                <a:solidFill>
                  <a:srgbClr val="EAF2FA"/>
                </a:solidFill>
                <a:latin typeface="Calibri"/>
              </a:rPr>
              <a:t>Aantal bedden</a:t>
            </a:r>
          </a:p>
        </p:txBody>
      </p:sp>
      <p:sp>
        <p:nvSpPr>
          <p:cNvPr id="13" name="TextBox 12"/>
          <p:cNvSpPr txBox="1"/>
          <p:nvPr/>
        </p:nvSpPr>
        <p:spPr>
          <a:xfrm>
            <a:off x="914400" y="2615184"/>
            <a:ext cx="2881274" cy="256032"/>
          </a:xfrm>
          <a:prstGeom prst="rect">
            <a:avLst/>
          </a:prstGeom>
          <a:noFill/>
        </p:spPr>
        <p:txBody>
          <a:bodyPr wrap="square" lIns="0" rIns="0" tIns="0" bIns="0" anchor="t">
            <a:spAutoFit/>
          </a:bodyPr>
          <a:lstStyle/>
          <a:p>
            <a:pPr algn="l">
              <a:lnSpc>
                <a:spcPct val="120000"/>
              </a:lnSpc>
              <a:spcAft>
                <a:spcPts val="0"/>
              </a:spcAft>
            </a:pPr>
            <a:r>
              <a:rPr sz="1100" b="0">
                <a:solidFill>
                  <a:srgbClr val="4A9BE8"/>
                </a:solidFill>
                <a:latin typeface="Calibri"/>
              </a:rPr>
              <a:t>op basis van patiëntaanwezigheid</a:t>
            </a:r>
          </a:p>
        </p:txBody>
      </p:sp>
      <p:cxnSp>
        <p:nvCxnSpPr>
          <p:cNvPr id="14" name="Connector 13"/>
          <p:cNvCxnSpPr/>
          <p:nvPr/>
        </p:nvCxnSpPr>
        <p:spPr>
          <a:xfrm>
            <a:off x="914400" y="2944368"/>
            <a:ext cx="2881274"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14400" y="3108960"/>
            <a:ext cx="2881274" cy="822960"/>
          </a:xfrm>
          <a:prstGeom prst="rect">
            <a:avLst/>
          </a:prstGeom>
          <a:noFill/>
        </p:spPr>
        <p:txBody>
          <a:bodyPr wrap="square" lIns="0" rIns="0" tIns="0" bIns="0" anchor="t">
            <a:spAutoFit/>
          </a:bodyPr>
          <a:lstStyle/>
          <a:p>
            <a:pPr algn="l">
              <a:lnSpc>
                <a:spcPct val="128000"/>
              </a:lnSpc>
              <a:spcAft>
                <a:spcPts val="0"/>
              </a:spcAft>
            </a:pPr>
            <a:r>
              <a:rPr sz="1200" b="0">
                <a:solidFill>
                  <a:srgbClr val="8BA5C0"/>
                </a:solidFill>
                <a:latin typeface="Calibri"/>
              </a:rPr>
              <a:t>Per afdeling apart geteld en uitgesplitst naar patiëntstroom.</a:t>
            </a:r>
          </a:p>
        </p:txBody>
      </p:sp>
      <p:sp>
        <p:nvSpPr>
          <p:cNvPr id="16" name="TextBox 15"/>
          <p:cNvSpPr txBox="1"/>
          <p:nvPr/>
        </p:nvSpPr>
        <p:spPr>
          <a:xfrm>
            <a:off x="914400" y="3986784"/>
            <a:ext cx="2881274" cy="219456"/>
          </a:xfrm>
          <a:prstGeom prst="rect">
            <a:avLst/>
          </a:prstGeom>
          <a:noFill/>
        </p:spPr>
        <p:txBody>
          <a:bodyPr wrap="square" lIns="0" rIns="0" tIns="0" bIns="0" anchor="t">
            <a:spAutoFit/>
          </a:bodyPr>
          <a:lstStyle/>
          <a:p>
            <a:pPr algn="l">
              <a:lnSpc>
                <a:spcPct val="120000"/>
              </a:lnSpc>
              <a:spcAft>
                <a:spcPts val="0"/>
              </a:spcAft>
            </a:pPr>
            <a:r>
              <a:rPr sz="900" b="1" spc="160">
                <a:solidFill>
                  <a:srgbClr val="5F7B9A"/>
                </a:solidFill>
                <a:latin typeface="Calibri"/>
              </a:rPr>
              <a:t>GEREED</a:t>
            </a:r>
          </a:p>
        </p:txBody>
      </p:sp>
      <p:sp>
        <p:nvSpPr>
          <p:cNvPr id="17" name="Rounded Rectangle 16"/>
          <p:cNvSpPr/>
          <p:nvPr/>
        </p:nvSpPr>
        <p:spPr>
          <a:xfrm>
            <a:off x="914400" y="4242816"/>
            <a:ext cx="2881274" cy="128016"/>
          </a:xfrm>
          <a:prstGeom prst="roundRect">
            <a:avLst>
              <a:gd name="adj" fmla="val 50000"/>
            </a:avLst>
          </a:prstGeom>
          <a:solidFill>
            <a:srgbClr val="1737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914400" y="4242816"/>
            <a:ext cx="1728764" cy="128016"/>
          </a:xfrm>
          <a:prstGeom prst="roundRect">
            <a:avLst>
              <a:gd name="adj" fmla="val 50000"/>
            </a:avLst>
          </a:prstGeom>
          <a:solidFill>
            <a:srgbClr val="4A9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4400" y="4425696"/>
            <a:ext cx="2881274" cy="219456"/>
          </a:xfrm>
          <a:prstGeom prst="rect">
            <a:avLst/>
          </a:prstGeom>
          <a:noFill/>
        </p:spPr>
        <p:txBody>
          <a:bodyPr wrap="square" lIns="0" rIns="0" tIns="0" bIns="0" anchor="t">
            <a:spAutoFit/>
          </a:bodyPr>
          <a:lstStyle/>
          <a:p>
            <a:pPr algn="l">
              <a:lnSpc>
                <a:spcPct val="120000"/>
              </a:lnSpc>
              <a:spcAft>
                <a:spcPts val="0"/>
              </a:spcAft>
            </a:pPr>
            <a:r>
              <a:rPr sz="1100" b="1">
                <a:solidFill>
                  <a:srgbClr val="4A9BE8"/>
                </a:solidFill>
                <a:latin typeface="Calibri"/>
              </a:rPr>
              <a:t>60%</a:t>
            </a:r>
          </a:p>
        </p:txBody>
      </p:sp>
      <p:sp>
        <p:nvSpPr>
          <p:cNvPr id="20" name="Rounded Rectangle 19"/>
          <p:cNvSpPr/>
          <p:nvPr/>
        </p:nvSpPr>
        <p:spPr>
          <a:xfrm>
            <a:off x="4380890" y="1700784"/>
            <a:ext cx="3429914" cy="298094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84924" y="1810512"/>
            <a:ext cx="1188720" cy="713232"/>
          </a:xfrm>
          <a:prstGeom prst="rect">
            <a:avLst/>
          </a:prstGeom>
          <a:noFill/>
        </p:spPr>
        <p:txBody>
          <a:bodyPr wrap="square" lIns="0" rIns="0" tIns="0" bIns="0" anchor="t">
            <a:spAutoFit/>
          </a:bodyPr>
          <a:lstStyle/>
          <a:p>
            <a:pPr algn="r">
              <a:lnSpc>
                <a:spcPct val="120000"/>
              </a:lnSpc>
              <a:spcAft>
                <a:spcPts val="0"/>
              </a:spcAft>
            </a:pPr>
            <a:r>
              <a:rPr sz="4200" b="1">
                <a:solidFill>
                  <a:srgbClr val="A98BFF">
                    <a:alpha val="26000"/>
                  </a:srgbClr>
                </a:solidFill>
                <a:latin typeface="Calibri"/>
              </a:rPr>
              <a:t>02</a:t>
            </a:r>
          </a:p>
        </p:txBody>
      </p:sp>
      <p:sp>
        <p:nvSpPr>
          <p:cNvPr id="22" name="TextBox 21"/>
          <p:cNvSpPr txBox="1"/>
          <p:nvPr/>
        </p:nvSpPr>
        <p:spPr>
          <a:xfrm>
            <a:off x="4655210" y="1975104"/>
            <a:ext cx="1966874" cy="585216"/>
          </a:xfrm>
          <a:prstGeom prst="rect">
            <a:avLst/>
          </a:prstGeom>
          <a:noFill/>
        </p:spPr>
        <p:txBody>
          <a:bodyPr wrap="square" lIns="0" rIns="0" tIns="0" bIns="0" anchor="t">
            <a:spAutoFit/>
          </a:bodyPr>
          <a:lstStyle/>
          <a:p>
            <a:pPr algn="l">
              <a:lnSpc>
                <a:spcPct val="114000"/>
              </a:lnSpc>
              <a:spcAft>
                <a:spcPts val="0"/>
              </a:spcAft>
            </a:pPr>
            <a:r>
              <a:rPr sz="1700" b="1">
                <a:solidFill>
                  <a:srgbClr val="EAF2FA"/>
                </a:solidFill>
                <a:latin typeface="Calibri"/>
              </a:rPr>
              <a:t>Norm verpleegkundigen</a:t>
            </a:r>
          </a:p>
        </p:txBody>
      </p:sp>
      <p:sp>
        <p:nvSpPr>
          <p:cNvPr id="23" name="TextBox 22"/>
          <p:cNvSpPr txBox="1"/>
          <p:nvPr/>
        </p:nvSpPr>
        <p:spPr>
          <a:xfrm>
            <a:off x="4655210" y="2615184"/>
            <a:ext cx="2881274" cy="256032"/>
          </a:xfrm>
          <a:prstGeom prst="rect">
            <a:avLst/>
          </a:prstGeom>
          <a:noFill/>
        </p:spPr>
        <p:txBody>
          <a:bodyPr wrap="square" lIns="0" rIns="0" tIns="0" bIns="0" anchor="t">
            <a:spAutoFit/>
          </a:bodyPr>
          <a:lstStyle/>
          <a:p>
            <a:pPr algn="l">
              <a:lnSpc>
                <a:spcPct val="120000"/>
              </a:lnSpc>
              <a:spcAft>
                <a:spcPts val="0"/>
              </a:spcAft>
            </a:pPr>
            <a:r>
              <a:rPr sz="1100" b="0">
                <a:solidFill>
                  <a:srgbClr val="A98BFF"/>
                </a:solidFill>
                <a:latin typeface="Calibri"/>
              </a:rPr>
              <a:t>patiëntenzorg, per dienst</a:t>
            </a:r>
          </a:p>
        </p:txBody>
      </p:sp>
      <p:cxnSp>
        <p:nvCxnSpPr>
          <p:cNvPr id="24" name="Connector 23"/>
          <p:cNvCxnSpPr/>
          <p:nvPr/>
        </p:nvCxnSpPr>
        <p:spPr>
          <a:xfrm>
            <a:off x="4655210" y="2944368"/>
            <a:ext cx="2881274"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655210" y="3108960"/>
            <a:ext cx="2881274" cy="822960"/>
          </a:xfrm>
          <a:prstGeom prst="rect">
            <a:avLst/>
          </a:prstGeom>
          <a:noFill/>
        </p:spPr>
        <p:txBody>
          <a:bodyPr wrap="square" lIns="0" rIns="0" tIns="0" bIns="0" anchor="t">
            <a:spAutoFit/>
          </a:bodyPr>
          <a:lstStyle/>
          <a:p>
            <a:pPr algn="l">
              <a:lnSpc>
                <a:spcPct val="128000"/>
              </a:lnSpc>
              <a:spcAft>
                <a:spcPts val="0"/>
              </a:spcAft>
            </a:pPr>
            <a:r>
              <a:rPr sz="1200" b="0">
                <a:solidFill>
                  <a:srgbClr val="8BA5C0"/>
                </a:solidFill>
                <a:latin typeface="Calibri"/>
              </a:rPr>
              <a:t>Uitgesplitst naar dag, laat en nacht. De waarden zijn nog niet ingevuld.</a:t>
            </a:r>
          </a:p>
        </p:txBody>
      </p:sp>
      <p:sp>
        <p:nvSpPr>
          <p:cNvPr id="26" name="TextBox 25"/>
          <p:cNvSpPr txBox="1"/>
          <p:nvPr/>
        </p:nvSpPr>
        <p:spPr>
          <a:xfrm>
            <a:off x="4655210" y="3986784"/>
            <a:ext cx="2881274" cy="219456"/>
          </a:xfrm>
          <a:prstGeom prst="rect">
            <a:avLst/>
          </a:prstGeom>
          <a:noFill/>
        </p:spPr>
        <p:txBody>
          <a:bodyPr wrap="square" lIns="0" rIns="0" tIns="0" bIns="0" anchor="t">
            <a:spAutoFit/>
          </a:bodyPr>
          <a:lstStyle/>
          <a:p>
            <a:pPr algn="l">
              <a:lnSpc>
                <a:spcPct val="120000"/>
              </a:lnSpc>
              <a:spcAft>
                <a:spcPts val="0"/>
              </a:spcAft>
            </a:pPr>
            <a:r>
              <a:rPr sz="900" b="1" spc="160">
                <a:solidFill>
                  <a:srgbClr val="5F7B9A"/>
                </a:solidFill>
                <a:latin typeface="Calibri"/>
              </a:rPr>
              <a:t>GEREED</a:t>
            </a:r>
          </a:p>
        </p:txBody>
      </p:sp>
      <p:sp>
        <p:nvSpPr>
          <p:cNvPr id="27" name="Rounded Rectangle 26"/>
          <p:cNvSpPr/>
          <p:nvPr/>
        </p:nvSpPr>
        <p:spPr>
          <a:xfrm>
            <a:off x="4655210" y="4242816"/>
            <a:ext cx="2881274" cy="128016"/>
          </a:xfrm>
          <a:prstGeom prst="roundRect">
            <a:avLst>
              <a:gd name="adj" fmla="val 50000"/>
            </a:avLst>
          </a:prstGeom>
          <a:solidFill>
            <a:srgbClr val="283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655210" y="4425696"/>
            <a:ext cx="2881274" cy="219456"/>
          </a:xfrm>
          <a:prstGeom prst="rect">
            <a:avLst/>
          </a:prstGeom>
          <a:noFill/>
        </p:spPr>
        <p:txBody>
          <a:bodyPr wrap="square" lIns="0" rIns="0" tIns="0" bIns="0" anchor="t">
            <a:spAutoFit/>
          </a:bodyPr>
          <a:lstStyle/>
          <a:p>
            <a:pPr algn="l">
              <a:lnSpc>
                <a:spcPct val="120000"/>
              </a:lnSpc>
              <a:spcAft>
                <a:spcPts val="0"/>
              </a:spcAft>
            </a:pPr>
            <a:r>
              <a:rPr sz="1100" b="1">
                <a:solidFill>
                  <a:srgbClr val="A98BFF"/>
                </a:solidFill>
                <a:latin typeface="Calibri"/>
              </a:rPr>
              <a:t>0%</a:t>
            </a:r>
          </a:p>
        </p:txBody>
      </p:sp>
      <p:sp>
        <p:nvSpPr>
          <p:cNvPr id="29" name="Rounded Rectangle 28"/>
          <p:cNvSpPr/>
          <p:nvPr/>
        </p:nvSpPr>
        <p:spPr>
          <a:xfrm>
            <a:off x="8121700" y="1700784"/>
            <a:ext cx="3429914" cy="298094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25735" y="1810512"/>
            <a:ext cx="1188720" cy="713232"/>
          </a:xfrm>
          <a:prstGeom prst="rect">
            <a:avLst/>
          </a:prstGeom>
          <a:noFill/>
        </p:spPr>
        <p:txBody>
          <a:bodyPr wrap="square" lIns="0" rIns="0" tIns="0" bIns="0" anchor="t">
            <a:spAutoFit/>
          </a:bodyPr>
          <a:lstStyle/>
          <a:p>
            <a:pPr algn="r">
              <a:lnSpc>
                <a:spcPct val="120000"/>
              </a:lnSpc>
              <a:spcAft>
                <a:spcPts val="0"/>
              </a:spcAft>
            </a:pPr>
            <a:r>
              <a:rPr sz="4200" b="1">
                <a:solidFill>
                  <a:srgbClr val="35E0C4">
                    <a:alpha val="26000"/>
                  </a:srgbClr>
                </a:solidFill>
                <a:latin typeface="Calibri"/>
              </a:rPr>
              <a:t>03</a:t>
            </a:r>
          </a:p>
        </p:txBody>
      </p:sp>
      <p:sp>
        <p:nvSpPr>
          <p:cNvPr id="31" name="TextBox 30"/>
          <p:cNvSpPr txBox="1"/>
          <p:nvPr/>
        </p:nvSpPr>
        <p:spPr>
          <a:xfrm>
            <a:off x="8396020" y="1975104"/>
            <a:ext cx="1966874" cy="585216"/>
          </a:xfrm>
          <a:prstGeom prst="rect">
            <a:avLst/>
          </a:prstGeom>
          <a:noFill/>
        </p:spPr>
        <p:txBody>
          <a:bodyPr wrap="square" lIns="0" rIns="0" tIns="0" bIns="0" anchor="t">
            <a:spAutoFit/>
          </a:bodyPr>
          <a:lstStyle/>
          <a:p>
            <a:pPr algn="l">
              <a:lnSpc>
                <a:spcPct val="114000"/>
              </a:lnSpc>
              <a:spcAft>
                <a:spcPts val="0"/>
              </a:spcAft>
            </a:pPr>
            <a:r>
              <a:rPr sz="1700" b="1">
                <a:solidFill>
                  <a:srgbClr val="EAF2FA"/>
                </a:solidFill>
                <a:latin typeface="Calibri"/>
              </a:rPr>
              <a:t>Indirecte uren</a:t>
            </a:r>
          </a:p>
        </p:txBody>
      </p:sp>
      <p:sp>
        <p:nvSpPr>
          <p:cNvPr id="32" name="TextBox 31"/>
          <p:cNvSpPr txBox="1"/>
          <p:nvPr/>
        </p:nvSpPr>
        <p:spPr>
          <a:xfrm>
            <a:off x="8396020" y="2615184"/>
            <a:ext cx="2881274" cy="256032"/>
          </a:xfrm>
          <a:prstGeom prst="rect">
            <a:avLst/>
          </a:prstGeom>
          <a:noFill/>
        </p:spPr>
        <p:txBody>
          <a:bodyPr wrap="square" lIns="0" rIns="0" tIns="0" bIns="0" anchor="t">
            <a:spAutoFit/>
          </a:bodyPr>
          <a:lstStyle/>
          <a:p>
            <a:pPr algn="l">
              <a:lnSpc>
                <a:spcPct val="120000"/>
              </a:lnSpc>
              <a:spcAft>
                <a:spcPts val="0"/>
              </a:spcAft>
            </a:pPr>
            <a:r>
              <a:rPr sz="1100" b="0">
                <a:solidFill>
                  <a:srgbClr val="35E0C4"/>
                </a:solidFill>
                <a:latin typeface="Calibri"/>
              </a:rPr>
              <a:t>per afdeling</a:t>
            </a:r>
          </a:p>
        </p:txBody>
      </p:sp>
      <p:cxnSp>
        <p:nvCxnSpPr>
          <p:cNvPr id="33" name="Connector 32"/>
          <p:cNvCxnSpPr/>
          <p:nvPr/>
        </p:nvCxnSpPr>
        <p:spPr>
          <a:xfrm>
            <a:off x="8396020" y="2944368"/>
            <a:ext cx="288127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96020" y="3108960"/>
            <a:ext cx="2881274" cy="822960"/>
          </a:xfrm>
          <a:prstGeom prst="rect">
            <a:avLst/>
          </a:prstGeom>
          <a:noFill/>
        </p:spPr>
        <p:txBody>
          <a:bodyPr wrap="square" lIns="0" rIns="0" tIns="0" bIns="0" anchor="t">
            <a:spAutoFit/>
          </a:bodyPr>
          <a:lstStyle/>
          <a:p>
            <a:pPr algn="l">
              <a:lnSpc>
                <a:spcPct val="128000"/>
              </a:lnSpc>
              <a:spcAft>
                <a:spcPts val="0"/>
              </a:spcAft>
            </a:pPr>
            <a:r>
              <a:rPr sz="1200" b="0">
                <a:solidFill>
                  <a:srgbClr val="8BA5C0"/>
                </a:solidFill>
                <a:latin typeface="Calibri"/>
              </a:rPr>
              <a:t>In beeld gebracht, maar de oude begroting loopt sterk uiteen.</a:t>
            </a:r>
          </a:p>
        </p:txBody>
      </p:sp>
      <p:sp>
        <p:nvSpPr>
          <p:cNvPr id="35" name="TextBox 34"/>
          <p:cNvSpPr txBox="1"/>
          <p:nvPr/>
        </p:nvSpPr>
        <p:spPr>
          <a:xfrm>
            <a:off x="8396020" y="3986784"/>
            <a:ext cx="2881274" cy="219456"/>
          </a:xfrm>
          <a:prstGeom prst="rect">
            <a:avLst/>
          </a:prstGeom>
          <a:noFill/>
        </p:spPr>
        <p:txBody>
          <a:bodyPr wrap="square" lIns="0" rIns="0" tIns="0" bIns="0" anchor="t">
            <a:spAutoFit/>
          </a:bodyPr>
          <a:lstStyle/>
          <a:p>
            <a:pPr algn="l">
              <a:lnSpc>
                <a:spcPct val="120000"/>
              </a:lnSpc>
              <a:spcAft>
                <a:spcPts val="0"/>
              </a:spcAft>
            </a:pPr>
            <a:r>
              <a:rPr sz="900" b="1" spc="160">
                <a:solidFill>
                  <a:srgbClr val="5F7B9A"/>
                </a:solidFill>
                <a:latin typeface="Calibri"/>
              </a:rPr>
              <a:t>GEREED</a:t>
            </a:r>
          </a:p>
        </p:txBody>
      </p:sp>
      <p:sp>
        <p:nvSpPr>
          <p:cNvPr id="36" name="Rounded Rectangle 35"/>
          <p:cNvSpPr/>
          <p:nvPr/>
        </p:nvSpPr>
        <p:spPr>
          <a:xfrm>
            <a:off x="8396020" y="4242816"/>
            <a:ext cx="2881274" cy="128016"/>
          </a:xfrm>
          <a:prstGeom prst="roundRect">
            <a:avLst>
              <a:gd name="adj" fmla="val 50000"/>
            </a:avLst>
          </a:prstGeom>
          <a:solidFill>
            <a:srgbClr val="1343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396020" y="4242816"/>
            <a:ext cx="1152509" cy="128016"/>
          </a:xfrm>
          <a:prstGeom prst="roundRect">
            <a:avLst>
              <a:gd name="adj" fmla="val 50000"/>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396020" y="4425696"/>
            <a:ext cx="2881274" cy="219456"/>
          </a:xfrm>
          <a:prstGeom prst="rect">
            <a:avLst/>
          </a:prstGeom>
          <a:noFill/>
        </p:spPr>
        <p:txBody>
          <a:bodyPr wrap="square" lIns="0" rIns="0" tIns="0" bIns="0" anchor="t">
            <a:spAutoFit/>
          </a:bodyPr>
          <a:lstStyle/>
          <a:p>
            <a:pPr algn="l">
              <a:lnSpc>
                <a:spcPct val="120000"/>
              </a:lnSpc>
              <a:spcAft>
                <a:spcPts val="0"/>
              </a:spcAft>
            </a:pPr>
            <a:r>
              <a:rPr sz="1100" b="1">
                <a:solidFill>
                  <a:srgbClr val="35E0C4"/>
                </a:solidFill>
                <a:latin typeface="Calibri"/>
              </a:rPr>
              <a:t>40%</a:t>
            </a:r>
          </a:p>
        </p:txBody>
      </p:sp>
      <p:sp>
        <p:nvSpPr>
          <p:cNvPr id="39" name="Rounded Rectangle 38"/>
          <p:cNvSpPr/>
          <p:nvPr/>
        </p:nvSpPr>
        <p:spPr>
          <a:xfrm>
            <a:off x="640080" y="5394959"/>
            <a:ext cx="10911535" cy="822960"/>
          </a:xfrm>
          <a:prstGeom prst="roundRect">
            <a:avLst>
              <a:gd name="adj" fmla="val 3000"/>
            </a:avLst>
          </a:prstGeom>
          <a:solidFill>
            <a:srgbClr val="382E3E"/>
          </a:solidFill>
          <a:ln w="15875">
            <a:solidFill>
              <a:srgbClr val="794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640080" y="5394959"/>
            <a:ext cx="50292" cy="822960"/>
          </a:xfrm>
          <a:prstGeom prst="roundRect">
            <a:avLst>
              <a:gd name="adj" fmla="val 50000"/>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50976" y="5477255"/>
            <a:ext cx="10289743"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FF6B5A"/>
                </a:solidFill>
                <a:latin typeface="Calibri"/>
              </a:rPr>
              <a:t>BLOKKERENDE VRAAG</a:t>
            </a:r>
          </a:p>
          <a:p>
            <a:pPr algn="l">
              <a:lnSpc>
                <a:spcPct val="120000"/>
              </a:lnSpc>
              <a:spcAft>
                <a:spcPts val="0"/>
              </a:spcAft>
            </a:pPr>
            <a:r>
              <a:rPr sz="1250" b="1">
                <a:solidFill>
                  <a:srgbClr val="EAF2FA"/>
                </a:solidFill>
                <a:latin typeface="Calibri"/>
              </a:rPr>
              <a:t>De norm verpleegkundigen is voor geen enkele afdeling vastgesteld. Doet Remco die uitspraak, of leggen we de huidige inzet aan hem voor?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A98BFF"/>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Welke stromen tellen mee</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Per afdeling apart geteld, omdat de specialismen nu gescheiden werken</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08</a:t>
            </a:r>
          </a:p>
        </p:txBody>
      </p:sp>
      <p:sp>
        <p:nvSpPr>
          <p:cNvPr id="10" name="Rounded Rectangle 9"/>
          <p:cNvSpPr/>
          <p:nvPr/>
        </p:nvSpPr>
        <p:spPr>
          <a:xfrm>
            <a:off x="640080" y="1828800"/>
            <a:ext cx="1417320" cy="548640"/>
          </a:xfrm>
          <a:prstGeom prst="roundRect">
            <a:avLst>
              <a:gd name="adj" fmla="val 10000"/>
            </a:avLst>
          </a:prstGeom>
          <a:solidFill>
            <a:srgbClr val="18395B"/>
          </a:solidFill>
          <a:ln w="15875">
            <a:solidFill>
              <a:srgbClr val="2858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0080" y="1828800"/>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4A9BE8"/>
                </a:solidFill>
                <a:latin typeface="Calibri"/>
              </a:rPr>
              <a:t>ICU</a:t>
            </a:r>
          </a:p>
        </p:txBody>
      </p:sp>
      <p:sp>
        <p:nvSpPr>
          <p:cNvPr id="12" name="Freeform 11"/>
          <p:cNvSpPr/>
          <p:nvPr/>
        </p:nvSpPr>
        <p:spPr>
          <a:xfrm>
            <a:off x="2112264" y="2103120"/>
            <a:ext cx="347472" cy="0"/>
          </a:xfrm>
          <a:custGeom>
            <a:avLst/>
            <a:gdLst/>
            <a:ahLst/>
            <a:cxnLst/>
            <a:rect l="l" t="t" r="r" b="b"/>
            <a:pathLst>
              <a:path w="347472" h="0">
                <a:moveTo>
                  <a:pt x="0" y="0"/>
                </a:moveTo>
                <a:lnTo>
                  <a:pt x="347472" y="0"/>
                </a:lnTo>
              </a:path>
            </a:pathLst>
          </a:custGeom>
          <a:noFill/>
          <a:ln w="19050">
            <a:solidFill>
              <a:srgbClr val="2E64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14600" y="1883664"/>
            <a:ext cx="1417320" cy="438912"/>
          </a:xfrm>
          <a:prstGeom prst="roundRect">
            <a:avLst>
              <a:gd name="adj" fmla="val 50000"/>
            </a:avLst>
          </a:prstGeom>
          <a:solidFill>
            <a:srgbClr val="4A9BE8">
              <a:alpha val="12000"/>
            </a:srgbClr>
          </a:solidFill>
          <a:ln w="12700">
            <a:solidFill>
              <a:srgbClr val="2E649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4A9BE8"/>
                </a:solidFill>
                <a:latin typeface="Calibri"/>
              </a:rPr>
              <a:t>spoed</a:t>
            </a:r>
          </a:p>
        </p:txBody>
      </p:sp>
      <p:sp>
        <p:nvSpPr>
          <p:cNvPr id="14" name="Freeform 13"/>
          <p:cNvSpPr/>
          <p:nvPr/>
        </p:nvSpPr>
        <p:spPr>
          <a:xfrm>
            <a:off x="3986783" y="2103120"/>
            <a:ext cx="347473" cy="0"/>
          </a:xfrm>
          <a:custGeom>
            <a:avLst/>
            <a:gdLst/>
            <a:ahLst/>
            <a:cxnLst/>
            <a:rect l="l" t="t" r="r" b="b"/>
            <a:pathLst>
              <a:path w="347473" h="0">
                <a:moveTo>
                  <a:pt x="0" y="0"/>
                </a:moveTo>
                <a:lnTo>
                  <a:pt x="347473" y="0"/>
                </a:lnTo>
              </a:path>
            </a:pathLst>
          </a:custGeom>
          <a:noFill/>
          <a:ln w="19050">
            <a:solidFill>
              <a:srgbClr val="2E64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1883664"/>
            <a:ext cx="1417320" cy="438912"/>
          </a:xfrm>
          <a:prstGeom prst="roundRect">
            <a:avLst>
              <a:gd name="adj" fmla="val 50000"/>
            </a:avLst>
          </a:prstGeom>
          <a:solidFill>
            <a:srgbClr val="4A9BE8">
              <a:alpha val="12000"/>
            </a:srgbClr>
          </a:solidFill>
          <a:ln w="12700">
            <a:solidFill>
              <a:srgbClr val="2E649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4A9BE8"/>
                </a:solidFill>
                <a:latin typeface="Calibri"/>
              </a:rPr>
              <a:t>electief</a:t>
            </a:r>
          </a:p>
        </p:txBody>
      </p:sp>
      <p:sp>
        <p:nvSpPr>
          <p:cNvPr id="16" name="Freeform 15"/>
          <p:cNvSpPr/>
          <p:nvPr/>
        </p:nvSpPr>
        <p:spPr>
          <a:xfrm>
            <a:off x="5861303" y="2103120"/>
            <a:ext cx="347473" cy="0"/>
          </a:xfrm>
          <a:custGeom>
            <a:avLst/>
            <a:gdLst/>
            <a:ahLst/>
            <a:cxnLst/>
            <a:rect l="l" t="t" r="r" b="b"/>
            <a:pathLst>
              <a:path w="347473" h="0">
                <a:moveTo>
                  <a:pt x="0" y="0"/>
                </a:moveTo>
                <a:lnTo>
                  <a:pt x="347473" y="0"/>
                </a:lnTo>
              </a:path>
            </a:pathLst>
          </a:custGeom>
          <a:noFill/>
          <a:ln w="19050">
            <a:solidFill>
              <a:srgbClr val="2E64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1883664"/>
            <a:ext cx="1417320" cy="438912"/>
          </a:xfrm>
          <a:prstGeom prst="roundRect">
            <a:avLst>
              <a:gd name="adj" fmla="val 50000"/>
            </a:avLst>
          </a:prstGeom>
          <a:solidFill>
            <a:srgbClr val="4A9BE8">
              <a:alpha val="12000"/>
            </a:srgbClr>
          </a:solidFill>
          <a:ln w="12700">
            <a:solidFill>
              <a:srgbClr val="2E6499"/>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4A9BE8"/>
                </a:solidFill>
                <a:latin typeface="Calibri"/>
              </a:rPr>
              <a:t>recovery</a:t>
            </a:r>
          </a:p>
        </p:txBody>
      </p:sp>
      <p:sp>
        <p:nvSpPr>
          <p:cNvPr id="18" name="Rounded Rectangle 17"/>
          <p:cNvSpPr/>
          <p:nvPr/>
        </p:nvSpPr>
        <p:spPr>
          <a:xfrm>
            <a:off x="640080" y="2542032"/>
            <a:ext cx="1417320" cy="548640"/>
          </a:xfrm>
          <a:prstGeom prst="roundRect">
            <a:avLst>
              <a:gd name="adj" fmla="val 10000"/>
            </a:avLst>
          </a:prstGeom>
          <a:solidFill>
            <a:srgbClr val="2B3660"/>
          </a:solidFill>
          <a:ln w="15875">
            <a:solidFill>
              <a:srgbClr val="53519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0080" y="2542032"/>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A98BFF"/>
                </a:solidFill>
                <a:latin typeface="Calibri"/>
              </a:rPr>
              <a:t>CCU</a:t>
            </a:r>
          </a:p>
        </p:txBody>
      </p:sp>
      <p:sp>
        <p:nvSpPr>
          <p:cNvPr id="20" name="Freeform 19"/>
          <p:cNvSpPr/>
          <p:nvPr/>
        </p:nvSpPr>
        <p:spPr>
          <a:xfrm>
            <a:off x="2112264" y="2816352"/>
            <a:ext cx="347472" cy="0"/>
          </a:xfrm>
          <a:custGeom>
            <a:avLst/>
            <a:gdLst/>
            <a:ahLst/>
            <a:cxnLst/>
            <a:rect l="l" t="t" r="r" b="b"/>
            <a:pathLst>
              <a:path w="347472" h="0">
                <a:moveTo>
                  <a:pt x="0" y="0"/>
                </a:moveTo>
                <a:lnTo>
                  <a:pt x="347472" y="0"/>
                </a:lnTo>
              </a:path>
            </a:pathLst>
          </a:custGeom>
          <a:noFill/>
          <a:ln w="19050">
            <a:solidFill>
              <a:srgbClr val="625B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514600" y="2596896"/>
            <a:ext cx="1417320" cy="438912"/>
          </a:xfrm>
          <a:prstGeom prst="roundRect">
            <a:avLst>
              <a:gd name="adj" fmla="val 50000"/>
            </a:avLst>
          </a:prstGeom>
          <a:solidFill>
            <a:srgbClr val="A98BFF">
              <a:alpha val="12000"/>
            </a:srgbClr>
          </a:solidFill>
          <a:ln w="12700">
            <a:solidFill>
              <a:srgbClr val="625BA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A98BFF"/>
                </a:solidFill>
                <a:latin typeface="Calibri"/>
              </a:rPr>
              <a:t>spoed</a:t>
            </a:r>
          </a:p>
        </p:txBody>
      </p:sp>
      <p:sp>
        <p:nvSpPr>
          <p:cNvPr id="22" name="Freeform 21"/>
          <p:cNvSpPr/>
          <p:nvPr/>
        </p:nvSpPr>
        <p:spPr>
          <a:xfrm>
            <a:off x="3986783" y="2816352"/>
            <a:ext cx="347473" cy="0"/>
          </a:xfrm>
          <a:custGeom>
            <a:avLst/>
            <a:gdLst/>
            <a:ahLst/>
            <a:cxnLst/>
            <a:rect l="l" t="t" r="r" b="b"/>
            <a:pathLst>
              <a:path w="347473" h="0">
                <a:moveTo>
                  <a:pt x="0" y="0"/>
                </a:moveTo>
                <a:lnTo>
                  <a:pt x="347473" y="0"/>
                </a:lnTo>
              </a:path>
            </a:pathLst>
          </a:custGeom>
          <a:noFill/>
          <a:ln w="19050">
            <a:solidFill>
              <a:srgbClr val="625B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389120" y="2596896"/>
            <a:ext cx="1417320" cy="438912"/>
          </a:xfrm>
          <a:prstGeom prst="roundRect">
            <a:avLst>
              <a:gd name="adj" fmla="val 50000"/>
            </a:avLst>
          </a:prstGeom>
          <a:solidFill>
            <a:srgbClr val="A98BFF">
              <a:alpha val="12000"/>
            </a:srgbClr>
          </a:solidFill>
          <a:ln w="12700">
            <a:solidFill>
              <a:srgbClr val="625BA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A98BFF"/>
                </a:solidFill>
                <a:latin typeface="Calibri"/>
              </a:rPr>
              <a:t>cardioversie</a:t>
            </a:r>
          </a:p>
        </p:txBody>
      </p:sp>
      <p:sp>
        <p:nvSpPr>
          <p:cNvPr id="24" name="Rounded Rectangle 23"/>
          <p:cNvSpPr/>
          <p:nvPr/>
        </p:nvSpPr>
        <p:spPr>
          <a:xfrm>
            <a:off x="640080" y="3255264"/>
            <a:ext cx="1417320" cy="548640"/>
          </a:xfrm>
          <a:prstGeom prst="roundRect">
            <a:avLst>
              <a:gd name="adj" fmla="val 10000"/>
            </a:avLst>
          </a:prstGeom>
          <a:solidFill>
            <a:srgbClr val="144754"/>
          </a:solid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3255264"/>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35E0C4"/>
                </a:solidFill>
                <a:latin typeface="Calibri"/>
              </a:rPr>
              <a:t>SCU</a:t>
            </a:r>
          </a:p>
        </p:txBody>
      </p:sp>
      <p:sp>
        <p:nvSpPr>
          <p:cNvPr id="26" name="Freeform 25"/>
          <p:cNvSpPr/>
          <p:nvPr/>
        </p:nvSpPr>
        <p:spPr>
          <a:xfrm>
            <a:off x="2112264" y="3529584"/>
            <a:ext cx="347472" cy="0"/>
          </a:xfrm>
          <a:custGeom>
            <a:avLst/>
            <a:gdLst/>
            <a:ahLst/>
            <a:cxnLst/>
            <a:rect l="l" t="t" r="r" b="b"/>
            <a:pathLst>
              <a:path w="347472" h="0">
                <a:moveTo>
                  <a:pt x="0" y="0"/>
                </a:moveTo>
                <a:lnTo>
                  <a:pt x="347472" y="0"/>
                </a:lnTo>
              </a:path>
            </a:pathLst>
          </a:custGeom>
          <a:noFill/>
          <a:ln w="19050">
            <a:solidFill>
              <a:srgbClr val="238A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514600" y="3310128"/>
            <a:ext cx="1417320" cy="438912"/>
          </a:xfrm>
          <a:prstGeom prst="roundRect">
            <a:avLst>
              <a:gd name="adj" fmla="val 50000"/>
            </a:avLst>
          </a:prstGeom>
          <a:solidFill>
            <a:srgbClr val="35E0C4">
              <a:alpha val="12000"/>
            </a:srgbClr>
          </a:solidFill>
          <a:ln w="12700">
            <a:solidFill>
              <a:srgbClr val="238A85"/>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35E0C4"/>
                </a:solidFill>
                <a:latin typeface="Calibri"/>
              </a:rPr>
              <a:t>spoed</a:t>
            </a:r>
          </a:p>
        </p:txBody>
      </p:sp>
      <p:sp>
        <p:nvSpPr>
          <p:cNvPr id="28" name="Rounded Rectangle 27"/>
          <p:cNvSpPr/>
          <p:nvPr/>
        </p:nvSpPr>
        <p:spPr>
          <a:xfrm>
            <a:off x="640080" y="3968496"/>
            <a:ext cx="1417320" cy="548640"/>
          </a:xfrm>
          <a:prstGeom prst="roundRect">
            <a:avLst>
              <a:gd name="adj" fmla="val 10000"/>
            </a:avLst>
          </a:prstGeom>
          <a:solidFill>
            <a:srgbClr val="3D3F3B"/>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0080" y="3968496"/>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FFB547"/>
                </a:solidFill>
                <a:latin typeface="Calibri"/>
              </a:rPr>
              <a:t>EHH</a:t>
            </a:r>
          </a:p>
        </p:txBody>
      </p:sp>
      <p:sp>
        <p:nvSpPr>
          <p:cNvPr id="30" name="Freeform 29"/>
          <p:cNvSpPr/>
          <p:nvPr/>
        </p:nvSpPr>
        <p:spPr>
          <a:xfrm>
            <a:off x="2112264" y="4242816"/>
            <a:ext cx="347472" cy="0"/>
          </a:xfrm>
          <a:custGeom>
            <a:avLst/>
            <a:gdLst/>
            <a:ahLst/>
            <a:cxnLst/>
            <a:rect l="l" t="t" r="r" b="b"/>
            <a:pathLst>
              <a:path w="347472" h="0">
                <a:moveTo>
                  <a:pt x="0" y="0"/>
                </a:moveTo>
                <a:lnTo>
                  <a:pt x="347472" y="0"/>
                </a:lnTo>
              </a:path>
            </a:pathLst>
          </a:custGeom>
          <a:noFill/>
          <a:ln w="19050">
            <a:solidFill>
              <a:srgbClr val="927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2514600" y="4023360"/>
            <a:ext cx="1417320" cy="438912"/>
          </a:xfrm>
          <a:prstGeom prst="roundRect">
            <a:avLst>
              <a:gd name="adj" fmla="val 50000"/>
            </a:avLst>
          </a:prstGeom>
          <a:solidFill>
            <a:srgbClr val="FFB547">
              <a:alpha val="12000"/>
            </a:srgbClr>
          </a:solidFill>
          <a:ln w="12700">
            <a:solidFill>
              <a:srgbClr val="9272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FFB547"/>
                </a:solidFill>
                <a:latin typeface="Calibri"/>
              </a:rPr>
              <a:t>spoed</a:t>
            </a:r>
          </a:p>
        </p:txBody>
      </p:sp>
      <p:sp>
        <p:nvSpPr>
          <p:cNvPr id="32" name="Rounded Rectangle 31"/>
          <p:cNvSpPr/>
          <p:nvPr/>
        </p:nvSpPr>
        <p:spPr>
          <a:xfrm>
            <a:off x="640080" y="4681728"/>
            <a:ext cx="1417320" cy="548640"/>
          </a:xfrm>
          <a:prstGeom prst="roundRect">
            <a:avLst>
              <a:gd name="adj" fmla="val 10000"/>
            </a:avLst>
          </a:prstGeom>
          <a:solidFill>
            <a:srgbClr val="253B53"/>
          </a:solidFill>
          <a:ln w="15875">
            <a:solidFill>
              <a:srgbClr val="455C7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4681728"/>
            <a:ext cx="1417320" cy="548640"/>
          </a:xfrm>
          <a:prstGeom prst="rect">
            <a:avLst/>
          </a:prstGeom>
          <a:noFill/>
        </p:spPr>
        <p:txBody>
          <a:bodyPr wrap="square" lIns="0" rIns="0" tIns="0" bIns="0" anchor="ctr">
            <a:spAutoFit/>
          </a:bodyPr>
          <a:lstStyle/>
          <a:p>
            <a:pPr algn="ctr">
              <a:lnSpc>
                <a:spcPct val="120000"/>
              </a:lnSpc>
              <a:spcAft>
                <a:spcPts val="0"/>
              </a:spcAft>
            </a:pPr>
            <a:r>
              <a:rPr sz="1600" b="1">
                <a:solidFill>
                  <a:srgbClr val="8BA5C0"/>
                </a:solidFill>
                <a:latin typeface="Calibri"/>
              </a:rPr>
              <a:t>SEH</a:t>
            </a:r>
          </a:p>
        </p:txBody>
      </p:sp>
      <p:sp>
        <p:nvSpPr>
          <p:cNvPr id="34" name="Freeform 33"/>
          <p:cNvSpPr/>
          <p:nvPr/>
        </p:nvSpPr>
        <p:spPr>
          <a:xfrm>
            <a:off x="2112264" y="4956048"/>
            <a:ext cx="347472" cy="0"/>
          </a:xfrm>
          <a:custGeom>
            <a:avLst/>
            <a:gdLst/>
            <a:ahLst/>
            <a:cxnLst/>
            <a:rect l="l" t="t" r="r" b="b"/>
            <a:pathLst>
              <a:path w="347472" h="0">
                <a:moveTo>
                  <a:pt x="0" y="0"/>
                </a:moveTo>
                <a:lnTo>
                  <a:pt x="347472" y="0"/>
                </a:lnTo>
              </a:path>
            </a:pathLst>
          </a:custGeom>
          <a:noFill/>
          <a:ln w="19050">
            <a:solidFill>
              <a:srgbClr val="526A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2514600" y="4736592"/>
            <a:ext cx="2798063" cy="438912"/>
          </a:xfrm>
          <a:prstGeom prst="roundRect">
            <a:avLst>
              <a:gd name="adj" fmla="val 50000"/>
            </a:avLst>
          </a:prstGeom>
          <a:solidFill>
            <a:srgbClr val="8BA5C0">
              <a:alpha val="12000"/>
            </a:srgbClr>
          </a:solidFill>
          <a:ln w="12700">
            <a:solidFill>
              <a:srgbClr val="526A8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8BA5C0"/>
                </a:solidFill>
                <a:latin typeface="Calibri"/>
              </a:rPr>
              <a:t>scenario's van Maxim en Sigrid</a:t>
            </a:r>
          </a:p>
        </p:txBody>
      </p:sp>
      <p:sp>
        <p:nvSpPr>
          <p:cNvPr id="36" name="Rounded Rectangle 35"/>
          <p:cNvSpPr/>
          <p:nvPr/>
        </p:nvSpPr>
        <p:spPr>
          <a:xfrm>
            <a:off x="640080" y="5394959"/>
            <a:ext cx="10911535" cy="822960"/>
          </a:xfrm>
          <a:prstGeom prst="roundRect">
            <a:avLst>
              <a:gd name="adj" fmla="val 3000"/>
            </a:avLst>
          </a:prstGeom>
          <a:solidFill>
            <a:srgbClr val="382E3E"/>
          </a:solidFill>
          <a:ln w="15875">
            <a:solidFill>
              <a:srgbClr val="794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40080" y="5394959"/>
            <a:ext cx="50292" cy="822960"/>
          </a:xfrm>
          <a:prstGeom prst="roundRect">
            <a:avLst>
              <a:gd name="adj" fmla="val 50000"/>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50976" y="5477255"/>
            <a:ext cx="10289743"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FF6B5A"/>
                </a:solidFill>
                <a:latin typeface="Calibri"/>
              </a:rPr>
              <a:t>LET OP</a:t>
            </a:r>
          </a:p>
          <a:p>
            <a:pPr algn="l">
              <a:lnSpc>
                <a:spcPct val="120000"/>
              </a:lnSpc>
              <a:spcAft>
                <a:spcPts val="0"/>
              </a:spcAft>
            </a:pPr>
            <a:r>
              <a:rPr sz="1250" b="1">
                <a:solidFill>
                  <a:srgbClr val="EAF2FA"/>
                </a:solidFill>
                <a:latin typeface="Calibri"/>
              </a:rPr>
              <a:t>Deze tellingen horen bij de huidige, gescheiden situatie. In de scenario's waarin afdelingen samengaan, moet opnieuw geteld worden.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046719" y="2743200"/>
            <a:ext cx="4389120" cy="4389120"/>
          </a:xfrm>
          <a:prstGeom prst="ellipse">
            <a:avLst/>
          </a:prstGeom>
          <a:solidFill>
            <a:srgbClr val="4A9BE8">
              <a:alpha val="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85632" y="3182112"/>
            <a:ext cx="3511296" cy="3511296"/>
          </a:xfrm>
          <a:prstGeom prst="ellipse">
            <a:avLst/>
          </a:prstGeom>
          <a:solidFill>
            <a:srgbClr val="4A9BE8">
              <a:alpha val="1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924544" y="3621024"/>
            <a:ext cx="2633472" cy="2633472"/>
          </a:xfrm>
          <a:prstGeom prst="ellipse">
            <a:avLst/>
          </a:prstGeom>
          <a:solidFill>
            <a:srgbClr val="4A9BE8">
              <a:alpha val="1333"/>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363455" y="4059936"/>
            <a:ext cx="1755648" cy="1755648"/>
          </a:xfrm>
          <a:prstGeom prst="ellipse">
            <a:avLst/>
          </a:prstGeom>
          <a:solidFill>
            <a:srgbClr val="4A9BE8">
              <a:alpha val="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802367" y="4498848"/>
            <a:ext cx="877824" cy="877824"/>
          </a:xfrm>
          <a:prstGeom prst="ellipse">
            <a:avLst/>
          </a:prstGeom>
          <a:solidFill>
            <a:srgbClr val="4A9BE8">
              <a:alpha val="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EAF2FA">
                    <a:alpha val="6000"/>
                  </a:srgbClr>
                </a:solidFill>
                <a:latin typeface="Calibri"/>
              </a:rPr>
              <a:t>03</a:t>
            </a:r>
          </a:p>
        </p:txBody>
      </p:sp>
      <p:sp>
        <p:nvSpPr>
          <p:cNvPr id="9" name="TextBox 8"/>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4A9BE8"/>
                </a:solidFill>
                <a:latin typeface="Calibri"/>
              </a:rPr>
              <a:t>DEEL 03</a:t>
            </a:r>
          </a:p>
        </p:txBody>
      </p:sp>
      <p:sp>
        <p:nvSpPr>
          <p:cNvPr id="10" name="TextBox 9"/>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EAF2FA"/>
                </a:solidFill>
                <a:latin typeface="Calibri"/>
              </a:rPr>
              <a:t>Wat verandert er</a:t>
            </a:r>
          </a:p>
        </p:txBody>
      </p:sp>
      <p:cxnSp>
        <p:nvCxnSpPr>
          <p:cNvPr id="11" name="Connector 10"/>
          <p:cNvCxnSpPr/>
          <p:nvPr/>
        </p:nvCxnSpPr>
        <p:spPr>
          <a:xfrm>
            <a:off x="640080" y="3584448"/>
            <a:ext cx="2377440" cy="0"/>
          </a:xfrm>
          <a:prstGeom prst="line">
            <a:avLst/>
          </a:prstGeom>
          <a:ln w="25400">
            <a:solidFill>
              <a:srgbClr val="4A9BE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49224" y="3895344"/>
            <a:ext cx="109728" cy="109728"/>
          </a:xfrm>
          <a:prstGeom prst="ellipse">
            <a:avLst/>
          </a:prstGeom>
          <a:solidFill>
            <a:srgbClr val="4A9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8BA5C0"/>
                </a:solidFill>
                <a:latin typeface="Calibri"/>
              </a:rPr>
              <a:t>Vier locaties worden twee clusters</a:t>
            </a:r>
          </a:p>
        </p:txBody>
      </p:sp>
      <p:sp>
        <p:nvSpPr>
          <p:cNvPr id="14" name="Oval 13"/>
          <p:cNvSpPr/>
          <p:nvPr/>
        </p:nvSpPr>
        <p:spPr>
          <a:xfrm>
            <a:off x="649224" y="4279392"/>
            <a:ext cx="109728" cy="109728"/>
          </a:xfrm>
          <a:prstGeom prst="ellipse">
            <a:avLst/>
          </a:prstGeom>
          <a:solidFill>
            <a:srgbClr val="4A9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8BA5C0"/>
                </a:solidFill>
                <a:latin typeface="Calibri"/>
              </a:rPr>
              <a:t>Vijf scenario's, twee analyses en één keuze die alles bepaalt</a:t>
            </a:r>
          </a:p>
        </p:txBody>
      </p:sp>
      <p:sp>
        <p:nvSpPr>
          <p:cNvPr id="16" name="Freeform 15"/>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4A9BE8">
                <a:alpha val="2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19" name="TextBox 1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4A9BE8"/>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Vier locaties worden twee clusters</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De acute en intensieve zorg wordt fysiek samengebracht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10</a:t>
            </a:r>
          </a:p>
        </p:txBody>
      </p:sp>
      <p:sp>
        <p:nvSpPr>
          <p:cNvPr id="10" name="TextBox 9"/>
          <p:cNvSpPr txBox="1"/>
          <p:nvPr/>
        </p:nvSpPr>
        <p:spPr>
          <a:xfrm>
            <a:off x="640080" y="1700784"/>
            <a:ext cx="3566160" cy="219456"/>
          </a:xfrm>
          <a:prstGeom prst="rect">
            <a:avLst/>
          </a:prstGeom>
          <a:noFill/>
        </p:spPr>
        <p:txBody>
          <a:bodyPr wrap="square" lIns="0" rIns="0" tIns="0" bIns="0" anchor="t">
            <a:spAutoFit/>
          </a:bodyPr>
          <a:lstStyle/>
          <a:p>
            <a:pPr algn="l">
              <a:lnSpc>
                <a:spcPct val="120000"/>
              </a:lnSpc>
              <a:spcAft>
                <a:spcPts val="0"/>
              </a:spcAft>
            </a:pPr>
            <a:r>
              <a:rPr sz="1000" b="1" spc="220">
                <a:solidFill>
                  <a:srgbClr val="5F7B9A"/>
                </a:solidFill>
                <a:latin typeface="Calibri"/>
              </a:rPr>
              <a:t>NU</a:t>
            </a:r>
          </a:p>
        </p:txBody>
      </p:sp>
      <p:sp>
        <p:nvSpPr>
          <p:cNvPr id="11" name="Rounded Rectangle 10"/>
          <p:cNvSpPr/>
          <p:nvPr/>
        </p:nvSpPr>
        <p:spPr>
          <a:xfrm>
            <a:off x="640080" y="2029968"/>
            <a:ext cx="3566160" cy="658368"/>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59536" y="2075688"/>
            <a:ext cx="3127248" cy="475488"/>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Kind spoed</a:t>
            </a:r>
          </a:p>
          <a:p>
            <a:pPr algn="l">
              <a:lnSpc>
                <a:spcPct val="120000"/>
              </a:lnSpc>
              <a:spcAft>
                <a:spcPts val="0"/>
              </a:spcAft>
            </a:pPr>
            <a:r>
              <a:rPr sz="1000" b="0">
                <a:solidFill>
                  <a:srgbClr val="5F7B9A"/>
                </a:solidFill>
                <a:latin typeface="Calibri"/>
              </a:rPr>
              <a:t>kinderafdeling / poli</a:t>
            </a:r>
          </a:p>
        </p:txBody>
      </p:sp>
      <p:sp>
        <p:nvSpPr>
          <p:cNvPr id="13" name="Rounded Rectangle 12"/>
          <p:cNvSpPr/>
          <p:nvPr/>
        </p:nvSpPr>
        <p:spPr>
          <a:xfrm>
            <a:off x="640080" y="2825496"/>
            <a:ext cx="3566160" cy="658368"/>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871216"/>
            <a:ext cx="3127248" cy="475488"/>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SEH</a:t>
            </a:r>
          </a:p>
          <a:p>
            <a:pPr algn="l">
              <a:lnSpc>
                <a:spcPct val="120000"/>
              </a:lnSpc>
              <a:spcAft>
                <a:spcPts val="0"/>
              </a:spcAft>
            </a:pPr>
            <a:r>
              <a:rPr sz="1000" b="0">
                <a:solidFill>
                  <a:srgbClr val="5F7B9A"/>
                </a:solidFill>
                <a:latin typeface="Calibri"/>
              </a:rPr>
              <a:t>begane grond</a:t>
            </a:r>
          </a:p>
        </p:txBody>
      </p:sp>
      <p:sp>
        <p:nvSpPr>
          <p:cNvPr id="15" name="Rounded Rectangle 14"/>
          <p:cNvSpPr/>
          <p:nvPr/>
        </p:nvSpPr>
        <p:spPr>
          <a:xfrm>
            <a:off x="640080" y="3621024"/>
            <a:ext cx="3566160" cy="658368"/>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9536" y="3666744"/>
            <a:ext cx="3127248" cy="475488"/>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ICU</a:t>
            </a:r>
          </a:p>
          <a:p>
            <a:pPr algn="l">
              <a:lnSpc>
                <a:spcPct val="120000"/>
              </a:lnSpc>
              <a:spcAft>
                <a:spcPts val="0"/>
              </a:spcAft>
            </a:pPr>
            <a:r>
              <a:rPr sz="1000" b="0">
                <a:solidFill>
                  <a:srgbClr val="5F7B9A"/>
                </a:solidFill>
                <a:latin typeface="Calibri"/>
              </a:rPr>
              <a:t>2e verdieping</a:t>
            </a:r>
          </a:p>
        </p:txBody>
      </p:sp>
      <p:sp>
        <p:nvSpPr>
          <p:cNvPr id="17" name="Rounded Rectangle 16"/>
          <p:cNvSpPr/>
          <p:nvPr/>
        </p:nvSpPr>
        <p:spPr>
          <a:xfrm>
            <a:off x="640080" y="4416552"/>
            <a:ext cx="3566160" cy="658368"/>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9536" y="4462272"/>
            <a:ext cx="3127248" cy="475488"/>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CCU / SCU / EHH</a:t>
            </a:r>
          </a:p>
          <a:p>
            <a:pPr algn="l">
              <a:lnSpc>
                <a:spcPct val="120000"/>
              </a:lnSpc>
              <a:spcAft>
                <a:spcPts val="0"/>
              </a:spcAft>
            </a:pPr>
            <a:r>
              <a:rPr sz="1000" b="0">
                <a:solidFill>
                  <a:srgbClr val="5F7B9A"/>
                </a:solidFill>
                <a:latin typeface="Calibri"/>
              </a:rPr>
              <a:t>1e verdieping</a:t>
            </a:r>
          </a:p>
        </p:txBody>
      </p:sp>
      <p:sp>
        <p:nvSpPr>
          <p:cNvPr id="19" name="Freeform 18"/>
          <p:cNvSpPr/>
          <p:nvPr/>
        </p:nvSpPr>
        <p:spPr>
          <a:xfrm>
            <a:off x="4279392" y="2359152"/>
            <a:ext cx="1188720" cy="402336"/>
          </a:xfrm>
          <a:custGeom>
            <a:avLst/>
            <a:gdLst/>
            <a:ahLst/>
            <a:cxnLst/>
            <a:rect l="l" t="t" r="r" b="b"/>
            <a:pathLst>
              <a:path w="1188720" h="402336">
                <a:moveTo>
                  <a:pt x="0" y="0"/>
                </a:moveTo>
                <a:lnTo>
                  <a:pt x="566928" y="0"/>
                </a:lnTo>
                <a:lnTo>
                  <a:pt x="566928" y="402336"/>
                </a:lnTo>
                <a:lnTo>
                  <a:pt x="1188720" y="402336"/>
                </a:lnTo>
              </a:path>
            </a:pathLst>
          </a:custGeom>
          <a:noFill/>
          <a:ln w="15875">
            <a:solidFill>
              <a:srgbClr val="2858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4279392" y="2761488"/>
            <a:ext cx="1188720" cy="393192"/>
          </a:xfrm>
          <a:custGeom>
            <a:avLst/>
            <a:gdLst/>
            <a:ahLst/>
            <a:cxnLst/>
            <a:rect l="l" t="t" r="r" b="b"/>
            <a:pathLst>
              <a:path w="1188720" h="393192">
                <a:moveTo>
                  <a:pt x="0" y="393192"/>
                </a:moveTo>
                <a:lnTo>
                  <a:pt x="566928" y="393192"/>
                </a:lnTo>
                <a:lnTo>
                  <a:pt x="566928" y="0"/>
                </a:lnTo>
                <a:lnTo>
                  <a:pt x="1188720" y="0"/>
                </a:lnTo>
              </a:path>
            </a:pathLst>
          </a:custGeom>
          <a:noFill/>
          <a:ln w="15875">
            <a:solidFill>
              <a:srgbClr val="2858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4279392" y="3950208"/>
            <a:ext cx="1188720" cy="438912"/>
          </a:xfrm>
          <a:custGeom>
            <a:avLst/>
            <a:gdLst/>
            <a:ahLst/>
            <a:cxnLst/>
            <a:rect l="l" t="t" r="r" b="b"/>
            <a:pathLst>
              <a:path w="1188720" h="438912">
                <a:moveTo>
                  <a:pt x="0" y="0"/>
                </a:moveTo>
                <a:lnTo>
                  <a:pt x="566928" y="0"/>
                </a:lnTo>
                <a:lnTo>
                  <a:pt x="566928" y="438912"/>
                </a:lnTo>
                <a:lnTo>
                  <a:pt x="1188720" y="438912"/>
                </a:lnTo>
              </a:path>
            </a:pathLst>
          </a:custGeom>
          <a:no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279392" y="4389120"/>
            <a:ext cx="1188720" cy="356616"/>
          </a:xfrm>
          <a:custGeom>
            <a:avLst/>
            <a:gdLst/>
            <a:ahLst/>
            <a:cxnLst/>
            <a:rect l="l" t="t" r="r" b="b"/>
            <a:pathLst>
              <a:path w="1188720" h="356616">
                <a:moveTo>
                  <a:pt x="0" y="356616"/>
                </a:moveTo>
                <a:lnTo>
                  <a:pt x="566928" y="356616"/>
                </a:lnTo>
                <a:lnTo>
                  <a:pt x="566928" y="0"/>
                </a:lnTo>
                <a:lnTo>
                  <a:pt x="1188720" y="0"/>
                </a:lnTo>
              </a:path>
            </a:pathLst>
          </a:custGeom>
          <a:no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77840" y="1700784"/>
            <a:ext cx="5973775" cy="219456"/>
          </a:xfrm>
          <a:prstGeom prst="rect">
            <a:avLst/>
          </a:prstGeom>
          <a:noFill/>
        </p:spPr>
        <p:txBody>
          <a:bodyPr wrap="square" lIns="0" rIns="0" tIns="0" bIns="0" anchor="t">
            <a:spAutoFit/>
          </a:bodyPr>
          <a:lstStyle/>
          <a:p>
            <a:pPr algn="l">
              <a:lnSpc>
                <a:spcPct val="120000"/>
              </a:lnSpc>
              <a:spcAft>
                <a:spcPts val="0"/>
              </a:spcAft>
            </a:pPr>
            <a:r>
              <a:rPr sz="1000" b="1" spc="220">
                <a:solidFill>
                  <a:srgbClr val="35E0C4"/>
                </a:solidFill>
                <a:latin typeface="Calibri"/>
              </a:rPr>
              <a:t>STRAKS</a:t>
            </a:r>
          </a:p>
        </p:txBody>
      </p:sp>
      <p:sp>
        <p:nvSpPr>
          <p:cNvPr id="24" name="Rounded Rectangle 23"/>
          <p:cNvSpPr/>
          <p:nvPr/>
        </p:nvSpPr>
        <p:spPr>
          <a:xfrm>
            <a:off x="5577840" y="2029968"/>
            <a:ext cx="5973775" cy="1463040"/>
          </a:xfrm>
          <a:prstGeom prst="roundRect">
            <a:avLst>
              <a:gd name="adj" fmla="val 3000"/>
            </a:avLst>
          </a:prstGeom>
          <a:solidFill>
            <a:srgbClr val="153251"/>
          </a:solidFill>
          <a:ln w="15875">
            <a:solidFill>
              <a:srgbClr val="2858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5733288" y="2167128"/>
            <a:ext cx="457200" cy="457200"/>
          </a:xfrm>
          <a:prstGeom prst="ellipse">
            <a:avLst/>
          </a:prstGeom>
          <a:solidFill>
            <a:srgbClr val="4A9BE8">
              <a:alpha val="16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4A9BE8"/>
                </a:solidFill>
                <a:latin typeface="Calibri"/>
              </a:rPr>
              <a:t>1</a:t>
            </a:r>
          </a:p>
        </p:txBody>
      </p:sp>
      <p:sp>
        <p:nvSpPr>
          <p:cNvPr id="26" name="TextBox 25"/>
          <p:cNvSpPr txBox="1"/>
          <p:nvPr/>
        </p:nvSpPr>
        <p:spPr>
          <a:xfrm>
            <a:off x="6272783" y="2157984"/>
            <a:ext cx="4967935" cy="457200"/>
          </a:xfrm>
          <a:prstGeom prst="rect">
            <a:avLst/>
          </a:prstGeom>
          <a:noFill/>
        </p:spPr>
        <p:txBody>
          <a:bodyPr wrap="square" lIns="0" rIns="0" tIns="0" bIns="0" anchor="ctr">
            <a:spAutoFit/>
          </a:bodyPr>
          <a:lstStyle/>
          <a:p>
            <a:pPr algn="l">
              <a:lnSpc>
                <a:spcPct val="120000"/>
              </a:lnSpc>
              <a:spcAft>
                <a:spcPts val="0"/>
              </a:spcAft>
            </a:pPr>
            <a:r>
              <a:rPr sz="1800" b="1">
                <a:solidFill>
                  <a:srgbClr val="4A9BE8"/>
                </a:solidFill>
                <a:latin typeface="Calibri"/>
              </a:rPr>
              <a:t>Acute poort</a:t>
            </a:r>
          </a:p>
        </p:txBody>
      </p:sp>
      <p:sp>
        <p:nvSpPr>
          <p:cNvPr id="27" name="Rounded Rectangle 26"/>
          <p:cNvSpPr/>
          <p:nvPr/>
        </p:nvSpPr>
        <p:spPr>
          <a:xfrm>
            <a:off x="5806440" y="2743200"/>
            <a:ext cx="1753514" cy="402336"/>
          </a:xfrm>
          <a:prstGeom prst="roundRect">
            <a:avLst>
              <a:gd name="adj" fmla="val 50000"/>
            </a:avLst>
          </a:prstGeom>
          <a:solidFill>
            <a:srgbClr val="16314F"/>
          </a:solidFill>
          <a:ln w="12700">
            <a:solidFill>
              <a:srgbClr val="8694A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EAF2FA"/>
                </a:solidFill>
                <a:latin typeface="Calibri"/>
              </a:rPr>
              <a:t>SEH</a:t>
            </a:r>
          </a:p>
        </p:txBody>
      </p:sp>
      <p:sp>
        <p:nvSpPr>
          <p:cNvPr id="28" name="Rounded Rectangle 27"/>
          <p:cNvSpPr/>
          <p:nvPr/>
        </p:nvSpPr>
        <p:spPr>
          <a:xfrm>
            <a:off x="7687970" y="2743200"/>
            <a:ext cx="1753514" cy="402336"/>
          </a:xfrm>
          <a:prstGeom prst="roundRect">
            <a:avLst>
              <a:gd name="adj" fmla="val 50000"/>
            </a:avLst>
          </a:prstGeom>
          <a:solidFill>
            <a:srgbClr val="16314F"/>
          </a:solidFill>
          <a:ln w="12700">
            <a:solidFill>
              <a:srgbClr val="8694A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EAF2FA"/>
                </a:solidFill>
                <a:latin typeface="Calibri"/>
              </a:rPr>
              <a:t>kind</a:t>
            </a:r>
          </a:p>
        </p:txBody>
      </p:sp>
      <p:sp>
        <p:nvSpPr>
          <p:cNvPr id="29" name="Rounded Rectangle 28"/>
          <p:cNvSpPr/>
          <p:nvPr/>
        </p:nvSpPr>
        <p:spPr>
          <a:xfrm>
            <a:off x="9569500" y="2743200"/>
            <a:ext cx="1753514" cy="402336"/>
          </a:xfrm>
          <a:prstGeom prst="roundRect">
            <a:avLst>
              <a:gd name="adj" fmla="val 50000"/>
            </a:avLst>
          </a:prstGeom>
          <a:solidFill>
            <a:srgbClr val="16314F"/>
          </a:solidFill>
          <a:ln w="12700">
            <a:solidFill>
              <a:srgbClr val="8694A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EAF2FA"/>
                </a:solidFill>
                <a:latin typeface="Calibri"/>
              </a:rPr>
              <a:t>EHH</a:t>
            </a:r>
          </a:p>
        </p:txBody>
      </p:sp>
      <p:sp>
        <p:nvSpPr>
          <p:cNvPr id="30" name="TextBox 29"/>
          <p:cNvSpPr txBox="1"/>
          <p:nvPr/>
        </p:nvSpPr>
        <p:spPr>
          <a:xfrm>
            <a:off x="5806440" y="3236976"/>
            <a:ext cx="5516575" cy="219456"/>
          </a:xfrm>
          <a:prstGeom prst="rect">
            <a:avLst/>
          </a:prstGeom>
          <a:noFill/>
        </p:spPr>
        <p:txBody>
          <a:bodyPr wrap="square" lIns="0" rIns="0" tIns="0" bIns="0" anchor="t">
            <a:spAutoFit/>
          </a:bodyPr>
          <a:lstStyle/>
          <a:p>
            <a:pPr algn="l">
              <a:lnSpc>
                <a:spcPct val="120000"/>
              </a:lnSpc>
              <a:spcAft>
                <a:spcPts val="0"/>
              </a:spcAft>
            </a:pPr>
            <a:r>
              <a:rPr sz="1050" b="1">
                <a:solidFill>
                  <a:srgbClr val="FFB547"/>
                </a:solidFill>
                <a:latin typeface="Calibri"/>
              </a:rPr>
              <a:t>Hoeveel plekken zijn hier nodig?</a:t>
            </a:r>
          </a:p>
        </p:txBody>
      </p:sp>
      <p:sp>
        <p:nvSpPr>
          <p:cNvPr id="31" name="Rounded Rectangle 30"/>
          <p:cNvSpPr/>
          <p:nvPr/>
        </p:nvSpPr>
        <p:spPr>
          <a:xfrm>
            <a:off x="5577840" y="3657600"/>
            <a:ext cx="5973775" cy="1463040"/>
          </a:xfrm>
          <a:prstGeom prst="roundRect">
            <a:avLst>
              <a:gd name="adj" fmla="val 3000"/>
            </a:avLst>
          </a:prstGeom>
          <a:solidFill>
            <a:srgbClr val="123C4C"/>
          </a:solid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5733288" y="3794760"/>
            <a:ext cx="457200" cy="457200"/>
          </a:xfrm>
          <a:prstGeom prst="ellipse">
            <a:avLst/>
          </a:prstGeom>
          <a:solidFill>
            <a:srgbClr val="35E0C4">
              <a:alpha val="16000"/>
            </a:srgbClr>
          </a:solidFill>
          <a:ln w="15875">
            <a:solidFill>
              <a:srgbClr val="35E0C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00" b="1">
                <a:solidFill>
                  <a:srgbClr val="35E0C4"/>
                </a:solidFill>
                <a:latin typeface="Calibri"/>
              </a:rPr>
              <a:t>2</a:t>
            </a:r>
          </a:p>
        </p:txBody>
      </p:sp>
      <p:sp>
        <p:nvSpPr>
          <p:cNvPr id="33" name="TextBox 32"/>
          <p:cNvSpPr txBox="1"/>
          <p:nvPr/>
        </p:nvSpPr>
        <p:spPr>
          <a:xfrm>
            <a:off x="6272783" y="3785615"/>
            <a:ext cx="4967935" cy="457200"/>
          </a:xfrm>
          <a:prstGeom prst="rect">
            <a:avLst/>
          </a:prstGeom>
          <a:noFill/>
        </p:spPr>
        <p:txBody>
          <a:bodyPr wrap="square" lIns="0" rIns="0" tIns="0" bIns="0" anchor="ctr">
            <a:spAutoFit/>
          </a:bodyPr>
          <a:lstStyle/>
          <a:p>
            <a:pPr algn="l">
              <a:lnSpc>
                <a:spcPct val="120000"/>
              </a:lnSpc>
              <a:spcAft>
                <a:spcPts val="0"/>
              </a:spcAft>
            </a:pPr>
            <a:r>
              <a:rPr sz="1800" b="1">
                <a:solidFill>
                  <a:srgbClr val="35E0C4"/>
                </a:solidFill>
                <a:latin typeface="Calibri"/>
              </a:rPr>
              <a:t>Hotfloor</a:t>
            </a:r>
          </a:p>
        </p:txBody>
      </p:sp>
      <p:sp>
        <p:nvSpPr>
          <p:cNvPr id="34" name="Rounded Rectangle 33"/>
          <p:cNvSpPr/>
          <p:nvPr/>
        </p:nvSpPr>
        <p:spPr>
          <a:xfrm>
            <a:off x="5806440" y="4370832"/>
            <a:ext cx="2694279" cy="402336"/>
          </a:xfrm>
          <a:prstGeom prst="roundRect">
            <a:avLst>
              <a:gd name="adj" fmla="val 50000"/>
            </a:avLst>
          </a:prstGeom>
          <a:solidFill>
            <a:srgbClr val="16314F"/>
          </a:solidFill>
          <a:ln w="12700">
            <a:solidFill>
              <a:srgbClr val="8694A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EAF2FA"/>
                </a:solidFill>
                <a:latin typeface="Calibri"/>
              </a:rPr>
              <a:t>ICU</a:t>
            </a:r>
          </a:p>
        </p:txBody>
      </p:sp>
      <p:sp>
        <p:nvSpPr>
          <p:cNvPr id="35" name="Rounded Rectangle 34"/>
          <p:cNvSpPr/>
          <p:nvPr/>
        </p:nvSpPr>
        <p:spPr>
          <a:xfrm>
            <a:off x="8628735" y="4370832"/>
            <a:ext cx="2694279" cy="402336"/>
          </a:xfrm>
          <a:prstGeom prst="roundRect">
            <a:avLst>
              <a:gd name="adj" fmla="val 50000"/>
            </a:avLst>
          </a:prstGeom>
          <a:solidFill>
            <a:srgbClr val="16314F"/>
          </a:solidFill>
          <a:ln w="12700">
            <a:solidFill>
              <a:srgbClr val="8694A3"/>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1">
                <a:solidFill>
                  <a:srgbClr val="EAF2FA"/>
                </a:solidFill>
                <a:latin typeface="Calibri"/>
              </a:rPr>
              <a:t>CCU / SCU</a:t>
            </a:r>
          </a:p>
        </p:txBody>
      </p:sp>
      <p:sp>
        <p:nvSpPr>
          <p:cNvPr id="36" name="TextBox 35"/>
          <p:cNvSpPr txBox="1"/>
          <p:nvPr/>
        </p:nvSpPr>
        <p:spPr>
          <a:xfrm>
            <a:off x="5806440" y="4864608"/>
            <a:ext cx="5516575" cy="219456"/>
          </a:xfrm>
          <a:prstGeom prst="rect">
            <a:avLst/>
          </a:prstGeom>
          <a:noFill/>
        </p:spPr>
        <p:txBody>
          <a:bodyPr wrap="square" lIns="0" rIns="0" tIns="0" bIns="0" anchor="t">
            <a:spAutoFit/>
          </a:bodyPr>
          <a:lstStyle/>
          <a:p>
            <a:pPr algn="l">
              <a:lnSpc>
                <a:spcPct val="120000"/>
              </a:lnSpc>
              <a:spcAft>
                <a:spcPts val="0"/>
              </a:spcAft>
            </a:pPr>
            <a:r>
              <a:rPr sz="1050" b="1">
                <a:solidFill>
                  <a:srgbClr val="FFB547"/>
                </a:solidFill>
                <a:latin typeface="Calibri"/>
              </a:rPr>
              <a:t>Zijn dit er 16?</a:t>
            </a:r>
          </a:p>
        </p:txBody>
      </p:sp>
      <p:sp>
        <p:nvSpPr>
          <p:cNvPr id="37" name="Rounded Rectangle 36"/>
          <p:cNvSpPr/>
          <p:nvPr/>
        </p:nvSpPr>
        <p:spPr>
          <a:xfrm>
            <a:off x="640080" y="5431536"/>
            <a:ext cx="10911535" cy="822960"/>
          </a:xfrm>
          <a:prstGeom prst="roundRect">
            <a:avLst>
              <a:gd name="adj" fmla="val 3000"/>
            </a:avLst>
          </a:prstGeom>
          <a:solidFill>
            <a:srgbClr val="383C3B"/>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40080" y="5431536"/>
            <a:ext cx="50292" cy="822960"/>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50976" y="5513831"/>
            <a:ext cx="10289743"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FFB547"/>
                </a:solidFill>
                <a:latin typeface="Calibri"/>
              </a:rPr>
              <a:t>WAT DAARUIT VOLGT</a:t>
            </a:r>
          </a:p>
          <a:p>
            <a:pPr algn="l">
              <a:lnSpc>
                <a:spcPct val="120000"/>
              </a:lnSpc>
              <a:spcAft>
                <a:spcPts val="0"/>
              </a:spcAft>
            </a:pPr>
            <a:r>
              <a:rPr sz="1250" b="1">
                <a:solidFill>
                  <a:srgbClr val="EAF2FA"/>
                </a:solidFill>
                <a:latin typeface="Calibri"/>
              </a:rPr>
              <a:t>Per plek het kamernummer en het type uitschrijven. Kan er overal beademd worden? Kan elke zorgvraag in elke kamer?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35E0C4"/>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De nieuwbouw fysiek</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Alleen het aantal bedden op de Hotfloor ligt vast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11</a:t>
            </a:r>
          </a:p>
        </p:txBody>
      </p:sp>
      <p:sp>
        <p:nvSpPr>
          <p:cNvPr id="10" name="Rounded Rectangle 9"/>
          <p:cNvSpPr/>
          <p:nvPr/>
        </p:nvSpPr>
        <p:spPr>
          <a:xfrm>
            <a:off x="640080" y="1700784"/>
            <a:ext cx="6766560" cy="320040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1920240"/>
            <a:ext cx="621792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5F7B9A"/>
                </a:solidFill>
                <a:latin typeface="Calibri"/>
              </a:rPr>
              <a:t>PLATTEGROND NIEUWBOUW</a:t>
            </a:r>
          </a:p>
        </p:txBody>
      </p:sp>
      <p:sp>
        <p:nvSpPr>
          <p:cNvPr id="12" name="Rounded Rectangle 11"/>
          <p:cNvSpPr/>
          <p:nvPr/>
        </p:nvSpPr>
        <p:spPr>
          <a:xfrm>
            <a:off x="950976" y="2304288"/>
            <a:ext cx="3931920" cy="2377440"/>
          </a:xfrm>
          <a:prstGeom prst="roundRect">
            <a:avLst>
              <a:gd name="adj" fmla="val 4000"/>
            </a:avLst>
          </a:prstGeom>
          <a:solidFill>
            <a:srgbClr val="123C4C"/>
          </a:solid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70432" y="2487168"/>
            <a:ext cx="3493008" cy="329184"/>
          </a:xfrm>
          <a:prstGeom prst="rect">
            <a:avLst/>
          </a:prstGeom>
          <a:noFill/>
        </p:spPr>
        <p:txBody>
          <a:bodyPr wrap="square" lIns="0" rIns="0" tIns="0" bIns="0" anchor="t">
            <a:spAutoFit/>
          </a:bodyPr>
          <a:lstStyle/>
          <a:p>
            <a:pPr algn="l">
              <a:lnSpc>
                <a:spcPct val="120000"/>
              </a:lnSpc>
              <a:spcAft>
                <a:spcPts val="0"/>
              </a:spcAft>
            </a:pPr>
            <a:r>
              <a:rPr sz="2000" b="1">
                <a:solidFill>
                  <a:srgbClr val="35E0C4"/>
                </a:solidFill>
                <a:latin typeface="Calibri"/>
              </a:rPr>
              <a:t>Hotfloor</a:t>
            </a:r>
          </a:p>
        </p:txBody>
      </p:sp>
      <p:sp>
        <p:nvSpPr>
          <p:cNvPr id="14" name="TextBox 13"/>
          <p:cNvSpPr txBox="1"/>
          <p:nvPr/>
        </p:nvSpPr>
        <p:spPr>
          <a:xfrm>
            <a:off x="1170432" y="2852928"/>
            <a:ext cx="3493008" cy="219456"/>
          </a:xfrm>
          <a:prstGeom prst="rect">
            <a:avLst/>
          </a:prstGeom>
          <a:noFill/>
        </p:spPr>
        <p:txBody>
          <a:bodyPr wrap="square" lIns="0" rIns="0" tIns="0" bIns="0" anchor="t">
            <a:spAutoFit/>
          </a:bodyPr>
          <a:lstStyle/>
          <a:p>
            <a:pPr algn="l">
              <a:lnSpc>
                <a:spcPct val="120000"/>
              </a:lnSpc>
              <a:spcAft>
                <a:spcPts val="0"/>
              </a:spcAft>
            </a:pPr>
            <a:r>
              <a:rPr sz="950" b="1" spc="160">
                <a:solidFill>
                  <a:srgbClr val="8BA5C0"/>
                </a:solidFill>
                <a:latin typeface="Calibri"/>
              </a:rPr>
              <a:t>16 BEDDEN</a:t>
            </a:r>
          </a:p>
        </p:txBody>
      </p:sp>
      <p:sp>
        <p:nvSpPr>
          <p:cNvPr id="15" name="Oval 14"/>
          <p:cNvSpPr/>
          <p:nvPr/>
        </p:nvSpPr>
        <p:spPr>
          <a:xfrm>
            <a:off x="1152144" y="3218688"/>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252728" y="3319272"/>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81912" y="3218688"/>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682495" y="3319272"/>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11679" y="3218688"/>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112264" y="3319272"/>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441447" y="3218688"/>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542032" y="3319272"/>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71215" y="3218688"/>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971800" y="3319272"/>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983" y="3218688"/>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401568" y="3319272"/>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730752" y="3218688"/>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831335" y="3319272"/>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160520" y="3218688"/>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61103" y="3319272"/>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52144" y="3749040"/>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252728" y="3849624"/>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581912" y="3749040"/>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682495" y="3849624"/>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11679" y="3749040"/>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112264" y="3849624"/>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441447" y="3749040"/>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542032" y="3849624"/>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871215" y="3749040"/>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971800" y="3849624"/>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300983" y="3749040"/>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401568" y="3849624"/>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3730752" y="3749040"/>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3831335" y="3849624"/>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160520" y="3749040"/>
            <a:ext cx="402336" cy="402336"/>
          </a:xfrm>
          <a:prstGeom prst="ellipse">
            <a:avLst/>
          </a:prstGeom>
          <a:solidFill>
            <a:srgbClr val="35E0C4">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261103" y="3849624"/>
            <a:ext cx="201168" cy="201168"/>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70432" y="4352544"/>
            <a:ext cx="3493008" cy="237744"/>
          </a:xfrm>
          <a:prstGeom prst="rect">
            <a:avLst/>
          </a:prstGeom>
          <a:noFill/>
        </p:spPr>
        <p:txBody>
          <a:bodyPr wrap="square" lIns="0" rIns="0" tIns="0" bIns="0" anchor="t">
            <a:spAutoFit/>
          </a:bodyPr>
          <a:lstStyle/>
          <a:p>
            <a:pPr algn="l">
              <a:lnSpc>
                <a:spcPct val="120000"/>
              </a:lnSpc>
              <a:spcAft>
                <a:spcPts val="0"/>
              </a:spcAft>
            </a:pPr>
            <a:r>
              <a:rPr sz="1050" b="0">
                <a:solidFill>
                  <a:srgbClr val="5F7B9A"/>
                </a:solidFill>
                <a:latin typeface="Calibri"/>
              </a:rPr>
              <a:t>ICU  ·  CCU / SCU  samen op een vloer</a:t>
            </a:r>
          </a:p>
        </p:txBody>
      </p:sp>
      <p:sp>
        <p:nvSpPr>
          <p:cNvPr id="48" name="Rounded Rectangle 47"/>
          <p:cNvSpPr/>
          <p:nvPr/>
        </p:nvSpPr>
        <p:spPr>
          <a:xfrm>
            <a:off x="5157216" y="2304288"/>
            <a:ext cx="1920240" cy="1097280"/>
          </a:xfrm>
          <a:prstGeom prst="roundRect">
            <a:avLst>
              <a:gd name="adj" fmla="val 6000"/>
            </a:avLst>
          </a:prstGeom>
          <a:solidFill>
            <a:srgbClr val="24303A"/>
          </a:solidFill>
          <a:ln w="15875">
            <a:solidFill>
              <a:srgbClr val="866B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340096" y="2450592"/>
            <a:ext cx="1554480" cy="310896"/>
          </a:xfrm>
          <a:prstGeom prst="rect">
            <a:avLst/>
          </a:prstGeom>
          <a:noFill/>
        </p:spPr>
        <p:txBody>
          <a:bodyPr wrap="square" lIns="0" rIns="0" tIns="0" bIns="0" anchor="t">
            <a:spAutoFit/>
          </a:bodyPr>
          <a:lstStyle/>
          <a:p>
            <a:pPr algn="l">
              <a:lnSpc>
                <a:spcPct val="120000"/>
              </a:lnSpc>
              <a:spcAft>
                <a:spcPts val="0"/>
              </a:spcAft>
            </a:pPr>
            <a:r>
              <a:rPr sz="1700" b="1">
                <a:solidFill>
                  <a:srgbClr val="FFB547"/>
                </a:solidFill>
                <a:latin typeface="Calibri"/>
              </a:rPr>
              <a:t>EHH</a:t>
            </a:r>
          </a:p>
        </p:txBody>
      </p:sp>
      <p:sp>
        <p:nvSpPr>
          <p:cNvPr id="50" name="TextBox 49"/>
          <p:cNvSpPr txBox="1"/>
          <p:nvPr/>
        </p:nvSpPr>
        <p:spPr>
          <a:xfrm>
            <a:off x="5340096" y="2816352"/>
            <a:ext cx="1554480" cy="365760"/>
          </a:xfrm>
          <a:prstGeom prst="rect">
            <a:avLst/>
          </a:prstGeom>
          <a:noFill/>
        </p:spPr>
        <p:txBody>
          <a:bodyPr wrap="square" lIns="0" rIns="0" tIns="0" bIns="0" anchor="t">
            <a:spAutoFit/>
          </a:bodyPr>
          <a:lstStyle/>
          <a:p>
            <a:pPr algn="l">
              <a:lnSpc>
                <a:spcPct val="120000"/>
              </a:lnSpc>
              <a:spcAft>
                <a:spcPts val="0"/>
              </a:spcAft>
            </a:pPr>
            <a:r>
              <a:rPr sz="1200" b="0">
                <a:solidFill>
                  <a:srgbClr val="8BA5C0"/>
                </a:solidFill>
                <a:latin typeface="Calibri"/>
              </a:rPr>
              <a:t>? plekken</a:t>
            </a:r>
          </a:p>
        </p:txBody>
      </p:sp>
      <p:sp>
        <p:nvSpPr>
          <p:cNvPr id="51" name="Rounded Rectangle 50"/>
          <p:cNvSpPr/>
          <p:nvPr/>
        </p:nvSpPr>
        <p:spPr>
          <a:xfrm>
            <a:off x="5157216" y="3547872"/>
            <a:ext cx="1920240" cy="1097280"/>
          </a:xfrm>
          <a:prstGeom prst="roundRect">
            <a:avLst>
              <a:gd name="adj" fmla="val 6000"/>
            </a:avLst>
          </a:prstGeom>
          <a:solidFill>
            <a:srgbClr val="24303A"/>
          </a:solidFill>
          <a:ln w="15875">
            <a:solidFill>
              <a:srgbClr val="866B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340096" y="3694176"/>
            <a:ext cx="1554480" cy="310896"/>
          </a:xfrm>
          <a:prstGeom prst="rect">
            <a:avLst/>
          </a:prstGeom>
          <a:noFill/>
        </p:spPr>
        <p:txBody>
          <a:bodyPr wrap="square" lIns="0" rIns="0" tIns="0" bIns="0" anchor="t">
            <a:spAutoFit/>
          </a:bodyPr>
          <a:lstStyle/>
          <a:p>
            <a:pPr algn="l">
              <a:lnSpc>
                <a:spcPct val="120000"/>
              </a:lnSpc>
              <a:spcAft>
                <a:spcPts val="0"/>
              </a:spcAft>
            </a:pPr>
            <a:r>
              <a:rPr sz="1700" b="1">
                <a:solidFill>
                  <a:srgbClr val="FFB547"/>
                </a:solidFill>
                <a:latin typeface="Calibri"/>
              </a:rPr>
              <a:t>SEH</a:t>
            </a:r>
          </a:p>
        </p:txBody>
      </p:sp>
      <p:sp>
        <p:nvSpPr>
          <p:cNvPr id="53" name="TextBox 52"/>
          <p:cNvSpPr txBox="1"/>
          <p:nvPr/>
        </p:nvSpPr>
        <p:spPr>
          <a:xfrm>
            <a:off x="5340096" y="4059935"/>
            <a:ext cx="1554480" cy="365760"/>
          </a:xfrm>
          <a:prstGeom prst="rect">
            <a:avLst/>
          </a:prstGeom>
          <a:noFill/>
        </p:spPr>
        <p:txBody>
          <a:bodyPr wrap="square" lIns="0" rIns="0" tIns="0" bIns="0" anchor="t">
            <a:spAutoFit/>
          </a:bodyPr>
          <a:lstStyle/>
          <a:p>
            <a:pPr algn="l">
              <a:lnSpc>
                <a:spcPct val="120000"/>
              </a:lnSpc>
              <a:spcAft>
                <a:spcPts val="0"/>
              </a:spcAft>
            </a:pPr>
            <a:r>
              <a:rPr sz="1200" b="0">
                <a:solidFill>
                  <a:srgbClr val="8BA5C0"/>
                </a:solidFill>
                <a:latin typeface="Calibri"/>
              </a:rPr>
              <a:t>? plekken</a:t>
            </a:r>
          </a:p>
        </p:txBody>
      </p:sp>
      <p:sp>
        <p:nvSpPr>
          <p:cNvPr id="54" name="Rounded Rectangle 53"/>
          <p:cNvSpPr/>
          <p:nvPr/>
        </p:nvSpPr>
        <p:spPr>
          <a:xfrm>
            <a:off x="7717536" y="1700784"/>
            <a:ext cx="3834079" cy="320040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973567" y="1920240"/>
            <a:ext cx="3322015"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5F7B9A"/>
                </a:solidFill>
                <a:latin typeface="Calibri"/>
              </a:rPr>
              <a:t>AANTALLEN</a:t>
            </a:r>
          </a:p>
        </p:txBody>
      </p:sp>
      <p:sp>
        <p:nvSpPr>
          <p:cNvPr id="56" name="TextBox 55"/>
          <p:cNvSpPr txBox="1"/>
          <p:nvPr/>
        </p:nvSpPr>
        <p:spPr>
          <a:xfrm>
            <a:off x="7973567" y="2267712"/>
            <a:ext cx="2553919"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Hotfloor</a:t>
            </a:r>
          </a:p>
        </p:txBody>
      </p:sp>
      <p:sp>
        <p:nvSpPr>
          <p:cNvPr id="57" name="TextBox 56"/>
          <p:cNvSpPr txBox="1"/>
          <p:nvPr/>
        </p:nvSpPr>
        <p:spPr>
          <a:xfrm>
            <a:off x="7973567" y="2542032"/>
            <a:ext cx="2553919" cy="237744"/>
          </a:xfrm>
          <a:prstGeom prst="rect">
            <a:avLst/>
          </a:prstGeom>
          <a:noFill/>
        </p:spPr>
        <p:txBody>
          <a:bodyPr wrap="square" lIns="0" rIns="0" tIns="0" bIns="0" anchor="t">
            <a:spAutoFit/>
          </a:bodyPr>
          <a:lstStyle/>
          <a:p>
            <a:pPr algn="l">
              <a:lnSpc>
                <a:spcPct val="120000"/>
              </a:lnSpc>
              <a:spcAft>
                <a:spcPts val="0"/>
              </a:spcAft>
            </a:pPr>
            <a:r>
              <a:rPr sz="1000" b="0">
                <a:solidFill>
                  <a:srgbClr val="5F7B9A"/>
                </a:solidFill>
                <a:latin typeface="Calibri"/>
              </a:rPr>
              <a:t>bedden, vastgesteld</a:t>
            </a:r>
          </a:p>
        </p:txBody>
      </p:sp>
      <p:sp>
        <p:nvSpPr>
          <p:cNvPr id="58" name="TextBox 57"/>
          <p:cNvSpPr txBox="1"/>
          <p:nvPr/>
        </p:nvSpPr>
        <p:spPr>
          <a:xfrm>
            <a:off x="10362895" y="2231136"/>
            <a:ext cx="914400" cy="457200"/>
          </a:xfrm>
          <a:prstGeom prst="rect">
            <a:avLst/>
          </a:prstGeom>
          <a:noFill/>
        </p:spPr>
        <p:txBody>
          <a:bodyPr wrap="square" lIns="0" rIns="0" tIns="0" bIns="0" anchor="t">
            <a:spAutoFit/>
          </a:bodyPr>
          <a:lstStyle/>
          <a:p>
            <a:pPr algn="r">
              <a:lnSpc>
                <a:spcPct val="120000"/>
              </a:lnSpc>
              <a:spcAft>
                <a:spcPts val="0"/>
              </a:spcAft>
            </a:pPr>
            <a:r>
              <a:rPr sz="2800" b="1">
                <a:solidFill>
                  <a:srgbClr val="35E0C4"/>
                </a:solidFill>
                <a:latin typeface="Calibri"/>
              </a:rPr>
              <a:t>16</a:t>
            </a:r>
          </a:p>
        </p:txBody>
      </p:sp>
      <p:cxnSp>
        <p:nvCxnSpPr>
          <p:cNvPr id="59" name="Connector 58"/>
          <p:cNvCxnSpPr/>
          <p:nvPr/>
        </p:nvCxnSpPr>
        <p:spPr>
          <a:xfrm>
            <a:off x="7973567" y="2852928"/>
            <a:ext cx="3322016"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973567" y="2980944"/>
            <a:ext cx="2553919"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SEH</a:t>
            </a:r>
          </a:p>
        </p:txBody>
      </p:sp>
      <p:sp>
        <p:nvSpPr>
          <p:cNvPr id="61" name="TextBox 60"/>
          <p:cNvSpPr txBox="1"/>
          <p:nvPr/>
        </p:nvSpPr>
        <p:spPr>
          <a:xfrm>
            <a:off x="7973567" y="3255263"/>
            <a:ext cx="2553919" cy="237744"/>
          </a:xfrm>
          <a:prstGeom prst="rect">
            <a:avLst/>
          </a:prstGeom>
          <a:noFill/>
        </p:spPr>
        <p:txBody>
          <a:bodyPr wrap="square" lIns="0" rIns="0" tIns="0" bIns="0" anchor="t">
            <a:spAutoFit/>
          </a:bodyPr>
          <a:lstStyle/>
          <a:p>
            <a:pPr algn="l">
              <a:lnSpc>
                <a:spcPct val="120000"/>
              </a:lnSpc>
              <a:spcAft>
                <a:spcPts val="0"/>
              </a:spcAft>
            </a:pPr>
            <a:r>
              <a:rPr sz="1000" b="0">
                <a:solidFill>
                  <a:srgbClr val="5F7B9A"/>
                </a:solidFill>
                <a:latin typeface="Calibri"/>
              </a:rPr>
              <a:t>plekken, nog bepalen</a:t>
            </a:r>
          </a:p>
        </p:txBody>
      </p:sp>
      <p:sp>
        <p:nvSpPr>
          <p:cNvPr id="62" name="TextBox 61"/>
          <p:cNvSpPr txBox="1"/>
          <p:nvPr/>
        </p:nvSpPr>
        <p:spPr>
          <a:xfrm>
            <a:off x="10362895" y="2944368"/>
            <a:ext cx="914400" cy="457200"/>
          </a:xfrm>
          <a:prstGeom prst="rect">
            <a:avLst/>
          </a:prstGeom>
          <a:noFill/>
        </p:spPr>
        <p:txBody>
          <a:bodyPr wrap="square" lIns="0" rIns="0" tIns="0" bIns="0" anchor="t">
            <a:spAutoFit/>
          </a:bodyPr>
          <a:lstStyle/>
          <a:p>
            <a:pPr algn="r">
              <a:lnSpc>
                <a:spcPct val="120000"/>
              </a:lnSpc>
              <a:spcAft>
                <a:spcPts val="0"/>
              </a:spcAft>
            </a:pPr>
            <a:r>
              <a:rPr sz="2800" b="1">
                <a:solidFill>
                  <a:srgbClr val="FFB547"/>
                </a:solidFill>
                <a:latin typeface="Calibri"/>
              </a:rPr>
              <a:t>?</a:t>
            </a:r>
          </a:p>
        </p:txBody>
      </p:sp>
      <p:cxnSp>
        <p:nvCxnSpPr>
          <p:cNvPr id="63" name="Connector 62"/>
          <p:cNvCxnSpPr/>
          <p:nvPr/>
        </p:nvCxnSpPr>
        <p:spPr>
          <a:xfrm>
            <a:off x="7973567" y="3566160"/>
            <a:ext cx="3322016"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7973567" y="3694176"/>
            <a:ext cx="2553919"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EHH</a:t>
            </a:r>
          </a:p>
        </p:txBody>
      </p:sp>
      <p:sp>
        <p:nvSpPr>
          <p:cNvPr id="65" name="TextBox 64"/>
          <p:cNvSpPr txBox="1"/>
          <p:nvPr/>
        </p:nvSpPr>
        <p:spPr>
          <a:xfrm>
            <a:off x="7973567" y="3968496"/>
            <a:ext cx="2553919" cy="237744"/>
          </a:xfrm>
          <a:prstGeom prst="rect">
            <a:avLst/>
          </a:prstGeom>
          <a:noFill/>
        </p:spPr>
        <p:txBody>
          <a:bodyPr wrap="square" lIns="0" rIns="0" tIns="0" bIns="0" anchor="t">
            <a:spAutoFit/>
          </a:bodyPr>
          <a:lstStyle/>
          <a:p>
            <a:pPr algn="l">
              <a:lnSpc>
                <a:spcPct val="120000"/>
              </a:lnSpc>
              <a:spcAft>
                <a:spcPts val="0"/>
              </a:spcAft>
            </a:pPr>
            <a:r>
              <a:rPr sz="1000" b="0">
                <a:solidFill>
                  <a:srgbClr val="5F7B9A"/>
                </a:solidFill>
                <a:latin typeface="Calibri"/>
              </a:rPr>
              <a:t>plekken, nog bepalen</a:t>
            </a:r>
          </a:p>
        </p:txBody>
      </p:sp>
      <p:sp>
        <p:nvSpPr>
          <p:cNvPr id="66" name="TextBox 65"/>
          <p:cNvSpPr txBox="1"/>
          <p:nvPr/>
        </p:nvSpPr>
        <p:spPr>
          <a:xfrm>
            <a:off x="10362895" y="3657600"/>
            <a:ext cx="914400" cy="457200"/>
          </a:xfrm>
          <a:prstGeom prst="rect">
            <a:avLst/>
          </a:prstGeom>
          <a:noFill/>
        </p:spPr>
        <p:txBody>
          <a:bodyPr wrap="square" lIns="0" rIns="0" tIns="0" bIns="0" anchor="t">
            <a:spAutoFit/>
          </a:bodyPr>
          <a:lstStyle/>
          <a:p>
            <a:pPr algn="r">
              <a:lnSpc>
                <a:spcPct val="120000"/>
              </a:lnSpc>
              <a:spcAft>
                <a:spcPts val="0"/>
              </a:spcAft>
            </a:pPr>
            <a:r>
              <a:rPr sz="2800" b="1">
                <a:solidFill>
                  <a:srgbClr val="FFB547"/>
                </a:solidFill>
                <a:latin typeface="Calibri"/>
              </a:rPr>
              <a:t>?</a:t>
            </a:r>
          </a:p>
        </p:txBody>
      </p:sp>
      <p:sp>
        <p:nvSpPr>
          <p:cNvPr id="67" name="TextBox 66"/>
          <p:cNvSpPr txBox="1"/>
          <p:nvPr/>
        </p:nvSpPr>
        <p:spPr>
          <a:xfrm>
            <a:off x="7973567" y="4462272"/>
            <a:ext cx="3322015" cy="329184"/>
          </a:xfrm>
          <a:prstGeom prst="rect">
            <a:avLst/>
          </a:prstGeom>
          <a:noFill/>
        </p:spPr>
        <p:txBody>
          <a:bodyPr wrap="square" lIns="0" rIns="0" tIns="0" bIns="0" anchor="t">
            <a:spAutoFit/>
          </a:bodyPr>
          <a:lstStyle/>
          <a:p>
            <a:pPr algn="l">
              <a:lnSpc>
                <a:spcPct val="120000"/>
              </a:lnSpc>
              <a:spcAft>
                <a:spcPts val="0"/>
              </a:spcAft>
            </a:pPr>
            <a:r>
              <a:rPr sz="1000" b="0">
                <a:solidFill>
                  <a:srgbClr val="8BA5C0"/>
                </a:solidFill>
                <a:latin typeface="Calibri"/>
              </a:rPr>
              <a:t>Per ruimte: fysieke plekken, specifieke plekken, middelen en apparatuur.</a:t>
            </a:r>
          </a:p>
        </p:txBody>
      </p:sp>
      <p:sp>
        <p:nvSpPr>
          <p:cNvPr id="68" name="Rounded Rectangle 67"/>
          <p:cNvSpPr/>
          <p:nvPr/>
        </p:nvSpPr>
        <p:spPr>
          <a:xfrm>
            <a:off x="640080" y="5431536"/>
            <a:ext cx="10911535" cy="822960"/>
          </a:xfrm>
          <a:prstGeom prst="roundRect">
            <a:avLst>
              <a:gd name="adj" fmla="val 3000"/>
            </a:avLst>
          </a:prstGeom>
          <a:solidFill>
            <a:srgbClr val="383C3B"/>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ounded Rectangle 68"/>
          <p:cNvSpPr/>
          <p:nvPr/>
        </p:nvSpPr>
        <p:spPr>
          <a:xfrm>
            <a:off x="640080" y="5431536"/>
            <a:ext cx="50292" cy="822960"/>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950976" y="5513831"/>
            <a:ext cx="10289743"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FFB547"/>
                </a:solidFill>
                <a:latin typeface="Calibri"/>
              </a:rPr>
              <a:t>OPENSTAANDE VRAAG</a:t>
            </a:r>
          </a:p>
          <a:p>
            <a:pPr algn="l">
              <a:lnSpc>
                <a:spcPct val="120000"/>
              </a:lnSpc>
              <a:spcAft>
                <a:spcPts val="0"/>
              </a:spcAft>
            </a:pPr>
            <a:r>
              <a:rPr sz="1250" b="1">
                <a:solidFill>
                  <a:srgbClr val="EAF2FA"/>
                </a:solidFill>
                <a:latin typeface="Calibri"/>
              </a:rPr>
              <a:t>Zolang het aantal plekken voor de SEH en de EHH niet bepaald is, kan de personele inzet daar niet berekend worden.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4A9BE8"/>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Vijf scenario's</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Elke variant verandert de fysieke capaciteit én de personele inzet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12</a:t>
            </a:r>
          </a:p>
        </p:txBody>
      </p:sp>
      <p:sp>
        <p:nvSpPr>
          <p:cNvPr id="10" name="Rounded Rectangle 9"/>
          <p:cNvSpPr/>
          <p:nvPr/>
        </p:nvSpPr>
        <p:spPr>
          <a:xfrm>
            <a:off x="640080" y="1792224"/>
            <a:ext cx="7315200" cy="530352"/>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41247" y="1874519"/>
            <a:ext cx="365760" cy="365760"/>
          </a:xfrm>
          <a:prstGeom prst="ellipse">
            <a:avLst/>
          </a:prstGeom>
          <a:solidFill>
            <a:srgbClr val="4A9BE8">
              <a:alpha val="16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4A9BE8"/>
                </a:solidFill>
                <a:latin typeface="Calibri"/>
              </a:rPr>
              <a:t>1</a:t>
            </a:r>
          </a:p>
        </p:txBody>
      </p:sp>
      <p:sp>
        <p:nvSpPr>
          <p:cNvPr id="12" name="TextBox 11"/>
          <p:cNvSpPr txBox="1"/>
          <p:nvPr/>
        </p:nvSpPr>
        <p:spPr>
          <a:xfrm>
            <a:off x="1335024" y="1828800"/>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EAF2FA"/>
                </a:solidFill>
                <a:latin typeface="Calibri"/>
              </a:rPr>
              <a:t>EHH naar SEH</a:t>
            </a:r>
          </a:p>
          <a:p>
            <a:pPr algn="l">
              <a:lnSpc>
                <a:spcPct val="120000"/>
              </a:lnSpc>
              <a:spcAft>
                <a:spcPts val="0"/>
              </a:spcAft>
            </a:pPr>
            <a:r>
              <a:rPr sz="1000" b="0">
                <a:solidFill>
                  <a:srgbClr val="5F7B9A"/>
                </a:solidFill>
                <a:latin typeface="Calibri"/>
              </a:rPr>
              <a:t>overdag, of ook 's avonds?</a:t>
            </a:r>
          </a:p>
        </p:txBody>
      </p:sp>
      <p:sp>
        <p:nvSpPr>
          <p:cNvPr id="13" name="Rounded Rectangle 12"/>
          <p:cNvSpPr/>
          <p:nvPr/>
        </p:nvSpPr>
        <p:spPr>
          <a:xfrm>
            <a:off x="640080" y="2432304"/>
            <a:ext cx="7315200" cy="530352"/>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1247" y="2514600"/>
            <a:ext cx="365760" cy="365760"/>
          </a:xfrm>
          <a:prstGeom prst="ellipse">
            <a:avLst/>
          </a:prstGeom>
          <a:solidFill>
            <a:srgbClr val="4A9BE8">
              <a:alpha val="16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4A9BE8"/>
                </a:solidFill>
                <a:latin typeface="Calibri"/>
              </a:rPr>
              <a:t>2</a:t>
            </a:r>
          </a:p>
        </p:txBody>
      </p:sp>
      <p:sp>
        <p:nvSpPr>
          <p:cNvPr id="15" name="TextBox 14"/>
          <p:cNvSpPr txBox="1"/>
          <p:nvPr/>
        </p:nvSpPr>
        <p:spPr>
          <a:xfrm>
            <a:off x="1335024" y="2468880"/>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EAF2FA"/>
                </a:solidFill>
                <a:latin typeface="Calibri"/>
              </a:rPr>
              <a:t>ICU en SCU samen op de ICU</a:t>
            </a:r>
          </a:p>
        </p:txBody>
      </p:sp>
      <p:sp>
        <p:nvSpPr>
          <p:cNvPr id="16" name="Rounded Rectangle 15"/>
          <p:cNvSpPr/>
          <p:nvPr/>
        </p:nvSpPr>
        <p:spPr>
          <a:xfrm>
            <a:off x="640080" y="3072384"/>
            <a:ext cx="7315200" cy="530352"/>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41247" y="3154680"/>
            <a:ext cx="365760" cy="365760"/>
          </a:xfrm>
          <a:prstGeom prst="ellipse">
            <a:avLst/>
          </a:prstGeom>
          <a:solidFill>
            <a:srgbClr val="4A9BE8">
              <a:alpha val="16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4A9BE8"/>
                </a:solidFill>
                <a:latin typeface="Calibri"/>
              </a:rPr>
              <a:t>3</a:t>
            </a:r>
          </a:p>
        </p:txBody>
      </p:sp>
      <p:sp>
        <p:nvSpPr>
          <p:cNvPr id="18" name="TextBox 17"/>
          <p:cNvSpPr txBox="1"/>
          <p:nvPr/>
        </p:nvSpPr>
        <p:spPr>
          <a:xfrm>
            <a:off x="1335024" y="3108960"/>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EAF2FA"/>
                </a:solidFill>
                <a:latin typeface="Calibri"/>
              </a:rPr>
              <a:t>Recovery ICU naar CCU / SCU</a:t>
            </a:r>
          </a:p>
        </p:txBody>
      </p:sp>
      <p:sp>
        <p:nvSpPr>
          <p:cNvPr id="19" name="Rounded Rectangle 18"/>
          <p:cNvSpPr/>
          <p:nvPr/>
        </p:nvSpPr>
        <p:spPr>
          <a:xfrm>
            <a:off x="640080" y="3712463"/>
            <a:ext cx="7315200" cy="530352"/>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41247" y="3794759"/>
            <a:ext cx="365760" cy="365760"/>
          </a:xfrm>
          <a:prstGeom prst="ellipse">
            <a:avLst/>
          </a:prstGeom>
          <a:solidFill>
            <a:srgbClr val="4A9BE8">
              <a:alpha val="16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4A9BE8"/>
                </a:solidFill>
                <a:latin typeface="Calibri"/>
              </a:rPr>
              <a:t>4</a:t>
            </a:r>
          </a:p>
        </p:txBody>
      </p:sp>
      <p:sp>
        <p:nvSpPr>
          <p:cNvPr id="21" name="TextBox 20"/>
          <p:cNvSpPr txBox="1"/>
          <p:nvPr/>
        </p:nvSpPr>
        <p:spPr>
          <a:xfrm>
            <a:off x="1335024" y="3749039"/>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EAF2FA"/>
                </a:solidFill>
                <a:latin typeface="Calibri"/>
              </a:rPr>
              <a:t>Cardioversies CCU verplaatsen</a:t>
            </a:r>
          </a:p>
        </p:txBody>
      </p:sp>
      <p:sp>
        <p:nvSpPr>
          <p:cNvPr id="22" name="Rounded Rectangle 21"/>
          <p:cNvSpPr/>
          <p:nvPr/>
        </p:nvSpPr>
        <p:spPr>
          <a:xfrm>
            <a:off x="640080" y="4352544"/>
            <a:ext cx="7315200" cy="530352"/>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41247" y="4434840"/>
            <a:ext cx="365760" cy="365760"/>
          </a:xfrm>
          <a:prstGeom prst="ellipse">
            <a:avLst/>
          </a:prstGeom>
          <a:solidFill>
            <a:srgbClr val="5F7B9A">
              <a:alpha val="16000"/>
            </a:srgbClr>
          </a:solidFill>
          <a:ln w="15875">
            <a:solidFill>
              <a:srgbClr val="5F7B9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300" b="1">
                <a:solidFill>
                  <a:srgbClr val="5F7B9A"/>
                </a:solidFill>
                <a:latin typeface="Calibri"/>
              </a:rPr>
              <a:t>5</a:t>
            </a:r>
          </a:p>
        </p:txBody>
      </p:sp>
      <p:sp>
        <p:nvSpPr>
          <p:cNvPr id="24" name="TextBox 23"/>
          <p:cNvSpPr txBox="1"/>
          <p:nvPr/>
        </p:nvSpPr>
        <p:spPr>
          <a:xfrm>
            <a:off x="1335024" y="4389120"/>
            <a:ext cx="6309360" cy="457200"/>
          </a:xfrm>
          <a:prstGeom prst="rect">
            <a:avLst/>
          </a:prstGeom>
          <a:noFill/>
        </p:spPr>
        <p:txBody>
          <a:bodyPr wrap="square" lIns="0" rIns="0" tIns="0" bIns="0" anchor="ctr">
            <a:spAutoFit/>
          </a:bodyPr>
          <a:lstStyle/>
          <a:p>
            <a:pPr algn="l">
              <a:lnSpc>
                <a:spcPct val="120000"/>
              </a:lnSpc>
              <a:spcAft>
                <a:spcPts val="100"/>
              </a:spcAft>
            </a:pPr>
            <a:r>
              <a:rPr sz="1400" b="1">
                <a:solidFill>
                  <a:srgbClr val="EAF2FA"/>
                </a:solidFill>
                <a:latin typeface="Calibri"/>
              </a:rPr>
              <a:t>Huidige situatie handhaven</a:t>
            </a:r>
          </a:p>
          <a:p>
            <a:pPr algn="l">
              <a:lnSpc>
                <a:spcPct val="120000"/>
              </a:lnSpc>
              <a:spcAft>
                <a:spcPts val="0"/>
              </a:spcAft>
            </a:pPr>
            <a:r>
              <a:rPr sz="1000" b="0">
                <a:solidFill>
                  <a:srgbClr val="5F7B9A"/>
                </a:solidFill>
                <a:latin typeface="Calibri"/>
              </a:rPr>
              <a:t>referentiescenario</a:t>
            </a:r>
          </a:p>
        </p:txBody>
      </p:sp>
      <p:sp>
        <p:nvSpPr>
          <p:cNvPr id="25" name="Rounded Rectangle 24"/>
          <p:cNvSpPr/>
          <p:nvPr/>
        </p:nvSpPr>
        <p:spPr>
          <a:xfrm>
            <a:off x="8266175" y="1792224"/>
            <a:ext cx="3285439" cy="3474720"/>
          </a:xfrm>
          <a:prstGeom prst="roundRect">
            <a:avLst>
              <a:gd name="adj" fmla="val 3000"/>
            </a:avLst>
          </a:prstGeom>
          <a:solidFill>
            <a:srgbClr val="1F2E50"/>
          </a:solidFill>
          <a:ln w="15875">
            <a:solidFill>
              <a:srgbClr val="53519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03919" y="1993392"/>
            <a:ext cx="2809951" cy="548640"/>
          </a:xfrm>
          <a:prstGeom prst="rect">
            <a:avLst/>
          </a:prstGeom>
          <a:noFill/>
        </p:spPr>
        <p:txBody>
          <a:bodyPr wrap="square" lIns="0" rIns="0" tIns="0" bIns="0" anchor="t">
            <a:spAutoFit/>
          </a:bodyPr>
          <a:lstStyle/>
          <a:p>
            <a:pPr algn="l">
              <a:lnSpc>
                <a:spcPct val="120000"/>
              </a:lnSpc>
              <a:spcAft>
                <a:spcPts val="0"/>
              </a:spcAft>
            </a:pPr>
            <a:r>
              <a:rPr sz="1600" b="1">
                <a:solidFill>
                  <a:srgbClr val="A98BFF"/>
                </a:solidFill>
                <a:latin typeface="Calibri"/>
              </a:rPr>
              <a:t>Elk scenario</a:t>
            </a:r>
          </a:p>
          <a:p>
            <a:pPr algn="l">
              <a:lnSpc>
                <a:spcPct val="120000"/>
              </a:lnSpc>
              <a:spcAft>
                <a:spcPts val="0"/>
              </a:spcAft>
            </a:pPr>
            <a:r>
              <a:rPr sz="1600" b="1">
                <a:solidFill>
                  <a:srgbClr val="A98BFF"/>
                </a:solidFill>
                <a:latin typeface="Calibri"/>
              </a:rPr>
              <a:t>raakt twee dingen</a:t>
            </a:r>
          </a:p>
        </p:txBody>
      </p:sp>
      <p:sp>
        <p:nvSpPr>
          <p:cNvPr id="27" name="Rounded Rectangle 26"/>
          <p:cNvSpPr/>
          <p:nvPr/>
        </p:nvSpPr>
        <p:spPr>
          <a:xfrm>
            <a:off x="8485632" y="2724912"/>
            <a:ext cx="2846527" cy="822960"/>
          </a:xfrm>
          <a:prstGeom prst="roundRect">
            <a:avLst>
              <a:gd name="adj" fmla="val 3000"/>
            </a:avLst>
          </a:prstGeom>
          <a:solidFill>
            <a:srgbClr val="16314F"/>
          </a:solidFill>
          <a:ln w="12700">
            <a:solidFill>
              <a:srgbClr val="2A54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68511" y="2852928"/>
            <a:ext cx="2480767" cy="566928"/>
          </a:xfrm>
          <a:prstGeom prst="rect">
            <a:avLst/>
          </a:prstGeom>
          <a:noFill/>
        </p:spPr>
        <p:txBody>
          <a:bodyPr wrap="square" lIns="0" rIns="0" tIns="0" bIns="0" anchor="t">
            <a:spAutoFit/>
          </a:bodyPr>
          <a:lstStyle/>
          <a:p>
            <a:pPr algn="l">
              <a:lnSpc>
                <a:spcPct val="120000"/>
              </a:lnSpc>
              <a:spcAft>
                <a:spcPts val="200"/>
              </a:spcAft>
            </a:pPr>
            <a:r>
              <a:rPr sz="1300" b="1">
                <a:solidFill>
                  <a:srgbClr val="4A9BE8"/>
                </a:solidFill>
                <a:latin typeface="Calibri"/>
              </a:rPr>
              <a:t>Fysieke capaciteit</a:t>
            </a:r>
          </a:p>
          <a:p>
            <a:pPr algn="l">
              <a:lnSpc>
                <a:spcPct val="120000"/>
              </a:lnSpc>
              <a:spcAft>
                <a:spcPts val="0"/>
              </a:spcAft>
            </a:pPr>
            <a:r>
              <a:rPr sz="1000" b="0">
                <a:solidFill>
                  <a:srgbClr val="8BA5C0"/>
                </a:solidFill>
                <a:latin typeface="Calibri"/>
              </a:rPr>
              <a:t>aantal plekken, type plek, locatie</a:t>
            </a:r>
          </a:p>
        </p:txBody>
      </p:sp>
      <p:sp>
        <p:nvSpPr>
          <p:cNvPr id="29" name="Rounded Rectangle 28"/>
          <p:cNvSpPr/>
          <p:nvPr/>
        </p:nvSpPr>
        <p:spPr>
          <a:xfrm>
            <a:off x="8485632" y="3694176"/>
            <a:ext cx="2846527" cy="822960"/>
          </a:xfrm>
          <a:prstGeom prst="roundRect">
            <a:avLst>
              <a:gd name="adj" fmla="val 3000"/>
            </a:avLst>
          </a:prstGeom>
          <a:solidFill>
            <a:srgbClr val="16314F"/>
          </a:solidFill>
          <a:ln w="12700">
            <a:solidFill>
              <a:srgbClr val="2A54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668511" y="3822192"/>
            <a:ext cx="2480767" cy="566928"/>
          </a:xfrm>
          <a:prstGeom prst="rect">
            <a:avLst/>
          </a:prstGeom>
          <a:noFill/>
        </p:spPr>
        <p:txBody>
          <a:bodyPr wrap="square" lIns="0" rIns="0" tIns="0" bIns="0" anchor="t">
            <a:spAutoFit/>
          </a:bodyPr>
          <a:lstStyle/>
          <a:p>
            <a:pPr algn="l">
              <a:lnSpc>
                <a:spcPct val="120000"/>
              </a:lnSpc>
              <a:spcAft>
                <a:spcPts val="200"/>
              </a:spcAft>
            </a:pPr>
            <a:r>
              <a:rPr sz="1300" b="1">
                <a:solidFill>
                  <a:srgbClr val="35E0C4"/>
                </a:solidFill>
                <a:latin typeface="Calibri"/>
              </a:rPr>
              <a:t>Personele inzet</a:t>
            </a:r>
          </a:p>
          <a:p>
            <a:pPr algn="l">
              <a:lnSpc>
                <a:spcPct val="120000"/>
              </a:lnSpc>
              <a:spcAft>
                <a:spcPts val="0"/>
              </a:spcAft>
            </a:pPr>
            <a:r>
              <a:rPr sz="1000" b="0">
                <a:solidFill>
                  <a:srgbClr val="8BA5C0"/>
                </a:solidFill>
                <a:latin typeface="Calibri"/>
              </a:rPr>
              <a:t>norm en deskundigheid</a:t>
            </a:r>
          </a:p>
        </p:txBody>
      </p:sp>
      <p:sp>
        <p:nvSpPr>
          <p:cNvPr id="31" name="TextBox 30"/>
          <p:cNvSpPr txBox="1"/>
          <p:nvPr/>
        </p:nvSpPr>
        <p:spPr>
          <a:xfrm>
            <a:off x="8503919" y="4828032"/>
            <a:ext cx="2809951" cy="384048"/>
          </a:xfrm>
          <a:prstGeom prst="rect">
            <a:avLst/>
          </a:prstGeom>
          <a:noFill/>
        </p:spPr>
        <p:txBody>
          <a:bodyPr wrap="square" lIns="0" rIns="0" tIns="0" bIns="0" anchor="t">
            <a:spAutoFit/>
          </a:bodyPr>
          <a:lstStyle/>
          <a:p>
            <a:pPr algn="l">
              <a:lnSpc>
                <a:spcPct val="120000"/>
              </a:lnSpc>
              <a:spcAft>
                <a:spcPts val="0"/>
              </a:spcAft>
            </a:pPr>
            <a:r>
              <a:rPr sz="1050" b="0">
                <a:solidFill>
                  <a:srgbClr val="8BA5C0"/>
                </a:solidFill>
                <a:latin typeface="Calibri"/>
              </a:rPr>
              <a:t>De keuze gebeurt op basis van data uit BIC.</a:t>
            </a:r>
          </a:p>
        </p:txBody>
      </p:sp>
      <p:sp>
        <p:nvSpPr>
          <p:cNvPr id="32" name="Rounded Rectangle 31"/>
          <p:cNvSpPr/>
          <p:nvPr/>
        </p:nvSpPr>
        <p:spPr>
          <a:xfrm>
            <a:off x="640080" y="5486400"/>
            <a:ext cx="10911535" cy="658368"/>
          </a:xfrm>
          <a:prstGeom prst="roundRect">
            <a:avLst>
              <a:gd name="adj" fmla="val 3000"/>
            </a:avLst>
          </a:prstGeom>
          <a:solidFill>
            <a:srgbClr val="28345C"/>
          </a:solidFill>
          <a:ln w="15875">
            <a:solidFill>
              <a:srgbClr val="53519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40080" y="5486400"/>
            <a:ext cx="50292" cy="658368"/>
          </a:xfrm>
          <a:prstGeom prst="roundRect">
            <a:avLst>
              <a:gd name="adj" fmla="val 50000"/>
            </a:avLst>
          </a:prstGeom>
          <a:solidFill>
            <a:srgbClr val="A98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50976" y="5568696"/>
            <a:ext cx="10289743" cy="493776"/>
          </a:xfrm>
          <a:prstGeom prst="rect">
            <a:avLst/>
          </a:prstGeom>
          <a:noFill/>
        </p:spPr>
        <p:txBody>
          <a:bodyPr wrap="square" lIns="0" rIns="0" tIns="0" bIns="0" anchor="ctr">
            <a:spAutoFit/>
          </a:bodyPr>
          <a:lstStyle/>
          <a:p>
            <a:pPr algn="l">
              <a:lnSpc>
                <a:spcPct val="120000"/>
              </a:lnSpc>
              <a:spcAft>
                <a:spcPts val="300"/>
              </a:spcAft>
            </a:pPr>
            <a:r>
              <a:rPr sz="950" b="1" spc="180">
                <a:solidFill>
                  <a:srgbClr val="A98BFF"/>
                </a:solidFill>
                <a:latin typeface="Calibri"/>
              </a:rPr>
              <a:t>ZONDER KEUZE STAAT DE REST STIL</a:t>
            </a:r>
          </a:p>
          <a:p>
            <a:pPr algn="l">
              <a:lnSpc>
                <a:spcPct val="120000"/>
              </a:lnSpc>
              <a:spcAft>
                <a:spcPts val="0"/>
              </a:spcAft>
            </a:pPr>
            <a:r>
              <a:rPr sz="1250" b="1">
                <a:solidFill>
                  <a:srgbClr val="EAF2FA"/>
                </a:solidFill>
                <a:latin typeface="Calibri"/>
              </a:rPr>
              <a:t>Het week- en dagplan, de roostersleutels en de planning volgen pas na deze keuze.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A98BFF"/>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Van scenario naar rooster</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De route die na de keuze gevolgd wordt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13</a:t>
            </a:r>
          </a:p>
        </p:txBody>
      </p:sp>
      <p:sp>
        <p:nvSpPr>
          <p:cNvPr id="10" name="Rounded Rectangle 9"/>
          <p:cNvSpPr/>
          <p:nvPr/>
        </p:nvSpPr>
        <p:spPr>
          <a:xfrm>
            <a:off x="640080" y="2066544"/>
            <a:ext cx="1650949" cy="201168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209522" y="2249424"/>
            <a:ext cx="512064" cy="512064"/>
          </a:xfrm>
          <a:prstGeom prst="ellipse">
            <a:avLst/>
          </a:prstGeom>
          <a:solidFill>
            <a:srgbClr val="A98BFF">
              <a:alpha val="16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A98BFF"/>
                </a:solidFill>
                <a:latin typeface="Calibri"/>
              </a:rPr>
              <a:t>01</a:t>
            </a:r>
          </a:p>
        </p:txBody>
      </p:sp>
      <p:sp>
        <p:nvSpPr>
          <p:cNvPr id="12" name="TextBox 11"/>
          <p:cNvSpPr txBox="1"/>
          <p:nvPr/>
        </p:nvSpPr>
        <p:spPr>
          <a:xfrm>
            <a:off x="786384"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EAF2FA"/>
                </a:solidFill>
                <a:latin typeface="Calibri"/>
              </a:rPr>
              <a:t>Scenario's uitwerken</a:t>
            </a:r>
          </a:p>
        </p:txBody>
      </p:sp>
      <p:sp>
        <p:nvSpPr>
          <p:cNvPr id="13" name="TextBox 12"/>
          <p:cNvSpPr txBox="1"/>
          <p:nvPr/>
        </p:nvSpPr>
        <p:spPr>
          <a:xfrm>
            <a:off x="786384"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8BA5C0"/>
                </a:solidFill>
                <a:latin typeface="Calibri"/>
              </a:rPr>
              <a:t>de vijf varianten doorrekenen</a:t>
            </a:r>
          </a:p>
        </p:txBody>
      </p:sp>
      <p:sp>
        <p:nvSpPr>
          <p:cNvPr id="14" name="Right Arrow 13"/>
          <p:cNvSpPr/>
          <p:nvPr/>
        </p:nvSpPr>
        <p:spPr>
          <a:xfrm>
            <a:off x="2309317" y="2980944"/>
            <a:ext cx="164592" cy="164592"/>
          </a:xfrm>
          <a:prstGeom prst="rightArrow">
            <a:avLst/>
          </a:prstGeom>
          <a:solidFill>
            <a:srgbClr val="A98B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92197" y="2066544"/>
            <a:ext cx="1650949" cy="201168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061639" y="2249424"/>
            <a:ext cx="512064" cy="512064"/>
          </a:xfrm>
          <a:prstGeom prst="ellipse">
            <a:avLst/>
          </a:prstGeom>
          <a:solidFill>
            <a:srgbClr val="A98BFF">
              <a:alpha val="16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A98BFF"/>
                </a:solidFill>
                <a:latin typeface="Calibri"/>
              </a:rPr>
              <a:t>02</a:t>
            </a:r>
          </a:p>
        </p:txBody>
      </p:sp>
      <p:sp>
        <p:nvSpPr>
          <p:cNvPr id="17" name="TextBox 16"/>
          <p:cNvSpPr txBox="1"/>
          <p:nvPr/>
        </p:nvSpPr>
        <p:spPr>
          <a:xfrm>
            <a:off x="2638501"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EAF2FA"/>
                </a:solidFill>
                <a:latin typeface="Calibri"/>
              </a:rPr>
              <a:t>Keuze maken</a:t>
            </a:r>
          </a:p>
        </p:txBody>
      </p:sp>
      <p:sp>
        <p:nvSpPr>
          <p:cNvPr id="18" name="TextBox 17"/>
          <p:cNvSpPr txBox="1"/>
          <p:nvPr/>
        </p:nvSpPr>
        <p:spPr>
          <a:xfrm>
            <a:off x="2638501"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8BA5C0"/>
                </a:solidFill>
                <a:latin typeface="Calibri"/>
              </a:rPr>
              <a:t>op basis van data uit BIC</a:t>
            </a:r>
          </a:p>
        </p:txBody>
      </p:sp>
      <p:sp>
        <p:nvSpPr>
          <p:cNvPr id="19" name="Right Arrow 18"/>
          <p:cNvSpPr/>
          <p:nvPr/>
        </p:nvSpPr>
        <p:spPr>
          <a:xfrm>
            <a:off x="4161434" y="2980944"/>
            <a:ext cx="164592" cy="164592"/>
          </a:xfrm>
          <a:prstGeom prst="rightArrow">
            <a:avLst/>
          </a:prstGeom>
          <a:solidFill>
            <a:srgbClr val="A98B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44314" y="2066544"/>
            <a:ext cx="1650949" cy="201168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913757" y="2249424"/>
            <a:ext cx="512064" cy="512064"/>
          </a:xfrm>
          <a:prstGeom prst="ellipse">
            <a:avLst/>
          </a:prstGeom>
          <a:solidFill>
            <a:srgbClr val="A98BFF">
              <a:alpha val="16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A98BFF"/>
                </a:solidFill>
                <a:latin typeface="Calibri"/>
              </a:rPr>
              <a:t>03</a:t>
            </a:r>
          </a:p>
        </p:txBody>
      </p:sp>
      <p:sp>
        <p:nvSpPr>
          <p:cNvPr id="22" name="TextBox 21"/>
          <p:cNvSpPr txBox="1"/>
          <p:nvPr/>
        </p:nvSpPr>
        <p:spPr>
          <a:xfrm>
            <a:off x="4490618"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EAF2FA"/>
                </a:solidFill>
                <a:latin typeface="Calibri"/>
              </a:rPr>
              <a:t>Week- en dagplan</a:t>
            </a:r>
          </a:p>
        </p:txBody>
      </p:sp>
      <p:sp>
        <p:nvSpPr>
          <p:cNvPr id="23" name="TextBox 22"/>
          <p:cNvSpPr txBox="1"/>
          <p:nvPr/>
        </p:nvSpPr>
        <p:spPr>
          <a:xfrm>
            <a:off x="4490618"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8BA5C0"/>
                </a:solidFill>
                <a:latin typeface="Calibri"/>
              </a:rPr>
              <a:t>wat is er wanneer nodig</a:t>
            </a:r>
          </a:p>
        </p:txBody>
      </p:sp>
      <p:sp>
        <p:nvSpPr>
          <p:cNvPr id="24" name="Right Arrow 23"/>
          <p:cNvSpPr/>
          <p:nvPr/>
        </p:nvSpPr>
        <p:spPr>
          <a:xfrm>
            <a:off x="6013551" y="2980944"/>
            <a:ext cx="164592" cy="164592"/>
          </a:xfrm>
          <a:prstGeom prst="rightArrow">
            <a:avLst/>
          </a:prstGeom>
          <a:solidFill>
            <a:srgbClr val="A98B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96431" y="2066544"/>
            <a:ext cx="1650949" cy="201168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765874" y="2249424"/>
            <a:ext cx="512064" cy="512064"/>
          </a:xfrm>
          <a:prstGeom prst="ellipse">
            <a:avLst/>
          </a:prstGeom>
          <a:solidFill>
            <a:srgbClr val="A98BFF">
              <a:alpha val="16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A98BFF"/>
                </a:solidFill>
                <a:latin typeface="Calibri"/>
              </a:rPr>
              <a:t>04</a:t>
            </a:r>
          </a:p>
        </p:txBody>
      </p:sp>
      <p:sp>
        <p:nvSpPr>
          <p:cNvPr id="27" name="TextBox 26"/>
          <p:cNvSpPr txBox="1"/>
          <p:nvPr/>
        </p:nvSpPr>
        <p:spPr>
          <a:xfrm>
            <a:off x="6342735"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EAF2FA"/>
                </a:solidFill>
                <a:latin typeface="Calibri"/>
              </a:rPr>
              <a:t>Roostersleutels</a:t>
            </a:r>
          </a:p>
        </p:txBody>
      </p:sp>
      <p:sp>
        <p:nvSpPr>
          <p:cNvPr id="28" name="TextBox 27"/>
          <p:cNvSpPr txBox="1"/>
          <p:nvPr/>
        </p:nvSpPr>
        <p:spPr>
          <a:xfrm>
            <a:off x="6342735"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8BA5C0"/>
                </a:solidFill>
                <a:latin typeface="Calibri"/>
              </a:rPr>
              <a:t>vertaling naar de roosters</a:t>
            </a:r>
          </a:p>
        </p:txBody>
      </p:sp>
      <p:sp>
        <p:nvSpPr>
          <p:cNvPr id="29" name="Right Arrow 28"/>
          <p:cNvSpPr/>
          <p:nvPr/>
        </p:nvSpPr>
        <p:spPr>
          <a:xfrm>
            <a:off x="7865668" y="2980944"/>
            <a:ext cx="164592" cy="164592"/>
          </a:xfrm>
          <a:prstGeom prst="rightArrow">
            <a:avLst/>
          </a:prstGeom>
          <a:solidFill>
            <a:srgbClr val="A98B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048548" y="2066544"/>
            <a:ext cx="1650949" cy="201168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8617991" y="2249424"/>
            <a:ext cx="512064" cy="512064"/>
          </a:xfrm>
          <a:prstGeom prst="ellipse">
            <a:avLst/>
          </a:prstGeom>
          <a:solidFill>
            <a:srgbClr val="A98BFF">
              <a:alpha val="16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A98BFF"/>
                </a:solidFill>
                <a:latin typeface="Calibri"/>
              </a:rPr>
              <a:t>05</a:t>
            </a:r>
          </a:p>
        </p:txBody>
      </p:sp>
      <p:sp>
        <p:nvSpPr>
          <p:cNvPr id="32" name="TextBox 31"/>
          <p:cNvSpPr txBox="1"/>
          <p:nvPr/>
        </p:nvSpPr>
        <p:spPr>
          <a:xfrm>
            <a:off x="8194852"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EAF2FA"/>
                </a:solidFill>
                <a:latin typeface="Calibri"/>
              </a:rPr>
              <a:t>Planning CPP</a:t>
            </a:r>
          </a:p>
        </p:txBody>
      </p:sp>
      <p:sp>
        <p:nvSpPr>
          <p:cNvPr id="33" name="TextBox 32"/>
          <p:cNvSpPr txBox="1"/>
          <p:nvPr/>
        </p:nvSpPr>
        <p:spPr>
          <a:xfrm>
            <a:off x="8194852"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8BA5C0"/>
                </a:solidFill>
                <a:latin typeface="Calibri"/>
              </a:rPr>
              <a:t>capaciteits- en personeelsplanning</a:t>
            </a:r>
          </a:p>
        </p:txBody>
      </p:sp>
      <p:sp>
        <p:nvSpPr>
          <p:cNvPr id="34" name="Right Arrow 33"/>
          <p:cNvSpPr/>
          <p:nvPr/>
        </p:nvSpPr>
        <p:spPr>
          <a:xfrm>
            <a:off x="9717786" y="2980944"/>
            <a:ext cx="164592" cy="164592"/>
          </a:xfrm>
          <a:prstGeom prst="rightArrow">
            <a:avLst/>
          </a:prstGeom>
          <a:solidFill>
            <a:srgbClr val="A98B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900666" y="2066544"/>
            <a:ext cx="1650949" cy="2011680"/>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0470108" y="2249424"/>
            <a:ext cx="512064" cy="512064"/>
          </a:xfrm>
          <a:prstGeom prst="ellipse">
            <a:avLst/>
          </a:prstGeom>
          <a:solidFill>
            <a:srgbClr val="A98BFF">
              <a:alpha val="16000"/>
            </a:srgbClr>
          </a:solidFill>
          <a:ln w="15875">
            <a:solidFill>
              <a:srgbClr val="A98B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A98BFF"/>
                </a:solidFill>
                <a:latin typeface="Calibri"/>
              </a:rPr>
              <a:t>06</a:t>
            </a:r>
          </a:p>
        </p:txBody>
      </p:sp>
      <p:sp>
        <p:nvSpPr>
          <p:cNvPr id="37" name="TextBox 36"/>
          <p:cNvSpPr txBox="1"/>
          <p:nvPr/>
        </p:nvSpPr>
        <p:spPr>
          <a:xfrm>
            <a:off x="10046970"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EAF2FA"/>
                </a:solidFill>
                <a:latin typeface="Calibri"/>
              </a:rPr>
              <a:t>Monitoring</a:t>
            </a:r>
          </a:p>
        </p:txBody>
      </p:sp>
      <p:sp>
        <p:nvSpPr>
          <p:cNvPr id="38" name="TextBox 37"/>
          <p:cNvSpPr txBox="1"/>
          <p:nvPr/>
        </p:nvSpPr>
        <p:spPr>
          <a:xfrm>
            <a:off x="10046970"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8BA5C0"/>
                </a:solidFill>
                <a:latin typeface="Calibri"/>
              </a:rPr>
              <a:t>instroom, stops, knelpunten, uren</a:t>
            </a:r>
          </a:p>
        </p:txBody>
      </p:sp>
      <p:sp>
        <p:nvSpPr>
          <p:cNvPr id="39" name="Rounded Rectangle 38"/>
          <p:cNvSpPr/>
          <p:nvPr/>
        </p:nvSpPr>
        <p:spPr>
          <a:xfrm>
            <a:off x="640080" y="4315968"/>
            <a:ext cx="3454298" cy="749808"/>
          </a:xfrm>
          <a:prstGeom prst="roundRect">
            <a:avLst>
              <a:gd name="adj" fmla="val 3000"/>
            </a:avLst>
          </a:prstGeom>
          <a:solidFill>
            <a:srgbClr val="13304D"/>
          </a:solidFill>
          <a:ln w="15875">
            <a:solidFill>
              <a:srgbClr val="2858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9536"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4A9BE8"/>
                </a:solidFill>
                <a:latin typeface="Calibri"/>
              </a:rPr>
              <a:t>Fysiek gaat voor</a:t>
            </a:r>
          </a:p>
          <a:p>
            <a:pPr algn="l">
              <a:lnSpc>
                <a:spcPct val="120000"/>
              </a:lnSpc>
              <a:spcAft>
                <a:spcPts val="0"/>
              </a:spcAft>
            </a:pPr>
            <a:r>
              <a:rPr sz="1000" b="0">
                <a:solidFill>
                  <a:srgbClr val="8BA5C0"/>
                </a:solidFill>
                <a:latin typeface="Calibri"/>
              </a:rPr>
              <a:t>eerst wat en waar</a:t>
            </a:r>
          </a:p>
        </p:txBody>
      </p:sp>
      <p:sp>
        <p:nvSpPr>
          <p:cNvPr id="41" name="Rounded Rectangle 40"/>
          <p:cNvSpPr/>
          <p:nvPr/>
        </p:nvSpPr>
        <p:spPr>
          <a:xfrm>
            <a:off x="4368698" y="4315968"/>
            <a:ext cx="3454298" cy="749808"/>
          </a:xfrm>
          <a:prstGeom prst="roundRect">
            <a:avLst>
              <a:gd name="adj" fmla="val 3000"/>
            </a:avLst>
          </a:prstGeom>
          <a:solidFill>
            <a:srgbClr val="113849"/>
          </a:solid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88154"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35E0C4"/>
                </a:solidFill>
                <a:latin typeface="Calibri"/>
              </a:rPr>
              <a:t>Personele inzet volgt</a:t>
            </a:r>
          </a:p>
          <a:p>
            <a:pPr algn="l">
              <a:lnSpc>
                <a:spcPct val="120000"/>
              </a:lnSpc>
              <a:spcAft>
                <a:spcPts val="0"/>
              </a:spcAft>
            </a:pPr>
            <a:r>
              <a:rPr sz="1000" b="0">
                <a:solidFill>
                  <a:srgbClr val="8BA5C0"/>
                </a:solidFill>
                <a:latin typeface="Calibri"/>
              </a:rPr>
              <a:t>uit wat en waar</a:t>
            </a:r>
          </a:p>
        </p:txBody>
      </p:sp>
      <p:sp>
        <p:nvSpPr>
          <p:cNvPr id="43" name="Rounded Rectangle 42"/>
          <p:cNvSpPr/>
          <p:nvPr/>
        </p:nvSpPr>
        <p:spPr>
          <a:xfrm>
            <a:off x="8097316" y="4315968"/>
            <a:ext cx="3454298" cy="749808"/>
          </a:xfrm>
          <a:prstGeom prst="roundRect">
            <a:avLst>
              <a:gd name="adj" fmla="val 3000"/>
            </a:avLst>
          </a:prstGeom>
          <a:solidFill>
            <a:srgbClr val="1F2E50"/>
          </a:solidFill>
          <a:ln w="15875">
            <a:solidFill>
              <a:srgbClr val="53519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316772"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A98BFF"/>
                </a:solidFill>
                <a:latin typeface="Calibri"/>
              </a:rPr>
              <a:t>Daarna monitoren</a:t>
            </a:r>
          </a:p>
          <a:p>
            <a:pPr algn="l">
              <a:lnSpc>
                <a:spcPct val="120000"/>
              </a:lnSpc>
              <a:spcAft>
                <a:spcPts val="0"/>
              </a:spcAft>
            </a:pPr>
            <a:r>
              <a:rPr sz="1000" b="0">
                <a:solidFill>
                  <a:srgbClr val="8BA5C0"/>
                </a:solidFill>
                <a:latin typeface="Calibri"/>
              </a:rPr>
              <a:t>instroom, stops, knelpunten, uren</a:t>
            </a:r>
          </a:p>
        </p:txBody>
      </p:sp>
      <p:sp>
        <p:nvSpPr>
          <p:cNvPr id="45" name="Rounded Rectangle 44"/>
          <p:cNvSpPr/>
          <p:nvPr/>
        </p:nvSpPr>
        <p:spPr>
          <a:xfrm>
            <a:off x="640080" y="5486400"/>
            <a:ext cx="10911535" cy="658368"/>
          </a:xfrm>
          <a:prstGeom prst="roundRect">
            <a:avLst>
              <a:gd name="adj" fmla="val 3000"/>
            </a:avLst>
          </a:prstGeom>
          <a:solidFill>
            <a:srgbClr val="383C3B"/>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486400"/>
            <a:ext cx="50292" cy="658368"/>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50976" y="5568696"/>
            <a:ext cx="10289743" cy="493776"/>
          </a:xfrm>
          <a:prstGeom prst="rect">
            <a:avLst/>
          </a:prstGeom>
          <a:noFill/>
        </p:spPr>
        <p:txBody>
          <a:bodyPr wrap="square" lIns="0" rIns="0" tIns="0" bIns="0" anchor="ctr">
            <a:spAutoFit/>
          </a:bodyPr>
          <a:lstStyle/>
          <a:p>
            <a:pPr algn="l">
              <a:lnSpc>
                <a:spcPct val="120000"/>
              </a:lnSpc>
              <a:spcAft>
                <a:spcPts val="300"/>
              </a:spcAft>
            </a:pPr>
            <a:r>
              <a:rPr sz="950" b="1" spc="180">
                <a:solidFill>
                  <a:srgbClr val="FFB547"/>
                </a:solidFill>
                <a:latin typeface="Calibri"/>
              </a:rPr>
              <a:t>OPENSTAANDE VRAAG</a:t>
            </a:r>
          </a:p>
          <a:p>
            <a:pPr algn="l">
              <a:lnSpc>
                <a:spcPct val="120000"/>
              </a:lnSpc>
              <a:spcAft>
                <a:spcPts val="0"/>
              </a:spcAft>
            </a:pPr>
            <a:r>
              <a:rPr sz="1250" b="1">
                <a:solidFill>
                  <a:srgbClr val="EAF2FA"/>
                </a:solidFill>
                <a:latin typeface="Calibri"/>
              </a:rPr>
              <a:t>De personele planning loopt nu niet volledig via CPP, met name rond de acute poule.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FF6B5A"/>
                </a:solidFill>
                <a:latin typeface="Calibri"/>
              </a:rPr>
              <a:t>DEEL 03  ·  ANALYSE 1</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De acute poort</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Drie stromen achter één poort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14</a:t>
            </a:r>
          </a:p>
        </p:txBody>
      </p:sp>
      <p:sp>
        <p:nvSpPr>
          <p:cNvPr id="10" name="Rounded Rectangle 9"/>
          <p:cNvSpPr/>
          <p:nvPr/>
        </p:nvSpPr>
        <p:spPr>
          <a:xfrm>
            <a:off x="640080" y="1700784"/>
            <a:ext cx="5943600" cy="1243584"/>
          </a:xfrm>
          <a:prstGeom prst="roundRect">
            <a:avLst>
              <a:gd name="adj" fmla="val 3000"/>
            </a:avLst>
          </a:prstGeom>
          <a:solidFill>
            <a:srgbClr val="332D3D"/>
          </a:solidFill>
          <a:ln w="15875">
            <a:solidFill>
              <a:srgbClr val="794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FF6B5A"/>
                </a:solidFill>
                <a:latin typeface="Calibri"/>
              </a:rPr>
              <a:t>Past niet</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8BA5C0"/>
                </a:solidFill>
                <a:latin typeface="Calibri"/>
              </a:rPr>
              <a:t>geanalyseerd voor kind, EHH en SEH samen</a:t>
            </a:r>
          </a:p>
        </p:txBody>
      </p:sp>
      <p:sp>
        <p:nvSpPr>
          <p:cNvPr id="13" name="Rounded Rectangle 12"/>
          <p:cNvSpPr/>
          <p:nvPr/>
        </p:nvSpPr>
        <p:spPr>
          <a:xfrm>
            <a:off x="640080" y="3163824"/>
            <a:ext cx="5943600" cy="60350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FF6B5A">
              <a:alpha val="16000"/>
            </a:srgbClr>
          </a:solidFill>
          <a:ln w="15875">
            <a:solidFill>
              <a:srgbClr val="FF6B5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6B5A"/>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EAF2FA"/>
                </a:solidFill>
                <a:latin typeface="Calibri"/>
              </a:rPr>
              <a:t>Analyse op dag- en uurniveau</a:t>
            </a:r>
          </a:p>
          <a:p>
            <a:pPr algn="l">
              <a:lnSpc>
                <a:spcPct val="120000"/>
              </a:lnSpc>
              <a:spcAft>
                <a:spcPts val="0"/>
              </a:spcAft>
            </a:pPr>
            <a:r>
              <a:rPr sz="1000" b="0">
                <a:solidFill>
                  <a:srgbClr val="5F7B9A"/>
                </a:solidFill>
                <a:latin typeface="Calibri"/>
              </a:rPr>
              <a:t>instroompatroon per uur</a:t>
            </a:r>
          </a:p>
        </p:txBody>
      </p:sp>
      <p:sp>
        <p:nvSpPr>
          <p:cNvPr id="16" name="Rounded Rectangle 15"/>
          <p:cNvSpPr/>
          <p:nvPr/>
        </p:nvSpPr>
        <p:spPr>
          <a:xfrm>
            <a:off x="640080" y="3858768"/>
            <a:ext cx="5943600" cy="60350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FF6B5A">
              <a:alpha val="16000"/>
            </a:srgbClr>
          </a:solidFill>
          <a:ln w="15875">
            <a:solidFill>
              <a:srgbClr val="FF6B5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6B5A"/>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EAF2FA"/>
                </a:solidFill>
                <a:latin typeface="Calibri"/>
              </a:rPr>
              <a:t>Jaarpatroon in beeld gebracht</a:t>
            </a:r>
          </a:p>
          <a:p>
            <a:pPr algn="l">
              <a:lnSpc>
                <a:spcPct val="120000"/>
              </a:lnSpc>
              <a:spcAft>
                <a:spcPts val="0"/>
              </a:spcAft>
            </a:pPr>
            <a:r>
              <a:rPr sz="1000" b="0">
                <a:solidFill>
                  <a:srgbClr val="5F7B9A"/>
                </a:solidFill>
                <a:latin typeface="Calibri"/>
              </a:rPr>
              <a:t>seizoensinvloed zichtbaar</a:t>
            </a:r>
          </a:p>
        </p:txBody>
      </p:sp>
      <p:sp>
        <p:nvSpPr>
          <p:cNvPr id="19" name="Rounded Rectangle 18"/>
          <p:cNvSpPr/>
          <p:nvPr/>
        </p:nvSpPr>
        <p:spPr>
          <a:xfrm>
            <a:off x="640080" y="4553712"/>
            <a:ext cx="5943600" cy="60350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FF6B5A">
              <a:alpha val="16000"/>
            </a:srgbClr>
          </a:solidFill>
          <a:ln w="15875">
            <a:solidFill>
              <a:srgbClr val="FF6B5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6B5A"/>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EAF2FA"/>
                </a:solidFill>
                <a:latin typeface="Calibri"/>
              </a:rPr>
              <a:t>Data beschikbaar</a:t>
            </a:r>
          </a:p>
          <a:p>
            <a:pPr algn="l">
              <a:lnSpc>
                <a:spcPct val="120000"/>
              </a:lnSpc>
              <a:spcAft>
                <a:spcPts val="0"/>
              </a:spcAft>
            </a:pPr>
            <a:r>
              <a:rPr sz="1000" b="0">
                <a:solidFill>
                  <a:srgbClr val="5F7B9A"/>
                </a:solidFill>
                <a:latin typeface="Calibri"/>
              </a:rPr>
              <a:t>met verschillende scenario's</a:t>
            </a:r>
          </a:p>
        </p:txBody>
      </p:sp>
      <p:sp>
        <p:nvSpPr>
          <p:cNvPr id="22" name="Rounded Rectangle 21"/>
          <p:cNvSpPr/>
          <p:nvPr/>
        </p:nvSpPr>
        <p:spPr>
          <a:xfrm>
            <a:off x="6949440" y="1700784"/>
            <a:ext cx="4602175" cy="307238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5F7B9A"/>
                </a:solidFill>
                <a:latin typeface="Calibri"/>
              </a:rPr>
              <a:t>DE DRIE STROMEN</a:t>
            </a:r>
          </a:p>
        </p:txBody>
      </p:sp>
      <p:sp>
        <p:nvSpPr>
          <p:cNvPr id="24" name="Rounded Rectangle 23"/>
          <p:cNvSpPr/>
          <p:nvPr/>
        </p:nvSpPr>
        <p:spPr>
          <a:xfrm>
            <a:off x="7187184" y="2304288"/>
            <a:ext cx="4126687" cy="658368"/>
          </a:xfrm>
          <a:prstGeom prst="roundRect">
            <a:avLst>
              <a:gd name="adj" fmla="val 3000"/>
            </a:avLst>
          </a:prstGeom>
          <a:solidFill>
            <a:srgbClr val="16314F"/>
          </a:solidFill>
          <a:ln w="12700">
            <a:solidFill>
              <a:srgbClr val="2A54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4A9BE8"/>
                </a:solidFill>
                <a:latin typeface="Calibri"/>
              </a:rPr>
              <a:t>kind spoed</a:t>
            </a:r>
          </a:p>
          <a:p>
            <a:pPr algn="l">
              <a:lnSpc>
                <a:spcPct val="120000"/>
              </a:lnSpc>
              <a:spcAft>
                <a:spcPts val="0"/>
              </a:spcAft>
            </a:pPr>
            <a:r>
              <a:rPr sz="1000" b="0">
                <a:solidFill>
                  <a:srgbClr val="8BA5C0"/>
                </a:solidFill>
                <a:latin typeface="Calibri"/>
              </a:rPr>
              <a:t>eigen stroom</a:t>
            </a:r>
          </a:p>
        </p:txBody>
      </p:sp>
      <p:sp>
        <p:nvSpPr>
          <p:cNvPr id="26" name="Rounded Rectangle 25"/>
          <p:cNvSpPr/>
          <p:nvPr/>
        </p:nvSpPr>
        <p:spPr>
          <a:xfrm>
            <a:off x="7187184" y="3072384"/>
            <a:ext cx="4126687" cy="658368"/>
          </a:xfrm>
          <a:prstGeom prst="roundRect">
            <a:avLst>
              <a:gd name="adj" fmla="val 3000"/>
            </a:avLst>
          </a:prstGeom>
          <a:solidFill>
            <a:srgbClr val="16314F"/>
          </a:solidFill>
          <a:ln w="12700">
            <a:solidFill>
              <a:srgbClr val="2A54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A98BFF"/>
                </a:solidFill>
                <a:latin typeface="Calibri"/>
              </a:rPr>
              <a:t>EHH</a:t>
            </a:r>
          </a:p>
          <a:p>
            <a:pPr algn="l">
              <a:lnSpc>
                <a:spcPct val="120000"/>
              </a:lnSpc>
              <a:spcAft>
                <a:spcPts val="0"/>
              </a:spcAft>
            </a:pPr>
            <a:r>
              <a:rPr sz="1000" b="0">
                <a:solidFill>
                  <a:srgbClr val="8BA5C0"/>
                </a:solidFill>
                <a:latin typeface="Calibri"/>
              </a:rPr>
              <a:t>eigen stroom</a:t>
            </a:r>
          </a:p>
        </p:txBody>
      </p:sp>
      <p:sp>
        <p:nvSpPr>
          <p:cNvPr id="28" name="Rounded Rectangle 27"/>
          <p:cNvSpPr/>
          <p:nvPr/>
        </p:nvSpPr>
        <p:spPr>
          <a:xfrm>
            <a:off x="7187184" y="3840480"/>
            <a:ext cx="4126687" cy="658368"/>
          </a:xfrm>
          <a:prstGeom prst="roundRect">
            <a:avLst>
              <a:gd name="adj" fmla="val 3000"/>
            </a:avLst>
          </a:prstGeom>
          <a:solidFill>
            <a:srgbClr val="16314F"/>
          </a:solidFill>
          <a:ln w="12700">
            <a:solidFill>
              <a:srgbClr val="2A54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35E0C4"/>
                </a:solidFill>
                <a:latin typeface="Calibri"/>
              </a:rPr>
              <a:t>SEH</a:t>
            </a:r>
          </a:p>
          <a:p>
            <a:pPr algn="l">
              <a:lnSpc>
                <a:spcPct val="120000"/>
              </a:lnSpc>
              <a:spcAft>
                <a:spcPts val="0"/>
              </a:spcAft>
            </a:pPr>
            <a:r>
              <a:rPr sz="1000" b="0">
                <a:solidFill>
                  <a:srgbClr val="8BA5C0"/>
                </a:solidFill>
                <a:latin typeface="Calibri"/>
              </a:rPr>
              <a:t>eigen stroom</a:t>
            </a:r>
          </a:p>
        </p:txBody>
      </p:sp>
      <p:sp>
        <p:nvSpPr>
          <p:cNvPr id="30" name="Rounded Rectangle 29"/>
          <p:cNvSpPr/>
          <p:nvPr/>
        </p:nvSpPr>
        <p:spPr>
          <a:xfrm>
            <a:off x="640080" y="5358383"/>
            <a:ext cx="10911535" cy="786384"/>
          </a:xfrm>
          <a:prstGeom prst="roundRect">
            <a:avLst>
              <a:gd name="adj" fmla="val 3000"/>
            </a:avLst>
          </a:prstGeom>
          <a:solidFill>
            <a:srgbClr val="382E3E"/>
          </a:solidFill>
          <a:ln w="15875">
            <a:solidFill>
              <a:srgbClr val="7942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50976" y="5440679"/>
            <a:ext cx="10289743"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FF6B5A"/>
                </a:solidFill>
                <a:latin typeface="Calibri"/>
              </a:rPr>
              <a:t>DOEL EN VERVOLG</a:t>
            </a:r>
          </a:p>
          <a:p>
            <a:pPr algn="l">
              <a:lnSpc>
                <a:spcPct val="120000"/>
              </a:lnSpc>
              <a:spcAft>
                <a:spcPts val="0"/>
              </a:spcAft>
            </a:pPr>
            <a:r>
              <a:rPr sz="1250" b="1">
                <a:solidFill>
                  <a:srgbClr val="EAF2FA"/>
                </a:solidFill>
                <a:latin typeface="Calibri"/>
              </a:rPr>
              <a:t>De zorg passend maken op de fysieke nieuwe SEH. De analyse is gedeeld — welke acties volgen eruit, en wie pakt ze 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35E0C4"/>
                </a:solidFill>
                <a:latin typeface="Calibri"/>
              </a:rPr>
              <a:t>DEEL 03  ·  ANALYSE 2</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De Hotfloor</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ICU, CCU en SCU samen op één vloer</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15</a:t>
            </a:r>
          </a:p>
        </p:txBody>
      </p:sp>
      <p:sp>
        <p:nvSpPr>
          <p:cNvPr id="10" name="Rounded Rectangle 9"/>
          <p:cNvSpPr/>
          <p:nvPr/>
        </p:nvSpPr>
        <p:spPr>
          <a:xfrm>
            <a:off x="640080" y="1700784"/>
            <a:ext cx="5943600" cy="1243584"/>
          </a:xfrm>
          <a:prstGeom prst="roundRect">
            <a:avLst>
              <a:gd name="adj" fmla="val 3000"/>
            </a:avLst>
          </a:prstGeom>
          <a:solidFill>
            <a:srgbClr val="13404E"/>
          </a:solid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35E0C4"/>
                </a:solidFill>
                <a:latin typeface="Calibri"/>
              </a:rPr>
              <a:t>Past wel</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8BA5C0"/>
                </a:solidFill>
                <a:latin typeface="Calibri"/>
              </a:rPr>
              <a:t>op zestien bedden</a:t>
            </a:r>
          </a:p>
        </p:txBody>
      </p:sp>
      <p:sp>
        <p:nvSpPr>
          <p:cNvPr id="13" name="Rounded Rectangle 12"/>
          <p:cNvSpPr/>
          <p:nvPr/>
        </p:nvSpPr>
        <p:spPr>
          <a:xfrm>
            <a:off x="640080" y="3163824"/>
            <a:ext cx="5943600" cy="60350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35E0C4">
              <a:alpha val="16000"/>
            </a:srgbClr>
          </a:solidFill>
          <a:ln w="15875">
            <a:solidFill>
              <a:srgbClr val="35E0C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5E0C4"/>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EAF2FA"/>
                </a:solidFill>
                <a:latin typeface="Calibri"/>
              </a:rPr>
              <a:t>Weigerkans onbekend</a:t>
            </a:r>
          </a:p>
          <a:p>
            <a:pPr algn="l">
              <a:lnSpc>
                <a:spcPct val="120000"/>
              </a:lnSpc>
              <a:spcAft>
                <a:spcPts val="0"/>
              </a:spcAft>
            </a:pPr>
            <a:r>
              <a:rPr sz="1000" b="0">
                <a:solidFill>
                  <a:srgbClr val="5F7B9A"/>
                </a:solidFill>
                <a:latin typeface="Calibri"/>
              </a:rPr>
              <a:t>het risico is niet becijferd</a:t>
            </a:r>
          </a:p>
        </p:txBody>
      </p:sp>
      <p:sp>
        <p:nvSpPr>
          <p:cNvPr id="16" name="Rounded Rectangle 15"/>
          <p:cNvSpPr/>
          <p:nvPr/>
        </p:nvSpPr>
        <p:spPr>
          <a:xfrm>
            <a:off x="640080" y="3858768"/>
            <a:ext cx="5943600" cy="60350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35E0C4">
              <a:alpha val="16000"/>
            </a:srgbClr>
          </a:solidFill>
          <a:ln w="15875">
            <a:solidFill>
              <a:srgbClr val="35E0C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5E0C4"/>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EAF2FA"/>
                </a:solidFill>
                <a:latin typeface="Calibri"/>
              </a:rPr>
              <a:t>EHH nog niet belegd</a:t>
            </a:r>
          </a:p>
          <a:p>
            <a:pPr algn="l">
              <a:lnSpc>
                <a:spcPct val="120000"/>
              </a:lnSpc>
              <a:spcAft>
                <a:spcPts val="0"/>
              </a:spcAft>
            </a:pPr>
            <a:r>
              <a:rPr sz="1000" b="0">
                <a:solidFill>
                  <a:srgbClr val="5F7B9A"/>
                </a:solidFill>
                <a:latin typeface="Calibri"/>
              </a:rPr>
              <a:t>apart, of toch bij de acute poort?</a:t>
            </a:r>
          </a:p>
        </p:txBody>
      </p:sp>
      <p:sp>
        <p:nvSpPr>
          <p:cNvPr id="19" name="Rounded Rectangle 18"/>
          <p:cNvSpPr/>
          <p:nvPr/>
        </p:nvSpPr>
        <p:spPr>
          <a:xfrm>
            <a:off x="640080" y="4553712"/>
            <a:ext cx="5943600" cy="60350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35E0C4">
              <a:alpha val="16000"/>
            </a:srgbClr>
          </a:solidFill>
          <a:ln w="15875">
            <a:solidFill>
              <a:srgbClr val="35E0C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35E0C4"/>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EAF2FA"/>
                </a:solidFill>
                <a:latin typeface="Calibri"/>
              </a:rPr>
              <a:t>Personele verdeling open</a:t>
            </a:r>
          </a:p>
          <a:p>
            <a:pPr algn="l">
              <a:lnSpc>
                <a:spcPct val="120000"/>
              </a:lnSpc>
              <a:spcAft>
                <a:spcPts val="0"/>
              </a:spcAft>
            </a:pPr>
            <a:r>
              <a:rPr sz="1000" b="0">
                <a:solidFill>
                  <a:srgbClr val="5F7B9A"/>
                </a:solidFill>
                <a:latin typeface="Calibri"/>
              </a:rPr>
              <a:t>waar komt het personeel vandaan?</a:t>
            </a:r>
          </a:p>
        </p:txBody>
      </p:sp>
      <p:sp>
        <p:nvSpPr>
          <p:cNvPr id="22" name="Rounded Rectangle 21"/>
          <p:cNvSpPr/>
          <p:nvPr/>
        </p:nvSpPr>
        <p:spPr>
          <a:xfrm>
            <a:off x="6949440" y="1700784"/>
            <a:ext cx="4602175" cy="307238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5F7B9A"/>
                </a:solidFill>
                <a:latin typeface="Calibri"/>
              </a:rPr>
              <a:t>WAT NOG OPEN STAAT</a:t>
            </a:r>
          </a:p>
        </p:txBody>
      </p:sp>
      <p:sp>
        <p:nvSpPr>
          <p:cNvPr id="24" name="Rounded Rectangle 23"/>
          <p:cNvSpPr/>
          <p:nvPr/>
        </p:nvSpPr>
        <p:spPr>
          <a:xfrm>
            <a:off x="7187184" y="2304288"/>
            <a:ext cx="4126687" cy="658368"/>
          </a:xfrm>
          <a:prstGeom prst="roundRect">
            <a:avLst>
              <a:gd name="adj" fmla="val 3000"/>
            </a:avLst>
          </a:prstGeom>
          <a:solidFill>
            <a:srgbClr val="16314F"/>
          </a:solidFill>
          <a:ln w="12700">
            <a:solidFill>
              <a:srgbClr val="2A54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35E0C4"/>
                </a:solidFill>
                <a:latin typeface="Calibri"/>
              </a:rPr>
              <a:t>16 bedden</a:t>
            </a:r>
          </a:p>
          <a:p>
            <a:pPr algn="l">
              <a:lnSpc>
                <a:spcPct val="120000"/>
              </a:lnSpc>
              <a:spcAft>
                <a:spcPts val="0"/>
              </a:spcAft>
            </a:pPr>
            <a:r>
              <a:rPr sz="1000" b="0">
                <a:solidFill>
                  <a:srgbClr val="8BA5C0"/>
                </a:solidFill>
                <a:latin typeface="Calibri"/>
              </a:rPr>
              <a:t>vastgesteld</a:t>
            </a:r>
          </a:p>
        </p:txBody>
      </p:sp>
      <p:sp>
        <p:nvSpPr>
          <p:cNvPr id="26" name="Rounded Rectangle 25"/>
          <p:cNvSpPr/>
          <p:nvPr/>
        </p:nvSpPr>
        <p:spPr>
          <a:xfrm>
            <a:off x="7187184" y="3072384"/>
            <a:ext cx="4126687" cy="658368"/>
          </a:xfrm>
          <a:prstGeom prst="roundRect">
            <a:avLst>
              <a:gd name="adj" fmla="val 3000"/>
            </a:avLst>
          </a:prstGeom>
          <a:solidFill>
            <a:srgbClr val="16314F"/>
          </a:solidFill>
          <a:ln w="12700">
            <a:solidFill>
              <a:srgbClr val="2A54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FFB547"/>
                </a:solidFill>
                <a:latin typeface="Calibri"/>
              </a:rPr>
              <a:t>weigerkans</a:t>
            </a:r>
          </a:p>
          <a:p>
            <a:pPr algn="l">
              <a:lnSpc>
                <a:spcPct val="120000"/>
              </a:lnSpc>
              <a:spcAft>
                <a:spcPts val="0"/>
              </a:spcAft>
            </a:pPr>
            <a:r>
              <a:rPr sz="1000" b="0">
                <a:solidFill>
                  <a:srgbClr val="8BA5C0"/>
                </a:solidFill>
                <a:latin typeface="Calibri"/>
              </a:rPr>
              <a:t>nog niet bekend</a:t>
            </a:r>
          </a:p>
        </p:txBody>
      </p:sp>
      <p:sp>
        <p:nvSpPr>
          <p:cNvPr id="28" name="Rounded Rectangle 27"/>
          <p:cNvSpPr/>
          <p:nvPr/>
        </p:nvSpPr>
        <p:spPr>
          <a:xfrm>
            <a:off x="7187184" y="3840480"/>
            <a:ext cx="4126687" cy="658368"/>
          </a:xfrm>
          <a:prstGeom prst="roundRect">
            <a:avLst>
              <a:gd name="adj" fmla="val 3000"/>
            </a:avLst>
          </a:prstGeom>
          <a:solidFill>
            <a:srgbClr val="16314F"/>
          </a:solidFill>
          <a:ln w="12700">
            <a:solidFill>
              <a:srgbClr val="2A548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FFB547"/>
                </a:solidFill>
                <a:latin typeface="Calibri"/>
              </a:rPr>
              <a:t>EHH erbij?</a:t>
            </a:r>
          </a:p>
          <a:p>
            <a:pPr algn="l">
              <a:lnSpc>
                <a:spcPct val="120000"/>
              </a:lnSpc>
              <a:spcAft>
                <a:spcPts val="0"/>
              </a:spcAft>
            </a:pPr>
            <a:r>
              <a:rPr sz="1000" b="0">
                <a:solidFill>
                  <a:srgbClr val="8BA5C0"/>
                </a:solidFill>
                <a:latin typeface="Calibri"/>
              </a:rPr>
              <a:t>nog te beslissen</a:t>
            </a:r>
          </a:p>
        </p:txBody>
      </p:sp>
      <p:sp>
        <p:nvSpPr>
          <p:cNvPr id="30" name="Rounded Rectangle 29"/>
          <p:cNvSpPr/>
          <p:nvPr/>
        </p:nvSpPr>
        <p:spPr>
          <a:xfrm>
            <a:off x="640080" y="5358383"/>
            <a:ext cx="10911535" cy="786384"/>
          </a:xfrm>
          <a:prstGeom prst="roundRect">
            <a:avLst>
              <a:gd name="adj" fmla="val 3000"/>
            </a:avLst>
          </a:prstGeom>
          <a:solidFill>
            <a:srgbClr val="383C3B"/>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50976" y="5440679"/>
            <a:ext cx="10289743"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FFB547"/>
                </a:solidFill>
                <a:latin typeface="Calibri"/>
              </a:rPr>
              <a:t>WAT ER NOG MOET GEBEUREN</a:t>
            </a:r>
          </a:p>
          <a:p>
            <a:pPr algn="l">
              <a:lnSpc>
                <a:spcPct val="120000"/>
              </a:lnSpc>
              <a:spcAft>
                <a:spcPts val="0"/>
              </a:spcAft>
            </a:pPr>
            <a:r>
              <a:rPr sz="1250" b="1">
                <a:solidFill>
                  <a:srgbClr val="EAF2FA"/>
                </a:solidFill>
                <a:latin typeface="Calibri"/>
              </a:rPr>
              <a:t>De uitkomst is positief, maar zonder weigerkans en zonder besluit over de EHH is het beeld niet compleet.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FFB547"/>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Waar valt de EHH onder?</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Deze ene keuze bepaalt beide analyses en de personele inzet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16</a:t>
            </a:r>
          </a:p>
        </p:txBody>
      </p:sp>
      <p:sp>
        <p:nvSpPr>
          <p:cNvPr id="10" name="Rounded Rectangle 9"/>
          <p:cNvSpPr/>
          <p:nvPr/>
        </p:nvSpPr>
        <p:spPr>
          <a:xfrm>
            <a:off x="2103120" y="1700784"/>
            <a:ext cx="7985455" cy="1060704"/>
          </a:xfrm>
          <a:prstGeom prst="roundRect">
            <a:avLst>
              <a:gd name="adj" fmla="val 3000"/>
            </a:avLst>
          </a:prstGeom>
          <a:solidFill>
            <a:srgbClr val="41423B"/>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103120" y="1847088"/>
            <a:ext cx="7985455" cy="548640"/>
          </a:xfrm>
          <a:prstGeom prst="rect">
            <a:avLst/>
          </a:prstGeom>
          <a:noFill/>
        </p:spPr>
        <p:txBody>
          <a:bodyPr wrap="square" lIns="0" rIns="0" tIns="0" bIns="0" anchor="t">
            <a:spAutoFit/>
          </a:bodyPr>
          <a:lstStyle/>
          <a:p>
            <a:pPr algn="ctr">
              <a:lnSpc>
                <a:spcPct val="120000"/>
              </a:lnSpc>
              <a:spcAft>
                <a:spcPts val="0"/>
              </a:spcAft>
            </a:pPr>
            <a:r>
              <a:rPr sz="3400" b="1">
                <a:solidFill>
                  <a:srgbClr val="FFB547"/>
                </a:solidFill>
                <a:latin typeface="Calibri"/>
              </a:rPr>
              <a:t>Bij 1 of bij 2?</a:t>
            </a:r>
          </a:p>
        </p:txBody>
      </p:sp>
      <p:sp>
        <p:nvSpPr>
          <p:cNvPr id="12" name="TextBox 11"/>
          <p:cNvSpPr txBox="1"/>
          <p:nvPr/>
        </p:nvSpPr>
        <p:spPr>
          <a:xfrm>
            <a:off x="2103120" y="2414016"/>
            <a:ext cx="7985455" cy="274320"/>
          </a:xfrm>
          <a:prstGeom prst="rect">
            <a:avLst/>
          </a:prstGeom>
          <a:noFill/>
        </p:spPr>
        <p:txBody>
          <a:bodyPr wrap="square" lIns="0" rIns="0" tIns="0" bIns="0" anchor="t">
            <a:spAutoFit/>
          </a:bodyPr>
          <a:lstStyle/>
          <a:p>
            <a:pPr algn="ctr">
              <a:lnSpc>
                <a:spcPct val="120000"/>
              </a:lnSpc>
              <a:spcAft>
                <a:spcPts val="0"/>
              </a:spcAft>
            </a:pPr>
            <a:r>
              <a:rPr sz="1250" b="0">
                <a:solidFill>
                  <a:srgbClr val="8BA5C0"/>
                </a:solidFill>
                <a:latin typeface="Calibri"/>
              </a:rPr>
              <a:t>bij de acute poort, of bij de Hotfloor</a:t>
            </a:r>
          </a:p>
        </p:txBody>
      </p:sp>
      <p:sp>
        <p:nvSpPr>
          <p:cNvPr id="13" name="Freeform 12"/>
          <p:cNvSpPr/>
          <p:nvPr/>
        </p:nvSpPr>
        <p:spPr>
          <a:xfrm>
            <a:off x="3253663" y="2779776"/>
            <a:ext cx="2842184" cy="274320"/>
          </a:xfrm>
          <a:custGeom>
            <a:avLst/>
            <a:gdLst/>
            <a:ahLst/>
            <a:cxnLst/>
            <a:rect l="l" t="t" r="r" b="b"/>
            <a:pathLst>
              <a:path w="2842184" h="274320">
                <a:moveTo>
                  <a:pt x="2842184" y="0"/>
                </a:moveTo>
                <a:lnTo>
                  <a:pt x="2842184" y="109728"/>
                </a:lnTo>
                <a:lnTo>
                  <a:pt x="0" y="109728"/>
                </a:lnTo>
                <a:lnTo>
                  <a:pt x="0" y="274320"/>
                </a:lnTo>
              </a:path>
            </a:pathLst>
          </a:custGeom>
          <a:noFill/>
          <a:ln w="19050">
            <a:solidFill>
              <a:srgbClr val="927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3072384"/>
            <a:ext cx="5227167" cy="1920240"/>
          </a:xfrm>
          <a:prstGeom prst="roundRect">
            <a:avLst>
              <a:gd name="adj" fmla="val 3000"/>
            </a:avLst>
          </a:prstGeom>
          <a:solidFill>
            <a:srgbClr val="13304D"/>
          </a:solidFill>
          <a:ln w="15875">
            <a:solidFill>
              <a:srgbClr val="28588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04671" y="3218688"/>
            <a:ext cx="512064" cy="512064"/>
          </a:xfrm>
          <a:prstGeom prst="ellipse">
            <a:avLst/>
          </a:prstGeom>
          <a:solidFill>
            <a:srgbClr val="4A9BE8">
              <a:alpha val="16000"/>
            </a:srgbClr>
          </a:solidFill>
          <a:ln w="15875">
            <a:solidFill>
              <a:srgbClr val="4A9BE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4A9BE8"/>
                </a:solidFill>
                <a:latin typeface="Calibri"/>
              </a:rPr>
              <a:t>1</a:t>
            </a:r>
          </a:p>
        </p:txBody>
      </p:sp>
      <p:sp>
        <p:nvSpPr>
          <p:cNvPr id="16" name="TextBox 15"/>
          <p:cNvSpPr txBox="1"/>
          <p:nvPr/>
        </p:nvSpPr>
        <p:spPr>
          <a:xfrm>
            <a:off x="1426464"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4A9BE8"/>
                </a:solidFill>
                <a:latin typeface="Calibri"/>
              </a:rPr>
              <a:t>Acute poort</a:t>
            </a:r>
          </a:p>
        </p:txBody>
      </p:sp>
      <p:sp>
        <p:nvSpPr>
          <p:cNvPr id="17" name="TextBox 16"/>
          <p:cNvSpPr txBox="1"/>
          <p:nvPr/>
        </p:nvSpPr>
        <p:spPr>
          <a:xfrm>
            <a:off x="896112"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EAF2FA"/>
                </a:solidFill>
                <a:latin typeface="Calibri"/>
              </a:rPr>
              <a:t>SEH · kind · EHH</a:t>
            </a:r>
          </a:p>
        </p:txBody>
      </p:sp>
      <p:cxnSp>
        <p:nvCxnSpPr>
          <p:cNvPr id="18" name="Connector 17"/>
          <p:cNvCxnSpPr/>
          <p:nvPr/>
        </p:nvCxnSpPr>
        <p:spPr>
          <a:xfrm>
            <a:off x="896112" y="4169664"/>
            <a:ext cx="4715103" cy="0"/>
          </a:xfrm>
          <a:prstGeom prst="line">
            <a:avLst/>
          </a:prstGeom>
          <a:ln w="12700">
            <a:solidFill>
              <a:srgbClr val="28588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96112"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8BA5C0"/>
                </a:solidFill>
                <a:latin typeface="Calibri"/>
              </a:rPr>
              <a:t>De EHH telt mee in de plekken van de acute poort, die nu al te klein is.</a:t>
            </a:r>
          </a:p>
        </p:txBody>
      </p:sp>
      <p:sp>
        <p:nvSpPr>
          <p:cNvPr id="20" name="Freeform 19"/>
          <p:cNvSpPr/>
          <p:nvPr/>
        </p:nvSpPr>
        <p:spPr>
          <a:xfrm>
            <a:off x="6095847" y="2779776"/>
            <a:ext cx="2842184" cy="274320"/>
          </a:xfrm>
          <a:custGeom>
            <a:avLst/>
            <a:gdLst/>
            <a:ahLst/>
            <a:cxnLst/>
            <a:rect l="l" t="t" r="r" b="b"/>
            <a:pathLst>
              <a:path w="2842184" h="274320">
                <a:moveTo>
                  <a:pt x="0" y="0"/>
                </a:moveTo>
                <a:lnTo>
                  <a:pt x="0" y="109728"/>
                </a:lnTo>
                <a:lnTo>
                  <a:pt x="2842184" y="109728"/>
                </a:lnTo>
                <a:lnTo>
                  <a:pt x="2842184" y="274320"/>
                </a:lnTo>
              </a:path>
            </a:pathLst>
          </a:custGeom>
          <a:noFill/>
          <a:ln w="19050">
            <a:solidFill>
              <a:srgbClr val="927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447" y="3072384"/>
            <a:ext cx="5227167" cy="1920240"/>
          </a:xfrm>
          <a:prstGeom prst="roundRect">
            <a:avLst>
              <a:gd name="adj" fmla="val 3000"/>
            </a:avLst>
          </a:prstGeom>
          <a:solidFill>
            <a:srgbClr val="113849"/>
          </a:solidFill>
          <a:ln w="15875">
            <a:solidFill>
              <a:srgbClr val="1E777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89039" y="3218688"/>
            <a:ext cx="512064" cy="512064"/>
          </a:xfrm>
          <a:prstGeom prst="ellipse">
            <a:avLst/>
          </a:prstGeom>
          <a:solidFill>
            <a:srgbClr val="35E0C4">
              <a:alpha val="16000"/>
            </a:srgbClr>
          </a:solidFill>
          <a:ln w="15875">
            <a:solidFill>
              <a:srgbClr val="35E0C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35E0C4"/>
                </a:solidFill>
                <a:latin typeface="Calibri"/>
              </a:rPr>
              <a:t>2</a:t>
            </a:r>
          </a:p>
        </p:txBody>
      </p:sp>
      <p:sp>
        <p:nvSpPr>
          <p:cNvPr id="23" name="TextBox 22"/>
          <p:cNvSpPr txBox="1"/>
          <p:nvPr/>
        </p:nvSpPr>
        <p:spPr>
          <a:xfrm>
            <a:off x="7110831"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35E0C4"/>
                </a:solidFill>
                <a:latin typeface="Calibri"/>
              </a:rPr>
              <a:t>Hotfloor</a:t>
            </a:r>
          </a:p>
        </p:txBody>
      </p:sp>
      <p:sp>
        <p:nvSpPr>
          <p:cNvPr id="24" name="TextBox 23"/>
          <p:cNvSpPr txBox="1"/>
          <p:nvPr/>
        </p:nvSpPr>
        <p:spPr>
          <a:xfrm>
            <a:off x="6580479"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EAF2FA"/>
                </a:solidFill>
                <a:latin typeface="Calibri"/>
              </a:rPr>
              <a:t>ICU · CCU / SCU · EHH</a:t>
            </a:r>
          </a:p>
        </p:txBody>
      </p:sp>
      <p:cxnSp>
        <p:nvCxnSpPr>
          <p:cNvPr id="25" name="Connector 24"/>
          <p:cNvCxnSpPr/>
          <p:nvPr/>
        </p:nvCxnSpPr>
        <p:spPr>
          <a:xfrm>
            <a:off x="6580479" y="4169664"/>
            <a:ext cx="4715104" cy="0"/>
          </a:xfrm>
          <a:prstGeom prst="line">
            <a:avLst/>
          </a:prstGeom>
          <a:ln w="12700">
            <a:solidFill>
              <a:srgbClr val="1E777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0479"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8BA5C0"/>
                </a:solidFill>
                <a:latin typeface="Calibri"/>
              </a:rPr>
              <a:t>De EHH komt bij de zestien bedden, en het personeel komt van ICU of CCU.</a:t>
            </a:r>
          </a:p>
        </p:txBody>
      </p:sp>
      <p:sp>
        <p:nvSpPr>
          <p:cNvPr id="27" name="Rounded Rectangle 26"/>
          <p:cNvSpPr/>
          <p:nvPr/>
        </p:nvSpPr>
        <p:spPr>
          <a:xfrm>
            <a:off x="640080" y="5358383"/>
            <a:ext cx="10911535" cy="786384"/>
          </a:xfrm>
          <a:prstGeom prst="roundRect">
            <a:avLst>
              <a:gd name="adj" fmla="val 3000"/>
            </a:avLst>
          </a:prstGeom>
          <a:solidFill>
            <a:srgbClr val="383C3B"/>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40080" y="5358383"/>
            <a:ext cx="50292" cy="786384"/>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50976" y="5440679"/>
            <a:ext cx="10289743"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FFB547"/>
                </a:solidFill>
                <a:latin typeface="Calibri"/>
              </a:rPr>
              <a:t>EN DAARNA?</a:t>
            </a:r>
          </a:p>
          <a:p>
            <a:pPr algn="l">
              <a:lnSpc>
                <a:spcPct val="120000"/>
              </a:lnSpc>
              <a:spcAft>
                <a:spcPts val="0"/>
              </a:spcAft>
            </a:pPr>
            <a:r>
              <a:rPr sz="1250" b="1">
                <a:solidFill>
                  <a:srgbClr val="EAF2FA"/>
                </a:solidFill>
                <a:latin typeface="Calibri"/>
              </a:rPr>
              <a:t>De analyses zijn gedaan en de knelpunten zijn gedeeld. Wat wordt daarmee gedaan, en welke acties volgen eruit? Of concluderen we dat het past en gaan we ermee aan de slag?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046719" y="2743200"/>
            <a:ext cx="4389120" cy="4389120"/>
          </a:xfrm>
          <a:prstGeom prst="ellipse">
            <a:avLst/>
          </a:prstGeom>
          <a:solidFill>
            <a:srgbClr val="FFB547">
              <a:alpha val="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85632" y="3182112"/>
            <a:ext cx="3511296" cy="3511296"/>
          </a:xfrm>
          <a:prstGeom prst="ellipse">
            <a:avLst/>
          </a:prstGeom>
          <a:solidFill>
            <a:srgbClr val="FFB547">
              <a:alpha val="1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924544" y="3621024"/>
            <a:ext cx="2633472" cy="2633472"/>
          </a:xfrm>
          <a:prstGeom prst="ellipse">
            <a:avLst/>
          </a:prstGeom>
          <a:solidFill>
            <a:srgbClr val="FFB547">
              <a:alpha val="1333"/>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363455" y="4059936"/>
            <a:ext cx="1755648" cy="1755648"/>
          </a:xfrm>
          <a:prstGeom prst="ellipse">
            <a:avLst/>
          </a:prstGeom>
          <a:solidFill>
            <a:srgbClr val="FFB547">
              <a:alpha val="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802367" y="4498848"/>
            <a:ext cx="877824" cy="877824"/>
          </a:xfrm>
          <a:prstGeom prst="ellipse">
            <a:avLst/>
          </a:prstGeom>
          <a:solidFill>
            <a:srgbClr val="FFB547">
              <a:alpha val="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EAF2FA">
                    <a:alpha val="6000"/>
                  </a:srgbClr>
                </a:solidFill>
                <a:latin typeface="Calibri"/>
              </a:rPr>
              <a:t>04</a:t>
            </a:r>
          </a:p>
        </p:txBody>
      </p:sp>
      <p:sp>
        <p:nvSpPr>
          <p:cNvPr id="9" name="TextBox 8"/>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FFB547"/>
                </a:solidFill>
                <a:latin typeface="Calibri"/>
              </a:rPr>
              <a:t>DEEL 04</a:t>
            </a:r>
          </a:p>
        </p:txBody>
      </p:sp>
      <p:sp>
        <p:nvSpPr>
          <p:cNvPr id="10" name="TextBox 9"/>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EAF2FA"/>
                </a:solidFill>
                <a:latin typeface="Calibri"/>
              </a:rPr>
              <a:t>Wat moet er besloten worden</a:t>
            </a:r>
          </a:p>
        </p:txBody>
      </p:sp>
      <p:cxnSp>
        <p:nvCxnSpPr>
          <p:cNvPr id="11" name="Connector 10"/>
          <p:cNvCxnSpPr/>
          <p:nvPr/>
        </p:nvCxnSpPr>
        <p:spPr>
          <a:xfrm>
            <a:off x="640080" y="3584448"/>
            <a:ext cx="2377440" cy="0"/>
          </a:xfrm>
          <a:prstGeom prst="line">
            <a:avLst/>
          </a:prstGeom>
          <a:ln w="25400">
            <a:solidFill>
              <a:srgbClr val="FFB547"/>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49224" y="3895344"/>
            <a:ext cx="109728" cy="109728"/>
          </a:xfrm>
          <a:prstGeom prst="ellipse">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8BA5C0"/>
                </a:solidFill>
                <a:latin typeface="Calibri"/>
              </a:rPr>
              <a:t>Wat we per situatie weten</a:t>
            </a:r>
          </a:p>
        </p:txBody>
      </p:sp>
      <p:sp>
        <p:nvSpPr>
          <p:cNvPr id="14" name="Oval 13"/>
          <p:cNvSpPr/>
          <p:nvPr/>
        </p:nvSpPr>
        <p:spPr>
          <a:xfrm>
            <a:off x="649224" y="4279392"/>
            <a:ext cx="109728" cy="109728"/>
          </a:xfrm>
          <a:prstGeom prst="ellipse">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8BA5C0"/>
                </a:solidFill>
                <a:latin typeface="Calibri"/>
              </a:rPr>
              <a:t>Zesendertig vragen en zes besluiten</a:t>
            </a:r>
          </a:p>
        </p:txBody>
      </p:sp>
      <p:sp>
        <p:nvSpPr>
          <p:cNvPr id="16" name="Freeform 15"/>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FFB547">
                <a:alpha val="2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19" name="TextBox 1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35E0C4"/>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Wat weten we per situatie</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Fysieke planning naast personele inzet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18</a:t>
            </a:r>
          </a:p>
        </p:txBody>
      </p:sp>
      <p:graphicFrame>
        <p:nvGraphicFramePr>
          <p:cNvPr id="10" name="Table 9"/>
          <p:cNvGraphicFramePr>
            <a:graphicFrameLocks noGrp="1"/>
          </p:cNvGraphicFramePr>
          <p:nvPr/>
        </p:nvGraphicFramePr>
        <p:xfrm>
          <a:off x="640080" y="1700784"/>
          <a:ext cx="10911535" cy="2852928"/>
        </p:xfrm>
        <a:graphic>
          <a:graphicData uri="http://schemas.openxmlformats.org/drawingml/2006/table">
            <a:tbl>
              <a:tblPr>
                <a:tableStyleId>{5C22544A-7EE6-4342-B048-85BDC9FD1C3A}</a:tableStyleId>
              </a:tblPr>
              <a:tblGrid>
                <a:gridCol w="2286000"/>
                <a:gridCol w="4343400"/>
                <a:gridCol w="4282135"/>
              </a:tblGrid>
              <a:tr h="347472">
                <a:tc>
                  <a:txBody>
                    <a:bodyPr wrap="square"/>
                    <a:lstStyle/>
                    <a:p>
                      <a:pPr algn="l">
                        <a:spcAft>
                          <a:spcPts val="200"/>
                        </a:spcAft>
                      </a:pPr>
                      <a:r>
                        <a:rPr sz="950" b="1">
                          <a:solidFill>
                            <a:srgbClr val="35E0C4"/>
                          </a:solidFill>
                          <a:latin typeface="Calibri"/>
                        </a:rPr>
                        <a:t>SITUATIE</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l">
                        <a:spcAft>
                          <a:spcPts val="200"/>
                        </a:spcAft>
                      </a:pPr>
                      <a:r>
                        <a:rPr sz="950" b="1">
                          <a:solidFill>
                            <a:srgbClr val="35E0C4"/>
                          </a:solidFill>
                          <a:latin typeface="Calibri"/>
                        </a:rPr>
                        <a:t>FYSIEKE PLANNING</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l">
                        <a:spcAft>
                          <a:spcPts val="200"/>
                        </a:spcAft>
                      </a:pPr>
                      <a:r>
                        <a:rPr sz="950" b="1">
                          <a:solidFill>
                            <a:srgbClr val="35E0C4"/>
                          </a:solidFill>
                          <a:latin typeface="Calibri"/>
                        </a:rPr>
                        <a:t>PERSONELE INZET · OPLEIDEN</a:t>
                      </a:r>
                    </a:p>
                  </a:txBody>
                  <a:tcPr marL="91440" marR="91440" marT="36576" marB="36576" anchor="ctr">
                    <a:solidFill>
                      <a:srgbClr val="05101E"/>
                    </a:solidFill>
                    <a:lnL w="0">
                      <a:noFill/>
                    </a:lnL>
                    <a:lnR w="0">
                      <a:noFill/>
                    </a:lnR>
                    <a:lnT w="0">
                      <a:noFill/>
                    </a:lnT>
                    <a:lnB w="6350" cap="flat">
                      <a:solidFill>
                        <a:srgbClr val="1D3B5E"/>
                      </a:solidFill>
                    </a:lnB>
                  </a:tcPr>
                </a:tc>
              </a:tr>
              <a:tr h="566928">
                <a:tc>
                  <a:txBody>
                    <a:bodyPr wrap="square"/>
                    <a:lstStyle/>
                    <a:p>
                      <a:pPr algn="l">
                        <a:spcAft>
                          <a:spcPts val="200"/>
                        </a:spcAft>
                      </a:pPr>
                      <a:r>
                        <a:rPr sz="1150" b="1">
                          <a:solidFill>
                            <a:srgbClr val="EAF2FA"/>
                          </a:solidFill>
                          <a:latin typeface="Calibri"/>
                        </a:rPr>
                        <a:t>Oudbouw</a:t>
                      </a:r>
                    </a:p>
                    <a:p>
                      <a:pPr algn="l">
                        <a:spcAft>
                          <a:spcPts val="200"/>
                        </a:spcAft>
                      </a:pPr>
                      <a:r>
                        <a:rPr sz="1150" b="1">
                          <a:solidFill>
                            <a:srgbClr val="EAF2FA"/>
                          </a:solidFill>
                          <a:latin typeface="Calibri"/>
                        </a:rPr>
                        <a:t>okt 2026 - mei 2027</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150" b="0">
                          <a:solidFill>
                            <a:srgbClr val="8BA5C0"/>
                          </a:solidFill>
                          <a:latin typeface="Calibri"/>
                        </a:rPr>
                        <a:t>Zie de vijf scenario's (dia 12)</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150" b="0">
                          <a:solidFill>
                            <a:srgbClr val="5F7B9A"/>
                          </a:solidFill>
                          <a:latin typeface="Calibri"/>
                        </a:rPr>
                        <a:t>nog niet ingevuld</a:t>
                      </a:r>
                    </a:p>
                  </a:txBody>
                  <a:tcPr marL="91440" marR="91440" marT="36576" marB="36576" anchor="ctr">
                    <a:solidFill>
                      <a:srgbClr val="0F2440"/>
                    </a:solidFill>
                    <a:lnL w="0">
                      <a:noFill/>
                    </a:lnL>
                    <a:lnR w="0">
                      <a:noFill/>
                    </a:lnR>
                    <a:lnT w="0">
                      <a:noFill/>
                    </a:lnT>
                    <a:lnB w="6350" cap="flat">
                      <a:solidFill>
                        <a:srgbClr val="1D3B5E"/>
                      </a:solidFill>
                    </a:lnB>
                  </a:tcPr>
                </a:tc>
              </a:tr>
              <a:tr h="566928">
                <a:tc>
                  <a:txBody>
                    <a:bodyPr wrap="square"/>
                    <a:lstStyle/>
                    <a:p>
                      <a:pPr algn="l">
                        <a:spcAft>
                          <a:spcPts val="200"/>
                        </a:spcAft>
                      </a:pPr>
                      <a:r>
                        <a:rPr sz="1150" b="1">
                          <a:solidFill>
                            <a:srgbClr val="EAF2FA"/>
                          </a:solidFill>
                          <a:latin typeface="Calibri"/>
                        </a:rPr>
                        <a:t>Verhuisperiode</a:t>
                      </a:r>
                    </a:p>
                    <a:p>
                      <a:pPr algn="l">
                        <a:spcAft>
                          <a:spcPts val="200"/>
                        </a:spcAft>
                      </a:pPr>
                      <a:r>
                        <a:rPr sz="1150" b="1">
                          <a:solidFill>
                            <a:srgbClr val="EAF2FA"/>
                          </a:solidFill>
                          <a:latin typeface="Calibri"/>
                        </a:rPr>
                        <a:t>juni 2027</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150" b="0">
                          <a:solidFill>
                            <a:srgbClr val="5F7B9A"/>
                          </a:solidFill>
                          <a:latin typeface="Calibri"/>
                        </a:rPr>
                        <a:t>nog niet ingevuld</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150" b="0">
                          <a:solidFill>
                            <a:srgbClr val="5F7B9A"/>
                          </a:solidFill>
                          <a:latin typeface="Calibri"/>
                        </a:rPr>
                        <a:t>nog niet ingevuld</a:t>
                      </a:r>
                    </a:p>
                  </a:txBody>
                  <a:tcPr marL="91440" marR="91440" marT="36576" marB="36576" anchor="ctr">
                    <a:solidFill>
                      <a:srgbClr val="16314F"/>
                    </a:solidFill>
                    <a:lnL w="0">
                      <a:noFill/>
                    </a:lnL>
                    <a:lnR w="0">
                      <a:noFill/>
                    </a:lnR>
                    <a:lnT w="0">
                      <a:noFill/>
                    </a:lnT>
                    <a:lnB w="6350" cap="flat">
                      <a:solidFill>
                        <a:srgbClr val="1D3B5E"/>
                      </a:solidFill>
                    </a:lnB>
                  </a:tcPr>
                </a:tc>
              </a:tr>
              <a:tr h="1371600">
                <a:tc>
                  <a:txBody>
                    <a:bodyPr wrap="square"/>
                    <a:lstStyle/>
                    <a:p>
                      <a:pPr algn="l">
                        <a:spcAft>
                          <a:spcPts val="200"/>
                        </a:spcAft>
                      </a:pPr>
                      <a:r>
                        <a:rPr sz="1150" b="1">
                          <a:solidFill>
                            <a:srgbClr val="EAF2FA"/>
                          </a:solidFill>
                          <a:latin typeface="Calibri"/>
                        </a:rPr>
                        <a:t>Nieuwbouw</a:t>
                      </a:r>
                    </a:p>
                    <a:p>
                      <a:pPr algn="l">
                        <a:spcAft>
                          <a:spcPts val="200"/>
                        </a:spcAft>
                      </a:pPr>
                      <a:r>
                        <a:rPr sz="1150" b="1">
                          <a:solidFill>
                            <a:srgbClr val="EAF2FA"/>
                          </a:solidFill>
                          <a:latin typeface="Calibri"/>
                        </a:rPr>
                        <a:t>vanaf juni 2027</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050" b="0">
                          <a:solidFill>
                            <a:srgbClr val="8BA5C0"/>
                          </a:solidFill>
                          <a:latin typeface="Calibri"/>
                        </a:rPr>
                        <a:t>1   Waar komt de recoverypatiënt in avond, nacht en weekend?</a:t>
                      </a:r>
                    </a:p>
                    <a:p>
                      <a:pPr algn="l">
                        <a:spcAft>
                          <a:spcPts val="200"/>
                        </a:spcAft>
                      </a:pPr>
                      <a:r>
                        <a:rPr sz="1050" b="0">
                          <a:solidFill>
                            <a:srgbClr val="8BA5C0"/>
                          </a:solidFill>
                          <a:latin typeface="Calibri"/>
                        </a:rPr>
                        <a:t>2   Waar komt de cardioversie?</a:t>
                      </a:r>
                    </a:p>
                    <a:p>
                      <a:pPr algn="l">
                        <a:spcAft>
                          <a:spcPts val="200"/>
                        </a:spcAft>
                      </a:pPr>
                      <a:r>
                        <a:rPr sz="1050" b="0">
                          <a:solidFill>
                            <a:srgbClr val="8BA5C0"/>
                          </a:solidFill>
                          <a:latin typeface="Calibri"/>
                        </a:rPr>
                        <a:t>3   Hoort de EHH bij de SEH of bij de Hotfloor?</a:t>
                      </a:r>
                    </a:p>
                    <a:p>
                      <a:pPr algn="l">
                        <a:spcAft>
                          <a:spcPts val="200"/>
                        </a:spcAft>
                      </a:pPr>
                      <a:r>
                        <a:rPr sz="1050" b="0">
                          <a:solidFill>
                            <a:srgbClr val="8BA5C0"/>
                          </a:solidFill>
                          <a:latin typeface="Calibri"/>
                        </a:rPr>
                        <a:t>4   Komt de OSAS post-OK patiënt nog op de ICU?</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150" b="0">
                          <a:solidFill>
                            <a:srgbClr val="8BA5C0"/>
                          </a:solidFill>
                          <a:latin typeface="Calibri"/>
                        </a:rPr>
                        <a:t>1   Wat gebeurt er met de scopedienst van de CCU?</a:t>
                      </a:r>
                    </a:p>
                    <a:p>
                      <a:pPr algn="l">
                        <a:spcAft>
                          <a:spcPts val="200"/>
                        </a:spcAft>
                      </a:pPr>
                      <a:r>
                        <a:rPr sz="1150" b="0">
                          <a:solidFill>
                            <a:srgbClr val="8BA5C0"/>
                          </a:solidFill>
                          <a:latin typeface="Calibri"/>
                        </a:rPr>
                        <a:t>2   Welke norm geldt voor de Hotfloor?</a:t>
                      </a:r>
                    </a:p>
                    <a:p>
                      <a:pPr algn="l">
                        <a:spcAft>
                          <a:spcPts val="200"/>
                        </a:spcAft>
                      </a:pPr>
                      <a:r>
                        <a:rPr sz="1150" b="0">
                          <a:solidFill>
                            <a:srgbClr val="8BA5C0"/>
                          </a:solidFill>
                          <a:latin typeface="Calibri"/>
                        </a:rPr>
                        <a:t>3   Inzet kinderverpleegkundige op de SEH?</a:t>
                      </a:r>
                    </a:p>
                    <a:p>
                      <a:pPr algn="l">
                        <a:spcAft>
                          <a:spcPts val="200"/>
                        </a:spcAft>
                      </a:pPr>
                      <a:r>
                        <a:rPr sz="1150" b="0">
                          <a:solidFill>
                            <a:srgbClr val="8BA5C0"/>
                          </a:solidFill>
                          <a:latin typeface="Calibri"/>
                        </a:rPr>
                        <a:t>4   En verder</a:t>
                      </a:r>
                    </a:p>
                  </a:txBody>
                  <a:tcPr marL="91440" marR="91440" marT="36576" marB="36576" anchor="ctr">
                    <a:solidFill>
                      <a:srgbClr val="0F2440"/>
                    </a:solidFill>
                    <a:lnL w="0">
                      <a:noFill/>
                    </a:lnL>
                    <a:lnR w="0">
                      <a:noFill/>
                    </a:lnR>
                    <a:lnT w="0">
                      <a:noFill/>
                    </a:lnT>
                    <a:lnB w="6350" cap="flat">
                      <a:solidFill>
                        <a:srgbClr val="1D3B5E"/>
                      </a:solidFill>
                    </a:lnB>
                  </a:tcPr>
                </a:tc>
              </a:tr>
            </a:tbl>
          </a:graphicData>
        </a:graphic>
      </p:graphicFrame>
      <p:sp>
        <p:nvSpPr>
          <p:cNvPr id="11" name="Rounded Rectangle 10"/>
          <p:cNvSpPr/>
          <p:nvPr/>
        </p:nvSpPr>
        <p:spPr>
          <a:xfrm>
            <a:off x="640080" y="5394959"/>
            <a:ext cx="10911535" cy="822960"/>
          </a:xfrm>
          <a:prstGeom prst="roundRect">
            <a:avLst>
              <a:gd name="adj" fmla="val 3000"/>
            </a:avLst>
          </a:prstGeom>
          <a:solidFill>
            <a:srgbClr val="383C3B"/>
          </a:solidFill>
          <a:ln w="15875">
            <a:solidFill>
              <a:srgbClr val="7964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40080" y="5394959"/>
            <a:ext cx="50292" cy="822960"/>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0976" y="5477255"/>
            <a:ext cx="10289743"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FFB547"/>
                </a:solidFill>
                <a:latin typeface="Calibri"/>
              </a:rPr>
              <a:t>OPENSTAANDE VRAAG</a:t>
            </a:r>
          </a:p>
          <a:p>
            <a:pPr algn="l">
              <a:lnSpc>
                <a:spcPct val="120000"/>
              </a:lnSpc>
              <a:spcAft>
                <a:spcPts val="0"/>
              </a:spcAft>
            </a:pPr>
            <a:r>
              <a:rPr sz="1250" b="1">
                <a:solidFill>
                  <a:srgbClr val="EAF2FA"/>
                </a:solidFill>
                <a:latin typeface="Calibri"/>
              </a:rPr>
              <a:t>Voor de verhuisperiode is nog niets ingevuld: welke extra diensten zijn er nodig, en op welke locatie?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FFB547"/>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Zesendertig openstaande punten</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De vragen en knelpunten van Lonneke en Maxim, gegroepeerd</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19</a:t>
            </a:r>
          </a:p>
        </p:txBody>
      </p:sp>
      <p:sp>
        <p:nvSpPr>
          <p:cNvPr id="10" name="Rounded Rectangle 9"/>
          <p:cNvSpPr/>
          <p:nvPr/>
        </p:nvSpPr>
        <p:spPr>
          <a:xfrm>
            <a:off x="640080" y="1792224"/>
            <a:ext cx="3454298" cy="170078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96112" y="1920240"/>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4A9BE8"/>
                </a:solidFill>
                <a:latin typeface="Calibri"/>
              </a:rPr>
              <a:t>7</a:t>
            </a:r>
          </a:p>
        </p:txBody>
      </p:sp>
      <p:sp>
        <p:nvSpPr>
          <p:cNvPr id="12" name="TextBox 11"/>
          <p:cNvSpPr txBox="1"/>
          <p:nvPr/>
        </p:nvSpPr>
        <p:spPr>
          <a:xfrm>
            <a:off x="896112" y="2633472"/>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Oudbouw en transitie</a:t>
            </a:r>
          </a:p>
        </p:txBody>
      </p:sp>
      <p:sp>
        <p:nvSpPr>
          <p:cNvPr id="13" name="TextBox 12"/>
          <p:cNvSpPr txBox="1"/>
          <p:nvPr/>
        </p:nvSpPr>
        <p:spPr>
          <a:xfrm>
            <a:off x="896112" y="2926080"/>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8BA5C0"/>
                </a:solidFill>
                <a:latin typeface="Calibri"/>
              </a:rPr>
              <a:t>lopende projecten, inzet SEH, weekendformatie, regieverpleegkundige</a:t>
            </a:r>
          </a:p>
        </p:txBody>
      </p:sp>
      <p:sp>
        <p:nvSpPr>
          <p:cNvPr id="14" name="TextBox 13"/>
          <p:cNvSpPr txBox="1"/>
          <p:nvPr/>
        </p:nvSpPr>
        <p:spPr>
          <a:xfrm>
            <a:off x="2631338" y="2011680"/>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4A9BE8"/>
                </a:solidFill>
                <a:latin typeface="Calibri"/>
              </a:rPr>
              <a:t>dia 20</a:t>
            </a:r>
          </a:p>
        </p:txBody>
      </p:sp>
      <p:sp>
        <p:nvSpPr>
          <p:cNvPr id="15" name="Rounded Rectangle 14"/>
          <p:cNvSpPr/>
          <p:nvPr/>
        </p:nvSpPr>
        <p:spPr>
          <a:xfrm>
            <a:off x="4368698" y="1792224"/>
            <a:ext cx="3454298" cy="170078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624730" y="1920240"/>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FFB547"/>
                </a:solidFill>
                <a:latin typeface="Calibri"/>
              </a:rPr>
              <a:t>1</a:t>
            </a:r>
          </a:p>
        </p:txBody>
      </p:sp>
      <p:sp>
        <p:nvSpPr>
          <p:cNvPr id="17" name="TextBox 16"/>
          <p:cNvSpPr txBox="1"/>
          <p:nvPr/>
        </p:nvSpPr>
        <p:spPr>
          <a:xfrm>
            <a:off x="4624730" y="2633472"/>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Verhuisperiode</a:t>
            </a:r>
          </a:p>
        </p:txBody>
      </p:sp>
      <p:sp>
        <p:nvSpPr>
          <p:cNvPr id="18" name="TextBox 17"/>
          <p:cNvSpPr txBox="1"/>
          <p:nvPr/>
        </p:nvSpPr>
        <p:spPr>
          <a:xfrm>
            <a:off x="4624730" y="2926080"/>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8BA5C0"/>
                </a:solidFill>
                <a:latin typeface="Calibri"/>
              </a:rPr>
              <a:t>welke extra diensten, en op welke locatie?</a:t>
            </a:r>
          </a:p>
        </p:txBody>
      </p:sp>
      <p:sp>
        <p:nvSpPr>
          <p:cNvPr id="19" name="TextBox 18"/>
          <p:cNvSpPr txBox="1"/>
          <p:nvPr/>
        </p:nvSpPr>
        <p:spPr>
          <a:xfrm>
            <a:off x="6359956" y="2011680"/>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FFB547"/>
                </a:solidFill>
                <a:latin typeface="Calibri"/>
              </a:rPr>
              <a:t>dia 20</a:t>
            </a:r>
          </a:p>
        </p:txBody>
      </p:sp>
      <p:sp>
        <p:nvSpPr>
          <p:cNvPr id="20" name="Rounded Rectangle 19"/>
          <p:cNvSpPr/>
          <p:nvPr/>
        </p:nvSpPr>
        <p:spPr>
          <a:xfrm>
            <a:off x="8097316" y="1792224"/>
            <a:ext cx="3454298" cy="170078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53348" y="1920240"/>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35E0C4"/>
                </a:solidFill>
                <a:latin typeface="Calibri"/>
              </a:rPr>
              <a:t>12</a:t>
            </a:r>
          </a:p>
        </p:txBody>
      </p:sp>
      <p:sp>
        <p:nvSpPr>
          <p:cNvPr id="22" name="TextBox 21"/>
          <p:cNvSpPr txBox="1"/>
          <p:nvPr/>
        </p:nvSpPr>
        <p:spPr>
          <a:xfrm>
            <a:off x="8353348" y="2633472"/>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Nieuwbouw</a:t>
            </a:r>
          </a:p>
        </p:txBody>
      </p:sp>
      <p:sp>
        <p:nvSpPr>
          <p:cNvPr id="23" name="TextBox 22"/>
          <p:cNvSpPr txBox="1"/>
          <p:nvPr/>
        </p:nvSpPr>
        <p:spPr>
          <a:xfrm>
            <a:off x="8353348" y="2926080"/>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8BA5C0"/>
                </a:solidFill>
                <a:latin typeface="Calibri"/>
              </a:rPr>
              <a:t>EHH-personeel, afkapmoment cardio, norm, scope, EPA's, poule</a:t>
            </a:r>
          </a:p>
        </p:txBody>
      </p:sp>
      <p:sp>
        <p:nvSpPr>
          <p:cNvPr id="24" name="TextBox 23"/>
          <p:cNvSpPr txBox="1"/>
          <p:nvPr/>
        </p:nvSpPr>
        <p:spPr>
          <a:xfrm>
            <a:off x="10088575" y="2011680"/>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35E0C4"/>
                </a:solidFill>
                <a:latin typeface="Calibri"/>
              </a:rPr>
              <a:t>dia 21 en 22</a:t>
            </a:r>
          </a:p>
        </p:txBody>
      </p:sp>
      <p:sp>
        <p:nvSpPr>
          <p:cNvPr id="25" name="Rounded Rectangle 24"/>
          <p:cNvSpPr/>
          <p:nvPr/>
        </p:nvSpPr>
        <p:spPr>
          <a:xfrm>
            <a:off x="640080" y="3675888"/>
            <a:ext cx="3454298" cy="170078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6112" y="3803904"/>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FF6B5A"/>
                </a:solidFill>
                <a:latin typeface="Calibri"/>
              </a:rPr>
              <a:t>9</a:t>
            </a:r>
          </a:p>
        </p:txBody>
      </p:sp>
      <p:sp>
        <p:nvSpPr>
          <p:cNvPr id="27" name="TextBox 26"/>
          <p:cNvSpPr txBox="1"/>
          <p:nvPr/>
        </p:nvSpPr>
        <p:spPr>
          <a:xfrm>
            <a:off x="896112" y="4517136"/>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Knelpunten</a:t>
            </a:r>
          </a:p>
        </p:txBody>
      </p:sp>
      <p:sp>
        <p:nvSpPr>
          <p:cNvPr id="28" name="TextBox 27"/>
          <p:cNvSpPr txBox="1"/>
          <p:nvPr/>
        </p:nvSpPr>
        <p:spPr>
          <a:xfrm>
            <a:off x="896112" y="4809744"/>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8BA5C0"/>
                </a:solidFill>
                <a:latin typeface="Calibri"/>
              </a:rPr>
              <a:t>norm, SEH-artsen, jaarplan, CPP, kaders, vakantie</a:t>
            </a:r>
          </a:p>
        </p:txBody>
      </p:sp>
      <p:sp>
        <p:nvSpPr>
          <p:cNvPr id="29" name="TextBox 28"/>
          <p:cNvSpPr txBox="1"/>
          <p:nvPr/>
        </p:nvSpPr>
        <p:spPr>
          <a:xfrm>
            <a:off x="2631338" y="3895344"/>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FF6B5A"/>
                </a:solidFill>
                <a:latin typeface="Calibri"/>
              </a:rPr>
              <a:t>dia 23</a:t>
            </a:r>
          </a:p>
        </p:txBody>
      </p:sp>
      <p:sp>
        <p:nvSpPr>
          <p:cNvPr id="30" name="Rounded Rectangle 29"/>
          <p:cNvSpPr/>
          <p:nvPr/>
        </p:nvSpPr>
        <p:spPr>
          <a:xfrm>
            <a:off x="4368698" y="3675888"/>
            <a:ext cx="3454298" cy="170078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624730" y="3803904"/>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A98BFF"/>
                </a:solidFill>
                <a:latin typeface="Calibri"/>
              </a:rPr>
              <a:t>4</a:t>
            </a:r>
          </a:p>
        </p:txBody>
      </p:sp>
      <p:sp>
        <p:nvSpPr>
          <p:cNvPr id="32" name="TextBox 31"/>
          <p:cNvSpPr txBox="1"/>
          <p:nvPr/>
        </p:nvSpPr>
        <p:spPr>
          <a:xfrm>
            <a:off x="4624730" y="4517136"/>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Simulatie en jaarplan</a:t>
            </a:r>
          </a:p>
        </p:txBody>
      </p:sp>
      <p:sp>
        <p:nvSpPr>
          <p:cNvPr id="33" name="TextBox 32"/>
          <p:cNvSpPr txBox="1"/>
          <p:nvPr/>
        </p:nvSpPr>
        <p:spPr>
          <a:xfrm>
            <a:off x="4624730" y="4809744"/>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8BA5C0"/>
                </a:solidFill>
                <a:latin typeface="Calibri"/>
              </a:rPr>
              <a:t>ICU- en CCU-data, seizoenspatroon, verdeling ICU/CCU</a:t>
            </a:r>
          </a:p>
        </p:txBody>
      </p:sp>
      <p:sp>
        <p:nvSpPr>
          <p:cNvPr id="34" name="TextBox 33"/>
          <p:cNvSpPr txBox="1"/>
          <p:nvPr/>
        </p:nvSpPr>
        <p:spPr>
          <a:xfrm>
            <a:off x="6359956" y="3895344"/>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A98BFF"/>
                </a:solidFill>
                <a:latin typeface="Calibri"/>
              </a:rPr>
              <a:t>dia 24</a:t>
            </a:r>
          </a:p>
        </p:txBody>
      </p:sp>
      <p:sp>
        <p:nvSpPr>
          <p:cNvPr id="35" name="Rounded Rectangle 34"/>
          <p:cNvSpPr/>
          <p:nvPr/>
        </p:nvSpPr>
        <p:spPr>
          <a:xfrm>
            <a:off x="8097316" y="3675888"/>
            <a:ext cx="3454298" cy="1700784"/>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53348" y="3803904"/>
            <a:ext cx="2942234" cy="731520"/>
          </a:xfrm>
          <a:prstGeom prst="rect">
            <a:avLst/>
          </a:prstGeom>
          <a:noFill/>
        </p:spPr>
        <p:txBody>
          <a:bodyPr wrap="square" lIns="0" rIns="0" tIns="0" bIns="0" anchor="t">
            <a:spAutoFit/>
          </a:bodyPr>
          <a:lstStyle/>
          <a:p>
            <a:pPr algn="l">
              <a:lnSpc>
                <a:spcPct val="120000"/>
              </a:lnSpc>
              <a:spcAft>
                <a:spcPts val="0"/>
              </a:spcAft>
            </a:pPr>
            <a:r>
              <a:rPr sz="4400" b="1">
                <a:solidFill>
                  <a:srgbClr val="EAF2FA"/>
                </a:solidFill>
                <a:latin typeface="Calibri"/>
              </a:rPr>
              <a:t>3</a:t>
            </a:r>
          </a:p>
        </p:txBody>
      </p:sp>
      <p:sp>
        <p:nvSpPr>
          <p:cNvPr id="37" name="TextBox 36"/>
          <p:cNvSpPr txBox="1"/>
          <p:nvPr/>
        </p:nvSpPr>
        <p:spPr>
          <a:xfrm>
            <a:off x="8353348" y="4517136"/>
            <a:ext cx="2942234" cy="274320"/>
          </a:xfrm>
          <a:prstGeom prst="rect">
            <a:avLst/>
          </a:prstGeom>
          <a:noFill/>
        </p:spPr>
        <p:txBody>
          <a:bodyPr wrap="square" lIns="0" rIns="0" tIns="0" bIns="0" anchor="t">
            <a:spAutoFit/>
          </a:bodyPr>
          <a:lstStyle/>
          <a:p>
            <a:pPr algn="l">
              <a:lnSpc>
                <a:spcPct val="120000"/>
              </a:lnSpc>
              <a:spcAft>
                <a:spcPts val="0"/>
              </a:spcAft>
            </a:pPr>
            <a:r>
              <a:rPr sz="1400" b="1">
                <a:solidFill>
                  <a:srgbClr val="EAF2FA"/>
                </a:solidFill>
                <a:latin typeface="Calibri"/>
              </a:rPr>
              <a:t>Direct naar Remco</a:t>
            </a:r>
          </a:p>
        </p:txBody>
      </p:sp>
      <p:sp>
        <p:nvSpPr>
          <p:cNvPr id="38" name="TextBox 37"/>
          <p:cNvSpPr txBox="1"/>
          <p:nvPr/>
        </p:nvSpPr>
        <p:spPr>
          <a:xfrm>
            <a:off x="8353348" y="4809744"/>
            <a:ext cx="2942234" cy="457200"/>
          </a:xfrm>
          <a:prstGeom prst="rect">
            <a:avLst/>
          </a:prstGeom>
          <a:noFill/>
        </p:spPr>
        <p:txBody>
          <a:bodyPr wrap="square" lIns="0" rIns="0" tIns="0" bIns="0" anchor="t">
            <a:spAutoFit/>
          </a:bodyPr>
          <a:lstStyle/>
          <a:p>
            <a:pPr algn="l">
              <a:lnSpc>
                <a:spcPct val="120000"/>
              </a:lnSpc>
              <a:spcAft>
                <a:spcPts val="0"/>
              </a:spcAft>
            </a:pPr>
            <a:r>
              <a:rPr sz="1000" b="0">
                <a:solidFill>
                  <a:srgbClr val="8BA5C0"/>
                </a:solidFill>
                <a:latin typeface="Calibri"/>
              </a:rPr>
              <a:t>EHH bij welk team, opvang acute cardio, verblijfsduur SEH</a:t>
            </a:r>
          </a:p>
        </p:txBody>
      </p:sp>
      <p:sp>
        <p:nvSpPr>
          <p:cNvPr id="39" name="TextBox 38"/>
          <p:cNvSpPr txBox="1"/>
          <p:nvPr/>
        </p:nvSpPr>
        <p:spPr>
          <a:xfrm>
            <a:off x="10088575" y="3895344"/>
            <a:ext cx="1207008" cy="237744"/>
          </a:xfrm>
          <a:prstGeom prst="rect">
            <a:avLst/>
          </a:prstGeom>
          <a:noFill/>
        </p:spPr>
        <p:txBody>
          <a:bodyPr wrap="square" lIns="0" rIns="0" tIns="0" bIns="0" anchor="t">
            <a:spAutoFit/>
          </a:bodyPr>
          <a:lstStyle/>
          <a:p>
            <a:pPr algn="r">
              <a:lnSpc>
                <a:spcPct val="120000"/>
              </a:lnSpc>
              <a:spcAft>
                <a:spcPts val="0"/>
              </a:spcAft>
            </a:pPr>
            <a:r>
              <a:rPr sz="950" b="1" spc="80">
                <a:solidFill>
                  <a:srgbClr val="EAF2FA"/>
                </a:solidFill>
                <a:latin typeface="Calibri"/>
              </a:rPr>
              <a:t>dia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4A9BE8"/>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Oudbouw, transitie en verhuisperiode</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Uitgangspunten die de zorgmanager nodig heeft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20</a:t>
            </a:r>
          </a:p>
        </p:txBody>
      </p:sp>
      <p:graphicFrame>
        <p:nvGraphicFramePr>
          <p:cNvPr id="10" name="Table 9"/>
          <p:cNvGraphicFramePr>
            <a:graphicFrameLocks noGrp="1"/>
          </p:cNvGraphicFramePr>
          <p:nvPr/>
        </p:nvGraphicFramePr>
        <p:xfrm>
          <a:off x="640080" y="1700784"/>
          <a:ext cx="10911535" cy="3730752"/>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4A9BE8"/>
                          </a:solidFill>
                          <a:latin typeface="Calibri"/>
                        </a:rPr>
                        <a:t>#</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l">
                        <a:spcAft>
                          <a:spcPts val="200"/>
                        </a:spcAft>
                      </a:pPr>
                      <a:r>
                        <a:rPr sz="950" b="1">
                          <a:solidFill>
                            <a:srgbClr val="4A9BE8"/>
                          </a:solidFill>
                          <a:latin typeface="Calibri"/>
                        </a:rPr>
                        <a:t>VRAAG OF KNELPUNT</a:t>
                      </a:r>
                    </a:p>
                  </a:txBody>
                  <a:tcPr marL="91440" marR="91440" marT="36576" marB="36576" anchor="ctr">
                    <a:solidFill>
                      <a:srgbClr val="05101E"/>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4A9BE8"/>
                          </a:solidFill>
                          <a:latin typeface="Calibri"/>
                        </a:rPr>
                        <a:t>1</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Wat moeten we meenemen uit lopende projecten, of wordt dit later doorgevoerd in de begroting en het jaarplan?</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4A9BE8"/>
                          </a:solidFill>
                          <a:latin typeface="Calibri"/>
                        </a:rPr>
                        <a:t>2</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Hoe werken de afdelingen nu al toe naar de nieuwbouwsituatie, en welke impact heeft dat op bedden en personeel?</a:t>
                      </a:r>
                    </a:p>
                  </a:txBody>
                  <a:tcPr marL="91440" marR="91440" marT="36576" marB="36576" anchor="ctr">
                    <a:solidFill>
                      <a:srgbClr val="16314F"/>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4A9BE8"/>
                          </a:solidFill>
                          <a:latin typeface="Calibri"/>
                        </a:rPr>
                        <a:t>3</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Kunnen we de huidige personele inzet van de SEH aanhouden tot de nieuwbouw, exclusief eventuele extra inzet voor de nieuwbouw?</a:t>
                      </a:r>
                    </a:p>
                  </a:txBody>
                  <a:tcPr marL="91440" marR="91440" marT="36576" marB="36576" anchor="ctr">
                    <a:solidFill>
                      <a:srgbClr val="0F2440"/>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4A9BE8"/>
                          </a:solidFill>
                          <a:latin typeface="Calibri"/>
                        </a:rPr>
                        <a:t>4</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De bedbezetting is in het weekend lager dan doordeweeks; formatie daarop aanpassen komt neer op 5-5-4. In de oudbouw geen aanpassing, alleen toewerken naar de nieuwbouw: motiveren en dubbel opleiden.</a:t>
                      </a:r>
                    </a:p>
                  </a:txBody>
                  <a:tcPr marL="91440" marR="91440" marT="36576" marB="36576" anchor="ctr">
                    <a:solidFill>
                      <a:srgbClr val="16314F"/>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4A9BE8"/>
                          </a:solidFill>
                          <a:latin typeface="Calibri"/>
                        </a:rPr>
                        <a:t>5</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Voor de ICU houden we de landelijke norm aan, maar daar zit bij ons ook recovery in. Welke normering hanteren we? (Geparkeerd voor later.)</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4A9BE8"/>
                          </a:solidFill>
                          <a:latin typeface="Calibri"/>
                        </a:rPr>
                        <a:t>6</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Wat is het uitgangspunt voor de AO-dienst? Bij drukte inzet in de zorg; negen van de tien keer blijf je buiten de zorg.</a:t>
                      </a:r>
                    </a:p>
                  </a:txBody>
                  <a:tcPr marL="91440" marR="91440" marT="36576" marB="36576" anchor="ctr">
                    <a:solidFill>
                      <a:srgbClr val="16314F"/>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4A9BE8"/>
                          </a:solidFill>
                          <a:latin typeface="Calibri"/>
                        </a:rPr>
                        <a:t>7</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Per september start de regieverpleegkundige. Wat betekent dat voor de personele inzet en de indirecte uren, en staat die functie binnen of buiten de zorg?</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4A9BE8"/>
                          </a:solidFill>
                          <a:latin typeface="Calibri"/>
                        </a:rPr>
                        <a:t>8</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Verhuisperiode: welke extra diensten zijn er nodig ten opzichte van de oudbouw, en op welke locatie worden die ingezet?</a:t>
                      </a:r>
                    </a:p>
                  </a:txBody>
                  <a:tcPr marL="91440" marR="91440" marT="36576" marB="36576" anchor="ctr">
                    <a:solidFill>
                      <a:srgbClr val="16314F"/>
                    </a:solidFill>
                    <a:lnL w="0">
                      <a:noFill/>
                    </a:lnL>
                    <a:lnR w="0">
                      <a:noFill/>
                    </a:lnR>
                    <a:lnT w="0">
                      <a:noFill/>
                    </a:lnT>
                    <a:lnB w="6350" cap="flat">
                      <a:solidFill>
                        <a:srgbClr val="1D3B5E"/>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35E0C4"/>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Nieuwbouw, deel 1</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Personele inzet, norm en afkapmomenten</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21</a:t>
            </a:r>
          </a:p>
        </p:txBody>
      </p:sp>
      <p:graphicFrame>
        <p:nvGraphicFramePr>
          <p:cNvPr id="10" name="Table 9"/>
          <p:cNvGraphicFramePr>
            <a:graphicFrameLocks noGrp="1"/>
          </p:cNvGraphicFramePr>
          <p:nvPr/>
        </p:nvGraphicFramePr>
        <p:xfrm>
          <a:off x="640080" y="1700784"/>
          <a:ext cx="10911535" cy="3066288"/>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35E0C4"/>
                          </a:solidFill>
                          <a:latin typeface="Calibri"/>
                        </a:rPr>
                        <a:t>#</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l">
                        <a:spcAft>
                          <a:spcPts val="200"/>
                        </a:spcAft>
                      </a:pPr>
                      <a:r>
                        <a:rPr sz="950" b="1">
                          <a:solidFill>
                            <a:srgbClr val="35E0C4"/>
                          </a:solidFill>
                          <a:latin typeface="Calibri"/>
                        </a:rPr>
                        <a:t>VRAAG OF KNELPUNT</a:t>
                      </a:r>
                    </a:p>
                  </a:txBody>
                  <a:tcPr marL="91440" marR="91440" marT="36576" marB="36576" anchor="ctr">
                    <a:solidFill>
                      <a:srgbClr val="05101E"/>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35E0C4"/>
                          </a:solidFill>
                          <a:latin typeface="Calibri"/>
                        </a:rPr>
                        <a:t>1</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Waar komt de personele inzet op de EHH vandaan: van de SEH of van de ICU/CCU?</a:t>
                      </a:r>
                    </a:p>
                  </a:txBody>
                  <a:tcPr marL="91440" marR="91440" marT="36576" marB="36576" anchor="ctr">
                    <a:solidFill>
                      <a:srgbClr val="0F2440"/>
                    </a:solidFill>
                    <a:lnL w="0">
                      <a:noFill/>
                    </a:lnL>
                    <a:lnR w="0">
                      <a:noFill/>
                    </a:lnR>
                    <a:lnT w="0">
                      <a:noFill/>
                    </a:lnT>
                    <a:lnB w="6350" cap="flat">
                      <a:solidFill>
                        <a:srgbClr val="1D3B5E"/>
                      </a:solidFill>
                    </a:lnB>
                  </a:tcPr>
                </a:tc>
              </a:tr>
              <a:tr h="704088">
                <a:tc>
                  <a:txBody>
                    <a:bodyPr wrap="square"/>
                    <a:lstStyle/>
                    <a:p>
                      <a:pPr algn="ctr">
                        <a:spcAft>
                          <a:spcPts val="200"/>
                        </a:spcAft>
                      </a:pPr>
                      <a:r>
                        <a:rPr sz="1200" b="1">
                          <a:solidFill>
                            <a:srgbClr val="35E0C4"/>
                          </a:solidFill>
                          <a:latin typeface="Calibri"/>
                        </a:rPr>
                        <a:t>2</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Dat wordt bepaald door het afkapmoment van de acute cardiologiepatiënt van SEH naar EHH/CCU. In de berekeningen is uitgegaan van inzet vanaf de CCU en een afkapmoment op 2 uur; nu wordt gekeken naar scenario's op 4, 6 en 24 uur waarbij de EHH-bedden bij de SEH zijn meegenomen.</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35E0C4"/>
                          </a:solidFill>
                          <a:latin typeface="Calibri"/>
                        </a:rPr>
                        <a:t>3</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Doet Remco een uitspraak over de verpleegkundige norm, of houden we de huidige normen aan en leggen we die aan hem voor?</a:t>
                      </a:r>
                    </a:p>
                  </a:txBody>
                  <a:tcPr marL="91440" marR="91440" marT="36576" marB="36576" anchor="ctr">
                    <a:solidFill>
                      <a:srgbClr val="0F2440"/>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35E0C4"/>
                          </a:solidFill>
                          <a:latin typeface="Calibri"/>
                        </a:rPr>
                        <a:t>4</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In de nieuwbouw wordt de scope (CCU) anders ingericht. Hoe verwerken we dat in de personele inzet? Nu is er een extra dienst overdag en extra belasting in de late en de nachtdienst.</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35E0C4"/>
                          </a:solidFill>
                          <a:latin typeface="Calibri"/>
                        </a:rPr>
                        <a:t>5</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De ICU heeft een normenkader waarbij maximaal 10% afgeweken mag worden van dedicated inzet van ICU-verpleegkundigen.</a:t>
                      </a:r>
                    </a:p>
                  </a:txBody>
                  <a:tcPr marL="91440" marR="91440" marT="36576" marB="36576" anchor="ctr">
                    <a:solidFill>
                      <a:srgbClr val="0F2440"/>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35E0C4"/>
                          </a:solidFill>
                          <a:latin typeface="Calibri"/>
                        </a:rPr>
                        <a:t>6</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Is er al nagedacht over de personele inzet op de SEH? Kunnen we het patroon opplussen op basis van de extra bedden, en van hoeveel bedden gaan we uit?</a:t>
                      </a:r>
                    </a:p>
                  </a:txBody>
                  <a:tcPr marL="91440" marR="91440" marT="36576" marB="36576" anchor="ctr">
                    <a:solidFill>
                      <a:srgbClr val="16314F"/>
                    </a:solidFill>
                    <a:lnL w="0">
                      <a:noFill/>
                    </a:lnL>
                    <a:lnR w="0">
                      <a:noFill/>
                    </a:lnR>
                    <a:lnT w="0">
                      <a:noFill/>
                    </a:lnT>
                    <a:lnB w="6350" cap="flat">
                      <a:solidFill>
                        <a:srgbClr val="1D3B5E"/>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35E0C4"/>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Nieuwbouw, deel 2</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Indirecte uren, opleiden en poules</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22</a:t>
            </a:r>
          </a:p>
        </p:txBody>
      </p:sp>
      <p:graphicFrame>
        <p:nvGraphicFramePr>
          <p:cNvPr id="10" name="Table 9"/>
          <p:cNvGraphicFramePr>
            <a:graphicFrameLocks noGrp="1"/>
          </p:cNvGraphicFramePr>
          <p:nvPr/>
        </p:nvGraphicFramePr>
        <p:xfrm>
          <a:off x="640080" y="1700784"/>
          <a:ext cx="10911535" cy="2508504"/>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35E0C4"/>
                          </a:solidFill>
                          <a:latin typeface="Calibri"/>
                        </a:rPr>
                        <a:t>#</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l">
                        <a:spcAft>
                          <a:spcPts val="200"/>
                        </a:spcAft>
                      </a:pPr>
                      <a:r>
                        <a:rPr sz="950" b="1">
                          <a:solidFill>
                            <a:srgbClr val="35E0C4"/>
                          </a:solidFill>
                          <a:latin typeface="Calibri"/>
                        </a:rPr>
                        <a:t>VRAAG OF KNELPUNT</a:t>
                      </a:r>
                    </a:p>
                  </a:txBody>
                  <a:tcPr marL="91440" marR="91440" marT="36576" marB="36576" anchor="ctr">
                    <a:solidFill>
                      <a:srgbClr val="05101E"/>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35E0C4"/>
                          </a:solidFill>
                          <a:latin typeface="Calibri"/>
                        </a:rPr>
                        <a:t>1</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Indirecte uren: de oude begroting loopt sterk uiteen. Wat houden we aan, en verlaagt de regieverpleegkundige dit per september?</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35E0C4"/>
                          </a:solidFill>
                          <a:latin typeface="Calibri"/>
                        </a:rPr>
                        <a:t>2</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Hoe richten we de inzet van de regieverpleegkundige in de nieuwbouw in?</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35E0C4"/>
                          </a:solidFill>
                          <a:latin typeface="Calibri"/>
                        </a:rPr>
                        <a:t>3</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Komt de kinderverpleegkundige dedicated op de SEH, of op afroep?</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35E0C4"/>
                          </a:solidFill>
                          <a:latin typeface="Calibri"/>
                        </a:rPr>
                        <a:t>4</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Hoe staat het met de EPA's? Zijn er vereisten voor SEH-verpleegkundigen, en zijn er verplichte EPA's voor ICU en CCU?</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35E0C4"/>
                          </a:solidFill>
                          <a:latin typeface="Calibri"/>
                        </a:rPr>
                        <a:t>5</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Als die EPA's er zijn, wat betekent dat dan in de praktijk?</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35E0C4"/>
                          </a:solidFill>
                          <a:latin typeface="Calibri"/>
                        </a:rPr>
                        <a:t>6</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Zetten we voor de nieuwbouw nog in op een acute poule voor CCU/ICU en CCU/SEH? Nu is dat alleen ICU/SEH.</a:t>
                      </a:r>
                    </a:p>
                  </a:txBody>
                  <a:tcPr marL="91440" marR="91440" marT="36576" marB="36576" anchor="ctr">
                    <a:solidFill>
                      <a:srgbClr val="16314F"/>
                    </a:solidFill>
                    <a:lnL w="0">
                      <a:noFill/>
                    </a:lnL>
                    <a:lnR w="0">
                      <a:noFill/>
                    </a:lnR>
                    <a:lnT w="0">
                      <a:noFill/>
                    </a:lnT>
                    <a:lnB w="6350" cap="flat">
                      <a:solidFill>
                        <a:srgbClr val="1D3B5E"/>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FF6B5A"/>
                </a:solidFill>
                <a:latin typeface="Calibri"/>
              </a:rPr>
              <a:t>DEEL 04  ·  KNELPUNTEN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Wat er nu in de weg zit</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Negen punten uit de sessie</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23</a:t>
            </a:r>
          </a:p>
        </p:txBody>
      </p:sp>
      <p:graphicFrame>
        <p:nvGraphicFramePr>
          <p:cNvPr id="10" name="Table 9"/>
          <p:cNvGraphicFramePr>
            <a:graphicFrameLocks noGrp="1"/>
          </p:cNvGraphicFramePr>
          <p:nvPr/>
        </p:nvGraphicFramePr>
        <p:xfrm>
          <a:off x="640080" y="1700784"/>
          <a:ext cx="10911535" cy="350520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FF6B5A"/>
                          </a:solidFill>
                          <a:latin typeface="Calibri"/>
                        </a:rPr>
                        <a:t>#</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l">
                        <a:spcAft>
                          <a:spcPts val="200"/>
                        </a:spcAft>
                      </a:pPr>
                      <a:r>
                        <a:rPr sz="950" b="1">
                          <a:solidFill>
                            <a:srgbClr val="FF6B5A"/>
                          </a:solidFill>
                          <a:latin typeface="Calibri"/>
                        </a:rPr>
                        <a:t>VRAAG OF KNELPUNT</a:t>
                      </a:r>
                    </a:p>
                  </a:txBody>
                  <a:tcPr marL="91440" marR="91440" marT="36576" marB="36576" anchor="ctr">
                    <a:solidFill>
                      <a:srgbClr val="05101E"/>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FF6B5A"/>
                          </a:solidFill>
                          <a:latin typeface="Calibri"/>
                        </a:rPr>
                        <a:t>1</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Verpleegkundige norm: aanbodgericht werken in plaats van vraaggestuurd.</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FF6B5A"/>
                          </a:solidFill>
                          <a:latin typeface="Calibri"/>
                        </a:rPr>
                        <a:t>2</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SEH-artsen: de inzet is verhoogd maar de begroting is niet aangepast.</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FF6B5A"/>
                          </a:solidFill>
                          <a:latin typeface="Calibri"/>
                        </a:rPr>
                        <a:t>3</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Acute poort: wat komt waar, en wat kunnen wij doorrekenen?</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FF6B5A"/>
                          </a:solidFill>
                          <a:latin typeface="Calibri"/>
                        </a:rPr>
                        <a:t>4</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ICU en CCU wijken structureel af van het jaarplan BIC.</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FF6B5A"/>
                          </a:solidFill>
                          <a:latin typeface="Calibri"/>
                        </a:rPr>
                        <a:t>5</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De personele planning loopt niet volledig via CPP, met name rond de acute poule.</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FF6B5A"/>
                          </a:solidFill>
                          <a:latin typeface="Calibri"/>
                        </a:rPr>
                        <a:t>6</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Indirecte uren.</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FF6B5A"/>
                          </a:solidFill>
                          <a:latin typeface="Calibri"/>
                        </a:rPr>
                        <a:t>7</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Uitgangspunten en kaders ontbreken.</a:t>
                      </a:r>
                    </a:p>
                  </a:txBody>
                  <a:tcPr marL="91440" marR="91440" marT="36576" marB="36576" anchor="ctr">
                    <a:solidFill>
                      <a:srgbClr val="0F2440"/>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FF6B5A"/>
                          </a:solidFill>
                          <a:latin typeface="Calibri"/>
                        </a:rPr>
                        <a:t>8</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Vakantiegoedkeuringen niet integraal en te ruim vrijgegeven, met name bij de CCU. Actie: samen met Remco een vakantiegoedkeuring opstellen; hij noemde 20 tot 25%.</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FF6B5A"/>
                          </a:solidFill>
                          <a:latin typeface="Calibri"/>
                        </a:rPr>
                        <a:t>9</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Slapers op de SEH. Kanttekening bij de JDT: je kunt vol liggen waardoor de druk hoog is, terwijl de JDT-score dat niet laat zien.</a:t>
                      </a:r>
                    </a:p>
                  </a:txBody>
                  <a:tcPr marL="91440" marR="91440" marT="36576" marB="36576" anchor="ctr">
                    <a:solidFill>
                      <a:srgbClr val="0F2440"/>
                    </a:solidFill>
                    <a:lnL w="0">
                      <a:noFill/>
                    </a:lnL>
                    <a:lnR w="0">
                      <a:noFill/>
                    </a:lnR>
                    <a:lnT w="0">
                      <a:noFill/>
                    </a:lnT>
                    <a:lnB w="6350" cap="flat">
                      <a:solidFill>
                        <a:srgbClr val="1D3B5E"/>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A98BFF"/>
                </a:solidFill>
                <a:latin typeface="Calibri"/>
              </a:rPr>
              <a:t>DEEL 04  ·  VERVOLG</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Simulatie, aantekeningen en Remco</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Wat er nog uitgezocht en gevraagd moet worden</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24</a:t>
            </a:r>
          </a:p>
        </p:txBody>
      </p:sp>
      <p:graphicFrame>
        <p:nvGraphicFramePr>
          <p:cNvPr id="10" name="Table 9"/>
          <p:cNvGraphicFramePr>
            <a:graphicFrameLocks noGrp="1"/>
          </p:cNvGraphicFramePr>
          <p:nvPr/>
        </p:nvGraphicFramePr>
        <p:xfrm>
          <a:off x="640080" y="1700784"/>
          <a:ext cx="10911535" cy="402336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A98BFF"/>
                          </a:solidFill>
                          <a:latin typeface="Calibri"/>
                        </a:rPr>
                        <a:t>#</a:t>
                      </a:r>
                    </a:p>
                  </a:txBody>
                  <a:tcPr marL="91440" marR="91440" marT="36576" marB="36576" anchor="ctr">
                    <a:solidFill>
                      <a:srgbClr val="05101E"/>
                    </a:solidFill>
                    <a:lnL w="0">
                      <a:noFill/>
                    </a:lnL>
                    <a:lnR w="0">
                      <a:noFill/>
                    </a:lnR>
                    <a:lnT w="0">
                      <a:noFill/>
                    </a:lnT>
                    <a:lnB w="6350" cap="flat">
                      <a:solidFill>
                        <a:srgbClr val="1D3B5E"/>
                      </a:solidFill>
                    </a:lnB>
                  </a:tcPr>
                </a:tc>
                <a:tc>
                  <a:txBody>
                    <a:bodyPr wrap="square"/>
                    <a:lstStyle/>
                    <a:p>
                      <a:pPr algn="l">
                        <a:spcAft>
                          <a:spcPts val="200"/>
                        </a:spcAft>
                      </a:pPr>
                      <a:r>
                        <a:rPr sz="950" b="1">
                          <a:solidFill>
                            <a:srgbClr val="A98BFF"/>
                          </a:solidFill>
                          <a:latin typeface="Calibri"/>
                        </a:rPr>
                        <a:t>VRAAG OF KNELPUNT</a:t>
                      </a:r>
                    </a:p>
                  </a:txBody>
                  <a:tcPr marL="91440" marR="91440" marT="36576" marB="36576" anchor="ctr">
                    <a:solidFill>
                      <a:srgbClr val="05101E"/>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A98BFF"/>
                          </a:solidFill>
                          <a:latin typeface="Calibri"/>
                        </a:rPr>
                        <a:t>1</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Simulatie nieuwbouw: volledige ICU-data.</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A98BFF"/>
                          </a:solidFill>
                          <a:latin typeface="Calibri"/>
                        </a:rPr>
                        <a:t>2</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Simulatie nieuwbouw: CCU-data exclusief de eerste 2 uur van CCU-patiënten die naar de SEH gaan.</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A98BFF"/>
                          </a:solidFill>
                          <a:latin typeface="Calibri"/>
                        </a:rPr>
                        <a:t>3</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Op hoeveel bedden komen we op dagniveau uit, en zijn er seizoenspatronen? Hoe is de verdeling ICU/CCU voor het personeel?</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A98BFF"/>
                          </a:solidFill>
                          <a:latin typeface="Calibri"/>
                        </a:rPr>
                        <a:t>4</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Versneld jaarplan CCU, en het document van Daniek: huidig, transitie, nieuwbouw.</a:t>
                      </a:r>
                    </a:p>
                  </a:txBody>
                  <a:tcPr marL="91440" marR="91440" marT="36576" marB="36576" anchor="ctr">
                    <a:solidFill>
                      <a:srgbClr val="16314F"/>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A98BFF"/>
                          </a:solidFill>
                          <a:latin typeface="Calibri"/>
                        </a:rPr>
                        <a:t>5</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Aftrap jaarplannen Acuut 2027: we kijken nu naar de verpleegkundige inzet; voor de SEH-artsen is eerder al iets gedaan. Wat is de wens?</a:t>
                      </a:r>
                    </a:p>
                  </a:txBody>
                  <a:tcPr marL="91440" marR="91440" marT="36576" marB="36576" anchor="ctr">
                    <a:solidFill>
                      <a:srgbClr val="0F2440"/>
                    </a:solidFill>
                    <a:lnL w="0">
                      <a:noFill/>
                    </a:lnL>
                    <a:lnR w="0">
                      <a:noFill/>
                    </a:lnR>
                    <a:lnT w="0">
                      <a:noFill/>
                    </a:lnT>
                    <a:lnB w="6350" cap="flat">
                      <a:solidFill>
                        <a:srgbClr val="1D3B5E"/>
                      </a:solidFill>
                    </a:lnB>
                  </a:tcPr>
                </a:tc>
              </a:tr>
              <a:tr h="518160">
                <a:tc>
                  <a:txBody>
                    <a:bodyPr wrap="square"/>
                    <a:lstStyle/>
                    <a:p>
                      <a:pPr algn="ctr">
                        <a:spcAft>
                          <a:spcPts val="200"/>
                        </a:spcAft>
                      </a:pPr>
                      <a:r>
                        <a:rPr sz="1200" b="1">
                          <a:solidFill>
                            <a:srgbClr val="A98BFF"/>
                          </a:solidFill>
                          <a:latin typeface="Calibri"/>
                        </a:rPr>
                        <a:t>6</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Integratie van afdelingen per nu: ICU en CCU, waarbij de SEH nog even buiten beschouwing blijft. Inzet van de ICU op de CCU gebeurt nog niet; andersom wel, maar alleen ad hoc.</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A98BFF"/>
                          </a:solidFill>
                          <a:latin typeface="Calibri"/>
                        </a:rPr>
                        <a:t>7</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Naar Remco: hoort de EHH bij het personeel van de ICU/CCU of bij de SEH?</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A98BFF"/>
                          </a:solidFill>
                          <a:latin typeface="Calibri"/>
                        </a:rPr>
                        <a:t>8</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Naar Remco: waar is de opvang van de acute cardiologiepatiënt, op de SEH of op de EHH?</a:t>
                      </a:r>
                    </a:p>
                  </a:txBody>
                  <a:tcPr marL="91440" marR="91440" marT="36576" marB="36576" anchor="ctr">
                    <a:solidFill>
                      <a:srgbClr val="16314F"/>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A98BFF"/>
                          </a:solidFill>
                          <a:latin typeface="Calibri"/>
                        </a:rPr>
                        <a:t>9</a:t>
                      </a:r>
                    </a:p>
                  </a:txBody>
                  <a:tcPr marL="91440" marR="91440" marT="36576" marB="36576" anchor="ctr">
                    <a:solidFill>
                      <a:srgbClr val="0F2440"/>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Naar Remco: hoe lang blijft een patiënt op de SEH voordat die naar de EHH gaat?</a:t>
                      </a:r>
                    </a:p>
                  </a:txBody>
                  <a:tcPr marL="91440" marR="91440" marT="36576" marB="36576" anchor="ctr">
                    <a:solidFill>
                      <a:srgbClr val="0F2440"/>
                    </a:solidFill>
                    <a:lnL w="0">
                      <a:noFill/>
                    </a:lnL>
                    <a:lnR w="0">
                      <a:noFill/>
                    </a:lnR>
                    <a:lnT w="0">
                      <a:noFill/>
                    </a:lnT>
                    <a:lnB w="6350" cap="flat">
                      <a:solidFill>
                        <a:srgbClr val="1D3B5E"/>
                      </a:solidFill>
                    </a:lnB>
                  </a:tcPr>
                </a:tc>
              </a:tr>
              <a:tr h="332232">
                <a:tc>
                  <a:txBody>
                    <a:bodyPr wrap="square"/>
                    <a:lstStyle/>
                    <a:p>
                      <a:pPr algn="ctr">
                        <a:spcAft>
                          <a:spcPts val="200"/>
                        </a:spcAft>
                      </a:pPr>
                      <a:r>
                        <a:rPr sz="1200" b="1">
                          <a:solidFill>
                            <a:srgbClr val="A98BFF"/>
                          </a:solidFill>
                          <a:latin typeface="Calibri"/>
                        </a:rPr>
                        <a:t>10</a:t>
                      </a:r>
                    </a:p>
                  </a:txBody>
                  <a:tcPr marL="91440" marR="91440" marT="36576" marB="36576" anchor="ctr">
                    <a:solidFill>
                      <a:srgbClr val="16314F"/>
                    </a:solidFill>
                    <a:lnL w="0">
                      <a:noFill/>
                    </a:lnL>
                    <a:lnR w="0">
                      <a:noFill/>
                    </a:lnR>
                    <a:lnT w="0">
                      <a:noFill/>
                    </a:lnT>
                    <a:lnB w="6350" cap="flat">
                      <a:solidFill>
                        <a:srgbClr val="1D3B5E"/>
                      </a:solidFill>
                    </a:lnB>
                  </a:tcPr>
                </a:tc>
                <a:tc>
                  <a:txBody>
                    <a:bodyPr wrap="square"/>
                    <a:lstStyle/>
                    <a:p>
                      <a:pPr algn="l">
                        <a:spcAft>
                          <a:spcPts val="200"/>
                        </a:spcAft>
                      </a:pPr>
                      <a:r>
                        <a:rPr sz="1200" b="0">
                          <a:solidFill>
                            <a:srgbClr val="8BA5C0"/>
                          </a:solidFill>
                          <a:latin typeface="Calibri"/>
                        </a:rPr>
                        <a:t>Masterplan Acuut: wat ontbreekt er nog voor de transitie? Voorstel: een jaarplan opstellen en dat naast het huidige plan leggen.</a:t>
                      </a:r>
                    </a:p>
                  </a:txBody>
                  <a:tcPr marL="91440" marR="91440" marT="36576" marB="36576" anchor="ctr">
                    <a:solidFill>
                      <a:srgbClr val="16314F"/>
                    </a:solidFill>
                    <a:lnL w="0">
                      <a:noFill/>
                    </a:lnL>
                    <a:lnR w="0">
                      <a:noFill/>
                    </a:lnR>
                    <a:lnT w="0">
                      <a:noFill/>
                    </a:lnT>
                    <a:lnB w="6350" cap="flat">
                      <a:solidFill>
                        <a:srgbClr val="1D3B5E"/>
                      </a:solidFill>
                    </a:lnB>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FF6B5A"/>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EAF2FA"/>
                </a:solidFill>
                <a:latin typeface="Calibri"/>
              </a:rPr>
              <a:t>Zes besluiten waar de rest op wacht</a:t>
            </a:r>
          </a:p>
        </p:txBody>
      </p:sp>
      <p:sp>
        <p:nvSpPr>
          <p:cNvPr id="5" name="TextBox 4"/>
          <p:cNvSpPr txBox="1"/>
          <p:nvPr/>
        </p:nvSpPr>
        <p:spPr>
          <a:xfrm>
            <a:off x="640080" y="1353312"/>
            <a:ext cx="7856305" cy="274320"/>
          </a:xfrm>
          <a:prstGeom prst="rect">
            <a:avLst/>
          </a:prstGeom>
          <a:noFill/>
        </p:spPr>
        <p:txBody>
          <a:bodyPr wrap="square" lIns="0" rIns="0" tIns="0" bIns="0" anchor="t">
            <a:spAutoFit/>
          </a:bodyPr>
          <a:lstStyle/>
          <a:p>
            <a:pPr algn="l">
              <a:lnSpc>
                <a:spcPct val="120000"/>
              </a:lnSpc>
              <a:spcAft>
                <a:spcPts val="0"/>
              </a:spcAft>
            </a:pPr>
            <a:r>
              <a:rPr sz="1300" b="0">
                <a:solidFill>
                  <a:srgbClr val="8BA5C0"/>
                </a:solidFill>
                <a:latin typeface="Calibri"/>
              </a:rPr>
              <a:t>Drie ervan blokkeren de onderbouwing van de personele inzet</a:t>
            </a:r>
          </a:p>
        </p:txBody>
      </p:sp>
      <p:cxnSp>
        <p:nvCxnSpPr>
          <p:cNvPr id="6" name="Connector 5"/>
          <p:cNvCxnSpPr/>
          <p:nvPr/>
        </p:nvCxnSpPr>
        <p:spPr>
          <a:xfrm>
            <a:off x="640080" y="1609344"/>
            <a:ext cx="10911535" cy="0"/>
          </a:xfrm>
          <a:prstGeom prst="line">
            <a:avLst/>
          </a:prstGeom>
          <a:ln w="12700">
            <a:solidFill>
              <a:srgbClr val="1D3B5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1D3B5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5F7B9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35E0C4"/>
                </a:solidFill>
                <a:latin typeface="Calibri"/>
              </a:rPr>
              <a:t>25</a:t>
            </a:r>
          </a:p>
        </p:txBody>
      </p:sp>
      <p:sp>
        <p:nvSpPr>
          <p:cNvPr id="10" name="Rounded Rectangle 9"/>
          <p:cNvSpPr/>
          <p:nvPr/>
        </p:nvSpPr>
        <p:spPr>
          <a:xfrm>
            <a:off x="640080" y="1755648"/>
            <a:ext cx="10911535" cy="58521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55648"/>
            <a:ext cx="45720" cy="585216"/>
          </a:xfrm>
          <a:prstGeom prst="roundRect">
            <a:avLst>
              <a:gd name="adj" fmla="val 50000"/>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50392" y="1856232"/>
            <a:ext cx="384048" cy="384048"/>
          </a:xfrm>
          <a:prstGeom prst="ellipse">
            <a:avLst/>
          </a:prstGeom>
          <a:solidFill>
            <a:srgbClr val="FF6B5A">
              <a:alpha val="16000"/>
            </a:srgbClr>
          </a:solidFill>
          <a:ln w="15875">
            <a:solidFill>
              <a:srgbClr val="FF6B5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6B5A"/>
                </a:solidFill>
                <a:latin typeface="Calibri"/>
              </a:rPr>
              <a:t>1</a:t>
            </a:r>
          </a:p>
        </p:txBody>
      </p:sp>
      <p:sp>
        <p:nvSpPr>
          <p:cNvPr id="13" name="TextBox 12"/>
          <p:cNvSpPr txBox="1"/>
          <p:nvPr/>
        </p:nvSpPr>
        <p:spPr>
          <a:xfrm>
            <a:off x="1371600" y="180136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Waar valt de EHH onder?</a:t>
            </a:r>
          </a:p>
          <a:p>
            <a:pPr algn="l">
              <a:lnSpc>
                <a:spcPct val="120000"/>
              </a:lnSpc>
              <a:spcAft>
                <a:spcPts val="0"/>
              </a:spcAft>
            </a:pPr>
            <a:r>
              <a:rPr sz="1000" b="0">
                <a:solidFill>
                  <a:srgbClr val="5F7B9A"/>
                </a:solidFill>
                <a:latin typeface="Calibri"/>
              </a:rPr>
              <a:t>blokkeert beide analyses en de personele inzet</a:t>
            </a:r>
          </a:p>
        </p:txBody>
      </p:sp>
      <p:sp>
        <p:nvSpPr>
          <p:cNvPr id="14" name="TextBox 13"/>
          <p:cNvSpPr txBox="1"/>
          <p:nvPr/>
        </p:nvSpPr>
        <p:spPr>
          <a:xfrm>
            <a:off x="7315200" y="180136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8BA5C0"/>
                </a:solidFill>
                <a:latin typeface="Calibri"/>
              </a:rPr>
              <a:t>acute poort of Hotfloor</a:t>
            </a:r>
          </a:p>
        </p:txBody>
      </p:sp>
      <p:sp>
        <p:nvSpPr>
          <p:cNvPr id="15" name="Rounded Rectangle 14"/>
          <p:cNvSpPr/>
          <p:nvPr/>
        </p:nvSpPr>
        <p:spPr>
          <a:xfrm>
            <a:off x="9326880" y="1901952"/>
            <a:ext cx="1225296" cy="292608"/>
          </a:xfrm>
          <a:prstGeom prst="roundRect">
            <a:avLst>
              <a:gd name="adj" fmla="val 50000"/>
            </a:avLst>
          </a:prstGeom>
          <a:solidFill>
            <a:srgbClr val="FF6B5A">
              <a:alpha val="18000"/>
            </a:srgbClr>
          </a:solidFill>
          <a:ln w="12700">
            <a:solidFill>
              <a:srgbClr val="924A4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FF6B5A"/>
                </a:solidFill>
                <a:latin typeface="Calibri"/>
              </a:rPr>
              <a:t>blokkerend</a:t>
            </a:r>
          </a:p>
        </p:txBody>
      </p:sp>
      <p:sp>
        <p:nvSpPr>
          <p:cNvPr id="16" name="TextBox 15"/>
          <p:cNvSpPr txBox="1"/>
          <p:nvPr/>
        </p:nvSpPr>
        <p:spPr>
          <a:xfrm>
            <a:off x="10362895" y="180136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5F7B9A"/>
                </a:solidFill>
                <a:latin typeface="Calibri"/>
              </a:rPr>
              <a:t>dia 16</a:t>
            </a:r>
          </a:p>
        </p:txBody>
      </p:sp>
      <p:sp>
        <p:nvSpPr>
          <p:cNvPr id="17" name="Rounded Rectangle 16"/>
          <p:cNvSpPr/>
          <p:nvPr/>
        </p:nvSpPr>
        <p:spPr>
          <a:xfrm>
            <a:off x="640080" y="2450592"/>
            <a:ext cx="10911535" cy="58521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0080" y="2450592"/>
            <a:ext cx="45720" cy="585216"/>
          </a:xfrm>
          <a:prstGeom prst="roundRect">
            <a:avLst>
              <a:gd name="adj" fmla="val 50000"/>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50392" y="2551176"/>
            <a:ext cx="384048" cy="384048"/>
          </a:xfrm>
          <a:prstGeom prst="ellipse">
            <a:avLst/>
          </a:prstGeom>
          <a:solidFill>
            <a:srgbClr val="FF6B5A">
              <a:alpha val="16000"/>
            </a:srgbClr>
          </a:solidFill>
          <a:ln w="15875">
            <a:solidFill>
              <a:srgbClr val="FF6B5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6B5A"/>
                </a:solidFill>
                <a:latin typeface="Calibri"/>
              </a:rPr>
              <a:t>2</a:t>
            </a:r>
          </a:p>
        </p:txBody>
      </p:sp>
      <p:sp>
        <p:nvSpPr>
          <p:cNvPr id="20" name="TextBox 19"/>
          <p:cNvSpPr txBox="1"/>
          <p:nvPr/>
        </p:nvSpPr>
        <p:spPr>
          <a:xfrm>
            <a:off x="1371600" y="2496312"/>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Hoeveel plekken krijgt de acute poort?</a:t>
            </a:r>
          </a:p>
          <a:p>
            <a:pPr algn="l">
              <a:lnSpc>
                <a:spcPct val="120000"/>
              </a:lnSpc>
              <a:spcAft>
                <a:spcPts val="0"/>
              </a:spcAft>
            </a:pPr>
            <a:r>
              <a:rPr sz="1000" b="0">
                <a:solidFill>
                  <a:srgbClr val="5F7B9A"/>
                </a:solidFill>
                <a:latin typeface="Calibri"/>
              </a:rPr>
              <a:t>de analyse zegt nu: drie stromen passen niet achter een poort</a:t>
            </a:r>
          </a:p>
        </p:txBody>
      </p:sp>
      <p:sp>
        <p:nvSpPr>
          <p:cNvPr id="21" name="TextBox 20"/>
          <p:cNvSpPr txBox="1"/>
          <p:nvPr/>
        </p:nvSpPr>
        <p:spPr>
          <a:xfrm>
            <a:off x="7315200" y="2496312"/>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8BA5C0"/>
                </a:solidFill>
                <a:latin typeface="Calibri"/>
              </a:rPr>
              <a:t>kind, EHH en SEH samen</a:t>
            </a:r>
          </a:p>
        </p:txBody>
      </p:sp>
      <p:sp>
        <p:nvSpPr>
          <p:cNvPr id="22" name="Rounded Rectangle 21"/>
          <p:cNvSpPr/>
          <p:nvPr/>
        </p:nvSpPr>
        <p:spPr>
          <a:xfrm>
            <a:off x="9326880" y="2596896"/>
            <a:ext cx="1225296" cy="292608"/>
          </a:xfrm>
          <a:prstGeom prst="roundRect">
            <a:avLst>
              <a:gd name="adj" fmla="val 50000"/>
            </a:avLst>
          </a:prstGeom>
          <a:solidFill>
            <a:srgbClr val="FF6B5A">
              <a:alpha val="18000"/>
            </a:srgbClr>
          </a:solidFill>
          <a:ln w="12700">
            <a:solidFill>
              <a:srgbClr val="924A4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FF6B5A"/>
                </a:solidFill>
                <a:latin typeface="Calibri"/>
              </a:rPr>
              <a:t>blokkerend</a:t>
            </a:r>
          </a:p>
        </p:txBody>
      </p:sp>
      <p:sp>
        <p:nvSpPr>
          <p:cNvPr id="23" name="TextBox 22"/>
          <p:cNvSpPr txBox="1"/>
          <p:nvPr/>
        </p:nvSpPr>
        <p:spPr>
          <a:xfrm>
            <a:off x="10362895" y="2496312"/>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5F7B9A"/>
                </a:solidFill>
                <a:latin typeface="Calibri"/>
              </a:rPr>
              <a:t>dia 14</a:t>
            </a:r>
          </a:p>
        </p:txBody>
      </p:sp>
      <p:sp>
        <p:nvSpPr>
          <p:cNvPr id="24" name="Rounded Rectangle 23"/>
          <p:cNvSpPr/>
          <p:nvPr/>
        </p:nvSpPr>
        <p:spPr>
          <a:xfrm>
            <a:off x="640080" y="3145536"/>
            <a:ext cx="10911535" cy="58521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40080" y="3145536"/>
            <a:ext cx="45720" cy="585216"/>
          </a:xfrm>
          <a:prstGeom prst="roundRect">
            <a:avLst>
              <a:gd name="adj" fmla="val 50000"/>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50392" y="3246120"/>
            <a:ext cx="384048" cy="384048"/>
          </a:xfrm>
          <a:prstGeom prst="ellipse">
            <a:avLst/>
          </a:prstGeom>
          <a:solidFill>
            <a:srgbClr val="FF6B5A">
              <a:alpha val="16000"/>
            </a:srgbClr>
          </a:solidFill>
          <a:ln w="15875">
            <a:solidFill>
              <a:srgbClr val="FF6B5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6B5A"/>
                </a:solidFill>
                <a:latin typeface="Calibri"/>
              </a:rPr>
              <a:t>3</a:t>
            </a:r>
          </a:p>
        </p:txBody>
      </p:sp>
      <p:sp>
        <p:nvSpPr>
          <p:cNvPr id="27" name="TextBox 26"/>
          <p:cNvSpPr txBox="1"/>
          <p:nvPr/>
        </p:nvSpPr>
        <p:spPr>
          <a:xfrm>
            <a:off x="1371600" y="3191256"/>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Wie stelt de norm verpleegkundigen vast?</a:t>
            </a:r>
          </a:p>
          <a:p>
            <a:pPr algn="l">
              <a:lnSpc>
                <a:spcPct val="120000"/>
              </a:lnSpc>
              <a:spcAft>
                <a:spcPts val="0"/>
              </a:spcAft>
            </a:pPr>
            <a:r>
              <a:rPr sz="1000" b="0">
                <a:solidFill>
                  <a:srgbClr val="5F7B9A"/>
                </a:solidFill>
                <a:latin typeface="Calibri"/>
              </a:rPr>
              <a:t>geen enkele afdeling heeft een vastgestelde norm</a:t>
            </a:r>
          </a:p>
        </p:txBody>
      </p:sp>
      <p:sp>
        <p:nvSpPr>
          <p:cNvPr id="28" name="TextBox 27"/>
          <p:cNvSpPr txBox="1"/>
          <p:nvPr/>
        </p:nvSpPr>
        <p:spPr>
          <a:xfrm>
            <a:off x="7315200" y="3191256"/>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8BA5C0"/>
                </a:solidFill>
                <a:latin typeface="Calibri"/>
              </a:rPr>
              <a:t>Remco, of wij met een voorstel</a:t>
            </a:r>
          </a:p>
        </p:txBody>
      </p:sp>
      <p:sp>
        <p:nvSpPr>
          <p:cNvPr id="29" name="Rounded Rectangle 28"/>
          <p:cNvSpPr/>
          <p:nvPr/>
        </p:nvSpPr>
        <p:spPr>
          <a:xfrm>
            <a:off x="9326880" y="3291840"/>
            <a:ext cx="1225296" cy="292608"/>
          </a:xfrm>
          <a:prstGeom prst="roundRect">
            <a:avLst>
              <a:gd name="adj" fmla="val 50000"/>
            </a:avLst>
          </a:prstGeom>
          <a:solidFill>
            <a:srgbClr val="FF6B5A">
              <a:alpha val="18000"/>
            </a:srgbClr>
          </a:solidFill>
          <a:ln w="12700">
            <a:solidFill>
              <a:srgbClr val="924A4B"/>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FF6B5A"/>
                </a:solidFill>
                <a:latin typeface="Calibri"/>
              </a:rPr>
              <a:t>blokkerend</a:t>
            </a:r>
          </a:p>
        </p:txBody>
      </p:sp>
      <p:sp>
        <p:nvSpPr>
          <p:cNvPr id="30" name="TextBox 29"/>
          <p:cNvSpPr txBox="1"/>
          <p:nvPr/>
        </p:nvSpPr>
        <p:spPr>
          <a:xfrm>
            <a:off x="10362895" y="3191256"/>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5F7B9A"/>
                </a:solidFill>
                <a:latin typeface="Calibri"/>
              </a:rPr>
              <a:t>dia 3 en 7</a:t>
            </a:r>
          </a:p>
        </p:txBody>
      </p:sp>
      <p:sp>
        <p:nvSpPr>
          <p:cNvPr id="31" name="Rounded Rectangle 30"/>
          <p:cNvSpPr/>
          <p:nvPr/>
        </p:nvSpPr>
        <p:spPr>
          <a:xfrm>
            <a:off x="640080" y="3840480"/>
            <a:ext cx="10911535" cy="58521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40080" y="3840480"/>
            <a:ext cx="45720" cy="58521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50392" y="3941064"/>
            <a:ext cx="384048" cy="384048"/>
          </a:xfrm>
          <a:prstGeom prst="ellipse">
            <a:avLst/>
          </a:prstGeom>
          <a:solidFill>
            <a:srgbClr val="FFB547">
              <a:alpha val="16000"/>
            </a:srgbClr>
          </a:solidFill>
          <a:ln w="15875">
            <a:solidFill>
              <a:srgbClr val="FFB54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B547"/>
                </a:solidFill>
                <a:latin typeface="Calibri"/>
              </a:rPr>
              <a:t>4</a:t>
            </a:r>
          </a:p>
        </p:txBody>
      </p:sp>
      <p:sp>
        <p:nvSpPr>
          <p:cNvPr id="34" name="TextBox 33"/>
          <p:cNvSpPr txBox="1"/>
          <p:nvPr/>
        </p:nvSpPr>
        <p:spPr>
          <a:xfrm>
            <a:off x="1371600" y="3886200"/>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Welk scenario kiezen we?</a:t>
            </a:r>
          </a:p>
          <a:p>
            <a:pPr algn="l">
              <a:lnSpc>
                <a:spcPct val="120000"/>
              </a:lnSpc>
              <a:spcAft>
                <a:spcPts val="0"/>
              </a:spcAft>
            </a:pPr>
            <a:r>
              <a:rPr sz="1000" b="0">
                <a:solidFill>
                  <a:srgbClr val="5F7B9A"/>
                </a:solidFill>
                <a:latin typeface="Calibri"/>
              </a:rPr>
              <a:t>de keuze gebeurt op basis van BIC-data; tot die tijd staat het rooster stil</a:t>
            </a:r>
          </a:p>
        </p:txBody>
      </p:sp>
      <p:sp>
        <p:nvSpPr>
          <p:cNvPr id="35" name="TextBox 34"/>
          <p:cNvSpPr txBox="1"/>
          <p:nvPr/>
        </p:nvSpPr>
        <p:spPr>
          <a:xfrm>
            <a:off x="7315200" y="3886200"/>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8BA5C0"/>
                </a:solidFill>
                <a:latin typeface="Calibri"/>
              </a:rPr>
              <a:t>vijf varianten liggen er</a:t>
            </a:r>
          </a:p>
        </p:txBody>
      </p:sp>
      <p:sp>
        <p:nvSpPr>
          <p:cNvPr id="36" name="Rounded Rectangle 35"/>
          <p:cNvSpPr/>
          <p:nvPr/>
        </p:nvSpPr>
        <p:spPr>
          <a:xfrm>
            <a:off x="9326880" y="3986784"/>
            <a:ext cx="1225296" cy="292608"/>
          </a:xfrm>
          <a:prstGeom prst="roundRect">
            <a:avLst>
              <a:gd name="adj" fmla="val 50000"/>
            </a:avLst>
          </a:prstGeom>
          <a:solidFill>
            <a:srgbClr val="FFB547">
              <a:alpha val="18000"/>
            </a:srgbClr>
          </a:solidFill>
          <a:ln w="12700">
            <a:solidFill>
              <a:srgbClr val="9272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FFB547"/>
                </a:solidFill>
                <a:latin typeface="Calibri"/>
              </a:rPr>
              <a:t>urgent</a:t>
            </a:r>
          </a:p>
        </p:txBody>
      </p:sp>
      <p:sp>
        <p:nvSpPr>
          <p:cNvPr id="37" name="TextBox 36"/>
          <p:cNvSpPr txBox="1"/>
          <p:nvPr/>
        </p:nvSpPr>
        <p:spPr>
          <a:xfrm>
            <a:off x="10362895" y="3886200"/>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5F7B9A"/>
                </a:solidFill>
                <a:latin typeface="Calibri"/>
              </a:rPr>
              <a:t>dia 12</a:t>
            </a:r>
          </a:p>
        </p:txBody>
      </p:sp>
      <p:sp>
        <p:nvSpPr>
          <p:cNvPr id="38" name="Rounded Rectangle 37"/>
          <p:cNvSpPr/>
          <p:nvPr/>
        </p:nvSpPr>
        <p:spPr>
          <a:xfrm>
            <a:off x="640080" y="4535424"/>
            <a:ext cx="10911535" cy="58521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640080" y="4535424"/>
            <a:ext cx="45720" cy="58521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50392" y="4636008"/>
            <a:ext cx="384048" cy="384048"/>
          </a:xfrm>
          <a:prstGeom prst="ellipse">
            <a:avLst/>
          </a:prstGeom>
          <a:solidFill>
            <a:srgbClr val="FFB547">
              <a:alpha val="16000"/>
            </a:srgbClr>
          </a:solidFill>
          <a:ln w="15875">
            <a:solidFill>
              <a:srgbClr val="FFB54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B547"/>
                </a:solidFill>
                <a:latin typeface="Calibri"/>
              </a:rPr>
              <a:t>5</a:t>
            </a:r>
          </a:p>
        </p:txBody>
      </p:sp>
      <p:sp>
        <p:nvSpPr>
          <p:cNvPr id="41" name="TextBox 40"/>
          <p:cNvSpPr txBox="1"/>
          <p:nvPr/>
        </p:nvSpPr>
        <p:spPr>
          <a:xfrm>
            <a:off x="1371600" y="4581144"/>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Wat is de weigerkans bij 16 bedden?</a:t>
            </a:r>
          </a:p>
          <a:p>
            <a:pPr algn="l">
              <a:lnSpc>
                <a:spcPct val="120000"/>
              </a:lnSpc>
              <a:spcAft>
                <a:spcPts val="0"/>
              </a:spcAft>
            </a:pPr>
            <a:r>
              <a:rPr sz="1000" b="0">
                <a:solidFill>
                  <a:srgbClr val="5F7B9A"/>
                </a:solidFill>
                <a:latin typeface="Calibri"/>
              </a:rPr>
              <a:t>de Hotfloor past wel, maar het risico is niet becijferd</a:t>
            </a:r>
          </a:p>
        </p:txBody>
      </p:sp>
      <p:sp>
        <p:nvSpPr>
          <p:cNvPr id="42" name="TextBox 41"/>
          <p:cNvSpPr txBox="1"/>
          <p:nvPr/>
        </p:nvSpPr>
        <p:spPr>
          <a:xfrm>
            <a:off x="7315200" y="4581144"/>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8BA5C0"/>
                </a:solidFill>
                <a:latin typeface="Calibri"/>
              </a:rPr>
              <a:t>Hotfloor</a:t>
            </a:r>
          </a:p>
        </p:txBody>
      </p:sp>
      <p:sp>
        <p:nvSpPr>
          <p:cNvPr id="43" name="Rounded Rectangle 42"/>
          <p:cNvSpPr/>
          <p:nvPr/>
        </p:nvSpPr>
        <p:spPr>
          <a:xfrm>
            <a:off x="9326880" y="4681728"/>
            <a:ext cx="1225296" cy="292608"/>
          </a:xfrm>
          <a:prstGeom prst="roundRect">
            <a:avLst>
              <a:gd name="adj" fmla="val 50000"/>
            </a:avLst>
          </a:prstGeom>
          <a:solidFill>
            <a:srgbClr val="FFB547">
              <a:alpha val="18000"/>
            </a:srgbClr>
          </a:solidFill>
          <a:ln w="12700">
            <a:solidFill>
              <a:srgbClr val="9272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FFB547"/>
                </a:solidFill>
                <a:latin typeface="Calibri"/>
              </a:rPr>
              <a:t>urgent</a:t>
            </a:r>
          </a:p>
        </p:txBody>
      </p:sp>
      <p:sp>
        <p:nvSpPr>
          <p:cNvPr id="44" name="TextBox 43"/>
          <p:cNvSpPr txBox="1"/>
          <p:nvPr/>
        </p:nvSpPr>
        <p:spPr>
          <a:xfrm>
            <a:off x="10362895" y="4581144"/>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5F7B9A"/>
                </a:solidFill>
                <a:latin typeface="Calibri"/>
              </a:rPr>
              <a:t>dia 15</a:t>
            </a:r>
          </a:p>
        </p:txBody>
      </p:sp>
      <p:sp>
        <p:nvSpPr>
          <p:cNvPr id="45" name="Rounded Rectangle 44"/>
          <p:cNvSpPr/>
          <p:nvPr/>
        </p:nvSpPr>
        <p:spPr>
          <a:xfrm>
            <a:off x="640080" y="5230368"/>
            <a:ext cx="10911535" cy="585216"/>
          </a:xfrm>
          <a:prstGeom prst="roundRect">
            <a:avLst>
              <a:gd name="adj" fmla="val 3000"/>
            </a:avLst>
          </a:prstGeom>
          <a:solidFill>
            <a:srgbClr val="0F2440"/>
          </a:solidFill>
          <a:ln w="12700">
            <a:solidFill>
              <a:srgbClr val="1D3B5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230368"/>
            <a:ext cx="45720" cy="585216"/>
          </a:xfrm>
          <a:prstGeom prst="roundRect">
            <a:avLst>
              <a:gd name="adj" fmla="val 50000"/>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50392" y="5330952"/>
            <a:ext cx="384048" cy="384048"/>
          </a:xfrm>
          <a:prstGeom prst="ellipse">
            <a:avLst/>
          </a:prstGeom>
          <a:solidFill>
            <a:srgbClr val="FFB547">
              <a:alpha val="16000"/>
            </a:srgbClr>
          </a:solidFill>
          <a:ln w="15875">
            <a:solidFill>
              <a:srgbClr val="FFB54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B547"/>
                </a:solidFill>
                <a:latin typeface="Calibri"/>
              </a:rPr>
              <a:t>6</a:t>
            </a:r>
          </a:p>
        </p:txBody>
      </p:sp>
      <p:sp>
        <p:nvSpPr>
          <p:cNvPr id="48" name="TextBox 47"/>
          <p:cNvSpPr txBox="1"/>
          <p:nvPr/>
        </p:nvSpPr>
        <p:spPr>
          <a:xfrm>
            <a:off x="1371600" y="527608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EAF2FA"/>
                </a:solidFill>
                <a:latin typeface="Calibri"/>
              </a:rPr>
              <a:t>Wat doen we met de knelpunten?</a:t>
            </a:r>
          </a:p>
          <a:p>
            <a:pPr algn="l">
              <a:lnSpc>
                <a:spcPct val="120000"/>
              </a:lnSpc>
              <a:spcAft>
                <a:spcPts val="0"/>
              </a:spcAft>
            </a:pPr>
            <a:r>
              <a:rPr sz="1000" b="0">
                <a:solidFill>
                  <a:srgbClr val="5F7B9A"/>
                </a:solidFill>
                <a:latin typeface="Calibri"/>
              </a:rPr>
              <a:t>de analyses zijn gedeeld, de vervolgacties zijn niet belegd</a:t>
            </a:r>
          </a:p>
        </p:txBody>
      </p:sp>
      <p:sp>
        <p:nvSpPr>
          <p:cNvPr id="49" name="TextBox 48"/>
          <p:cNvSpPr txBox="1"/>
          <p:nvPr/>
        </p:nvSpPr>
        <p:spPr>
          <a:xfrm>
            <a:off x="7315200" y="527608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8BA5C0"/>
                </a:solidFill>
                <a:latin typeface="Calibri"/>
              </a:rPr>
              <a:t>uit beide analyses</a:t>
            </a:r>
          </a:p>
        </p:txBody>
      </p:sp>
      <p:sp>
        <p:nvSpPr>
          <p:cNvPr id="50" name="Rounded Rectangle 49"/>
          <p:cNvSpPr/>
          <p:nvPr/>
        </p:nvSpPr>
        <p:spPr>
          <a:xfrm>
            <a:off x="9326880" y="5376672"/>
            <a:ext cx="1225296" cy="292608"/>
          </a:xfrm>
          <a:prstGeom prst="roundRect">
            <a:avLst>
              <a:gd name="adj" fmla="val 50000"/>
            </a:avLst>
          </a:prstGeom>
          <a:solidFill>
            <a:srgbClr val="FFB547">
              <a:alpha val="18000"/>
            </a:srgbClr>
          </a:solidFill>
          <a:ln w="12700">
            <a:solidFill>
              <a:srgbClr val="92724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FFB547"/>
                </a:solidFill>
                <a:latin typeface="Calibri"/>
              </a:rPr>
              <a:t>urgent</a:t>
            </a:r>
          </a:p>
        </p:txBody>
      </p:sp>
      <p:sp>
        <p:nvSpPr>
          <p:cNvPr id="51" name="TextBox 50"/>
          <p:cNvSpPr txBox="1"/>
          <p:nvPr/>
        </p:nvSpPr>
        <p:spPr>
          <a:xfrm>
            <a:off x="10362895" y="527608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5F7B9A"/>
                </a:solidFill>
                <a:latin typeface="Calibri"/>
              </a:rPr>
              <a:t>dia 14 en 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5101E"/>
              </a:gs>
              <a:gs pos="100000">
                <a:srgbClr val="0C2138"/>
              </a:gs>
            </a:gsLst>
            <a:lin scaled="0" ang="180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8046720" y="-548640"/>
            <a:ext cx="4754880" cy="4754880"/>
          </a:xfrm>
          <a:prstGeom prst="ellipse">
            <a:avLst/>
          </a:prstGeom>
          <a:solidFill>
            <a:srgbClr val="35E0C4">
              <a:alpha val="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522208" y="-73152"/>
            <a:ext cx="3803904" cy="3803904"/>
          </a:xfrm>
          <a:prstGeom prst="ellipse">
            <a:avLst/>
          </a:prstGeom>
          <a:solidFill>
            <a:srgbClr val="35E0C4">
              <a:alpha val="1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997696" y="402335"/>
            <a:ext cx="2852928" cy="2852928"/>
          </a:xfrm>
          <a:prstGeom prst="ellipse">
            <a:avLst/>
          </a:prstGeom>
          <a:solidFill>
            <a:srgbClr val="35E0C4">
              <a:alpha val="1333"/>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73184" y="877824"/>
            <a:ext cx="1901952" cy="1901952"/>
          </a:xfrm>
          <a:prstGeom prst="ellipse">
            <a:avLst/>
          </a:prstGeom>
          <a:solidFill>
            <a:srgbClr val="35E0C4">
              <a:alpha val="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948672" y="1353312"/>
            <a:ext cx="950976" cy="950976"/>
          </a:xfrm>
          <a:prstGeom prst="ellipse">
            <a:avLst/>
          </a:prstGeom>
          <a:solidFill>
            <a:srgbClr val="35E0C4">
              <a:alpha val="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71600"/>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35E0C4"/>
                </a:solidFill>
                <a:latin typeface="Calibri"/>
              </a:rPr>
              <a:t>WAAR HET OP NEERKOMT</a:t>
            </a:r>
          </a:p>
        </p:txBody>
      </p:sp>
      <p:sp>
        <p:nvSpPr>
          <p:cNvPr id="9" name="TextBox 8"/>
          <p:cNvSpPr txBox="1"/>
          <p:nvPr/>
        </p:nvSpPr>
        <p:spPr>
          <a:xfrm>
            <a:off x="640080" y="1700784"/>
            <a:ext cx="7863840" cy="914400"/>
          </a:xfrm>
          <a:prstGeom prst="rect">
            <a:avLst/>
          </a:prstGeom>
          <a:noFill/>
        </p:spPr>
        <p:txBody>
          <a:bodyPr wrap="square" lIns="0" rIns="0" tIns="0" bIns="0" anchor="t">
            <a:spAutoFit/>
          </a:bodyPr>
          <a:lstStyle/>
          <a:p>
            <a:pPr algn="l">
              <a:lnSpc>
                <a:spcPct val="120000"/>
              </a:lnSpc>
              <a:spcAft>
                <a:spcPts val="0"/>
              </a:spcAft>
            </a:pPr>
            <a:r>
              <a:rPr sz="4600" b="1">
                <a:solidFill>
                  <a:srgbClr val="EAF2FA"/>
                </a:solidFill>
                <a:latin typeface="Calibri"/>
              </a:rPr>
              <a:t>Drie dingen</a:t>
            </a:r>
          </a:p>
        </p:txBody>
      </p:sp>
      <p:cxnSp>
        <p:nvCxnSpPr>
          <p:cNvPr id="10" name="Connector 9"/>
          <p:cNvCxnSpPr/>
          <p:nvPr/>
        </p:nvCxnSpPr>
        <p:spPr>
          <a:xfrm>
            <a:off x="640080" y="2743200"/>
            <a:ext cx="2377440" cy="0"/>
          </a:xfrm>
          <a:prstGeom prst="line">
            <a:avLst/>
          </a:prstGeom>
          <a:ln w="25400">
            <a:solidFill>
              <a:srgbClr val="35E0C4"/>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640080" y="3054096"/>
            <a:ext cx="475488" cy="475488"/>
          </a:xfrm>
          <a:prstGeom prst="ellipse">
            <a:avLst/>
          </a:prstGeom>
          <a:solidFill>
            <a:srgbClr val="35E0C4">
              <a:alpha val="16000"/>
            </a:srgbClr>
          </a:solidFill>
          <a:ln w="15875">
            <a:solidFill>
              <a:srgbClr val="35E0C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35E0C4"/>
                </a:solidFill>
                <a:latin typeface="Calibri"/>
              </a:rPr>
              <a:t/>
            </a:r>
          </a:p>
        </p:txBody>
      </p:sp>
      <p:sp>
        <p:nvSpPr>
          <p:cNvPr id="12" name="Oval 11"/>
          <p:cNvSpPr/>
          <p:nvPr/>
        </p:nvSpPr>
        <p:spPr>
          <a:xfrm>
            <a:off x="804672" y="3218687"/>
            <a:ext cx="146304" cy="146304"/>
          </a:xfrm>
          <a:prstGeom prst="ellipse">
            <a:avLst/>
          </a:prstGeom>
          <a:solidFill>
            <a:srgbClr val="35E0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3054096"/>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35E0C4"/>
                </a:solidFill>
                <a:latin typeface="Calibri"/>
              </a:rPr>
              <a:t>Fysiek eerst</a:t>
            </a:r>
          </a:p>
        </p:txBody>
      </p:sp>
      <p:sp>
        <p:nvSpPr>
          <p:cNvPr id="14" name="TextBox 13"/>
          <p:cNvSpPr txBox="1"/>
          <p:nvPr/>
        </p:nvSpPr>
        <p:spPr>
          <a:xfrm>
            <a:off x="1298448" y="3383279"/>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8BA5C0"/>
                </a:solidFill>
                <a:latin typeface="Calibri"/>
              </a:rPr>
              <a:t>Wat en waar. De personele inzet volgt daaruit; andersom werkt het niet.</a:t>
            </a:r>
          </a:p>
        </p:txBody>
      </p:sp>
      <p:sp>
        <p:nvSpPr>
          <p:cNvPr id="15" name="Oval 14"/>
          <p:cNvSpPr/>
          <p:nvPr/>
        </p:nvSpPr>
        <p:spPr>
          <a:xfrm>
            <a:off x="640080" y="4096511"/>
            <a:ext cx="475488" cy="475488"/>
          </a:xfrm>
          <a:prstGeom prst="ellipse">
            <a:avLst/>
          </a:prstGeom>
          <a:solidFill>
            <a:srgbClr val="FF6B5A">
              <a:alpha val="16000"/>
            </a:srgbClr>
          </a:solidFill>
          <a:ln w="15875">
            <a:solidFill>
              <a:srgbClr val="FF6B5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FF6B5A"/>
                </a:solidFill>
                <a:latin typeface="Calibri"/>
              </a:rPr>
              <a:t/>
            </a:r>
          </a:p>
        </p:txBody>
      </p:sp>
      <p:sp>
        <p:nvSpPr>
          <p:cNvPr id="16" name="Oval 15"/>
          <p:cNvSpPr/>
          <p:nvPr/>
        </p:nvSpPr>
        <p:spPr>
          <a:xfrm>
            <a:off x="804672" y="4261103"/>
            <a:ext cx="146304" cy="146304"/>
          </a:xfrm>
          <a:prstGeom prst="ellipse">
            <a:avLst/>
          </a:prstGeom>
          <a:solidFill>
            <a:srgbClr val="FF6B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98448" y="4096511"/>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FF6B5A"/>
                </a:solidFill>
                <a:latin typeface="Calibri"/>
              </a:rPr>
              <a:t>Drie besluiten blokkeren</a:t>
            </a:r>
          </a:p>
        </p:txBody>
      </p:sp>
      <p:sp>
        <p:nvSpPr>
          <p:cNvPr id="18" name="TextBox 17"/>
          <p:cNvSpPr txBox="1"/>
          <p:nvPr/>
        </p:nvSpPr>
        <p:spPr>
          <a:xfrm>
            <a:off x="1298448" y="4425696"/>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8BA5C0"/>
                </a:solidFill>
                <a:latin typeface="Calibri"/>
              </a:rPr>
              <a:t>De EHH-vraag, het aantal plekken op de acute poort en de norm verpleegkundigen.</a:t>
            </a:r>
          </a:p>
        </p:txBody>
      </p:sp>
      <p:sp>
        <p:nvSpPr>
          <p:cNvPr id="19" name="Oval 18"/>
          <p:cNvSpPr/>
          <p:nvPr/>
        </p:nvSpPr>
        <p:spPr>
          <a:xfrm>
            <a:off x="640080" y="5138927"/>
            <a:ext cx="475488" cy="475488"/>
          </a:xfrm>
          <a:prstGeom prst="ellipse">
            <a:avLst/>
          </a:prstGeom>
          <a:solidFill>
            <a:srgbClr val="FFB547">
              <a:alpha val="16000"/>
            </a:srgbClr>
          </a:solidFill>
          <a:ln w="15875">
            <a:solidFill>
              <a:srgbClr val="FFB54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FFB547"/>
                </a:solidFill>
                <a:latin typeface="Calibri"/>
              </a:rPr>
              <a:t/>
            </a:r>
          </a:p>
        </p:txBody>
      </p:sp>
      <p:sp>
        <p:nvSpPr>
          <p:cNvPr id="20" name="Oval 19"/>
          <p:cNvSpPr/>
          <p:nvPr/>
        </p:nvSpPr>
        <p:spPr>
          <a:xfrm>
            <a:off x="804672" y="5303519"/>
            <a:ext cx="146304" cy="146304"/>
          </a:xfrm>
          <a:prstGeom prst="ellipse">
            <a:avLst/>
          </a:prstGeom>
          <a:solidFill>
            <a:srgbClr val="FFB5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8448" y="5138927"/>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FFB547"/>
                </a:solidFill>
                <a:latin typeface="Calibri"/>
              </a:rPr>
              <a:t>Nu apart, straks samen</a:t>
            </a:r>
          </a:p>
        </p:txBody>
      </p:sp>
      <p:sp>
        <p:nvSpPr>
          <p:cNvPr id="22" name="TextBox 21"/>
          <p:cNvSpPr txBox="1"/>
          <p:nvPr/>
        </p:nvSpPr>
        <p:spPr>
          <a:xfrm>
            <a:off x="1298448" y="5468112"/>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8BA5C0"/>
                </a:solidFill>
                <a:latin typeface="Calibri"/>
              </a:rPr>
              <a:t>De huidige berekeningen gelden per afdeling. Bij samenvoeging moet opnieuw geteld worden.</a:t>
            </a:r>
          </a:p>
        </p:txBody>
      </p:sp>
      <p:sp>
        <p:nvSpPr>
          <p:cNvPr id="23" name="Freeform 22"/>
          <p:cNvSpPr/>
          <p:nvPr/>
        </p:nvSpPr>
        <p:spPr>
          <a:xfrm>
            <a:off x="0" y="5980176"/>
            <a:ext cx="12191695" cy="566928"/>
          </a:xfrm>
          <a:custGeom>
            <a:avLst/>
            <a:gdLst/>
            <a:ahLst/>
            <a:cxnLst/>
            <a:rect l="l" t="t" r="r" b="b"/>
            <a:pathLst>
              <a:path w="12191695" h="566928">
                <a:moveTo>
                  <a:pt x="0" y="365760"/>
                </a:moveTo>
                <a:lnTo>
                  <a:pt x="914377" y="365760"/>
                </a:lnTo>
                <a:lnTo>
                  <a:pt x="1097252" y="307238"/>
                </a:lnTo>
                <a:lnTo>
                  <a:pt x="1280127" y="402336"/>
                </a:lnTo>
                <a:lnTo>
                  <a:pt x="1523961" y="0"/>
                </a:lnTo>
                <a:lnTo>
                  <a:pt x="1767795" y="566928"/>
                </a:lnTo>
                <a:lnTo>
                  <a:pt x="2011629" y="365760"/>
                </a:lnTo>
                <a:lnTo>
                  <a:pt x="3047923" y="365760"/>
                </a:lnTo>
                <a:lnTo>
                  <a:pt x="3047923" y="365760"/>
                </a:lnTo>
                <a:lnTo>
                  <a:pt x="3962300" y="365760"/>
                </a:lnTo>
                <a:lnTo>
                  <a:pt x="4145176" y="307238"/>
                </a:lnTo>
                <a:lnTo>
                  <a:pt x="4328051" y="402336"/>
                </a:lnTo>
                <a:lnTo>
                  <a:pt x="4571885" y="0"/>
                </a:lnTo>
                <a:lnTo>
                  <a:pt x="4815719" y="566928"/>
                </a:lnTo>
                <a:lnTo>
                  <a:pt x="5059553" y="365760"/>
                </a:lnTo>
                <a:lnTo>
                  <a:pt x="6095847" y="365760"/>
                </a:lnTo>
                <a:lnTo>
                  <a:pt x="6095847" y="365760"/>
                </a:lnTo>
                <a:lnTo>
                  <a:pt x="7010224" y="365760"/>
                </a:lnTo>
                <a:lnTo>
                  <a:pt x="7193100" y="307238"/>
                </a:lnTo>
                <a:lnTo>
                  <a:pt x="7375975" y="402336"/>
                </a:lnTo>
                <a:lnTo>
                  <a:pt x="7619809" y="0"/>
                </a:lnTo>
                <a:lnTo>
                  <a:pt x="7863643" y="566928"/>
                </a:lnTo>
                <a:lnTo>
                  <a:pt x="8107477" y="365760"/>
                </a:lnTo>
                <a:lnTo>
                  <a:pt x="9143771" y="365760"/>
                </a:lnTo>
                <a:lnTo>
                  <a:pt x="9143771" y="365760"/>
                </a:lnTo>
                <a:lnTo>
                  <a:pt x="10058148" y="365760"/>
                </a:lnTo>
                <a:lnTo>
                  <a:pt x="10241023" y="307238"/>
                </a:lnTo>
                <a:lnTo>
                  <a:pt x="10423899" y="402336"/>
                </a:lnTo>
                <a:lnTo>
                  <a:pt x="10667733" y="0"/>
                </a:lnTo>
                <a:lnTo>
                  <a:pt x="10911567" y="566928"/>
                </a:lnTo>
                <a:lnTo>
                  <a:pt x="11155401" y="365760"/>
                </a:lnTo>
                <a:lnTo>
                  <a:pt x="12191695" y="365760"/>
                </a:lnTo>
              </a:path>
            </a:pathLst>
          </a:custGeom>
          <a:noFill/>
          <a:ln w="19050">
            <a:solidFill>
              <a:srgbClr val="35E0C4">
                <a:alpha val="2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