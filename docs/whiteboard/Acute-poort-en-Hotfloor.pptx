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83" r:id="rId35"/>
    <p:sldId id="284" r:id="rId36"/>
    <p:sldId id="257" r:id="rId3"/>
    <p:sldId id="258" r:id="rId4"/>
    <p:sldId id="259" r:id="rId5"/>
    <p:sldId id="260" r:id="rId6"/>
    <p:sldId id="261" r:id="rId7"/>
    <p:sldId id="262" r:id="rId8"/>
    <p:sldId id="263" r:id="rId9"/>
    <p:sldId id="264" r:id="rId10"/>
    <p:sldId id="265" r:id="rId11"/>
    <p:sldId id="266" r:id="rId12"/>
    <p:sldId id="267" r:id="rId13"/>
    <p:sldId id="282"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72BD8AB-A704-3CF7-0524-52382499C9FF}" name="Vnoutchkov, Maxim" initials="MV" userId="S::vnout01@slingeland.nl::05bea0cf-1776-4045-8b6d-a66791cd8d7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1" d="100"/>
          <a:sy n="121" d="100"/>
        </p:scale>
        <p:origin x="156"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8/10/relationships/authors" Target="authors.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C71292-A87C-4CA7-8432-67F2341EF309}" type="datetimeFigureOut">
              <a:rPr lang="nl-NL" smtClean="0"/>
              <a:t>3-8-2026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763FC0-FDCD-4EAB-B169-897F75D41562}" type="slidenum">
              <a:rPr lang="nl-NL" smtClean="0"/>
              <a:t>‹nr.›</a:t>
            </a:fld>
            <a:endParaRPr lang="nl-NL"/>
          </a:p>
        </p:txBody>
      </p:sp>
    </p:spTree>
    <p:extLst>
      <p:ext uri="{BB962C8B-B14F-4D97-AF65-F5344CB8AC3E}">
        <p14:creationId xmlns:p14="http://schemas.microsoft.com/office/powerpoint/2010/main" val="16114914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Bij SEH bij drukte ook POK gebruikt en kan voorkomen dat de patiënten op de gang liggen.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4</a:t>
            </a:fld>
            <a:endParaRPr lang="nl-NL"/>
          </a:p>
        </p:txBody>
      </p:sp>
    </p:spTree>
    <p:extLst>
      <p:ext uri="{BB962C8B-B14F-4D97-AF65-F5344CB8AC3E}">
        <p14:creationId xmlns:p14="http://schemas.microsoft.com/office/powerpoint/2010/main" val="4257831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Aantal plekken ICU, CCU/SCU in totaal 16. Verdeling relevant voor personele inzet. </a:t>
            </a:r>
          </a:p>
          <a:p>
            <a:r>
              <a:rPr lang="nl-NL" dirty="0"/>
              <a:t>EPA’S kind op SEH.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10</a:t>
            </a:fld>
            <a:endParaRPr lang="nl-NL"/>
          </a:p>
        </p:txBody>
      </p:sp>
    </p:spTree>
    <p:extLst>
      <p:ext uri="{BB962C8B-B14F-4D97-AF65-F5344CB8AC3E}">
        <p14:creationId xmlns:p14="http://schemas.microsoft.com/office/powerpoint/2010/main" val="22717710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12</a:t>
            </a:fld>
            <a:endParaRPr lang="nl-NL"/>
          </a:p>
        </p:txBody>
      </p:sp>
    </p:spTree>
    <p:extLst>
      <p:ext uri="{BB962C8B-B14F-4D97-AF65-F5344CB8AC3E}">
        <p14:creationId xmlns:p14="http://schemas.microsoft.com/office/powerpoint/2010/main" val="2861472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Hoe snel is het inzichtelijk dat EHH patiënt langer dan 4 uur moet blijven en moet doorstromen naar CCU/kliniek. Dat kan dan het afkappunt zijn dat de patiënt overgeplaatst gaat worden </a:t>
            </a:r>
            <a:r>
              <a:rPr lang="nl-NL" dirty="0" err="1"/>
              <a:t>ipv</a:t>
            </a:r>
            <a:r>
              <a:rPr lang="nl-NL" dirty="0"/>
              <a:t> dat het op de EHH blijft.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16</a:t>
            </a:fld>
            <a:endParaRPr lang="nl-NL"/>
          </a:p>
        </p:txBody>
      </p:sp>
    </p:spTree>
    <p:extLst>
      <p:ext uri="{BB962C8B-B14F-4D97-AF65-F5344CB8AC3E}">
        <p14:creationId xmlns:p14="http://schemas.microsoft.com/office/powerpoint/2010/main" val="3803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Dit was een vraag. Maar is nu wel vastgesteld op de acute poort. Omdat acute poort te krap is, geeft EHH bij acute poort de ruimte om de acute opvang van de cardio patiënt op een EHH bed, </a:t>
            </a:r>
            <a:r>
              <a:rPr lang="nl-NL" dirty="0" err="1"/>
              <a:t>ipv</a:t>
            </a:r>
            <a:r>
              <a:rPr lang="nl-NL" dirty="0"/>
              <a:t> op een SEH bed. Dit geeft ruimte op de 18 bedden van de SEH. Belangrijkste hierin is, het afkapmoment/doorplaatsingsmoment van EHH naar CCU. </a:t>
            </a:r>
            <a:br>
              <a:rPr lang="nl-NL" dirty="0"/>
            </a:br>
            <a:r>
              <a:rPr lang="nl-NL" dirty="0"/>
              <a:t>Personele inzet? 1 </a:t>
            </a:r>
            <a:r>
              <a:rPr lang="nl-NL" dirty="0" err="1"/>
              <a:t>dedicated</a:t>
            </a:r>
            <a:r>
              <a:rPr lang="nl-NL" dirty="0"/>
              <a:t> CCU verpleegkundige op EHH met overloop van SEH met cardio EPA?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17</a:t>
            </a:fld>
            <a:endParaRPr lang="nl-NL"/>
          </a:p>
        </p:txBody>
      </p:sp>
    </p:spTree>
    <p:extLst>
      <p:ext uri="{BB962C8B-B14F-4D97-AF65-F5344CB8AC3E}">
        <p14:creationId xmlns:p14="http://schemas.microsoft.com/office/powerpoint/2010/main" val="3505260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t>1. Indirecte uren: de oude begroting loopt sterk uiteen. Wat houden we aan, en verlaagt de regieverpleegkundige dit per september?</a:t>
            </a:r>
          </a:p>
          <a:p>
            <a:r>
              <a:t>2. Hoe richten we de inzet van de regieverpleegkundige in de nieuwbouw in?</a:t>
            </a:r>
          </a:p>
          <a:p>
            <a:r>
              <a:t>3. Komt de kinderverpleegkundige dedicated op de SEH, of op afroep?</a:t>
            </a:r>
          </a:p>
          <a:p>
            <a:r>
              <a:t>4. Hoe staat het met de EPA's? Zijn er vereisten voor SEH-verpleegkundigen, en zijn er verplichte EPA's voor ICU en CCU?</a:t>
            </a:r>
          </a:p>
          <a:p>
            <a:r>
              <a:t>5. Als die EPA's er zijn, wat betekent dat dan in de praktijk?</a:t>
            </a:r>
          </a:p>
          <a:p>
            <a:r>
              <a:t>6. Zetten we voor de nieuwbouw nog in op een acute poule voor CCU/ICU en CCU/SEH? Nu is dat alleen ICU/SEH.</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23</a:t>
            </a:fld>
            <a:endParaRPr lang="nl-NL"/>
          </a:p>
        </p:txBody>
      </p:sp>
    </p:spTree>
    <p:extLst>
      <p:ext uri="{BB962C8B-B14F-4D97-AF65-F5344CB8AC3E}">
        <p14:creationId xmlns:p14="http://schemas.microsoft.com/office/powerpoint/2010/main" val="255504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t>Inzet nieuwbouw SEH arts, verpleegkundige, secretaresses. SEH wordt groter. Moeten wij ook rekening aan de inzetten artsen IC/ CCU?</a:t>
            </a:r>
          </a:p>
          <a:p/>
          <a:p>
            <a:r>
              <a:t>1. Verpleegkundige norm: aanbodgericht werken in plaats van vraaggestuurd.</a:t>
            </a:r>
          </a:p>
          <a:p>
            <a:r>
              <a:t>2. SEH-artsen: de inzet is verhoogd maar de begroting is niet aangepast.</a:t>
            </a:r>
          </a:p>
          <a:p>
            <a:r>
              <a:t>3. Acute poort: wat komt waar, en wat kunnen wij doorrekenen?</a:t>
            </a:r>
          </a:p>
          <a:p>
            <a:r>
              <a:t>4. ICU en CCU wijken structureel af van het jaarplan BIC.</a:t>
            </a:r>
          </a:p>
          <a:p>
            <a:r>
              <a:t>5. De personele planning loopt niet volledig via CPP, met name rond de acute poule.</a:t>
            </a:r>
          </a:p>
          <a:p>
            <a:r>
              <a:t>6. Indirecte uren.</a:t>
            </a:r>
          </a:p>
          <a:p>
            <a:r>
              <a:t>7. Uitgangspunten en kaders ontbreken.</a:t>
            </a:r>
          </a:p>
          <a:p>
            <a:r>
              <a:t>8. Vakantiegoedkeuringen niet integraal en te ruim vrijgegeven, met name bij de CCU. Actie: samen met Remco een vakantiegoedkeuring opstellen; hij noemde 20 tot 25%.</a:t>
            </a:r>
          </a:p>
          <a:p>
            <a:r>
              <a:t>9. Slapers op de SEH. Kanttekening bij de JDT: je kunt vol liggen waardoor de druk hoog is, terwijl de JDT-score dat niet laat zien.</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24</a:t>
            </a:fld>
            <a:endParaRPr lang="nl-NL"/>
          </a:p>
        </p:txBody>
      </p:sp>
    </p:spTree>
    <p:extLst>
      <p:ext uri="{BB962C8B-B14F-4D97-AF65-F5344CB8AC3E}">
        <p14:creationId xmlns:p14="http://schemas.microsoft.com/office/powerpoint/2010/main" val="290718861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 bepaling capaciteit (bedden en ruimtes) voor het jaar</a:t>
            </a:r>
          </a:p>
          <a:p>
            <a:r>
              <a:t>1. Data-analyse van instroom, patiëntaanwezigheid, ligduur en meer.</a:t>
            </a:r>
          </a:p>
          <a:p>
            <a:r>
              <a:t>2. Opstellen van een rekenmodel voor het komend jaar, met daarin de resultaten van de analyse op basis van de zorgvraag.</a:t>
            </a:r>
          </a:p>
          <a:p>
            <a:r>
              <a:t>3. Bespreken van de resultaten uit de analyse en het rekenmodel met de zorgmanager.</a:t>
            </a:r>
          </a:p>
          <a:p>
            <a:r>
              <a:t>4. Uitgangspunten en input vanuit de zorgmanager.</a:t>
            </a:r>
          </a:p>
          <a:p>
            <a:r>
              <a:t>5. Verwerken van de uitgangspunten en input van de zorgmanager.</a:t>
            </a:r>
          </a:p>
          <a:p>
            <a:r>
              <a:t>6. Bespreken van het conceptplan met de teammanagers.</a:t>
            </a:r>
          </a:p>
          <a:p>
            <a:r>
              <a:t>7. Verwerken van de input van de teammanagers.</a:t>
            </a:r>
          </a:p>
          <a:p>
            <a:r>
              <a:t>8. Definitief advies met daarin het aantal benodigde bedden per week.</a:t>
            </a:r>
          </a:p>
          <a:p/>
          <a:p>
            <a:r>
              <a:t>Proces bepaling personele formatie voor komend jaar</a:t>
            </a:r>
          </a:p>
          <a:p>
            <a:r>
              <a:t>1. Vastgesteld uitgangspunt: het aantal benodigde bedden per afdeling, per week en per dag.</a:t>
            </a:r>
          </a:p>
          <a:p>
            <a:r>
              <a:t>2. Verpleegkundige normering (dag, laat, nacht).</a:t>
            </a:r>
          </a:p>
          <a:p>
            <a:r>
              <a:t>3. Roostersleutels opstellen.</a:t>
            </a:r>
          </a:p>
          <a:p>
            <a:r>
              <a:t>4. Berekening fte directe uren per week per afdeling — input voor de urenoverzichten per afdeling.</a:t>
            </a:r>
          </a:p>
          <a:p>
            <a:r>
              <a:t>5. Indirecte uren inventariseren en vaststellen.</a:t>
            </a:r>
          </a:p>
          <a:p>
            <a:r>
              <a:t>6. Fte-berekening per afdeling op basis van directe en indirecte uren — input voor de begroting van Planning &amp; Control.</a:t>
            </a:r>
          </a:p>
          <a:p>
            <a:r>
              <a:t>7. Opstellen van urenoverzichten per afdeling ten behoeve van de planning door CPP.</a:t>
            </a:r>
          </a:p>
          <a:p/>
          <a:p>
            <a:r>
              <a:t>Proces personele planning</a:t>
            </a:r>
          </a:p>
          <a:p>
            <a:r>
              <a:t>Input: de vastgestelde fte-berekening (inclusief roostersleutel en indirecte uren), het urenoverzicht en de opbouw in Ortec. De vervolgstappen staan in de bronpresentatie nog niet uitgeschreven.</a:t>
            </a:r>
          </a:p>
          <a:p/>
          <a:p>
            <a:r>
              <a:t>Van patiëntaanwezigheid naar personele capaciteit</a:t>
            </a:r>
          </a:p>
          <a:p>
            <a:r>
              <a:t>Benodigde beddencapaciteit per periode van het jaar (data-analyse: patiënteninstroom, patiëntaanwezigheid, seizoenspatronen) en de verpleegkundige norm per specialisme leiden samen tot het aantal benodigde diensten per 24 uur (dag, laat, nacht, overig/OVD). Via de roostersleutel volgt de fte directe zorg — de basis voor CPP. Daarna komen het kortdurend ziekteverzuim, opnieuw de roostersleutel, de overige uren (langdurig verzuim, zwangerschap, SOMZ, PLB, geboorteverlof, overig ouderschapsverlof, overige vervolgopleidingen) en de dagelijkse bedrijfsvoering erbij. De uitkomst is het urenoverzicht.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Formatieberekening, voorbeeld radiologie.</a:t>
            </a:r>
          </a:p>
          <a:p/>
          <a:p>
            <a:r>
              <a:t>Jaarlijkse bruto arbeidsduur conform cao: voltijd 36,0 uur per week, 52,17 weken, 1.878 bruto uren per jaar per fte.</a:t>
            </a:r>
          </a:p>
          <a:p/>
          <a:p>
            <a:r>
              <a:t>Afwezigheid volgens begroting: vakantierechten 144,0, ziekteverzuim 75,1, bijzonder verlof 8,0, PLB 22,0 en feestdagen 50,4 — samen 300 uur, oftewel 5,7 uur per week of 15,9%.</a:t>
            </a:r>
          </a:p>
          <a:p/>
          <a:p>
            <a:r>
              <a:t>Netto inzetbaarheid: 1.579 uur, oftewel 30,3 uur per week of 84,1%.</a:t>
            </a:r>
          </a:p>
          <a:p/>
          <a:p>
            <a:r>
              <a:t>Benodigde uren bestaan uit de indirecte uren per afdeling, de directe uren op basis van roostersleutel of sessierooster, de spoedmodaliteiten en de bereikbaarheidsdiensten.</a:t>
            </a:r>
          </a:p>
          <a:p/>
          <a:p>
            <a:r>
              <a:t>Personeelsformatie: benodigde capaciteit in uren, bruto benodigde formatie in fte, overige afwijkingen en bruto beschikbare formatie in fte. Het verschil is de fte-(mis)match.</a:t>
            </a:r>
          </a:p>
          <a:p/>
          <a:p>
            <a:r>
              <a:t>Overige afwijkingen komen bovenop de begrote afwezigheid: zwangerschapsverlof, ouderschapsverlof en ziekteverzuim boven de 4 procent.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Wat moeten we meenemen uit lopende projecten, of wordt dit later doorgevoerd in de begroting en het jaarplan?</a:t>
            </a:r>
          </a:p>
          <a:p>
            <a:r>
              <a:t>2. Hoe werken de afdelingen nu al toe naar de nieuwbouwsituatie, en welke impact heeft dat op bedden en personeel?</a:t>
            </a:r>
          </a:p>
          <a:p>
            <a:r>
              <a:t>3. Kunnen we de huidige personele inzet van de SEH aanhouden tot de nieuwbouw, exclusief eventuele extra inzet voor de nieuwbouw?</a:t>
            </a:r>
          </a:p>
          <a:p>
            <a:r>
              <a:t>4. De bedbezetting is in het weekend lager dan doordeweeks; formatie daarop aanpassen komt neer op 5-5-4. In de oudbouw geen aanpassing, alleen toewerken naar de nieuwbouw: motiveren en dubbel opleiden.</a:t>
            </a:r>
          </a:p>
          <a:p>
            <a:r>
              <a:t>5. Voor de ICU houden we de landelijke norm aan, maar daar zit bij ons ook recovery in. Welke normering hanteren we? (Geparkeerd voor later.)</a:t>
            </a:r>
          </a:p>
          <a:p>
            <a:r>
              <a:t>6. Wat is het uitgangspunt voor de AO-dienst? Bij drukte inzet in de zorg; negen van de tien keer blijf je buiten de zorg.</a:t>
            </a:r>
          </a:p>
          <a:p>
            <a:r>
              <a:t>7. Per september start de regieverpleegkundige. Wat betekent dat voor de personele inzet en de indirecte uren, en staat die functie binnen of buiten de zorg?</a:t>
            </a:r>
          </a:p>
          <a:p>
            <a:r>
              <a:t>8. Verhuisperiode: welke extra diensten zijn er nodig ten opzichte van de oudbouw, en op welke locatie worden die ingezet?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Waar komt de personele inzet op de EHH vandaan: van de SEH of van de ICU/CCU?</a:t>
            </a:r>
          </a:p>
          <a:p>
            <a:r>
              <a:t>2. 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p>
            <a:r>
              <a:t>3. Doet Remco een uitspraak over de verpleegkundige norm, of houden we de huidige normen aan en leggen we die aan hem voor? Cardio – medium care/neuro – intensive care? (harmonica model)</a:t>
            </a:r>
          </a:p>
          <a:p>
            <a:r>
              <a:t>4. In de nieuwbouw wordt de scope (CCU) anders ingericht. Hoe verwerken we dat in de personele inzet? Nu is er een extra dienst overdag en extra belasting in de late en de nachtdienst.</a:t>
            </a:r>
          </a:p>
          <a:p>
            <a:r>
              <a:t>5. De ICU heeft een normenkader waarbij maximaal 10% afgeweken mag worden van dedicated inzet van ICU-verpleegkundigen.</a:t>
            </a:r>
          </a:p>
          <a:p>
            <a:r>
              <a:t>6. Is er al nagedacht over de personele inzet op de SEH? Kunnen we het patroon opplussen op basis van de extra bedden, en van hoeveel bedden gaan we uit?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Simulatie nieuwbouw: volledige ICU-data.</a:t>
            </a:r>
          </a:p>
          <a:p>
            <a:r>
              <a:t>2. Simulatie nieuwbouw: CCU-data exclusief de eerste 2 uur van CCU-patiënten die naar de SEH gaan.</a:t>
            </a:r>
          </a:p>
          <a:p>
            <a:r>
              <a:t>3. Op hoeveel bedden komen we op dagniveau uit, en zijn er seizoenspatronen? Hoe is de verdeling ICU/CCU voor het personeel?</a:t>
            </a:r>
          </a:p>
          <a:p>
            <a:r>
              <a:t>4. Versneld jaarplan CCU, en het document van Daniek: huidig, transitie, nieuwbouw.</a:t>
            </a:r>
          </a:p>
          <a:p>
            <a:r>
              <a:t>5. Aftrap jaarplannen Acuut 2027: we kijken nu naar de verpleegkundige inzet; voor de SEH-artsen is eerder al iets gedaan. Wat is de wens?</a:t>
            </a:r>
          </a:p>
          <a:p>
            <a:r>
              <a:t>6. Integratie van afdelingen per nu: ICU en CCU, waarbij de SEH nog even buiten beschouwing blijft. Inzet van de ICU op de CCU gebeurt nog niet; andersom wel, maar alleen ad hoc.</a:t>
            </a:r>
          </a:p>
          <a:p>
            <a:r>
              <a:t>7. Naar Remco: hoort de EHH bij het personeel van de ICU/CCU of bij de SEH?</a:t>
            </a:r>
          </a:p>
          <a:p>
            <a:r>
              <a:t>8. Naar Remco: waar is de opvang van de acute cardiologiepatiënt, op de SEH of op de EHH?</a:t>
            </a:r>
          </a:p>
          <a:p>
            <a:r>
              <a:t>9. Naar Remco: hoe lang blijft een patiënt op de SEH voordat die naar de EHH gaat?</a:t>
            </a:r>
          </a:p>
          <a:p>
            <a:r>
              <a:t>10. Masterplan Acuut: wat ontbreekt er nog voor de transitie? Voorstel: een jaarplan opstellen en dat naast het huidige plan leggen.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val 2"/>
          <p:cNvSpPr/>
          <p:nvPr/>
        </p:nvSpPr>
        <p:spPr>
          <a:xfrm>
            <a:off x="6812279" y="548640"/>
            <a:ext cx="5303520" cy="5303520"/>
          </a:xfrm>
          <a:prstGeom prst="ellipse">
            <a:avLst/>
          </a:prstGeom>
          <a:noFill/>
          <a:ln w="12700">
            <a:solidFill>
              <a:srgbClr val="0E9A87">
                <a:alpha val="1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7498079" y="1234440"/>
            <a:ext cx="3931920" cy="3931920"/>
          </a:xfrm>
          <a:prstGeom prst="ellipse">
            <a:avLst/>
          </a:prstGeom>
          <a:noFill/>
          <a:ln w="12700">
            <a:solidFill>
              <a:srgbClr val="0E9A87">
                <a:alpha val="1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8183879" y="1920240"/>
            <a:ext cx="2560320" cy="2560320"/>
          </a:xfrm>
          <a:prstGeom prst="ellipse">
            <a:avLst/>
          </a:prstGeom>
          <a:noFill/>
          <a:ln w="12700">
            <a:solidFill>
              <a:srgbClr val="0E9A87">
                <a:alpha val="24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40080" y="1481328"/>
            <a:ext cx="73152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0E9A87"/>
                </a:solidFill>
                <a:latin typeface="Calibri"/>
              </a:rPr>
              <a:t>INTEGRAAL CAPACITEITSMANAGEMENT</a:t>
            </a:r>
          </a:p>
        </p:txBody>
      </p:sp>
      <p:sp>
        <p:nvSpPr>
          <p:cNvPr id="7" name="TextBox 6"/>
          <p:cNvSpPr txBox="1"/>
          <p:nvPr/>
        </p:nvSpPr>
        <p:spPr>
          <a:xfrm>
            <a:off x="640080" y="1810512"/>
            <a:ext cx="7863840" cy="1828800"/>
          </a:xfrm>
          <a:prstGeom prst="rect">
            <a:avLst/>
          </a:prstGeom>
          <a:noFill/>
        </p:spPr>
        <p:txBody>
          <a:bodyPr wrap="square" lIns="0" tIns="0" rIns="0" bIns="0" anchor="t">
            <a:spAutoFit/>
          </a:bodyPr>
          <a:lstStyle/>
          <a:p>
            <a:pPr algn="l">
              <a:lnSpc>
                <a:spcPct val="100000"/>
              </a:lnSpc>
              <a:spcAft>
                <a:spcPts val="0"/>
              </a:spcAft>
            </a:pPr>
            <a:r>
              <a:rPr sz="6200" b="1">
                <a:solidFill>
                  <a:srgbClr val="0D1B2A"/>
                </a:solidFill>
                <a:latin typeface="Calibri"/>
              </a:rPr>
              <a:t>Acute poort</a:t>
            </a:r>
          </a:p>
          <a:p>
            <a:pPr algn="l">
              <a:lnSpc>
                <a:spcPct val="100000"/>
              </a:lnSpc>
              <a:spcAft>
                <a:spcPts val="0"/>
              </a:spcAft>
            </a:pPr>
            <a:r>
              <a:rPr sz="6200" b="1">
                <a:solidFill>
                  <a:srgbClr val="0E9A87"/>
                </a:solidFill>
                <a:latin typeface="Calibri"/>
              </a:rPr>
              <a:t>en Hotfloor</a:t>
            </a:r>
          </a:p>
        </p:txBody>
      </p:sp>
      <p:cxnSp>
        <p:nvCxnSpPr>
          <p:cNvPr id="8" name="Connector 7"/>
          <p:cNvCxnSpPr/>
          <p:nvPr/>
        </p:nvCxnSpPr>
        <p:spPr>
          <a:xfrm>
            <a:off x="640080" y="3803904"/>
            <a:ext cx="3108959"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86784"/>
            <a:ext cx="6766560" cy="548640"/>
          </a:xfrm>
          <a:prstGeom prst="rect">
            <a:avLst/>
          </a:prstGeom>
          <a:noFill/>
        </p:spPr>
        <p:txBody>
          <a:bodyPr wrap="square" lIns="0" tIns="0" rIns="0" bIns="0" anchor="t">
            <a:spAutoFit/>
          </a:bodyPr>
          <a:lstStyle/>
          <a:p>
            <a:pPr algn="l">
              <a:lnSpc>
                <a:spcPct val="120000"/>
              </a:lnSpc>
              <a:spcAft>
                <a:spcPts val="0"/>
              </a:spcAft>
            </a:pPr>
            <a:r>
              <a:rPr sz="1600" b="0">
                <a:solidFill>
                  <a:srgbClr val="55677C"/>
                </a:solidFill>
                <a:latin typeface="Calibri"/>
              </a:rPr>
              <a:t>Van de huidige situatie naar de nieuwbouw, juni 2027</a:t>
            </a:r>
          </a:p>
        </p:txBody>
      </p:sp>
      <p:sp>
        <p:nvSpPr>
          <p:cNvPr id="10" name="TextBox 9"/>
          <p:cNvSpPr txBox="1"/>
          <p:nvPr/>
        </p:nvSpPr>
        <p:spPr>
          <a:xfrm>
            <a:off x="640080" y="4791456"/>
            <a:ext cx="2834640" cy="658368"/>
          </a:xfrm>
          <a:prstGeom prst="rect">
            <a:avLst/>
          </a:prstGeom>
          <a:noFill/>
        </p:spPr>
        <p:txBody>
          <a:bodyPr wrap="square" lIns="0" tIns="0" rIns="0" bIns="0" anchor="t">
            <a:spAutoFit/>
          </a:bodyPr>
          <a:lstStyle/>
          <a:p>
            <a:pPr algn="l">
              <a:lnSpc>
                <a:spcPct val="120000"/>
              </a:lnSpc>
              <a:spcAft>
                <a:spcPts val="0"/>
              </a:spcAft>
            </a:pPr>
            <a:r>
              <a:rPr sz="4000" b="1">
                <a:solidFill>
                  <a:srgbClr val="0E9A87"/>
                </a:solidFill>
                <a:latin typeface="Calibri"/>
              </a:rPr>
              <a:t>36</a:t>
            </a:r>
          </a:p>
        </p:txBody>
      </p:sp>
      <p:sp>
        <p:nvSpPr>
          <p:cNvPr id="11" name="TextBox 10"/>
          <p:cNvSpPr txBox="1"/>
          <p:nvPr/>
        </p:nvSpPr>
        <p:spPr>
          <a:xfrm>
            <a:off x="640080" y="5413248"/>
            <a:ext cx="2834640" cy="237744"/>
          </a:xfrm>
          <a:prstGeom prst="rect">
            <a:avLst/>
          </a:prstGeom>
          <a:noFill/>
        </p:spPr>
        <p:txBody>
          <a:bodyPr wrap="square" lIns="0" tIns="0" rIns="0" bIns="0" anchor="t">
            <a:spAutoFit/>
          </a:bodyPr>
          <a:lstStyle/>
          <a:p>
            <a:pPr algn="l">
              <a:lnSpc>
                <a:spcPct val="120000"/>
              </a:lnSpc>
              <a:spcAft>
                <a:spcPts val="0"/>
              </a:spcAft>
            </a:pPr>
            <a:r>
              <a:rPr sz="950" b="1" spc="140">
                <a:solidFill>
                  <a:srgbClr val="55677C"/>
                </a:solidFill>
                <a:latin typeface="Calibri"/>
              </a:rPr>
              <a:t>OPENSTAANDE VRAGEN</a:t>
            </a:r>
          </a:p>
        </p:txBody>
      </p:sp>
      <p:sp>
        <p:nvSpPr>
          <p:cNvPr id="12" name="TextBox 11"/>
          <p:cNvSpPr txBox="1"/>
          <p:nvPr/>
        </p:nvSpPr>
        <p:spPr>
          <a:xfrm>
            <a:off x="3703320" y="4791456"/>
            <a:ext cx="2834640" cy="658368"/>
          </a:xfrm>
          <a:prstGeom prst="rect">
            <a:avLst/>
          </a:prstGeom>
          <a:noFill/>
        </p:spPr>
        <p:txBody>
          <a:bodyPr wrap="square" lIns="0" tIns="0" rIns="0" bIns="0" anchor="t">
            <a:spAutoFit/>
          </a:bodyPr>
          <a:lstStyle/>
          <a:p>
            <a:pPr algn="l">
              <a:lnSpc>
                <a:spcPct val="120000"/>
              </a:lnSpc>
              <a:spcAft>
                <a:spcPts val="0"/>
              </a:spcAft>
            </a:pPr>
            <a:r>
              <a:rPr sz="4000" b="1">
                <a:solidFill>
                  <a:srgbClr val="C4392D"/>
                </a:solidFill>
                <a:latin typeface="Calibri"/>
              </a:rPr>
              <a:t>6</a:t>
            </a:r>
          </a:p>
        </p:txBody>
      </p:sp>
      <p:sp>
        <p:nvSpPr>
          <p:cNvPr id="13" name="TextBox 12"/>
          <p:cNvSpPr txBox="1"/>
          <p:nvPr/>
        </p:nvSpPr>
        <p:spPr>
          <a:xfrm>
            <a:off x="3703320" y="5413248"/>
            <a:ext cx="2834640" cy="237744"/>
          </a:xfrm>
          <a:prstGeom prst="rect">
            <a:avLst/>
          </a:prstGeom>
          <a:noFill/>
        </p:spPr>
        <p:txBody>
          <a:bodyPr wrap="square" lIns="0" tIns="0" rIns="0" bIns="0" anchor="t">
            <a:spAutoFit/>
          </a:bodyPr>
          <a:lstStyle/>
          <a:p>
            <a:pPr algn="l">
              <a:lnSpc>
                <a:spcPct val="120000"/>
              </a:lnSpc>
              <a:spcAft>
                <a:spcPts val="0"/>
              </a:spcAft>
            </a:pPr>
            <a:r>
              <a:rPr sz="950" b="1" spc="140">
                <a:solidFill>
                  <a:srgbClr val="55677C"/>
                </a:solidFill>
                <a:latin typeface="Calibri"/>
              </a:rPr>
              <a:t>BESLUITEN DIE KLEMMEN</a:t>
            </a:r>
          </a:p>
        </p:txBody>
      </p:sp>
      <p:sp>
        <p:nvSpPr>
          <p:cNvPr id="14" name="TextBox 13"/>
          <p:cNvSpPr txBox="1"/>
          <p:nvPr/>
        </p:nvSpPr>
        <p:spPr>
          <a:xfrm>
            <a:off x="6766560" y="4791456"/>
            <a:ext cx="2834640" cy="658368"/>
          </a:xfrm>
          <a:prstGeom prst="rect">
            <a:avLst/>
          </a:prstGeom>
          <a:noFill/>
        </p:spPr>
        <p:txBody>
          <a:bodyPr wrap="square" lIns="0" tIns="0" rIns="0" bIns="0" anchor="t">
            <a:spAutoFit/>
          </a:bodyPr>
          <a:lstStyle/>
          <a:p>
            <a:pPr algn="l">
              <a:lnSpc>
                <a:spcPct val="120000"/>
              </a:lnSpc>
              <a:spcAft>
                <a:spcPts val="0"/>
              </a:spcAft>
            </a:pPr>
            <a:r>
              <a:rPr sz="4000" b="1">
                <a:solidFill>
                  <a:srgbClr val="C87E12"/>
                </a:solidFill>
                <a:latin typeface="Calibri"/>
              </a:rPr>
              <a:t>2</a:t>
            </a:r>
          </a:p>
        </p:txBody>
      </p:sp>
      <p:sp>
        <p:nvSpPr>
          <p:cNvPr id="15" name="TextBox 14"/>
          <p:cNvSpPr txBox="1"/>
          <p:nvPr/>
        </p:nvSpPr>
        <p:spPr>
          <a:xfrm>
            <a:off x="6766560" y="5413248"/>
            <a:ext cx="2834640" cy="237744"/>
          </a:xfrm>
          <a:prstGeom prst="rect">
            <a:avLst/>
          </a:prstGeom>
          <a:noFill/>
        </p:spPr>
        <p:txBody>
          <a:bodyPr wrap="square" lIns="0" tIns="0" rIns="0" bIns="0" anchor="t">
            <a:spAutoFit/>
          </a:bodyPr>
          <a:lstStyle/>
          <a:p>
            <a:pPr algn="l">
              <a:lnSpc>
                <a:spcPct val="120000"/>
              </a:lnSpc>
              <a:spcAft>
                <a:spcPts val="0"/>
              </a:spcAft>
            </a:pPr>
            <a:r>
              <a:rPr sz="950" b="1" spc="140">
                <a:solidFill>
                  <a:srgbClr val="55677C"/>
                </a:solidFill>
                <a:latin typeface="Calibri"/>
              </a:rPr>
              <a:t>GROTE WIJZIGINGEN</a:t>
            </a:r>
          </a:p>
        </p:txBody>
      </p:sp>
      <p:sp>
        <p:nvSpPr>
          <p:cNvPr id="16" name="Freeform 15"/>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0E9A87">
                    <a:alpha val="9000"/>
                  </a:srgbClr>
                </a:solidFill>
                <a:latin typeface="Calibri"/>
              </a:rPr>
              <a:t>01</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0E9A87"/>
                </a:solidFill>
                <a:latin typeface="Calibri"/>
              </a:rPr>
              <a:t>DEEL 01</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a:solidFill>
                  <a:srgbClr val="0D1B2A"/>
                </a:solidFill>
                <a:latin typeface="Calibri"/>
              </a:rPr>
              <a:t>Waar staan we nu</a:t>
            </a:r>
          </a:p>
        </p:txBody>
      </p:sp>
      <p:cxnSp>
        <p:nvCxnSpPr>
          <p:cNvPr id="6" name="Connector 5"/>
          <p:cNvCxnSpPr/>
          <p:nvPr/>
        </p:nvCxnSpPr>
        <p:spPr>
          <a:xfrm>
            <a:off x="640080" y="3584448"/>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De startsituatie per afdeling</a:t>
            </a:r>
          </a:p>
        </p:txBody>
      </p:sp>
      <p:sp>
        <p:nvSpPr>
          <p:cNvPr id="9" name="Oval 8"/>
          <p:cNvSpPr/>
          <p:nvPr/>
        </p:nvSpPr>
        <p:spPr>
          <a:xfrm>
            <a:off x="649224" y="4279392"/>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Waarom tien en vijftien kamers niet optelbaar zijn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0E9A87">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Startsituatie per afdeling</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05</a:t>
            </a:r>
          </a:p>
        </p:txBody>
      </p:sp>
      <p:graphicFrame>
        <p:nvGraphicFramePr>
          <p:cNvPr id="10" name="Table 9"/>
          <p:cNvGraphicFramePr>
            <a:graphicFrameLocks noGrp="1"/>
          </p:cNvGraphicFramePr>
          <p:nvPr>
            <p:extLst>
              <p:ext uri="{D42A27DB-BD31-4B8C-83A1-F6EECF244321}">
                <p14:modId xmlns:p14="http://schemas.microsoft.com/office/powerpoint/2010/main" val="1299331238"/>
              </p:ext>
            </p:extLst>
          </p:nvPr>
        </p:nvGraphicFramePr>
        <p:xfrm>
          <a:off x="640080" y="1700784"/>
          <a:ext cx="10865814" cy="2103120"/>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gridCol w="1691640">
                  <a:extLst>
                    <a:ext uri="{9D8B030D-6E8A-4147-A177-3AD203B41FA5}">
                      <a16:colId xmlns:a16="http://schemas.microsoft.com/office/drawing/2014/main" val="20005"/>
                    </a:ext>
                  </a:extLst>
                </a:gridCol>
                <a:gridCol w="1493215">
                  <a:extLst>
                    <a:ext uri="{9D8B030D-6E8A-4147-A177-3AD203B41FA5}">
                      <a16:colId xmlns:a16="http://schemas.microsoft.com/office/drawing/2014/main" val="20006"/>
                    </a:ext>
                  </a:extLst>
                </a:gridCol>
              </a:tblGrid>
              <a:tr h="329184">
                <a:tc>
                  <a:txBody>
                    <a:bodyPr/>
                    <a:lstStyle/>
                    <a:p>
                      <a:pPr algn="l">
                        <a:spcAft>
                          <a:spcPts val="200"/>
                        </a:spcAft>
                      </a:pPr>
                      <a:r>
                        <a:rPr sz="950" b="1">
                          <a:solidFill>
                            <a:srgbClr val="0E9A87"/>
                          </a:solidFill>
                          <a:latin typeface="Calibri"/>
                        </a:rPr>
                        <a:t>AFDELING</a:t>
                      </a:r>
                    </a:p>
                  </a:txBody>
                  <a:tcPr marT="36576" marB="36576" anchor="ctr">
                    <a:solidFill>
                      <a:srgbClr val="FFFFFF"/>
                    </a:solidFill>
                  </a:tcPr>
                </a:tc>
                <a:tc>
                  <a:txBody>
                    <a:bodyPr/>
                    <a:lstStyle/>
                    <a:p>
                      <a:pPr algn="ctr">
                        <a:spcAft>
                          <a:spcPts val="200"/>
                        </a:spcAft>
                      </a:pPr>
                      <a:r>
                        <a:rPr sz="950" b="1">
                          <a:solidFill>
                            <a:srgbClr val="0E9A87"/>
                          </a:solidFill>
                          <a:latin typeface="Calibri"/>
                        </a:rPr>
                        <a:t>KAMERS NU</a:t>
                      </a:r>
                    </a:p>
                  </a:txBody>
                  <a:tcPr marT="36576" marB="36576" anchor="ctr">
                    <a:solidFill>
                      <a:srgbClr val="FFFFFF"/>
                    </a:solidFill>
                  </a:tcPr>
                </a:tc>
                <a:tc>
                  <a:txBody>
                    <a:bodyPr/>
                    <a:lstStyle/>
                    <a:p>
                      <a:pPr algn="ctr">
                        <a:spcAft>
                          <a:spcPts val="200"/>
                        </a:spcAft>
                      </a:pPr>
                      <a:r>
                        <a:rPr sz="950" b="1">
                          <a:solidFill>
                            <a:srgbClr val="0E9A87"/>
                          </a:solidFill>
                          <a:latin typeface="Calibri"/>
                        </a:rPr>
                        <a:t>JAARPLAN</a:t>
                      </a:r>
                    </a:p>
                  </a:txBody>
                  <a:tcPr marT="36576" marB="36576" anchor="ctr">
                    <a:solidFill>
                      <a:srgbClr val="FFFFFF"/>
                    </a:solidFill>
                  </a:tcPr>
                </a:tc>
                <a:tc>
                  <a:txBody>
                    <a:bodyPr/>
                    <a:lstStyle/>
                    <a:p>
                      <a:pPr algn="ctr">
                        <a:spcAft>
                          <a:spcPts val="200"/>
                        </a:spcAft>
                      </a:pPr>
                      <a:r>
                        <a:rPr sz="950" b="1">
                          <a:solidFill>
                            <a:srgbClr val="0E9A87"/>
                          </a:solidFill>
                          <a:latin typeface="Calibri"/>
                        </a:rPr>
                        <a:t>NORM VPK</a:t>
                      </a:r>
                    </a:p>
                  </a:txBody>
                  <a:tcPr marT="36576" marB="36576" anchor="ctr">
                    <a:solidFill>
                      <a:srgbClr val="FFFFFF"/>
                    </a:solidFill>
                  </a:tcPr>
                </a:tc>
                <a:tc>
                  <a:txBody>
                    <a:bodyPr/>
                    <a:lstStyle/>
                    <a:p>
                      <a:pPr algn="ctr">
                        <a:spcAft>
                          <a:spcPts val="200"/>
                        </a:spcAft>
                      </a:pPr>
                      <a:r>
                        <a:rPr sz="950" b="1">
                          <a:solidFill>
                            <a:srgbClr val="0E9A87"/>
                          </a:solidFill>
                          <a:latin typeface="Calibri"/>
                        </a:rPr>
                        <a:t>HUIDIGE INZET</a:t>
                      </a:r>
                    </a:p>
                  </a:txBody>
                  <a:tcPr marT="36576" marB="36576" anchor="ctr">
                    <a:solidFill>
                      <a:srgbClr val="FFFFFF"/>
                    </a:solidFill>
                  </a:tcPr>
                </a:tc>
                <a:tc>
                  <a:txBody>
                    <a:bodyPr/>
                    <a:lstStyle/>
                    <a:p>
                      <a:pPr algn="ctr">
                        <a:spcAft>
                          <a:spcPts val="200"/>
                        </a:spcAft>
                      </a:pPr>
                      <a:r>
                        <a:rPr sz="900" b="1" dirty="0">
                          <a:solidFill>
                            <a:srgbClr val="0E9A87"/>
                          </a:solidFill>
                          <a:latin typeface="Calibri"/>
                        </a:rPr>
                        <a:t>OMGEREKENDE NORM</a:t>
                      </a:r>
                    </a:p>
                  </a:txBody>
                  <a:tcPr marT="36576" marB="36576" anchor="ctr">
                    <a:solidFill>
                      <a:srgbClr val="FFFFFF"/>
                    </a:solidFill>
                  </a:tcPr>
                </a:tc>
                <a:tc>
                  <a:txBody>
                    <a:bodyPr/>
                    <a:lstStyle/>
                    <a:p>
                      <a:pPr algn="ctr">
                        <a:spcAft>
                          <a:spcPts val="200"/>
                        </a:spcAft>
                      </a:pPr>
                      <a:r>
                        <a:rPr sz="950" b="1" dirty="0">
                          <a:solidFill>
                            <a:srgbClr val="0E9A87"/>
                          </a:solidFill>
                          <a:latin typeface="Calibri"/>
                        </a:rPr>
                        <a:t>GEWENSTE NORM</a:t>
                      </a:r>
                    </a:p>
                  </a:txBody>
                  <a:tcPr marT="36576" marB="36576" anchor="ctr">
                    <a:solidFill>
                      <a:srgbClr val="FFFFFF"/>
                    </a:solidFill>
                  </a:tcPr>
                </a:tc>
                <a:extLst>
                  <a:ext uri="{0D108BD9-81ED-4DB2-BD59-A6C34878D82A}">
                    <a16:rowId xmlns:a16="http://schemas.microsoft.com/office/drawing/2014/main" val="10000"/>
                  </a:ext>
                </a:extLst>
              </a:tr>
              <a:tr h="402336">
                <a:tc>
                  <a:txBody>
                    <a:bodyPr/>
                    <a:lstStyle/>
                    <a:p>
                      <a:pPr algn="l">
                        <a:spcAft>
                          <a:spcPts val="200"/>
                        </a:spcAft>
                      </a:pPr>
                      <a:r>
                        <a:rPr sz="1100" b="1">
                          <a:solidFill>
                            <a:srgbClr val="0D1B2A"/>
                          </a:solidFill>
                          <a:latin typeface="Calibri"/>
                        </a:rPr>
                        <a:t>ICU</a:t>
                      </a:r>
                    </a:p>
                  </a:txBody>
                  <a:tcPr marT="36576" marB="36576" anchor="ctr">
                    <a:solidFill>
                      <a:srgbClr val="FFFFFF"/>
                    </a:solidFill>
                  </a:tcPr>
                </a:tc>
                <a:tc>
                  <a:txBody>
                    <a:bodyPr/>
                    <a:lstStyle/>
                    <a:p>
                      <a:pPr algn="ctr">
                        <a:spcAft>
                          <a:spcPts val="200"/>
                        </a:spcAft>
                      </a:pPr>
                      <a:r>
                        <a:rPr sz="1100" b="0">
                          <a:solidFill>
                            <a:srgbClr val="0D1B2A"/>
                          </a:solidFill>
                          <a:latin typeface="Calibri"/>
                        </a:rPr>
                        <a:t>10</a:t>
                      </a:r>
                    </a:p>
                  </a:txBody>
                  <a:tcPr marT="36576" marB="36576" anchor="ctr">
                    <a:solidFill>
                      <a:srgbClr val="FFFFFF"/>
                    </a:solidFill>
                  </a:tcPr>
                </a:tc>
                <a:tc>
                  <a:txBody>
                    <a:bodyPr/>
                    <a:lstStyle/>
                    <a:p>
                      <a:pPr algn="ctr">
                        <a:spcAft>
                          <a:spcPts val="200"/>
                        </a:spcAft>
                      </a:pPr>
                      <a:r>
                        <a:rPr sz="1100" b="0">
                          <a:solidFill>
                            <a:srgbClr val="C4392D"/>
                          </a:solidFill>
                          <a:latin typeface="Calibri"/>
                        </a:rPr>
                        <a:t>nee</a:t>
                      </a:r>
                    </a:p>
                  </a:txBody>
                  <a:tcPr marT="36576" marB="36576" anchor="ctr">
                    <a:solidFill>
                      <a:srgbClr val="FFFFFF"/>
                    </a:solidFill>
                  </a:tcPr>
                </a:tc>
                <a:tc>
                  <a:txBody>
                    <a:bodyPr/>
                    <a:lstStyle/>
                    <a:p>
                      <a:pPr algn="ctr">
                        <a:spcAft>
                          <a:spcPts val="200"/>
                        </a:spcAft>
                      </a:pPr>
                      <a:r>
                        <a:rPr sz="1100" b="0">
                          <a:solidFill>
                            <a:srgbClr val="C4392D"/>
                          </a:solidFill>
                          <a:latin typeface="Calibri"/>
                        </a:rPr>
                        <a:t>nee</a:t>
                      </a:r>
                    </a:p>
                  </a:txBody>
                  <a:tcPr marT="36576" marB="36576" anchor="ctr">
                    <a:solidFill>
                      <a:srgbClr val="FFFFFF"/>
                    </a:solidFill>
                  </a:tcPr>
                </a:tc>
                <a:tc>
                  <a:txBody>
                    <a:bodyPr/>
                    <a:lstStyle/>
                    <a:p>
                      <a:pPr algn="ctr">
                        <a:spcAft>
                          <a:spcPts val="200"/>
                        </a:spcAft>
                      </a:pPr>
                      <a:r>
                        <a:rPr sz="1100" b="0">
                          <a:solidFill>
                            <a:srgbClr val="0E9A87"/>
                          </a:solidFill>
                          <a:latin typeface="Calibri"/>
                        </a:rPr>
                        <a:t>D · L · 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extLst>
                  <a:ext uri="{0D108BD9-81ED-4DB2-BD59-A6C34878D82A}">
                    <a16:rowId xmlns:a16="http://schemas.microsoft.com/office/drawing/2014/main" val="10001"/>
                  </a:ext>
                </a:extLst>
              </a:tr>
              <a:tr h="402336">
                <a:tc>
                  <a:txBody>
                    <a:bodyPr/>
                    <a:lstStyle/>
                    <a:p>
                      <a:pPr algn="l">
                        <a:spcAft>
                          <a:spcPts val="200"/>
                        </a:spcAft>
                      </a:pPr>
                      <a:r>
                        <a:rPr sz="1100" b="1">
                          <a:solidFill>
                            <a:srgbClr val="0D1B2A"/>
                          </a:solidFill>
                          <a:latin typeface="Calibri"/>
                        </a:rPr>
                        <a:t>CCU / SCU / EHH</a:t>
                      </a:r>
                    </a:p>
                  </a:txBody>
                  <a:tcPr marT="36576" marB="36576" anchor="ctr">
                    <a:solidFill>
                      <a:srgbClr val="F6F9FD"/>
                    </a:solidFill>
                  </a:tcPr>
                </a:tc>
                <a:tc>
                  <a:txBody>
                    <a:bodyPr/>
                    <a:lstStyle/>
                    <a:p>
                      <a:pPr algn="ctr">
                        <a:spcAft>
                          <a:spcPts val="200"/>
                        </a:spcAft>
                      </a:pPr>
                      <a:r>
                        <a:rPr sz="1100" b="0" dirty="0">
                          <a:solidFill>
                            <a:srgbClr val="0D1B2A"/>
                          </a:solidFill>
                          <a:latin typeface="Calibri"/>
                        </a:rPr>
                        <a:t>15</a:t>
                      </a:r>
                    </a:p>
                  </a:txBody>
                  <a:tcPr marT="36576" marB="36576" anchor="ctr">
                    <a:solidFill>
                      <a:srgbClr val="F6F9FD"/>
                    </a:solidFill>
                  </a:tcPr>
                </a:tc>
                <a:tc>
                  <a:txBody>
                    <a:bodyPr/>
                    <a:lstStyle/>
                    <a:p>
                      <a:pPr algn="ctr">
                        <a:spcAft>
                          <a:spcPts val="200"/>
                        </a:spcAft>
                      </a:pPr>
                      <a:r>
                        <a:rPr sz="1100" b="0">
                          <a:solidFill>
                            <a:srgbClr val="0E9A87"/>
                          </a:solidFill>
                          <a:latin typeface="Calibri"/>
                        </a:rPr>
                        <a:t>ja, versneld jaarplan</a:t>
                      </a:r>
                    </a:p>
                  </a:txBody>
                  <a:tcPr marT="36576" marB="36576" anchor="ctr">
                    <a:solidFill>
                      <a:srgbClr val="F6F9FD"/>
                    </a:solidFill>
                  </a:tcPr>
                </a:tc>
                <a:tc>
                  <a:txBody>
                    <a:bodyPr/>
                    <a:lstStyle/>
                    <a:p>
                      <a:pPr algn="ctr">
                        <a:spcAft>
                          <a:spcPts val="200"/>
                        </a:spcAft>
                      </a:pPr>
                      <a:r>
                        <a:rPr sz="1100" b="0">
                          <a:solidFill>
                            <a:srgbClr val="C4392D"/>
                          </a:solidFill>
                          <a:latin typeface="Calibri"/>
                        </a:rPr>
                        <a:t>nee</a:t>
                      </a:r>
                    </a:p>
                  </a:txBody>
                  <a:tcPr marT="36576" marB="36576" anchor="ctr">
                    <a:solidFill>
                      <a:srgbClr val="F6F9FD"/>
                    </a:solidFill>
                  </a:tcPr>
                </a:tc>
                <a:tc>
                  <a:txBody>
                    <a:bodyPr/>
                    <a:lstStyle/>
                    <a:p>
                      <a:pPr algn="ctr">
                        <a:spcAft>
                          <a:spcPts val="200"/>
                        </a:spcAft>
                      </a:pPr>
                      <a:r>
                        <a:rPr sz="1100" b="0">
                          <a:solidFill>
                            <a:srgbClr val="0E9A87"/>
                          </a:solidFill>
                          <a:latin typeface="Calibri"/>
                        </a:rPr>
                        <a:t>D · L · N</a:t>
                      </a:r>
                    </a:p>
                  </a:txBody>
                  <a:tcPr marT="36576" marB="36576" anchor="ctr">
                    <a:solidFill>
                      <a:srgbClr val="F6F9FD"/>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6F9FD"/>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6F9FD"/>
                    </a:solidFill>
                  </a:tcPr>
                </a:tc>
                <a:extLst>
                  <a:ext uri="{0D108BD9-81ED-4DB2-BD59-A6C34878D82A}">
                    <a16:rowId xmlns:a16="http://schemas.microsoft.com/office/drawing/2014/main" val="10002"/>
                  </a:ext>
                </a:extLst>
              </a:tr>
              <a:tr h="566928">
                <a:tc>
                  <a:txBody>
                    <a:bodyPr/>
                    <a:lstStyle/>
                    <a:p>
                      <a:pPr algn="l">
                        <a:spcAft>
                          <a:spcPts val="200"/>
                        </a:spcAft>
                      </a:pPr>
                      <a:r>
                        <a:rPr sz="1100" b="1">
                          <a:solidFill>
                            <a:srgbClr val="0D1B2A"/>
                          </a:solidFill>
                          <a:latin typeface="Calibri"/>
                        </a:rPr>
                        <a:t>SEH</a:t>
                      </a:r>
                    </a:p>
                  </a:txBody>
                  <a:tcPr marT="36576" marB="36576" anchor="ctr">
                    <a:solidFill>
                      <a:srgbClr val="FFFFFF"/>
                    </a:solidFill>
                  </a:tcPr>
                </a:tc>
                <a:tc>
                  <a:txBody>
                    <a:bodyPr/>
                    <a:lstStyle/>
                    <a:p>
                      <a:pPr marL="0" algn="ctr" defTabSz="457200" rtl="0" eaLnBrk="1" latinLnBrk="0" hangingPunct="1">
                        <a:spcAft>
                          <a:spcPts val="200"/>
                        </a:spcAft>
                      </a:pPr>
                      <a:r>
                        <a:rPr lang="nl-NL" sz="900" b="0" kern="1200" dirty="0">
                          <a:solidFill>
                            <a:srgbClr val="0D1B2A"/>
                          </a:solidFill>
                          <a:latin typeface="Calibri"/>
                          <a:ea typeface="+mn-ea"/>
                          <a:cs typeface="+mn-cs"/>
                        </a:rPr>
                        <a:t>11 (exclusief triage en gipsplek)</a:t>
                      </a:r>
                      <a:endParaRPr sz="1100" b="0" kern="1200" dirty="0">
                        <a:solidFill>
                          <a:srgbClr val="0D1B2A"/>
                        </a:solidFill>
                        <a:latin typeface="Calibri"/>
                        <a:ea typeface="+mn-ea"/>
                        <a:cs typeface="+mn-cs"/>
                      </a:endParaRPr>
                    </a:p>
                  </a:txBody>
                  <a:tcPr marT="36576" marB="36576" anchor="ctr">
                    <a:solidFill>
                      <a:srgbClr val="FFFFFF"/>
                    </a:solidFill>
                  </a:tcPr>
                </a:tc>
                <a:tc>
                  <a:txBody>
                    <a:bodyPr/>
                    <a:lstStyle/>
                    <a:p>
                      <a:pPr algn="ctr">
                        <a:spcAft>
                          <a:spcPts val="200"/>
                        </a:spcAft>
                      </a:pPr>
                      <a:r>
                        <a:rPr sz="1100" b="0">
                          <a:solidFill>
                            <a:srgbClr val="8B9AAA"/>
                          </a:solidFill>
                          <a:latin typeface="Calibri"/>
                        </a:rPr>
                        <a:t>onbekend</a:t>
                      </a:r>
                    </a:p>
                  </a:txBody>
                  <a:tcPr marT="36576" marB="36576" anchor="ctr">
                    <a:solidFill>
                      <a:srgbClr val="FFFFFF"/>
                    </a:solidFill>
                  </a:tcPr>
                </a:tc>
                <a:tc>
                  <a:txBody>
                    <a:bodyPr/>
                    <a:lstStyle/>
                    <a:p>
                      <a:pPr algn="ctr">
                        <a:spcAft>
                          <a:spcPts val="200"/>
                        </a:spcAft>
                      </a:pPr>
                      <a:r>
                        <a:rPr sz="1100" b="0">
                          <a:solidFill>
                            <a:srgbClr val="C4392D"/>
                          </a:solidFill>
                          <a:latin typeface="Calibri"/>
                        </a:rPr>
                        <a:t>nee</a:t>
                      </a:r>
                    </a:p>
                  </a:txBody>
                  <a:tcPr marT="36576" marB="36576" anchor="ctr">
                    <a:solidFill>
                      <a:srgbClr val="FFFFFF"/>
                    </a:solidFill>
                  </a:tcPr>
                </a:tc>
                <a:tc>
                  <a:txBody>
                    <a:bodyPr/>
                    <a:lstStyle/>
                    <a:p>
                      <a:pPr algn="ctr">
                        <a:spcAft>
                          <a:spcPts val="200"/>
                        </a:spcAft>
                      </a:pPr>
                      <a:r>
                        <a:rPr sz="1100" b="0">
                          <a:solidFill>
                            <a:srgbClr val="0E9A87"/>
                          </a:solidFill>
                          <a:latin typeface="Calibri"/>
                        </a:rPr>
                        <a:t>D · T · L · 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extLst>
                  <a:ext uri="{0D108BD9-81ED-4DB2-BD59-A6C34878D82A}">
                    <a16:rowId xmlns:a16="http://schemas.microsoft.com/office/drawing/2014/main" val="10003"/>
                  </a:ext>
                </a:extLst>
              </a:tr>
              <a:tr h="402336">
                <a:tc>
                  <a:txBody>
                    <a:bodyPr/>
                    <a:lstStyle/>
                    <a:p>
                      <a:pPr algn="l">
                        <a:spcAft>
                          <a:spcPts val="200"/>
                        </a:spcAft>
                      </a:pPr>
                      <a:r>
                        <a:rPr sz="1100" b="1" dirty="0">
                          <a:solidFill>
                            <a:srgbClr val="0D1B2A"/>
                          </a:solidFill>
                          <a:latin typeface="Calibri"/>
                        </a:rPr>
                        <a:t>Kind </a:t>
                      </a:r>
                      <a:r>
                        <a:rPr sz="1100" b="1" dirty="0" err="1">
                          <a:solidFill>
                            <a:srgbClr val="0D1B2A"/>
                          </a:solidFill>
                          <a:latin typeface="Calibri"/>
                        </a:rPr>
                        <a:t>spoed</a:t>
                      </a:r>
                      <a:endParaRPr sz="1100" b="1" dirty="0">
                        <a:solidFill>
                          <a:srgbClr val="0D1B2A"/>
                        </a:solidFill>
                        <a:latin typeface="Calibri"/>
                      </a:endParaRPr>
                    </a:p>
                  </a:txBody>
                  <a:tcPr marT="36576" marB="36576" anchor="ctr">
                    <a:solidFill>
                      <a:srgbClr val="F6F9FD"/>
                    </a:solidFill>
                  </a:tcPr>
                </a:tc>
                <a:tc>
                  <a:txBody>
                    <a:bodyPr/>
                    <a:lstStyle/>
                    <a:p>
                      <a:pPr algn="ctr">
                        <a:spcAft>
                          <a:spcPts val="200"/>
                        </a:spcAft>
                      </a:pPr>
                      <a:r>
                        <a:rPr sz="1100" b="0" dirty="0" err="1">
                          <a:solidFill>
                            <a:srgbClr val="8B9AAA"/>
                          </a:solidFill>
                          <a:latin typeface="Calibri"/>
                        </a:rPr>
                        <a:t>onbekend</a:t>
                      </a:r>
                      <a:endParaRPr sz="1100" b="0" dirty="0">
                        <a:solidFill>
                          <a:srgbClr val="8B9AAA"/>
                        </a:solidFill>
                        <a:latin typeface="Calibri"/>
                      </a:endParaRPr>
                    </a:p>
                  </a:txBody>
                  <a:tcPr marT="36576" marB="36576" anchor="ctr">
                    <a:solidFill>
                      <a:srgbClr val="F6F9FD"/>
                    </a:solidFill>
                  </a:tcPr>
                </a:tc>
                <a:tc>
                  <a:txBody>
                    <a:bodyPr/>
                    <a:lstStyle/>
                    <a:p>
                      <a:pPr algn="ctr">
                        <a:spcAft>
                          <a:spcPts val="200"/>
                        </a:spcAft>
                      </a:pPr>
                      <a:r>
                        <a:rPr sz="1100" b="0">
                          <a:solidFill>
                            <a:srgbClr val="C4392D"/>
                          </a:solidFill>
                          <a:latin typeface="Calibri"/>
                        </a:rPr>
                        <a:t>nee</a:t>
                      </a:r>
                    </a:p>
                  </a:txBody>
                  <a:tcPr marT="36576" marB="36576" anchor="ctr">
                    <a:solidFill>
                      <a:srgbClr val="F6F9FD"/>
                    </a:solidFill>
                  </a:tcPr>
                </a:tc>
                <a:tc>
                  <a:txBody>
                    <a:bodyPr/>
                    <a:lstStyle/>
                    <a:p>
                      <a:pPr algn="ctr">
                        <a:spcAft>
                          <a:spcPts val="200"/>
                        </a:spcAft>
                      </a:pPr>
                      <a:r>
                        <a:rPr sz="1100" b="0">
                          <a:solidFill>
                            <a:srgbClr val="8B9AAA"/>
                          </a:solidFill>
                          <a:latin typeface="Calibri"/>
                        </a:rPr>
                        <a:t>onbekend</a:t>
                      </a:r>
                    </a:p>
                  </a:txBody>
                  <a:tcPr marT="36576" marB="36576" anchor="ctr">
                    <a:solidFill>
                      <a:srgbClr val="F6F9FD"/>
                    </a:solidFill>
                  </a:tcPr>
                </a:tc>
                <a:tc>
                  <a:txBody>
                    <a:bodyPr/>
                    <a:lstStyle/>
                    <a:p>
                      <a:pPr algn="ctr">
                        <a:spcAft>
                          <a:spcPts val="200"/>
                        </a:spcAft>
                      </a:pPr>
                      <a:r>
                        <a:rPr sz="1100" b="0">
                          <a:solidFill>
                            <a:srgbClr val="8B9AAA"/>
                          </a:solidFill>
                          <a:latin typeface="Calibri"/>
                        </a:rPr>
                        <a:t>onbekend</a:t>
                      </a:r>
                    </a:p>
                  </a:txBody>
                  <a:tcPr marT="36576" marB="36576" anchor="ctr">
                    <a:solidFill>
                      <a:srgbClr val="F6F9FD"/>
                    </a:solidFill>
                  </a:tcPr>
                </a:tc>
                <a:tc>
                  <a:txBody>
                    <a:bodyPr/>
                    <a:lstStyle/>
                    <a:p>
                      <a:pPr algn="ctr">
                        <a:spcAft>
                          <a:spcPts val="200"/>
                        </a:spcAft>
                      </a:pPr>
                      <a:r>
                        <a:rPr sz="1100" b="0">
                          <a:solidFill>
                            <a:srgbClr val="8B9AAA"/>
                          </a:solidFill>
                          <a:latin typeface="Calibri"/>
                        </a:rPr>
                        <a:t>onbekend</a:t>
                      </a:r>
                    </a:p>
                  </a:txBody>
                  <a:tcPr marT="36576" marB="36576" anchor="ctr">
                    <a:solidFill>
                      <a:srgbClr val="F6F9FD"/>
                    </a:solidFill>
                  </a:tcPr>
                </a:tc>
                <a:tc>
                  <a:txBody>
                    <a:bodyPr/>
                    <a:lstStyle/>
                    <a:p>
                      <a:pPr algn="ctr">
                        <a:spcAft>
                          <a:spcPts val="200"/>
                        </a:spcAft>
                      </a:pPr>
                      <a:r>
                        <a:rPr sz="1100" b="0" dirty="0">
                          <a:solidFill>
                            <a:srgbClr val="C87E12"/>
                          </a:solidFill>
                          <a:latin typeface="Calibri"/>
                        </a:rPr>
                        <a:t>in </a:t>
                      </a:r>
                      <a:r>
                        <a:rPr sz="1100" b="0" dirty="0" err="1">
                          <a:solidFill>
                            <a:srgbClr val="C87E12"/>
                          </a:solidFill>
                          <a:latin typeface="Calibri"/>
                        </a:rPr>
                        <a:t>te</a:t>
                      </a:r>
                      <a:r>
                        <a:rPr sz="1100" b="0" dirty="0">
                          <a:solidFill>
                            <a:srgbClr val="C87E12"/>
                          </a:solidFill>
                          <a:latin typeface="Calibri"/>
                        </a:rPr>
                        <a:t> </a:t>
                      </a:r>
                      <a:r>
                        <a:rPr sz="1100" b="0" dirty="0" err="1">
                          <a:solidFill>
                            <a:srgbClr val="C87E12"/>
                          </a:solidFill>
                          <a:latin typeface="Calibri"/>
                        </a:rPr>
                        <a:t>vullen</a:t>
                      </a:r>
                      <a:endParaRPr sz="1100" b="0" dirty="0">
                        <a:solidFill>
                          <a:srgbClr val="C87E12"/>
                        </a:solidFill>
                        <a:latin typeface="Calibri"/>
                      </a:endParaRPr>
                    </a:p>
                  </a:txBody>
                  <a:tcPr marT="36576" marB="36576" anchor="ctr">
                    <a:solidFill>
                      <a:srgbClr val="F6F9FD"/>
                    </a:solidFill>
                  </a:tcPr>
                </a:tc>
                <a:extLst>
                  <a:ext uri="{0D108BD9-81ED-4DB2-BD59-A6C34878D82A}">
                    <a16:rowId xmlns:a16="http://schemas.microsoft.com/office/drawing/2014/main" val="10004"/>
                  </a:ext>
                </a:extLst>
              </a:tr>
            </a:tbl>
          </a:graphicData>
        </a:graphic>
      </p:graphicFrame>
      <p:sp>
        <p:nvSpPr>
          <p:cNvPr id="11" name="Rounded Rectangle 10"/>
          <p:cNvSpPr/>
          <p:nvPr/>
        </p:nvSpPr>
        <p:spPr>
          <a:xfrm>
            <a:off x="640080"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ounded Rectangle 11"/>
          <p:cNvSpPr/>
          <p:nvPr/>
        </p:nvSpPr>
        <p:spPr>
          <a:xfrm>
            <a:off x="640080" y="3950208"/>
            <a:ext cx="45720" cy="122529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14400" y="4078224"/>
            <a:ext cx="2942234" cy="566928"/>
          </a:xfrm>
          <a:prstGeom prst="rect">
            <a:avLst/>
          </a:prstGeom>
          <a:noFill/>
        </p:spPr>
        <p:txBody>
          <a:bodyPr wrap="square" lIns="0" tIns="0" rIns="0" bIns="0" anchor="t">
            <a:spAutoFit/>
          </a:bodyPr>
          <a:lstStyle/>
          <a:p>
            <a:pPr algn="l">
              <a:lnSpc>
                <a:spcPct val="120000"/>
              </a:lnSpc>
              <a:spcAft>
                <a:spcPts val="0"/>
              </a:spcAft>
            </a:pPr>
            <a:r>
              <a:rPr sz="3400" b="1">
                <a:solidFill>
                  <a:srgbClr val="C4392D"/>
                </a:solidFill>
                <a:latin typeface="Calibri"/>
              </a:rPr>
              <a:t>0 / 4</a:t>
            </a:r>
          </a:p>
        </p:txBody>
      </p:sp>
      <p:sp>
        <p:nvSpPr>
          <p:cNvPr id="14" name="TextBox 13"/>
          <p:cNvSpPr txBox="1"/>
          <p:nvPr/>
        </p:nvSpPr>
        <p:spPr>
          <a:xfrm>
            <a:off x="914400" y="4645152"/>
            <a:ext cx="2942234" cy="219456"/>
          </a:xfrm>
          <a:prstGeom prst="rect">
            <a:avLst/>
          </a:prstGeom>
          <a:noFill/>
        </p:spPr>
        <p:txBody>
          <a:bodyPr wrap="square" lIns="0" tIns="0" rIns="0" bIns="0" anchor="t">
            <a:spAutoFit/>
          </a:bodyPr>
          <a:lstStyle/>
          <a:p>
            <a:pPr algn="l">
              <a:lnSpc>
                <a:spcPct val="120000"/>
              </a:lnSpc>
              <a:spcAft>
                <a:spcPts val="0"/>
              </a:spcAft>
            </a:pPr>
            <a:r>
              <a:rPr sz="950" b="1" spc="130">
                <a:solidFill>
                  <a:srgbClr val="0D1B2A"/>
                </a:solidFill>
                <a:latin typeface="Calibri"/>
              </a:rPr>
              <a:t>AFDELINGEN MET EEN NORM</a:t>
            </a:r>
          </a:p>
        </p:txBody>
      </p:sp>
      <p:sp>
        <p:nvSpPr>
          <p:cNvPr id="15" name="TextBox 14"/>
          <p:cNvSpPr txBox="1"/>
          <p:nvPr/>
        </p:nvSpPr>
        <p:spPr>
          <a:xfrm>
            <a:off x="914400" y="4882896"/>
            <a:ext cx="294223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voor geen enkele afdeling is de norm verpleegkundigen vastgesteld</a:t>
            </a:r>
          </a:p>
        </p:txBody>
      </p:sp>
      <p:sp>
        <p:nvSpPr>
          <p:cNvPr id="16" name="Rounded Rectangle 15"/>
          <p:cNvSpPr/>
          <p:nvPr/>
        </p:nvSpPr>
        <p:spPr>
          <a:xfrm>
            <a:off x="4368698"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4368698" y="3950208"/>
            <a:ext cx="45720" cy="1225296"/>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43018" y="4078224"/>
            <a:ext cx="2942234" cy="566928"/>
          </a:xfrm>
          <a:prstGeom prst="rect">
            <a:avLst/>
          </a:prstGeom>
          <a:noFill/>
        </p:spPr>
        <p:txBody>
          <a:bodyPr wrap="square" lIns="0" tIns="0" rIns="0" bIns="0" anchor="t">
            <a:spAutoFit/>
          </a:bodyPr>
          <a:lstStyle/>
          <a:p>
            <a:pPr algn="l">
              <a:lnSpc>
                <a:spcPct val="120000"/>
              </a:lnSpc>
              <a:spcAft>
                <a:spcPts val="0"/>
              </a:spcAft>
            </a:pPr>
            <a:r>
              <a:rPr sz="3400" b="1">
                <a:solidFill>
                  <a:srgbClr val="0E9A87"/>
                </a:solidFill>
                <a:latin typeface="Calibri"/>
              </a:rPr>
              <a:t>1 / 4</a:t>
            </a:r>
          </a:p>
        </p:txBody>
      </p:sp>
      <p:sp>
        <p:nvSpPr>
          <p:cNvPr id="19" name="TextBox 18"/>
          <p:cNvSpPr txBox="1"/>
          <p:nvPr/>
        </p:nvSpPr>
        <p:spPr>
          <a:xfrm>
            <a:off x="4643018" y="4645152"/>
            <a:ext cx="2942234" cy="219456"/>
          </a:xfrm>
          <a:prstGeom prst="rect">
            <a:avLst/>
          </a:prstGeom>
          <a:noFill/>
        </p:spPr>
        <p:txBody>
          <a:bodyPr wrap="square" lIns="0" tIns="0" rIns="0" bIns="0" anchor="t">
            <a:spAutoFit/>
          </a:bodyPr>
          <a:lstStyle/>
          <a:p>
            <a:pPr algn="l">
              <a:lnSpc>
                <a:spcPct val="120000"/>
              </a:lnSpc>
              <a:spcAft>
                <a:spcPts val="0"/>
              </a:spcAft>
            </a:pPr>
            <a:r>
              <a:rPr sz="950" b="1" spc="130">
                <a:solidFill>
                  <a:srgbClr val="0D1B2A"/>
                </a:solidFill>
                <a:latin typeface="Calibri"/>
              </a:rPr>
              <a:t>AFDELINGEN MET EEN JAARPLAN</a:t>
            </a:r>
          </a:p>
        </p:txBody>
      </p:sp>
      <p:sp>
        <p:nvSpPr>
          <p:cNvPr id="20" name="TextBox 19"/>
          <p:cNvSpPr txBox="1"/>
          <p:nvPr/>
        </p:nvSpPr>
        <p:spPr>
          <a:xfrm>
            <a:off x="4643018" y="4882896"/>
            <a:ext cx="294223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CCU/SCU/EHH heeft een versneld jaarplan; de rest heeft er geen</a:t>
            </a:r>
          </a:p>
        </p:txBody>
      </p:sp>
      <p:sp>
        <p:nvSpPr>
          <p:cNvPr id="21" name="Rounded Rectangle 20"/>
          <p:cNvSpPr/>
          <p:nvPr/>
        </p:nvSpPr>
        <p:spPr>
          <a:xfrm>
            <a:off x="8097316"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8097316" y="3950208"/>
            <a:ext cx="45720" cy="122529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371636" y="4078224"/>
            <a:ext cx="2942234" cy="566928"/>
          </a:xfrm>
          <a:prstGeom prst="rect">
            <a:avLst/>
          </a:prstGeom>
          <a:noFill/>
        </p:spPr>
        <p:txBody>
          <a:bodyPr wrap="square" lIns="0" tIns="0" rIns="0" bIns="0" anchor="t">
            <a:spAutoFit/>
          </a:bodyPr>
          <a:lstStyle/>
          <a:p>
            <a:pPr algn="l">
              <a:lnSpc>
                <a:spcPct val="120000"/>
              </a:lnSpc>
              <a:spcAft>
                <a:spcPts val="0"/>
              </a:spcAft>
            </a:pPr>
            <a:r>
              <a:rPr sz="3400" b="1">
                <a:solidFill>
                  <a:srgbClr val="1F6FB2"/>
                </a:solidFill>
                <a:latin typeface="Calibri"/>
              </a:rPr>
              <a:t>4 / 4</a:t>
            </a:r>
          </a:p>
        </p:txBody>
      </p:sp>
      <p:sp>
        <p:nvSpPr>
          <p:cNvPr id="24" name="TextBox 23"/>
          <p:cNvSpPr txBox="1"/>
          <p:nvPr/>
        </p:nvSpPr>
        <p:spPr>
          <a:xfrm>
            <a:off x="8371636" y="4645152"/>
            <a:ext cx="2942234" cy="219456"/>
          </a:xfrm>
          <a:prstGeom prst="rect">
            <a:avLst/>
          </a:prstGeom>
          <a:noFill/>
        </p:spPr>
        <p:txBody>
          <a:bodyPr wrap="square" lIns="0" tIns="0" rIns="0" bIns="0" anchor="t">
            <a:spAutoFit/>
          </a:bodyPr>
          <a:lstStyle/>
          <a:p>
            <a:pPr algn="l">
              <a:lnSpc>
                <a:spcPct val="120000"/>
              </a:lnSpc>
              <a:spcAft>
                <a:spcPts val="0"/>
              </a:spcAft>
            </a:pPr>
            <a:r>
              <a:rPr sz="950" b="1" spc="130">
                <a:solidFill>
                  <a:srgbClr val="0D1B2A"/>
                </a:solidFill>
                <a:latin typeface="Calibri"/>
              </a:rPr>
              <a:t>REKENEN NU APART</a:t>
            </a:r>
          </a:p>
        </p:txBody>
      </p:sp>
      <p:sp>
        <p:nvSpPr>
          <p:cNvPr id="25" name="TextBox 24"/>
          <p:cNvSpPr txBox="1"/>
          <p:nvPr/>
        </p:nvSpPr>
        <p:spPr>
          <a:xfrm>
            <a:off x="8371636" y="4882896"/>
            <a:ext cx="294223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elke afdeling heeft een eigen berekening op de huidige situatie</a:t>
            </a:r>
          </a:p>
        </p:txBody>
      </p:sp>
      <p:sp>
        <p:nvSpPr>
          <p:cNvPr id="26" name="Rounded Rectangle 25"/>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ounded Rectangle 26"/>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69264" y="5477255"/>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C4392D"/>
                </a:solidFill>
                <a:latin typeface="Calibri"/>
              </a:rPr>
              <a:t>NIET OPTELLEN</a:t>
            </a:r>
          </a:p>
          <a:p>
            <a:pPr algn="l">
              <a:lnSpc>
                <a:spcPct val="120000"/>
              </a:lnSpc>
              <a:spcAft>
                <a:spcPts val="0"/>
              </a:spcAft>
            </a:pPr>
            <a:r>
              <a:rPr sz="1250" b="1">
                <a:solidFill>
                  <a:srgbClr val="0D1B2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10 en 15 zijn niet optelbaar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06</a:t>
            </a:r>
          </a:p>
        </p:txBody>
      </p:sp>
      <p:sp>
        <p:nvSpPr>
          <p:cNvPr id="10" name="Rounded Rectangle 9"/>
          <p:cNvSpPr/>
          <p:nvPr/>
        </p:nvSpPr>
        <p:spPr>
          <a:xfrm>
            <a:off x="640080"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32688" y="1920240"/>
            <a:ext cx="4306824" cy="329184"/>
          </a:xfrm>
          <a:prstGeom prst="rect">
            <a:avLst/>
          </a:prstGeom>
          <a:noFill/>
        </p:spPr>
        <p:txBody>
          <a:bodyPr wrap="square" lIns="0" tIns="0" rIns="0" bIns="0" anchor="t">
            <a:spAutoFit/>
          </a:bodyPr>
          <a:lstStyle/>
          <a:p>
            <a:pPr algn="l">
              <a:lnSpc>
                <a:spcPct val="120000"/>
              </a:lnSpc>
              <a:spcAft>
                <a:spcPts val="0"/>
              </a:spcAft>
            </a:pPr>
            <a:r>
              <a:rPr sz="2000" b="1">
                <a:solidFill>
                  <a:srgbClr val="1F6FB2"/>
                </a:solidFill>
                <a:latin typeface="Calibri"/>
              </a:rPr>
              <a:t>ICU</a:t>
            </a:r>
          </a:p>
        </p:txBody>
      </p:sp>
      <p:sp>
        <p:nvSpPr>
          <p:cNvPr id="12" name="TextBox 11"/>
          <p:cNvSpPr txBox="1"/>
          <p:nvPr/>
        </p:nvSpPr>
        <p:spPr>
          <a:xfrm>
            <a:off x="932688" y="2267712"/>
            <a:ext cx="4306824" cy="237744"/>
          </a:xfrm>
          <a:prstGeom prst="rect">
            <a:avLst/>
          </a:prstGeom>
          <a:noFill/>
        </p:spPr>
        <p:txBody>
          <a:bodyPr wrap="square" lIns="0" tIns="0" rIns="0" bIns="0" anchor="t">
            <a:spAutoFit/>
          </a:bodyPr>
          <a:lstStyle/>
          <a:p>
            <a:pPr algn="l">
              <a:lnSpc>
                <a:spcPct val="120000"/>
              </a:lnSpc>
              <a:spcAft>
                <a:spcPts val="0"/>
              </a:spcAft>
            </a:pPr>
            <a:r>
              <a:rPr sz="1000" b="1" spc="160" dirty="0">
                <a:solidFill>
                  <a:srgbClr val="55677C"/>
                </a:solidFill>
                <a:latin typeface="Calibri"/>
              </a:rPr>
              <a:t>10 KAMERS</a:t>
            </a:r>
          </a:p>
        </p:txBody>
      </p:sp>
      <p:sp>
        <p:nvSpPr>
          <p:cNvPr id="13" name="TextBox 12"/>
          <p:cNvSpPr txBox="1"/>
          <p:nvPr/>
        </p:nvSpPr>
        <p:spPr>
          <a:xfrm>
            <a:off x="932688" y="2505456"/>
            <a:ext cx="4306824" cy="180947"/>
          </a:xfrm>
          <a:prstGeom prst="rect">
            <a:avLst/>
          </a:prstGeom>
          <a:noFill/>
        </p:spPr>
        <p:txBody>
          <a:bodyPr wrap="square" lIns="0" tIns="0" rIns="0" bIns="0" anchor="t">
            <a:spAutoFit/>
          </a:bodyPr>
          <a:lstStyle/>
          <a:p>
            <a:pPr algn="l">
              <a:lnSpc>
                <a:spcPct val="120000"/>
              </a:lnSpc>
              <a:spcAft>
                <a:spcPts val="0"/>
              </a:spcAft>
            </a:pPr>
            <a:r>
              <a:rPr lang="nl-NL" sz="1050" dirty="0">
                <a:solidFill>
                  <a:srgbClr val="8B9AAA"/>
                </a:solidFill>
                <a:latin typeface="Calibri"/>
              </a:rPr>
              <a:t>I</a:t>
            </a:r>
            <a:r>
              <a:rPr sz="1050" b="0" dirty="0" err="1">
                <a:solidFill>
                  <a:srgbClr val="8B9AAA"/>
                </a:solidFill>
                <a:latin typeface="Calibri"/>
              </a:rPr>
              <a:t>ntensive</a:t>
            </a:r>
            <a:r>
              <a:rPr sz="1050" b="0" dirty="0">
                <a:solidFill>
                  <a:srgbClr val="8B9AAA"/>
                </a:solidFill>
                <a:latin typeface="Calibri"/>
              </a:rPr>
              <a:t> </a:t>
            </a:r>
            <a:r>
              <a:rPr lang="nl-NL" sz="1050" dirty="0">
                <a:solidFill>
                  <a:srgbClr val="8B9AAA"/>
                </a:solidFill>
                <a:latin typeface="Calibri"/>
              </a:rPr>
              <a:t>C</a:t>
            </a:r>
            <a:r>
              <a:rPr sz="1050" b="0" dirty="0">
                <a:solidFill>
                  <a:srgbClr val="8B9AAA"/>
                </a:solidFill>
                <a:latin typeface="Calibri"/>
              </a:rPr>
              <a:t>are</a:t>
            </a:r>
          </a:p>
        </p:txBody>
      </p:sp>
      <p:sp>
        <p:nvSpPr>
          <p:cNvPr id="14" name="Rounded Rectangle 13"/>
          <p:cNvSpPr/>
          <p:nvPr/>
        </p:nvSpPr>
        <p:spPr>
          <a:xfrm>
            <a:off x="1705355"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2281427"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2857500"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3433572"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4009644"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1705355"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2281427"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2857500"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3433572"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4009644"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ed Rectangle 23"/>
          <p:cNvSpPr/>
          <p:nvPr/>
        </p:nvSpPr>
        <p:spPr>
          <a:xfrm>
            <a:off x="6659575"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952183" y="1920240"/>
            <a:ext cx="4306824" cy="329184"/>
          </a:xfrm>
          <a:prstGeom prst="rect">
            <a:avLst/>
          </a:prstGeom>
          <a:noFill/>
        </p:spPr>
        <p:txBody>
          <a:bodyPr wrap="square" lIns="0" tIns="0" rIns="0" bIns="0" anchor="t">
            <a:spAutoFit/>
          </a:bodyPr>
          <a:lstStyle/>
          <a:p>
            <a:pPr algn="l">
              <a:lnSpc>
                <a:spcPct val="120000"/>
              </a:lnSpc>
              <a:spcAft>
                <a:spcPts val="0"/>
              </a:spcAft>
            </a:pPr>
            <a:r>
              <a:rPr sz="2000" b="1">
                <a:solidFill>
                  <a:srgbClr val="6B4BA8"/>
                </a:solidFill>
                <a:latin typeface="Calibri"/>
              </a:rPr>
              <a:t>CCU / SCU / EHH</a:t>
            </a:r>
          </a:p>
        </p:txBody>
      </p:sp>
      <p:sp>
        <p:nvSpPr>
          <p:cNvPr id="26" name="TextBox 25"/>
          <p:cNvSpPr txBox="1"/>
          <p:nvPr/>
        </p:nvSpPr>
        <p:spPr>
          <a:xfrm>
            <a:off x="6952183" y="2267712"/>
            <a:ext cx="4306824" cy="237744"/>
          </a:xfrm>
          <a:prstGeom prst="rect">
            <a:avLst/>
          </a:prstGeom>
          <a:noFill/>
        </p:spPr>
        <p:txBody>
          <a:bodyPr wrap="square" lIns="0" tIns="0" rIns="0" bIns="0" anchor="t">
            <a:spAutoFit/>
          </a:bodyPr>
          <a:lstStyle/>
          <a:p>
            <a:pPr algn="l">
              <a:lnSpc>
                <a:spcPct val="120000"/>
              </a:lnSpc>
              <a:spcAft>
                <a:spcPts val="0"/>
              </a:spcAft>
            </a:pPr>
            <a:r>
              <a:rPr sz="1000" b="1" spc="160">
                <a:solidFill>
                  <a:srgbClr val="55677C"/>
                </a:solidFill>
                <a:latin typeface="Calibri"/>
              </a:rPr>
              <a:t>15 KAMERS</a:t>
            </a:r>
          </a:p>
        </p:txBody>
      </p:sp>
      <p:sp>
        <p:nvSpPr>
          <p:cNvPr id="27" name="TextBox 26"/>
          <p:cNvSpPr txBox="1"/>
          <p:nvPr/>
        </p:nvSpPr>
        <p:spPr>
          <a:xfrm>
            <a:off x="6952183" y="2505456"/>
            <a:ext cx="4306824" cy="180947"/>
          </a:xfrm>
          <a:prstGeom prst="rect">
            <a:avLst/>
          </a:prstGeom>
          <a:noFill/>
        </p:spPr>
        <p:txBody>
          <a:bodyPr wrap="square" lIns="0" tIns="0" rIns="0" bIns="0" anchor="t">
            <a:spAutoFit/>
          </a:bodyPr>
          <a:lstStyle/>
          <a:p>
            <a:pPr algn="l">
              <a:lnSpc>
                <a:spcPct val="120000"/>
              </a:lnSpc>
              <a:spcAft>
                <a:spcPts val="0"/>
              </a:spcAft>
            </a:pPr>
            <a:r>
              <a:rPr lang="nl-NL" sz="1050" b="0" dirty="0" err="1">
                <a:solidFill>
                  <a:srgbClr val="8B9AAA"/>
                </a:solidFill>
                <a:latin typeface="Calibri"/>
              </a:rPr>
              <a:t>Coronary</a:t>
            </a:r>
            <a:r>
              <a:rPr lang="nl-NL" sz="1050" b="0" dirty="0">
                <a:solidFill>
                  <a:srgbClr val="8B9AAA"/>
                </a:solidFill>
                <a:latin typeface="Calibri"/>
              </a:rPr>
              <a:t> Care Unit</a:t>
            </a:r>
            <a:r>
              <a:rPr sz="1050" b="0" dirty="0">
                <a:solidFill>
                  <a:srgbClr val="8B9AAA"/>
                </a:solidFill>
                <a:latin typeface="Calibri"/>
              </a:rPr>
              <a:t>, </a:t>
            </a:r>
            <a:r>
              <a:rPr lang="nl-NL" sz="1050" b="0" dirty="0" err="1">
                <a:solidFill>
                  <a:srgbClr val="8B9AAA"/>
                </a:solidFill>
                <a:latin typeface="Calibri"/>
              </a:rPr>
              <a:t>Stroke</a:t>
            </a:r>
            <a:r>
              <a:rPr lang="nl-NL" sz="1050" b="0" dirty="0">
                <a:solidFill>
                  <a:srgbClr val="8B9AAA"/>
                </a:solidFill>
                <a:latin typeface="Calibri"/>
              </a:rPr>
              <a:t> Care Unit</a:t>
            </a:r>
            <a:r>
              <a:rPr sz="1050" b="0" dirty="0">
                <a:solidFill>
                  <a:srgbClr val="8B9AAA"/>
                </a:solidFill>
                <a:latin typeface="Calibri"/>
              </a:rPr>
              <a:t> </a:t>
            </a:r>
            <a:r>
              <a:rPr sz="1050" b="0" dirty="0" err="1">
                <a:solidFill>
                  <a:srgbClr val="8B9AAA"/>
                </a:solidFill>
                <a:latin typeface="Calibri"/>
              </a:rPr>
              <a:t>en</a:t>
            </a:r>
            <a:r>
              <a:rPr sz="1050" b="0" dirty="0">
                <a:solidFill>
                  <a:srgbClr val="8B9AAA"/>
                </a:solidFill>
                <a:latin typeface="Calibri"/>
              </a:rPr>
              <a:t> </a:t>
            </a:r>
            <a:r>
              <a:rPr lang="nl-NL" sz="1050" dirty="0">
                <a:solidFill>
                  <a:srgbClr val="8B9AAA"/>
                </a:solidFill>
                <a:latin typeface="Calibri"/>
              </a:rPr>
              <a:t>E</a:t>
            </a:r>
            <a:r>
              <a:rPr sz="1050" b="0" dirty="0" err="1">
                <a:solidFill>
                  <a:srgbClr val="8B9AAA"/>
                </a:solidFill>
                <a:latin typeface="Calibri"/>
              </a:rPr>
              <a:t>erste</a:t>
            </a:r>
            <a:r>
              <a:rPr sz="1050" b="0" dirty="0">
                <a:solidFill>
                  <a:srgbClr val="8B9AAA"/>
                </a:solidFill>
                <a:latin typeface="Calibri"/>
              </a:rPr>
              <a:t> </a:t>
            </a:r>
            <a:r>
              <a:rPr lang="nl-NL" sz="1050" b="0" dirty="0">
                <a:solidFill>
                  <a:srgbClr val="8B9AAA"/>
                </a:solidFill>
                <a:latin typeface="Calibri"/>
              </a:rPr>
              <a:t>H</a:t>
            </a:r>
            <a:r>
              <a:rPr sz="1050" b="0" dirty="0">
                <a:solidFill>
                  <a:srgbClr val="8B9AAA"/>
                </a:solidFill>
                <a:latin typeface="Calibri"/>
              </a:rPr>
              <a:t>art </a:t>
            </a:r>
            <a:r>
              <a:rPr lang="nl-NL" sz="1050" dirty="0">
                <a:solidFill>
                  <a:srgbClr val="8B9AAA"/>
                </a:solidFill>
                <a:latin typeface="Calibri"/>
              </a:rPr>
              <a:t>H</a:t>
            </a:r>
            <a:r>
              <a:rPr sz="1050" b="0" dirty="0" err="1">
                <a:solidFill>
                  <a:srgbClr val="8B9AAA"/>
                </a:solidFill>
                <a:latin typeface="Calibri"/>
              </a:rPr>
              <a:t>ulp</a:t>
            </a:r>
            <a:endParaRPr sz="1050" b="0" dirty="0">
              <a:solidFill>
                <a:srgbClr val="8B9AAA"/>
              </a:solidFill>
              <a:latin typeface="Calibri"/>
            </a:endParaRPr>
          </a:p>
        </p:txBody>
      </p:sp>
      <p:sp>
        <p:nvSpPr>
          <p:cNvPr id="28" name="Rounded Rectangle 27"/>
          <p:cNvSpPr/>
          <p:nvPr/>
        </p:nvSpPr>
        <p:spPr>
          <a:xfrm>
            <a:off x="7724851"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ounded Rectangle 28"/>
          <p:cNvSpPr/>
          <p:nvPr/>
        </p:nvSpPr>
        <p:spPr>
          <a:xfrm>
            <a:off x="8300923"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ounded Rectangle 29"/>
          <p:cNvSpPr/>
          <p:nvPr/>
        </p:nvSpPr>
        <p:spPr>
          <a:xfrm>
            <a:off x="8876995"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9453067"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10029139"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ounded Rectangle 32"/>
          <p:cNvSpPr/>
          <p:nvPr/>
        </p:nvSpPr>
        <p:spPr>
          <a:xfrm>
            <a:off x="7724851"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8300923"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ounded Rectangle 34"/>
          <p:cNvSpPr/>
          <p:nvPr/>
        </p:nvSpPr>
        <p:spPr>
          <a:xfrm>
            <a:off x="8876995"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ounded Rectangle 35"/>
          <p:cNvSpPr/>
          <p:nvPr/>
        </p:nvSpPr>
        <p:spPr>
          <a:xfrm>
            <a:off x="9453067"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ounded Rectangle 36"/>
          <p:cNvSpPr/>
          <p:nvPr/>
        </p:nvSpPr>
        <p:spPr>
          <a:xfrm>
            <a:off x="10029139"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ounded Rectangle 37"/>
          <p:cNvSpPr/>
          <p:nvPr/>
        </p:nvSpPr>
        <p:spPr>
          <a:xfrm>
            <a:off x="7724851"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8300923"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ounded Rectangle 39"/>
          <p:cNvSpPr/>
          <p:nvPr/>
        </p:nvSpPr>
        <p:spPr>
          <a:xfrm>
            <a:off x="8876995"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ounded Rectangle 40"/>
          <p:cNvSpPr/>
          <p:nvPr/>
        </p:nvSpPr>
        <p:spPr>
          <a:xfrm>
            <a:off x="9453067"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ounded Rectangle 41"/>
          <p:cNvSpPr/>
          <p:nvPr/>
        </p:nvSpPr>
        <p:spPr>
          <a:xfrm>
            <a:off x="10029139"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5532120" y="2761488"/>
            <a:ext cx="1127455" cy="914400"/>
          </a:xfrm>
          <a:prstGeom prst="rect">
            <a:avLst/>
          </a:prstGeom>
          <a:noFill/>
        </p:spPr>
        <p:txBody>
          <a:bodyPr wrap="square" lIns="0" tIns="0" rIns="0" bIns="0" anchor="t">
            <a:spAutoFit/>
          </a:bodyPr>
          <a:lstStyle/>
          <a:p>
            <a:pPr algn="ctr">
              <a:lnSpc>
                <a:spcPct val="120000"/>
              </a:lnSpc>
              <a:spcAft>
                <a:spcPts val="0"/>
              </a:spcAft>
            </a:pPr>
            <a:r>
              <a:rPr sz="5600" b="1">
                <a:solidFill>
                  <a:srgbClr val="C4392D"/>
                </a:solidFill>
                <a:latin typeface="Calibri"/>
              </a:rPr>
              <a:t>≠</a:t>
            </a:r>
          </a:p>
        </p:txBody>
      </p:sp>
      <p:sp>
        <p:nvSpPr>
          <p:cNvPr id="44" name="TextBox 43"/>
          <p:cNvSpPr txBox="1"/>
          <p:nvPr/>
        </p:nvSpPr>
        <p:spPr>
          <a:xfrm>
            <a:off x="5532120" y="3675888"/>
            <a:ext cx="1127455" cy="548640"/>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niet bij elkaar</a:t>
            </a:r>
          </a:p>
          <a:p>
            <a:pPr algn="ctr">
              <a:lnSpc>
                <a:spcPct val="120000"/>
              </a:lnSpc>
              <a:spcAft>
                <a:spcPts val="0"/>
              </a:spcAft>
            </a:pPr>
            <a:r>
              <a:rPr sz="1050" b="0">
                <a:solidFill>
                  <a:srgbClr val="55677C"/>
                </a:solidFill>
                <a:latin typeface="Calibri"/>
              </a:rPr>
              <a:t>op te tellen</a:t>
            </a:r>
          </a:p>
        </p:txBody>
      </p:sp>
      <p:sp>
        <p:nvSpPr>
          <p:cNvPr id="45" name="Rounded Rectangle 44"/>
          <p:cNvSpPr/>
          <p:nvPr/>
        </p:nvSpPr>
        <p:spPr>
          <a:xfrm>
            <a:off x="640080"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96112" y="4873752"/>
            <a:ext cx="2194560" cy="438912"/>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SEH</a:t>
            </a:r>
          </a:p>
        </p:txBody>
      </p:sp>
      <p:sp>
        <p:nvSpPr>
          <p:cNvPr id="47" name="TextBox 46"/>
          <p:cNvSpPr txBox="1"/>
          <p:nvPr/>
        </p:nvSpPr>
        <p:spPr>
          <a:xfrm>
            <a:off x="2849727" y="4914697"/>
            <a:ext cx="2852928" cy="357021"/>
          </a:xfrm>
          <a:prstGeom prst="rect">
            <a:avLst/>
          </a:prstGeom>
          <a:noFill/>
        </p:spPr>
        <p:txBody>
          <a:bodyPr wrap="square" lIns="0" tIns="0" rIns="0" bIns="0" anchor="ctr">
            <a:spAutoFit/>
          </a:bodyPr>
          <a:lstStyle/>
          <a:p>
            <a:pPr>
              <a:lnSpc>
                <a:spcPct val="120000"/>
              </a:lnSpc>
            </a:pPr>
            <a:r>
              <a:rPr lang="nl-NL" sz="1000" b="1" spc="160" dirty="0">
                <a:solidFill>
                  <a:srgbClr val="55677C"/>
                </a:solidFill>
                <a:latin typeface="Calibri"/>
              </a:rPr>
              <a:t>11 kamers (exclusief triage en gipsplek)</a:t>
            </a:r>
            <a:endParaRPr sz="1000" b="1" spc="160" dirty="0">
              <a:solidFill>
                <a:srgbClr val="55677C"/>
              </a:solidFill>
              <a:latin typeface="Calibri"/>
            </a:endParaRPr>
          </a:p>
        </p:txBody>
      </p:sp>
      <p:sp>
        <p:nvSpPr>
          <p:cNvPr id="48" name="Rounded Rectangle 47"/>
          <p:cNvSpPr/>
          <p:nvPr/>
        </p:nvSpPr>
        <p:spPr>
          <a:xfrm>
            <a:off x="6233007"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6489039" y="4873752"/>
            <a:ext cx="2194560" cy="438912"/>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Kind spoed</a:t>
            </a:r>
          </a:p>
        </p:txBody>
      </p:sp>
      <p:sp>
        <p:nvSpPr>
          <p:cNvPr id="50" name="TextBox 49"/>
          <p:cNvSpPr txBox="1"/>
          <p:nvPr/>
        </p:nvSpPr>
        <p:spPr>
          <a:xfrm>
            <a:off x="8442655" y="4873752"/>
            <a:ext cx="2852928" cy="438912"/>
          </a:xfrm>
          <a:prstGeom prst="rect">
            <a:avLst/>
          </a:prstGeom>
          <a:noFill/>
        </p:spPr>
        <p:txBody>
          <a:bodyPr wrap="square" lIns="0" tIns="0" r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51" name="Rounded Rectangle 50"/>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ounded Rectangle 51"/>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69264" y="5536901"/>
            <a:ext cx="9997135" cy="429348"/>
          </a:xfrm>
          <a:prstGeom prst="rect">
            <a:avLst/>
          </a:prstGeom>
          <a:noFill/>
        </p:spPr>
        <p:txBody>
          <a:bodyPr wrap="square" lIns="0" tIns="0" rIns="0" bIns="0" anchor="ctr">
            <a:spAutoFit/>
          </a:bodyPr>
          <a:lstStyle/>
          <a:p>
            <a:pPr algn="l">
              <a:lnSpc>
                <a:spcPct val="120000"/>
              </a:lnSpc>
              <a:spcAft>
                <a:spcPts val="300"/>
              </a:spcAft>
            </a:pPr>
            <a:r>
              <a:rPr sz="950" b="1" spc="180" dirty="0">
                <a:solidFill>
                  <a:srgbClr val="C4392D"/>
                </a:solidFill>
                <a:latin typeface="Calibri"/>
              </a:rPr>
              <a:t>WAT DIT BETEKENT VOOR DE CIJFERS</a:t>
            </a:r>
          </a:p>
          <a:p>
            <a:pPr algn="l">
              <a:lnSpc>
                <a:spcPct val="120000"/>
              </a:lnSpc>
              <a:spcAft>
                <a:spcPts val="0"/>
              </a:spcAft>
            </a:pPr>
            <a:r>
              <a:rPr sz="1250" b="1" dirty="0">
                <a:solidFill>
                  <a:srgbClr val="0D1B2A"/>
                </a:solidFill>
                <a:latin typeface="Calibri"/>
              </a:rPr>
              <a:t>De </a:t>
            </a:r>
            <a:r>
              <a:rPr sz="1250" b="1" dirty="0" err="1">
                <a:solidFill>
                  <a:srgbClr val="0D1B2A"/>
                </a:solidFill>
                <a:latin typeface="Calibri"/>
              </a:rPr>
              <a:t>berekeningen</a:t>
            </a:r>
            <a:r>
              <a:rPr sz="1250" b="1" dirty="0">
                <a:solidFill>
                  <a:srgbClr val="0D1B2A"/>
                </a:solidFill>
                <a:latin typeface="Calibri"/>
              </a:rPr>
              <a:t> </a:t>
            </a:r>
            <a:r>
              <a:rPr sz="1250" b="1" dirty="0" err="1">
                <a:solidFill>
                  <a:srgbClr val="0D1B2A"/>
                </a:solidFill>
                <a:latin typeface="Calibri"/>
              </a:rPr>
              <a:t>zijn</a:t>
            </a:r>
            <a:r>
              <a:rPr sz="1250" b="1" dirty="0">
                <a:solidFill>
                  <a:srgbClr val="0D1B2A"/>
                </a:solidFill>
                <a:latin typeface="Calibri"/>
              </a:rPr>
              <a:t> per </a:t>
            </a:r>
            <a:r>
              <a:rPr sz="1250" b="1" dirty="0" err="1">
                <a:solidFill>
                  <a:srgbClr val="0D1B2A"/>
                </a:solidFill>
                <a:latin typeface="Calibri"/>
              </a:rPr>
              <a:t>specialisme</a:t>
            </a:r>
            <a:r>
              <a:rPr sz="1250" b="1" dirty="0">
                <a:solidFill>
                  <a:srgbClr val="0D1B2A"/>
                </a:solidFill>
                <a:latin typeface="Calibri"/>
              </a:rPr>
              <a:t> apart </a:t>
            </a:r>
            <a:r>
              <a:rPr sz="1250" b="1" dirty="0" err="1">
                <a:solidFill>
                  <a:srgbClr val="0D1B2A"/>
                </a:solidFill>
                <a:latin typeface="Calibri"/>
              </a:rPr>
              <a:t>gemaakt</a:t>
            </a:r>
            <a:r>
              <a:rPr sz="1250" b="1" dirty="0">
                <a:solidFill>
                  <a:srgbClr val="0D1B2A"/>
                </a:solidFill>
                <a:latin typeface="Calibri"/>
              </a:rPr>
              <a:t>, op de </a:t>
            </a:r>
            <a:r>
              <a:rPr sz="1250" b="1" dirty="0" err="1">
                <a:solidFill>
                  <a:srgbClr val="0D1B2A"/>
                </a:solidFill>
                <a:latin typeface="Calibri"/>
              </a:rPr>
              <a:t>huidige</a:t>
            </a:r>
            <a:r>
              <a:rPr sz="1250" b="1" dirty="0">
                <a:solidFill>
                  <a:srgbClr val="0D1B2A"/>
                </a:solidFill>
                <a:latin typeface="Calibri"/>
              </a:rPr>
              <a:t> </a:t>
            </a:r>
            <a:r>
              <a:rPr sz="1250" b="1" dirty="0" err="1">
                <a:solidFill>
                  <a:srgbClr val="0D1B2A"/>
                </a:solidFill>
                <a:latin typeface="Calibri"/>
              </a:rPr>
              <a:t>gescheiden</a:t>
            </a:r>
            <a:r>
              <a:rPr sz="1250" b="1" dirty="0">
                <a:solidFill>
                  <a:srgbClr val="0D1B2A"/>
                </a:solidFill>
                <a:latin typeface="Calibri"/>
              </a:rPr>
              <a:t> </a:t>
            </a:r>
            <a:r>
              <a:rPr sz="1250" b="1" dirty="0" err="1">
                <a:solidFill>
                  <a:srgbClr val="0D1B2A"/>
                </a:solidFill>
                <a:latin typeface="Calibri"/>
              </a:rPr>
              <a:t>situatie</a:t>
            </a:r>
            <a:r>
              <a:rPr sz="1250" b="1" dirty="0">
                <a:solidFill>
                  <a:srgbClr val="0D1B2A"/>
                </a:solidFill>
                <a:latin typeface="Calibri"/>
              </a:rPr>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6B4BA8">
                    <a:alpha val="9000"/>
                  </a:srgbClr>
                </a:solidFill>
                <a:latin typeface="Calibri"/>
              </a:rPr>
              <a:t>02</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6B4BA8"/>
                </a:solidFill>
                <a:latin typeface="Calibri"/>
              </a:rPr>
              <a:t>DEEL 02</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a:solidFill>
                  <a:srgbClr val="0D1B2A"/>
                </a:solidFill>
                <a:latin typeface="Calibri"/>
              </a:rPr>
              <a:t>Wat gaan we rekenen</a:t>
            </a:r>
          </a:p>
        </p:txBody>
      </p:sp>
      <p:cxnSp>
        <p:nvCxnSpPr>
          <p:cNvPr id="6" name="Connector 5"/>
          <p:cNvCxnSpPr/>
          <p:nvPr/>
        </p:nvCxnSpPr>
        <p:spPr>
          <a:xfrm>
            <a:off x="640080" y="3584448"/>
            <a:ext cx="2377440" cy="0"/>
          </a:xfrm>
          <a:prstGeom prst="line">
            <a:avLst/>
          </a:prstGeom>
          <a:ln w="25400">
            <a:solidFill>
              <a:srgbClr val="6B4BA8"/>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Het tijdpad van september 2026 tot de verhuizing</a:t>
            </a:r>
          </a:p>
        </p:txBody>
      </p:sp>
      <p:sp>
        <p:nvSpPr>
          <p:cNvPr id="9" name="Oval 8"/>
          <p:cNvSpPr/>
          <p:nvPr/>
        </p:nvSpPr>
        <p:spPr>
          <a:xfrm>
            <a:off x="649224" y="4279392"/>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De drie berekeningen en de stromen die meetellen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6B4BA8">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07</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Het tijdpad</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08</a:t>
            </a:r>
          </a:p>
        </p:txBody>
      </p:sp>
      <p:sp>
        <p:nvSpPr>
          <p:cNvPr id="10" name="Rounded Rectangle 9"/>
          <p:cNvSpPr/>
          <p:nvPr/>
        </p:nvSpPr>
        <p:spPr>
          <a:xfrm>
            <a:off x="667512" y="1920240"/>
            <a:ext cx="724531" cy="548640"/>
          </a:xfrm>
          <a:prstGeom prst="roundRect">
            <a:avLst>
              <a:gd name="adj" fmla="val 16000"/>
            </a:avLst>
          </a:prstGeom>
          <a:solidFill>
            <a:srgbClr val="E2E8F0"/>
          </a:solidFill>
          <a:ln w="15875">
            <a:solidFill>
              <a:srgbClr val="CAD3D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31519" y="1993392"/>
            <a:ext cx="596515" cy="420624"/>
          </a:xfrm>
          <a:prstGeom prst="rect">
            <a:avLst/>
          </a:prstGeom>
          <a:noFill/>
        </p:spPr>
        <p:txBody>
          <a:bodyPr wrap="square" lIns="0" tIns="0" rIns="0" bIns="0" anchor="ctr">
            <a:spAutoFit/>
          </a:bodyPr>
          <a:lstStyle/>
          <a:p>
            <a:pPr algn="ctr">
              <a:lnSpc>
                <a:spcPct val="120000"/>
              </a:lnSpc>
              <a:spcAft>
                <a:spcPts val="100"/>
              </a:spcAft>
            </a:pPr>
            <a:r>
              <a:rPr sz="1100" b="1" spc="140">
                <a:solidFill>
                  <a:srgbClr val="8B9AAA"/>
                </a:solidFill>
                <a:latin typeface="Calibri"/>
              </a:rPr>
              <a:t>NU</a:t>
            </a:r>
          </a:p>
          <a:p>
            <a:pPr algn="ctr">
              <a:lnSpc>
                <a:spcPct val="120000"/>
              </a:lnSpc>
              <a:spcAft>
                <a:spcPts val="0"/>
              </a:spcAft>
            </a:pPr>
            <a:r>
              <a:rPr sz="900" b="0">
                <a:solidFill>
                  <a:srgbClr val="55677C"/>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D2E2F1"/>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510915" y="1993392"/>
            <a:ext cx="6052282" cy="420624"/>
          </a:xfrm>
          <a:prstGeom prst="rect">
            <a:avLst/>
          </a:prstGeom>
          <a:noFill/>
        </p:spPr>
        <p:txBody>
          <a:bodyPr wrap="square" lIns="0" tIns="0" rIns="0" bIns="0" anchor="ctr">
            <a:spAutoFit/>
          </a:bodyPr>
          <a:lstStyle/>
          <a:p>
            <a:pPr algn="ctr">
              <a:lnSpc>
                <a:spcPct val="120000"/>
              </a:lnSpc>
              <a:spcAft>
                <a:spcPts val="100"/>
              </a:spcAft>
            </a:pPr>
            <a:r>
              <a:rPr sz="1100" b="1" spc="140">
                <a:solidFill>
                  <a:srgbClr val="1F6FB2"/>
                </a:solidFill>
                <a:latin typeface="Calibri"/>
              </a:rPr>
              <a:t>OUDBOUW</a:t>
            </a:r>
          </a:p>
          <a:p>
            <a:pPr algn="ctr">
              <a:lnSpc>
                <a:spcPct val="120000"/>
              </a:lnSpc>
              <a:spcAft>
                <a:spcPts val="0"/>
              </a:spcAft>
            </a:pPr>
            <a:r>
              <a:rPr sz="900" b="0">
                <a:solidFill>
                  <a:srgbClr val="55677C"/>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CFE8EA"/>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46078" y="1993392"/>
            <a:ext cx="3714096" cy="420624"/>
          </a:xfrm>
          <a:prstGeom prst="rect">
            <a:avLst/>
          </a:prstGeom>
          <a:noFill/>
        </p:spPr>
        <p:txBody>
          <a:bodyPr wrap="square" lIns="0" tIns="0" rIns="0" bIns="0" anchor="ctr">
            <a:spAutoFit/>
          </a:bodyPr>
          <a:lstStyle/>
          <a:p>
            <a:pPr algn="ctr">
              <a:lnSpc>
                <a:spcPct val="120000"/>
              </a:lnSpc>
              <a:spcAft>
                <a:spcPts val="100"/>
              </a:spcAft>
            </a:pPr>
            <a:r>
              <a:rPr sz="1100" b="1" spc="140">
                <a:solidFill>
                  <a:srgbClr val="0E9A87"/>
                </a:solidFill>
                <a:latin typeface="Calibri"/>
              </a:rPr>
              <a:t>NIEUWBOUW</a:t>
            </a:r>
          </a:p>
          <a:p>
            <a:pPr algn="ctr">
              <a:lnSpc>
                <a:spcPct val="120000"/>
              </a:lnSpc>
              <a:spcAft>
                <a:spcPts val="0"/>
              </a:spcAft>
            </a:pPr>
            <a:r>
              <a:rPr sz="900" b="0">
                <a:solidFill>
                  <a:srgbClr val="55677C"/>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1419475" y="2944368"/>
            <a:ext cx="6235162" cy="10972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7654638" y="2944368"/>
            <a:ext cx="3896976" cy="109728"/>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9" name="Connector 18"/>
          <p:cNvCxnSpPr/>
          <p:nvPr/>
        </p:nvCxnSpPr>
        <p:spPr>
          <a:xfrm>
            <a:off x="64008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40080" y="3218688"/>
            <a:ext cx="779395" cy="237744"/>
          </a:xfrm>
          <a:prstGeom prst="rect">
            <a:avLst/>
          </a:prstGeom>
          <a:noFill/>
        </p:spPr>
        <p:txBody>
          <a:bodyPr wrap="square" lIns="0" tIns="0" rIns="0" bIns="0" anchor="t">
            <a:spAutoFit/>
          </a:bodyPr>
          <a:lstStyle/>
          <a:p>
            <a:pPr algn="ctr">
              <a:lnSpc>
                <a:spcPct val="120000"/>
              </a:lnSpc>
              <a:spcAft>
                <a:spcPts val="0"/>
              </a:spcAft>
            </a:pPr>
            <a:r>
              <a:rPr sz="1050" b="1">
                <a:solidFill>
                  <a:srgbClr val="0D1B2A"/>
                </a:solidFill>
                <a:latin typeface="Calibri"/>
              </a:rPr>
              <a:t>sept</a:t>
            </a:r>
          </a:p>
        </p:txBody>
      </p:sp>
      <p:sp>
        <p:nvSpPr>
          <p:cNvPr id="36" name="Rectangle 35"/>
          <p:cNvSpPr/>
          <p:nvPr/>
        </p:nvSpPr>
        <p:spPr>
          <a:xfrm>
            <a:off x="180460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1419475"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okt</a:t>
            </a:r>
          </a:p>
        </p:txBody>
      </p:sp>
      <p:sp>
        <p:nvSpPr>
          <p:cNvPr id="38" name="Rectangle 37"/>
          <p:cNvSpPr/>
          <p:nvPr/>
        </p:nvSpPr>
        <p:spPr>
          <a:xfrm>
            <a:off x="2583996"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2198870"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nov</a:t>
            </a:r>
          </a:p>
        </p:txBody>
      </p:sp>
      <p:sp>
        <p:nvSpPr>
          <p:cNvPr id="40" name="Rectangle 39"/>
          <p:cNvSpPr/>
          <p:nvPr/>
        </p:nvSpPr>
        <p:spPr>
          <a:xfrm>
            <a:off x="336339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978266"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dec</a:t>
            </a:r>
          </a:p>
        </p:txBody>
      </p:sp>
      <p:sp>
        <p:nvSpPr>
          <p:cNvPr id="42" name="Rectangle 41"/>
          <p:cNvSpPr/>
          <p:nvPr/>
        </p:nvSpPr>
        <p:spPr>
          <a:xfrm>
            <a:off x="414278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3757661"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jan</a:t>
            </a:r>
          </a:p>
        </p:txBody>
      </p:sp>
      <p:sp>
        <p:nvSpPr>
          <p:cNvPr id="44" name="Rectangle 43"/>
          <p:cNvSpPr/>
          <p:nvPr/>
        </p:nvSpPr>
        <p:spPr>
          <a:xfrm>
            <a:off x="4922182"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4537056"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feb</a:t>
            </a:r>
          </a:p>
        </p:txBody>
      </p:sp>
      <p:sp>
        <p:nvSpPr>
          <p:cNvPr id="46" name="Rectangle 45"/>
          <p:cNvSpPr/>
          <p:nvPr/>
        </p:nvSpPr>
        <p:spPr>
          <a:xfrm>
            <a:off x="570157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5316452"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mrt</a:t>
            </a:r>
          </a:p>
        </p:txBody>
      </p:sp>
      <p:sp>
        <p:nvSpPr>
          <p:cNvPr id="48" name="Rectangle 47"/>
          <p:cNvSpPr/>
          <p:nvPr/>
        </p:nvSpPr>
        <p:spPr>
          <a:xfrm>
            <a:off x="6480973"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6095847"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apr</a:t>
            </a:r>
          </a:p>
        </p:txBody>
      </p:sp>
      <p:sp>
        <p:nvSpPr>
          <p:cNvPr id="50" name="Rectangle 49"/>
          <p:cNvSpPr/>
          <p:nvPr/>
        </p:nvSpPr>
        <p:spPr>
          <a:xfrm>
            <a:off x="7260368"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6875242"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mei</a:t>
            </a:r>
          </a:p>
        </p:txBody>
      </p:sp>
      <p:sp>
        <p:nvSpPr>
          <p:cNvPr id="52" name="Rectangle 51"/>
          <p:cNvSpPr/>
          <p:nvPr/>
        </p:nvSpPr>
        <p:spPr>
          <a:xfrm>
            <a:off x="803976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7654638" y="3218688"/>
            <a:ext cx="779395" cy="237744"/>
          </a:xfrm>
          <a:prstGeom prst="rect">
            <a:avLst/>
          </a:prstGeom>
          <a:noFill/>
        </p:spPr>
        <p:txBody>
          <a:bodyPr wrap="square" lIns="0" tIns="0" rIns="0" bIns="0" anchor="t">
            <a:spAutoFit/>
          </a:bodyPr>
          <a:lstStyle/>
          <a:p>
            <a:pPr algn="ctr">
              <a:lnSpc>
                <a:spcPct val="120000"/>
              </a:lnSpc>
              <a:spcAft>
                <a:spcPts val="0"/>
              </a:spcAft>
            </a:pPr>
            <a:r>
              <a:rPr sz="1050" b="1">
                <a:solidFill>
                  <a:srgbClr val="0D1B2A"/>
                </a:solidFill>
                <a:latin typeface="Calibri"/>
              </a:rPr>
              <a:t>juni</a:t>
            </a:r>
          </a:p>
        </p:txBody>
      </p:sp>
      <p:sp>
        <p:nvSpPr>
          <p:cNvPr id="54" name="Rectangle 53"/>
          <p:cNvSpPr/>
          <p:nvPr/>
        </p:nvSpPr>
        <p:spPr>
          <a:xfrm>
            <a:off x="8819159"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8434033"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juli</a:t>
            </a:r>
          </a:p>
        </p:txBody>
      </p:sp>
      <p:sp>
        <p:nvSpPr>
          <p:cNvPr id="56" name="Rectangle 55"/>
          <p:cNvSpPr/>
          <p:nvPr/>
        </p:nvSpPr>
        <p:spPr>
          <a:xfrm>
            <a:off x="959855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9213429"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aug</a:t>
            </a:r>
          </a:p>
        </p:txBody>
      </p:sp>
      <p:sp>
        <p:nvSpPr>
          <p:cNvPr id="58" name="Rectangle 57"/>
          <p:cNvSpPr/>
          <p:nvPr/>
        </p:nvSpPr>
        <p:spPr>
          <a:xfrm>
            <a:off x="10377950"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9992824"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sept</a:t>
            </a:r>
          </a:p>
        </p:txBody>
      </p:sp>
      <p:sp>
        <p:nvSpPr>
          <p:cNvPr id="60" name="Rectangle 59"/>
          <p:cNvSpPr/>
          <p:nvPr/>
        </p:nvSpPr>
        <p:spPr>
          <a:xfrm>
            <a:off x="1115734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0772219"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okt</a:t>
            </a:r>
          </a:p>
        </p:txBody>
      </p:sp>
      <p:sp>
        <p:nvSpPr>
          <p:cNvPr id="62" name="Oval 61"/>
          <p:cNvSpPr/>
          <p:nvPr/>
        </p:nvSpPr>
        <p:spPr>
          <a:xfrm>
            <a:off x="846897" y="2816352"/>
            <a:ext cx="365760" cy="365760"/>
          </a:xfrm>
          <a:prstGeom prst="ellipse">
            <a:avLst/>
          </a:prstGeom>
          <a:solidFill>
            <a:srgbClr val="6B4B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938337" y="2907792"/>
            <a:ext cx="182880" cy="18288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640080" y="3950208"/>
            <a:ext cx="3840480" cy="1225296"/>
          </a:xfrm>
          <a:prstGeom prst="roundRect">
            <a:avLst>
              <a:gd name="adj" fmla="val 3000"/>
            </a:avLst>
          </a:prstGeom>
          <a:solidFill>
            <a:srgbClr val="DDDC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914400" y="4114800"/>
            <a:ext cx="3291840" cy="1005840"/>
          </a:xfrm>
          <a:prstGeom prst="rect">
            <a:avLst/>
          </a:prstGeom>
          <a:noFill/>
        </p:spPr>
        <p:txBody>
          <a:bodyPr wrap="square" lIns="0" tIns="0" rIns="0" bIns="0" anchor="t">
            <a:spAutoFit/>
          </a:bodyPr>
          <a:lstStyle/>
          <a:p>
            <a:pPr algn="l">
              <a:lnSpc>
                <a:spcPct val="120000"/>
              </a:lnSpc>
              <a:spcAft>
                <a:spcPts val="500"/>
              </a:spcAft>
            </a:pPr>
            <a:r>
              <a:rPr sz="1600" b="1">
                <a:solidFill>
                  <a:srgbClr val="6B4BA8"/>
                </a:solidFill>
                <a:latin typeface="Calibri"/>
              </a:rPr>
              <a:t>Berekeningen starten</a:t>
            </a:r>
          </a:p>
          <a:p>
            <a:pPr algn="l">
              <a:lnSpc>
                <a:spcPct val="124000"/>
              </a:lnSpc>
              <a:spcAft>
                <a:spcPts val="0"/>
              </a:spcAft>
            </a:pPr>
            <a:r>
              <a:rPr sz="1150" b="0">
                <a:solidFill>
                  <a:srgbClr val="55677C"/>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C87E12">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7952896" y="2907792"/>
            <a:ext cx="182880" cy="18288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Freeform 68"/>
          <p:cNvSpPr/>
          <p:nvPr/>
        </p:nvSpPr>
        <p:spPr>
          <a:xfrm>
            <a:off x="8044336" y="3108960"/>
            <a:ext cx="0" cy="786384"/>
          </a:xfrm>
          <a:custGeom>
            <a:avLst/>
            <a:gdLst/>
            <a:ahLst/>
            <a:cxnLst/>
            <a:rect l="l" t="t" r="r" b="b"/>
            <a:pathLst>
              <a:path h="786384">
                <a:moveTo>
                  <a:pt x="0" y="0"/>
                </a:moveTo>
                <a:lnTo>
                  <a:pt x="0" y="621792"/>
                </a:lnTo>
                <a:lnTo>
                  <a:pt x="0" y="621792"/>
                </a:lnTo>
                <a:lnTo>
                  <a:pt x="0" y="786384"/>
                </a:lnTo>
              </a:path>
            </a:pathLst>
          </a:custGeom>
          <a:noFill/>
          <a:ln w="15875">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ounded Rectangle 69"/>
          <p:cNvSpPr/>
          <p:nvPr/>
        </p:nvSpPr>
        <p:spPr>
          <a:xfrm>
            <a:off x="6124096" y="3950208"/>
            <a:ext cx="3840480" cy="1225296"/>
          </a:xfrm>
          <a:prstGeom prst="roundRect">
            <a:avLst>
              <a:gd name="adj" fmla="val 3000"/>
            </a:avLst>
          </a:prstGeom>
          <a:solidFill>
            <a:srgbClr val="EBE4D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6398416" y="4114800"/>
            <a:ext cx="3291840" cy="1005840"/>
          </a:xfrm>
          <a:prstGeom prst="rect">
            <a:avLst/>
          </a:prstGeom>
          <a:noFill/>
        </p:spPr>
        <p:txBody>
          <a:bodyPr wrap="square" lIns="0" tIns="0" rIns="0" bIns="0" anchor="t">
            <a:spAutoFit/>
          </a:bodyPr>
          <a:lstStyle/>
          <a:p>
            <a:pPr algn="l">
              <a:lnSpc>
                <a:spcPct val="120000"/>
              </a:lnSpc>
              <a:spcAft>
                <a:spcPts val="500"/>
              </a:spcAft>
            </a:pPr>
            <a:r>
              <a:rPr sz="1600" b="1">
                <a:solidFill>
                  <a:srgbClr val="C87E12"/>
                </a:solidFill>
                <a:latin typeface="Calibri"/>
              </a:rPr>
              <a:t>Verhuizing</a:t>
            </a:r>
          </a:p>
          <a:p>
            <a:pPr algn="l">
              <a:lnSpc>
                <a:spcPct val="124000"/>
              </a:lnSpc>
              <a:spcAft>
                <a:spcPts val="0"/>
              </a:spcAft>
            </a:pPr>
            <a:r>
              <a:rPr sz="1150" b="0">
                <a:solidFill>
                  <a:srgbClr val="55677C"/>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Rounded Rectangle 72"/>
          <p:cNvSpPr/>
          <p:nvPr/>
        </p:nvSpPr>
        <p:spPr>
          <a:xfrm>
            <a:off x="640080" y="5431536"/>
            <a:ext cx="50292" cy="82296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969264" y="5513831"/>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1F6FB2"/>
                </a:solidFill>
                <a:latin typeface="Calibri"/>
              </a:rPr>
              <a:t>WAT DIT BETEKENT</a:t>
            </a:r>
          </a:p>
          <a:p>
            <a:pPr algn="l">
              <a:lnSpc>
                <a:spcPct val="120000"/>
              </a:lnSpc>
              <a:spcAft>
                <a:spcPts val="0"/>
              </a:spcAft>
            </a:pPr>
            <a:r>
              <a:rPr sz="1250" b="1">
                <a:solidFill>
                  <a:srgbClr val="0D1B2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Berekeningen</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250" b="0">
                <a:solidFill>
                  <a:srgbClr val="55677C"/>
                </a:solidFill>
                <a:latin typeface="Calibri"/>
              </a:rPr>
              <a:t>Start september 2026 — drie onderdelen, waarvan het eerste per afdeling is uitgesplitst naar patiëntstroom</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09</a:t>
            </a:r>
          </a:p>
        </p:txBody>
      </p:sp>
      <p:sp>
        <p:nvSpPr>
          <p:cNvPr id="10" name="Rounded Rectangle 9"/>
          <p:cNvSpPr/>
          <p:nvPr/>
        </p:nvSpPr>
        <p:spPr>
          <a:xfrm>
            <a:off x="640080" y="1700784"/>
            <a:ext cx="7772400" cy="360273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813815" y="1874520"/>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500" b="1">
                <a:solidFill>
                  <a:srgbClr val="1F6FB2"/>
                </a:solidFill>
                <a:latin typeface="Calibri"/>
              </a:rPr>
              <a:t>1</a:t>
            </a:r>
          </a:p>
        </p:txBody>
      </p:sp>
      <p:sp>
        <p:nvSpPr>
          <p:cNvPr id="12" name="TextBox 11"/>
          <p:cNvSpPr txBox="1"/>
          <p:nvPr/>
        </p:nvSpPr>
        <p:spPr>
          <a:xfrm>
            <a:off x="1389888" y="1883664"/>
            <a:ext cx="6675120" cy="457200"/>
          </a:xfrm>
          <a:prstGeom prst="rect">
            <a:avLst/>
          </a:prstGeom>
          <a:noFill/>
        </p:spPr>
        <p:txBody>
          <a:bodyPr wrap="square" lIns="0" tIns="0" rIns="0" bIns="0" anchor="ctr">
            <a:spAutoFit/>
          </a:bodyPr>
          <a:lstStyle/>
          <a:p>
            <a:pPr algn="l">
              <a:lnSpc>
                <a:spcPct val="120000"/>
              </a:lnSpc>
              <a:spcAft>
                <a:spcPts val="0"/>
              </a:spcAft>
            </a:pPr>
            <a:r>
              <a:rPr sz="1700" b="1">
                <a:solidFill>
                  <a:srgbClr val="0D1B2A"/>
                </a:solidFill>
                <a:latin typeface="Calibri"/>
              </a:rPr>
              <a:t>Aantal bedden op basis van patiëntaanwezigheid</a:t>
            </a:r>
          </a:p>
        </p:txBody>
      </p:sp>
      <p:sp>
        <p:nvSpPr>
          <p:cNvPr id="13" name="TextBox 12"/>
          <p:cNvSpPr txBox="1"/>
          <p:nvPr/>
        </p:nvSpPr>
        <p:spPr>
          <a:xfrm>
            <a:off x="1389888" y="2267712"/>
            <a:ext cx="6675120" cy="237744"/>
          </a:xfrm>
          <a:prstGeom prst="rect">
            <a:avLst/>
          </a:prstGeom>
          <a:noFill/>
        </p:spPr>
        <p:txBody>
          <a:bodyPr wrap="square" lIns="0" tIns="0" rIns="0" bIns="0" anchor="t">
            <a:spAutoFit/>
          </a:bodyPr>
          <a:lstStyle/>
          <a:p>
            <a:pPr algn="l">
              <a:lnSpc>
                <a:spcPct val="120000"/>
              </a:lnSpc>
              <a:spcAft>
                <a:spcPts val="0"/>
              </a:spcAft>
            </a:pPr>
            <a:r>
              <a:rPr sz="1100" b="0">
                <a:solidFill>
                  <a:srgbClr val="55677C"/>
                </a:solidFill>
                <a:latin typeface="Calibri"/>
              </a:rPr>
              <a:t>dit hebben we nu per afdeling in kaart</a:t>
            </a:r>
          </a:p>
        </p:txBody>
      </p:sp>
      <p:cxnSp>
        <p:nvCxnSpPr>
          <p:cNvPr id="14" name="Connector 13"/>
          <p:cNvCxnSpPr/>
          <p:nvPr/>
        </p:nvCxnSpPr>
        <p:spPr>
          <a:xfrm>
            <a:off x="932688" y="2596896"/>
            <a:ext cx="71871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2688" y="2761488"/>
            <a:ext cx="1097280" cy="457200"/>
          </a:xfrm>
          <a:prstGeom prst="roundRect">
            <a:avLst>
              <a:gd name="adj" fmla="val 14000"/>
            </a:avLst>
          </a:prstGeom>
          <a:solidFill>
            <a:srgbClr val="CFE0F0"/>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32688" y="2761488"/>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1F6FB2"/>
                </a:solidFill>
                <a:latin typeface="Calibri"/>
              </a:rPr>
              <a:t>ICU</a:t>
            </a:r>
          </a:p>
        </p:txBody>
      </p:sp>
      <p:sp>
        <p:nvSpPr>
          <p:cNvPr id="17" name="Freeform 16"/>
          <p:cNvSpPr/>
          <p:nvPr/>
        </p:nvSpPr>
        <p:spPr>
          <a:xfrm>
            <a:off x="2066543" y="2990088"/>
            <a:ext cx="237744" cy="0"/>
          </a:xfrm>
          <a:custGeom>
            <a:avLst/>
            <a:gdLst/>
            <a:ahLst/>
            <a:cxnLst/>
            <a:rect l="l" t="t" r="r" b="b"/>
            <a:pathLst>
              <a:path w="237744">
                <a:moveTo>
                  <a:pt x="0" y="0"/>
                </a:moveTo>
                <a:lnTo>
                  <a:pt x="237744"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340863"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F6FB2"/>
                </a:solidFill>
                <a:latin typeface="Calibri"/>
              </a:rPr>
              <a:t>spoed</a:t>
            </a:r>
          </a:p>
        </p:txBody>
      </p:sp>
      <p:sp>
        <p:nvSpPr>
          <p:cNvPr id="19" name="Freeform 18"/>
          <p:cNvSpPr/>
          <p:nvPr/>
        </p:nvSpPr>
        <p:spPr>
          <a:xfrm>
            <a:off x="3611879" y="2990088"/>
            <a:ext cx="237745" cy="0"/>
          </a:xfrm>
          <a:custGeom>
            <a:avLst/>
            <a:gdLst/>
            <a:ahLst/>
            <a:cxnLst/>
            <a:rect l="l" t="t" r="r" b="b"/>
            <a:pathLst>
              <a:path w="237745">
                <a:moveTo>
                  <a:pt x="0" y="0"/>
                </a:moveTo>
                <a:lnTo>
                  <a:pt x="237745"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886200"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F6FB2"/>
                </a:solidFill>
                <a:latin typeface="Calibri"/>
              </a:rPr>
              <a:t>electief</a:t>
            </a:r>
          </a:p>
        </p:txBody>
      </p:sp>
      <p:sp>
        <p:nvSpPr>
          <p:cNvPr id="21" name="Freeform 20"/>
          <p:cNvSpPr/>
          <p:nvPr/>
        </p:nvSpPr>
        <p:spPr>
          <a:xfrm>
            <a:off x="5157216" y="2990088"/>
            <a:ext cx="237743" cy="0"/>
          </a:xfrm>
          <a:custGeom>
            <a:avLst/>
            <a:gdLst/>
            <a:ahLst/>
            <a:cxnLst/>
            <a:rect l="l" t="t" r="r" b="b"/>
            <a:pathLst>
              <a:path w="237743">
                <a:moveTo>
                  <a:pt x="0" y="0"/>
                </a:moveTo>
                <a:lnTo>
                  <a:pt x="237743"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431536"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F6FB2"/>
                </a:solidFill>
                <a:latin typeface="Calibri"/>
              </a:rPr>
              <a:t>recovery</a:t>
            </a:r>
          </a:p>
        </p:txBody>
      </p:sp>
      <p:sp>
        <p:nvSpPr>
          <p:cNvPr id="23" name="Rounded Rectangle 22"/>
          <p:cNvSpPr/>
          <p:nvPr/>
        </p:nvSpPr>
        <p:spPr>
          <a:xfrm>
            <a:off x="932688" y="3273552"/>
            <a:ext cx="1097280" cy="457200"/>
          </a:xfrm>
          <a:prstGeom prst="roundRect">
            <a:avLst>
              <a:gd name="adj" fmla="val 14000"/>
            </a:avLst>
          </a:prstGeom>
          <a:solidFill>
            <a:srgbClr val="DCDB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32688" y="3273552"/>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6B4BA8"/>
                </a:solidFill>
                <a:latin typeface="Calibri"/>
              </a:rPr>
              <a:t>CCU</a:t>
            </a:r>
          </a:p>
        </p:txBody>
      </p:sp>
      <p:sp>
        <p:nvSpPr>
          <p:cNvPr id="25" name="Freeform 24"/>
          <p:cNvSpPr/>
          <p:nvPr/>
        </p:nvSpPr>
        <p:spPr>
          <a:xfrm>
            <a:off x="2066543" y="3502152"/>
            <a:ext cx="237744" cy="0"/>
          </a:xfrm>
          <a:custGeom>
            <a:avLst/>
            <a:gdLst/>
            <a:ahLst/>
            <a:cxnLst/>
            <a:rect l="l" t="t" r="r" b="b"/>
            <a:pathLst>
              <a:path w="237744">
                <a:moveTo>
                  <a:pt x="0" y="0"/>
                </a:moveTo>
                <a:lnTo>
                  <a:pt x="237744"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340863" y="3273552"/>
            <a:ext cx="1234440"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6B4BA8"/>
                </a:solidFill>
                <a:latin typeface="Calibri"/>
              </a:rPr>
              <a:t>spoed</a:t>
            </a:r>
          </a:p>
        </p:txBody>
      </p:sp>
      <p:sp>
        <p:nvSpPr>
          <p:cNvPr id="27" name="Freeform 26"/>
          <p:cNvSpPr/>
          <p:nvPr/>
        </p:nvSpPr>
        <p:spPr>
          <a:xfrm>
            <a:off x="3611879" y="3502152"/>
            <a:ext cx="237745" cy="0"/>
          </a:xfrm>
          <a:custGeom>
            <a:avLst/>
            <a:gdLst/>
            <a:ahLst/>
            <a:cxnLst/>
            <a:rect l="l" t="t" r="r" b="b"/>
            <a:pathLst>
              <a:path w="237745">
                <a:moveTo>
                  <a:pt x="0" y="0"/>
                </a:moveTo>
                <a:lnTo>
                  <a:pt x="237745"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3886200" y="3273552"/>
            <a:ext cx="1283817"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6B4BA8"/>
                </a:solidFill>
                <a:latin typeface="Calibri"/>
              </a:rPr>
              <a:t>cardioversie</a:t>
            </a:r>
          </a:p>
        </p:txBody>
      </p:sp>
      <p:sp>
        <p:nvSpPr>
          <p:cNvPr id="29" name="Rounded Rectangle 28"/>
          <p:cNvSpPr/>
          <p:nvPr/>
        </p:nvSpPr>
        <p:spPr>
          <a:xfrm>
            <a:off x="932688" y="3785616"/>
            <a:ext cx="1097280" cy="457200"/>
          </a:xfrm>
          <a:prstGeom prst="roundRect">
            <a:avLst>
              <a:gd name="adj" fmla="val 14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3785616"/>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0E9A87"/>
                </a:solidFill>
                <a:latin typeface="Calibri"/>
              </a:rPr>
              <a:t>SCU</a:t>
            </a:r>
          </a:p>
        </p:txBody>
      </p:sp>
      <p:sp>
        <p:nvSpPr>
          <p:cNvPr id="31" name="Freeform 30"/>
          <p:cNvSpPr/>
          <p:nvPr/>
        </p:nvSpPr>
        <p:spPr>
          <a:xfrm>
            <a:off x="2066543" y="4014216"/>
            <a:ext cx="237744" cy="0"/>
          </a:xfrm>
          <a:custGeom>
            <a:avLst/>
            <a:gdLst/>
            <a:ahLst/>
            <a:cxnLst/>
            <a:rect l="l" t="t" r="r" b="b"/>
            <a:pathLst>
              <a:path w="237744">
                <a:moveTo>
                  <a:pt x="0" y="0"/>
                </a:moveTo>
                <a:lnTo>
                  <a:pt x="237744" y="0"/>
                </a:lnTo>
              </a:path>
            </a:pathLst>
          </a:custGeom>
          <a:noFill/>
          <a:ln w="19050">
            <a:solidFill>
              <a:srgbClr val="69B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2340863" y="3785616"/>
            <a:ext cx="1234440" cy="457200"/>
          </a:xfrm>
          <a:prstGeom prst="roundRect">
            <a:avLst>
              <a:gd name="adj" fmla="val 50000"/>
            </a:avLst>
          </a:prstGeom>
          <a:solidFill>
            <a:srgbClr val="0E9A87">
              <a:alpha val="9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0E9A87"/>
                </a:solidFill>
                <a:latin typeface="Calibri"/>
              </a:rPr>
              <a:t>spoed</a:t>
            </a:r>
          </a:p>
        </p:txBody>
      </p:sp>
      <p:sp>
        <p:nvSpPr>
          <p:cNvPr id="33" name="Rounded Rectangle 32"/>
          <p:cNvSpPr/>
          <p:nvPr/>
        </p:nvSpPr>
        <p:spPr>
          <a:xfrm>
            <a:off x="932688" y="4297680"/>
            <a:ext cx="1097280" cy="457200"/>
          </a:xfrm>
          <a:prstGeom prst="roundRect">
            <a:avLst>
              <a:gd name="adj" fmla="val 14000"/>
            </a:avLst>
          </a:prstGeom>
          <a:solidFill>
            <a:srgbClr val="EAE3D7"/>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32688" y="4297680"/>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C87E12"/>
                </a:solidFill>
                <a:latin typeface="Calibri"/>
              </a:rPr>
              <a:t>EHH</a:t>
            </a:r>
          </a:p>
        </p:txBody>
      </p:sp>
      <p:sp>
        <p:nvSpPr>
          <p:cNvPr id="35" name="Freeform 34"/>
          <p:cNvSpPr/>
          <p:nvPr/>
        </p:nvSpPr>
        <p:spPr>
          <a:xfrm>
            <a:off x="2066543" y="4526280"/>
            <a:ext cx="237744" cy="0"/>
          </a:xfrm>
          <a:custGeom>
            <a:avLst/>
            <a:gdLst/>
            <a:ahLst/>
            <a:cxnLst/>
            <a:rect l="l" t="t" r="r" b="b"/>
            <a:pathLst>
              <a:path w="237744">
                <a:moveTo>
                  <a:pt x="0" y="0"/>
                </a:moveTo>
                <a:lnTo>
                  <a:pt x="237744" y="0"/>
                </a:lnTo>
              </a:path>
            </a:pathLst>
          </a:custGeom>
          <a:noFill/>
          <a:ln w="19050">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2340863" y="4297680"/>
            <a:ext cx="1234440" cy="457200"/>
          </a:xfrm>
          <a:prstGeom prst="roundRect">
            <a:avLst>
              <a:gd name="adj" fmla="val 50000"/>
            </a:avLst>
          </a:prstGeom>
          <a:solidFill>
            <a:srgbClr val="C87E12">
              <a:alpha val="9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C87E12"/>
                </a:solidFill>
                <a:latin typeface="Calibri"/>
              </a:rPr>
              <a:t>spoed</a:t>
            </a:r>
          </a:p>
        </p:txBody>
      </p:sp>
      <p:sp>
        <p:nvSpPr>
          <p:cNvPr id="37" name="Rounded Rectangle 36"/>
          <p:cNvSpPr/>
          <p:nvPr/>
        </p:nvSpPr>
        <p:spPr>
          <a:xfrm>
            <a:off x="932688" y="4809744"/>
            <a:ext cx="1097280" cy="457200"/>
          </a:xfrm>
          <a:prstGeom prst="roundRect">
            <a:avLst>
              <a:gd name="adj" fmla="val 14000"/>
            </a:avLst>
          </a:prstGeom>
          <a:solidFill>
            <a:srgbClr val="CDD8E4"/>
          </a:solidFill>
          <a:ln w="15875">
            <a:solidFill>
              <a:srgbClr val="9CAFC2"/>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932688" y="4809744"/>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123A63"/>
                </a:solidFill>
                <a:latin typeface="Calibri"/>
              </a:rPr>
              <a:t>SEH</a:t>
            </a:r>
          </a:p>
        </p:txBody>
      </p:sp>
      <p:sp>
        <p:nvSpPr>
          <p:cNvPr id="39" name="Freeform 38"/>
          <p:cNvSpPr/>
          <p:nvPr/>
        </p:nvSpPr>
        <p:spPr>
          <a:xfrm>
            <a:off x="2066543" y="5038344"/>
            <a:ext cx="237744" cy="0"/>
          </a:xfrm>
          <a:custGeom>
            <a:avLst/>
            <a:gdLst/>
            <a:ahLst/>
            <a:cxnLst/>
            <a:rect l="l" t="t" r="r" b="b"/>
            <a:pathLst>
              <a:path w="237744">
                <a:moveTo>
                  <a:pt x="0" y="0"/>
                </a:moveTo>
                <a:lnTo>
                  <a:pt x="237744" y="0"/>
                </a:lnTo>
              </a:path>
            </a:pathLst>
          </a:custGeom>
          <a:noFill/>
          <a:ln w="19050">
            <a:solidFill>
              <a:srgbClr val="6B85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2340863" y="4809744"/>
            <a:ext cx="2633472" cy="457200"/>
          </a:xfrm>
          <a:prstGeom prst="roundRect">
            <a:avLst>
              <a:gd name="adj" fmla="val 50000"/>
            </a:avLst>
          </a:prstGeom>
          <a:solidFill>
            <a:srgbClr val="123A63">
              <a:alpha val="9000"/>
            </a:srgbClr>
          </a:solidFill>
          <a:ln w="12700">
            <a:solidFill>
              <a:srgbClr val="8298B0"/>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23A63"/>
                </a:solidFill>
                <a:latin typeface="Calibri"/>
              </a:rPr>
              <a:t>scenario's van Maxim en Sigrid</a:t>
            </a:r>
          </a:p>
        </p:txBody>
      </p:sp>
      <p:sp>
        <p:nvSpPr>
          <p:cNvPr id="41" name="Rounded Rectangle 40"/>
          <p:cNvSpPr/>
          <p:nvPr/>
        </p:nvSpPr>
        <p:spPr>
          <a:xfrm>
            <a:off x="8714232" y="1700784"/>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8887967" y="1874520"/>
            <a:ext cx="420624" cy="42062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2</a:t>
            </a:r>
          </a:p>
        </p:txBody>
      </p:sp>
      <p:sp>
        <p:nvSpPr>
          <p:cNvPr id="43" name="TextBox 42"/>
          <p:cNvSpPr txBox="1"/>
          <p:nvPr/>
        </p:nvSpPr>
        <p:spPr>
          <a:xfrm>
            <a:off x="9427463" y="1883664"/>
            <a:ext cx="1831543" cy="420624"/>
          </a:xfrm>
          <a:prstGeom prst="rect">
            <a:avLst/>
          </a:prstGeom>
          <a:noFill/>
        </p:spPr>
        <p:txBody>
          <a:bodyPr wrap="square" lIns="0" tIns="0" rIns="0" bIns="0" anchor="ctr">
            <a:spAutoFit/>
          </a:bodyPr>
          <a:lstStyle/>
          <a:p>
            <a:pPr algn="l">
              <a:lnSpc>
                <a:spcPct val="114000"/>
              </a:lnSpc>
              <a:spcAft>
                <a:spcPts val="0"/>
              </a:spcAft>
            </a:pPr>
            <a:r>
              <a:rPr sz="1400" b="1">
                <a:solidFill>
                  <a:srgbClr val="0D1B2A"/>
                </a:solidFill>
                <a:latin typeface="Calibri"/>
              </a:rPr>
              <a:t>Norm verpleegkundigen</a:t>
            </a:r>
          </a:p>
        </p:txBody>
      </p:sp>
      <p:sp>
        <p:nvSpPr>
          <p:cNvPr id="44" name="TextBox 43"/>
          <p:cNvSpPr txBox="1"/>
          <p:nvPr/>
        </p:nvSpPr>
        <p:spPr>
          <a:xfrm>
            <a:off x="8970263" y="2395728"/>
            <a:ext cx="2325319" cy="219456"/>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patiëntenzorg, per dienst</a:t>
            </a:r>
          </a:p>
        </p:txBody>
      </p:sp>
      <p:sp>
        <p:nvSpPr>
          <p:cNvPr id="45" name="Rounded Rectangle 44"/>
          <p:cNvSpPr/>
          <p:nvPr/>
        </p:nvSpPr>
        <p:spPr>
          <a:xfrm>
            <a:off x="8970263"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970263" y="2743200"/>
            <a:ext cx="701954" cy="237744"/>
          </a:xfrm>
          <a:prstGeom prst="rect">
            <a:avLst/>
          </a:prstGeom>
          <a:noFill/>
        </p:spPr>
        <p:txBody>
          <a:bodyPr wrap="square" lIns="0" tIns="0" rIns="0" bIns="0" anchor="t">
            <a:spAutoFit/>
          </a:bodyPr>
          <a:lstStyle/>
          <a:p>
            <a:pPr algn="ctr">
              <a:lnSpc>
                <a:spcPct val="120000"/>
              </a:lnSpc>
              <a:spcAft>
                <a:spcPts val="0"/>
              </a:spcAft>
            </a:pPr>
            <a:r>
              <a:rPr sz="1300" b="1">
                <a:solidFill>
                  <a:srgbClr val="6B4BA8"/>
                </a:solidFill>
                <a:latin typeface="Calibri"/>
              </a:rPr>
              <a:t>D</a:t>
            </a:r>
          </a:p>
        </p:txBody>
      </p:sp>
      <p:sp>
        <p:nvSpPr>
          <p:cNvPr id="47" name="TextBox 46"/>
          <p:cNvSpPr txBox="1"/>
          <p:nvPr/>
        </p:nvSpPr>
        <p:spPr>
          <a:xfrm>
            <a:off x="8970263" y="2980944"/>
            <a:ext cx="701954" cy="201168"/>
          </a:xfrm>
          <a:prstGeom prst="rect">
            <a:avLst/>
          </a:prstGeom>
          <a:noFill/>
        </p:spPr>
        <p:txBody>
          <a:bodyPr wrap="square" lIns="0" tIns="0" rIns="0" bIns="0" anchor="t">
            <a:spAutoFit/>
          </a:bodyPr>
          <a:lstStyle/>
          <a:p>
            <a:pPr algn="ctr">
              <a:lnSpc>
                <a:spcPct val="120000"/>
              </a:lnSpc>
              <a:spcAft>
                <a:spcPts val="0"/>
              </a:spcAft>
            </a:pPr>
            <a:r>
              <a:rPr sz="1100" b="0">
                <a:solidFill>
                  <a:srgbClr val="8B9AAA"/>
                </a:solidFill>
                <a:latin typeface="Calibri"/>
              </a:rPr>
              <a:t>___</a:t>
            </a:r>
          </a:p>
        </p:txBody>
      </p:sp>
      <p:sp>
        <p:nvSpPr>
          <p:cNvPr id="48" name="Rounded Rectangle 47"/>
          <p:cNvSpPr/>
          <p:nvPr/>
        </p:nvSpPr>
        <p:spPr>
          <a:xfrm>
            <a:off x="9781946"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781946" y="2743200"/>
            <a:ext cx="701954" cy="237744"/>
          </a:xfrm>
          <a:prstGeom prst="rect">
            <a:avLst/>
          </a:prstGeom>
          <a:noFill/>
        </p:spPr>
        <p:txBody>
          <a:bodyPr wrap="square" lIns="0" tIns="0" rIns="0" bIns="0" anchor="t">
            <a:spAutoFit/>
          </a:bodyPr>
          <a:lstStyle/>
          <a:p>
            <a:pPr algn="ctr">
              <a:lnSpc>
                <a:spcPct val="120000"/>
              </a:lnSpc>
              <a:spcAft>
                <a:spcPts val="0"/>
              </a:spcAft>
            </a:pPr>
            <a:r>
              <a:rPr sz="1300" b="1">
                <a:solidFill>
                  <a:srgbClr val="6B4BA8"/>
                </a:solidFill>
                <a:latin typeface="Calibri"/>
              </a:rPr>
              <a:t>L</a:t>
            </a:r>
          </a:p>
        </p:txBody>
      </p:sp>
      <p:sp>
        <p:nvSpPr>
          <p:cNvPr id="50" name="TextBox 49"/>
          <p:cNvSpPr txBox="1"/>
          <p:nvPr/>
        </p:nvSpPr>
        <p:spPr>
          <a:xfrm>
            <a:off x="9781946" y="2980944"/>
            <a:ext cx="701954" cy="201168"/>
          </a:xfrm>
          <a:prstGeom prst="rect">
            <a:avLst/>
          </a:prstGeom>
          <a:noFill/>
        </p:spPr>
        <p:txBody>
          <a:bodyPr wrap="square" lIns="0" tIns="0" rIns="0" bIns="0" anchor="t">
            <a:spAutoFit/>
          </a:bodyPr>
          <a:lstStyle/>
          <a:p>
            <a:pPr algn="ctr">
              <a:lnSpc>
                <a:spcPct val="120000"/>
              </a:lnSpc>
              <a:spcAft>
                <a:spcPts val="0"/>
              </a:spcAft>
            </a:pPr>
            <a:r>
              <a:rPr sz="1100" b="0">
                <a:solidFill>
                  <a:srgbClr val="8B9AAA"/>
                </a:solidFill>
                <a:latin typeface="Calibri"/>
              </a:rPr>
              <a:t>___</a:t>
            </a:r>
          </a:p>
        </p:txBody>
      </p:sp>
      <p:sp>
        <p:nvSpPr>
          <p:cNvPr id="51" name="Rounded Rectangle 50"/>
          <p:cNvSpPr/>
          <p:nvPr/>
        </p:nvSpPr>
        <p:spPr>
          <a:xfrm>
            <a:off x="10593628"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10593628" y="2743200"/>
            <a:ext cx="701954" cy="237744"/>
          </a:xfrm>
          <a:prstGeom prst="rect">
            <a:avLst/>
          </a:prstGeom>
          <a:noFill/>
        </p:spPr>
        <p:txBody>
          <a:bodyPr wrap="square" lIns="0" tIns="0" rIns="0" bIns="0" anchor="t">
            <a:spAutoFit/>
          </a:bodyPr>
          <a:lstStyle/>
          <a:p>
            <a:pPr algn="ctr">
              <a:lnSpc>
                <a:spcPct val="120000"/>
              </a:lnSpc>
              <a:spcAft>
                <a:spcPts val="0"/>
              </a:spcAft>
            </a:pPr>
            <a:r>
              <a:rPr sz="1300" b="1">
                <a:solidFill>
                  <a:srgbClr val="6B4BA8"/>
                </a:solidFill>
                <a:latin typeface="Calibri"/>
              </a:rPr>
              <a:t>N</a:t>
            </a:r>
          </a:p>
        </p:txBody>
      </p:sp>
      <p:sp>
        <p:nvSpPr>
          <p:cNvPr id="53" name="TextBox 52"/>
          <p:cNvSpPr txBox="1"/>
          <p:nvPr/>
        </p:nvSpPr>
        <p:spPr>
          <a:xfrm>
            <a:off x="10593628" y="2980944"/>
            <a:ext cx="701954" cy="201168"/>
          </a:xfrm>
          <a:prstGeom prst="rect">
            <a:avLst/>
          </a:prstGeom>
          <a:noFill/>
        </p:spPr>
        <p:txBody>
          <a:bodyPr wrap="square" lIns="0" tIns="0" rIns="0" bIns="0" anchor="t">
            <a:spAutoFit/>
          </a:bodyPr>
          <a:lstStyle/>
          <a:p>
            <a:pPr algn="ctr">
              <a:lnSpc>
                <a:spcPct val="120000"/>
              </a:lnSpc>
              <a:spcAft>
                <a:spcPts val="0"/>
              </a:spcAft>
            </a:pPr>
            <a:r>
              <a:rPr sz="1100" b="0">
                <a:solidFill>
                  <a:srgbClr val="8B9AAA"/>
                </a:solidFill>
                <a:latin typeface="Calibri"/>
              </a:rPr>
              <a:t>___</a:t>
            </a:r>
          </a:p>
        </p:txBody>
      </p:sp>
      <p:sp>
        <p:nvSpPr>
          <p:cNvPr id="54" name="Rounded Rectangle 53"/>
          <p:cNvSpPr/>
          <p:nvPr/>
        </p:nvSpPr>
        <p:spPr>
          <a:xfrm>
            <a:off x="8714232" y="3566160"/>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Oval 54"/>
          <p:cNvSpPr/>
          <p:nvPr/>
        </p:nvSpPr>
        <p:spPr>
          <a:xfrm>
            <a:off x="8887967" y="3739896"/>
            <a:ext cx="420624" cy="42062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0E9A87"/>
                </a:solidFill>
                <a:latin typeface="Calibri"/>
              </a:rPr>
              <a:t>3</a:t>
            </a:r>
          </a:p>
        </p:txBody>
      </p:sp>
      <p:sp>
        <p:nvSpPr>
          <p:cNvPr id="56" name="TextBox 55"/>
          <p:cNvSpPr txBox="1"/>
          <p:nvPr/>
        </p:nvSpPr>
        <p:spPr>
          <a:xfrm>
            <a:off x="9427463" y="3749040"/>
            <a:ext cx="1831543" cy="420624"/>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Indirecte uren</a:t>
            </a:r>
          </a:p>
        </p:txBody>
      </p:sp>
      <p:sp>
        <p:nvSpPr>
          <p:cNvPr id="57" name="TextBox 56"/>
          <p:cNvSpPr txBox="1"/>
          <p:nvPr/>
        </p:nvSpPr>
        <p:spPr>
          <a:xfrm>
            <a:off x="8970263" y="4261104"/>
            <a:ext cx="2325319" cy="219456"/>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per afdeling</a:t>
            </a:r>
          </a:p>
        </p:txBody>
      </p:sp>
      <p:sp>
        <p:nvSpPr>
          <p:cNvPr id="58" name="TextBox 57"/>
          <p:cNvSpPr txBox="1"/>
          <p:nvPr/>
        </p:nvSpPr>
        <p:spPr>
          <a:xfrm>
            <a:off x="8970263" y="4572000"/>
            <a:ext cx="2325319" cy="603504"/>
          </a:xfrm>
          <a:prstGeom prst="rect">
            <a:avLst/>
          </a:prstGeom>
          <a:noFill/>
        </p:spPr>
        <p:txBody>
          <a:bodyPr wrap="square" lIns="0" tIns="0" rIns="0" bIns="0" anchor="t">
            <a:spAutoFit/>
          </a:bodyPr>
          <a:lstStyle/>
          <a:p>
            <a:pPr algn="l">
              <a:lnSpc>
                <a:spcPct val="124000"/>
              </a:lnSpc>
              <a:spcAft>
                <a:spcPts val="0"/>
              </a:spcAft>
            </a:pPr>
            <a:r>
              <a:rPr sz="1100" b="0">
                <a:solidFill>
                  <a:srgbClr val="55677C"/>
                </a:solidFill>
                <a:latin typeface="Calibri"/>
              </a:rPr>
              <a:t>In beeld gebracht, maar de oude begroting loopt sterk uiteen: wat houden we aan?</a:t>
            </a:r>
          </a:p>
        </p:txBody>
      </p:sp>
      <p:sp>
        <p:nvSpPr>
          <p:cNvPr id="59" name="Rounded Rectangle 58"/>
          <p:cNvSpPr/>
          <p:nvPr/>
        </p:nvSpPr>
        <p:spPr>
          <a:xfrm>
            <a:off x="640080" y="5431536"/>
            <a:ext cx="10911535" cy="713232"/>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Rounded Rectangle 59"/>
          <p:cNvSpPr/>
          <p:nvPr/>
        </p:nvSpPr>
        <p:spPr>
          <a:xfrm>
            <a:off x="640080" y="5431536"/>
            <a:ext cx="50292" cy="71323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969264" y="5471590"/>
            <a:ext cx="9997135" cy="633122"/>
          </a:xfrm>
          <a:prstGeom prst="rect">
            <a:avLst/>
          </a:prstGeom>
          <a:noFill/>
        </p:spPr>
        <p:txBody>
          <a:bodyPr wrap="square" lIns="0" tIns="0" rIns="0" bIns="0" anchor="ctr">
            <a:spAutoFit/>
          </a:bodyPr>
          <a:lstStyle/>
          <a:p>
            <a:pPr algn="l">
              <a:lnSpc>
                <a:spcPct val="120000"/>
              </a:lnSpc>
              <a:spcAft>
                <a:spcPts val="300"/>
              </a:spcAft>
            </a:pPr>
            <a:r>
              <a:rPr sz="900" b="1" spc="180" dirty="0">
                <a:solidFill>
                  <a:srgbClr val="C4392D"/>
                </a:solidFill>
                <a:latin typeface="Calibri"/>
              </a:rPr>
              <a:t>NOG NIET IN TE VULLEN</a:t>
            </a:r>
          </a:p>
          <a:p>
            <a:pPr algn="l">
              <a:lnSpc>
                <a:spcPct val="120000"/>
              </a:lnSpc>
              <a:spcAft>
                <a:spcPts val="0"/>
              </a:spcAft>
            </a:pPr>
            <a:r>
              <a:rPr sz="1200" b="1" dirty="0">
                <a:solidFill>
                  <a:srgbClr val="0D1B2A"/>
                </a:solidFill>
                <a:latin typeface="Calibri"/>
              </a:rPr>
              <a:t>Van </a:t>
            </a:r>
            <a:r>
              <a:rPr sz="1200" b="1" dirty="0" err="1">
                <a:solidFill>
                  <a:srgbClr val="0D1B2A"/>
                </a:solidFill>
                <a:latin typeface="Calibri"/>
              </a:rPr>
              <a:t>geen</a:t>
            </a:r>
            <a:r>
              <a:rPr sz="1200" b="1" dirty="0">
                <a:solidFill>
                  <a:srgbClr val="0D1B2A"/>
                </a:solidFill>
                <a:latin typeface="Calibri"/>
              </a:rPr>
              <a:t> van de </a:t>
            </a:r>
            <a:r>
              <a:rPr sz="1200" b="1" dirty="0" err="1">
                <a:solidFill>
                  <a:srgbClr val="0D1B2A"/>
                </a:solidFill>
                <a:latin typeface="Calibri"/>
              </a:rPr>
              <a:t>drie</a:t>
            </a:r>
            <a:r>
              <a:rPr sz="1200" b="1" dirty="0">
                <a:solidFill>
                  <a:srgbClr val="0D1B2A"/>
                </a:solidFill>
                <a:latin typeface="Calibri"/>
              </a:rPr>
              <a:t> </a:t>
            </a:r>
            <a:r>
              <a:rPr sz="1200" b="1" dirty="0" err="1">
                <a:solidFill>
                  <a:srgbClr val="0D1B2A"/>
                </a:solidFill>
                <a:latin typeface="Calibri"/>
              </a:rPr>
              <a:t>onderdelen</a:t>
            </a:r>
            <a:r>
              <a:rPr sz="1200" b="1" dirty="0">
                <a:solidFill>
                  <a:srgbClr val="0D1B2A"/>
                </a:solidFill>
                <a:latin typeface="Calibri"/>
              </a:rPr>
              <a:t> is </a:t>
            </a:r>
            <a:r>
              <a:rPr sz="1200" b="1" dirty="0" err="1">
                <a:solidFill>
                  <a:srgbClr val="0D1B2A"/>
                </a:solidFill>
                <a:latin typeface="Calibri"/>
              </a:rPr>
              <a:t>te</a:t>
            </a:r>
            <a:r>
              <a:rPr sz="1200" b="1" dirty="0">
                <a:solidFill>
                  <a:srgbClr val="0D1B2A"/>
                </a:solidFill>
                <a:latin typeface="Calibri"/>
              </a:rPr>
              <a:t> </a:t>
            </a:r>
            <a:r>
              <a:rPr sz="1200" b="1" dirty="0" err="1">
                <a:solidFill>
                  <a:srgbClr val="0D1B2A"/>
                </a:solidFill>
                <a:latin typeface="Calibri"/>
              </a:rPr>
              <a:t>zeggen</a:t>
            </a:r>
            <a:r>
              <a:rPr sz="1200" b="1" dirty="0">
                <a:solidFill>
                  <a:srgbClr val="0D1B2A"/>
                </a:solidFill>
                <a:latin typeface="Calibri"/>
              </a:rPr>
              <a:t> hoe </a:t>
            </a:r>
            <a:r>
              <a:rPr sz="1200" b="1" dirty="0" err="1">
                <a:solidFill>
                  <a:srgbClr val="0D1B2A"/>
                </a:solidFill>
                <a:latin typeface="Calibri"/>
              </a:rPr>
              <a:t>ver</a:t>
            </a:r>
            <a:r>
              <a:rPr sz="1200" b="1" dirty="0">
                <a:solidFill>
                  <a:srgbClr val="0D1B2A"/>
                </a:solidFill>
                <a:latin typeface="Calibri"/>
              </a:rPr>
              <a:t> ze </a:t>
            </a:r>
            <a:r>
              <a:rPr sz="1200" b="1" dirty="0" err="1">
                <a:solidFill>
                  <a:srgbClr val="0D1B2A"/>
                </a:solidFill>
                <a:latin typeface="Calibri"/>
              </a:rPr>
              <a:t>zijn</a:t>
            </a:r>
            <a:r>
              <a:rPr sz="1200" b="1" dirty="0">
                <a:solidFill>
                  <a:srgbClr val="0D1B2A"/>
                </a:solidFill>
                <a:latin typeface="Calibri"/>
              </a:rPr>
              <a:t>: de norm </a:t>
            </a:r>
            <a:r>
              <a:rPr sz="1200" b="1" dirty="0" err="1">
                <a:solidFill>
                  <a:srgbClr val="0D1B2A"/>
                </a:solidFill>
                <a:latin typeface="Calibri"/>
              </a:rPr>
              <a:t>verpleegkundigen</a:t>
            </a:r>
            <a:r>
              <a:rPr sz="1200" b="1" dirty="0">
                <a:solidFill>
                  <a:srgbClr val="0D1B2A"/>
                </a:solidFill>
                <a:latin typeface="Calibri"/>
              </a:rPr>
              <a:t> </a:t>
            </a:r>
            <a:r>
              <a:rPr sz="1200" b="1" dirty="0" err="1">
                <a:solidFill>
                  <a:srgbClr val="0D1B2A"/>
                </a:solidFill>
                <a:latin typeface="Calibri"/>
              </a:rPr>
              <a:t>ligt</a:t>
            </a:r>
            <a:r>
              <a:rPr sz="1200" b="1" dirty="0">
                <a:solidFill>
                  <a:srgbClr val="0D1B2A"/>
                </a:solidFill>
                <a:latin typeface="Calibri"/>
              </a:rPr>
              <a:t> </a:t>
            </a:r>
            <a:r>
              <a:rPr lang="nl-NL" sz="1200" b="1" dirty="0">
                <a:solidFill>
                  <a:srgbClr val="0D1B2A"/>
                </a:solidFill>
                <a:latin typeface="Calibri"/>
              </a:rPr>
              <a:t>alleen op de ICU</a:t>
            </a:r>
            <a:r>
              <a:rPr sz="1200" b="1" dirty="0">
                <a:solidFill>
                  <a:srgbClr val="0D1B2A"/>
                </a:solidFill>
                <a:latin typeface="Calibri"/>
              </a:rPr>
              <a:t> vast </a:t>
            </a:r>
            <a:r>
              <a:rPr sz="1200" b="1" dirty="0" err="1">
                <a:solidFill>
                  <a:srgbClr val="0D1B2A"/>
                </a:solidFill>
                <a:latin typeface="Calibri"/>
              </a:rPr>
              <a:t>en</a:t>
            </a:r>
            <a:r>
              <a:rPr sz="1200" b="1" dirty="0">
                <a:solidFill>
                  <a:srgbClr val="0D1B2A"/>
                </a:solidFill>
                <a:latin typeface="Calibri"/>
              </a:rPr>
              <a:t> de </a:t>
            </a:r>
            <a:r>
              <a:rPr sz="1200" b="1" dirty="0" err="1">
                <a:solidFill>
                  <a:srgbClr val="0D1B2A"/>
                </a:solidFill>
                <a:latin typeface="Calibri"/>
              </a:rPr>
              <a:t>indirecte</a:t>
            </a:r>
            <a:r>
              <a:rPr sz="1200" b="1" dirty="0">
                <a:solidFill>
                  <a:srgbClr val="0D1B2A"/>
                </a:solidFill>
                <a:latin typeface="Calibri"/>
              </a:rPr>
              <a:t> </a:t>
            </a:r>
            <a:r>
              <a:rPr sz="1200" b="1" dirty="0" err="1">
                <a:solidFill>
                  <a:srgbClr val="0D1B2A"/>
                </a:solidFill>
                <a:latin typeface="Calibri"/>
              </a:rPr>
              <a:t>uren</a:t>
            </a:r>
            <a:r>
              <a:rPr sz="1200" b="1" dirty="0">
                <a:solidFill>
                  <a:srgbClr val="0D1B2A"/>
                </a:solidFill>
                <a:latin typeface="Calibri"/>
              </a:rPr>
              <a:t> </a:t>
            </a:r>
            <a:r>
              <a:rPr sz="1200" b="1" dirty="0" err="1">
                <a:solidFill>
                  <a:srgbClr val="0D1B2A"/>
                </a:solidFill>
                <a:latin typeface="Calibri"/>
              </a:rPr>
              <a:t>zijn</a:t>
            </a:r>
            <a:r>
              <a:rPr sz="1200" b="1" dirty="0">
                <a:solidFill>
                  <a:srgbClr val="0D1B2A"/>
                </a:solidFill>
                <a:latin typeface="Calibri"/>
              </a:rPr>
              <a:t> </a:t>
            </a:r>
            <a:r>
              <a:rPr sz="1200" b="1" dirty="0" err="1">
                <a:solidFill>
                  <a:srgbClr val="0D1B2A"/>
                </a:solidFill>
                <a:latin typeface="Calibri"/>
              </a:rPr>
              <a:t>nog</a:t>
            </a:r>
            <a:r>
              <a:rPr sz="1200" b="1" dirty="0">
                <a:solidFill>
                  <a:srgbClr val="0D1B2A"/>
                </a:solidFill>
                <a:latin typeface="Calibri"/>
              </a:rPr>
              <a:t> </a:t>
            </a:r>
            <a:r>
              <a:rPr sz="1200" b="1" dirty="0" err="1">
                <a:solidFill>
                  <a:srgbClr val="0D1B2A"/>
                </a:solidFill>
                <a:latin typeface="Calibri"/>
              </a:rPr>
              <a:t>niet</a:t>
            </a:r>
            <a:r>
              <a:rPr sz="1200" b="1" dirty="0">
                <a:solidFill>
                  <a:srgbClr val="0D1B2A"/>
                </a:solidFill>
                <a:latin typeface="Calibri"/>
              </a:rPr>
              <a:t> </a:t>
            </a:r>
            <a:r>
              <a:rPr sz="1200" b="1" dirty="0" err="1">
                <a:solidFill>
                  <a:srgbClr val="0D1B2A"/>
                </a:solidFill>
                <a:latin typeface="Calibri"/>
              </a:rPr>
              <a:t>vastgesteld</a:t>
            </a:r>
            <a:r>
              <a:rPr sz="1200" b="1" dirty="0">
                <a:solidFill>
                  <a:srgbClr val="0D1B2A"/>
                </a:solidFill>
                <a:latin typeface="Calibri"/>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1F6FB2">
                    <a:alpha val="9000"/>
                  </a:srgbClr>
                </a:solidFill>
                <a:latin typeface="Calibri"/>
              </a:rPr>
              <a:t>03</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1F6FB2"/>
                </a:solidFill>
                <a:latin typeface="Calibri"/>
              </a:rPr>
              <a:t>DEEL 03</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a:solidFill>
                  <a:srgbClr val="0D1B2A"/>
                </a:solidFill>
                <a:latin typeface="Calibri"/>
              </a:rPr>
              <a:t>Wat verandert er</a:t>
            </a:r>
          </a:p>
        </p:txBody>
      </p:sp>
      <p:cxnSp>
        <p:nvCxnSpPr>
          <p:cNvPr id="6" name="Connector 5"/>
          <p:cNvCxnSpPr/>
          <p:nvPr/>
        </p:nvCxnSpPr>
        <p:spPr>
          <a:xfrm>
            <a:off x="640080" y="3584448"/>
            <a:ext cx="237744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Vier locaties worden twee clusters</a:t>
            </a:r>
          </a:p>
        </p:txBody>
      </p:sp>
      <p:sp>
        <p:nvSpPr>
          <p:cNvPr id="9" name="Oval 8"/>
          <p:cNvSpPr/>
          <p:nvPr/>
        </p:nvSpPr>
        <p:spPr>
          <a:xfrm>
            <a:off x="649224" y="4279392"/>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Vijf scenario's, twee analyses en één keuze die alles bepaalt</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1F6FB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transitie naar de nieuwbouw</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Welk onderdeel gaat waarheen — en waar de EHH van de CCU/SCU loskomt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11</a:t>
            </a:r>
          </a:p>
        </p:txBody>
      </p:sp>
      <p:sp>
        <p:nvSpPr>
          <p:cNvPr id="10" name="TextBox 9"/>
          <p:cNvSpPr txBox="1"/>
          <p:nvPr/>
        </p:nvSpPr>
        <p:spPr>
          <a:xfrm>
            <a:off x="640080" y="1682496"/>
            <a:ext cx="3291840"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8B9AAA"/>
                </a:solidFill>
                <a:latin typeface="Calibri"/>
              </a:rPr>
              <a:t>HUIDIGE SITUATIE</a:t>
            </a:r>
          </a:p>
        </p:txBody>
      </p:sp>
      <p:cxnSp>
        <p:nvCxnSpPr>
          <p:cNvPr id="11" name="Connector 10"/>
          <p:cNvCxnSpPr/>
          <p:nvPr/>
        </p:nvCxnSpPr>
        <p:spPr>
          <a:xfrm>
            <a:off x="640080" y="1883664"/>
            <a:ext cx="3291840" cy="0"/>
          </a:xfrm>
          <a:prstGeom prst="line">
            <a:avLst/>
          </a:prstGeom>
          <a:ln w="25400">
            <a:solidFill>
              <a:srgbClr val="C6D6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682496"/>
            <a:ext cx="4023360"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1F6FB2"/>
                </a:solidFill>
                <a:latin typeface="Calibri"/>
              </a:rPr>
              <a:t>DE NIEUWBOUW</a:t>
            </a:r>
          </a:p>
        </p:txBody>
      </p:sp>
      <p:cxnSp>
        <p:nvCxnSpPr>
          <p:cNvPr id="13" name="Connector 12"/>
          <p:cNvCxnSpPr/>
          <p:nvPr/>
        </p:nvCxnSpPr>
        <p:spPr>
          <a:xfrm>
            <a:off x="6720840" y="1883664"/>
            <a:ext cx="402336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3611880" y="2121408"/>
            <a:ext cx="603504" cy="1207008"/>
          </a:xfrm>
          <a:custGeom>
            <a:avLst/>
            <a:gdLst/>
            <a:ahLst/>
            <a:cxnLst/>
            <a:rect l="l" t="t" r="r" b="b"/>
            <a:pathLst>
              <a:path w="603504" h="1207008">
                <a:moveTo>
                  <a:pt x="0" y="0"/>
                </a:moveTo>
                <a:lnTo>
                  <a:pt x="47350" y="1860"/>
                </a:lnTo>
                <a:lnTo>
                  <a:pt x="94408" y="7430"/>
                </a:lnTo>
                <a:lnTo>
                  <a:pt x="140885" y="16674"/>
                </a:lnTo>
                <a:lnTo>
                  <a:pt x="186492" y="29537"/>
                </a:lnTo>
                <a:lnTo>
                  <a:pt x="230950" y="45939"/>
                </a:lnTo>
                <a:lnTo>
                  <a:pt x="273985" y="65777"/>
                </a:lnTo>
                <a:lnTo>
                  <a:pt x="315329" y="88932"/>
                </a:lnTo>
                <a:lnTo>
                  <a:pt x="354730" y="115259"/>
                </a:lnTo>
                <a:lnTo>
                  <a:pt x="391944" y="144595"/>
                </a:lnTo>
                <a:lnTo>
                  <a:pt x="426741" y="176762"/>
                </a:lnTo>
                <a:lnTo>
                  <a:pt x="458908" y="211559"/>
                </a:lnTo>
                <a:lnTo>
                  <a:pt x="488244" y="248773"/>
                </a:lnTo>
                <a:lnTo>
                  <a:pt x="514571" y="288174"/>
                </a:lnTo>
                <a:lnTo>
                  <a:pt x="537726" y="329518"/>
                </a:lnTo>
                <a:lnTo>
                  <a:pt x="557564" y="372553"/>
                </a:lnTo>
                <a:lnTo>
                  <a:pt x="573966" y="417011"/>
                </a:lnTo>
                <a:lnTo>
                  <a:pt x="586829" y="462618"/>
                </a:lnTo>
                <a:lnTo>
                  <a:pt x="596073" y="509095"/>
                </a:lnTo>
                <a:lnTo>
                  <a:pt x="601643" y="556153"/>
                </a:lnTo>
                <a:lnTo>
                  <a:pt x="603504" y="603504"/>
                </a:lnTo>
                <a:lnTo>
                  <a:pt x="601643" y="650854"/>
                </a:lnTo>
                <a:lnTo>
                  <a:pt x="596073" y="697912"/>
                </a:lnTo>
                <a:lnTo>
                  <a:pt x="586829" y="744389"/>
                </a:lnTo>
                <a:lnTo>
                  <a:pt x="573966" y="789996"/>
                </a:lnTo>
                <a:lnTo>
                  <a:pt x="557564" y="834454"/>
                </a:lnTo>
                <a:lnTo>
                  <a:pt x="537726" y="877489"/>
                </a:lnTo>
                <a:lnTo>
                  <a:pt x="514571" y="918833"/>
                </a:lnTo>
                <a:lnTo>
                  <a:pt x="488244" y="958234"/>
                </a:lnTo>
                <a:lnTo>
                  <a:pt x="458908" y="995448"/>
                </a:lnTo>
                <a:lnTo>
                  <a:pt x="426741" y="1030245"/>
                </a:lnTo>
                <a:lnTo>
                  <a:pt x="391944" y="1062412"/>
                </a:lnTo>
                <a:lnTo>
                  <a:pt x="354730" y="1091748"/>
                </a:lnTo>
                <a:lnTo>
                  <a:pt x="315329" y="1118075"/>
                </a:lnTo>
                <a:lnTo>
                  <a:pt x="273985" y="1141230"/>
                </a:lnTo>
                <a:lnTo>
                  <a:pt x="230950" y="1161068"/>
                </a:lnTo>
                <a:lnTo>
                  <a:pt x="186492" y="1177470"/>
                </a:lnTo>
                <a:lnTo>
                  <a:pt x="140885" y="1190333"/>
                </a:lnTo>
                <a:lnTo>
                  <a:pt x="94408" y="1199577"/>
                </a:lnTo>
                <a:lnTo>
                  <a:pt x="47350" y="1205147"/>
                </a:lnTo>
                <a:lnTo>
                  <a:pt x="0" y="1207008"/>
                </a:lnTo>
                <a:lnTo>
                  <a:pt x="0"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06688" y="2654935"/>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SEH</a:t>
            </a:r>
          </a:p>
        </p:txBody>
      </p:sp>
      <p:sp>
        <p:nvSpPr>
          <p:cNvPr id="16" name="Freeform 15"/>
          <p:cNvSpPr/>
          <p:nvPr/>
        </p:nvSpPr>
        <p:spPr>
          <a:xfrm>
            <a:off x="3008376" y="2121408"/>
            <a:ext cx="603504" cy="1207008"/>
          </a:xfrm>
          <a:custGeom>
            <a:avLst/>
            <a:gdLst/>
            <a:ahLst/>
            <a:cxnLst/>
            <a:rect l="l" t="t" r="r" b="b"/>
            <a:pathLst>
              <a:path w="603504" h="1207008">
                <a:moveTo>
                  <a:pt x="603504" y="1207008"/>
                </a:moveTo>
                <a:lnTo>
                  <a:pt x="556153" y="1205147"/>
                </a:lnTo>
                <a:lnTo>
                  <a:pt x="509095" y="1199577"/>
                </a:lnTo>
                <a:lnTo>
                  <a:pt x="462618" y="1190333"/>
                </a:lnTo>
                <a:lnTo>
                  <a:pt x="417011" y="1177470"/>
                </a:lnTo>
                <a:lnTo>
                  <a:pt x="372553" y="1161068"/>
                </a:lnTo>
                <a:lnTo>
                  <a:pt x="329518" y="1141230"/>
                </a:lnTo>
                <a:lnTo>
                  <a:pt x="288174" y="1118075"/>
                </a:lnTo>
                <a:lnTo>
                  <a:pt x="248773" y="1091748"/>
                </a:lnTo>
                <a:lnTo>
                  <a:pt x="211559" y="1062412"/>
                </a:lnTo>
                <a:lnTo>
                  <a:pt x="176762" y="1030245"/>
                </a:lnTo>
                <a:lnTo>
                  <a:pt x="144595" y="995448"/>
                </a:lnTo>
                <a:lnTo>
                  <a:pt x="115259" y="958234"/>
                </a:lnTo>
                <a:lnTo>
                  <a:pt x="88932" y="918833"/>
                </a:lnTo>
                <a:lnTo>
                  <a:pt x="65777" y="877489"/>
                </a:lnTo>
                <a:lnTo>
                  <a:pt x="45939" y="834454"/>
                </a:lnTo>
                <a:lnTo>
                  <a:pt x="29537" y="789996"/>
                </a:lnTo>
                <a:lnTo>
                  <a:pt x="16674" y="744389"/>
                </a:lnTo>
                <a:lnTo>
                  <a:pt x="7430" y="697912"/>
                </a:lnTo>
                <a:lnTo>
                  <a:pt x="1860" y="650854"/>
                </a:lnTo>
                <a:lnTo>
                  <a:pt x="0" y="603504"/>
                </a:lnTo>
                <a:lnTo>
                  <a:pt x="1860" y="556153"/>
                </a:lnTo>
                <a:lnTo>
                  <a:pt x="7430" y="509095"/>
                </a:lnTo>
                <a:lnTo>
                  <a:pt x="16674" y="462618"/>
                </a:lnTo>
                <a:lnTo>
                  <a:pt x="29537" y="417011"/>
                </a:lnTo>
                <a:lnTo>
                  <a:pt x="45939" y="372553"/>
                </a:lnTo>
                <a:lnTo>
                  <a:pt x="65777" y="329518"/>
                </a:lnTo>
                <a:lnTo>
                  <a:pt x="88932" y="288174"/>
                </a:lnTo>
                <a:lnTo>
                  <a:pt x="115259" y="248773"/>
                </a:lnTo>
                <a:lnTo>
                  <a:pt x="144595" y="211559"/>
                </a:lnTo>
                <a:lnTo>
                  <a:pt x="176762" y="176762"/>
                </a:lnTo>
                <a:lnTo>
                  <a:pt x="211559" y="144595"/>
                </a:lnTo>
                <a:lnTo>
                  <a:pt x="248773" y="115259"/>
                </a:lnTo>
                <a:lnTo>
                  <a:pt x="288174" y="88932"/>
                </a:lnTo>
                <a:lnTo>
                  <a:pt x="329518" y="65777"/>
                </a:lnTo>
                <a:lnTo>
                  <a:pt x="372553" y="45939"/>
                </a:lnTo>
                <a:lnTo>
                  <a:pt x="417011" y="29537"/>
                </a:lnTo>
                <a:lnTo>
                  <a:pt x="462618" y="16674"/>
                </a:lnTo>
                <a:lnTo>
                  <a:pt x="509095" y="7430"/>
                </a:lnTo>
                <a:lnTo>
                  <a:pt x="556153" y="1860"/>
                </a:lnTo>
                <a:lnTo>
                  <a:pt x="603504" y="0"/>
                </a:lnTo>
                <a:lnTo>
                  <a:pt x="603504" y="603504"/>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06624" y="2654935"/>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Kind</a:t>
            </a:r>
          </a:p>
        </p:txBody>
      </p:sp>
      <p:sp>
        <p:nvSpPr>
          <p:cNvPr id="18" name="Oval 17"/>
          <p:cNvSpPr/>
          <p:nvPr/>
        </p:nvSpPr>
        <p:spPr>
          <a:xfrm>
            <a:off x="3008376" y="2121408"/>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40080" y="2267712"/>
            <a:ext cx="2240280" cy="310896"/>
          </a:xfrm>
          <a:prstGeom prst="rect">
            <a:avLst/>
          </a:prstGeom>
          <a:noFill/>
        </p:spPr>
        <p:txBody>
          <a:bodyPr wrap="square" lIns="0" tIns="0" rIns="0" bIns="0" anchor="t">
            <a:spAutoFit/>
          </a:bodyPr>
          <a:lstStyle/>
          <a:p>
            <a:pPr algn="r">
              <a:lnSpc>
                <a:spcPct val="114000"/>
              </a:lnSpc>
              <a:spcAft>
                <a:spcPts val="0"/>
              </a:spcAft>
            </a:pPr>
            <a:r>
              <a:rPr sz="1400" b="1">
                <a:solidFill>
                  <a:srgbClr val="0D1B2A"/>
                </a:solidFill>
                <a:latin typeface="Calibri"/>
              </a:rPr>
              <a:t>SEH &amp; Kind</a:t>
            </a:r>
          </a:p>
        </p:txBody>
      </p:sp>
      <p:sp>
        <p:nvSpPr>
          <p:cNvPr id="20" name="TextBox 19"/>
          <p:cNvSpPr txBox="1"/>
          <p:nvPr/>
        </p:nvSpPr>
        <p:spPr>
          <a:xfrm>
            <a:off x="640080" y="2670048"/>
            <a:ext cx="2240280" cy="548640"/>
          </a:xfrm>
          <a:prstGeom prst="rect">
            <a:avLst/>
          </a:prstGeom>
          <a:noFill/>
        </p:spPr>
        <p:txBody>
          <a:bodyPr wrap="square" lIns="0" tIns="0" rIns="0" bIns="0" anchor="t">
            <a:spAutoFit/>
          </a:bodyPr>
          <a:lstStyle/>
          <a:p>
            <a:pPr algn="r">
              <a:lnSpc>
                <a:spcPct val="122000"/>
              </a:lnSpc>
              <a:spcAft>
                <a:spcPts val="0"/>
              </a:spcAft>
            </a:pPr>
            <a:r>
              <a:rPr sz="1000" b="0">
                <a:solidFill>
                  <a:srgbClr val="55677C"/>
                </a:solidFill>
                <a:latin typeface="Calibri"/>
              </a:rPr>
              <a:t>Werken nu als afzonderlijke onderdelen.</a:t>
            </a:r>
          </a:p>
        </p:txBody>
      </p:sp>
      <p:sp>
        <p:nvSpPr>
          <p:cNvPr id="21" name="Freeform 20"/>
          <p:cNvSpPr/>
          <p:nvPr/>
        </p:nvSpPr>
        <p:spPr>
          <a:xfrm>
            <a:off x="3611880" y="3529583"/>
            <a:ext cx="603504" cy="905257"/>
          </a:xfrm>
          <a:custGeom>
            <a:avLst/>
            <a:gdLst/>
            <a:ahLst/>
            <a:cxnLst/>
            <a:rect l="l" t="t" r="r" b="b"/>
            <a:pathLst>
              <a:path w="603504" h="905257">
                <a:moveTo>
                  <a:pt x="0" y="0"/>
                </a:moveTo>
                <a:lnTo>
                  <a:pt x="31584" y="828"/>
                </a:lnTo>
                <a:lnTo>
                  <a:pt x="63083" y="3307"/>
                </a:lnTo>
                <a:lnTo>
                  <a:pt x="94408" y="7431"/>
                </a:lnTo>
                <a:lnTo>
                  <a:pt x="125475" y="13189"/>
                </a:lnTo>
                <a:lnTo>
                  <a:pt x="156198" y="20564"/>
                </a:lnTo>
                <a:lnTo>
                  <a:pt x="186492" y="29538"/>
                </a:lnTo>
                <a:lnTo>
                  <a:pt x="216276" y="40085"/>
                </a:lnTo>
                <a:lnTo>
                  <a:pt x="245467" y="52176"/>
                </a:lnTo>
                <a:lnTo>
                  <a:pt x="273985" y="65778"/>
                </a:lnTo>
                <a:lnTo>
                  <a:pt x="301752" y="80855"/>
                </a:lnTo>
                <a:lnTo>
                  <a:pt x="328691" y="97363"/>
                </a:lnTo>
                <a:lnTo>
                  <a:pt x="354730" y="115260"/>
                </a:lnTo>
                <a:lnTo>
                  <a:pt x="379797" y="134494"/>
                </a:lnTo>
                <a:lnTo>
                  <a:pt x="403822" y="155014"/>
                </a:lnTo>
                <a:lnTo>
                  <a:pt x="426741" y="176763"/>
                </a:lnTo>
                <a:lnTo>
                  <a:pt x="448490" y="199682"/>
                </a:lnTo>
                <a:lnTo>
                  <a:pt x="469010" y="223707"/>
                </a:lnTo>
                <a:lnTo>
                  <a:pt x="488244" y="248774"/>
                </a:lnTo>
                <a:lnTo>
                  <a:pt x="506141" y="274813"/>
                </a:lnTo>
                <a:lnTo>
                  <a:pt x="522649" y="301752"/>
                </a:lnTo>
                <a:lnTo>
                  <a:pt x="537726" y="329519"/>
                </a:lnTo>
                <a:lnTo>
                  <a:pt x="551328" y="358037"/>
                </a:lnTo>
                <a:lnTo>
                  <a:pt x="563419" y="387228"/>
                </a:lnTo>
                <a:lnTo>
                  <a:pt x="573966" y="417012"/>
                </a:lnTo>
                <a:lnTo>
                  <a:pt x="582940" y="447306"/>
                </a:lnTo>
                <a:lnTo>
                  <a:pt x="590315" y="478029"/>
                </a:lnTo>
                <a:lnTo>
                  <a:pt x="596073" y="509096"/>
                </a:lnTo>
                <a:lnTo>
                  <a:pt x="600197" y="540421"/>
                </a:lnTo>
                <a:lnTo>
                  <a:pt x="602676" y="571920"/>
                </a:lnTo>
                <a:lnTo>
                  <a:pt x="603504" y="603504"/>
                </a:lnTo>
                <a:lnTo>
                  <a:pt x="602676" y="635089"/>
                </a:lnTo>
                <a:lnTo>
                  <a:pt x="600197" y="666588"/>
                </a:lnTo>
                <a:lnTo>
                  <a:pt x="596073" y="697913"/>
                </a:lnTo>
                <a:lnTo>
                  <a:pt x="590315" y="728980"/>
                </a:lnTo>
                <a:lnTo>
                  <a:pt x="582940" y="759703"/>
                </a:lnTo>
                <a:lnTo>
                  <a:pt x="573966" y="789997"/>
                </a:lnTo>
                <a:lnTo>
                  <a:pt x="563419" y="819781"/>
                </a:lnTo>
                <a:lnTo>
                  <a:pt x="551328" y="848972"/>
                </a:lnTo>
                <a:lnTo>
                  <a:pt x="537726" y="877490"/>
                </a:lnTo>
                <a:lnTo>
                  <a:pt x="522649" y="905257"/>
                </a:lnTo>
                <a:lnTo>
                  <a:pt x="0" y="603504"/>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59793" y="3888094"/>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CCU</a:t>
            </a:r>
          </a:p>
        </p:txBody>
      </p:sp>
      <p:sp>
        <p:nvSpPr>
          <p:cNvPr id="23" name="Freeform 22"/>
          <p:cNvSpPr/>
          <p:nvPr/>
        </p:nvSpPr>
        <p:spPr>
          <a:xfrm>
            <a:off x="3089230" y="4133087"/>
            <a:ext cx="1045299" cy="603505"/>
          </a:xfrm>
          <a:custGeom>
            <a:avLst/>
            <a:gdLst/>
            <a:ahLst/>
            <a:cxnLst/>
            <a:rect l="l" t="t" r="r" b="b"/>
            <a:pathLst>
              <a:path w="1045299" h="603505">
                <a:moveTo>
                  <a:pt x="1045299" y="301753"/>
                </a:moveTo>
                <a:lnTo>
                  <a:pt x="1028791" y="328692"/>
                </a:lnTo>
                <a:lnTo>
                  <a:pt x="1010894" y="354731"/>
                </a:lnTo>
                <a:lnTo>
                  <a:pt x="991660" y="379798"/>
                </a:lnTo>
                <a:lnTo>
                  <a:pt x="971140" y="403823"/>
                </a:lnTo>
                <a:lnTo>
                  <a:pt x="949391" y="426742"/>
                </a:lnTo>
                <a:lnTo>
                  <a:pt x="926472" y="448491"/>
                </a:lnTo>
                <a:lnTo>
                  <a:pt x="902447" y="469011"/>
                </a:lnTo>
                <a:lnTo>
                  <a:pt x="877380" y="488245"/>
                </a:lnTo>
                <a:lnTo>
                  <a:pt x="851341" y="506142"/>
                </a:lnTo>
                <a:lnTo>
                  <a:pt x="824402" y="522650"/>
                </a:lnTo>
                <a:lnTo>
                  <a:pt x="796635" y="537727"/>
                </a:lnTo>
                <a:lnTo>
                  <a:pt x="768117" y="551329"/>
                </a:lnTo>
                <a:lnTo>
                  <a:pt x="738926" y="563420"/>
                </a:lnTo>
                <a:lnTo>
                  <a:pt x="709142" y="573967"/>
                </a:lnTo>
                <a:lnTo>
                  <a:pt x="678848" y="582941"/>
                </a:lnTo>
                <a:lnTo>
                  <a:pt x="648125" y="590316"/>
                </a:lnTo>
                <a:lnTo>
                  <a:pt x="617058" y="596074"/>
                </a:lnTo>
                <a:lnTo>
                  <a:pt x="585733" y="600198"/>
                </a:lnTo>
                <a:lnTo>
                  <a:pt x="554234" y="602677"/>
                </a:lnTo>
                <a:lnTo>
                  <a:pt x="522650" y="603505"/>
                </a:lnTo>
                <a:lnTo>
                  <a:pt x="491065" y="602677"/>
                </a:lnTo>
                <a:lnTo>
                  <a:pt x="459566" y="600198"/>
                </a:lnTo>
                <a:lnTo>
                  <a:pt x="428241" y="596074"/>
                </a:lnTo>
                <a:lnTo>
                  <a:pt x="397174" y="590316"/>
                </a:lnTo>
                <a:lnTo>
                  <a:pt x="366451" y="582941"/>
                </a:lnTo>
                <a:lnTo>
                  <a:pt x="336157" y="573967"/>
                </a:lnTo>
                <a:lnTo>
                  <a:pt x="306373" y="563420"/>
                </a:lnTo>
                <a:lnTo>
                  <a:pt x="277182" y="551329"/>
                </a:lnTo>
                <a:lnTo>
                  <a:pt x="248664" y="537727"/>
                </a:lnTo>
                <a:lnTo>
                  <a:pt x="220898" y="522650"/>
                </a:lnTo>
                <a:lnTo>
                  <a:pt x="193958" y="506142"/>
                </a:lnTo>
                <a:lnTo>
                  <a:pt x="167919" y="488245"/>
                </a:lnTo>
                <a:lnTo>
                  <a:pt x="142852" y="469011"/>
                </a:lnTo>
                <a:lnTo>
                  <a:pt x="118827" y="448491"/>
                </a:lnTo>
                <a:lnTo>
                  <a:pt x="95908" y="426742"/>
                </a:lnTo>
                <a:lnTo>
                  <a:pt x="74159" y="403823"/>
                </a:lnTo>
                <a:lnTo>
                  <a:pt x="53639" y="379798"/>
                </a:lnTo>
                <a:lnTo>
                  <a:pt x="34405" y="354731"/>
                </a:lnTo>
                <a:lnTo>
                  <a:pt x="16508" y="328692"/>
                </a:lnTo>
                <a:lnTo>
                  <a:pt x="0" y="301753"/>
                </a:lnTo>
                <a:lnTo>
                  <a:pt x="522650" y="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56656" y="4413143"/>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SCU</a:t>
            </a:r>
          </a:p>
        </p:txBody>
      </p:sp>
      <p:sp>
        <p:nvSpPr>
          <p:cNvPr id="25" name="Freeform 24"/>
          <p:cNvSpPr/>
          <p:nvPr/>
        </p:nvSpPr>
        <p:spPr>
          <a:xfrm>
            <a:off x="3008376" y="3529583"/>
            <a:ext cx="603504" cy="905257"/>
          </a:xfrm>
          <a:custGeom>
            <a:avLst/>
            <a:gdLst/>
            <a:ahLst/>
            <a:cxnLst/>
            <a:rect l="l" t="t" r="r" b="b"/>
            <a:pathLst>
              <a:path w="603504" h="905257">
                <a:moveTo>
                  <a:pt x="80854" y="905257"/>
                </a:moveTo>
                <a:lnTo>
                  <a:pt x="65777" y="877490"/>
                </a:lnTo>
                <a:lnTo>
                  <a:pt x="52175" y="848972"/>
                </a:lnTo>
                <a:lnTo>
                  <a:pt x="40084" y="819781"/>
                </a:lnTo>
                <a:lnTo>
                  <a:pt x="29537" y="789997"/>
                </a:lnTo>
                <a:lnTo>
                  <a:pt x="20563" y="759703"/>
                </a:lnTo>
                <a:lnTo>
                  <a:pt x="13188" y="728980"/>
                </a:lnTo>
                <a:lnTo>
                  <a:pt x="7430" y="697913"/>
                </a:lnTo>
                <a:lnTo>
                  <a:pt x="3306" y="666588"/>
                </a:lnTo>
                <a:lnTo>
                  <a:pt x="827" y="635089"/>
                </a:lnTo>
                <a:lnTo>
                  <a:pt x="0" y="603504"/>
                </a:lnTo>
                <a:lnTo>
                  <a:pt x="827" y="571920"/>
                </a:lnTo>
                <a:lnTo>
                  <a:pt x="3306" y="540421"/>
                </a:lnTo>
                <a:lnTo>
                  <a:pt x="7430" y="509096"/>
                </a:lnTo>
                <a:lnTo>
                  <a:pt x="13188" y="478029"/>
                </a:lnTo>
                <a:lnTo>
                  <a:pt x="20563" y="447306"/>
                </a:lnTo>
                <a:lnTo>
                  <a:pt x="29537" y="417012"/>
                </a:lnTo>
                <a:lnTo>
                  <a:pt x="40084" y="387228"/>
                </a:lnTo>
                <a:lnTo>
                  <a:pt x="52175" y="358037"/>
                </a:lnTo>
                <a:lnTo>
                  <a:pt x="65777" y="329519"/>
                </a:lnTo>
                <a:lnTo>
                  <a:pt x="80854" y="301752"/>
                </a:lnTo>
                <a:lnTo>
                  <a:pt x="97362" y="274813"/>
                </a:lnTo>
                <a:lnTo>
                  <a:pt x="115259" y="248774"/>
                </a:lnTo>
                <a:lnTo>
                  <a:pt x="134493" y="223707"/>
                </a:lnTo>
                <a:lnTo>
                  <a:pt x="155013" y="199682"/>
                </a:lnTo>
                <a:lnTo>
                  <a:pt x="176762" y="176763"/>
                </a:lnTo>
                <a:lnTo>
                  <a:pt x="199681" y="155014"/>
                </a:lnTo>
                <a:lnTo>
                  <a:pt x="223706" y="134494"/>
                </a:lnTo>
                <a:lnTo>
                  <a:pt x="248773" y="115260"/>
                </a:lnTo>
                <a:lnTo>
                  <a:pt x="274812" y="97363"/>
                </a:lnTo>
                <a:lnTo>
                  <a:pt x="301752" y="80855"/>
                </a:lnTo>
                <a:lnTo>
                  <a:pt x="329518" y="65778"/>
                </a:lnTo>
                <a:lnTo>
                  <a:pt x="358036" y="52176"/>
                </a:lnTo>
                <a:lnTo>
                  <a:pt x="387227" y="40085"/>
                </a:lnTo>
                <a:lnTo>
                  <a:pt x="417011" y="29538"/>
                </a:lnTo>
                <a:lnTo>
                  <a:pt x="447305" y="20564"/>
                </a:lnTo>
                <a:lnTo>
                  <a:pt x="478028" y="13189"/>
                </a:lnTo>
                <a:lnTo>
                  <a:pt x="509095" y="7431"/>
                </a:lnTo>
                <a:lnTo>
                  <a:pt x="540420" y="3307"/>
                </a:lnTo>
                <a:lnTo>
                  <a:pt x="571919" y="828"/>
                </a:lnTo>
                <a:lnTo>
                  <a:pt x="603504" y="0"/>
                </a:lnTo>
                <a:lnTo>
                  <a:pt x="603504"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53519" y="3888094"/>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EHH</a:t>
            </a:r>
          </a:p>
        </p:txBody>
      </p:sp>
      <p:sp>
        <p:nvSpPr>
          <p:cNvPr id="27" name="Oval 26"/>
          <p:cNvSpPr/>
          <p:nvPr/>
        </p:nvSpPr>
        <p:spPr>
          <a:xfrm>
            <a:off x="3008376" y="35295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40080" y="3675887"/>
            <a:ext cx="2240280" cy="310896"/>
          </a:xfrm>
          <a:prstGeom prst="rect">
            <a:avLst/>
          </a:prstGeom>
          <a:noFill/>
        </p:spPr>
        <p:txBody>
          <a:bodyPr wrap="square" lIns="0" tIns="0" rIns="0" bIns="0" anchor="t">
            <a:spAutoFit/>
          </a:bodyPr>
          <a:lstStyle/>
          <a:p>
            <a:pPr algn="r">
              <a:lnSpc>
                <a:spcPct val="114000"/>
              </a:lnSpc>
              <a:spcAft>
                <a:spcPts val="0"/>
              </a:spcAft>
            </a:pPr>
            <a:r>
              <a:rPr sz="1400" b="1">
                <a:solidFill>
                  <a:srgbClr val="0D1B2A"/>
                </a:solidFill>
                <a:latin typeface="Calibri"/>
              </a:rPr>
              <a:t>CCU / SCU / EHH</a:t>
            </a:r>
          </a:p>
        </p:txBody>
      </p:sp>
      <p:sp>
        <p:nvSpPr>
          <p:cNvPr id="29" name="TextBox 28"/>
          <p:cNvSpPr txBox="1"/>
          <p:nvPr/>
        </p:nvSpPr>
        <p:spPr>
          <a:xfrm>
            <a:off x="640080" y="4078224"/>
            <a:ext cx="2240280" cy="548640"/>
          </a:xfrm>
          <a:prstGeom prst="rect">
            <a:avLst/>
          </a:prstGeom>
          <a:noFill/>
        </p:spPr>
        <p:txBody>
          <a:bodyPr wrap="square" lIns="0" tIns="0" rIns="0" bIns="0" anchor="t">
            <a:spAutoFit/>
          </a:bodyPr>
          <a:lstStyle/>
          <a:p>
            <a:pPr algn="r">
              <a:lnSpc>
                <a:spcPct val="122000"/>
              </a:lnSpc>
              <a:spcAft>
                <a:spcPts val="0"/>
              </a:spcAft>
            </a:pPr>
            <a:r>
              <a:rPr sz="1000" b="0">
                <a:solidFill>
                  <a:srgbClr val="55677C"/>
                </a:solidFill>
                <a:latin typeface="Calibri"/>
              </a:rPr>
              <a:t>Vormen nu samen één fysieke afdeling.</a:t>
            </a:r>
          </a:p>
        </p:txBody>
      </p:sp>
      <p:sp>
        <p:nvSpPr>
          <p:cNvPr id="30" name="Oval 29"/>
          <p:cNvSpPr/>
          <p:nvPr/>
        </p:nvSpPr>
        <p:spPr>
          <a:xfrm>
            <a:off x="3008376" y="4901183"/>
            <a:ext cx="1207008" cy="1207008"/>
          </a:xfrm>
          <a:prstGeom prst="ellipse">
            <a:avLst/>
          </a:prstGeom>
          <a:solidFill>
            <a:srgbClr val="106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056656" y="5434711"/>
            <a:ext cx="1110447" cy="159339"/>
          </a:xfrm>
          <a:prstGeom prst="rect">
            <a:avLst/>
          </a:prstGeom>
          <a:noFill/>
        </p:spPr>
        <p:txBody>
          <a:bodyPr wrap="square" lIns="0" tIns="0" rIns="0" bIns="0" anchor="t">
            <a:spAutoFit/>
          </a:bodyPr>
          <a:lstStyle/>
          <a:p>
            <a:pPr algn="ctr">
              <a:lnSpc>
                <a:spcPct val="116000"/>
              </a:lnSpc>
              <a:spcAft>
                <a:spcPts val="0"/>
              </a:spcAft>
            </a:pPr>
            <a:r>
              <a:rPr sz="950" b="1" dirty="0">
                <a:solidFill>
                  <a:srgbClr val="FFFFFF"/>
                </a:solidFill>
                <a:latin typeface="Calibri"/>
              </a:rPr>
              <a:t>IC</a:t>
            </a:r>
            <a:r>
              <a:rPr lang="nl-NL" sz="950" b="1" dirty="0">
                <a:solidFill>
                  <a:srgbClr val="FFFFFF"/>
                </a:solidFill>
                <a:latin typeface="Calibri"/>
              </a:rPr>
              <a:t>U</a:t>
            </a:r>
            <a:endParaRPr sz="950" b="1" dirty="0">
              <a:solidFill>
                <a:srgbClr val="FFFFFF"/>
              </a:solidFill>
              <a:latin typeface="Calibri"/>
            </a:endParaRPr>
          </a:p>
        </p:txBody>
      </p:sp>
      <p:sp>
        <p:nvSpPr>
          <p:cNvPr id="32" name="Oval 31"/>
          <p:cNvSpPr/>
          <p:nvPr/>
        </p:nvSpPr>
        <p:spPr>
          <a:xfrm>
            <a:off x="3008376" y="49011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640080" y="5047488"/>
            <a:ext cx="2240280" cy="231602"/>
          </a:xfrm>
          <a:prstGeom prst="rect">
            <a:avLst/>
          </a:prstGeom>
          <a:noFill/>
        </p:spPr>
        <p:txBody>
          <a:bodyPr wrap="square" lIns="0" tIns="0" rIns="0" bIns="0" anchor="t">
            <a:spAutoFit/>
          </a:bodyPr>
          <a:lstStyle/>
          <a:p>
            <a:pPr algn="r">
              <a:lnSpc>
                <a:spcPct val="114000"/>
              </a:lnSpc>
              <a:spcAft>
                <a:spcPts val="0"/>
              </a:spcAft>
            </a:pPr>
            <a:r>
              <a:rPr sz="1400" b="1" dirty="0">
                <a:solidFill>
                  <a:srgbClr val="0D1B2A"/>
                </a:solidFill>
                <a:latin typeface="Calibri"/>
              </a:rPr>
              <a:t>IC</a:t>
            </a:r>
            <a:r>
              <a:rPr lang="nl-NL" sz="1400" b="1" dirty="0">
                <a:solidFill>
                  <a:srgbClr val="0D1B2A"/>
                </a:solidFill>
                <a:latin typeface="Calibri"/>
              </a:rPr>
              <a:t>U</a:t>
            </a:r>
            <a:endParaRPr sz="1400" b="1" dirty="0">
              <a:solidFill>
                <a:srgbClr val="0D1B2A"/>
              </a:solidFill>
              <a:latin typeface="Calibri"/>
            </a:endParaRPr>
          </a:p>
        </p:txBody>
      </p:sp>
      <p:sp>
        <p:nvSpPr>
          <p:cNvPr id="34" name="TextBox 33"/>
          <p:cNvSpPr txBox="1"/>
          <p:nvPr/>
        </p:nvSpPr>
        <p:spPr>
          <a:xfrm>
            <a:off x="640080" y="5449824"/>
            <a:ext cx="2240280" cy="548640"/>
          </a:xfrm>
          <a:prstGeom prst="rect">
            <a:avLst/>
          </a:prstGeom>
          <a:noFill/>
        </p:spPr>
        <p:txBody>
          <a:bodyPr wrap="square" lIns="0" tIns="0" rIns="0" bIns="0" anchor="t">
            <a:spAutoFit/>
          </a:bodyPr>
          <a:lstStyle/>
          <a:p>
            <a:pPr algn="r">
              <a:lnSpc>
                <a:spcPct val="122000"/>
              </a:lnSpc>
              <a:spcAft>
                <a:spcPts val="0"/>
              </a:spcAft>
            </a:pPr>
            <a:r>
              <a:rPr sz="1000" b="0">
                <a:solidFill>
                  <a:srgbClr val="55677C"/>
                </a:solidFill>
                <a:latin typeface="Calibri"/>
              </a:rPr>
              <a:t>Zelfstandige afdeling voor hoog complexe zorg.</a:t>
            </a:r>
          </a:p>
        </p:txBody>
      </p:sp>
      <p:sp>
        <p:nvSpPr>
          <p:cNvPr id="35" name="Freeform 34"/>
          <p:cNvSpPr/>
          <p:nvPr/>
        </p:nvSpPr>
        <p:spPr>
          <a:xfrm>
            <a:off x="7635240" y="1938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253290" y="2503043"/>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SEH</a:t>
            </a:r>
          </a:p>
        </p:txBody>
      </p:sp>
      <p:sp>
        <p:nvSpPr>
          <p:cNvPr id="37" name="Freeform 36"/>
          <p:cNvSpPr/>
          <p:nvPr/>
        </p:nvSpPr>
        <p:spPr>
          <a:xfrm>
            <a:off x="6843346" y="2852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93992" y="3298571"/>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Kind</a:t>
            </a:r>
          </a:p>
        </p:txBody>
      </p:sp>
      <p:sp>
        <p:nvSpPr>
          <p:cNvPr id="39" name="Freeform 38"/>
          <p:cNvSpPr/>
          <p:nvPr/>
        </p:nvSpPr>
        <p:spPr>
          <a:xfrm>
            <a:off x="6720840" y="1938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1852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34693" y="2503043"/>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EHH</a:t>
            </a:r>
          </a:p>
        </p:txBody>
      </p:sp>
      <p:sp>
        <p:nvSpPr>
          <p:cNvPr id="41" name="Oval 40"/>
          <p:cNvSpPr/>
          <p:nvPr/>
        </p:nvSpPr>
        <p:spPr>
          <a:xfrm>
            <a:off x="6720840" y="1938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8796528" y="2286000"/>
            <a:ext cx="2755087" cy="310896"/>
          </a:xfrm>
          <a:prstGeom prst="rect">
            <a:avLst/>
          </a:prstGeom>
          <a:noFill/>
        </p:spPr>
        <p:txBody>
          <a:bodyPr wrap="square" lIns="0" tIns="0" rIns="0" bIns="0" anchor="t">
            <a:spAutoFit/>
          </a:bodyPr>
          <a:lstStyle/>
          <a:p>
            <a:pPr algn="l">
              <a:lnSpc>
                <a:spcPct val="120000"/>
              </a:lnSpc>
              <a:spcAft>
                <a:spcPts val="0"/>
              </a:spcAft>
            </a:pPr>
            <a:r>
              <a:rPr sz="1600" b="1">
                <a:solidFill>
                  <a:srgbClr val="0D1B2A"/>
                </a:solidFill>
                <a:latin typeface="Calibri"/>
              </a:rPr>
              <a:t>De acute poort</a:t>
            </a:r>
          </a:p>
        </p:txBody>
      </p:sp>
      <p:sp>
        <p:nvSpPr>
          <p:cNvPr id="43" name="TextBox 42"/>
          <p:cNvSpPr txBox="1"/>
          <p:nvPr/>
        </p:nvSpPr>
        <p:spPr>
          <a:xfrm>
            <a:off x="8796528" y="2670048"/>
            <a:ext cx="2755087" cy="786384"/>
          </a:xfrm>
          <a:prstGeom prst="rect">
            <a:avLst/>
          </a:prstGeom>
          <a:noFill/>
        </p:spPr>
        <p:txBody>
          <a:bodyPr wrap="square" lIns="0" tIns="0" rIns="0" bIns="0" anchor="t">
            <a:spAutoFit/>
          </a:bodyPr>
          <a:lstStyle/>
          <a:p>
            <a:pPr algn="l">
              <a:lnSpc>
                <a:spcPct val="124000"/>
              </a:lnSpc>
              <a:spcAft>
                <a:spcPts val="0"/>
              </a:spcAft>
            </a:pPr>
            <a:r>
              <a:rPr sz="1050" b="0">
                <a:solidFill>
                  <a:srgbClr val="55677C"/>
                </a:solidFill>
                <a:latin typeface="Calibri"/>
              </a:rPr>
              <a:t>De huidige SEH, de kinderspoed en de EHH komen hier samen achter één poort.</a:t>
            </a:r>
          </a:p>
        </p:txBody>
      </p:sp>
      <p:sp>
        <p:nvSpPr>
          <p:cNvPr id="44" name="Freeform 43"/>
          <p:cNvSpPr/>
          <p:nvPr/>
        </p:nvSpPr>
        <p:spPr>
          <a:xfrm>
            <a:off x="7635240" y="4224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06F7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253290" y="4789043"/>
            <a:ext cx="1682496" cy="192938"/>
          </a:xfrm>
          <a:prstGeom prst="rect">
            <a:avLst/>
          </a:prstGeom>
          <a:noFill/>
        </p:spPr>
        <p:txBody>
          <a:bodyPr wrap="square" lIns="0" tIns="0" rIns="0" bIns="0" anchor="t">
            <a:spAutoFit/>
          </a:bodyPr>
          <a:lstStyle/>
          <a:p>
            <a:pPr algn="ctr">
              <a:lnSpc>
                <a:spcPct val="116000"/>
              </a:lnSpc>
              <a:spcAft>
                <a:spcPts val="0"/>
              </a:spcAft>
            </a:pPr>
            <a:r>
              <a:rPr sz="1150" b="1" dirty="0">
                <a:solidFill>
                  <a:srgbClr val="FFFFFF"/>
                </a:solidFill>
                <a:latin typeface="Calibri"/>
              </a:rPr>
              <a:t>IC</a:t>
            </a:r>
            <a:r>
              <a:rPr lang="nl-NL" sz="1150" b="1" dirty="0">
                <a:solidFill>
                  <a:srgbClr val="FFFFFF"/>
                </a:solidFill>
                <a:latin typeface="Calibri"/>
              </a:rPr>
              <a:t>U</a:t>
            </a:r>
            <a:endParaRPr sz="1150" b="1" dirty="0">
              <a:solidFill>
                <a:srgbClr val="FFFFFF"/>
              </a:solidFill>
              <a:latin typeface="Calibri"/>
            </a:endParaRPr>
          </a:p>
        </p:txBody>
      </p:sp>
      <p:sp>
        <p:nvSpPr>
          <p:cNvPr id="46" name="Freeform 45"/>
          <p:cNvSpPr/>
          <p:nvPr/>
        </p:nvSpPr>
        <p:spPr>
          <a:xfrm>
            <a:off x="6843346" y="5138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793992" y="5584571"/>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CCU</a:t>
            </a:r>
          </a:p>
        </p:txBody>
      </p:sp>
      <p:sp>
        <p:nvSpPr>
          <p:cNvPr id="48" name="Freeform 47"/>
          <p:cNvSpPr/>
          <p:nvPr/>
        </p:nvSpPr>
        <p:spPr>
          <a:xfrm>
            <a:off x="6720840" y="4224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34693" y="4789043"/>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SCU</a:t>
            </a:r>
          </a:p>
        </p:txBody>
      </p:sp>
      <p:sp>
        <p:nvSpPr>
          <p:cNvPr id="50" name="Oval 49"/>
          <p:cNvSpPr/>
          <p:nvPr/>
        </p:nvSpPr>
        <p:spPr>
          <a:xfrm>
            <a:off x="6720840" y="4224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796528" y="4572000"/>
            <a:ext cx="2755087" cy="310896"/>
          </a:xfrm>
          <a:prstGeom prst="rect">
            <a:avLst/>
          </a:prstGeom>
          <a:noFill/>
        </p:spPr>
        <p:txBody>
          <a:bodyPr wrap="square" lIns="0" tIns="0" rIns="0" bIns="0" anchor="t">
            <a:spAutoFit/>
          </a:bodyPr>
          <a:lstStyle/>
          <a:p>
            <a:pPr algn="l">
              <a:lnSpc>
                <a:spcPct val="120000"/>
              </a:lnSpc>
              <a:spcAft>
                <a:spcPts val="0"/>
              </a:spcAft>
            </a:pPr>
            <a:r>
              <a:rPr sz="1600" b="1">
                <a:solidFill>
                  <a:srgbClr val="0D1B2A"/>
                </a:solidFill>
                <a:latin typeface="Calibri"/>
              </a:rPr>
              <a:t>De Hotfloor</a:t>
            </a:r>
          </a:p>
        </p:txBody>
      </p:sp>
      <p:sp>
        <p:nvSpPr>
          <p:cNvPr id="52" name="TextBox 51"/>
          <p:cNvSpPr txBox="1"/>
          <p:nvPr/>
        </p:nvSpPr>
        <p:spPr>
          <a:xfrm>
            <a:off x="8796528" y="4956048"/>
            <a:ext cx="2755087" cy="786384"/>
          </a:xfrm>
          <a:prstGeom prst="rect">
            <a:avLst/>
          </a:prstGeom>
          <a:noFill/>
        </p:spPr>
        <p:txBody>
          <a:bodyPr wrap="square" lIns="0" tIns="0" rIns="0" bIns="0" anchor="t">
            <a:spAutoFit/>
          </a:bodyPr>
          <a:lstStyle/>
          <a:p>
            <a:pPr algn="l">
              <a:lnSpc>
                <a:spcPct val="124000"/>
              </a:lnSpc>
              <a:spcAft>
                <a:spcPts val="0"/>
              </a:spcAft>
            </a:pPr>
            <a:r>
              <a:rPr sz="1050" b="0">
                <a:solidFill>
                  <a:srgbClr val="55677C"/>
                </a:solidFill>
                <a:latin typeface="Calibri"/>
              </a:rPr>
              <a:t>De IC smelt samen met de CCU en de SCU tot één cluster voor bewakingszorg.</a:t>
            </a:r>
          </a:p>
        </p:txBody>
      </p:sp>
      <p:sp>
        <p:nvSpPr>
          <p:cNvPr id="53" name="Freeform 52"/>
          <p:cNvSpPr/>
          <p:nvPr/>
        </p:nvSpPr>
        <p:spPr>
          <a:xfrm>
            <a:off x="4361688" y="2432304"/>
            <a:ext cx="2212848" cy="182880"/>
          </a:xfrm>
          <a:custGeom>
            <a:avLst/>
            <a:gdLst/>
            <a:ahLst/>
            <a:cxnLst/>
            <a:rect l="l" t="t" r="r" b="b"/>
            <a:pathLst>
              <a:path w="2212848" h="182880">
                <a:moveTo>
                  <a:pt x="0" y="182880"/>
                </a:moveTo>
                <a:lnTo>
                  <a:pt x="50292" y="182600"/>
                </a:lnTo>
                <a:lnTo>
                  <a:pt x="100584" y="181780"/>
                </a:lnTo>
                <a:lnTo>
                  <a:pt x="150876" y="180445"/>
                </a:lnTo>
                <a:lnTo>
                  <a:pt x="201168" y="178620"/>
                </a:lnTo>
                <a:lnTo>
                  <a:pt x="251460" y="176332"/>
                </a:lnTo>
                <a:lnTo>
                  <a:pt x="301752" y="173605"/>
                </a:lnTo>
                <a:lnTo>
                  <a:pt x="352044" y="170466"/>
                </a:lnTo>
                <a:lnTo>
                  <a:pt x="402336" y="166941"/>
                </a:lnTo>
                <a:lnTo>
                  <a:pt x="452628" y="163055"/>
                </a:lnTo>
                <a:lnTo>
                  <a:pt x="502920" y="158834"/>
                </a:lnTo>
                <a:lnTo>
                  <a:pt x="553212" y="154305"/>
                </a:lnTo>
                <a:lnTo>
                  <a:pt x="603504" y="149491"/>
                </a:lnTo>
                <a:lnTo>
                  <a:pt x="653796" y="144420"/>
                </a:lnTo>
                <a:lnTo>
                  <a:pt x="704088" y="139117"/>
                </a:lnTo>
                <a:lnTo>
                  <a:pt x="754380" y="133609"/>
                </a:lnTo>
                <a:lnTo>
                  <a:pt x="804672" y="127919"/>
                </a:lnTo>
                <a:lnTo>
                  <a:pt x="854964" y="122076"/>
                </a:lnTo>
                <a:lnTo>
                  <a:pt x="905256" y="116103"/>
                </a:lnTo>
                <a:lnTo>
                  <a:pt x="955548" y="110027"/>
                </a:lnTo>
                <a:lnTo>
                  <a:pt x="1005840" y="103874"/>
                </a:lnTo>
                <a:lnTo>
                  <a:pt x="1056132" y="97670"/>
                </a:lnTo>
                <a:lnTo>
                  <a:pt x="1106424" y="91440"/>
                </a:lnTo>
                <a:lnTo>
                  <a:pt x="1156716" y="85209"/>
                </a:lnTo>
                <a:lnTo>
                  <a:pt x="1207008" y="79005"/>
                </a:lnTo>
                <a:lnTo>
                  <a:pt x="1257300" y="72852"/>
                </a:lnTo>
                <a:lnTo>
                  <a:pt x="1307592" y="66776"/>
                </a:lnTo>
                <a:lnTo>
                  <a:pt x="1357884" y="60803"/>
                </a:lnTo>
                <a:lnTo>
                  <a:pt x="1408176" y="54960"/>
                </a:lnTo>
                <a:lnTo>
                  <a:pt x="1458468" y="49270"/>
                </a:lnTo>
                <a:lnTo>
                  <a:pt x="1508760" y="43762"/>
                </a:lnTo>
                <a:lnTo>
                  <a:pt x="1559052" y="38459"/>
                </a:lnTo>
                <a:lnTo>
                  <a:pt x="1609343" y="33388"/>
                </a:lnTo>
                <a:lnTo>
                  <a:pt x="1659636" y="28575"/>
                </a:lnTo>
                <a:lnTo>
                  <a:pt x="1709928" y="24045"/>
                </a:lnTo>
                <a:lnTo>
                  <a:pt x="1760219" y="19824"/>
                </a:lnTo>
                <a:lnTo>
                  <a:pt x="1810512" y="15938"/>
                </a:lnTo>
                <a:lnTo>
                  <a:pt x="1860804" y="12413"/>
                </a:lnTo>
                <a:lnTo>
                  <a:pt x="1911095" y="9274"/>
                </a:lnTo>
                <a:lnTo>
                  <a:pt x="1961387" y="6547"/>
                </a:lnTo>
                <a:lnTo>
                  <a:pt x="2011679" y="4259"/>
                </a:lnTo>
                <a:lnTo>
                  <a:pt x="2061971" y="2434"/>
                </a:lnTo>
                <a:lnTo>
                  <a:pt x="2112264" y="1099"/>
                </a:lnTo>
                <a:lnTo>
                  <a:pt x="2162556" y="279"/>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4288536" y="254203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Oval 54"/>
          <p:cNvSpPr/>
          <p:nvPr/>
        </p:nvSpPr>
        <p:spPr>
          <a:xfrm>
            <a:off x="6501383" y="235915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Freeform 55"/>
          <p:cNvSpPr/>
          <p:nvPr/>
        </p:nvSpPr>
        <p:spPr>
          <a:xfrm>
            <a:off x="4361688" y="2724912"/>
            <a:ext cx="2212848" cy="128016"/>
          </a:xfrm>
          <a:custGeom>
            <a:avLst/>
            <a:gdLst/>
            <a:ahLst/>
            <a:cxnLst/>
            <a:rect l="l" t="t" r="r" b="b"/>
            <a:pathLst>
              <a:path w="2212848" h="128016">
                <a:moveTo>
                  <a:pt x="0" y="128016"/>
                </a:moveTo>
                <a:lnTo>
                  <a:pt x="50292" y="127820"/>
                </a:lnTo>
                <a:lnTo>
                  <a:pt x="100584" y="127246"/>
                </a:lnTo>
                <a:lnTo>
                  <a:pt x="150876" y="126311"/>
                </a:lnTo>
                <a:lnTo>
                  <a:pt x="201168" y="125034"/>
                </a:lnTo>
                <a:lnTo>
                  <a:pt x="251460" y="123432"/>
                </a:lnTo>
                <a:lnTo>
                  <a:pt x="301752" y="121523"/>
                </a:lnTo>
                <a:lnTo>
                  <a:pt x="352044" y="119326"/>
                </a:lnTo>
                <a:lnTo>
                  <a:pt x="402336" y="116859"/>
                </a:lnTo>
                <a:lnTo>
                  <a:pt x="452628" y="114138"/>
                </a:lnTo>
                <a:lnTo>
                  <a:pt x="502920" y="111184"/>
                </a:lnTo>
                <a:lnTo>
                  <a:pt x="553212" y="108013"/>
                </a:lnTo>
                <a:lnTo>
                  <a:pt x="603504" y="104644"/>
                </a:lnTo>
                <a:lnTo>
                  <a:pt x="653796" y="101094"/>
                </a:lnTo>
                <a:lnTo>
                  <a:pt x="704088" y="97382"/>
                </a:lnTo>
                <a:lnTo>
                  <a:pt x="754380" y="93526"/>
                </a:lnTo>
                <a:lnTo>
                  <a:pt x="804672" y="89543"/>
                </a:lnTo>
                <a:lnTo>
                  <a:pt x="854964" y="85453"/>
                </a:lnTo>
                <a:lnTo>
                  <a:pt x="905256" y="81272"/>
                </a:lnTo>
                <a:lnTo>
                  <a:pt x="955548" y="77019"/>
                </a:lnTo>
                <a:lnTo>
                  <a:pt x="1005840" y="72712"/>
                </a:lnTo>
                <a:lnTo>
                  <a:pt x="1056132" y="68369"/>
                </a:lnTo>
                <a:lnTo>
                  <a:pt x="1106424" y="64008"/>
                </a:lnTo>
                <a:lnTo>
                  <a:pt x="1156716" y="59646"/>
                </a:lnTo>
                <a:lnTo>
                  <a:pt x="1207008" y="55303"/>
                </a:lnTo>
                <a:lnTo>
                  <a:pt x="1257300" y="50996"/>
                </a:lnTo>
                <a:lnTo>
                  <a:pt x="1307592" y="46743"/>
                </a:lnTo>
                <a:lnTo>
                  <a:pt x="1357884" y="42562"/>
                </a:lnTo>
                <a:lnTo>
                  <a:pt x="1408176" y="38472"/>
                </a:lnTo>
                <a:lnTo>
                  <a:pt x="1458468" y="34489"/>
                </a:lnTo>
                <a:lnTo>
                  <a:pt x="1508760" y="30633"/>
                </a:lnTo>
                <a:lnTo>
                  <a:pt x="1559052" y="26921"/>
                </a:lnTo>
                <a:lnTo>
                  <a:pt x="1609343" y="23371"/>
                </a:lnTo>
                <a:lnTo>
                  <a:pt x="1659636" y="20002"/>
                </a:lnTo>
                <a:lnTo>
                  <a:pt x="1709928" y="16831"/>
                </a:lnTo>
                <a:lnTo>
                  <a:pt x="1760219" y="13877"/>
                </a:lnTo>
                <a:lnTo>
                  <a:pt x="1810512" y="11156"/>
                </a:lnTo>
                <a:lnTo>
                  <a:pt x="1860804" y="8689"/>
                </a:lnTo>
                <a:lnTo>
                  <a:pt x="1911095" y="6492"/>
                </a:lnTo>
                <a:lnTo>
                  <a:pt x="1961387" y="4583"/>
                </a:lnTo>
                <a:lnTo>
                  <a:pt x="2011679" y="2981"/>
                </a:lnTo>
                <a:lnTo>
                  <a:pt x="2061971" y="1704"/>
                </a:lnTo>
                <a:lnTo>
                  <a:pt x="2112264" y="769"/>
                </a:lnTo>
                <a:lnTo>
                  <a:pt x="2162556" y="195"/>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4288536" y="27797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6501383" y="2651760"/>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Freeform 58"/>
          <p:cNvSpPr/>
          <p:nvPr/>
        </p:nvSpPr>
        <p:spPr>
          <a:xfrm>
            <a:off x="4361688" y="3054096"/>
            <a:ext cx="2212848" cy="1170432"/>
          </a:xfrm>
          <a:custGeom>
            <a:avLst/>
            <a:gdLst/>
            <a:ahLst/>
            <a:cxnLst/>
            <a:rect l="l" t="t" r="r" b="b"/>
            <a:pathLst>
              <a:path w="2212848" h="1170432">
                <a:moveTo>
                  <a:pt x="0" y="1170432"/>
                </a:moveTo>
                <a:lnTo>
                  <a:pt x="50292" y="1168645"/>
                </a:lnTo>
                <a:lnTo>
                  <a:pt x="100584" y="1163397"/>
                </a:lnTo>
                <a:lnTo>
                  <a:pt x="150876" y="1154850"/>
                </a:lnTo>
                <a:lnTo>
                  <a:pt x="201168" y="1143171"/>
                </a:lnTo>
                <a:lnTo>
                  <a:pt x="251460" y="1128524"/>
                </a:lnTo>
                <a:lnTo>
                  <a:pt x="301752" y="1111075"/>
                </a:lnTo>
                <a:lnTo>
                  <a:pt x="352044" y="1090987"/>
                </a:lnTo>
                <a:lnTo>
                  <a:pt x="402336" y="1068425"/>
                </a:lnTo>
                <a:lnTo>
                  <a:pt x="452628" y="1043556"/>
                </a:lnTo>
                <a:lnTo>
                  <a:pt x="502920" y="1016543"/>
                </a:lnTo>
                <a:lnTo>
                  <a:pt x="553212" y="987552"/>
                </a:lnTo>
                <a:lnTo>
                  <a:pt x="603504" y="956746"/>
                </a:lnTo>
                <a:lnTo>
                  <a:pt x="653796" y="924292"/>
                </a:lnTo>
                <a:lnTo>
                  <a:pt x="704088" y="890354"/>
                </a:lnTo>
                <a:lnTo>
                  <a:pt x="754380" y="855097"/>
                </a:lnTo>
                <a:lnTo>
                  <a:pt x="804672" y="818686"/>
                </a:lnTo>
                <a:lnTo>
                  <a:pt x="854964" y="781286"/>
                </a:lnTo>
                <a:lnTo>
                  <a:pt x="905256" y="743061"/>
                </a:lnTo>
                <a:lnTo>
                  <a:pt x="955548" y="704177"/>
                </a:lnTo>
                <a:lnTo>
                  <a:pt x="1005840" y="664798"/>
                </a:lnTo>
                <a:lnTo>
                  <a:pt x="1056132" y="625089"/>
                </a:lnTo>
                <a:lnTo>
                  <a:pt x="1106424" y="585216"/>
                </a:lnTo>
                <a:lnTo>
                  <a:pt x="1156716" y="545342"/>
                </a:lnTo>
                <a:lnTo>
                  <a:pt x="1207008" y="505633"/>
                </a:lnTo>
                <a:lnTo>
                  <a:pt x="1257300" y="466254"/>
                </a:lnTo>
                <a:lnTo>
                  <a:pt x="1307592" y="427370"/>
                </a:lnTo>
                <a:lnTo>
                  <a:pt x="1357884" y="389145"/>
                </a:lnTo>
                <a:lnTo>
                  <a:pt x="1408176" y="351745"/>
                </a:lnTo>
                <a:lnTo>
                  <a:pt x="1458468" y="315334"/>
                </a:lnTo>
                <a:lnTo>
                  <a:pt x="1508760" y="280077"/>
                </a:lnTo>
                <a:lnTo>
                  <a:pt x="1559052" y="246139"/>
                </a:lnTo>
                <a:lnTo>
                  <a:pt x="1609343" y="213685"/>
                </a:lnTo>
                <a:lnTo>
                  <a:pt x="1659636" y="182880"/>
                </a:lnTo>
                <a:lnTo>
                  <a:pt x="1709928" y="153888"/>
                </a:lnTo>
                <a:lnTo>
                  <a:pt x="1760219" y="126875"/>
                </a:lnTo>
                <a:lnTo>
                  <a:pt x="1810512" y="102006"/>
                </a:lnTo>
                <a:lnTo>
                  <a:pt x="1860804" y="79444"/>
                </a:lnTo>
                <a:lnTo>
                  <a:pt x="1911095" y="59356"/>
                </a:lnTo>
                <a:lnTo>
                  <a:pt x="1961387" y="41907"/>
                </a:lnTo>
                <a:lnTo>
                  <a:pt x="2011679" y="27260"/>
                </a:lnTo>
                <a:lnTo>
                  <a:pt x="2061971" y="15581"/>
                </a:lnTo>
                <a:lnTo>
                  <a:pt x="2112264" y="7034"/>
                </a:lnTo>
                <a:lnTo>
                  <a:pt x="2162556" y="1786"/>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4288536" y="41513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6501383" y="2980944"/>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Freeform 61"/>
          <p:cNvSpPr/>
          <p:nvPr/>
        </p:nvSpPr>
        <p:spPr>
          <a:xfrm>
            <a:off x="4361688" y="3931920"/>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4288536" y="385876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val 63"/>
          <p:cNvSpPr/>
          <p:nvPr/>
        </p:nvSpPr>
        <p:spPr>
          <a:xfrm>
            <a:off x="6501383" y="468172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Freeform 64"/>
          <p:cNvSpPr/>
          <p:nvPr/>
        </p:nvSpPr>
        <p:spPr>
          <a:xfrm>
            <a:off x="4361688" y="4315968"/>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4288536" y="424281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Oval 66"/>
          <p:cNvSpPr/>
          <p:nvPr/>
        </p:nvSpPr>
        <p:spPr>
          <a:xfrm>
            <a:off x="6501383" y="506577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Freeform 67"/>
          <p:cNvSpPr/>
          <p:nvPr/>
        </p:nvSpPr>
        <p:spPr>
          <a:xfrm>
            <a:off x="4361688" y="5504688"/>
            <a:ext cx="2212848" cy="0"/>
          </a:xfrm>
          <a:custGeom>
            <a:avLst/>
            <a:gdLst/>
            <a:ahLst/>
            <a:cxnLst/>
            <a:rect l="l" t="t" r="r" b="b"/>
            <a:pathLst>
              <a:path w="2212848">
                <a:moveTo>
                  <a:pt x="0" y="0"/>
                </a:moveTo>
                <a:lnTo>
                  <a:pt x="50292" y="0"/>
                </a:lnTo>
                <a:lnTo>
                  <a:pt x="100584" y="0"/>
                </a:lnTo>
                <a:lnTo>
                  <a:pt x="150876" y="0"/>
                </a:lnTo>
                <a:lnTo>
                  <a:pt x="201168" y="0"/>
                </a:lnTo>
                <a:lnTo>
                  <a:pt x="251460" y="0"/>
                </a:lnTo>
                <a:lnTo>
                  <a:pt x="301752" y="0"/>
                </a:lnTo>
                <a:lnTo>
                  <a:pt x="352044" y="0"/>
                </a:lnTo>
                <a:lnTo>
                  <a:pt x="402336" y="0"/>
                </a:lnTo>
                <a:lnTo>
                  <a:pt x="452628" y="0"/>
                </a:lnTo>
                <a:lnTo>
                  <a:pt x="502920" y="0"/>
                </a:lnTo>
                <a:lnTo>
                  <a:pt x="553212" y="0"/>
                </a:lnTo>
                <a:lnTo>
                  <a:pt x="603504" y="0"/>
                </a:lnTo>
                <a:lnTo>
                  <a:pt x="653796" y="0"/>
                </a:lnTo>
                <a:lnTo>
                  <a:pt x="704088" y="0"/>
                </a:lnTo>
                <a:lnTo>
                  <a:pt x="754380" y="0"/>
                </a:lnTo>
                <a:lnTo>
                  <a:pt x="804672" y="0"/>
                </a:lnTo>
                <a:lnTo>
                  <a:pt x="854964" y="0"/>
                </a:lnTo>
                <a:lnTo>
                  <a:pt x="905256" y="0"/>
                </a:lnTo>
                <a:lnTo>
                  <a:pt x="955548" y="0"/>
                </a:lnTo>
                <a:lnTo>
                  <a:pt x="1005840" y="0"/>
                </a:lnTo>
                <a:lnTo>
                  <a:pt x="1056132" y="0"/>
                </a:lnTo>
                <a:lnTo>
                  <a:pt x="1106424" y="0"/>
                </a:lnTo>
                <a:lnTo>
                  <a:pt x="1156716" y="0"/>
                </a:lnTo>
                <a:lnTo>
                  <a:pt x="1207008" y="0"/>
                </a:lnTo>
                <a:lnTo>
                  <a:pt x="1257300" y="0"/>
                </a:lnTo>
                <a:lnTo>
                  <a:pt x="1307592" y="0"/>
                </a:lnTo>
                <a:lnTo>
                  <a:pt x="1357884" y="0"/>
                </a:lnTo>
                <a:lnTo>
                  <a:pt x="1408176" y="0"/>
                </a:lnTo>
                <a:lnTo>
                  <a:pt x="1458468" y="0"/>
                </a:lnTo>
                <a:lnTo>
                  <a:pt x="1508760" y="0"/>
                </a:lnTo>
                <a:lnTo>
                  <a:pt x="1559052" y="0"/>
                </a:lnTo>
                <a:lnTo>
                  <a:pt x="1609343" y="0"/>
                </a:lnTo>
                <a:lnTo>
                  <a:pt x="1659636" y="0"/>
                </a:lnTo>
                <a:lnTo>
                  <a:pt x="1709928" y="0"/>
                </a:lnTo>
                <a:lnTo>
                  <a:pt x="1760219" y="0"/>
                </a:lnTo>
                <a:lnTo>
                  <a:pt x="1810512" y="0"/>
                </a:lnTo>
                <a:lnTo>
                  <a:pt x="1860804" y="0"/>
                </a:lnTo>
                <a:lnTo>
                  <a:pt x="1911095" y="0"/>
                </a:lnTo>
                <a:lnTo>
                  <a:pt x="1961387" y="0"/>
                </a:lnTo>
                <a:lnTo>
                  <a:pt x="2011679" y="0"/>
                </a:lnTo>
                <a:lnTo>
                  <a:pt x="2061971" y="0"/>
                </a:lnTo>
                <a:lnTo>
                  <a:pt x="2112264" y="0"/>
                </a:lnTo>
                <a:lnTo>
                  <a:pt x="2162556" y="0"/>
                </a:lnTo>
                <a:lnTo>
                  <a:pt x="2212848" y="0"/>
                </a:lnTo>
              </a:path>
            </a:pathLst>
          </a:custGeom>
          <a:noFill/>
          <a:ln w="57150">
            <a:solidFill>
              <a:srgbClr val="106F7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288536"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6501383"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Rounded Rectangle 70"/>
          <p:cNvSpPr/>
          <p:nvPr/>
        </p:nvSpPr>
        <p:spPr>
          <a:xfrm>
            <a:off x="8796528" y="3529584"/>
            <a:ext cx="2755087" cy="969264"/>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Rounded Rectangle 71"/>
          <p:cNvSpPr/>
          <p:nvPr/>
        </p:nvSpPr>
        <p:spPr>
          <a:xfrm>
            <a:off x="8796528" y="3529584"/>
            <a:ext cx="45720" cy="969264"/>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9052559" y="3639312"/>
            <a:ext cx="2297887" cy="310896"/>
          </a:xfrm>
          <a:prstGeom prst="rect">
            <a:avLst/>
          </a:prstGeom>
          <a:noFill/>
        </p:spPr>
        <p:txBody>
          <a:bodyPr wrap="square" lIns="0" tIns="0" rIns="0" bIns="0" anchor="t">
            <a:spAutoFit/>
          </a:bodyPr>
          <a:lstStyle/>
          <a:p>
            <a:pPr algn="l">
              <a:lnSpc>
                <a:spcPct val="120000"/>
              </a:lnSpc>
              <a:spcAft>
                <a:spcPts val="0"/>
              </a:spcAft>
            </a:pPr>
            <a:r>
              <a:rPr sz="1200" b="1">
                <a:solidFill>
                  <a:srgbClr val="1F6FB2"/>
                </a:solidFill>
                <a:latin typeface="Calibri"/>
              </a:rPr>
              <a:t>Verschuiving van de EHH</a:t>
            </a:r>
          </a:p>
        </p:txBody>
      </p:sp>
      <p:sp>
        <p:nvSpPr>
          <p:cNvPr id="74" name="TextBox 73"/>
          <p:cNvSpPr txBox="1"/>
          <p:nvPr/>
        </p:nvSpPr>
        <p:spPr>
          <a:xfrm>
            <a:off x="9052559" y="3986784"/>
            <a:ext cx="2297887" cy="457200"/>
          </a:xfrm>
          <a:prstGeom prst="rect">
            <a:avLst/>
          </a:prstGeom>
          <a:noFill/>
        </p:spPr>
        <p:txBody>
          <a:bodyPr wrap="square" lIns="0" tIns="0" rIns="0" bIns="0" anchor="t">
            <a:spAutoFit/>
          </a:bodyPr>
          <a:lstStyle/>
          <a:p>
            <a:pPr algn="l">
              <a:lnSpc>
                <a:spcPct val="122000"/>
              </a:lnSpc>
              <a:spcAft>
                <a:spcPts val="0"/>
              </a:spcAft>
            </a:pPr>
            <a:r>
              <a:rPr sz="950" b="0">
                <a:solidFill>
                  <a:srgbClr val="55677C"/>
                </a:solidFill>
                <a:latin typeface="Calibri"/>
              </a:rPr>
              <a:t>De eerste hart hulp komt los van de CCU/SCU en verhuist naar de acute poort.</a:t>
            </a:r>
          </a:p>
        </p:txBody>
      </p:sp>
      <p:sp>
        <p:nvSpPr>
          <p:cNvPr id="75" name="Oval 74"/>
          <p:cNvSpPr/>
          <p:nvPr/>
        </p:nvSpPr>
        <p:spPr>
          <a:xfrm>
            <a:off x="4535424" y="1984248"/>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1956816"/>
            <a:ext cx="2011680" cy="237744"/>
          </a:xfrm>
          <a:prstGeom prst="rect">
            <a:avLst/>
          </a:prstGeom>
          <a:noFill/>
        </p:spPr>
        <p:txBody>
          <a:bodyPr wrap="square" lIns="0" tIns="0" rIns="0" bIns="0" anchor="t">
            <a:spAutoFit/>
          </a:bodyPr>
          <a:lstStyle/>
          <a:p>
            <a:pPr algn="l">
              <a:lnSpc>
                <a:spcPct val="120000"/>
              </a:lnSpc>
              <a:spcAft>
                <a:spcPts val="0"/>
              </a:spcAft>
            </a:pPr>
            <a:r>
              <a:rPr sz="950" b="1" spc="60">
                <a:solidFill>
                  <a:srgbClr val="1F6FB2"/>
                </a:solidFill>
                <a:latin typeface="Calibri"/>
              </a:rPr>
              <a:t>naar de acute poort</a:t>
            </a:r>
          </a:p>
        </p:txBody>
      </p:sp>
      <p:sp>
        <p:nvSpPr>
          <p:cNvPr id="77" name="Oval 76"/>
          <p:cNvSpPr/>
          <p:nvPr/>
        </p:nvSpPr>
        <p:spPr>
          <a:xfrm>
            <a:off x="4535424" y="2258568"/>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736592" y="2231136"/>
            <a:ext cx="2011680" cy="237744"/>
          </a:xfrm>
          <a:prstGeom prst="rect">
            <a:avLst/>
          </a:prstGeom>
          <a:noFill/>
        </p:spPr>
        <p:txBody>
          <a:bodyPr wrap="square" lIns="0" tIns="0" rIns="0" bIns="0" anchor="t">
            <a:spAutoFit/>
          </a:bodyPr>
          <a:lstStyle/>
          <a:p>
            <a:pPr algn="l">
              <a:lnSpc>
                <a:spcPct val="120000"/>
              </a:lnSpc>
              <a:spcAft>
                <a:spcPts val="0"/>
              </a:spcAft>
            </a:pPr>
            <a:r>
              <a:rPr sz="950" b="1" spc="60">
                <a:solidFill>
                  <a:srgbClr val="0E9A87"/>
                </a:solidFill>
                <a:latin typeface="Calibri"/>
              </a:rPr>
              <a:t>naar de Hotfloor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nieuwbouw fysiek</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Twee clusters — met per onderdeel het aantal plekken, voor zover bekend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12</a:t>
            </a:r>
          </a:p>
        </p:txBody>
      </p:sp>
      <p:sp>
        <p:nvSpPr>
          <p:cNvPr id="10" name="Rounded Rectangle 9"/>
          <p:cNvSpPr/>
          <p:nvPr/>
        </p:nvSpPr>
        <p:spPr>
          <a:xfrm>
            <a:off x="640080" y="1700784"/>
            <a:ext cx="5272887" cy="3200400"/>
          </a:xfrm>
          <a:prstGeom prst="roundRect">
            <a:avLst>
              <a:gd name="adj" fmla="val 4000"/>
            </a:avLst>
          </a:prstGeom>
          <a:solidFill>
            <a:srgbClr val="DEEA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50976" y="1938528"/>
            <a:ext cx="3352647" cy="384048"/>
          </a:xfrm>
          <a:prstGeom prst="rect">
            <a:avLst/>
          </a:prstGeom>
          <a:noFill/>
        </p:spPr>
        <p:txBody>
          <a:bodyPr wrap="square" lIns="0" tIns="0" rIns="0" bIns="0" anchor="t">
            <a:spAutoFit/>
          </a:bodyPr>
          <a:lstStyle/>
          <a:p>
            <a:pPr algn="l">
              <a:lnSpc>
                <a:spcPct val="120000"/>
              </a:lnSpc>
              <a:spcAft>
                <a:spcPts val="0"/>
              </a:spcAft>
            </a:pPr>
            <a:r>
              <a:rPr sz="2200" b="1">
                <a:solidFill>
                  <a:srgbClr val="1F6FB2"/>
                </a:solidFill>
                <a:latin typeface="Calibri"/>
              </a:rPr>
              <a:t>Acute poort</a:t>
            </a:r>
          </a:p>
        </p:txBody>
      </p:sp>
      <p:sp>
        <p:nvSpPr>
          <p:cNvPr id="12" name="TextBox 11"/>
          <p:cNvSpPr txBox="1"/>
          <p:nvPr/>
        </p:nvSpPr>
        <p:spPr>
          <a:xfrm>
            <a:off x="950976" y="2359152"/>
            <a:ext cx="3352647" cy="237744"/>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23 kamers bekend, kind nog niet benoemd</a:t>
            </a:r>
          </a:p>
        </p:txBody>
      </p:sp>
      <p:sp>
        <p:nvSpPr>
          <p:cNvPr id="13" name="TextBox 12"/>
          <p:cNvSpPr txBox="1"/>
          <p:nvPr/>
        </p:nvSpPr>
        <p:spPr>
          <a:xfrm>
            <a:off x="4175607" y="1847088"/>
            <a:ext cx="1426464" cy="658368"/>
          </a:xfrm>
          <a:prstGeom prst="rect">
            <a:avLst/>
          </a:prstGeom>
          <a:noFill/>
        </p:spPr>
        <p:txBody>
          <a:bodyPr wrap="square" lIns="0" tIns="0" rIns="0" bIns="0" anchor="t">
            <a:spAutoFit/>
          </a:bodyPr>
          <a:lstStyle/>
          <a:p>
            <a:pPr algn="r">
              <a:lnSpc>
                <a:spcPct val="120000"/>
              </a:lnSpc>
              <a:spcAft>
                <a:spcPts val="0"/>
              </a:spcAft>
            </a:pPr>
            <a:r>
              <a:rPr sz="4000" b="1">
                <a:solidFill>
                  <a:srgbClr val="1F6FB2"/>
                </a:solidFill>
                <a:latin typeface="Calibri"/>
              </a:rPr>
              <a:t>23</a:t>
            </a:r>
          </a:p>
        </p:txBody>
      </p:sp>
      <p:sp>
        <p:nvSpPr>
          <p:cNvPr id="14" name="TextBox 13"/>
          <p:cNvSpPr txBox="1"/>
          <p:nvPr/>
        </p:nvSpPr>
        <p:spPr>
          <a:xfrm>
            <a:off x="4175607" y="2414016"/>
            <a:ext cx="1426464" cy="201168"/>
          </a:xfrm>
          <a:prstGeom prst="rect">
            <a:avLst/>
          </a:prstGeom>
          <a:noFill/>
        </p:spPr>
        <p:txBody>
          <a:bodyPr wrap="square" lIns="0" tIns="0" rIns="0" bIns="0" anchor="t">
            <a:spAutoFit/>
          </a:bodyPr>
          <a:lstStyle/>
          <a:p>
            <a:pPr algn="r">
              <a:lnSpc>
                <a:spcPct val="120000"/>
              </a:lnSpc>
              <a:spcAft>
                <a:spcPts val="0"/>
              </a:spcAft>
            </a:pPr>
            <a:r>
              <a:rPr sz="850" b="1" spc="140">
                <a:solidFill>
                  <a:srgbClr val="8B9AAA"/>
                </a:solidFill>
                <a:latin typeface="Calibri"/>
              </a:rPr>
              <a:t>KAMERS BEKEND</a:t>
            </a:r>
          </a:p>
        </p:txBody>
      </p:sp>
      <p:cxnSp>
        <p:nvCxnSpPr>
          <p:cNvPr id="15" name="Connector 14"/>
          <p:cNvCxnSpPr/>
          <p:nvPr/>
        </p:nvCxnSpPr>
        <p:spPr>
          <a:xfrm>
            <a:off x="950976" y="2724912"/>
            <a:ext cx="4651095"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50976" y="2907792"/>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170431" y="3061469"/>
            <a:ext cx="2325547" cy="241285"/>
          </a:xfrm>
          <a:prstGeom prst="rect">
            <a:avLst/>
          </a:prstGeom>
          <a:noFill/>
        </p:spPr>
        <p:txBody>
          <a:bodyPr wrap="square" lIns="0" tIns="0" rIns="0" bIns="0" anchor="ctr">
            <a:spAutoFit/>
          </a:bodyPr>
          <a:lstStyle/>
          <a:p>
            <a:pPr algn="l">
              <a:lnSpc>
                <a:spcPct val="120000"/>
              </a:lnSpc>
              <a:spcAft>
                <a:spcPts val="0"/>
              </a:spcAft>
            </a:pPr>
            <a:r>
              <a:rPr sz="1600" b="1" dirty="0">
                <a:solidFill>
                  <a:srgbClr val="0D1B2A"/>
                </a:solidFill>
                <a:latin typeface="Calibri"/>
              </a:rPr>
              <a:t>SEH</a:t>
            </a:r>
            <a:r>
              <a:rPr lang="nl-NL" sz="1600" b="1" dirty="0">
                <a:solidFill>
                  <a:srgbClr val="0D1B2A"/>
                </a:solidFill>
                <a:latin typeface="Calibri"/>
              </a:rPr>
              <a:t> + Acute Kind</a:t>
            </a:r>
            <a:endParaRPr sz="1400" b="1" dirty="0">
              <a:solidFill>
                <a:srgbClr val="0D1B2A"/>
              </a:solidFill>
              <a:latin typeface="Calibri"/>
            </a:endParaRPr>
          </a:p>
        </p:txBody>
      </p:sp>
      <p:sp>
        <p:nvSpPr>
          <p:cNvPr id="18" name="TextBox 17"/>
          <p:cNvSpPr txBox="1"/>
          <p:nvPr/>
        </p:nvSpPr>
        <p:spPr>
          <a:xfrm>
            <a:off x="3590391" y="2944368"/>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0E9A87"/>
                </a:solidFill>
                <a:latin typeface="Calibri"/>
              </a:rPr>
              <a:t>18 kamers</a:t>
            </a:r>
          </a:p>
        </p:txBody>
      </p:sp>
      <p:sp>
        <p:nvSpPr>
          <p:cNvPr id="19" name="Rounded Rectangle 18"/>
          <p:cNvSpPr/>
          <p:nvPr/>
        </p:nvSpPr>
        <p:spPr>
          <a:xfrm>
            <a:off x="950976" y="3584448"/>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170431" y="3621024"/>
            <a:ext cx="2325547" cy="475488"/>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EHH</a:t>
            </a:r>
          </a:p>
        </p:txBody>
      </p:sp>
      <p:sp>
        <p:nvSpPr>
          <p:cNvPr id="21" name="TextBox 20"/>
          <p:cNvSpPr txBox="1"/>
          <p:nvPr/>
        </p:nvSpPr>
        <p:spPr>
          <a:xfrm>
            <a:off x="3590391" y="3621024"/>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0E9A87"/>
                </a:solidFill>
                <a:latin typeface="Calibri"/>
              </a:rPr>
              <a:t>5 kamers</a:t>
            </a:r>
          </a:p>
        </p:txBody>
      </p:sp>
      <p:sp>
        <p:nvSpPr>
          <p:cNvPr id="25" name="Rounded Rectangle 24"/>
          <p:cNvSpPr/>
          <p:nvPr/>
        </p:nvSpPr>
        <p:spPr>
          <a:xfrm>
            <a:off x="6278727" y="1700784"/>
            <a:ext cx="5272887" cy="3200400"/>
          </a:xfrm>
          <a:prstGeom prst="roundRect">
            <a:avLst>
              <a:gd name="adj" fmla="val 4000"/>
            </a:avLst>
          </a:prstGeom>
          <a:solidFill>
            <a:srgbClr val="DDEEF1"/>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589623" y="1938528"/>
            <a:ext cx="3352647" cy="384048"/>
          </a:xfrm>
          <a:prstGeom prst="rect">
            <a:avLst/>
          </a:prstGeom>
          <a:noFill/>
        </p:spPr>
        <p:txBody>
          <a:bodyPr wrap="square" lIns="0" tIns="0" rIns="0" bIns="0" anchor="t">
            <a:spAutoFit/>
          </a:bodyPr>
          <a:lstStyle/>
          <a:p>
            <a:pPr algn="l">
              <a:lnSpc>
                <a:spcPct val="120000"/>
              </a:lnSpc>
              <a:spcAft>
                <a:spcPts val="0"/>
              </a:spcAft>
            </a:pPr>
            <a:r>
              <a:rPr sz="2200" b="1">
                <a:solidFill>
                  <a:srgbClr val="0E9A87"/>
                </a:solidFill>
                <a:latin typeface="Calibri"/>
              </a:rPr>
              <a:t>Hotfloor</a:t>
            </a:r>
          </a:p>
        </p:txBody>
      </p:sp>
      <p:sp>
        <p:nvSpPr>
          <p:cNvPr id="27" name="TextBox 26"/>
          <p:cNvSpPr txBox="1"/>
          <p:nvPr/>
        </p:nvSpPr>
        <p:spPr>
          <a:xfrm>
            <a:off x="6589623" y="2359152"/>
            <a:ext cx="3352647" cy="237744"/>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16 bedden vastgesteld</a:t>
            </a:r>
          </a:p>
        </p:txBody>
      </p:sp>
      <p:sp>
        <p:nvSpPr>
          <p:cNvPr id="28" name="TextBox 27"/>
          <p:cNvSpPr txBox="1"/>
          <p:nvPr/>
        </p:nvSpPr>
        <p:spPr>
          <a:xfrm>
            <a:off x="9814255" y="1847088"/>
            <a:ext cx="1426464" cy="658368"/>
          </a:xfrm>
          <a:prstGeom prst="rect">
            <a:avLst/>
          </a:prstGeom>
          <a:noFill/>
        </p:spPr>
        <p:txBody>
          <a:bodyPr wrap="square" lIns="0" tIns="0" rIns="0" bIns="0" anchor="t">
            <a:spAutoFit/>
          </a:bodyPr>
          <a:lstStyle/>
          <a:p>
            <a:pPr algn="r">
              <a:lnSpc>
                <a:spcPct val="120000"/>
              </a:lnSpc>
              <a:spcAft>
                <a:spcPts val="0"/>
              </a:spcAft>
            </a:pPr>
            <a:r>
              <a:rPr sz="4000" b="1">
                <a:solidFill>
                  <a:srgbClr val="0E9A87"/>
                </a:solidFill>
                <a:latin typeface="Calibri"/>
              </a:rPr>
              <a:t>16</a:t>
            </a:r>
          </a:p>
        </p:txBody>
      </p:sp>
      <p:sp>
        <p:nvSpPr>
          <p:cNvPr id="29" name="TextBox 28"/>
          <p:cNvSpPr txBox="1"/>
          <p:nvPr/>
        </p:nvSpPr>
        <p:spPr>
          <a:xfrm>
            <a:off x="9814255" y="2414016"/>
            <a:ext cx="1426464" cy="201168"/>
          </a:xfrm>
          <a:prstGeom prst="rect">
            <a:avLst/>
          </a:prstGeom>
          <a:noFill/>
        </p:spPr>
        <p:txBody>
          <a:bodyPr wrap="square" lIns="0" tIns="0" rIns="0" bIns="0" anchor="t">
            <a:spAutoFit/>
          </a:bodyPr>
          <a:lstStyle/>
          <a:p>
            <a:pPr algn="r">
              <a:lnSpc>
                <a:spcPct val="120000"/>
              </a:lnSpc>
              <a:spcAft>
                <a:spcPts val="0"/>
              </a:spcAft>
            </a:pPr>
            <a:r>
              <a:rPr sz="850" b="1" spc="140">
                <a:solidFill>
                  <a:srgbClr val="8B9AAA"/>
                </a:solidFill>
                <a:latin typeface="Calibri"/>
              </a:rPr>
              <a:t>BEDDEN</a:t>
            </a:r>
          </a:p>
        </p:txBody>
      </p:sp>
      <p:cxnSp>
        <p:nvCxnSpPr>
          <p:cNvPr id="30" name="Connector 29"/>
          <p:cNvCxnSpPr/>
          <p:nvPr/>
        </p:nvCxnSpPr>
        <p:spPr>
          <a:xfrm>
            <a:off x="6589623" y="2724912"/>
            <a:ext cx="4651096"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589623" y="2907792"/>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809079" y="2944368"/>
            <a:ext cx="2325547" cy="475488"/>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ICU</a:t>
            </a:r>
          </a:p>
        </p:txBody>
      </p:sp>
      <p:sp>
        <p:nvSpPr>
          <p:cNvPr id="33" name="TextBox 32"/>
          <p:cNvSpPr txBox="1"/>
          <p:nvPr/>
        </p:nvSpPr>
        <p:spPr>
          <a:xfrm>
            <a:off x="9229039" y="2944368"/>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C87E12"/>
                </a:solidFill>
                <a:latin typeface="Calibri"/>
              </a:rPr>
              <a:t>? plekken</a:t>
            </a:r>
          </a:p>
        </p:txBody>
      </p:sp>
      <p:sp>
        <p:nvSpPr>
          <p:cNvPr id="34" name="Rounded Rectangle 33"/>
          <p:cNvSpPr/>
          <p:nvPr/>
        </p:nvSpPr>
        <p:spPr>
          <a:xfrm>
            <a:off x="6589623" y="3584448"/>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809079" y="3621024"/>
            <a:ext cx="2325547" cy="475488"/>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CCU / SCU</a:t>
            </a:r>
          </a:p>
        </p:txBody>
      </p:sp>
      <p:sp>
        <p:nvSpPr>
          <p:cNvPr id="36" name="TextBox 35"/>
          <p:cNvSpPr txBox="1"/>
          <p:nvPr/>
        </p:nvSpPr>
        <p:spPr>
          <a:xfrm>
            <a:off x="9229039" y="3621024"/>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C87E12"/>
                </a:solidFill>
                <a:latin typeface="Calibri"/>
              </a:rPr>
              <a:t>? plekken</a:t>
            </a:r>
          </a:p>
        </p:txBody>
      </p:sp>
      <p:sp>
        <p:nvSpPr>
          <p:cNvPr id="37" name="Rounded Rectangle 3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ounded Rectangle 3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969264" y="5421485"/>
            <a:ext cx="9997135" cy="660181"/>
          </a:xfrm>
          <a:prstGeom prst="rect">
            <a:avLst/>
          </a:prstGeom>
          <a:noFill/>
        </p:spPr>
        <p:txBody>
          <a:bodyPr wrap="square" lIns="0" tIns="0" rIns="0" bIns="0" anchor="ctr">
            <a:spAutoFit/>
          </a:bodyPr>
          <a:lstStyle/>
          <a:p>
            <a:pPr algn="l">
              <a:lnSpc>
                <a:spcPct val="120000"/>
              </a:lnSpc>
              <a:spcAft>
                <a:spcPts val="300"/>
              </a:spcAft>
            </a:pPr>
            <a:r>
              <a:rPr sz="950" b="1" spc="180" dirty="0">
                <a:solidFill>
                  <a:srgbClr val="C87E12"/>
                </a:solidFill>
                <a:latin typeface="Calibri"/>
              </a:rPr>
              <a:t>WAT ER NOG BEPAALD MOET WORDEN</a:t>
            </a:r>
          </a:p>
          <a:p>
            <a:pPr algn="l">
              <a:lnSpc>
                <a:spcPct val="120000"/>
              </a:lnSpc>
              <a:spcAft>
                <a:spcPts val="0"/>
              </a:spcAft>
            </a:pPr>
            <a:r>
              <a:rPr sz="1250" b="1" dirty="0">
                <a:solidFill>
                  <a:srgbClr val="0D1B2A"/>
                </a:solidFill>
                <a:latin typeface="Calibri"/>
              </a:rPr>
              <a:t>Voor de acute </a:t>
            </a:r>
            <a:r>
              <a:rPr sz="1250" b="1" dirty="0" err="1">
                <a:solidFill>
                  <a:srgbClr val="0D1B2A"/>
                </a:solidFill>
                <a:latin typeface="Calibri"/>
              </a:rPr>
              <a:t>poort</a:t>
            </a:r>
            <a:r>
              <a:rPr sz="1250" b="1" dirty="0">
                <a:solidFill>
                  <a:srgbClr val="0D1B2A"/>
                </a:solidFill>
                <a:latin typeface="Calibri"/>
              </a:rPr>
              <a:t> </a:t>
            </a:r>
            <a:r>
              <a:rPr sz="1250" b="1" dirty="0" err="1">
                <a:solidFill>
                  <a:srgbClr val="0D1B2A"/>
                </a:solidFill>
                <a:latin typeface="Calibri"/>
              </a:rPr>
              <a:t>staan</a:t>
            </a:r>
            <a:r>
              <a:rPr sz="1250" b="1" dirty="0">
                <a:solidFill>
                  <a:srgbClr val="0D1B2A"/>
                </a:solidFill>
                <a:latin typeface="Calibri"/>
              </a:rPr>
              <a:t> de SEH op </a:t>
            </a:r>
            <a:r>
              <a:rPr sz="1250" b="1" dirty="0" err="1">
                <a:solidFill>
                  <a:srgbClr val="0D1B2A"/>
                </a:solidFill>
                <a:latin typeface="Calibri"/>
              </a:rPr>
              <a:t>achttien</a:t>
            </a:r>
            <a:r>
              <a:rPr sz="1250" b="1" dirty="0">
                <a:solidFill>
                  <a:srgbClr val="0D1B2A"/>
                </a:solidFill>
                <a:latin typeface="Calibri"/>
              </a:rPr>
              <a:t> </a:t>
            </a:r>
            <a:r>
              <a:rPr sz="1250" b="1" dirty="0" err="1">
                <a:solidFill>
                  <a:srgbClr val="0D1B2A"/>
                </a:solidFill>
                <a:latin typeface="Calibri"/>
              </a:rPr>
              <a:t>en</a:t>
            </a:r>
            <a:r>
              <a:rPr sz="1250" b="1" dirty="0">
                <a:solidFill>
                  <a:srgbClr val="0D1B2A"/>
                </a:solidFill>
                <a:latin typeface="Calibri"/>
              </a:rPr>
              <a:t> de EHH op </a:t>
            </a:r>
            <a:r>
              <a:rPr sz="1250" b="1" dirty="0" err="1">
                <a:solidFill>
                  <a:srgbClr val="0D1B2A"/>
                </a:solidFill>
                <a:latin typeface="Calibri"/>
              </a:rPr>
              <a:t>vijf</a:t>
            </a:r>
            <a:r>
              <a:rPr sz="1250" b="1" dirty="0">
                <a:solidFill>
                  <a:srgbClr val="0D1B2A"/>
                </a:solidFill>
                <a:latin typeface="Calibri"/>
              </a:rPr>
              <a:t> </a:t>
            </a:r>
            <a:r>
              <a:rPr sz="1250" b="1" dirty="0" err="1">
                <a:solidFill>
                  <a:srgbClr val="0D1B2A"/>
                </a:solidFill>
                <a:latin typeface="Calibri"/>
              </a:rPr>
              <a:t>kamer</a:t>
            </a:r>
            <a:r>
              <a:rPr lang="nl-NL" sz="1250" b="1" dirty="0">
                <a:solidFill>
                  <a:srgbClr val="0D1B2A"/>
                </a:solidFill>
                <a:latin typeface="Calibri"/>
              </a:rPr>
              <a:t>s</a:t>
            </a:r>
            <a:r>
              <a:rPr sz="1250" b="1" dirty="0">
                <a:solidFill>
                  <a:srgbClr val="0D1B2A"/>
                </a:solidFill>
                <a:latin typeface="Calibri"/>
              </a:rPr>
              <a:t>. Voor de </a:t>
            </a:r>
            <a:r>
              <a:rPr sz="1250" b="1" dirty="0" err="1">
                <a:solidFill>
                  <a:srgbClr val="0D1B2A"/>
                </a:solidFill>
                <a:latin typeface="Calibri"/>
              </a:rPr>
              <a:t>Hotfloor</a:t>
            </a:r>
            <a:r>
              <a:rPr sz="1250" b="1" dirty="0">
                <a:solidFill>
                  <a:srgbClr val="0D1B2A"/>
                </a:solidFill>
                <a:latin typeface="Calibri"/>
              </a:rPr>
              <a:t> </a:t>
            </a:r>
            <a:r>
              <a:rPr sz="1250" b="1" dirty="0" err="1">
                <a:solidFill>
                  <a:srgbClr val="0D1B2A"/>
                </a:solidFill>
                <a:latin typeface="Calibri"/>
              </a:rPr>
              <a:t>staat</a:t>
            </a:r>
            <a:r>
              <a:rPr sz="1250" b="1" dirty="0">
                <a:solidFill>
                  <a:srgbClr val="0D1B2A"/>
                </a:solidFill>
                <a:latin typeface="Calibri"/>
              </a:rPr>
              <a:t> het </a:t>
            </a:r>
            <a:r>
              <a:rPr sz="1250" b="1" dirty="0" err="1">
                <a:solidFill>
                  <a:srgbClr val="0D1B2A"/>
                </a:solidFill>
                <a:latin typeface="Calibri"/>
              </a:rPr>
              <a:t>totaal</a:t>
            </a:r>
            <a:r>
              <a:rPr sz="1250" b="1" dirty="0">
                <a:solidFill>
                  <a:srgbClr val="0D1B2A"/>
                </a:solidFill>
                <a:latin typeface="Calibri"/>
              </a:rPr>
              <a:t> op </a:t>
            </a:r>
            <a:r>
              <a:rPr sz="1250" b="1" dirty="0" err="1">
                <a:solidFill>
                  <a:srgbClr val="0D1B2A"/>
                </a:solidFill>
                <a:latin typeface="Calibri"/>
              </a:rPr>
              <a:t>zestien</a:t>
            </a:r>
            <a:r>
              <a:rPr sz="1250" b="1" dirty="0">
                <a:solidFill>
                  <a:srgbClr val="0D1B2A"/>
                </a:solidFill>
                <a:latin typeface="Calibri"/>
              </a:rPr>
              <a:t> </a:t>
            </a:r>
            <a:r>
              <a:rPr sz="1250" b="1" dirty="0" err="1">
                <a:solidFill>
                  <a:srgbClr val="0D1B2A"/>
                </a:solidFill>
                <a:latin typeface="Calibri"/>
              </a:rPr>
              <a:t>bedden</a:t>
            </a:r>
            <a:r>
              <a:rPr sz="1250" b="1" dirty="0">
                <a:solidFill>
                  <a:srgbClr val="0D1B2A"/>
                </a:solidFill>
                <a:latin typeface="Calibri"/>
              </a:rPr>
              <a:t>, maar de </a:t>
            </a:r>
            <a:r>
              <a:rPr sz="1250" b="1" dirty="0" err="1">
                <a:solidFill>
                  <a:srgbClr val="0D1B2A"/>
                </a:solidFill>
                <a:latin typeface="Calibri"/>
              </a:rPr>
              <a:t>verdeling</a:t>
            </a:r>
            <a:r>
              <a:rPr sz="1250" b="1" dirty="0">
                <a:solidFill>
                  <a:srgbClr val="0D1B2A"/>
                </a:solidFill>
                <a:latin typeface="Calibri"/>
              </a:rPr>
              <a:t> over ICU </a:t>
            </a:r>
            <a:r>
              <a:rPr sz="1250" b="1" dirty="0" err="1">
                <a:solidFill>
                  <a:srgbClr val="0D1B2A"/>
                </a:solidFill>
                <a:latin typeface="Calibri"/>
              </a:rPr>
              <a:t>en</a:t>
            </a:r>
            <a:r>
              <a:rPr sz="1250" b="1" dirty="0">
                <a:solidFill>
                  <a:srgbClr val="0D1B2A"/>
                </a:solidFill>
                <a:latin typeface="Calibri"/>
              </a:rPr>
              <a:t> CCU/SCU </a:t>
            </a:r>
            <a:r>
              <a:rPr sz="1250" b="1" dirty="0" err="1">
                <a:solidFill>
                  <a:srgbClr val="0D1B2A"/>
                </a:solidFill>
                <a:latin typeface="Calibri"/>
              </a:rPr>
              <a:t>niet</a:t>
            </a:r>
            <a:r>
              <a:rPr sz="1250" b="1" dirty="0">
                <a:solidFill>
                  <a:srgbClr val="0D1B2A"/>
                </a:solidFill>
                <a:latin typeface="Calibri"/>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acute poort in kamers</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Achttien SEH-kamers en vijf EHH-kamers — maar niet alle achttien zijn opnamekamers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13</a:t>
            </a:r>
          </a:p>
        </p:txBody>
      </p:sp>
      <p:sp>
        <p:nvSpPr>
          <p:cNvPr id="10" name="Rounded Rectangle 9"/>
          <p:cNvSpPr/>
          <p:nvPr/>
        </p:nvSpPr>
        <p:spPr>
          <a:xfrm>
            <a:off x="640080" y="1700784"/>
            <a:ext cx="6720840"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50976" y="1920240"/>
            <a:ext cx="2743200" cy="379206"/>
          </a:xfrm>
          <a:prstGeom prst="rect">
            <a:avLst/>
          </a:prstGeom>
          <a:noFill/>
        </p:spPr>
        <p:txBody>
          <a:bodyPr wrap="square" lIns="0" tIns="0" rIns="0" bIns="0" anchor="t">
            <a:spAutoFit/>
          </a:bodyPr>
          <a:lstStyle/>
          <a:p>
            <a:pPr algn="l">
              <a:lnSpc>
                <a:spcPct val="120000"/>
              </a:lnSpc>
              <a:spcAft>
                <a:spcPts val="0"/>
              </a:spcAft>
            </a:pPr>
            <a:r>
              <a:rPr sz="1600" b="1" dirty="0">
                <a:solidFill>
                  <a:srgbClr val="1F6FB2"/>
                </a:solidFill>
                <a:latin typeface="Calibri"/>
              </a:rPr>
              <a:t>SEH</a:t>
            </a:r>
            <a:r>
              <a:rPr lang="nl-NL" sz="1600" b="1" dirty="0">
                <a:solidFill>
                  <a:srgbClr val="1F6FB2"/>
                </a:solidFill>
                <a:latin typeface="Calibri"/>
              </a:rPr>
              <a:t> + Acute Kind </a:t>
            </a:r>
            <a:endParaRPr sz="2200" b="1" dirty="0">
              <a:solidFill>
                <a:srgbClr val="1F6FB2"/>
              </a:solidFill>
              <a:latin typeface="Calibri"/>
            </a:endParaRPr>
          </a:p>
        </p:txBody>
      </p:sp>
      <p:sp>
        <p:nvSpPr>
          <p:cNvPr id="12" name="TextBox 11"/>
          <p:cNvSpPr txBox="1"/>
          <p:nvPr/>
        </p:nvSpPr>
        <p:spPr>
          <a:xfrm>
            <a:off x="950976" y="2322576"/>
            <a:ext cx="2743200" cy="237744"/>
          </a:xfrm>
          <a:prstGeom prst="rect">
            <a:avLst/>
          </a:prstGeom>
          <a:noFill/>
        </p:spPr>
        <p:txBody>
          <a:bodyPr wrap="square" lIns="0" tIns="0" rIns="0" bIns="0" anchor="t">
            <a:spAutoFit/>
          </a:bodyPr>
          <a:lstStyle/>
          <a:p>
            <a:pPr algn="l">
              <a:lnSpc>
                <a:spcPct val="120000"/>
              </a:lnSpc>
              <a:spcAft>
                <a:spcPts val="0"/>
              </a:spcAft>
            </a:pPr>
            <a:r>
              <a:rPr sz="1000" b="1" spc="160">
                <a:solidFill>
                  <a:srgbClr val="55677C"/>
                </a:solidFill>
                <a:latin typeface="Calibri"/>
              </a:rPr>
              <a:t>18 KAMERS</a:t>
            </a:r>
          </a:p>
        </p:txBody>
      </p:sp>
      <p:sp>
        <p:nvSpPr>
          <p:cNvPr id="13" name="Rounded Rectangle 12"/>
          <p:cNvSpPr/>
          <p:nvPr/>
        </p:nvSpPr>
        <p:spPr>
          <a:xfrm>
            <a:off x="96926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1536192"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2103120"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2670048"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3236976"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380390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96926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1536192"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2103120"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2670048"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3236976"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ed Rectangle 23"/>
          <p:cNvSpPr/>
          <p:nvPr/>
        </p:nvSpPr>
        <p:spPr>
          <a:xfrm>
            <a:off x="380390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ounded Rectangle 24"/>
          <p:cNvSpPr/>
          <p:nvPr/>
        </p:nvSpPr>
        <p:spPr>
          <a:xfrm>
            <a:off x="969264"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1536192"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ounded Rectangle 26"/>
          <p:cNvSpPr/>
          <p:nvPr/>
        </p:nvSpPr>
        <p:spPr>
          <a:xfrm>
            <a:off x="2103120"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ounded Rectangle 27"/>
          <p:cNvSpPr/>
          <p:nvPr/>
        </p:nvSpPr>
        <p:spPr>
          <a:xfrm>
            <a:off x="2670048" y="380390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ounded Rectangle 28"/>
          <p:cNvSpPr/>
          <p:nvPr/>
        </p:nvSpPr>
        <p:spPr>
          <a:xfrm>
            <a:off x="3236976"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ounded Rectangle 29"/>
          <p:cNvSpPr/>
          <p:nvPr/>
        </p:nvSpPr>
        <p:spPr>
          <a:xfrm>
            <a:off x="3803904"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4590288" y="2706624"/>
            <a:ext cx="201168" cy="201168"/>
          </a:xfrm>
          <a:prstGeom prst="roundRect">
            <a:avLst>
              <a:gd name="adj" fmla="val 3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919472" y="2633472"/>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1F6FB2"/>
                </a:solidFill>
                <a:latin typeface="Calibri"/>
              </a:rPr>
              <a:t>12</a:t>
            </a:r>
          </a:p>
        </p:txBody>
      </p:sp>
      <p:sp>
        <p:nvSpPr>
          <p:cNvPr id="33" name="TextBox 32"/>
          <p:cNvSpPr txBox="1"/>
          <p:nvPr/>
        </p:nvSpPr>
        <p:spPr>
          <a:xfrm>
            <a:off x="5248655" y="2633472"/>
            <a:ext cx="1956816" cy="256032"/>
          </a:xfrm>
          <a:prstGeom prst="rect">
            <a:avLst/>
          </a:prstGeom>
          <a:noFill/>
        </p:spPr>
        <p:txBody>
          <a:bodyPr wrap="square" lIns="0" tIns="0" rIns="0" bIns="0" anchor="t">
            <a:spAutoFit/>
          </a:bodyPr>
          <a:lstStyle/>
          <a:p>
            <a:pPr algn="l">
              <a:lnSpc>
                <a:spcPct val="120000"/>
              </a:lnSpc>
              <a:spcAft>
                <a:spcPts val="0"/>
              </a:spcAft>
            </a:pPr>
            <a:r>
              <a:rPr sz="900" b="1">
                <a:solidFill>
                  <a:srgbClr val="0D1B2A"/>
                </a:solidFill>
                <a:latin typeface="Calibri"/>
              </a:rPr>
              <a:t>reguliere behandelkamers</a:t>
            </a:r>
          </a:p>
        </p:txBody>
      </p:sp>
      <p:sp>
        <p:nvSpPr>
          <p:cNvPr id="34" name="TextBox 33"/>
          <p:cNvSpPr txBox="1"/>
          <p:nvPr/>
        </p:nvSpPr>
        <p:spPr>
          <a:xfrm>
            <a:off x="4919472" y="2889504"/>
            <a:ext cx="224942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patiënten worden hier opgenomen</a:t>
            </a:r>
          </a:p>
        </p:txBody>
      </p:sp>
      <p:sp>
        <p:nvSpPr>
          <p:cNvPr id="35" name="Rounded Rectangle 34"/>
          <p:cNvSpPr/>
          <p:nvPr/>
        </p:nvSpPr>
        <p:spPr>
          <a:xfrm>
            <a:off x="4590288" y="3291840"/>
            <a:ext cx="201168" cy="201168"/>
          </a:xfrm>
          <a:prstGeom prst="roundRect">
            <a:avLst>
              <a:gd name="adj" fmla="val 3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919472" y="3218688"/>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0E9A87"/>
                </a:solidFill>
                <a:latin typeface="Calibri"/>
              </a:rPr>
              <a:t>3</a:t>
            </a:r>
          </a:p>
        </p:txBody>
      </p:sp>
      <p:sp>
        <p:nvSpPr>
          <p:cNvPr id="37" name="TextBox 36"/>
          <p:cNvSpPr txBox="1"/>
          <p:nvPr/>
        </p:nvSpPr>
        <p:spPr>
          <a:xfrm>
            <a:off x="5248655" y="3218688"/>
            <a:ext cx="1956816" cy="256032"/>
          </a:xfrm>
          <a:prstGeom prst="rect">
            <a:avLst/>
          </a:prstGeom>
          <a:noFill/>
        </p:spPr>
        <p:txBody>
          <a:bodyPr wrap="square" lIns="0" tIns="0" rIns="0" bIns="0" anchor="t">
            <a:spAutoFit/>
          </a:bodyPr>
          <a:lstStyle/>
          <a:p>
            <a:pPr algn="l">
              <a:lnSpc>
                <a:spcPct val="120000"/>
              </a:lnSpc>
              <a:spcAft>
                <a:spcPts val="0"/>
              </a:spcAft>
            </a:pPr>
            <a:r>
              <a:rPr sz="1100" b="1">
                <a:solidFill>
                  <a:srgbClr val="0D1B2A"/>
                </a:solidFill>
                <a:latin typeface="Calibri"/>
              </a:rPr>
              <a:t>fasttrack</a:t>
            </a:r>
          </a:p>
        </p:txBody>
      </p:sp>
      <p:sp>
        <p:nvSpPr>
          <p:cNvPr id="38" name="TextBox 37"/>
          <p:cNvSpPr txBox="1"/>
          <p:nvPr/>
        </p:nvSpPr>
        <p:spPr>
          <a:xfrm>
            <a:off x="4919472" y="3474720"/>
            <a:ext cx="224942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bepaalde patiënten met fracturen</a:t>
            </a:r>
          </a:p>
        </p:txBody>
      </p:sp>
      <p:sp>
        <p:nvSpPr>
          <p:cNvPr id="39" name="Rounded Rectangle 38"/>
          <p:cNvSpPr/>
          <p:nvPr/>
        </p:nvSpPr>
        <p:spPr>
          <a:xfrm>
            <a:off x="4590288" y="3877056"/>
            <a:ext cx="201168" cy="201168"/>
          </a:xfrm>
          <a:prstGeom prst="roundRect">
            <a:avLst>
              <a:gd name="adj" fmla="val 3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4919472" y="3803904"/>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6B4BA8"/>
                </a:solidFill>
                <a:latin typeface="Calibri"/>
              </a:rPr>
              <a:t>1</a:t>
            </a:r>
          </a:p>
        </p:txBody>
      </p:sp>
      <p:sp>
        <p:nvSpPr>
          <p:cNvPr id="41" name="TextBox 40"/>
          <p:cNvSpPr txBox="1"/>
          <p:nvPr/>
        </p:nvSpPr>
        <p:spPr>
          <a:xfrm>
            <a:off x="5248655" y="3803904"/>
            <a:ext cx="1956816" cy="256032"/>
          </a:xfrm>
          <a:prstGeom prst="rect">
            <a:avLst/>
          </a:prstGeom>
          <a:noFill/>
        </p:spPr>
        <p:txBody>
          <a:bodyPr wrap="square" lIns="0" tIns="0" rIns="0" bIns="0" anchor="t">
            <a:spAutoFit/>
          </a:bodyPr>
          <a:lstStyle/>
          <a:p>
            <a:pPr algn="l">
              <a:lnSpc>
                <a:spcPct val="120000"/>
              </a:lnSpc>
              <a:spcAft>
                <a:spcPts val="0"/>
              </a:spcAft>
            </a:pPr>
            <a:r>
              <a:rPr sz="1100" b="1">
                <a:solidFill>
                  <a:srgbClr val="0D1B2A"/>
                </a:solidFill>
                <a:latin typeface="Calibri"/>
              </a:rPr>
              <a:t>triage</a:t>
            </a:r>
          </a:p>
        </p:txBody>
      </p:sp>
      <p:sp>
        <p:nvSpPr>
          <p:cNvPr id="42" name="TextBox 41"/>
          <p:cNvSpPr txBox="1"/>
          <p:nvPr/>
        </p:nvSpPr>
        <p:spPr>
          <a:xfrm>
            <a:off x="4919472" y="4059936"/>
            <a:ext cx="224942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patiënten worden gezien, niet opgenomen</a:t>
            </a:r>
          </a:p>
        </p:txBody>
      </p:sp>
      <p:sp>
        <p:nvSpPr>
          <p:cNvPr id="43" name="Rounded Rectangle 42"/>
          <p:cNvSpPr/>
          <p:nvPr/>
        </p:nvSpPr>
        <p:spPr>
          <a:xfrm>
            <a:off x="4590288" y="4462272"/>
            <a:ext cx="201168" cy="201168"/>
          </a:xfrm>
          <a:prstGeom prst="roundRect">
            <a:avLst>
              <a:gd name="adj" fmla="val 3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919472" y="4389120"/>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C87E12"/>
                </a:solidFill>
                <a:latin typeface="Calibri"/>
              </a:rPr>
              <a:t>2</a:t>
            </a:r>
          </a:p>
        </p:txBody>
      </p:sp>
      <p:sp>
        <p:nvSpPr>
          <p:cNvPr id="45" name="TextBox 44"/>
          <p:cNvSpPr txBox="1"/>
          <p:nvPr/>
        </p:nvSpPr>
        <p:spPr>
          <a:xfrm>
            <a:off x="5248655" y="4389120"/>
            <a:ext cx="1956816" cy="256032"/>
          </a:xfrm>
          <a:prstGeom prst="rect">
            <a:avLst/>
          </a:prstGeom>
          <a:noFill/>
        </p:spPr>
        <p:txBody>
          <a:bodyPr wrap="square" lIns="0" tIns="0" rIns="0" bIns="0" anchor="t">
            <a:spAutoFit/>
          </a:bodyPr>
          <a:lstStyle/>
          <a:p>
            <a:pPr algn="l">
              <a:lnSpc>
                <a:spcPct val="120000"/>
              </a:lnSpc>
              <a:spcAft>
                <a:spcPts val="0"/>
              </a:spcAft>
            </a:pPr>
            <a:r>
              <a:rPr sz="1100" b="1">
                <a:solidFill>
                  <a:srgbClr val="0D1B2A"/>
                </a:solidFill>
                <a:latin typeface="Calibri"/>
              </a:rPr>
              <a:t>acute opvang</a:t>
            </a:r>
          </a:p>
        </p:txBody>
      </p:sp>
      <p:sp>
        <p:nvSpPr>
          <p:cNvPr id="46" name="TextBox 45"/>
          <p:cNvSpPr txBox="1"/>
          <p:nvPr/>
        </p:nvSpPr>
        <p:spPr>
          <a:xfrm>
            <a:off x="4919472" y="4645152"/>
            <a:ext cx="2249424" cy="274320"/>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korte periode, geen verblijf</a:t>
            </a:r>
          </a:p>
        </p:txBody>
      </p:sp>
      <p:sp>
        <p:nvSpPr>
          <p:cNvPr id="47" name="Rounded Rectangle 46"/>
          <p:cNvSpPr/>
          <p:nvPr/>
        </p:nvSpPr>
        <p:spPr>
          <a:xfrm>
            <a:off x="7671815" y="1700784"/>
            <a:ext cx="3879799"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964423" y="1920240"/>
            <a:ext cx="2743200" cy="365760"/>
          </a:xfrm>
          <a:prstGeom prst="rect">
            <a:avLst/>
          </a:prstGeom>
          <a:noFill/>
        </p:spPr>
        <p:txBody>
          <a:bodyPr wrap="square" lIns="0" tIns="0" rIns="0" bIns="0" anchor="t">
            <a:spAutoFit/>
          </a:bodyPr>
          <a:lstStyle/>
          <a:p>
            <a:pPr algn="l">
              <a:lnSpc>
                <a:spcPct val="120000"/>
              </a:lnSpc>
              <a:spcAft>
                <a:spcPts val="0"/>
              </a:spcAft>
            </a:pPr>
            <a:r>
              <a:rPr sz="2200" b="1">
                <a:solidFill>
                  <a:srgbClr val="123A63"/>
                </a:solidFill>
                <a:latin typeface="Calibri"/>
              </a:rPr>
              <a:t>EHH</a:t>
            </a:r>
          </a:p>
        </p:txBody>
      </p:sp>
      <p:sp>
        <p:nvSpPr>
          <p:cNvPr id="49" name="TextBox 48"/>
          <p:cNvSpPr txBox="1"/>
          <p:nvPr/>
        </p:nvSpPr>
        <p:spPr>
          <a:xfrm>
            <a:off x="7964423" y="2322576"/>
            <a:ext cx="2743200" cy="237744"/>
          </a:xfrm>
          <a:prstGeom prst="rect">
            <a:avLst/>
          </a:prstGeom>
          <a:noFill/>
        </p:spPr>
        <p:txBody>
          <a:bodyPr wrap="square" lIns="0" tIns="0" rIns="0" bIns="0" anchor="t">
            <a:spAutoFit/>
          </a:bodyPr>
          <a:lstStyle/>
          <a:p>
            <a:pPr algn="l">
              <a:lnSpc>
                <a:spcPct val="120000"/>
              </a:lnSpc>
              <a:spcAft>
                <a:spcPts val="0"/>
              </a:spcAft>
            </a:pPr>
            <a:r>
              <a:rPr sz="1000" b="1" spc="160">
                <a:solidFill>
                  <a:srgbClr val="55677C"/>
                </a:solidFill>
                <a:latin typeface="Calibri"/>
              </a:rPr>
              <a:t>5 KAMERS</a:t>
            </a:r>
          </a:p>
        </p:txBody>
      </p:sp>
      <p:sp>
        <p:nvSpPr>
          <p:cNvPr id="50" name="Rounded Rectangle 49"/>
          <p:cNvSpPr/>
          <p:nvPr/>
        </p:nvSpPr>
        <p:spPr>
          <a:xfrm>
            <a:off x="7982711"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Rounded Rectangle 50"/>
          <p:cNvSpPr/>
          <p:nvPr/>
        </p:nvSpPr>
        <p:spPr>
          <a:xfrm>
            <a:off x="8549639"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ounded Rectangle 51"/>
          <p:cNvSpPr/>
          <p:nvPr/>
        </p:nvSpPr>
        <p:spPr>
          <a:xfrm>
            <a:off x="9116567"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ounded Rectangle 52"/>
          <p:cNvSpPr/>
          <p:nvPr/>
        </p:nvSpPr>
        <p:spPr>
          <a:xfrm>
            <a:off x="9683495"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ounded Rectangle 53"/>
          <p:cNvSpPr/>
          <p:nvPr/>
        </p:nvSpPr>
        <p:spPr>
          <a:xfrm>
            <a:off x="10250424"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964423" y="3273552"/>
            <a:ext cx="3294583"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eerste hart hulp, verhuist mee naar de acute poort</a:t>
            </a:r>
          </a:p>
        </p:txBody>
      </p:sp>
      <p:cxnSp>
        <p:nvCxnSpPr>
          <p:cNvPr id="56" name="Connector 55"/>
          <p:cNvCxnSpPr/>
          <p:nvPr/>
        </p:nvCxnSpPr>
        <p:spPr>
          <a:xfrm>
            <a:off x="7964423" y="3639312"/>
            <a:ext cx="32945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640080" y="5321807"/>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Rounded Rectangle 60"/>
          <p:cNvSpPr/>
          <p:nvPr/>
        </p:nvSpPr>
        <p:spPr>
          <a:xfrm>
            <a:off x="640080" y="5321807"/>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969264" y="5404103"/>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C4392D"/>
                </a:solidFill>
                <a:latin typeface="Calibri"/>
              </a:rPr>
              <a:t>WAT DIT BETEKENT VOOR DE CAPACITEIT</a:t>
            </a:r>
          </a:p>
          <a:p>
            <a:pPr algn="l">
              <a:lnSpc>
                <a:spcPct val="120000"/>
              </a:lnSpc>
              <a:spcAft>
                <a:spcPts val="0"/>
              </a:spcAft>
            </a:pPr>
            <a:r>
              <a:rPr sz="1250" b="1">
                <a:solidFill>
                  <a:srgbClr val="0D1B2A"/>
                </a:solidFill>
                <a:latin typeface="Calibri"/>
              </a:rPr>
              <a:t>Van de achttien SEH-kamers zijn er zes geen reguliere opnamekamer: drie fasttrack, één triage en twee acute kamers waar patiënten niet blijven liggen. Er blijven twaalf reguliere behandelkamers over.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Grp="1" noRot="1" noMove="1" noResize="1" noEditPoints="1" noAdjustHandles="1" noChangeArrowheads="1" noChangeShapeType="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Van vertrekpunt naar scenario's</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dirty="0" err="1">
                <a:solidFill>
                  <a:srgbClr val="55677C"/>
                </a:solidFill>
                <a:latin typeface="Calibri"/>
              </a:rPr>
              <a:t>Waar</a:t>
            </a:r>
            <a:r>
              <a:rPr sz="1300" b="0" dirty="0">
                <a:solidFill>
                  <a:srgbClr val="55677C"/>
                </a:solidFill>
                <a:latin typeface="Calibri"/>
              </a:rPr>
              <a:t> we nu </a:t>
            </a:r>
            <a:r>
              <a:rPr sz="1300" b="0" dirty="0" err="1">
                <a:solidFill>
                  <a:srgbClr val="55677C"/>
                </a:solidFill>
                <a:latin typeface="Calibri"/>
              </a:rPr>
              <a:t>staan</a:t>
            </a:r>
            <a:r>
              <a:rPr sz="1300" b="0" dirty="0">
                <a:solidFill>
                  <a:srgbClr val="55677C"/>
                </a:solidFill>
                <a:latin typeface="Calibri"/>
              </a:rPr>
              <a:t>, wat er in de </a:t>
            </a:r>
            <a:r>
              <a:rPr sz="1300" b="0" dirty="0" err="1">
                <a:solidFill>
                  <a:srgbClr val="55677C"/>
                </a:solidFill>
                <a:latin typeface="Calibri"/>
              </a:rPr>
              <a:t>oudbouw</a:t>
            </a:r>
            <a:r>
              <a:rPr sz="1300" b="0" dirty="0">
                <a:solidFill>
                  <a:srgbClr val="55677C"/>
                </a:solidFill>
                <a:latin typeface="Calibri"/>
              </a:rPr>
              <a:t> </a:t>
            </a:r>
            <a:r>
              <a:rPr sz="1300" b="0" dirty="0" err="1">
                <a:solidFill>
                  <a:srgbClr val="55677C"/>
                </a:solidFill>
                <a:latin typeface="Calibri"/>
              </a:rPr>
              <a:t>moet</a:t>
            </a:r>
            <a:r>
              <a:rPr sz="1300" b="0" dirty="0">
                <a:solidFill>
                  <a:srgbClr val="55677C"/>
                </a:solidFill>
                <a:latin typeface="Calibri"/>
              </a:rPr>
              <a:t> </a:t>
            </a:r>
            <a:r>
              <a:rPr sz="1300" b="0" dirty="0" err="1">
                <a:solidFill>
                  <a:srgbClr val="55677C"/>
                </a:solidFill>
                <a:latin typeface="Calibri"/>
              </a:rPr>
              <a:t>gebeuren</a:t>
            </a:r>
            <a:r>
              <a:rPr sz="1300" b="0" dirty="0">
                <a:solidFill>
                  <a:srgbClr val="55677C"/>
                </a:solidFill>
                <a:latin typeface="Calibri"/>
              </a:rPr>
              <a:t>, </a:t>
            </a:r>
            <a:r>
              <a:rPr sz="1300" b="0" dirty="0" err="1">
                <a:solidFill>
                  <a:srgbClr val="55677C"/>
                </a:solidFill>
                <a:latin typeface="Calibri"/>
              </a:rPr>
              <a:t>en</a:t>
            </a:r>
            <a:r>
              <a:rPr sz="1300" b="0" dirty="0">
                <a:solidFill>
                  <a:srgbClr val="55677C"/>
                </a:solidFill>
                <a:latin typeface="Calibri"/>
              </a:rPr>
              <a:t> </a:t>
            </a:r>
            <a:r>
              <a:rPr sz="1300" b="0" dirty="0" err="1">
                <a:solidFill>
                  <a:srgbClr val="55677C"/>
                </a:solidFill>
                <a:latin typeface="Calibri"/>
              </a:rPr>
              <a:t>welke</a:t>
            </a:r>
            <a:r>
              <a:rPr sz="1300" b="0" dirty="0">
                <a:solidFill>
                  <a:srgbClr val="55677C"/>
                </a:solidFill>
                <a:latin typeface="Calibri"/>
              </a:rPr>
              <a:t> </a:t>
            </a:r>
            <a:r>
              <a:rPr sz="1300" b="0" dirty="0" err="1">
                <a:solidFill>
                  <a:srgbClr val="55677C"/>
                </a:solidFill>
                <a:latin typeface="Calibri"/>
              </a:rPr>
              <a:t>varianten</a:t>
            </a:r>
            <a:r>
              <a:rPr sz="1300" b="0" dirty="0">
                <a:solidFill>
                  <a:srgbClr val="55677C"/>
                </a:solidFill>
                <a:latin typeface="Calibri"/>
              </a:rPr>
              <a:t> </a:t>
            </a:r>
            <a:r>
              <a:rPr sz="1300" b="0" dirty="0" err="1">
                <a:solidFill>
                  <a:srgbClr val="55677C"/>
                </a:solidFill>
                <a:latin typeface="Calibri"/>
              </a:rPr>
              <a:t>daaruit</a:t>
            </a:r>
            <a:r>
              <a:rPr sz="1300" b="0" dirty="0">
                <a:solidFill>
                  <a:srgbClr val="55677C"/>
                </a:solidFill>
                <a:latin typeface="Calibri"/>
              </a:rPr>
              <a:t> </a:t>
            </a:r>
            <a:r>
              <a:rPr sz="1300" b="0" dirty="0" err="1">
                <a:solidFill>
                  <a:srgbClr val="55677C"/>
                </a:solidFill>
                <a:latin typeface="Calibri"/>
              </a:rPr>
              <a:t>volgen</a:t>
            </a:r>
            <a:endParaRPr sz="1300" b="0" dirty="0">
              <a:solidFill>
                <a:srgbClr val="55677C"/>
              </a:solidFill>
              <a:latin typeface="Calibri"/>
            </a:endParaRP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14</a:t>
            </a:r>
          </a:p>
        </p:txBody>
      </p:sp>
      <p:sp>
        <p:nvSpPr>
          <p:cNvPr id="10" name="Rounded Rectangle 9"/>
          <p:cNvSpPr/>
          <p:nvPr/>
        </p:nvSpPr>
        <p:spPr>
          <a:xfrm>
            <a:off x="640080" y="1700784"/>
            <a:ext cx="5272887" cy="859536"/>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640080" y="1700784"/>
            <a:ext cx="45720" cy="85953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14400" y="1810512"/>
            <a:ext cx="4724247" cy="274320"/>
          </a:xfrm>
          <a:prstGeom prst="rect">
            <a:avLst/>
          </a:prstGeom>
          <a:noFill/>
        </p:spPr>
        <p:txBody>
          <a:bodyPr wrap="square" lIns="0" tIns="0" rIns="0" bIns="0" anchor="t">
            <a:spAutoFit/>
          </a:bodyPr>
          <a:lstStyle/>
          <a:p>
            <a:pPr algn="l">
              <a:lnSpc>
                <a:spcPct val="120000"/>
              </a:lnSpc>
              <a:spcAft>
                <a:spcPts val="0"/>
              </a:spcAft>
            </a:pPr>
            <a:r>
              <a:rPr sz="1500" b="1">
                <a:solidFill>
                  <a:srgbClr val="C4392D"/>
                </a:solidFill>
                <a:latin typeface="Calibri"/>
              </a:rPr>
              <a:t>2026 / nu</a:t>
            </a:r>
          </a:p>
        </p:txBody>
      </p:sp>
      <p:sp>
        <p:nvSpPr>
          <p:cNvPr id="13" name="TextBox 12"/>
          <p:cNvSpPr txBox="1"/>
          <p:nvPr/>
        </p:nvSpPr>
        <p:spPr>
          <a:xfrm>
            <a:off x="2986887" y="1828800"/>
            <a:ext cx="2651760" cy="237744"/>
          </a:xfrm>
          <a:prstGeom prst="rect">
            <a:avLst/>
          </a:prstGeom>
          <a:noFill/>
        </p:spPr>
        <p:txBody>
          <a:bodyPr wrap="square" lIns="0" tIns="0" rIns="0" bIns="0" anchor="t">
            <a:spAutoFit/>
          </a:bodyPr>
          <a:lstStyle/>
          <a:p>
            <a:pPr algn="r">
              <a:lnSpc>
                <a:spcPct val="120000"/>
              </a:lnSpc>
              <a:spcAft>
                <a:spcPts val="0"/>
              </a:spcAft>
            </a:pPr>
            <a:r>
              <a:rPr sz="850" b="1" spc="120">
                <a:solidFill>
                  <a:srgbClr val="8B9AAA"/>
                </a:solidFill>
                <a:latin typeface="Calibri"/>
              </a:rPr>
              <a:t>VERTREKPUNT</a:t>
            </a:r>
          </a:p>
        </p:txBody>
      </p:sp>
      <p:sp>
        <p:nvSpPr>
          <p:cNvPr id="14" name="TextBox 13"/>
          <p:cNvSpPr txBox="1"/>
          <p:nvPr/>
        </p:nvSpPr>
        <p:spPr>
          <a:xfrm>
            <a:off x="914400" y="2121408"/>
            <a:ext cx="4724247" cy="384048"/>
          </a:xfrm>
          <a:prstGeom prst="rect">
            <a:avLst/>
          </a:prstGeom>
          <a:noFill/>
        </p:spPr>
        <p:txBody>
          <a:bodyPr wrap="square" lIns="0" tIns="0" rIns="0" bIns="0" anchor="t">
            <a:spAutoFit/>
          </a:bodyPr>
          <a:lstStyle/>
          <a:p>
            <a:pPr algn="l">
              <a:lnSpc>
                <a:spcPct val="120000"/>
              </a:lnSpc>
              <a:spcAft>
                <a:spcPts val="0"/>
              </a:spcAft>
            </a:pPr>
            <a:r>
              <a:rPr sz="1100" b="0">
                <a:solidFill>
                  <a:srgbClr val="55677C"/>
                </a:solidFill>
                <a:latin typeface="Calibri"/>
              </a:rPr>
              <a:t>Geen vastgestelde norm en geen vastgestelde roostersleutel.</a:t>
            </a:r>
          </a:p>
        </p:txBody>
      </p:sp>
      <p:sp>
        <p:nvSpPr>
          <p:cNvPr id="15" name="Rounded Rectangle 14"/>
          <p:cNvSpPr/>
          <p:nvPr/>
        </p:nvSpPr>
        <p:spPr>
          <a:xfrm>
            <a:off x="6278727" y="1700784"/>
            <a:ext cx="5272887" cy="859536"/>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6278727" y="1700784"/>
            <a:ext cx="45720" cy="85953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553047" y="1810512"/>
            <a:ext cx="4724247" cy="274320"/>
          </a:xfrm>
          <a:prstGeom prst="rect">
            <a:avLst/>
          </a:prstGeom>
          <a:noFill/>
        </p:spPr>
        <p:txBody>
          <a:bodyPr wrap="square" lIns="0" tIns="0" rIns="0" bIns="0" anchor="t">
            <a:spAutoFit/>
          </a:bodyPr>
          <a:lstStyle/>
          <a:p>
            <a:pPr algn="l">
              <a:lnSpc>
                <a:spcPct val="120000"/>
              </a:lnSpc>
              <a:spcAft>
                <a:spcPts val="0"/>
              </a:spcAft>
            </a:pPr>
            <a:r>
              <a:rPr sz="1500" b="1">
                <a:solidFill>
                  <a:srgbClr val="1F6FB2"/>
                </a:solidFill>
                <a:latin typeface="Calibri"/>
              </a:rPr>
              <a:t>Oudbouw</a:t>
            </a:r>
          </a:p>
        </p:txBody>
      </p:sp>
      <p:sp>
        <p:nvSpPr>
          <p:cNvPr id="18" name="TextBox 17"/>
          <p:cNvSpPr txBox="1"/>
          <p:nvPr/>
        </p:nvSpPr>
        <p:spPr>
          <a:xfrm>
            <a:off x="8625535" y="1828800"/>
            <a:ext cx="2651760" cy="237744"/>
          </a:xfrm>
          <a:prstGeom prst="rect">
            <a:avLst/>
          </a:prstGeom>
          <a:noFill/>
        </p:spPr>
        <p:txBody>
          <a:bodyPr wrap="square" lIns="0" tIns="0" rIns="0" bIns="0" anchor="t">
            <a:spAutoFit/>
          </a:bodyPr>
          <a:lstStyle/>
          <a:p>
            <a:pPr algn="r">
              <a:lnSpc>
                <a:spcPct val="120000"/>
              </a:lnSpc>
              <a:spcAft>
                <a:spcPts val="0"/>
              </a:spcAft>
            </a:pPr>
            <a:r>
              <a:rPr sz="850" b="1" spc="120">
                <a:solidFill>
                  <a:srgbClr val="8B9AAA"/>
                </a:solidFill>
                <a:latin typeface="Calibri"/>
              </a:rPr>
              <a:t>OKTOBER 2026 TOT MEI 2027</a:t>
            </a:r>
          </a:p>
        </p:txBody>
      </p:sp>
      <p:sp>
        <p:nvSpPr>
          <p:cNvPr id="19" name="TextBox 18"/>
          <p:cNvSpPr txBox="1"/>
          <p:nvPr/>
        </p:nvSpPr>
        <p:spPr>
          <a:xfrm>
            <a:off x="6553047" y="2121408"/>
            <a:ext cx="4724247" cy="384048"/>
          </a:xfrm>
          <a:prstGeom prst="rect">
            <a:avLst/>
          </a:prstGeom>
          <a:noFill/>
        </p:spPr>
        <p:txBody>
          <a:bodyPr wrap="square" lIns="0" tIns="0" rIns="0" bIns="0" anchor="t">
            <a:spAutoFit/>
          </a:bodyPr>
          <a:lstStyle/>
          <a:p>
            <a:pPr algn="l">
              <a:lnSpc>
                <a:spcPct val="120000"/>
              </a:lnSpc>
              <a:spcAft>
                <a:spcPts val="0"/>
              </a:spcAft>
            </a:pPr>
            <a:r>
              <a:rPr sz="1100" b="0">
                <a:solidFill>
                  <a:srgbClr val="55677C"/>
                </a:solidFill>
                <a:latin typeface="Calibri"/>
              </a:rPr>
              <a:t>Hoe gaan we samenwerken? Diensten uitruilen, of fysieke patiëntcategorieën al schuiven?</a:t>
            </a:r>
          </a:p>
        </p:txBody>
      </p:sp>
      <p:sp>
        <p:nvSpPr>
          <p:cNvPr id="20" name="Down Arrow 19"/>
          <p:cNvSpPr/>
          <p:nvPr/>
        </p:nvSpPr>
        <p:spPr>
          <a:xfrm>
            <a:off x="5976975" y="2651760"/>
            <a:ext cx="237744" cy="292608"/>
          </a:xfrm>
          <a:prstGeom prst="down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3035808"/>
            <a:ext cx="4572000"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1F6FB2"/>
                </a:solidFill>
                <a:latin typeface="Calibri"/>
              </a:rPr>
              <a:t>SCENARIO'S  ·  MOGELIJK</a:t>
            </a:r>
          </a:p>
        </p:txBody>
      </p:sp>
      <p:sp>
        <p:nvSpPr>
          <p:cNvPr id="22" name="Rounded Rectangle 21"/>
          <p:cNvSpPr/>
          <p:nvPr/>
        </p:nvSpPr>
        <p:spPr>
          <a:xfrm>
            <a:off x="640080" y="3310128"/>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640080" y="3310128"/>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859536" y="3383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1</a:t>
            </a:r>
          </a:p>
        </p:txBody>
      </p:sp>
      <p:sp>
        <p:nvSpPr>
          <p:cNvPr id="25" name="TextBox 24"/>
          <p:cNvSpPr txBox="1"/>
          <p:nvPr/>
        </p:nvSpPr>
        <p:spPr>
          <a:xfrm>
            <a:off x="1316736" y="3337560"/>
            <a:ext cx="6163056" cy="420624"/>
          </a:xfrm>
          <a:prstGeom prst="rect">
            <a:avLst/>
          </a:prstGeom>
          <a:noFill/>
        </p:spPr>
        <p:txBody>
          <a:bodyPr wrap="square" lIns="0" tIns="0" rIns="0" bIns="0" anchor="ctr">
            <a:spAutoFit/>
          </a:bodyPr>
          <a:lstStyle/>
          <a:p>
            <a:pPr algn="l">
              <a:lnSpc>
                <a:spcPct val="120000"/>
              </a:lnSpc>
              <a:spcAft>
                <a:spcPts val="100"/>
              </a:spcAft>
            </a:pPr>
            <a:r>
              <a:rPr sz="1300" b="1" dirty="0">
                <a:solidFill>
                  <a:srgbClr val="0D1B2A"/>
                </a:solidFill>
                <a:latin typeface="Calibri"/>
              </a:rPr>
              <a:t>EHH </a:t>
            </a:r>
            <a:r>
              <a:rPr sz="1300" b="1" dirty="0" err="1">
                <a:solidFill>
                  <a:srgbClr val="0D1B2A"/>
                </a:solidFill>
                <a:latin typeface="Calibri"/>
              </a:rPr>
              <a:t>naar</a:t>
            </a:r>
            <a:r>
              <a:rPr sz="1300" b="1" dirty="0">
                <a:solidFill>
                  <a:srgbClr val="0D1B2A"/>
                </a:solidFill>
                <a:latin typeface="Calibri"/>
              </a:rPr>
              <a:t> SEH</a:t>
            </a:r>
          </a:p>
          <a:p>
            <a:pPr algn="l">
              <a:lnSpc>
                <a:spcPct val="120000"/>
              </a:lnSpc>
              <a:spcAft>
                <a:spcPts val="0"/>
              </a:spcAft>
            </a:pPr>
            <a:r>
              <a:rPr sz="950" b="0" dirty="0" err="1">
                <a:solidFill>
                  <a:srgbClr val="8B9AAA"/>
                </a:solidFill>
                <a:latin typeface="Calibri"/>
              </a:rPr>
              <a:t>overdag</a:t>
            </a:r>
            <a:r>
              <a:rPr sz="950" b="0" dirty="0">
                <a:solidFill>
                  <a:srgbClr val="8B9AAA"/>
                </a:solidFill>
                <a:latin typeface="Calibri"/>
              </a:rPr>
              <a:t>, of </a:t>
            </a:r>
            <a:r>
              <a:rPr sz="950" b="0" dirty="0" err="1">
                <a:solidFill>
                  <a:srgbClr val="8B9AAA"/>
                </a:solidFill>
                <a:latin typeface="Calibri"/>
              </a:rPr>
              <a:t>ook</a:t>
            </a:r>
            <a:r>
              <a:rPr sz="950" b="0" dirty="0">
                <a:solidFill>
                  <a:srgbClr val="8B9AAA"/>
                </a:solidFill>
                <a:latin typeface="Calibri"/>
              </a:rPr>
              <a:t> 's </a:t>
            </a:r>
            <a:r>
              <a:rPr sz="950" b="0" dirty="0" err="1">
                <a:solidFill>
                  <a:srgbClr val="8B9AAA"/>
                </a:solidFill>
                <a:latin typeface="Calibri"/>
              </a:rPr>
              <a:t>avonds</a:t>
            </a:r>
            <a:r>
              <a:rPr sz="950" b="0" dirty="0">
                <a:solidFill>
                  <a:srgbClr val="8B9AAA"/>
                </a:solidFill>
                <a:latin typeface="Calibri"/>
              </a:rPr>
              <a:t>?</a:t>
            </a:r>
          </a:p>
        </p:txBody>
      </p:sp>
      <p:sp>
        <p:nvSpPr>
          <p:cNvPr id="26" name="Rounded Rectangle 25"/>
          <p:cNvSpPr/>
          <p:nvPr/>
        </p:nvSpPr>
        <p:spPr>
          <a:xfrm>
            <a:off x="640080" y="3877056"/>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ounded Rectangle 26"/>
          <p:cNvSpPr/>
          <p:nvPr/>
        </p:nvSpPr>
        <p:spPr>
          <a:xfrm>
            <a:off x="640080" y="3877056"/>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59536" y="395020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2</a:t>
            </a:r>
          </a:p>
        </p:txBody>
      </p:sp>
      <p:sp>
        <p:nvSpPr>
          <p:cNvPr id="29" name="TextBox 28"/>
          <p:cNvSpPr txBox="1"/>
          <p:nvPr/>
        </p:nvSpPr>
        <p:spPr>
          <a:xfrm>
            <a:off x="1316736" y="4002782"/>
            <a:ext cx="6163056" cy="224036"/>
          </a:xfrm>
          <a:prstGeom prst="rect">
            <a:avLst/>
          </a:prstGeom>
          <a:noFill/>
        </p:spPr>
        <p:txBody>
          <a:bodyPr wrap="square" lIns="0" tIns="0" rIns="0" bIns="0" anchor="ctr">
            <a:spAutoFit/>
          </a:bodyPr>
          <a:lstStyle/>
          <a:p>
            <a:pPr algn="l">
              <a:lnSpc>
                <a:spcPct val="120000"/>
              </a:lnSpc>
              <a:spcAft>
                <a:spcPts val="100"/>
              </a:spcAft>
            </a:pPr>
            <a:r>
              <a:rPr sz="1300" b="1" dirty="0">
                <a:solidFill>
                  <a:srgbClr val="0D1B2A"/>
                </a:solidFill>
                <a:latin typeface="Calibri"/>
              </a:rPr>
              <a:t>ICU </a:t>
            </a:r>
            <a:r>
              <a:rPr sz="1300" b="1" dirty="0" err="1">
                <a:solidFill>
                  <a:srgbClr val="0D1B2A"/>
                </a:solidFill>
                <a:latin typeface="Calibri"/>
              </a:rPr>
              <a:t>en</a:t>
            </a:r>
            <a:r>
              <a:rPr sz="1300" b="1" dirty="0">
                <a:solidFill>
                  <a:srgbClr val="0D1B2A"/>
                </a:solidFill>
                <a:latin typeface="Calibri"/>
              </a:rPr>
              <a:t> SCU </a:t>
            </a:r>
            <a:r>
              <a:rPr sz="1300" b="1" dirty="0" err="1">
                <a:solidFill>
                  <a:srgbClr val="0D1B2A"/>
                </a:solidFill>
                <a:latin typeface="Calibri"/>
              </a:rPr>
              <a:t>samen</a:t>
            </a:r>
            <a:r>
              <a:rPr sz="1300" b="1" dirty="0">
                <a:solidFill>
                  <a:srgbClr val="0D1B2A"/>
                </a:solidFill>
                <a:latin typeface="Calibri"/>
              </a:rPr>
              <a:t> op de ICU</a:t>
            </a:r>
          </a:p>
        </p:txBody>
      </p:sp>
      <p:sp>
        <p:nvSpPr>
          <p:cNvPr id="30" name="Rounded Rectangle 29"/>
          <p:cNvSpPr/>
          <p:nvPr/>
        </p:nvSpPr>
        <p:spPr>
          <a:xfrm>
            <a:off x="640080" y="4443984"/>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640080" y="4443984"/>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859536" y="4517136"/>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3</a:t>
            </a:r>
          </a:p>
        </p:txBody>
      </p:sp>
      <p:sp>
        <p:nvSpPr>
          <p:cNvPr id="33" name="TextBox 32"/>
          <p:cNvSpPr txBox="1"/>
          <p:nvPr/>
        </p:nvSpPr>
        <p:spPr>
          <a:xfrm>
            <a:off x="1316736" y="4471416"/>
            <a:ext cx="6163056" cy="420624"/>
          </a:xfrm>
          <a:prstGeom prst="rect">
            <a:avLst/>
          </a:prstGeom>
          <a:noFill/>
        </p:spPr>
        <p:txBody>
          <a:bodyPr wrap="square" lIns="0" tIns="0" rIns="0" bIns="0" anchor="ctr">
            <a:spAutoFit/>
          </a:bodyPr>
          <a:lstStyle/>
          <a:p>
            <a:pPr algn="l">
              <a:lnSpc>
                <a:spcPct val="120000"/>
              </a:lnSpc>
              <a:spcAft>
                <a:spcPts val="100"/>
              </a:spcAft>
            </a:pPr>
            <a:r>
              <a:rPr sz="1300" b="1" dirty="0">
                <a:solidFill>
                  <a:srgbClr val="0D1B2A"/>
                </a:solidFill>
                <a:latin typeface="Calibri"/>
              </a:rPr>
              <a:t>Recovery ICU </a:t>
            </a:r>
            <a:r>
              <a:rPr sz="1300" b="1" dirty="0" err="1">
                <a:solidFill>
                  <a:srgbClr val="0D1B2A"/>
                </a:solidFill>
                <a:latin typeface="Calibri"/>
              </a:rPr>
              <a:t>naar</a:t>
            </a:r>
            <a:r>
              <a:rPr sz="1300" b="1" dirty="0">
                <a:solidFill>
                  <a:srgbClr val="0D1B2A"/>
                </a:solidFill>
                <a:latin typeface="Calibri"/>
              </a:rPr>
              <a:t> CCU / SCU</a:t>
            </a:r>
          </a:p>
        </p:txBody>
      </p:sp>
      <p:sp>
        <p:nvSpPr>
          <p:cNvPr id="34" name="Rounded Rectangle 33"/>
          <p:cNvSpPr/>
          <p:nvPr/>
        </p:nvSpPr>
        <p:spPr>
          <a:xfrm>
            <a:off x="640080" y="5010912"/>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ounded Rectangle 34"/>
          <p:cNvSpPr/>
          <p:nvPr/>
        </p:nvSpPr>
        <p:spPr>
          <a:xfrm>
            <a:off x="640080" y="5010912"/>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859536" y="5084064"/>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4</a:t>
            </a:r>
          </a:p>
        </p:txBody>
      </p:sp>
      <p:sp>
        <p:nvSpPr>
          <p:cNvPr id="37" name="TextBox 36"/>
          <p:cNvSpPr txBox="1"/>
          <p:nvPr/>
        </p:nvSpPr>
        <p:spPr>
          <a:xfrm>
            <a:off x="1316736" y="5038344"/>
            <a:ext cx="6163056" cy="420624"/>
          </a:xfrm>
          <a:prstGeom prst="rect">
            <a:avLst/>
          </a:prstGeom>
          <a:noFill/>
        </p:spPr>
        <p:txBody>
          <a:bodyPr wrap="square" lIns="0" tIns="0" rIns="0" bIns="0" anchor="ctr">
            <a:spAutoFit/>
          </a:bodyPr>
          <a:lstStyle/>
          <a:p>
            <a:pPr algn="l">
              <a:lnSpc>
                <a:spcPct val="120000"/>
              </a:lnSpc>
              <a:spcAft>
                <a:spcPts val="100"/>
              </a:spcAft>
            </a:pPr>
            <a:r>
              <a:rPr sz="1300" b="1">
                <a:solidFill>
                  <a:srgbClr val="0D1B2A"/>
                </a:solidFill>
                <a:latin typeface="Calibri"/>
              </a:rPr>
              <a:t>Cardioversies CCU verplaatsen</a:t>
            </a:r>
          </a:p>
        </p:txBody>
      </p:sp>
      <p:sp>
        <p:nvSpPr>
          <p:cNvPr id="38" name="Rounded Rectangle 37"/>
          <p:cNvSpPr/>
          <p:nvPr/>
        </p:nvSpPr>
        <p:spPr>
          <a:xfrm>
            <a:off x="640080" y="5577840"/>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640080" y="5577840"/>
            <a:ext cx="41148" cy="47548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859536" y="5650992"/>
            <a:ext cx="329184" cy="329184"/>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8B9AAA"/>
                </a:solidFill>
                <a:latin typeface="Calibri"/>
              </a:rPr>
              <a:t>5</a:t>
            </a:r>
          </a:p>
        </p:txBody>
      </p:sp>
      <p:sp>
        <p:nvSpPr>
          <p:cNvPr id="41" name="TextBox 40"/>
          <p:cNvSpPr txBox="1"/>
          <p:nvPr/>
        </p:nvSpPr>
        <p:spPr>
          <a:xfrm>
            <a:off x="1316736" y="5605272"/>
            <a:ext cx="6163056" cy="420624"/>
          </a:xfrm>
          <a:prstGeom prst="rect">
            <a:avLst/>
          </a:prstGeom>
          <a:noFill/>
        </p:spPr>
        <p:txBody>
          <a:bodyPr wrap="square" lIns="0" tIns="0" rIns="0" bIns="0" anchor="ctr">
            <a:spAutoFit/>
          </a:bodyPr>
          <a:lstStyle/>
          <a:p>
            <a:pPr algn="l">
              <a:lnSpc>
                <a:spcPct val="120000"/>
              </a:lnSpc>
              <a:spcAft>
                <a:spcPts val="100"/>
              </a:spcAft>
            </a:pPr>
            <a:r>
              <a:rPr sz="1300" b="1">
                <a:solidFill>
                  <a:srgbClr val="0D1B2A"/>
                </a:solidFill>
                <a:latin typeface="Calibri"/>
              </a:rPr>
              <a:t>Huidig: ICU, CCU/SCU/EHH en SEH apart</a:t>
            </a:r>
          </a:p>
          <a:p>
            <a:pPr algn="l">
              <a:lnSpc>
                <a:spcPct val="120000"/>
              </a:lnSpc>
              <a:spcAft>
                <a:spcPts val="0"/>
              </a:spcAft>
            </a:pPr>
            <a:r>
              <a:rPr sz="950" b="0">
                <a:solidFill>
                  <a:srgbClr val="8B9AAA"/>
                </a:solidFill>
                <a:latin typeface="Calibri"/>
              </a:rPr>
              <a:t>referentiescenario</a:t>
            </a:r>
          </a:p>
        </p:txBody>
      </p:sp>
      <p:sp>
        <p:nvSpPr>
          <p:cNvPr id="42" name="Rounded Rectangle 41"/>
          <p:cNvSpPr/>
          <p:nvPr/>
        </p:nvSpPr>
        <p:spPr>
          <a:xfrm>
            <a:off x="8101583" y="3310128"/>
            <a:ext cx="3450031" cy="2834640"/>
          </a:xfrm>
          <a:prstGeom prst="roundRect">
            <a:avLst>
              <a:gd name="adj" fmla="val 3000"/>
            </a:avLst>
          </a:prstGeom>
          <a:solidFill>
            <a:srgbClr val="E5E7F4"/>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357615" y="3493008"/>
            <a:ext cx="2937967" cy="548640"/>
          </a:xfrm>
          <a:prstGeom prst="rect">
            <a:avLst/>
          </a:prstGeom>
          <a:noFill/>
        </p:spPr>
        <p:txBody>
          <a:bodyPr wrap="square" lIns="0" tIns="0" rIns="0" bIns="0" anchor="t">
            <a:spAutoFit/>
          </a:bodyPr>
          <a:lstStyle/>
          <a:p>
            <a:pPr algn="l">
              <a:lnSpc>
                <a:spcPct val="120000"/>
              </a:lnSpc>
              <a:spcAft>
                <a:spcPts val="0"/>
              </a:spcAft>
            </a:pPr>
            <a:r>
              <a:rPr sz="1500" b="1" dirty="0">
                <a:solidFill>
                  <a:srgbClr val="6B4BA8"/>
                </a:solidFill>
                <a:latin typeface="Calibri"/>
              </a:rPr>
              <a:t>Elk scenario </a:t>
            </a:r>
            <a:r>
              <a:rPr sz="1500" b="1" dirty="0" err="1">
                <a:solidFill>
                  <a:srgbClr val="6B4BA8"/>
                </a:solidFill>
                <a:latin typeface="Calibri"/>
              </a:rPr>
              <a:t>raakt</a:t>
            </a:r>
            <a:endParaRPr sz="1500" b="1" dirty="0">
              <a:solidFill>
                <a:srgbClr val="6B4BA8"/>
              </a:solidFill>
              <a:latin typeface="Calibri"/>
            </a:endParaRPr>
          </a:p>
          <a:p>
            <a:pPr algn="l">
              <a:lnSpc>
                <a:spcPct val="120000"/>
              </a:lnSpc>
              <a:spcAft>
                <a:spcPts val="0"/>
              </a:spcAft>
            </a:pPr>
            <a:r>
              <a:rPr sz="1500" b="1" dirty="0">
                <a:solidFill>
                  <a:srgbClr val="6B4BA8"/>
                </a:solidFill>
                <a:latin typeface="Calibri"/>
              </a:rPr>
              <a:t>twee </a:t>
            </a:r>
            <a:r>
              <a:rPr sz="1500" b="1" dirty="0" err="1">
                <a:solidFill>
                  <a:srgbClr val="6B4BA8"/>
                </a:solidFill>
                <a:latin typeface="Calibri"/>
              </a:rPr>
              <a:t>dingen</a:t>
            </a:r>
            <a:endParaRPr sz="1500" b="1" dirty="0">
              <a:solidFill>
                <a:srgbClr val="6B4BA8"/>
              </a:solidFill>
              <a:latin typeface="Calibri"/>
            </a:endParaRPr>
          </a:p>
        </p:txBody>
      </p:sp>
      <p:sp>
        <p:nvSpPr>
          <p:cNvPr id="44" name="Rounded Rectangle 43"/>
          <p:cNvSpPr/>
          <p:nvPr/>
        </p:nvSpPr>
        <p:spPr>
          <a:xfrm>
            <a:off x="8339327" y="4133088"/>
            <a:ext cx="2974543" cy="731520"/>
          </a:xfrm>
          <a:prstGeom prst="roundRect">
            <a:avLst>
              <a:gd name="adj" fmla="val 8000"/>
            </a:avLst>
          </a:prstGeom>
          <a:solidFill>
            <a:srgbClr val="FFFFFF"/>
          </a:solidFill>
          <a:ln w="12700">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8522208" y="4224528"/>
            <a:ext cx="2608783" cy="548640"/>
          </a:xfrm>
          <a:prstGeom prst="rect">
            <a:avLst/>
          </a:prstGeom>
          <a:noFill/>
        </p:spPr>
        <p:txBody>
          <a:bodyPr wrap="square" lIns="0" tIns="0" rIns="0" bIns="0" anchor="t">
            <a:spAutoFit/>
          </a:bodyPr>
          <a:lstStyle/>
          <a:p>
            <a:pPr algn="l">
              <a:lnSpc>
                <a:spcPct val="120000"/>
              </a:lnSpc>
              <a:spcAft>
                <a:spcPts val="200"/>
              </a:spcAft>
            </a:pPr>
            <a:r>
              <a:rPr sz="1250" b="1">
                <a:solidFill>
                  <a:srgbClr val="1F6FB2"/>
                </a:solidFill>
                <a:latin typeface="Calibri"/>
              </a:rPr>
              <a:t>Fysieke capaciteit</a:t>
            </a:r>
          </a:p>
          <a:p>
            <a:pPr algn="l">
              <a:lnSpc>
                <a:spcPct val="118000"/>
              </a:lnSpc>
              <a:spcAft>
                <a:spcPts val="0"/>
              </a:spcAft>
            </a:pPr>
            <a:r>
              <a:rPr sz="950" b="0">
                <a:solidFill>
                  <a:srgbClr val="55677C"/>
                </a:solidFill>
                <a:latin typeface="Calibri"/>
              </a:rPr>
              <a:t>aantal plekken, type plek, locatie</a:t>
            </a:r>
          </a:p>
        </p:txBody>
      </p:sp>
      <p:sp>
        <p:nvSpPr>
          <p:cNvPr id="46" name="Rounded Rectangle 45"/>
          <p:cNvSpPr/>
          <p:nvPr/>
        </p:nvSpPr>
        <p:spPr>
          <a:xfrm>
            <a:off x="8339327" y="4992624"/>
            <a:ext cx="2974543" cy="731520"/>
          </a:xfrm>
          <a:prstGeom prst="roundRect">
            <a:avLst>
              <a:gd name="adj" fmla="val 8000"/>
            </a:avLst>
          </a:prstGeom>
          <a:solidFill>
            <a:srgbClr val="FFFFFF"/>
          </a:solidFill>
          <a:ln w="12700">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522208" y="5084064"/>
            <a:ext cx="2608783" cy="548640"/>
          </a:xfrm>
          <a:prstGeom prst="rect">
            <a:avLst/>
          </a:prstGeom>
          <a:noFill/>
        </p:spPr>
        <p:txBody>
          <a:bodyPr wrap="square" lIns="0" tIns="0" rIns="0" bIns="0" anchor="t">
            <a:spAutoFit/>
          </a:bodyPr>
          <a:lstStyle/>
          <a:p>
            <a:pPr algn="l">
              <a:lnSpc>
                <a:spcPct val="120000"/>
              </a:lnSpc>
              <a:spcAft>
                <a:spcPts val="200"/>
              </a:spcAft>
            </a:pPr>
            <a:r>
              <a:rPr sz="1250" b="1">
                <a:solidFill>
                  <a:srgbClr val="0E9A87"/>
                </a:solidFill>
                <a:latin typeface="Calibri"/>
              </a:rPr>
              <a:t>Personele inzet</a:t>
            </a:r>
          </a:p>
          <a:p>
            <a:pPr algn="l">
              <a:lnSpc>
                <a:spcPct val="118000"/>
              </a:lnSpc>
              <a:spcAft>
                <a:spcPts val="0"/>
              </a:spcAft>
            </a:pPr>
            <a:r>
              <a:rPr sz="950" b="0">
                <a:solidFill>
                  <a:srgbClr val="55677C"/>
                </a:solidFill>
                <a:latin typeface="Calibri"/>
              </a:rPr>
              <a:t>norm en deskundigheid</a:t>
            </a:r>
          </a:p>
        </p:txBody>
      </p:sp>
      <p:sp>
        <p:nvSpPr>
          <p:cNvPr id="48" name="TextBox 47"/>
          <p:cNvSpPr txBox="1"/>
          <p:nvPr/>
        </p:nvSpPr>
        <p:spPr>
          <a:xfrm>
            <a:off x="8357615" y="5833872"/>
            <a:ext cx="2937967" cy="274320"/>
          </a:xfrm>
          <a:prstGeom prst="rect">
            <a:avLst/>
          </a:prstGeom>
          <a:noFill/>
        </p:spPr>
        <p:txBody>
          <a:bodyPr wrap="square" lIns="0" tIns="0" rIns="0" bIns="0" anchor="t">
            <a:spAutoFit/>
          </a:bodyPr>
          <a:lstStyle/>
          <a:p>
            <a:pPr algn="l">
              <a:lnSpc>
                <a:spcPct val="120000"/>
              </a:lnSpc>
              <a:spcAft>
                <a:spcPts val="0"/>
              </a:spcAft>
            </a:pPr>
            <a:r>
              <a:rPr sz="1000" b="0">
                <a:solidFill>
                  <a:srgbClr val="55677C"/>
                </a:solidFill>
                <a:latin typeface="Calibri"/>
              </a:rPr>
              <a:t>De keuze gebeurt op basis van data uit BIC.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Wat er per scenario verschuift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Oranje is het onderdeel dat van afdeling wisselt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15</a:t>
            </a:r>
          </a:p>
        </p:txBody>
      </p:sp>
      <p:sp>
        <p:nvSpPr>
          <p:cNvPr id="10" name="Rounded Rectangle 9"/>
          <p:cNvSpPr/>
          <p:nvPr/>
        </p:nvSpPr>
        <p:spPr>
          <a:xfrm>
            <a:off x="640080" y="1700784"/>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841247" y="1865376"/>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1</a:t>
            </a:r>
          </a:p>
        </p:txBody>
      </p:sp>
      <p:sp>
        <p:nvSpPr>
          <p:cNvPr id="12" name="TextBox 11"/>
          <p:cNvSpPr txBox="1"/>
          <p:nvPr/>
        </p:nvSpPr>
        <p:spPr>
          <a:xfrm>
            <a:off x="1353312" y="1865376"/>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EHH naar de SEH</a:t>
            </a:r>
          </a:p>
        </p:txBody>
      </p:sp>
      <p:sp>
        <p:nvSpPr>
          <p:cNvPr id="13" name="TextBox 12"/>
          <p:cNvSpPr txBox="1"/>
          <p:nvPr/>
        </p:nvSpPr>
        <p:spPr>
          <a:xfrm>
            <a:off x="1051560"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14" name="TextBox 13"/>
          <p:cNvSpPr txBox="1"/>
          <p:nvPr/>
        </p:nvSpPr>
        <p:spPr>
          <a:xfrm>
            <a:off x="3718407"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15" name="Oval 14"/>
          <p:cNvSpPr/>
          <p:nvPr/>
        </p:nvSpPr>
        <p:spPr>
          <a:xfrm>
            <a:off x="1223010" y="2523744"/>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1223010"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4097"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SEH</a:t>
            </a:r>
          </a:p>
        </p:txBody>
      </p:sp>
      <p:sp>
        <p:nvSpPr>
          <p:cNvPr id="18" name="Freeform 17"/>
          <p:cNvSpPr/>
          <p:nvPr/>
        </p:nvSpPr>
        <p:spPr>
          <a:xfrm>
            <a:off x="2388870" y="2523744"/>
            <a:ext cx="274319" cy="411480"/>
          </a:xfrm>
          <a:custGeom>
            <a:avLst/>
            <a:gdLst/>
            <a:ahLst/>
            <a:cxnLst/>
            <a:rect l="l" t="t" r="r" b="b"/>
            <a:pathLst>
              <a:path w="274319" h="411480">
                <a:moveTo>
                  <a:pt x="0" y="0"/>
                </a:moveTo>
                <a:lnTo>
                  <a:pt x="14356" y="375"/>
                </a:lnTo>
                <a:lnTo>
                  <a:pt x="28674" y="1502"/>
                </a:lnTo>
                <a:lnTo>
                  <a:pt x="42913" y="3377"/>
                </a:lnTo>
                <a:lnTo>
                  <a:pt x="57034" y="5994"/>
                </a:lnTo>
                <a:lnTo>
                  <a:pt x="70999" y="9347"/>
                </a:lnTo>
                <a:lnTo>
                  <a:pt x="84769" y="13426"/>
                </a:lnTo>
                <a:lnTo>
                  <a:pt x="98307" y="18220"/>
                </a:lnTo>
                <a:lnTo>
                  <a:pt x="111575" y="23716"/>
                </a:lnTo>
                <a:lnTo>
                  <a:pt x="124538" y="29899"/>
                </a:lnTo>
                <a:lnTo>
                  <a:pt x="137159" y="36751"/>
                </a:lnTo>
                <a:lnTo>
                  <a:pt x="149405" y="44255"/>
                </a:lnTo>
                <a:lnTo>
                  <a:pt x="161241" y="52390"/>
                </a:lnTo>
                <a:lnTo>
                  <a:pt x="172635" y="61133"/>
                </a:lnTo>
                <a:lnTo>
                  <a:pt x="183555" y="70460"/>
                </a:lnTo>
                <a:lnTo>
                  <a:pt x="193973" y="80346"/>
                </a:lnTo>
                <a:lnTo>
                  <a:pt x="203859" y="90764"/>
                </a:lnTo>
                <a:lnTo>
                  <a:pt x="213186" y="101684"/>
                </a:lnTo>
                <a:lnTo>
                  <a:pt x="221929" y="113078"/>
                </a:lnTo>
                <a:lnTo>
                  <a:pt x="230064" y="124914"/>
                </a:lnTo>
                <a:lnTo>
                  <a:pt x="237568" y="137160"/>
                </a:lnTo>
                <a:lnTo>
                  <a:pt x="244420" y="149781"/>
                </a:lnTo>
                <a:lnTo>
                  <a:pt x="250603" y="162744"/>
                </a:lnTo>
                <a:lnTo>
                  <a:pt x="256099" y="176012"/>
                </a:lnTo>
                <a:lnTo>
                  <a:pt x="260893" y="189550"/>
                </a:lnTo>
                <a:lnTo>
                  <a:pt x="264972" y="203320"/>
                </a:lnTo>
                <a:lnTo>
                  <a:pt x="268325" y="217285"/>
                </a:lnTo>
                <a:lnTo>
                  <a:pt x="270942" y="231406"/>
                </a:lnTo>
                <a:lnTo>
                  <a:pt x="272817" y="245645"/>
                </a:lnTo>
                <a:lnTo>
                  <a:pt x="273944" y="259963"/>
                </a:lnTo>
                <a:lnTo>
                  <a:pt x="274319" y="274320"/>
                </a:lnTo>
                <a:lnTo>
                  <a:pt x="273944" y="288676"/>
                </a:lnTo>
                <a:lnTo>
                  <a:pt x="272817" y="302994"/>
                </a:lnTo>
                <a:lnTo>
                  <a:pt x="270942" y="317233"/>
                </a:lnTo>
                <a:lnTo>
                  <a:pt x="268325" y="331354"/>
                </a:lnTo>
                <a:lnTo>
                  <a:pt x="264972" y="345319"/>
                </a:lnTo>
                <a:lnTo>
                  <a:pt x="260893" y="359089"/>
                </a:lnTo>
                <a:lnTo>
                  <a:pt x="256099" y="372627"/>
                </a:lnTo>
                <a:lnTo>
                  <a:pt x="250603" y="385895"/>
                </a:lnTo>
                <a:lnTo>
                  <a:pt x="244420"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Freeform 18"/>
          <p:cNvSpPr/>
          <p:nvPr/>
        </p:nvSpPr>
        <p:spPr>
          <a:xfrm>
            <a:off x="2151301" y="2798064"/>
            <a:ext cx="475137" cy="274320"/>
          </a:xfrm>
          <a:custGeom>
            <a:avLst/>
            <a:gdLst/>
            <a:ahLst/>
            <a:cxnLst/>
            <a:rect l="l" t="t" r="r" b="b"/>
            <a:pathLst>
              <a:path w="475137" h="274320">
                <a:moveTo>
                  <a:pt x="475137" y="137160"/>
                </a:moveTo>
                <a:lnTo>
                  <a:pt x="467633" y="149405"/>
                </a:lnTo>
                <a:lnTo>
                  <a:pt x="459498" y="161241"/>
                </a:lnTo>
                <a:lnTo>
                  <a:pt x="450755" y="172635"/>
                </a:lnTo>
                <a:lnTo>
                  <a:pt x="441428" y="183555"/>
                </a:lnTo>
                <a:lnTo>
                  <a:pt x="431542" y="193973"/>
                </a:lnTo>
                <a:lnTo>
                  <a:pt x="421124" y="203859"/>
                </a:lnTo>
                <a:lnTo>
                  <a:pt x="410204" y="213186"/>
                </a:lnTo>
                <a:lnTo>
                  <a:pt x="398810" y="221929"/>
                </a:lnTo>
                <a:lnTo>
                  <a:pt x="386974" y="230064"/>
                </a:lnTo>
                <a:lnTo>
                  <a:pt x="374728" y="237568"/>
                </a:lnTo>
                <a:lnTo>
                  <a:pt x="362107" y="244420"/>
                </a:lnTo>
                <a:lnTo>
                  <a:pt x="349144" y="250603"/>
                </a:lnTo>
                <a:lnTo>
                  <a:pt x="335876" y="256099"/>
                </a:lnTo>
                <a:lnTo>
                  <a:pt x="322338" y="260893"/>
                </a:lnTo>
                <a:lnTo>
                  <a:pt x="308568" y="264972"/>
                </a:lnTo>
                <a:lnTo>
                  <a:pt x="294603" y="268325"/>
                </a:lnTo>
                <a:lnTo>
                  <a:pt x="280482" y="270942"/>
                </a:lnTo>
                <a:lnTo>
                  <a:pt x="266243" y="272817"/>
                </a:lnTo>
                <a:lnTo>
                  <a:pt x="251925" y="273944"/>
                </a:lnTo>
                <a:lnTo>
                  <a:pt x="237569" y="274320"/>
                </a:lnTo>
                <a:lnTo>
                  <a:pt x="223212" y="273944"/>
                </a:lnTo>
                <a:lnTo>
                  <a:pt x="208894" y="272817"/>
                </a:lnTo>
                <a:lnTo>
                  <a:pt x="194655" y="270942"/>
                </a:lnTo>
                <a:lnTo>
                  <a:pt x="180534" y="268325"/>
                </a:lnTo>
                <a:lnTo>
                  <a:pt x="166569" y="264972"/>
                </a:lnTo>
                <a:lnTo>
                  <a:pt x="152799" y="260893"/>
                </a:lnTo>
                <a:lnTo>
                  <a:pt x="139261" y="256099"/>
                </a:lnTo>
                <a:lnTo>
                  <a:pt x="125993" y="250603"/>
                </a:lnTo>
                <a:lnTo>
                  <a:pt x="113030" y="244420"/>
                </a:lnTo>
                <a:lnTo>
                  <a:pt x="100409" y="237568"/>
                </a:lnTo>
                <a:lnTo>
                  <a:pt x="88163" y="230064"/>
                </a:lnTo>
                <a:lnTo>
                  <a:pt x="76327" y="221929"/>
                </a:lnTo>
                <a:lnTo>
                  <a:pt x="64933" y="213186"/>
                </a:lnTo>
                <a:lnTo>
                  <a:pt x="54013" y="203859"/>
                </a:lnTo>
                <a:lnTo>
                  <a:pt x="43595" y="193973"/>
                </a:lnTo>
                <a:lnTo>
                  <a:pt x="33709" y="183555"/>
                </a:lnTo>
                <a:lnTo>
                  <a:pt x="24382" y="172635"/>
                </a:lnTo>
                <a:lnTo>
                  <a:pt x="15639" y="161241"/>
                </a:lnTo>
                <a:lnTo>
                  <a:pt x="7504" y="149405"/>
                </a:lnTo>
                <a:lnTo>
                  <a:pt x="0" y="137160"/>
                </a:lnTo>
                <a:lnTo>
                  <a:pt x="237569" y="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Freeform 19"/>
          <p:cNvSpPr/>
          <p:nvPr/>
        </p:nvSpPr>
        <p:spPr>
          <a:xfrm>
            <a:off x="2114550" y="2523744"/>
            <a:ext cx="274320" cy="411480"/>
          </a:xfrm>
          <a:custGeom>
            <a:avLst/>
            <a:gdLst/>
            <a:ahLst/>
            <a:cxnLst/>
            <a:rect l="l" t="t" r="r" b="b"/>
            <a:pathLst>
              <a:path w="274320" h="411480">
                <a:moveTo>
                  <a:pt x="36751" y="411480"/>
                </a:moveTo>
                <a:lnTo>
                  <a:pt x="29899" y="398858"/>
                </a:lnTo>
                <a:lnTo>
                  <a:pt x="23716" y="385895"/>
                </a:lnTo>
                <a:lnTo>
                  <a:pt x="18220" y="372627"/>
                </a:lnTo>
                <a:lnTo>
                  <a:pt x="13426" y="359089"/>
                </a:lnTo>
                <a:lnTo>
                  <a:pt x="9347" y="345319"/>
                </a:lnTo>
                <a:lnTo>
                  <a:pt x="5994" y="331354"/>
                </a:lnTo>
                <a:lnTo>
                  <a:pt x="3377" y="317233"/>
                </a:lnTo>
                <a:lnTo>
                  <a:pt x="1502" y="302994"/>
                </a:lnTo>
                <a:lnTo>
                  <a:pt x="375" y="288676"/>
                </a:lnTo>
                <a:lnTo>
                  <a:pt x="0" y="274320"/>
                </a:lnTo>
                <a:lnTo>
                  <a:pt x="375" y="259963"/>
                </a:lnTo>
                <a:lnTo>
                  <a:pt x="1502" y="245645"/>
                </a:lnTo>
                <a:lnTo>
                  <a:pt x="3377" y="231406"/>
                </a:lnTo>
                <a:lnTo>
                  <a:pt x="5994" y="217285"/>
                </a:lnTo>
                <a:lnTo>
                  <a:pt x="9347" y="203320"/>
                </a:lnTo>
                <a:lnTo>
                  <a:pt x="13426" y="189550"/>
                </a:lnTo>
                <a:lnTo>
                  <a:pt x="18220" y="176012"/>
                </a:lnTo>
                <a:lnTo>
                  <a:pt x="23716" y="162744"/>
                </a:lnTo>
                <a:lnTo>
                  <a:pt x="29899" y="149781"/>
                </a:lnTo>
                <a:lnTo>
                  <a:pt x="36751" y="137160"/>
                </a:lnTo>
                <a:lnTo>
                  <a:pt x="44255" y="124914"/>
                </a:lnTo>
                <a:lnTo>
                  <a:pt x="52390" y="113078"/>
                </a:lnTo>
                <a:lnTo>
                  <a:pt x="61133" y="101684"/>
                </a:lnTo>
                <a:lnTo>
                  <a:pt x="70460" y="90764"/>
                </a:lnTo>
                <a:lnTo>
                  <a:pt x="80346" y="80346"/>
                </a:lnTo>
                <a:lnTo>
                  <a:pt x="90764" y="70460"/>
                </a:lnTo>
                <a:lnTo>
                  <a:pt x="101684" y="61133"/>
                </a:lnTo>
                <a:lnTo>
                  <a:pt x="113078" y="52390"/>
                </a:lnTo>
                <a:lnTo>
                  <a:pt x="124914" y="44255"/>
                </a:lnTo>
                <a:lnTo>
                  <a:pt x="137159" y="36751"/>
                </a:lnTo>
                <a:lnTo>
                  <a:pt x="149781" y="29899"/>
                </a:lnTo>
                <a:lnTo>
                  <a:pt x="162744" y="23716"/>
                </a:lnTo>
                <a:lnTo>
                  <a:pt x="176012" y="18220"/>
                </a:lnTo>
                <a:lnTo>
                  <a:pt x="189550" y="13426"/>
                </a:lnTo>
                <a:lnTo>
                  <a:pt x="203320" y="9347"/>
                </a:lnTo>
                <a:lnTo>
                  <a:pt x="217285" y="5994"/>
                </a:lnTo>
                <a:lnTo>
                  <a:pt x="231406" y="3377"/>
                </a:lnTo>
                <a:lnTo>
                  <a:pt x="245645"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114550"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675637"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 / EHH</a:t>
            </a:r>
          </a:p>
        </p:txBody>
      </p:sp>
      <p:sp>
        <p:nvSpPr>
          <p:cNvPr id="23" name="Freeform 22"/>
          <p:cNvSpPr/>
          <p:nvPr/>
        </p:nvSpPr>
        <p:spPr>
          <a:xfrm>
            <a:off x="4164177" y="2523744"/>
            <a:ext cx="274320" cy="548640"/>
          </a:xfrm>
          <a:custGeom>
            <a:avLst/>
            <a:gdLst/>
            <a:ahLst/>
            <a:cxnLst/>
            <a:rect l="l" t="t" r="r" b="b"/>
            <a:pathLst>
              <a:path w="274320" h="548640">
                <a:moveTo>
                  <a:pt x="0" y="0"/>
                </a:moveTo>
                <a:lnTo>
                  <a:pt x="21523" y="845"/>
                </a:lnTo>
                <a:lnTo>
                  <a:pt x="42913" y="3377"/>
                </a:lnTo>
                <a:lnTo>
                  <a:pt x="64039" y="7579"/>
                </a:lnTo>
                <a:lnTo>
                  <a:pt x="84770" y="13426"/>
                </a:lnTo>
                <a:lnTo>
                  <a:pt x="104978" y="20881"/>
                </a:lnTo>
                <a:lnTo>
                  <a:pt x="124539" y="29899"/>
                </a:lnTo>
                <a:lnTo>
                  <a:pt x="143332" y="40423"/>
                </a:lnTo>
                <a:lnTo>
                  <a:pt x="161241" y="52390"/>
                </a:lnTo>
                <a:lnTo>
                  <a:pt x="178157" y="65725"/>
                </a:lnTo>
                <a:lnTo>
                  <a:pt x="193974" y="80346"/>
                </a:lnTo>
                <a:lnTo>
                  <a:pt x="208595" y="96163"/>
                </a:lnTo>
                <a:lnTo>
                  <a:pt x="221930" y="113078"/>
                </a:lnTo>
                <a:lnTo>
                  <a:pt x="233896" y="130988"/>
                </a:lnTo>
                <a:lnTo>
                  <a:pt x="244421" y="149781"/>
                </a:lnTo>
                <a:lnTo>
                  <a:pt x="253439" y="169342"/>
                </a:lnTo>
                <a:lnTo>
                  <a:pt x="260894" y="189550"/>
                </a:lnTo>
                <a:lnTo>
                  <a:pt x="266741" y="210281"/>
                </a:lnTo>
                <a:lnTo>
                  <a:pt x="270943" y="231406"/>
                </a:lnTo>
                <a:lnTo>
                  <a:pt x="273474" y="252797"/>
                </a:lnTo>
                <a:lnTo>
                  <a:pt x="274320" y="274320"/>
                </a:lnTo>
                <a:lnTo>
                  <a:pt x="273474" y="295842"/>
                </a:lnTo>
                <a:lnTo>
                  <a:pt x="270943" y="317233"/>
                </a:lnTo>
                <a:lnTo>
                  <a:pt x="266741" y="338358"/>
                </a:lnTo>
                <a:lnTo>
                  <a:pt x="260894" y="359089"/>
                </a:lnTo>
                <a:lnTo>
                  <a:pt x="253439" y="379297"/>
                </a:lnTo>
                <a:lnTo>
                  <a:pt x="244421" y="398858"/>
                </a:lnTo>
                <a:lnTo>
                  <a:pt x="233896" y="417651"/>
                </a:lnTo>
                <a:lnTo>
                  <a:pt x="221930" y="435561"/>
                </a:lnTo>
                <a:lnTo>
                  <a:pt x="208595" y="452476"/>
                </a:lnTo>
                <a:lnTo>
                  <a:pt x="193974" y="468293"/>
                </a:lnTo>
                <a:lnTo>
                  <a:pt x="178157" y="482914"/>
                </a:lnTo>
                <a:lnTo>
                  <a:pt x="161241" y="496249"/>
                </a:lnTo>
                <a:lnTo>
                  <a:pt x="143332" y="508216"/>
                </a:lnTo>
                <a:lnTo>
                  <a:pt x="124539" y="518740"/>
                </a:lnTo>
                <a:lnTo>
                  <a:pt x="104978" y="527758"/>
                </a:lnTo>
                <a:lnTo>
                  <a:pt x="84770" y="535213"/>
                </a:lnTo>
                <a:lnTo>
                  <a:pt x="64039" y="541060"/>
                </a:lnTo>
                <a:lnTo>
                  <a:pt x="42913" y="545262"/>
                </a:lnTo>
                <a:lnTo>
                  <a:pt x="21523" y="547794"/>
                </a:lnTo>
                <a:lnTo>
                  <a:pt x="0" y="548640"/>
                </a:lnTo>
                <a:lnTo>
                  <a:pt x="0"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Freeform 23"/>
          <p:cNvSpPr/>
          <p:nvPr/>
        </p:nvSpPr>
        <p:spPr>
          <a:xfrm>
            <a:off x="3889857" y="2523744"/>
            <a:ext cx="274320" cy="548640"/>
          </a:xfrm>
          <a:custGeom>
            <a:avLst/>
            <a:gdLst/>
            <a:ahLst/>
            <a:cxnLst/>
            <a:rect l="l" t="t" r="r" b="b"/>
            <a:pathLst>
              <a:path w="274320" h="548640">
                <a:moveTo>
                  <a:pt x="274320" y="548640"/>
                </a:moveTo>
                <a:lnTo>
                  <a:pt x="252797" y="547794"/>
                </a:lnTo>
                <a:lnTo>
                  <a:pt x="231407" y="545262"/>
                </a:lnTo>
                <a:lnTo>
                  <a:pt x="210281" y="541060"/>
                </a:lnTo>
                <a:lnTo>
                  <a:pt x="189551" y="535213"/>
                </a:lnTo>
                <a:lnTo>
                  <a:pt x="169342" y="527758"/>
                </a:lnTo>
                <a:lnTo>
                  <a:pt x="149781" y="518740"/>
                </a:lnTo>
                <a:lnTo>
                  <a:pt x="130988" y="508216"/>
                </a:lnTo>
                <a:lnTo>
                  <a:pt x="113079" y="496249"/>
                </a:lnTo>
                <a:lnTo>
                  <a:pt x="96164" y="482914"/>
                </a:lnTo>
                <a:lnTo>
                  <a:pt x="80347" y="468293"/>
                </a:lnTo>
                <a:lnTo>
                  <a:pt x="65726" y="452476"/>
                </a:lnTo>
                <a:lnTo>
                  <a:pt x="52391" y="435561"/>
                </a:lnTo>
                <a:lnTo>
                  <a:pt x="40424" y="417651"/>
                </a:lnTo>
                <a:lnTo>
                  <a:pt x="29899" y="398858"/>
                </a:lnTo>
                <a:lnTo>
                  <a:pt x="20881" y="379297"/>
                </a:lnTo>
                <a:lnTo>
                  <a:pt x="13426" y="359089"/>
                </a:lnTo>
                <a:lnTo>
                  <a:pt x="7580" y="338358"/>
                </a:lnTo>
                <a:lnTo>
                  <a:pt x="3377" y="317233"/>
                </a:lnTo>
                <a:lnTo>
                  <a:pt x="846" y="295842"/>
                </a:lnTo>
                <a:lnTo>
                  <a:pt x="0" y="274320"/>
                </a:lnTo>
                <a:lnTo>
                  <a:pt x="846" y="252797"/>
                </a:lnTo>
                <a:lnTo>
                  <a:pt x="3377" y="231406"/>
                </a:lnTo>
                <a:lnTo>
                  <a:pt x="7580" y="210281"/>
                </a:lnTo>
                <a:lnTo>
                  <a:pt x="13426" y="189550"/>
                </a:lnTo>
                <a:lnTo>
                  <a:pt x="20881" y="169342"/>
                </a:lnTo>
                <a:lnTo>
                  <a:pt x="29899" y="149781"/>
                </a:lnTo>
                <a:lnTo>
                  <a:pt x="40424" y="130988"/>
                </a:lnTo>
                <a:lnTo>
                  <a:pt x="52391" y="113078"/>
                </a:lnTo>
                <a:lnTo>
                  <a:pt x="65726" y="96163"/>
                </a:lnTo>
                <a:lnTo>
                  <a:pt x="80347" y="80346"/>
                </a:lnTo>
                <a:lnTo>
                  <a:pt x="96164" y="65725"/>
                </a:lnTo>
                <a:lnTo>
                  <a:pt x="113079" y="52390"/>
                </a:lnTo>
                <a:lnTo>
                  <a:pt x="130988" y="40423"/>
                </a:lnTo>
                <a:lnTo>
                  <a:pt x="149781" y="29899"/>
                </a:lnTo>
                <a:lnTo>
                  <a:pt x="169342" y="20881"/>
                </a:lnTo>
                <a:lnTo>
                  <a:pt x="189551" y="13426"/>
                </a:lnTo>
                <a:lnTo>
                  <a:pt x="210281" y="7579"/>
                </a:lnTo>
                <a:lnTo>
                  <a:pt x="231407" y="3377"/>
                </a:lnTo>
                <a:lnTo>
                  <a:pt x="252797" y="84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388985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45094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SEH + EHH</a:t>
            </a:r>
          </a:p>
        </p:txBody>
      </p:sp>
      <p:sp>
        <p:nvSpPr>
          <p:cNvPr id="27" name="Freeform 26"/>
          <p:cNvSpPr/>
          <p:nvPr/>
        </p:nvSpPr>
        <p:spPr>
          <a:xfrm>
            <a:off x="5055717" y="2523744"/>
            <a:ext cx="274320" cy="548640"/>
          </a:xfrm>
          <a:custGeom>
            <a:avLst/>
            <a:gdLst/>
            <a:ahLst/>
            <a:cxnLst/>
            <a:rect l="l" t="t" r="r" b="b"/>
            <a:pathLst>
              <a:path w="274320" h="548640">
                <a:moveTo>
                  <a:pt x="0" y="0"/>
                </a:moveTo>
                <a:lnTo>
                  <a:pt x="21523" y="845"/>
                </a:lnTo>
                <a:lnTo>
                  <a:pt x="42913" y="3377"/>
                </a:lnTo>
                <a:lnTo>
                  <a:pt x="64039" y="7579"/>
                </a:lnTo>
                <a:lnTo>
                  <a:pt x="84770" y="13426"/>
                </a:lnTo>
                <a:lnTo>
                  <a:pt x="104978" y="20881"/>
                </a:lnTo>
                <a:lnTo>
                  <a:pt x="124539" y="29899"/>
                </a:lnTo>
                <a:lnTo>
                  <a:pt x="143332" y="40423"/>
                </a:lnTo>
                <a:lnTo>
                  <a:pt x="161241" y="52390"/>
                </a:lnTo>
                <a:lnTo>
                  <a:pt x="178157" y="65725"/>
                </a:lnTo>
                <a:lnTo>
                  <a:pt x="193974" y="80346"/>
                </a:lnTo>
                <a:lnTo>
                  <a:pt x="208595" y="96163"/>
                </a:lnTo>
                <a:lnTo>
                  <a:pt x="221930" y="113078"/>
                </a:lnTo>
                <a:lnTo>
                  <a:pt x="233896" y="130988"/>
                </a:lnTo>
                <a:lnTo>
                  <a:pt x="244421" y="149781"/>
                </a:lnTo>
                <a:lnTo>
                  <a:pt x="253439" y="169342"/>
                </a:lnTo>
                <a:lnTo>
                  <a:pt x="260894" y="189550"/>
                </a:lnTo>
                <a:lnTo>
                  <a:pt x="266741" y="210281"/>
                </a:lnTo>
                <a:lnTo>
                  <a:pt x="270943" y="231406"/>
                </a:lnTo>
                <a:lnTo>
                  <a:pt x="273474" y="252797"/>
                </a:lnTo>
                <a:lnTo>
                  <a:pt x="274320" y="274320"/>
                </a:lnTo>
                <a:lnTo>
                  <a:pt x="273474" y="295842"/>
                </a:lnTo>
                <a:lnTo>
                  <a:pt x="270943" y="317233"/>
                </a:lnTo>
                <a:lnTo>
                  <a:pt x="266741" y="338358"/>
                </a:lnTo>
                <a:lnTo>
                  <a:pt x="260894" y="359089"/>
                </a:lnTo>
                <a:lnTo>
                  <a:pt x="253439" y="379297"/>
                </a:lnTo>
                <a:lnTo>
                  <a:pt x="244421" y="398858"/>
                </a:lnTo>
                <a:lnTo>
                  <a:pt x="233896" y="417651"/>
                </a:lnTo>
                <a:lnTo>
                  <a:pt x="221930" y="435561"/>
                </a:lnTo>
                <a:lnTo>
                  <a:pt x="208595" y="452476"/>
                </a:lnTo>
                <a:lnTo>
                  <a:pt x="193974" y="468293"/>
                </a:lnTo>
                <a:lnTo>
                  <a:pt x="178157" y="482914"/>
                </a:lnTo>
                <a:lnTo>
                  <a:pt x="161241" y="496249"/>
                </a:lnTo>
                <a:lnTo>
                  <a:pt x="143332" y="508216"/>
                </a:lnTo>
                <a:lnTo>
                  <a:pt x="124539" y="518740"/>
                </a:lnTo>
                <a:lnTo>
                  <a:pt x="104978" y="527758"/>
                </a:lnTo>
                <a:lnTo>
                  <a:pt x="84770" y="535213"/>
                </a:lnTo>
                <a:lnTo>
                  <a:pt x="64039" y="541060"/>
                </a:lnTo>
                <a:lnTo>
                  <a:pt x="42913" y="545262"/>
                </a:lnTo>
                <a:lnTo>
                  <a:pt x="21523"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Freeform 27"/>
          <p:cNvSpPr/>
          <p:nvPr/>
        </p:nvSpPr>
        <p:spPr>
          <a:xfrm>
            <a:off x="4781397" y="2523744"/>
            <a:ext cx="274320" cy="548640"/>
          </a:xfrm>
          <a:custGeom>
            <a:avLst/>
            <a:gdLst/>
            <a:ahLst/>
            <a:cxnLst/>
            <a:rect l="l" t="t" r="r" b="b"/>
            <a:pathLst>
              <a:path w="274320" h="548640">
                <a:moveTo>
                  <a:pt x="274320" y="548640"/>
                </a:moveTo>
                <a:lnTo>
                  <a:pt x="252797" y="547794"/>
                </a:lnTo>
                <a:lnTo>
                  <a:pt x="231407" y="545262"/>
                </a:lnTo>
                <a:lnTo>
                  <a:pt x="210281" y="541060"/>
                </a:lnTo>
                <a:lnTo>
                  <a:pt x="189551" y="535213"/>
                </a:lnTo>
                <a:lnTo>
                  <a:pt x="169342" y="527758"/>
                </a:lnTo>
                <a:lnTo>
                  <a:pt x="149781" y="518740"/>
                </a:lnTo>
                <a:lnTo>
                  <a:pt x="130988" y="508216"/>
                </a:lnTo>
                <a:lnTo>
                  <a:pt x="113079" y="496249"/>
                </a:lnTo>
                <a:lnTo>
                  <a:pt x="96164" y="482914"/>
                </a:lnTo>
                <a:lnTo>
                  <a:pt x="80347" y="468293"/>
                </a:lnTo>
                <a:lnTo>
                  <a:pt x="65726" y="452476"/>
                </a:lnTo>
                <a:lnTo>
                  <a:pt x="52391" y="435561"/>
                </a:lnTo>
                <a:lnTo>
                  <a:pt x="40424" y="417651"/>
                </a:lnTo>
                <a:lnTo>
                  <a:pt x="29899" y="398858"/>
                </a:lnTo>
                <a:lnTo>
                  <a:pt x="20881" y="379297"/>
                </a:lnTo>
                <a:lnTo>
                  <a:pt x="13426" y="359089"/>
                </a:lnTo>
                <a:lnTo>
                  <a:pt x="7580" y="338358"/>
                </a:lnTo>
                <a:lnTo>
                  <a:pt x="3377" y="317233"/>
                </a:lnTo>
                <a:lnTo>
                  <a:pt x="846" y="295842"/>
                </a:lnTo>
                <a:lnTo>
                  <a:pt x="0" y="274320"/>
                </a:lnTo>
                <a:lnTo>
                  <a:pt x="846" y="252797"/>
                </a:lnTo>
                <a:lnTo>
                  <a:pt x="3377" y="231406"/>
                </a:lnTo>
                <a:lnTo>
                  <a:pt x="7580" y="210281"/>
                </a:lnTo>
                <a:lnTo>
                  <a:pt x="13426" y="189550"/>
                </a:lnTo>
                <a:lnTo>
                  <a:pt x="20881" y="169342"/>
                </a:lnTo>
                <a:lnTo>
                  <a:pt x="29899" y="149781"/>
                </a:lnTo>
                <a:lnTo>
                  <a:pt x="40424" y="130988"/>
                </a:lnTo>
                <a:lnTo>
                  <a:pt x="52391" y="113078"/>
                </a:lnTo>
                <a:lnTo>
                  <a:pt x="65726" y="96163"/>
                </a:lnTo>
                <a:lnTo>
                  <a:pt x="80347" y="80346"/>
                </a:lnTo>
                <a:lnTo>
                  <a:pt x="96164" y="65725"/>
                </a:lnTo>
                <a:lnTo>
                  <a:pt x="113079" y="52390"/>
                </a:lnTo>
                <a:lnTo>
                  <a:pt x="130988" y="40423"/>
                </a:lnTo>
                <a:lnTo>
                  <a:pt x="149781" y="29899"/>
                </a:lnTo>
                <a:lnTo>
                  <a:pt x="169342" y="20881"/>
                </a:lnTo>
                <a:lnTo>
                  <a:pt x="189551" y="13426"/>
                </a:lnTo>
                <a:lnTo>
                  <a:pt x="210281" y="7579"/>
                </a:lnTo>
                <a:lnTo>
                  <a:pt x="231407" y="3377"/>
                </a:lnTo>
                <a:lnTo>
                  <a:pt x="252797" y="845"/>
                </a:lnTo>
                <a:lnTo>
                  <a:pt x="274320" y="0"/>
                </a:lnTo>
                <a:lnTo>
                  <a:pt x="274320" y="27432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78139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34248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a:t>
            </a:r>
          </a:p>
        </p:txBody>
      </p:sp>
      <p:sp>
        <p:nvSpPr>
          <p:cNvPr id="31" name="Freeform 30"/>
          <p:cNvSpPr/>
          <p:nvPr/>
        </p:nvSpPr>
        <p:spPr>
          <a:xfrm>
            <a:off x="2699765" y="2798064"/>
            <a:ext cx="1153516" cy="0"/>
          </a:xfrm>
          <a:custGeom>
            <a:avLst/>
            <a:gdLst/>
            <a:ahLst/>
            <a:cxnLst/>
            <a:rect l="l" t="t" r="r" b="b"/>
            <a:pathLst>
              <a:path w="1153516">
                <a:moveTo>
                  <a:pt x="0" y="0"/>
                </a:moveTo>
                <a:lnTo>
                  <a:pt x="26217" y="0"/>
                </a:lnTo>
                <a:lnTo>
                  <a:pt x="52433" y="0"/>
                </a:lnTo>
                <a:lnTo>
                  <a:pt x="78649" y="0"/>
                </a:lnTo>
                <a:lnTo>
                  <a:pt x="104866" y="0"/>
                </a:lnTo>
                <a:lnTo>
                  <a:pt x="131082" y="0"/>
                </a:lnTo>
                <a:lnTo>
                  <a:pt x="157298" y="0"/>
                </a:lnTo>
                <a:lnTo>
                  <a:pt x="183514" y="0"/>
                </a:lnTo>
                <a:lnTo>
                  <a:pt x="209731" y="0"/>
                </a:lnTo>
                <a:lnTo>
                  <a:pt x="235947" y="0"/>
                </a:lnTo>
                <a:lnTo>
                  <a:pt x="262163" y="0"/>
                </a:lnTo>
                <a:lnTo>
                  <a:pt x="288379" y="0"/>
                </a:lnTo>
                <a:lnTo>
                  <a:pt x="314596" y="0"/>
                </a:lnTo>
                <a:lnTo>
                  <a:pt x="340812" y="0"/>
                </a:lnTo>
                <a:lnTo>
                  <a:pt x="367028" y="0"/>
                </a:lnTo>
                <a:lnTo>
                  <a:pt x="393244" y="0"/>
                </a:lnTo>
                <a:lnTo>
                  <a:pt x="419461" y="0"/>
                </a:lnTo>
                <a:lnTo>
                  <a:pt x="445677" y="0"/>
                </a:lnTo>
                <a:lnTo>
                  <a:pt x="471893" y="0"/>
                </a:lnTo>
                <a:lnTo>
                  <a:pt x="498110" y="0"/>
                </a:lnTo>
                <a:lnTo>
                  <a:pt x="524326" y="0"/>
                </a:lnTo>
                <a:lnTo>
                  <a:pt x="550542" y="0"/>
                </a:lnTo>
                <a:lnTo>
                  <a:pt x="576758" y="0"/>
                </a:lnTo>
                <a:lnTo>
                  <a:pt x="602975" y="0"/>
                </a:lnTo>
                <a:lnTo>
                  <a:pt x="629191" y="0"/>
                </a:lnTo>
                <a:lnTo>
                  <a:pt x="655407" y="0"/>
                </a:lnTo>
                <a:lnTo>
                  <a:pt x="681623" y="0"/>
                </a:lnTo>
                <a:lnTo>
                  <a:pt x="707840" y="0"/>
                </a:lnTo>
                <a:lnTo>
                  <a:pt x="734056" y="0"/>
                </a:lnTo>
                <a:lnTo>
                  <a:pt x="760272" y="0"/>
                </a:lnTo>
                <a:lnTo>
                  <a:pt x="786488" y="0"/>
                </a:lnTo>
                <a:lnTo>
                  <a:pt x="812705" y="0"/>
                </a:lnTo>
                <a:lnTo>
                  <a:pt x="838921" y="0"/>
                </a:lnTo>
                <a:lnTo>
                  <a:pt x="865137" y="0"/>
                </a:lnTo>
                <a:lnTo>
                  <a:pt x="891353" y="0"/>
                </a:lnTo>
                <a:lnTo>
                  <a:pt x="917570" y="0"/>
                </a:lnTo>
                <a:lnTo>
                  <a:pt x="943786" y="0"/>
                </a:lnTo>
                <a:lnTo>
                  <a:pt x="970002" y="0"/>
                </a:lnTo>
                <a:lnTo>
                  <a:pt x="996219" y="0"/>
                </a:lnTo>
                <a:lnTo>
                  <a:pt x="1022435" y="0"/>
                </a:lnTo>
                <a:lnTo>
                  <a:pt x="1048651" y="0"/>
                </a:lnTo>
                <a:lnTo>
                  <a:pt x="1074867" y="0"/>
                </a:lnTo>
                <a:lnTo>
                  <a:pt x="1101084" y="0"/>
                </a:lnTo>
                <a:lnTo>
                  <a:pt x="1127300"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2644901"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3798417"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6278727" y="1700784"/>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6479895" y="1865376"/>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2</a:t>
            </a:r>
          </a:p>
        </p:txBody>
      </p:sp>
      <p:sp>
        <p:nvSpPr>
          <p:cNvPr id="36" name="TextBox 35"/>
          <p:cNvSpPr txBox="1"/>
          <p:nvPr/>
        </p:nvSpPr>
        <p:spPr>
          <a:xfrm>
            <a:off x="6991959" y="1865376"/>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ICU en SCU samen op de ICU</a:t>
            </a:r>
          </a:p>
        </p:txBody>
      </p:sp>
      <p:sp>
        <p:nvSpPr>
          <p:cNvPr id="37" name="TextBox 36"/>
          <p:cNvSpPr txBox="1"/>
          <p:nvPr/>
        </p:nvSpPr>
        <p:spPr>
          <a:xfrm>
            <a:off x="6690207"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38" name="TextBox 37"/>
          <p:cNvSpPr txBox="1"/>
          <p:nvPr/>
        </p:nvSpPr>
        <p:spPr>
          <a:xfrm>
            <a:off x="9357055"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39" name="Oval 38"/>
          <p:cNvSpPr/>
          <p:nvPr/>
        </p:nvSpPr>
        <p:spPr>
          <a:xfrm>
            <a:off x="6861657" y="2523744"/>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686165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42274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a:t>
            </a:r>
          </a:p>
        </p:txBody>
      </p:sp>
      <p:sp>
        <p:nvSpPr>
          <p:cNvPr id="42" name="Freeform 41"/>
          <p:cNvSpPr/>
          <p:nvPr/>
        </p:nvSpPr>
        <p:spPr>
          <a:xfrm>
            <a:off x="8027517" y="2523744"/>
            <a:ext cx="274320" cy="411480"/>
          </a:xfrm>
          <a:custGeom>
            <a:avLst/>
            <a:gdLst/>
            <a:ahLst/>
            <a:cxnLst/>
            <a:rect l="l" t="t" r="r" b="b"/>
            <a:pathLst>
              <a:path w="274320" h="411480">
                <a:moveTo>
                  <a:pt x="0" y="0"/>
                </a:moveTo>
                <a:lnTo>
                  <a:pt x="14357" y="375"/>
                </a:lnTo>
                <a:lnTo>
                  <a:pt x="28674" y="1502"/>
                </a:lnTo>
                <a:lnTo>
                  <a:pt x="42913" y="3377"/>
                </a:lnTo>
                <a:lnTo>
                  <a:pt x="57034" y="5994"/>
                </a:lnTo>
                <a:lnTo>
                  <a:pt x="70999" y="9347"/>
                </a:lnTo>
                <a:lnTo>
                  <a:pt x="84770" y="13426"/>
                </a:lnTo>
                <a:lnTo>
                  <a:pt x="98308" y="18220"/>
                </a:lnTo>
                <a:lnTo>
                  <a:pt x="111576" y="23716"/>
                </a:lnTo>
                <a:lnTo>
                  <a:pt x="124539" y="29899"/>
                </a:lnTo>
                <a:lnTo>
                  <a:pt x="137160" y="36751"/>
                </a:lnTo>
                <a:lnTo>
                  <a:pt x="149405" y="44255"/>
                </a:lnTo>
                <a:lnTo>
                  <a:pt x="161241" y="52390"/>
                </a:lnTo>
                <a:lnTo>
                  <a:pt x="172635" y="61133"/>
                </a:lnTo>
                <a:lnTo>
                  <a:pt x="183556" y="70460"/>
                </a:lnTo>
                <a:lnTo>
                  <a:pt x="193974" y="80346"/>
                </a:lnTo>
                <a:lnTo>
                  <a:pt x="203860" y="90764"/>
                </a:lnTo>
                <a:lnTo>
                  <a:pt x="213187" y="101684"/>
                </a:lnTo>
                <a:lnTo>
                  <a:pt x="221930" y="113078"/>
                </a:lnTo>
                <a:lnTo>
                  <a:pt x="230064" y="124914"/>
                </a:lnTo>
                <a:lnTo>
                  <a:pt x="237568" y="137160"/>
                </a:lnTo>
                <a:lnTo>
                  <a:pt x="244421" y="149781"/>
                </a:lnTo>
                <a:lnTo>
                  <a:pt x="250604" y="162744"/>
                </a:lnTo>
                <a:lnTo>
                  <a:pt x="256100" y="176012"/>
                </a:lnTo>
                <a:lnTo>
                  <a:pt x="260894" y="189550"/>
                </a:lnTo>
                <a:lnTo>
                  <a:pt x="264973" y="203320"/>
                </a:lnTo>
                <a:lnTo>
                  <a:pt x="268326" y="217285"/>
                </a:lnTo>
                <a:lnTo>
                  <a:pt x="270943" y="231406"/>
                </a:lnTo>
                <a:lnTo>
                  <a:pt x="272817" y="245645"/>
                </a:lnTo>
                <a:lnTo>
                  <a:pt x="273944" y="259963"/>
                </a:lnTo>
                <a:lnTo>
                  <a:pt x="274320" y="274320"/>
                </a:lnTo>
                <a:lnTo>
                  <a:pt x="273944" y="288676"/>
                </a:lnTo>
                <a:lnTo>
                  <a:pt x="272817" y="302994"/>
                </a:lnTo>
                <a:lnTo>
                  <a:pt x="270943" y="317233"/>
                </a:lnTo>
                <a:lnTo>
                  <a:pt x="268326" y="331354"/>
                </a:lnTo>
                <a:lnTo>
                  <a:pt x="264973" y="345319"/>
                </a:lnTo>
                <a:lnTo>
                  <a:pt x="260894" y="359089"/>
                </a:lnTo>
                <a:lnTo>
                  <a:pt x="256100" y="372627"/>
                </a:lnTo>
                <a:lnTo>
                  <a:pt x="250604" y="385895"/>
                </a:lnTo>
                <a:lnTo>
                  <a:pt x="244421"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Freeform 42"/>
          <p:cNvSpPr/>
          <p:nvPr/>
        </p:nvSpPr>
        <p:spPr>
          <a:xfrm>
            <a:off x="7789949" y="2798064"/>
            <a:ext cx="475136" cy="274320"/>
          </a:xfrm>
          <a:custGeom>
            <a:avLst/>
            <a:gdLst/>
            <a:ahLst/>
            <a:cxnLst/>
            <a:rect l="l" t="t" r="r" b="b"/>
            <a:pathLst>
              <a:path w="475136" h="274320">
                <a:moveTo>
                  <a:pt x="475136" y="137160"/>
                </a:moveTo>
                <a:lnTo>
                  <a:pt x="467632" y="149405"/>
                </a:lnTo>
                <a:lnTo>
                  <a:pt x="459498" y="161241"/>
                </a:lnTo>
                <a:lnTo>
                  <a:pt x="450755" y="172635"/>
                </a:lnTo>
                <a:lnTo>
                  <a:pt x="441428" y="183555"/>
                </a:lnTo>
                <a:lnTo>
                  <a:pt x="431542" y="193973"/>
                </a:lnTo>
                <a:lnTo>
                  <a:pt x="421124" y="203859"/>
                </a:lnTo>
                <a:lnTo>
                  <a:pt x="410203" y="213186"/>
                </a:lnTo>
                <a:lnTo>
                  <a:pt x="398809" y="221929"/>
                </a:lnTo>
                <a:lnTo>
                  <a:pt x="386973" y="230064"/>
                </a:lnTo>
                <a:lnTo>
                  <a:pt x="374728" y="237568"/>
                </a:lnTo>
                <a:lnTo>
                  <a:pt x="362107" y="244420"/>
                </a:lnTo>
                <a:lnTo>
                  <a:pt x="349144" y="250603"/>
                </a:lnTo>
                <a:lnTo>
                  <a:pt x="335876" y="256099"/>
                </a:lnTo>
                <a:lnTo>
                  <a:pt x="322338" y="260893"/>
                </a:lnTo>
                <a:lnTo>
                  <a:pt x="308567" y="264972"/>
                </a:lnTo>
                <a:lnTo>
                  <a:pt x="294602" y="268325"/>
                </a:lnTo>
                <a:lnTo>
                  <a:pt x="280481" y="270942"/>
                </a:lnTo>
                <a:lnTo>
                  <a:pt x="266242" y="272817"/>
                </a:lnTo>
                <a:lnTo>
                  <a:pt x="251925" y="273944"/>
                </a:lnTo>
                <a:lnTo>
                  <a:pt x="237568" y="274320"/>
                </a:lnTo>
                <a:lnTo>
                  <a:pt x="223211" y="273944"/>
                </a:lnTo>
                <a:lnTo>
                  <a:pt x="208894" y="272817"/>
                </a:lnTo>
                <a:lnTo>
                  <a:pt x="194655" y="270942"/>
                </a:lnTo>
                <a:lnTo>
                  <a:pt x="180534" y="268325"/>
                </a:lnTo>
                <a:lnTo>
                  <a:pt x="166569" y="264972"/>
                </a:lnTo>
                <a:lnTo>
                  <a:pt x="152799" y="260893"/>
                </a:lnTo>
                <a:lnTo>
                  <a:pt x="139261" y="256099"/>
                </a:lnTo>
                <a:lnTo>
                  <a:pt x="125992" y="250603"/>
                </a:lnTo>
                <a:lnTo>
                  <a:pt x="113029" y="244420"/>
                </a:lnTo>
                <a:lnTo>
                  <a:pt x="100408" y="237568"/>
                </a:lnTo>
                <a:lnTo>
                  <a:pt x="88163" y="230064"/>
                </a:lnTo>
                <a:lnTo>
                  <a:pt x="76327" y="221929"/>
                </a:lnTo>
                <a:lnTo>
                  <a:pt x="64933" y="213186"/>
                </a:lnTo>
                <a:lnTo>
                  <a:pt x="54012" y="203859"/>
                </a:lnTo>
                <a:lnTo>
                  <a:pt x="43595" y="193973"/>
                </a:lnTo>
                <a:lnTo>
                  <a:pt x="33709" y="183555"/>
                </a:lnTo>
                <a:lnTo>
                  <a:pt x="24381" y="172635"/>
                </a:lnTo>
                <a:lnTo>
                  <a:pt x="15639" y="161241"/>
                </a:lnTo>
                <a:lnTo>
                  <a:pt x="7504" y="149405"/>
                </a:lnTo>
                <a:lnTo>
                  <a:pt x="0" y="137160"/>
                </a:lnTo>
                <a:lnTo>
                  <a:pt x="237568" y="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Freeform 43"/>
          <p:cNvSpPr/>
          <p:nvPr/>
        </p:nvSpPr>
        <p:spPr>
          <a:xfrm>
            <a:off x="7753197" y="2523744"/>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123A63"/>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775319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31428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 / EHH</a:t>
            </a:r>
          </a:p>
        </p:txBody>
      </p:sp>
      <p:sp>
        <p:nvSpPr>
          <p:cNvPr id="47" name="Freeform 46"/>
          <p:cNvSpPr/>
          <p:nvPr/>
        </p:nvSpPr>
        <p:spPr>
          <a:xfrm>
            <a:off x="9802825" y="2523744"/>
            <a:ext cx="274320" cy="548640"/>
          </a:xfrm>
          <a:custGeom>
            <a:avLst/>
            <a:gdLst/>
            <a:ahLst/>
            <a:cxnLst/>
            <a:rect l="l" t="t" r="r" b="b"/>
            <a:pathLst>
              <a:path w="274320" h="548640">
                <a:moveTo>
                  <a:pt x="0" y="0"/>
                </a:moveTo>
                <a:lnTo>
                  <a:pt x="21523" y="845"/>
                </a:lnTo>
                <a:lnTo>
                  <a:pt x="42913" y="3377"/>
                </a:lnTo>
                <a:lnTo>
                  <a:pt x="64038" y="7579"/>
                </a:lnTo>
                <a:lnTo>
                  <a:pt x="84769" y="13426"/>
                </a:lnTo>
                <a:lnTo>
                  <a:pt x="104977" y="20881"/>
                </a:lnTo>
                <a:lnTo>
                  <a:pt x="124538" y="29899"/>
                </a:lnTo>
                <a:lnTo>
                  <a:pt x="143332" y="40423"/>
                </a:lnTo>
                <a:lnTo>
                  <a:pt x="161241" y="52390"/>
                </a:lnTo>
                <a:lnTo>
                  <a:pt x="178156" y="65725"/>
                </a:lnTo>
                <a:lnTo>
                  <a:pt x="193973" y="80346"/>
                </a:lnTo>
                <a:lnTo>
                  <a:pt x="208594" y="96163"/>
                </a:lnTo>
                <a:lnTo>
                  <a:pt x="221929" y="113078"/>
                </a:lnTo>
                <a:lnTo>
                  <a:pt x="233896" y="130988"/>
                </a:lnTo>
                <a:lnTo>
                  <a:pt x="244421" y="149781"/>
                </a:lnTo>
                <a:lnTo>
                  <a:pt x="253438" y="169342"/>
                </a:lnTo>
                <a:lnTo>
                  <a:pt x="260894" y="189550"/>
                </a:lnTo>
                <a:lnTo>
                  <a:pt x="266740" y="210281"/>
                </a:lnTo>
                <a:lnTo>
                  <a:pt x="270942" y="231406"/>
                </a:lnTo>
                <a:lnTo>
                  <a:pt x="273474" y="252797"/>
                </a:lnTo>
                <a:lnTo>
                  <a:pt x="274320" y="274320"/>
                </a:lnTo>
                <a:lnTo>
                  <a:pt x="273474" y="295842"/>
                </a:lnTo>
                <a:lnTo>
                  <a:pt x="270942" y="317233"/>
                </a:lnTo>
                <a:lnTo>
                  <a:pt x="266740" y="338358"/>
                </a:lnTo>
                <a:lnTo>
                  <a:pt x="260894" y="359089"/>
                </a:lnTo>
                <a:lnTo>
                  <a:pt x="253438" y="379297"/>
                </a:lnTo>
                <a:lnTo>
                  <a:pt x="244421" y="398858"/>
                </a:lnTo>
                <a:lnTo>
                  <a:pt x="233896" y="417651"/>
                </a:lnTo>
                <a:lnTo>
                  <a:pt x="221929" y="435561"/>
                </a:lnTo>
                <a:lnTo>
                  <a:pt x="208594" y="452476"/>
                </a:lnTo>
                <a:lnTo>
                  <a:pt x="193973" y="468293"/>
                </a:lnTo>
                <a:lnTo>
                  <a:pt x="178156" y="482914"/>
                </a:lnTo>
                <a:lnTo>
                  <a:pt x="161241" y="496249"/>
                </a:lnTo>
                <a:lnTo>
                  <a:pt x="143332" y="508216"/>
                </a:lnTo>
                <a:lnTo>
                  <a:pt x="124538" y="518740"/>
                </a:lnTo>
                <a:lnTo>
                  <a:pt x="104977" y="527758"/>
                </a:lnTo>
                <a:lnTo>
                  <a:pt x="84769" y="535213"/>
                </a:lnTo>
                <a:lnTo>
                  <a:pt x="64038" y="541060"/>
                </a:lnTo>
                <a:lnTo>
                  <a:pt x="42913" y="545262"/>
                </a:lnTo>
                <a:lnTo>
                  <a:pt x="21523" y="547794"/>
                </a:lnTo>
                <a:lnTo>
                  <a:pt x="0" y="548640"/>
                </a:lnTo>
                <a:lnTo>
                  <a:pt x="0"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Freeform 47"/>
          <p:cNvSpPr/>
          <p:nvPr/>
        </p:nvSpPr>
        <p:spPr>
          <a:xfrm>
            <a:off x="9528505" y="2523744"/>
            <a:ext cx="274320" cy="548640"/>
          </a:xfrm>
          <a:custGeom>
            <a:avLst/>
            <a:gdLst/>
            <a:ahLst/>
            <a:cxnLst/>
            <a:rect l="l" t="t" r="r" b="b"/>
            <a:pathLst>
              <a:path w="274320" h="548640">
                <a:moveTo>
                  <a:pt x="274320" y="548640"/>
                </a:moveTo>
                <a:lnTo>
                  <a:pt x="252797" y="547794"/>
                </a:lnTo>
                <a:lnTo>
                  <a:pt x="231407"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7" y="3377"/>
                </a:lnTo>
                <a:lnTo>
                  <a:pt x="252797" y="84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528505"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9089593"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 + SCU</a:t>
            </a:r>
          </a:p>
        </p:txBody>
      </p:sp>
      <p:sp>
        <p:nvSpPr>
          <p:cNvPr id="51" name="Freeform 50"/>
          <p:cNvSpPr/>
          <p:nvPr/>
        </p:nvSpPr>
        <p:spPr>
          <a:xfrm>
            <a:off x="10694365" y="2523744"/>
            <a:ext cx="274320" cy="548640"/>
          </a:xfrm>
          <a:custGeom>
            <a:avLst/>
            <a:gdLst/>
            <a:ahLst/>
            <a:cxnLst/>
            <a:rect l="l" t="t" r="r" b="b"/>
            <a:pathLst>
              <a:path w="274320" h="548640">
                <a:moveTo>
                  <a:pt x="0" y="0"/>
                </a:moveTo>
                <a:lnTo>
                  <a:pt x="21523" y="845"/>
                </a:lnTo>
                <a:lnTo>
                  <a:pt x="42913" y="3377"/>
                </a:lnTo>
                <a:lnTo>
                  <a:pt x="64038" y="7579"/>
                </a:lnTo>
                <a:lnTo>
                  <a:pt x="84769" y="13426"/>
                </a:lnTo>
                <a:lnTo>
                  <a:pt x="104977" y="20881"/>
                </a:lnTo>
                <a:lnTo>
                  <a:pt x="124538" y="29899"/>
                </a:lnTo>
                <a:lnTo>
                  <a:pt x="143332" y="40423"/>
                </a:lnTo>
                <a:lnTo>
                  <a:pt x="161241" y="52390"/>
                </a:lnTo>
                <a:lnTo>
                  <a:pt x="178156" y="65725"/>
                </a:lnTo>
                <a:lnTo>
                  <a:pt x="193973" y="80346"/>
                </a:lnTo>
                <a:lnTo>
                  <a:pt x="208594" y="96163"/>
                </a:lnTo>
                <a:lnTo>
                  <a:pt x="221929" y="113078"/>
                </a:lnTo>
                <a:lnTo>
                  <a:pt x="233896" y="130988"/>
                </a:lnTo>
                <a:lnTo>
                  <a:pt x="244421" y="149781"/>
                </a:lnTo>
                <a:lnTo>
                  <a:pt x="253438" y="169342"/>
                </a:lnTo>
                <a:lnTo>
                  <a:pt x="260894" y="189550"/>
                </a:lnTo>
                <a:lnTo>
                  <a:pt x="266740" y="210281"/>
                </a:lnTo>
                <a:lnTo>
                  <a:pt x="270942" y="231406"/>
                </a:lnTo>
                <a:lnTo>
                  <a:pt x="273474" y="252797"/>
                </a:lnTo>
                <a:lnTo>
                  <a:pt x="274320" y="274320"/>
                </a:lnTo>
                <a:lnTo>
                  <a:pt x="273474" y="295842"/>
                </a:lnTo>
                <a:lnTo>
                  <a:pt x="270942" y="317233"/>
                </a:lnTo>
                <a:lnTo>
                  <a:pt x="266740" y="338358"/>
                </a:lnTo>
                <a:lnTo>
                  <a:pt x="260894" y="359089"/>
                </a:lnTo>
                <a:lnTo>
                  <a:pt x="253438" y="379297"/>
                </a:lnTo>
                <a:lnTo>
                  <a:pt x="244421" y="398858"/>
                </a:lnTo>
                <a:lnTo>
                  <a:pt x="233896" y="417651"/>
                </a:lnTo>
                <a:lnTo>
                  <a:pt x="221929" y="435561"/>
                </a:lnTo>
                <a:lnTo>
                  <a:pt x="208594" y="452476"/>
                </a:lnTo>
                <a:lnTo>
                  <a:pt x="193973" y="468293"/>
                </a:lnTo>
                <a:lnTo>
                  <a:pt x="178156" y="482914"/>
                </a:lnTo>
                <a:lnTo>
                  <a:pt x="161241" y="496249"/>
                </a:lnTo>
                <a:lnTo>
                  <a:pt x="143332" y="508216"/>
                </a:lnTo>
                <a:lnTo>
                  <a:pt x="124538" y="518740"/>
                </a:lnTo>
                <a:lnTo>
                  <a:pt x="104977" y="527758"/>
                </a:lnTo>
                <a:lnTo>
                  <a:pt x="84769" y="535213"/>
                </a:lnTo>
                <a:lnTo>
                  <a:pt x="64038" y="541060"/>
                </a:lnTo>
                <a:lnTo>
                  <a:pt x="42913" y="545262"/>
                </a:lnTo>
                <a:lnTo>
                  <a:pt x="21523"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Freeform 51"/>
          <p:cNvSpPr/>
          <p:nvPr/>
        </p:nvSpPr>
        <p:spPr>
          <a:xfrm>
            <a:off x="10420045" y="2523744"/>
            <a:ext cx="274320" cy="548640"/>
          </a:xfrm>
          <a:custGeom>
            <a:avLst/>
            <a:gdLst/>
            <a:ahLst/>
            <a:cxnLst/>
            <a:rect l="l" t="t" r="r" b="b"/>
            <a:pathLst>
              <a:path w="274320" h="548640">
                <a:moveTo>
                  <a:pt x="274320" y="548640"/>
                </a:moveTo>
                <a:lnTo>
                  <a:pt x="252797" y="547794"/>
                </a:lnTo>
                <a:lnTo>
                  <a:pt x="231407"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7" y="3377"/>
                </a:lnTo>
                <a:lnTo>
                  <a:pt x="252797" y="845"/>
                </a:lnTo>
                <a:lnTo>
                  <a:pt x="274320" y="0"/>
                </a:lnTo>
                <a:lnTo>
                  <a:pt x="274320" y="274320"/>
                </a:lnTo>
                <a:close/>
              </a:path>
            </a:pathLst>
          </a:custGeom>
          <a:solidFill>
            <a:srgbClr val="123A63"/>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10420045"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9981133"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EHH</a:t>
            </a:r>
          </a:p>
        </p:txBody>
      </p:sp>
      <p:sp>
        <p:nvSpPr>
          <p:cNvPr id="55" name="Freeform 54"/>
          <p:cNvSpPr/>
          <p:nvPr/>
        </p:nvSpPr>
        <p:spPr>
          <a:xfrm>
            <a:off x="8338413" y="2798064"/>
            <a:ext cx="1153516" cy="0"/>
          </a:xfrm>
          <a:custGeom>
            <a:avLst/>
            <a:gdLst/>
            <a:ahLst/>
            <a:cxnLst/>
            <a:rect l="l" t="t" r="r" b="b"/>
            <a:pathLst>
              <a:path w="1153516">
                <a:moveTo>
                  <a:pt x="0" y="0"/>
                </a:moveTo>
                <a:lnTo>
                  <a:pt x="26216" y="0"/>
                </a:lnTo>
                <a:lnTo>
                  <a:pt x="52433" y="0"/>
                </a:lnTo>
                <a:lnTo>
                  <a:pt x="78649" y="0"/>
                </a:lnTo>
                <a:lnTo>
                  <a:pt x="104865" y="0"/>
                </a:lnTo>
                <a:lnTo>
                  <a:pt x="131081" y="0"/>
                </a:lnTo>
                <a:lnTo>
                  <a:pt x="157298" y="0"/>
                </a:lnTo>
                <a:lnTo>
                  <a:pt x="183514" y="0"/>
                </a:lnTo>
                <a:lnTo>
                  <a:pt x="209730" y="0"/>
                </a:lnTo>
                <a:lnTo>
                  <a:pt x="235946" y="0"/>
                </a:lnTo>
                <a:lnTo>
                  <a:pt x="262163" y="0"/>
                </a:lnTo>
                <a:lnTo>
                  <a:pt x="288379" y="0"/>
                </a:lnTo>
                <a:lnTo>
                  <a:pt x="314595" y="0"/>
                </a:lnTo>
                <a:lnTo>
                  <a:pt x="340812" y="0"/>
                </a:lnTo>
                <a:lnTo>
                  <a:pt x="367028" y="0"/>
                </a:lnTo>
                <a:lnTo>
                  <a:pt x="393244" y="0"/>
                </a:lnTo>
                <a:lnTo>
                  <a:pt x="419460" y="0"/>
                </a:lnTo>
                <a:lnTo>
                  <a:pt x="445677" y="0"/>
                </a:lnTo>
                <a:lnTo>
                  <a:pt x="471893" y="0"/>
                </a:lnTo>
                <a:lnTo>
                  <a:pt x="498109" y="0"/>
                </a:lnTo>
                <a:lnTo>
                  <a:pt x="524325" y="0"/>
                </a:lnTo>
                <a:lnTo>
                  <a:pt x="550542" y="0"/>
                </a:lnTo>
                <a:lnTo>
                  <a:pt x="576758" y="0"/>
                </a:lnTo>
                <a:lnTo>
                  <a:pt x="602974" y="0"/>
                </a:lnTo>
                <a:lnTo>
                  <a:pt x="629190" y="0"/>
                </a:lnTo>
                <a:lnTo>
                  <a:pt x="655407" y="0"/>
                </a:lnTo>
                <a:lnTo>
                  <a:pt x="681623" y="0"/>
                </a:lnTo>
                <a:lnTo>
                  <a:pt x="707839" y="0"/>
                </a:lnTo>
                <a:lnTo>
                  <a:pt x="734055" y="0"/>
                </a:lnTo>
                <a:lnTo>
                  <a:pt x="760272" y="0"/>
                </a:lnTo>
                <a:lnTo>
                  <a:pt x="786488" y="0"/>
                </a:lnTo>
                <a:lnTo>
                  <a:pt x="812704" y="0"/>
                </a:lnTo>
                <a:lnTo>
                  <a:pt x="838921" y="0"/>
                </a:lnTo>
                <a:lnTo>
                  <a:pt x="865137" y="0"/>
                </a:lnTo>
                <a:lnTo>
                  <a:pt x="891353" y="0"/>
                </a:lnTo>
                <a:lnTo>
                  <a:pt x="917569" y="0"/>
                </a:lnTo>
                <a:lnTo>
                  <a:pt x="943786" y="0"/>
                </a:lnTo>
                <a:lnTo>
                  <a:pt x="970002" y="0"/>
                </a:lnTo>
                <a:lnTo>
                  <a:pt x="996218" y="0"/>
                </a:lnTo>
                <a:lnTo>
                  <a:pt x="1022434" y="0"/>
                </a:lnTo>
                <a:lnTo>
                  <a:pt x="1048651" y="0"/>
                </a:lnTo>
                <a:lnTo>
                  <a:pt x="1074867" y="0"/>
                </a:lnTo>
                <a:lnTo>
                  <a:pt x="1101083" y="0"/>
                </a:lnTo>
                <a:lnTo>
                  <a:pt x="1127299"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8283549"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9437065"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Rounded Rectangle 57"/>
          <p:cNvSpPr/>
          <p:nvPr/>
        </p:nvSpPr>
        <p:spPr>
          <a:xfrm>
            <a:off x="640080" y="3767328"/>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Oval 58"/>
          <p:cNvSpPr/>
          <p:nvPr/>
        </p:nvSpPr>
        <p:spPr>
          <a:xfrm>
            <a:off x="841247" y="3931920"/>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3</a:t>
            </a:r>
          </a:p>
        </p:txBody>
      </p:sp>
      <p:sp>
        <p:nvSpPr>
          <p:cNvPr id="60" name="TextBox 59"/>
          <p:cNvSpPr txBox="1"/>
          <p:nvPr/>
        </p:nvSpPr>
        <p:spPr>
          <a:xfrm>
            <a:off x="1353312" y="3931920"/>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Recovery van de ICU naar CCU / SCU</a:t>
            </a:r>
          </a:p>
        </p:txBody>
      </p:sp>
      <p:sp>
        <p:nvSpPr>
          <p:cNvPr id="61" name="TextBox 60"/>
          <p:cNvSpPr txBox="1"/>
          <p:nvPr/>
        </p:nvSpPr>
        <p:spPr>
          <a:xfrm>
            <a:off x="1051560"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62" name="TextBox 61"/>
          <p:cNvSpPr txBox="1"/>
          <p:nvPr/>
        </p:nvSpPr>
        <p:spPr>
          <a:xfrm>
            <a:off x="3718407"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63" name="Freeform 62"/>
          <p:cNvSpPr/>
          <p:nvPr/>
        </p:nvSpPr>
        <p:spPr>
          <a:xfrm>
            <a:off x="1497330" y="4590288"/>
            <a:ext cx="274320" cy="548640"/>
          </a:xfrm>
          <a:custGeom>
            <a:avLst/>
            <a:gdLst/>
            <a:ahLst/>
            <a:cxnLst/>
            <a:rect l="l" t="t" r="r" b="b"/>
            <a:pathLst>
              <a:path w="274320" h="548640">
                <a:moveTo>
                  <a:pt x="0" y="0"/>
                </a:moveTo>
                <a:lnTo>
                  <a:pt x="21522" y="845"/>
                </a:lnTo>
                <a:lnTo>
                  <a:pt x="42913" y="3377"/>
                </a:lnTo>
                <a:lnTo>
                  <a:pt x="64038" y="7579"/>
                </a:lnTo>
                <a:lnTo>
                  <a:pt x="84769" y="13426"/>
                </a:lnTo>
                <a:lnTo>
                  <a:pt x="104977" y="20881"/>
                </a:lnTo>
                <a:lnTo>
                  <a:pt x="124538" y="29899"/>
                </a:lnTo>
                <a:lnTo>
                  <a:pt x="143331" y="40423"/>
                </a:lnTo>
                <a:lnTo>
                  <a:pt x="161241" y="52390"/>
                </a:lnTo>
                <a:lnTo>
                  <a:pt x="178156" y="65725"/>
                </a:lnTo>
                <a:lnTo>
                  <a:pt x="193973" y="80346"/>
                </a:lnTo>
                <a:lnTo>
                  <a:pt x="208594" y="96163"/>
                </a:lnTo>
                <a:lnTo>
                  <a:pt x="221929" y="113078"/>
                </a:lnTo>
                <a:lnTo>
                  <a:pt x="233896" y="130988"/>
                </a:lnTo>
                <a:lnTo>
                  <a:pt x="244420" y="149781"/>
                </a:lnTo>
                <a:lnTo>
                  <a:pt x="253438" y="169342"/>
                </a:lnTo>
                <a:lnTo>
                  <a:pt x="260893" y="189550"/>
                </a:lnTo>
                <a:lnTo>
                  <a:pt x="266740" y="210281"/>
                </a:lnTo>
                <a:lnTo>
                  <a:pt x="270942" y="231406"/>
                </a:lnTo>
                <a:lnTo>
                  <a:pt x="273474" y="252797"/>
                </a:lnTo>
                <a:lnTo>
                  <a:pt x="274320" y="274320"/>
                </a:lnTo>
                <a:lnTo>
                  <a:pt x="273474" y="295842"/>
                </a:lnTo>
                <a:lnTo>
                  <a:pt x="270942" y="317233"/>
                </a:lnTo>
                <a:lnTo>
                  <a:pt x="266740" y="338358"/>
                </a:lnTo>
                <a:lnTo>
                  <a:pt x="260893" y="359089"/>
                </a:lnTo>
                <a:lnTo>
                  <a:pt x="253438" y="379297"/>
                </a:lnTo>
                <a:lnTo>
                  <a:pt x="244420" y="398858"/>
                </a:lnTo>
                <a:lnTo>
                  <a:pt x="233896" y="417651"/>
                </a:lnTo>
                <a:lnTo>
                  <a:pt x="221929" y="435561"/>
                </a:lnTo>
                <a:lnTo>
                  <a:pt x="208594" y="452476"/>
                </a:lnTo>
                <a:lnTo>
                  <a:pt x="193973" y="468293"/>
                </a:lnTo>
                <a:lnTo>
                  <a:pt x="178156" y="482914"/>
                </a:lnTo>
                <a:lnTo>
                  <a:pt x="161241" y="496249"/>
                </a:lnTo>
                <a:lnTo>
                  <a:pt x="143331" y="508216"/>
                </a:lnTo>
                <a:lnTo>
                  <a:pt x="124538" y="518740"/>
                </a:lnTo>
                <a:lnTo>
                  <a:pt x="104977" y="527758"/>
                </a:lnTo>
                <a:lnTo>
                  <a:pt x="84769" y="535213"/>
                </a:lnTo>
                <a:lnTo>
                  <a:pt x="64038" y="541060"/>
                </a:lnTo>
                <a:lnTo>
                  <a:pt x="42913" y="545262"/>
                </a:lnTo>
                <a:lnTo>
                  <a:pt x="21522"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Freeform 63"/>
          <p:cNvSpPr/>
          <p:nvPr/>
        </p:nvSpPr>
        <p:spPr>
          <a:xfrm>
            <a:off x="1223010" y="4590288"/>
            <a:ext cx="274320" cy="548640"/>
          </a:xfrm>
          <a:custGeom>
            <a:avLst/>
            <a:gdLst/>
            <a:ahLst/>
            <a:cxnLst/>
            <a:rect l="l" t="t" r="r" b="b"/>
            <a:pathLst>
              <a:path w="274320" h="548640">
                <a:moveTo>
                  <a:pt x="274320" y="548640"/>
                </a:moveTo>
                <a:lnTo>
                  <a:pt x="252797" y="547794"/>
                </a:lnTo>
                <a:lnTo>
                  <a:pt x="231406"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6" y="3377"/>
                </a:lnTo>
                <a:lnTo>
                  <a:pt x="252797" y="845"/>
                </a:lnTo>
                <a:lnTo>
                  <a:pt x="274320" y="0"/>
                </a:lnTo>
                <a:lnTo>
                  <a:pt x="274320" y="27432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1223010"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784097"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a:t>
            </a:r>
          </a:p>
        </p:txBody>
      </p:sp>
      <p:sp>
        <p:nvSpPr>
          <p:cNvPr id="67" name="Freeform 66"/>
          <p:cNvSpPr/>
          <p:nvPr/>
        </p:nvSpPr>
        <p:spPr>
          <a:xfrm>
            <a:off x="2151301" y="4590288"/>
            <a:ext cx="511888" cy="548640"/>
          </a:xfrm>
          <a:custGeom>
            <a:avLst/>
            <a:gdLst/>
            <a:ahLst/>
            <a:cxnLst/>
            <a:rect l="l" t="t" r="r" b="b"/>
            <a:pathLst>
              <a:path w="511888" h="548640">
                <a:moveTo>
                  <a:pt x="237569" y="0"/>
                </a:moveTo>
                <a:lnTo>
                  <a:pt x="266243" y="1502"/>
                </a:lnTo>
                <a:lnTo>
                  <a:pt x="294603" y="5994"/>
                </a:lnTo>
                <a:lnTo>
                  <a:pt x="322338" y="13426"/>
                </a:lnTo>
                <a:lnTo>
                  <a:pt x="349144" y="23716"/>
                </a:lnTo>
                <a:lnTo>
                  <a:pt x="374728" y="36751"/>
                </a:lnTo>
                <a:lnTo>
                  <a:pt x="398810" y="52390"/>
                </a:lnTo>
                <a:lnTo>
                  <a:pt x="421124" y="70460"/>
                </a:lnTo>
                <a:lnTo>
                  <a:pt x="441428" y="90764"/>
                </a:lnTo>
                <a:lnTo>
                  <a:pt x="459498" y="113078"/>
                </a:lnTo>
                <a:lnTo>
                  <a:pt x="475137" y="137160"/>
                </a:lnTo>
                <a:lnTo>
                  <a:pt x="488172" y="162744"/>
                </a:lnTo>
                <a:lnTo>
                  <a:pt x="498462" y="189550"/>
                </a:lnTo>
                <a:lnTo>
                  <a:pt x="505894" y="217285"/>
                </a:lnTo>
                <a:lnTo>
                  <a:pt x="510386" y="245645"/>
                </a:lnTo>
                <a:lnTo>
                  <a:pt x="511888" y="274320"/>
                </a:lnTo>
                <a:lnTo>
                  <a:pt x="510386" y="302994"/>
                </a:lnTo>
                <a:lnTo>
                  <a:pt x="505894" y="331354"/>
                </a:lnTo>
                <a:lnTo>
                  <a:pt x="498462" y="359089"/>
                </a:lnTo>
                <a:lnTo>
                  <a:pt x="488172" y="385895"/>
                </a:lnTo>
                <a:lnTo>
                  <a:pt x="475137" y="411480"/>
                </a:lnTo>
                <a:lnTo>
                  <a:pt x="459498" y="435561"/>
                </a:lnTo>
                <a:lnTo>
                  <a:pt x="441428" y="457875"/>
                </a:lnTo>
                <a:lnTo>
                  <a:pt x="421124" y="478179"/>
                </a:lnTo>
                <a:lnTo>
                  <a:pt x="398810" y="496249"/>
                </a:lnTo>
                <a:lnTo>
                  <a:pt x="374728" y="511888"/>
                </a:lnTo>
                <a:lnTo>
                  <a:pt x="349144" y="524923"/>
                </a:lnTo>
                <a:lnTo>
                  <a:pt x="322338" y="535213"/>
                </a:lnTo>
                <a:lnTo>
                  <a:pt x="294603" y="542645"/>
                </a:lnTo>
                <a:lnTo>
                  <a:pt x="266243" y="547137"/>
                </a:lnTo>
                <a:lnTo>
                  <a:pt x="237569" y="548640"/>
                </a:lnTo>
                <a:lnTo>
                  <a:pt x="208894" y="547137"/>
                </a:lnTo>
                <a:lnTo>
                  <a:pt x="180534" y="542645"/>
                </a:lnTo>
                <a:lnTo>
                  <a:pt x="152799" y="535213"/>
                </a:lnTo>
                <a:lnTo>
                  <a:pt x="125993" y="524923"/>
                </a:lnTo>
                <a:lnTo>
                  <a:pt x="100409" y="511888"/>
                </a:lnTo>
                <a:lnTo>
                  <a:pt x="76327" y="496249"/>
                </a:lnTo>
                <a:lnTo>
                  <a:pt x="54013" y="478179"/>
                </a:lnTo>
                <a:lnTo>
                  <a:pt x="33709" y="457875"/>
                </a:lnTo>
                <a:lnTo>
                  <a:pt x="15639" y="435561"/>
                </a:lnTo>
                <a:lnTo>
                  <a:pt x="0" y="411480"/>
                </a:lnTo>
                <a:lnTo>
                  <a:pt x="237569"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Freeform 67"/>
          <p:cNvSpPr/>
          <p:nvPr/>
        </p:nvSpPr>
        <p:spPr>
          <a:xfrm>
            <a:off x="2114550" y="4590288"/>
            <a:ext cx="274320" cy="411480"/>
          </a:xfrm>
          <a:custGeom>
            <a:avLst/>
            <a:gdLst/>
            <a:ahLst/>
            <a:cxnLst/>
            <a:rect l="l" t="t" r="r" b="b"/>
            <a:pathLst>
              <a:path w="274320" h="411480">
                <a:moveTo>
                  <a:pt x="36751" y="411480"/>
                </a:moveTo>
                <a:lnTo>
                  <a:pt x="29899" y="398858"/>
                </a:lnTo>
                <a:lnTo>
                  <a:pt x="23716" y="385895"/>
                </a:lnTo>
                <a:lnTo>
                  <a:pt x="18220" y="372627"/>
                </a:lnTo>
                <a:lnTo>
                  <a:pt x="13426" y="359089"/>
                </a:lnTo>
                <a:lnTo>
                  <a:pt x="9347" y="345319"/>
                </a:lnTo>
                <a:lnTo>
                  <a:pt x="5994" y="331354"/>
                </a:lnTo>
                <a:lnTo>
                  <a:pt x="3377" y="317233"/>
                </a:lnTo>
                <a:lnTo>
                  <a:pt x="1502" y="302994"/>
                </a:lnTo>
                <a:lnTo>
                  <a:pt x="375" y="288676"/>
                </a:lnTo>
                <a:lnTo>
                  <a:pt x="0" y="274320"/>
                </a:lnTo>
                <a:lnTo>
                  <a:pt x="375" y="259963"/>
                </a:lnTo>
                <a:lnTo>
                  <a:pt x="1502" y="245645"/>
                </a:lnTo>
                <a:lnTo>
                  <a:pt x="3377" y="231406"/>
                </a:lnTo>
                <a:lnTo>
                  <a:pt x="5994" y="217285"/>
                </a:lnTo>
                <a:lnTo>
                  <a:pt x="9347" y="203320"/>
                </a:lnTo>
                <a:lnTo>
                  <a:pt x="13426" y="189550"/>
                </a:lnTo>
                <a:lnTo>
                  <a:pt x="18220" y="176012"/>
                </a:lnTo>
                <a:lnTo>
                  <a:pt x="23716" y="162744"/>
                </a:lnTo>
                <a:lnTo>
                  <a:pt x="29899" y="149781"/>
                </a:lnTo>
                <a:lnTo>
                  <a:pt x="36751" y="137160"/>
                </a:lnTo>
                <a:lnTo>
                  <a:pt x="44255" y="124914"/>
                </a:lnTo>
                <a:lnTo>
                  <a:pt x="52390" y="113078"/>
                </a:lnTo>
                <a:lnTo>
                  <a:pt x="61133" y="101684"/>
                </a:lnTo>
                <a:lnTo>
                  <a:pt x="70460" y="90764"/>
                </a:lnTo>
                <a:lnTo>
                  <a:pt x="80346" y="80346"/>
                </a:lnTo>
                <a:lnTo>
                  <a:pt x="90764" y="70460"/>
                </a:lnTo>
                <a:lnTo>
                  <a:pt x="101684" y="61133"/>
                </a:lnTo>
                <a:lnTo>
                  <a:pt x="113078" y="52390"/>
                </a:lnTo>
                <a:lnTo>
                  <a:pt x="124914" y="44255"/>
                </a:lnTo>
                <a:lnTo>
                  <a:pt x="137159" y="36751"/>
                </a:lnTo>
                <a:lnTo>
                  <a:pt x="149781" y="29899"/>
                </a:lnTo>
                <a:lnTo>
                  <a:pt x="162744" y="23716"/>
                </a:lnTo>
                <a:lnTo>
                  <a:pt x="176012" y="18220"/>
                </a:lnTo>
                <a:lnTo>
                  <a:pt x="189550" y="13426"/>
                </a:lnTo>
                <a:lnTo>
                  <a:pt x="203320" y="9347"/>
                </a:lnTo>
                <a:lnTo>
                  <a:pt x="217285" y="5994"/>
                </a:lnTo>
                <a:lnTo>
                  <a:pt x="231406" y="3377"/>
                </a:lnTo>
                <a:lnTo>
                  <a:pt x="245645"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114550"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675637"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 met recovery</a:t>
            </a:r>
          </a:p>
        </p:txBody>
      </p:sp>
      <p:sp>
        <p:nvSpPr>
          <p:cNvPr id="71" name="Freeform 70"/>
          <p:cNvSpPr/>
          <p:nvPr/>
        </p:nvSpPr>
        <p:spPr>
          <a:xfrm>
            <a:off x="4164177" y="4590288"/>
            <a:ext cx="274320" cy="411480"/>
          </a:xfrm>
          <a:custGeom>
            <a:avLst/>
            <a:gdLst/>
            <a:ahLst/>
            <a:cxnLst/>
            <a:rect l="l" t="t" r="r" b="b"/>
            <a:pathLst>
              <a:path w="274320" h="411480">
                <a:moveTo>
                  <a:pt x="0" y="0"/>
                </a:moveTo>
                <a:lnTo>
                  <a:pt x="14357" y="375"/>
                </a:lnTo>
                <a:lnTo>
                  <a:pt x="28674" y="1502"/>
                </a:lnTo>
                <a:lnTo>
                  <a:pt x="42913" y="3377"/>
                </a:lnTo>
                <a:lnTo>
                  <a:pt x="57034" y="5994"/>
                </a:lnTo>
                <a:lnTo>
                  <a:pt x="70999" y="9347"/>
                </a:lnTo>
                <a:lnTo>
                  <a:pt x="84770" y="13426"/>
                </a:lnTo>
                <a:lnTo>
                  <a:pt x="98308" y="18220"/>
                </a:lnTo>
                <a:lnTo>
                  <a:pt x="111576" y="23716"/>
                </a:lnTo>
                <a:lnTo>
                  <a:pt x="124539" y="29899"/>
                </a:lnTo>
                <a:lnTo>
                  <a:pt x="137160" y="36751"/>
                </a:lnTo>
                <a:lnTo>
                  <a:pt x="149405" y="44255"/>
                </a:lnTo>
                <a:lnTo>
                  <a:pt x="161241" y="52390"/>
                </a:lnTo>
                <a:lnTo>
                  <a:pt x="172635" y="61133"/>
                </a:lnTo>
                <a:lnTo>
                  <a:pt x="183556" y="70460"/>
                </a:lnTo>
                <a:lnTo>
                  <a:pt x="193974" y="80346"/>
                </a:lnTo>
                <a:lnTo>
                  <a:pt x="203860" y="90764"/>
                </a:lnTo>
                <a:lnTo>
                  <a:pt x="213187" y="101684"/>
                </a:lnTo>
                <a:lnTo>
                  <a:pt x="221930" y="113078"/>
                </a:lnTo>
                <a:lnTo>
                  <a:pt x="230064" y="124914"/>
                </a:lnTo>
                <a:lnTo>
                  <a:pt x="237568" y="137160"/>
                </a:lnTo>
                <a:lnTo>
                  <a:pt x="244421" y="149781"/>
                </a:lnTo>
                <a:lnTo>
                  <a:pt x="250604" y="162744"/>
                </a:lnTo>
                <a:lnTo>
                  <a:pt x="256100" y="176012"/>
                </a:lnTo>
                <a:lnTo>
                  <a:pt x="260894" y="189550"/>
                </a:lnTo>
                <a:lnTo>
                  <a:pt x="264973" y="203320"/>
                </a:lnTo>
                <a:lnTo>
                  <a:pt x="268326" y="217285"/>
                </a:lnTo>
                <a:lnTo>
                  <a:pt x="270943" y="231406"/>
                </a:lnTo>
                <a:lnTo>
                  <a:pt x="272817" y="245645"/>
                </a:lnTo>
                <a:lnTo>
                  <a:pt x="273944" y="259963"/>
                </a:lnTo>
                <a:lnTo>
                  <a:pt x="274320" y="274320"/>
                </a:lnTo>
                <a:lnTo>
                  <a:pt x="273944" y="288676"/>
                </a:lnTo>
                <a:lnTo>
                  <a:pt x="272817" y="302994"/>
                </a:lnTo>
                <a:lnTo>
                  <a:pt x="270943" y="317233"/>
                </a:lnTo>
                <a:lnTo>
                  <a:pt x="268326" y="331354"/>
                </a:lnTo>
                <a:lnTo>
                  <a:pt x="264973" y="345319"/>
                </a:lnTo>
                <a:lnTo>
                  <a:pt x="260894" y="359089"/>
                </a:lnTo>
                <a:lnTo>
                  <a:pt x="256100" y="372627"/>
                </a:lnTo>
                <a:lnTo>
                  <a:pt x="250604" y="385895"/>
                </a:lnTo>
                <a:lnTo>
                  <a:pt x="244421"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Freeform 71"/>
          <p:cNvSpPr/>
          <p:nvPr/>
        </p:nvSpPr>
        <p:spPr>
          <a:xfrm>
            <a:off x="3926609" y="4864608"/>
            <a:ext cx="475136" cy="274320"/>
          </a:xfrm>
          <a:custGeom>
            <a:avLst/>
            <a:gdLst/>
            <a:ahLst/>
            <a:cxnLst/>
            <a:rect l="l" t="t" r="r" b="b"/>
            <a:pathLst>
              <a:path w="475136" h="274320">
                <a:moveTo>
                  <a:pt x="475136" y="137160"/>
                </a:moveTo>
                <a:lnTo>
                  <a:pt x="467632" y="149405"/>
                </a:lnTo>
                <a:lnTo>
                  <a:pt x="459498" y="161241"/>
                </a:lnTo>
                <a:lnTo>
                  <a:pt x="450755" y="172635"/>
                </a:lnTo>
                <a:lnTo>
                  <a:pt x="441428" y="183555"/>
                </a:lnTo>
                <a:lnTo>
                  <a:pt x="431542" y="193973"/>
                </a:lnTo>
                <a:lnTo>
                  <a:pt x="421124" y="203859"/>
                </a:lnTo>
                <a:lnTo>
                  <a:pt x="410203" y="213186"/>
                </a:lnTo>
                <a:lnTo>
                  <a:pt x="398809" y="221929"/>
                </a:lnTo>
                <a:lnTo>
                  <a:pt x="386973" y="230064"/>
                </a:lnTo>
                <a:lnTo>
                  <a:pt x="374728" y="237568"/>
                </a:lnTo>
                <a:lnTo>
                  <a:pt x="362107" y="244420"/>
                </a:lnTo>
                <a:lnTo>
                  <a:pt x="349144" y="250603"/>
                </a:lnTo>
                <a:lnTo>
                  <a:pt x="335876" y="256099"/>
                </a:lnTo>
                <a:lnTo>
                  <a:pt x="322338" y="260893"/>
                </a:lnTo>
                <a:lnTo>
                  <a:pt x="308567" y="264972"/>
                </a:lnTo>
                <a:lnTo>
                  <a:pt x="294602" y="268325"/>
                </a:lnTo>
                <a:lnTo>
                  <a:pt x="280481" y="270942"/>
                </a:lnTo>
                <a:lnTo>
                  <a:pt x="266242" y="272817"/>
                </a:lnTo>
                <a:lnTo>
                  <a:pt x="251925" y="273944"/>
                </a:lnTo>
                <a:lnTo>
                  <a:pt x="237568" y="274320"/>
                </a:lnTo>
                <a:lnTo>
                  <a:pt x="223211" y="273944"/>
                </a:lnTo>
                <a:lnTo>
                  <a:pt x="208894" y="272817"/>
                </a:lnTo>
                <a:lnTo>
                  <a:pt x="194655" y="270942"/>
                </a:lnTo>
                <a:lnTo>
                  <a:pt x="180534" y="268325"/>
                </a:lnTo>
                <a:lnTo>
                  <a:pt x="166569" y="264972"/>
                </a:lnTo>
                <a:lnTo>
                  <a:pt x="152799" y="260893"/>
                </a:lnTo>
                <a:lnTo>
                  <a:pt x="139261" y="256099"/>
                </a:lnTo>
                <a:lnTo>
                  <a:pt x="125992" y="250603"/>
                </a:lnTo>
                <a:lnTo>
                  <a:pt x="113029" y="244420"/>
                </a:lnTo>
                <a:lnTo>
                  <a:pt x="100408" y="237568"/>
                </a:lnTo>
                <a:lnTo>
                  <a:pt x="88163" y="230064"/>
                </a:lnTo>
                <a:lnTo>
                  <a:pt x="76327" y="221929"/>
                </a:lnTo>
                <a:lnTo>
                  <a:pt x="64933" y="213186"/>
                </a:lnTo>
                <a:lnTo>
                  <a:pt x="54012" y="203859"/>
                </a:lnTo>
                <a:lnTo>
                  <a:pt x="43595" y="193973"/>
                </a:lnTo>
                <a:lnTo>
                  <a:pt x="33709" y="183555"/>
                </a:lnTo>
                <a:lnTo>
                  <a:pt x="24381" y="172635"/>
                </a:lnTo>
                <a:lnTo>
                  <a:pt x="15639" y="161241"/>
                </a:lnTo>
                <a:lnTo>
                  <a:pt x="7504" y="149405"/>
                </a:lnTo>
                <a:lnTo>
                  <a:pt x="0" y="137160"/>
                </a:lnTo>
                <a:lnTo>
                  <a:pt x="237568" y="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Freeform 72"/>
          <p:cNvSpPr/>
          <p:nvPr/>
        </p:nvSpPr>
        <p:spPr>
          <a:xfrm>
            <a:off x="3889857" y="4590288"/>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388985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3450945"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 + recovery</a:t>
            </a:r>
          </a:p>
        </p:txBody>
      </p:sp>
      <p:sp>
        <p:nvSpPr>
          <p:cNvPr id="76" name="Oval 75"/>
          <p:cNvSpPr/>
          <p:nvPr/>
        </p:nvSpPr>
        <p:spPr>
          <a:xfrm>
            <a:off x="4781397" y="4590288"/>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Oval 76"/>
          <p:cNvSpPr/>
          <p:nvPr/>
        </p:nvSpPr>
        <p:spPr>
          <a:xfrm>
            <a:off x="478139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342485"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a:t>
            </a:r>
          </a:p>
        </p:txBody>
      </p:sp>
      <p:sp>
        <p:nvSpPr>
          <p:cNvPr id="79" name="Freeform 78"/>
          <p:cNvSpPr/>
          <p:nvPr/>
        </p:nvSpPr>
        <p:spPr>
          <a:xfrm>
            <a:off x="2699765" y="4864608"/>
            <a:ext cx="1153516" cy="0"/>
          </a:xfrm>
          <a:custGeom>
            <a:avLst/>
            <a:gdLst/>
            <a:ahLst/>
            <a:cxnLst/>
            <a:rect l="l" t="t" r="r" b="b"/>
            <a:pathLst>
              <a:path w="1153516">
                <a:moveTo>
                  <a:pt x="0" y="0"/>
                </a:moveTo>
                <a:lnTo>
                  <a:pt x="26217" y="0"/>
                </a:lnTo>
                <a:lnTo>
                  <a:pt x="52433" y="0"/>
                </a:lnTo>
                <a:lnTo>
                  <a:pt x="78649" y="0"/>
                </a:lnTo>
                <a:lnTo>
                  <a:pt x="104866" y="0"/>
                </a:lnTo>
                <a:lnTo>
                  <a:pt x="131082" y="0"/>
                </a:lnTo>
                <a:lnTo>
                  <a:pt x="157298" y="0"/>
                </a:lnTo>
                <a:lnTo>
                  <a:pt x="183514" y="0"/>
                </a:lnTo>
                <a:lnTo>
                  <a:pt x="209731" y="0"/>
                </a:lnTo>
                <a:lnTo>
                  <a:pt x="235947" y="0"/>
                </a:lnTo>
                <a:lnTo>
                  <a:pt x="262163" y="0"/>
                </a:lnTo>
                <a:lnTo>
                  <a:pt x="288379" y="0"/>
                </a:lnTo>
                <a:lnTo>
                  <a:pt x="314596" y="0"/>
                </a:lnTo>
                <a:lnTo>
                  <a:pt x="340812" y="0"/>
                </a:lnTo>
                <a:lnTo>
                  <a:pt x="367028" y="0"/>
                </a:lnTo>
                <a:lnTo>
                  <a:pt x="393244" y="0"/>
                </a:lnTo>
                <a:lnTo>
                  <a:pt x="419461" y="0"/>
                </a:lnTo>
                <a:lnTo>
                  <a:pt x="445677" y="0"/>
                </a:lnTo>
                <a:lnTo>
                  <a:pt x="471893" y="0"/>
                </a:lnTo>
                <a:lnTo>
                  <a:pt x="498110" y="0"/>
                </a:lnTo>
                <a:lnTo>
                  <a:pt x="524326" y="0"/>
                </a:lnTo>
                <a:lnTo>
                  <a:pt x="550542" y="0"/>
                </a:lnTo>
                <a:lnTo>
                  <a:pt x="576758" y="0"/>
                </a:lnTo>
                <a:lnTo>
                  <a:pt x="602975" y="0"/>
                </a:lnTo>
                <a:lnTo>
                  <a:pt x="629191" y="0"/>
                </a:lnTo>
                <a:lnTo>
                  <a:pt x="655407" y="0"/>
                </a:lnTo>
                <a:lnTo>
                  <a:pt x="681623" y="0"/>
                </a:lnTo>
                <a:lnTo>
                  <a:pt x="707840" y="0"/>
                </a:lnTo>
                <a:lnTo>
                  <a:pt x="734056" y="0"/>
                </a:lnTo>
                <a:lnTo>
                  <a:pt x="760272" y="0"/>
                </a:lnTo>
                <a:lnTo>
                  <a:pt x="786488" y="0"/>
                </a:lnTo>
                <a:lnTo>
                  <a:pt x="812705" y="0"/>
                </a:lnTo>
                <a:lnTo>
                  <a:pt x="838921" y="0"/>
                </a:lnTo>
                <a:lnTo>
                  <a:pt x="865137" y="0"/>
                </a:lnTo>
                <a:lnTo>
                  <a:pt x="891353" y="0"/>
                </a:lnTo>
                <a:lnTo>
                  <a:pt x="917570" y="0"/>
                </a:lnTo>
                <a:lnTo>
                  <a:pt x="943786" y="0"/>
                </a:lnTo>
                <a:lnTo>
                  <a:pt x="970002" y="0"/>
                </a:lnTo>
                <a:lnTo>
                  <a:pt x="996219" y="0"/>
                </a:lnTo>
                <a:lnTo>
                  <a:pt x="1022435" y="0"/>
                </a:lnTo>
                <a:lnTo>
                  <a:pt x="1048651" y="0"/>
                </a:lnTo>
                <a:lnTo>
                  <a:pt x="1074867" y="0"/>
                </a:lnTo>
                <a:lnTo>
                  <a:pt x="1101084" y="0"/>
                </a:lnTo>
                <a:lnTo>
                  <a:pt x="1127300"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2644901"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Oval 80"/>
          <p:cNvSpPr/>
          <p:nvPr/>
        </p:nvSpPr>
        <p:spPr>
          <a:xfrm>
            <a:off x="3798417"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Rounded Rectangle 81"/>
          <p:cNvSpPr/>
          <p:nvPr/>
        </p:nvSpPr>
        <p:spPr>
          <a:xfrm>
            <a:off x="6278727" y="3767328"/>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Oval 82"/>
          <p:cNvSpPr/>
          <p:nvPr/>
        </p:nvSpPr>
        <p:spPr>
          <a:xfrm>
            <a:off x="6479895" y="3931920"/>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4</a:t>
            </a:r>
          </a:p>
        </p:txBody>
      </p:sp>
      <p:sp>
        <p:nvSpPr>
          <p:cNvPr id="84" name="TextBox 83"/>
          <p:cNvSpPr txBox="1"/>
          <p:nvPr/>
        </p:nvSpPr>
        <p:spPr>
          <a:xfrm>
            <a:off x="6991959" y="3931920"/>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Cardioversies van de CCU verplaatsen</a:t>
            </a:r>
          </a:p>
        </p:txBody>
      </p:sp>
      <p:sp>
        <p:nvSpPr>
          <p:cNvPr id="85" name="TextBox 84"/>
          <p:cNvSpPr txBox="1"/>
          <p:nvPr/>
        </p:nvSpPr>
        <p:spPr>
          <a:xfrm>
            <a:off x="6690207"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86" name="TextBox 85"/>
          <p:cNvSpPr txBox="1"/>
          <p:nvPr/>
        </p:nvSpPr>
        <p:spPr>
          <a:xfrm>
            <a:off x="9357055"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87" name="Freeform 86"/>
          <p:cNvSpPr/>
          <p:nvPr/>
        </p:nvSpPr>
        <p:spPr>
          <a:xfrm>
            <a:off x="7344179" y="4590288"/>
            <a:ext cx="511888" cy="548640"/>
          </a:xfrm>
          <a:custGeom>
            <a:avLst/>
            <a:gdLst/>
            <a:ahLst/>
            <a:cxnLst/>
            <a:rect l="l" t="t" r="r" b="b"/>
            <a:pathLst>
              <a:path w="511888" h="548640">
                <a:moveTo>
                  <a:pt x="237568" y="0"/>
                </a:moveTo>
                <a:lnTo>
                  <a:pt x="266242" y="1502"/>
                </a:lnTo>
                <a:lnTo>
                  <a:pt x="294602" y="5994"/>
                </a:lnTo>
                <a:lnTo>
                  <a:pt x="322338" y="13426"/>
                </a:lnTo>
                <a:lnTo>
                  <a:pt x="349144" y="23716"/>
                </a:lnTo>
                <a:lnTo>
                  <a:pt x="374728" y="36751"/>
                </a:lnTo>
                <a:lnTo>
                  <a:pt x="398809" y="52390"/>
                </a:lnTo>
                <a:lnTo>
                  <a:pt x="421124" y="70460"/>
                </a:lnTo>
                <a:lnTo>
                  <a:pt x="441428" y="90764"/>
                </a:lnTo>
                <a:lnTo>
                  <a:pt x="459498" y="113078"/>
                </a:lnTo>
                <a:lnTo>
                  <a:pt x="475136" y="137160"/>
                </a:lnTo>
                <a:lnTo>
                  <a:pt x="488172" y="162744"/>
                </a:lnTo>
                <a:lnTo>
                  <a:pt x="498462" y="189550"/>
                </a:lnTo>
                <a:lnTo>
                  <a:pt x="505894" y="217285"/>
                </a:lnTo>
                <a:lnTo>
                  <a:pt x="510385" y="245645"/>
                </a:lnTo>
                <a:lnTo>
                  <a:pt x="511888" y="274320"/>
                </a:lnTo>
                <a:lnTo>
                  <a:pt x="510385" y="302994"/>
                </a:lnTo>
                <a:lnTo>
                  <a:pt x="505894" y="331354"/>
                </a:lnTo>
                <a:lnTo>
                  <a:pt x="498462" y="359089"/>
                </a:lnTo>
                <a:lnTo>
                  <a:pt x="488172" y="385895"/>
                </a:lnTo>
                <a:lnTo>
                  <a:pt x="475136" y="411480"/>
                </a:lnTo>
                <a:lnTo>
                  <a:pt x="459498" y="435561"/>
                </a:lnTo>
                <a:lnTo>
                  <a:pt x="441428" y="457875"/>
                </a:lnTo>
                <a:lnTo>
                  <a:pt x="421124" y="478179"/>
                </a:lnTo>
                <a:lnTo>
                  <a:pt x="398809" y="496249"/>
                </a:lnTo>
                <a:lnTo>
                  <a:pt x="374728" y="511888"/>
                </a:lnTo>
                <a:lnTo>
                  <a:pt x="349144" y="524923"/>
                </a:lnTo>
                <a:lnTo>
                  <a:pt x="322338" y="535213"/>
                </a:lnTo>
                <a:lnTo>
                  <a:pt x="294602" y="542645"/>
                </a:lnTo>
                <a:lnTo>
                  <a:pt x="266242" y="547137"/>
                </a:lnTo>
                <a:lnTo>
                  <a:pt x="237568" y="548640"/>
                </a:lnTo>
                <a:lnTo>
                  <a:pt x="208894" y="547137"/>
                </a:lnTo>
                <a:lnTo>
                  <a:pt x="180534" y="542645"/>
                </a:lnTo>
                <a:lnTo>
                  <a:pt x="152799" y="535213"/>
                </a:lnTo>
                <a:lnTo>
                  <a:pt x="125992" y="524923"/>
                </a:lnTo>
                <a:lnTo>
                  <a:pt x="100408" y="511888"/>
                </a:lnTo>
                <a:lnTo>
                  <a:pt x="76327" y="496249"/>
                </a:lnTo>
                <a:lnTo>
                  <a:pt x="54012" y="478179"/>
                </a:lnTo>
                <a:lnTo>
                  <a:pt x="33709" y="457875"/>
                </a:lnTo>
                <a:lnTo>
                  <a:pt x="15639" y="435561"/>
                </a:lnTo>
                <a:lnTo>
                  <a:pt x="0" y="411480"/>
                </a:lnTo>
                <a:lnTo>
                  <a:pt x="237568"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Freeform 87"/>
          <p:cNvSpPr/>
          <p:nvPr/>
        </p:nvSpPr>
        <p:spPr>
          <a:xfrm>
            <a:off x="7307427" y="4590288"/>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730742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6868515"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met cardioversie</a:t>
            </a:r>
          </a:p>
        </p:txBody>
      </p:sp>
      <p:sp>
        <p:nvSpPr>
          <p:cNvPr id="91" name="Oval 90"/>
          <p:cNvSpPr/>
          <p:nvPr/>
        </p:nvSpPr>
        <p:spPr>
          <a:xfrm>
            <a:off x="9528505" y="4590288"/>
            <a:ext cx="548640" cy="54864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Oval 91"/>
          <p:cNvSpPr/>
          <p:nvPr/>
        </p:nvSpPr>
        <p:spPr>
          <a:xfrm>
            <a:off x="9528505"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9089593"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cardioversie</a:t>
            </a:r>
          </a:p>
          <a:p>
            <a:pPr algn="ctr">
              <a:lnSpc>
                <a:spcPct val="112000"/>
              </a:lnSpc>
              <a:spcAft>
                <a:spcPts val="0"/>
              </a:spcAft>
            </a:pPr>
            <a:r>
              <a:rPr sz="750" b="0">
                <a:solidFill>
                  <a:srgbClr val="C87E12"/>
                </a:solidFill>
                <a:latin typeface="Calibri"/>
              </a:rPr>
              <a:t>waarheen nog te bepalen</a:t>
            </a:r>
          </a:p>
        </p:txBody>
      </p:sp>
      <p:sp>
        <p:nvSpPr>
          <p:cNvPr id="94" name="Oval 93"/>
          <p:cNvSpPr/>
          <p:nvPr/>
        </p:nvSpPr>
        <p:spPr>
          <a:xfrm>
            <a:off x="10420045" y="4590288"/>
            <a:ext cx="548640" cy="54864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Oval 94"/>
          <p:cNvSpPr/>
          <p:nvPr/>
        </p:nvSpPr>
        <p:spPr>
          <a:xfrm>
            <a:off x="10420045"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9981133"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a:t>
            </a:r>
          </a:p>
        </p:txBody>
      </p:sp>
      <p:sp>
        <p:nvSpPr>
          <p:cNvPr id="97" name="Freeform 96"/>
          <p:cNvSpPr/>
          <p:nvPr/>
        </p:nvSpPr>
        <p:spPr>
          <a:xfrm>
            <a:off x="7892643" y="4864608"/>
            <a:ext cx="1599286" cy="0"/>
          </a:xfrm>
          <a:custGeom>
            <a:avLst/>
            <a:gdLst/>
            <a:ahLst/>
            <a:cxnLst/>
            <a:rect l="l" t="t" r="r" b="b"/>
            <a:pathLst>
              <a:path w="1599286">
                <a:moveTo>
                  <a:pt x="0" y="0"/>
                </a:moveTo>
                <a:lnTo>
                  <a:pt x="36348" y="0"/>
                </a:lnTo>
                <a:lnTo>
                  <a:pt x="72695" y="0"/>
                </a:lnTo>
                <a:lnTo>
                  <a:pt x="109042" y="0"/>
                </a:lnTo>
                <a:lnTo>
                  <a:pt x="145390" y="0"/>
                </a:lnTo>
                <a:lnTo>
                  <a:pt x="181737" y="0"/>
                </a:lnTo>
                <a:lnTo>
                  <a:pt x="218085" y="0"/>
                </a:lnTo>
                <a:lnTo>
                  <a:pt x="254432" y="0"/>
                </a:lnTo>
                <a:lnTo>
                  <a:pt x="290779" y="0"/>
                </a:lnTo>
                <a:lnTo>
                  <a:pt x="327127" y="0"/>
                </a:lnTo>
                <a:lnTo>
                  <a:pt x="363474" y="0"/>
                </a:lnTo>
                <a:lnTo>
                  <a:pt x="399822" y="0"/>
                </a:lnTo>
                <a:lnTo>
                  <a:pt x="436169" y="0"/>
                </a:lnTo>
                <a:lnTo>
                  <a:pt x="472516" y="0"/>
                </a:lnTo>
                <a:lnTo>
                  <a:pt x="508864" y="0"/>
                </a:lnTo>
                <a:lnTo>
                  <a:pt x="545211" y="0"/>
                </a:lnTo>
                <a:lnTo>
                  <a:pt x="581559" y="0"/>
                </a:lnTo>
                <a:lnTo>
                  <a:pt x="617906" y="0"/>
                </a:lnTo>
                <a:lnTo>
                  <a:pt x="654253" y="0"/>
                </a:lnTo>
                <a:lnTo>
                  <a:pt x="690601" y="0"/>
                </a:lnTo>
                <a:lnTo>
                  <a:pt x="726948" y="0"/>
                </a:lnTo>
                <a:lnTo>
                  <a:pt x="763296" y="0"/>
                </a:lnTo>
                <a:lnTo>
                  <a:pt x="799643" y="0"/>
                </a:lnTo>
                <a:lnTo>
                  <a:pt x="835990" y="0"/>
                </a:lnTo>
                <a:lnTo>
                  <a:pt x="872338" y="0"/>
                </a:lnTo>
                <a:lnTo>
                  <a:pt x="908685" y="0"/>
                </a:lnTo>
                <a:lnTo>
                  <a:pt x="945033" y="0"/>
                </a:lnTo>
                <a:lnTo>
                  <a:pt x="981380" y="0"/>
                </a:lnTo>
                <a:lnTo>
                  <a:pt x="1017727" y="0"/>
                </a:lnTo>
                <a:lnTo>
                  <a:pt x="1054075" y="0"/>
                </a:lnTo>
                <a:lnTo>
                  <a:pt x="1090422" y="0"/>
                </a:lnTo>
                <a:lnTo>
                  <a:pt x="1126770" y="0"/>
                </a:lnTo>
                <a:lnTo>
                  <a:pt x="1163117" y="0"/>
                </a:lnTo>
                <a:lnTo>
                  <a:pt x="1199464" y="0"/>
                </a:lnTo>
                <a:lnTo>
                  <a:pt x="1235812" y="0"/>
                </a:lnTo>
                <a:lnTo>
                  <a:pt x="1272159" y="0"/>
                </a:lnTo>
                <a:lnTo>
                  <a:pt x="1308507" y="0"/>
                </a:lnTo>
                <a:lnTo>
                  <a:pt x="1344854" y="0"/>
                </a:lnTo>
                <a:lnTo>
                  <a:pt x="1381201" y="0"/>
                </a:lnTo>
                <a:lnTo>
                  <a:pt x="1417549" y="0"/>
                </a:lnTo>
                <a:lnTo>
                  <a:pt x="1453896" y="0"/>
                </a:lnTo>
                <a:lnTo>
                  <a:pt x="1490244" y="0"/>
                </a:lnTo>
                <a:lnTo>
                  <a:pt x="1526591" y="0"/>
                </a:lnTo>
                <a:lnTo>
                  <a:pt x="1562938" y="0"/>
                </a:lnTo>
                <a:lnTo>
                  <a:pt x="159928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7837779"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Oval 98"/>
          <p:cNvSpPr/>
          <p:nvPr/>
        </p:nvSpPr>
        <p:spPr>
          <a:xfrm>
            <a:off x="9437065"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Rounded Rectangle 99"/>
          <p:cNvSpPr/>
          <p:nvPr/>
        </p:nvSpPr>
        <p:spPr>
          <a:xfrm>
            <a:off x="640080" y="5852160"/>
            <a:ext cx="10911535" cy="402336"/>
          </a:xfrm>
          <a:prstGeom prst="roundRect">
            <a:avLst>
              <a:gd name="adj" fmla="val 3000"/>
            </a:avLst>
          </a:prstGeom>
          <a:solidFill>
            <a:srgbClr val="F6F9FD"/>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Oval 100"/>
          <p:cNvSpPr/>
          <p:nvPr/>
        </p:nvSpPr>
        <p:spPr>
          <a:xfrm>
            <a:off x="868679" y="5897880"/>
            <a:ext cx="310896" cy="310896"/>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8B9AAA"/>
                </a:solidFill>
                <a:latin typeface="Calibri"/>
              </a:rPr>
              <a:t>5</a:t>
            </a:r>
          </a:p>
        </p:txBody>
      </p:sp>
      <p:sp>
        <p:nvSpPr>
          <p:cNvPr id="102" name="TextBox 101"/>
          <p:cNvSpPr txBox="1"/>
          <p:nvPr/>
        </p:nvSpPr>
        <p:spPr>
          <a:xfrm>
            <a:off x="1316736" y="5870448"/>
            <a:ext cx="9905695" cy="365760"/>
          </a:xfrm>
          <a:prstGeom prst="rect">
            <a:avLst/>
          </a:prstGeom>
          <a:noFill/>
        </p:spPr>
        <p:txBody>
          <a:bodyPr wrap="square" lIns="0" tIns="0" rIns="0" bIns="0" anchor="ctr">
            <a:spAutoFit/>
          </a:bodyPr>
          <a:lstStyle/>
          <a:p>
            <a:pPr algn="l">
              <a:lnSpc>
                <a:spcPct val="120000"/>
              </a:lnSpc>
              <a:spcAft>
                <a:spcPts val="0"/>
              </a:spcAft>
            </a:pPr>
            <a:r>
              <a:rPr sz="1100" b="0">
                <a:solidFill>
                  <a:srgbClr val="55677C"/>
                </a:solidFill>
                <a:latin typeface="Calibri"/>
              </a:rPr>
              <a:t>Huidige situatie handhaven — ICU, CCU/SCU/EHH en SEH blijven apart. Er verschuift niets; dit is het referentiescenario.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Van scenario naar rooster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16</a:t>
            </a:r>
          </a:p>
        </p:txBody>
      </p:sp>
      <p:sp>
        <p:nvSpPr>
          <p:cNvPr id="10" name="Rounded Rectangle 9"/>
          <p:cNvSpPr/>
          <p:nvPr/>
        </p:nvSpPr>
        <p:spPr>
          <a:xfrm>
            <a:off x="640080"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1209522"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492197"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3061639"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344314"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4913757"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196431"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6765874"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048548"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8617991"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900666"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10470108"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59536" y="4407407"/>
            <a:ext cx="3015386" cy="566928"/>
          </a:xfrm>
          <a:prstGeom prst="rect">
            <a:avLst/>
          </a:prstGeom>
          <a:noFill/>
        </p:spPr>
        <p:txBody>
          <a:bodyPr wrap="square" lIns="0" tIns="0" rIns="0" bIns="0" anchor="ctr">
            <a:spAutoFit/>
          </a:bodyPr>
          <a:lstStyle/>
          <a:p>
            <a:pPr algn="l">
              <a:lnSpc>
                <a:spcPct val="120000"/>
              </a:lnSpc>
              <a:spcAft>
                <a:spcPts val="200"/>
              </a:spcAft>
            </a:pPr>
            <a:r>
              <a:rPr sz="1250" b="1">
                <a:solidFill>
                  <a:srgbClr val="1F6FB2"/>
                </a:solidFill>
                <a:latin typeface="Calibri"/>
              </a:rPr>
              <a:t>Fysiek gaat voor</a:t>
            </a:r>
          </a:p>
          <a:p>
            <a:pPr algn="l">
              <a:lnSpc>
                <a:spcPct val="120000"/>
              </a:lnSpc>
              <a:spcAft>
                <a:spcPts val="0"/>
              </a:spcAft>
            </a:pPr>
            <a:r>
              <a:rPr sz="1000" b="0">
                <a:solidFill>
                  <a:srgbClr val="55677C"/>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588154" y="4407407"/>
            <a:ext cx="3015386" cy="566928"/>
          </a:xfrm>
          <a:prstGeom prst="rect">
            <a:avLst/>
          </a:prstGeom>
          <a:noFill/>
        </p:spPr>
        <p:txBody>
          <a:bodyPr wrap="square" lIns="0" tIns="0" rIns="0" bIns="0" anchor="ctr">
            <a:spAutoFit/>
          </a:bodyPr>
          <a:lstStyle/>
          <a:p>
            <a:pPr algn="l">
              <a:lnSpc>
                <a:spcPct val="120000"/>
              </a:lnSpc>
              <a:spcAft>
                <a:spcPts val="200"/>
              </a:spcAft>
            </a:pPr>
            <a:r>
              <a:rPr sz="1250" b="1">
                <a:solidFill>
                  <a:srgbClr val="0E9A87"/>
                </a:solidFill>
                <a:latin typeface="Calibri"/>
              </a:rPr>
              <a:t>Personele inzet volgt</a:t>
            </a:r>
          </a:p>
          <a:p>
            <a:pPr algn="l">
              <a:lnSpc>
                <a:spcPct val="120000"/>
              </a:lnSpc>
              <a:spcAft>
                <a:spcPts val="0"/>
              </a:spcAft>
            </a:pPr>
            <a:r>
              <a:rPr sz="1000" b="0">
                <a:solidFill>
                  <a:srgbClr val="55677C"/>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8316772" y="4407407"/>
            <a:ext cx="3015386" cy="566928"/>
          </a:xfrm>
          <a:prstGeom prst="rect">
            <a:avLst/>
          </a:prstGeom>
          <a:noFill/>
        </p:spPr>
        <p:txBody>
          <a:bodyPr wrap="square" lIns="0" tIns="0" rIns="0" bIns="0" anchor="ctr">
            <a:spAutoFit/>
          </a:bodyPr>
          <a:lstStyle/>
          <a:p>
            <a:pPr algn="l">
              <a:lnSpc>
                <a:spcPct val="120000"/>
              </a:lnSpc>
              <a:spcAft>
                <a:spcPts val="200"/>
              </a:spcAft>
            </a:pPr>
            <a:r>
              <a:rPr sz="1250" b="1">
                <a:solidFill>
                  <a:srgbClr val="6B4BA8"/>
                </a:solidFill>
                <a:latin typeface="Calibri"/>
              </a:rPr>
              <a:t>Daarna monitoren</a:t>
            </a:r>
          </a:p>
          <a:p>
            <a:pPr algn="l">
              <a:lnSpc>
                <a:spcPct val="120000"/>
              </a:lnSpc>
              <a:spcAft>
                <a:spcPts val="0"/>
              </a:spcAft>
            </a:pPr>
            <a:r>
              <a:rPr sz="1000" b="0">
                <a:solidFill>
                  <a:srgbClr val="55677C"/>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ounded Rectangle 45"/>
          <p:cNvSpPr/>
          <p:nvPr/>
        </p:nvSpPr>
        <p:spPr>
          <a:xfrm>
            <a:off x="640080" y="5486400"/>
            <a:ext cx="50292" cy="65836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969264" y="5600910"/>
            <a:ext cx="9997135" cy="429348"/>
          </a:xfrm>
          <a:prstGeom prst="rect">
            <a:avLst/>
          </a:prstGeom>
          <a:noFill/>
        </p:spPr>
        <p:txBody>
          <a:bodyPr wrap="square" lIns="0" tIns="0" rIns="0" bIns="0" anchor="ctr">
            <a:spAutoFit/>
          </a:bodyPr>
          <a:lstStyle/>
          <a:p>
            <a:pPr algn="l">
              <a:lnSpc>
                <a:spcPct val="120000"/>
              </a:lnSpc>
              <a:spcAft>
                <a:spcPts val="300"/>
              </a:spcAft>
            </a:pPr>
            <a:r>
              <a:rPr sz="950" b="1" spc="180" dirty="0">
                <a:solidFill>
                  <a:srgbClr val="C87E12"/>
                </a:solidFill>
                <a:latin typeface="Calibri"/>
              </a:rPr>
              <a:t>OPENSTAANDE VRAAG</a:t>
            </a:r>
          </a:p>
          <a:p>
            <a:pPr algn="l">
              <a:lnSpc>
                <a:spcPct val="120000"/>
              </a:lnSpc>
              <a:spcAft>
                <a:spcPts val="0"/>
              </a:spcAft>
            </a:pPr>
            <a:r>
              <a:rPr sz="1250" b="1" dirty="0">
                <a:solidFill>
                  <a:srgbClr val="0D1B2A"/>
                </a:solidFill>
                <a:latin typeface="Calibri"/>
              </a:rPr>
              <a:t>De </a:t>
            </a:r>
            <a:r>
              <a:rPr sz="1250" b="1" dirty="0" err="1">
                <a:solidFill>
                  <a:srgbClr val="0D1B2A"/>
                </a:solidFill>
                <a:latin typeface="Calibri"/>
              </a:rPr>
              <a:t>personele</a:t>
            </a:r>
            <a:r>
              <a:rPr sz="1250" b="1" dirty="0">
                <a:solidFill>
                  <a:srgbClr val="0D1B2A"/>
                </a:solidFill>
                <a:latin typeface="Calibri"/>
              </a:rPr>
              <a:t> planning </a:t>
            </a:r>
            <a:r>
              <a:rPr sz="1250" b="1" dirty="0" err="1">
                <a:solidFill>
                  <a:srgbClr val="0D1B2A"/>
                </a:solidFill>
                <a:latin typeface="Calibri"/>
              </a:rPr>
              <a:t>loopt</a:t>
            </a:r>
            <a:r>
              <a:rPr sz="1250" b="1" dirty="0">
                <a:solidFill>
                  <a:srgbClr val="0D1B2A"/>
                </a:solidFill>
                <a:latin typeface="Calibri"/>
              </a:rPr>
              <a:t> nu </a:t>
            </a:r>
            <a:r>
              <a:rPr sz="1250" b="1" dirty="0" err="1">
                <a:solidFill>
                  <a:srgbClr val="0D1B2A"/>
                </a:solidFill>
                <a:latin typeface="Calibri"/>
              </a:rPr>
              <a:t>niet</a:t>
            </a:r>
            <a:r>
              <a:rPr sz="1250" b="1" dirty="0">
                <a:solidFill>
                  <a:srgbClr val="0D1B2A"/>
                </a:solidFill>
                <a:latin typeface="Calibri"/>
              </a:rPr>
              <a:t> </a:t>
            </a:r>
            <a:r>
              <a:rPr sz="1250" b="1" dirty="0" err="1">
                <a:solidFill>
                  <a:srgbClr val="0D1B2A"/>
                </a:solidFill>
                <a:latin typeface="Calibri"/>
              </a:rPr>
              <a:t>volledig</a:t>
            </a:r>
            <a:r>
              <a:rPr sz="1250" b="1" dirty="0">
                <a:solidFill>
                  <a:srgbClr val="0D1B2A"/>
                </a:solidFill>
                <a:latin typeface="Calibri"/>
              </a:rPr>
              <a:t> via CPP.</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acute poort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17</a:t>
            </a:r>
          </a:p>
        </p:txBody>
      </p:sp>
      <p:sp>
        <p:nvSpPr>
          <p:cNvPr id="10" name="Rounded Rectangle 9"/>
          <p:cNvSpPr/>
          <p:nvPr/>
        </p:nvSpPr>
        <p:spPr>
          <a:xfrm>
            <a:off x="640080" y="1700784"/>
            <a:ext cx="5943600" cy="1243584"/>
          </a:xfrm>
          <a:prstGeom prst="roundRect">
            <a:avLst>
              <a:gd name="adj" fmla="val 3000"/>
            </a:avLst>
          </a:prstGeom>
          <a:solidFill>
            <a:srgbClr val="EAD8DB"/>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69264" y="1883664"/>
            <a:ext cx="5285232" cy="551561"/>
          </a:xfrm>
          <a:prstGeom prst="rect">
            <a:avLst/>
          </a:prstGeom>
          <a:noFill/>
        </p:spPr>
        <p:txBody>
          <a:bodyPr wrap="square" lIns="0" tIns="0" rIns="0" bIns="0" anchor="t">
            <a:spAutoFit/>
          </a:bodyPr>
          <a:lstStyle/>
          <a:p>
            <a:pPr algn="l">
              <a:lnSpc>
                <a:spcPct val="120000"/>
              </a:lnSpc>
              <a:spcAft>
                <a:spcPts val="0"/>
              </a:spcAft>
            </a:pPr>
            <a:r>
              <a:rPr lang="nl-NL" sz="2000" b="1" dirty="0">
                <a:solidFill>
                  <a:srgbClr val="C4392D"/>
                </a:solidFill>
                <a:latin typeface="Calibri"/>
              </a:rPr>
              <a:t>Passend afhankelijk van keuzes</a:t>
            </a:r>
            <a:endParaRPr sz="3200" b="1" dirty="0">
              <a:solidFill>
                <a:srgbClr val="C4392D"/>
              </a:solidFill>
              <a:latin typeface="Calibri"/>
            </a:endParaRPr>
          </a:p>
        </p:txBody>
      </p:sp>
      <p:sp>
        <p:nvSpPr>
          <p:cNvPr id="12" name="TextBox 11"/>
          <p:cNvSpPr txBox="1"/>
          <p:nvPr/>
        </p:nvSpPr>
        <p:spPr>
          <a:xfrm>
            <a:off x="969264" y="2523744"/>
            <a:ext cx="5285232" cy="310896"/>
          </a:xfrm>
          <a:prstGeom prst="rect">
            <a:avLst/>
          </a:prstGeom>
          <a:noFill/>
        </p:spPr>
        <p:txBody>
          <a:bodyPr wrap="square" lIns="0" tIns="0" rIns="0" bIns="0" anchor="t">
            <a:spAutoFit/>
          </a:bodyPr>
          <a:lstStyle/>
          <a:p>
            <a:pPr algn="l">
              <a:lnSpc>
                <a:spcPct val="120000"/>
              </a:lnSpc>
              <a:spcAft>
                <a:spcPts val="0"/>
              </a:spcAft>
            </a:pPr>
            <a:r>
              <a:rPr sz="1250" b="0">
                <a:solidFill>
                  <a:srgbClr val="55677C"/>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 y="3282696"/>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Analyse op dag- en uurniveau</a:t>
            </a:r>
          </a:p>
          <a:p>
            <a:pPr algn="l">
              <a:lnSpc>
                <a:spcPct val="120000"/>
              </a:lnSpc>
              <a:spcAft>
                <a:spcPts val="0"/>
              </a:spcAft>
            </a:pPr>
            <a:r>
              <a:rPr sz="1000" b="0">
                <a:solidFill>
                  <a:srgbClr val="8B9AA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22960" y="3977639"/>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Jaarpatroon in beeld gebracht</a:t>
            </a:r>
          </a:p>
          <a:p>
            <a:pPr algn="l">
              <a:lnSpc>
                <a:spcPct val="120000"/>
              </a:lnSpc>
              <a:spcAft>
                <a:spcPts val="0"/>
              </a:spcAft>
            </a:pPr>
            <a:r>
              <a:rPr sz="1000" b="0">
                <a:solidFill>
                  <a:srgbClr val="8B9AA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22960" y="4672583"/>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Data beschikbaar</a:t>
            </a:r>
          </a:p>
          <a:p>
            <a:pPr algn="l">
              <a:lnSpc>
                <a:spcPct val="120000"/>
              </a:lnSpc>
              <a:spcAft>
                <a:spcPts val="0"/>
              </a:spcAft>
            </a:pPr>
            <a:r>
              <a:rPr sz="1000" b="0">
                <a:solidFill>
                  <a:srgbClr val="8B9AA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5472" y="1920240"/>
            <a:ext cx="4090111"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8B9AA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70064" y="2359152"/>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1F6FB2"/>
                </a:solidFill>
                <a:latin typeface="Calibri"/>
              </a:rPr>
              <a:t>kind spoed</a:t>
            </a:r>
          </a:p>
          <a:p>
            <a:pPr algn="l">
              <a:lnSpc>
                <a:spcPct val="120000"/>
              </a:lnSpc>
              <a:spcAft>
                <a:spcPts val="0"/>
              </a:spcAft>
            </a:pPr>
            <a:r>
              <a:rPr sz="1000" b="0">
                <a:solidFill>
                  <a:srgbClr val="55677C"/>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370064" y="3127248"/>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6B4BA8"/>
                </a:solidFill>
                <a:latin typeface="Calibri"/>
              </a:rPr>
              <a:t>EHH</a:t>
            </a:r>
          </a:p>
          <a:p>
            <a:pPr algn="l">
              <a:lnSpc>
                <a:spcPct val="120000"/>
              </a:lnSpc>
              <a:spcAft>
                <a:spcPts val="0"/>
              </a:spcAft>
            </a:pPr>
            <a:r>
              <a:rPr sz="1000" b="0">
                <a:solidFill>
                  <a:srgbClr val="55677C"/>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70064" y="3895344"/>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0E9A87"/>
                </a:solidFill>
                <a:latin typeface="Calibri"/>
              </a:rPr>
              <a:t>SEH</a:t>
            </a:r>
          </a:p>
          <a:p>
            <a:pPr algn="l">
              <a:lnSpc>
                <a:spcPct val="120000"/>
              </a:lnSpc>
              <a:spcAft>
                <a:spcPts val="0"/>
              </a:spcAft>
            </a:pPr>
            <a:r>
              <a:rPr sz="1000" b="0">
                <a:solidFill>
                  <a:srgbClr val="55677C"/>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69264" y="5440679"/>
            <a:ext cx="9997135" cy="621792"/>
          </a:xfrm>
          <a:prstGeom prst="rect">
            <a:avLst/>
          </a:prstGeom>
          <a:noFill/>
        </p:spPr>
        <p:txBody>
          <a:bodyPr wrap="square" lIns="0" tIns="0" rIns="0" bIns="0" anchor="ctr">
            <a:spAutoFit/>
          </a:bodyPr>
          <a:lstStyle/>
          <a:p>
            <a:pPr algn="l">
              <a:lnSpc>
                <a:spcPct val="120000"/>
              </a:lnSpc>
              <a:spcAft>
                <a:spcPts val="300"/>
              </a:spcAft>
            </a:pPr>
            <a:r>
              <a:rPr sz="950" b="1" spc="180">
                <a:solidFill>
                  <a:srgbClr val="C4392D"/>
                </a:solidFill>
                <a:latin typeface="Calibri"/>
              </a:rPr>
              <a:t>DOEL EN VERVOLG</a:t>
            </a:r>
          </a:p>
          <a:p>
            <a:pPr algn="l">
              <a:lnSpc>
                <a:spcPct val="120000"/>
              </a:lnSpc>
              <a:spcAft>
                <a:spcPts val="0"/>
              </a:spcAft>
            </a:pPr>
            <a:r>
              <a:rPr sz="1250" b="1">
                <a:solidFill>
                  <a:srgbClr val="0D1B2A"/>
                </a:solidFill>
                <a:latin typeface="Calibri"/>
              </a:rPr>
              <a:t>De zorg passend maken op de fysieke nieuwe SEH. De analyse is gedeeld — welke acties volgen eruit, en wie pakt ze op?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Hotfloor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dirty="0">
                <a:solidFill>
                  <a:srgbClr val="55677C"/>
                </a:solidFill>
                <a:latin typeface="Calibri"/>
              </a:rPr>
              <a:t>ICU, CCU </a:t>
            </a:r>
            <a:r>
              <a:rPr sz="1300" b="0" dirty="0" err="1">
                <a:solidFill>
                  <a:srgbClr val="55677C"/>
                </a:solidFill>
                <a:latin typeface="Calibri"/>
              </a:rPr>
              <a:t>en</a:t>
            </a:r>
            <a:r>
              <a:rPr sz="1300" b="0" dirty="0">
                <a:solidFill>
                  <a:srgbClr val="55677C"/>
                </a:solidFill>
                <a:latin typeface="Calibri"/>
              </a:rPr>
              <a:t> SCU </a:t>
            </a:r>
            <a:r>
              <a:rPr sz="1300" b="0" dirty="0" err="1">
                <a:solidFill>
                  <a:srgbClr val="55677C"/>
                </a:solidFill>
                <a:latin typeface="Calibri"/>
              </a:rPr>
              <a:t>samen</a:t>
            </a:r>
            <a:r>
              <a:rPr sz="1300" b="0" dirty="0">
                <a:solidFill>
                  <a:srgbClr val="55677C"/>
                </a:solidFill>
                <a:latin typeface="Calibri"/>
              </a:rPr>
              <a:t> op </a:t>
            </a:r>
            <a:r>
              <a:rPr sz="1300" b="0" dirty="0" err="1">
                <a:solidFill>
                  <a:srgbClr val="55677C"/>
                </a:solidFill>
                <a:latin typeface="Calibri"/>
              </a:rPr>
              <a:t>één</a:t>
            </a:r>
            <a:r>
              <a:rPr sz="1300" b="0" dirty="0">
                <a:solidFill>
                  <a:srgbClr val="55677C"/>
                </a:solidFill>
                <a:latin typeface="Calibri"/>
              </a:rPr>
              <a:t> </a:t>
            </a:r>
            <a:r>
              <a:rPr sz="1300" b="0" dirty="0" err="1">
                <a:solidFill>
                  <a:srgbClr val="55677C"/>
                </a:solidFill>
                <a:latin typeface="Calibri"/>
              </a:rPr>
              <a:t>vloer</a:t>
            </a:r>
            <a:endParaRPr sz="1300" b="0" dirty="0">
              <a:solidFill>
                <a:srgbClr val="55677C"/>
              </a:solidFill>
              <a:latin typeface="Calibri"/>
            </a:endParaRP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18</a:t>
            </a:r>
          </a:p>
        </p:txBody>
      </p:sp>
      <p:sp>
        <p:nvSpPr>
          <p:cNvPr id="10" name="Rounded Rectangle 9"/>
          <p:cNvSpPr/>
          <p:nvPr/>
        </p:nvSpPr>
        <p:spPr>
          <a:xfrm>
            <a:off x="640080" y="1700784"/>
            <a:ext cx="5943600" cy="1243584"/>
          </a:xfrm>
          <a:prstGeom prst="roundRect">
            <a:avLst>
              <a:gd name="adj" fmla="val 3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69264" y="1883664"/>
            <a:ext cx="5285232" cy="658368"/>
          </a:xfrm>
          <a:prstGeom prst="rect">
            <a:avLst/>
          </a:prstGeom>
          <a:noFill/>
        </p:spPr>
        <p:txBody>
          <a:bodyPr wrap="square" lIns="0" tIns="0" rIns="0" bIns="0" anchor="t">
            <a:spAutoFit/>
          </a:bodyPr>
          <a:lstStyle/>
          <a:p>
            <a:pPr algn="l">
              <a:lnSpc>
                <a:spcPct val="120000"/>
              </a:lnSpc>
              <a:spcAft>
                <a:spcPts val="0"/>
              </a:spcAft>
            </a:pPr>
            <a:r>
              <a:rPr sz="4000" b="1">
                <a:solidFill>
                  <a:srgbClr val="0E9A87"/>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tIns="0" rIns="0" bIns="0" anchor="t">
            <a:spAutoFit/>
          </a:bodyPr>
          <a:lstStyle/>
          <a:p>
            <a:pPr algn="l">
              <a:lnSpc>
                <a:spcPct val="120000"/>
              </a:lnSpc>
              <a:spcAft>
                <a:spcPts val="0"/>
              </a:spcAft>
            </a:pPr>
            <a:r>
              <a:rPr sz="1250" b="0">
                <a:solidFill>
                  <a:srgbClr val="55677C"/>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 y="3282696"/>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0E9A87"/>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Weigerkans onbekend</a:t>
            </a:r>
          </a:p>
          <a:p>
            <a:pPr algn="l">
              <a:lnSpc>
                <a:spcPct val="120000"/>
              </a:lnSpc>
              <a:spcAft>
                <a:spcPts val="0"/>
              </a:spcAft>
            </a:pPr>
            <a:r>
              <a:rPr sz="1000" b="0">
                <a:solidFill>
                  <a:srgbClr val="8B9AA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22960" y="3977639"/>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0E9A87"/>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EHH nog niet belegd</a:t>
            </a:r>
          </a:p>
          <a:p>
            <a:pPr algn="l">
              <a:lnSpc>
                <a:spcPct val="120000"/>
              </a:lnSpc>
              <a:spcAft>
                <a:spcPts val="0"/>
              </a:spcAft>
            </a:pPr>
            <a:r>
              <a:rPr sz="1000" b="0">
                <a:solidFill>
                  <a:srgbClr val="8B9AA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22960" y="4672583"/>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0E9A87"/>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Personele verdeling open</a:t>
            </a:r>
          </a:p>
          <a:p>
            <a:pPr algn="l">
              <a:lnSpc>
                <a:spcPct val="120000"/>
              </a:lnSpc>
              <a:spcAft>
                <a:spcPts val="0"/>
              </a:spcAft>
            </a:pPr>
            <a:r>
              <a:rPr sz="1000" b="0">
                <a:solidFill>
                  <a:srgbClr val="8B9AA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5472" y="1920240"/>
            <a:ext cx="4090111"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8B9AA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70064" y="2359152"/>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0E9A87"/>
                </a:solidFill>
                <a:latin typeface="Calibri"/>
              </a:rPr>
              <a:t>16 bedden</a:t>
            </a:r>
          </a:p>
          <a:p>
            <a:pPr algn="l">
              <a:lnSpc>
                <a:spcPct val="120000"/>
              </a:lnSpc>
              <a:spcAft>
                <a:spcPts val="0"/>
              </a:spcAft>
            </a:pPr>
            <a:r>
              <a:rPr sz="1000" b="0">
                <a:solidFill>
                  <a:srgbClr val="55677C"/>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370064" y="3127248"/>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C87E12"/>
                </a:solidFill>
                <a:latin typeface="Calibri"/>
              </a:rPr>
              <a:t>weigerkans</a:t>
            </a:r>
          </a:p>
          <a:p>
            <a:pPr algn="l">
              <a:lnSpc>
                <a:spcPct val="120000"/>
              </a:lnSpc>
              <a:spcAft>
                <a:spcPts val="0"/>
              </a:spcAft>
            </a:pPr>
            <a:r>
              <a:rPr sz="1000" b="0">
                <a:solidFill>
                  <a:srgbClr val="55677C"/>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70064" y="3895344"/>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C87E12"/>
                </a:solidFill>
                <a:latin typeface="Calibri"/>
              </a:rPr>
              <a:t>EHH erbij?</a:t>
            </a:r>
          </a:p>
          <a:p>
            <a:pPr algn="l">
              <a:lnSpc>
                <a:spcPct val="120000"/>
              </a:lnSpc>
              <a:spcAft>
                <a:spcPts val="0"/>
              </a:spcAft>
            </a:pPr>
            <a:r>
              <a:rPr sz="1000" b="0">
                <a:solidFill>
                  <a:srgbClr val="55677C"/>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69264" y="5440679"/>
            <a:ext cx="9997135" cy="621792"/>
          </a:xfrm>
          <a:prstGeom prst="rect">
            <a:avLst/>
          </a:prstGeom>
          <a:noFill/>
        </p:spPr>
        <p:txBody>
          <a:bodyPr wrap="square" lIns="0" tIns="0" rIns="0" bIns="0" anchor="ctr">
            <a:spAutoFit/>
          </a:bodyPr>
          <a:lstStyle/>
          <a:p>
            <a:pPr algn="l">
              <a:lnSpc>
                <a:spcPct val="120000"/>
              </a:lnSpc>
              <a:spcAft>
                <a:spcPts val="300"/>
              </a:spcAft>
            </a:pPr>
            <a:r>
              <a:rPr sz="950" b="1" spc="180">
                <a:solidFill>
                  <a:srgbClr val="C87E12"/>
                </a:solidFill>
                <a:latin typeface="Calibri"/>
              </a:rPr>
              <a:t>WAT ER NOG MOET GEBEUREN</a:t>
            </a:r>
          </a:p>
          <a:p>
            <a:pPr algn="l">
              <a:lnSpc>
                <a:spcPct val="120000"/>
              </a:lnSpc>
              <a:spcAft>
                <a:spcPts val="0"/>
              </a:spcAft>
            </a:pPr>
            <a:r>
              <a:rPr sz="1250" b="1">
                <a:solidFill>
                  <a:srgbClr val="0D1B2A"/>
                </a:solidFill>
                <a:latin typeface="Calibri"/>
              </a:rPr>
              <a:t>De uitkomst is positief, maar zonder weigerkans en zonder besluit over de EHH is het beeld niet compleet.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87E1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Waar valt de EHH onder?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19</a:t>
            </a:r>
          </a:p>
        </p:txBody>
      </p:sp>
      <p:sp>
        <p:nvSpPr>
          <p:cNvPr id="10" name="Rounded Rectangle 9"/>
          <p:cNvSpPr/>
          <p:nvPr/>
        </p:nvSpPr>
        <p:spPr>
          <a:xfrm>
            <a:off x="2103120" y="1700784"/>
            <a:ext cx="7985455" cy="1060704"/>
          </a:xfrm>
          <a:prstGeom prst="roundRect">
            <a:avLst>
              <a:gd name="adj" fmla="val 3000"/>
            </a:avLst>
          </a:prstGeom>
          <a:solidFill>
            <a:srgbClr val="E8DCC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103120" y="1847088"/>
            <a:ext cx="7985455" cy="548640"/>
          </a:xfrm>
          <a:prstGeom prst="rect">
            <a:avLst/>
          </a:prstGeom>
          <a:noFill/>
        </p:spPr>
        <p:txBody>
          <a:bodyPr wrap="square" lIns="0" tIns="0" rIns="0" bIns="0" anchor="t">
            <a:spAutoFit/>
          </a:bodyPr>
          <a:lstStyle/>
          <a:p>
            <a:pPr algn="ctr">
              <a:lnSpc>
                <a:spcPct val="120000"/>
              </a:lnSpc>
              <a:spcAft>
                <a:spcPts val="0"/>
              </a:spcAft>
            </a:pPr>
            <a:r>
              <a:rPr sz="3400" b="1">
                <a:solidFill>
                  <a:srgbClr val="C87E12"/>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tIns="0" rIns="0" bIns="0" anchor="t">
            <a:spAutoFit/>
          </a:bodyPr>
          <a:lstStyle/>
          <a:p>
            <a:pPr algn="ctr">
              <a:lnSpc>
                <a:spcPct val="120000"/>
              </a:lnSpc>
              <a:spcAft>
                <a:spcPts val="0"/>
              </a:spcAft>
            </a:pPr>
            <a:r>
              <a:rPr sz="1250" b="0">
                <a:solidFill>
                  <a:srgbClr val="55677C"/>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40080" y="3072384"/>
            <a:ext cx="5227167" cy="1920240"/>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04671" y="3218688"/>
            <a:ext cx="512064" cy="51206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F6FB2"/>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tIns="0" rIns="0" bIns="0" anchor="ctr">
            <a:spAutoFit/>
          </a:bodyPr>
          <a:lstStyle/>
          <a:p>
            <a:pPr algn="l">
              <a:lnSpc>
                <a:spcPct val="120000"/>
              </a:lnSpc>
              <a:spcAft>
                <a:spcPts val="0"/>
              </a:spcAft>
            </a:pPr>
            <a:r>
              <a:rPr sz="1900" b="1">
                <a:solidFill>
                  <a:srgbClr val="1F6FB2"/>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tIns="0" rIns="0" bIns="0" anchor="t">
            <a:spAutoFit/>
          </a:bodyPr>
          <a:lstStyle/>
          <a:p>
            <a:pPr algn="l">
              <a:lnSpc>
                <a:spcPct val="120000"/>
              </a:lnSpc>
              <a:spcAft>
                <a:spcPts val="0"/>
              </a:spcAft>
            </a:pPr>
            <a:r>
              <a:rPr sz="1150" b="0">
                <a:solidFill>
                  <a:srgbClr val="0D1B2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tIns="0" rIns="0" bIns="0" anchor="t">
            <a:spAutoFit/>
          </a:bodyPr>
          <a:lstStyle/>
          <a:p>
            <a:pPr algn="l">
              <a:lnSpc>
                <a:spcPct val="125000"/>
              </a:lnSpc>
              <a:spcAft>
                <a:spcPts val="0"/>
              </a:spcAft>
            </a:pPr>
            <a:r>
              <a:rPr sz="1150" b="0" dirty="0">
                <a:solidFill>
                  <a:srgbClr val="55677C"/>
                </a:solidFill>
                <a:latin typeface="Calibri"/>
              </a:rPr>
              <a:t>De EHH </a:t>
            </a:r>
            <a:r>
              <a:rPr sz="1150" b="0" dirty="0" err="1">
                <a:solidFill>
                  <a:srgbClr val="55677C"/>
                </a:solidFill>
                <a:latin typeface="Calibri"/>
              </a:rPr>
              <a:t>telt</a:t>
            </a:r>
            <a:r>
              <a:rPr sz="1150" b="0" dirty="0">
                <a:solidFill>
                  <a:srgbClr val="55677C"/>
                </a:solidFill>
                <a:latin typeface="Calibri"/>
              </a:rPr>
              <a:t> mee in de </a:t>
            </a:r>
            <a:r>
              <a:rPr sz="1150" b="0" dirty="0" err="1">
                <a:solidFill>
                  <a:srgbClr val="55677C"/>
                </a:solidFill>
                <a:latin typeface="Calibri"/>
              </a:rPr>
              <a:t>plekken</a:t>
            </a:r>
            <a:r>
              <a:rPr sz="1150" b="0" dirty="0">
                <a:solidFill>
                  <a:srgbClr val="55677C"/>
                </a:solidFill>
                <a:latin typeface="Calibri"/>
              </a:rPr>
              <a:t> van de acute </a:t>
            </a:r>
            <a:r>
              <a:rPr sz="1150" b="0" dirty="0" err="1">
                <a:solidFill>
                  <a:srgbClr val="55677C"/>
                </a:solidFill>
                <a:latin typeface="Calibri"/>
              </a:rPr>
              <a:t>poort</a:t>
            </a:r>
            <a:r>
              <a:rPr sz="1150" b="0" dirty="0">
                <a:solidFill>
                  <a:srgbClr val="55677C"/>
                </a:solidFill>
                <a:latin typeface="Calibri"/>
              </a:rPr>
              <a:t>, die nu al </a:t>
            </a:r>
            <a:r>
              <a:rPr sz="1150" b="0" dirty="0" err="1">
                <a:solidFill>
                  <a:srgbClr val="55677C"/>
                </a:solidFill>
                <a:latin typeface="Calibri"/>
              </a:rPr>
              <a:t>te</a:t>
            </a:r>
            <a:r>
              <a:rPr sz="1150" b="0" dirty="0">
                <a:solidFill>
                  <a:srgbClr val="55677C"/>
                </a:solidFill>
                <a:latin typeface="Calibri"/>
              </a:rPr>
              <a:t> </a:t>
            </a:r>
            <a:r>
              <a:rPr sz="1150" b="0" dirty="0" err="1">
                <a:solidFill>
                  <a:srgbClr val="55677C"/>
                </a:solidFill>
                <a:latin typeface="Calibri"/>
              </a:rPr>
              <a:t>klein</a:t>
            </a:r>
            <a:r>
              <a:rPr sz="1150" b="0" dirty="0">
                <a:solidFill>
                  <a:srgbClr val="55677C"/>
                </a:solidFill>
                <a:latin typeface="Calibri"/>
              </a:rPr>
              <a:t>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24447" y="3072384"/>
            <a:ext cx="5227167" cy="1920240"/>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489039" y="3218688"/>
            <a:ext cx="512064" cy="51206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0E9A87"/>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tIns="0" rIns="0" bIns="0" anchor="ctr">
            <a:spAutoFit/>
          </a:bodyPr>
          <a:lstStyle/>
          <a:p>
            <a:pPr algn="l">
              <a:lnSpc>
                <a:spcPct val="120000"/>
              </a:lnSpc>
              <a:spcAft>
                <a:spcPts val="0"/>
              </a:spcAft>
            </a:pPr>
            <a:r>
              <a:rPr sz="1900" b="1">
                <a:solidFill>
                  <a:srgbClr val="0E9A87"/>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tIns="0" rIns="0" bIns="0" anchor="t">
            <a:spAutoFit/>
          </a:bodyPr>
          <a:lstStyle/>
          <a:p>
            <a:pPr algn="l">
              <a:lnSpc>
                <a:spcPct val="120000"/>
              </a:lnSpc>
              <a:spcAft>
                <a:spcPts val="0"/>
              </a:spcAft>
            </a:pPr>
            <a:r>
              <a:rPr sz="1150" b="0">
                <a:solidFill>
                  <a:srgbClr val="0D1B2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tIns="0" rIns="0" bIns="0" anchor="t">
            <a:spAutoFit/>
          </a:bodyPr>
          <a:lstStyle/>
          <a:p>
            <a:pPr algn="l">
              <a:lnSpc>
                <a:spcPct val="125000"/>
              </a:lnSpc>
              <a:spcAft>
                <a:spcPts val="0"/>
              </a:spcAft>
            </a:pPr>
            <a:r>
              <a:rPr sz="1150" b="0">
                <a:solidFill>
                  <a:srgbClr val="55677C"/>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ounded Rectangle 2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69264" y="5440679"/>
            <a:ext cx="9997135" cy="621792"/>
          </a:xfrm>
          <a:prstGeom prst="rect">
            <a:avLst/>
          </a:prstGeom>
          <a:noFill/>
        </p:spPr>
        <p:txBody>
          <a:bodyPr wrap="square" lIns="0" tIns="0" rIns="0" bIns="0" anchor="ctr">
            <a:spAutoFit/>
          </a:bodyPr>
          <a:lstStyle/>
          <a:p>
            <a:pPr algn="l">
              <a:lnSpc>
                <a:spcPct val="120000"/>
              </a:lnSpc>
              <a:spcAft>
                <a:spcPts val="300"/>
              </a:spcAft>
            </a:pPr>
            <a:r>
              <a:rPr sz="950" b="1" spc="180">
                <a:solidFill>
                  <a:srgbClr val="C87E12"/>
                </a:solidFill>
                <a:latin typeface="Calibri"/>
              </a:rPr>
              <a:t>EN DAARNA?</a:t>
            </a:r>
          </a:p>
          <a:p>
            <a:pPr algn="l">
              <a:lnSpc>
                <a:spcPct val="120000"/>
              </a:lnSpc>
              <a:spcAft>
                <a:spcPts val="0"/>
              </a:spcAft>
            </a:pPr>
            <a:r>
              <a:rPr sz="1250" b="1">
                <a:solidFill>
                  <a:srgbClr val="0D1B2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6895"/>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C87E12">
                    <a:alpha val="9000"/>
                  </a:srgbClr>
                </a:solidFill>
                <a:latin typeface="Calibri"/>
              </a:rPr>
              <a:t>04</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C87E12"/>
                </a:solidFill>
                <a:latin typeface="Calibri"/>
              </a:rPr>
              <a:t>DEEL 04</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dirty="0">
                <a:solidFill>
                  <a:srgbClr val="0D1B2A"/>
                </a:solidFill>
                <a:latin typeface="Calibri"/>
              </a:rPr>
              <a:t>Wat </a:t>
            </a:r>
            <a:r>
              <a:rPr sz="4600" b="1" dirty="0" err="1">
                <a:solidFill>
                  <a:srgbClr val="0D1B2A"/>
                </a:solidFill>
                <a:latin typeface="Calibri"/>
              </a:rPr>
              <a:t>moet</a:t>
            </a:r>
            <a:r>
              <a:rPr sz="4600" b="1" dirty="0">
                <a:solidFill>
                  <a:srgbClr val="0D1B2A"/>
                </a:solidFill>
                <a:latin typeface="Calibri"/>
              </a:rPr>
              <a:t> er </a:t>
            </a:r>
            <a:r>
              <a:rPr sz="4600" b="1" dirty="0" err="1">
                <a:solidFill>
                  <a:srgbClr val="0D1B2A"/>
                </a:solidFill>
                <a:latin typeface="Calibri"/>
              </a:rPr>
              <a:t>besloten</a:t>
            </a:r>
            <a:r>
              <a:rPr sz="4600" b="1" dirty="0">
                <a:solidFill>
                  <a:srgbClr val="0D1B2A"/>
                </a:solidFill>
                <a:latin typeface="Calibri"/>
              </a:rPr>
              <a:t> </a:t>
            </a:r>
            <a:r>
              <a:rPr sz="4600" b="1" dirty="0" err="1">
                <a:solidFill>
                  <a:srgbClr val="0D1B2A"/>
                </a:solidFill>
                <a:latin typeface="Calibri"/>
              </a:rPr>
              <a:t>worden</a:t>
            </a:r>
            <a:endParaRPr sz="4600" b="1" dirty="0">
              <a:solidFill>
                <a:srgbClr val="0D1B2A"/>
              </a:solidFill>
              <a:latin typeface="Calibri"/>
            </a:endParaRPr>
          </a:p>
        </p:txBody>
      </p:sp>
      <p:cxnSp>
        <p:nvCxnSpPr>
          <p:cNvPr id="6" name="Connector 5"/>
          <p:cNvCxnSpPr/>
          <p:nvPr/>
        </p:nvCxnSpPr>
        <p:spPr>
          <a:xfrm>
            <a:off x="649224" y="3848010"/>
            <a:ext cx="2377440" cy="0"/>
          </a:xfrm>
          <a:prstGeom prst="line">
            <a:avLst/>
          </a:prstGeom>
          <a:ln w="25400">
            <a:solidFill>
              <a:srgbClr val="C87E1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Wat we per situatie weten</a:t>
            </a:r>
          </a:p>
        </p:txBody>
      </p:sp>
      <p:sp>
        <p:nvSpPr>
          <p:cNvPr id="9" name="Oval 8"/>
          <p:cNvSpPr/>
          <p:nvPr/>
        </p:nvSpPr>
        <p:spPr>
          <a:xfrm>
            <a:off x="649224" y="4279392"/>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Zesendertig vragen en zes besluiten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C87E1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Wat weten we per situatie</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21</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4282135">
                  <a:extLst>
                    <a:ext uri="{9D8B030D-6E8A-4147-A177-3AD203B41FA5}">
                      <a16:colId xmlns:a16="http://schemas.microsoft.com/office/drawing/2014/main" val="20002"/>
                    </a:ext>
                  </a:extLst>
                </a:gridCol>
              </a:tblGrid>
              <a:tr h="347472">
                <a:tc>
                  <a:txBody>
                    <a:bodyPr/>
                    <a:lstStyle/>
                    <a:p>
                      <a:pPr algn="l">
                        <a:spcAft>
                          <a:spcPts val="200"/>
                        </a:spcAft>
                      </a:pPr>
                      <a:r>
                        <a:rPr sz="950" b="1">
                          <a:solidFill>
                            <a:srgbClr val="0E9A87"/>
                          </a:solidFill>
                          <a:latin typeface="Calibri"/>
                        </a:rPr>
                        <a:t>SITUATIE</a:t>
                      </a:r>
                    </a:p>
                  </a:txBody>
                  <a:tcPr marT="36576" marB="36576" anchor="ctr">
                    <a:solidFill>
                      <a:srgbClr val="FFFFFF"/>
                    </a:solidFill>
                  </a:tcPr>
                </a:tc>
                <a:tc>
                  <a:txBody>
                    <a:bodyPr/>
                    <a:lstStyle/>
                    <a:p>
                      <a:pPr algn="l">
                        <a:spcAft>
                          <a:spcPts val="200"/>
                        </a:spcAft>
                      </a:pPr>
                      <a:r>
                        <a:rPr sz="950" b="1">
                          <a:solidFill>
                            <a:srgbClr val="0E9A87"/>
                          </a:solidFill>
                          <a:latin typeface="Calibri"/>
                        </a:rPr>
                        <a:t>FYSIEKE PLANNING</a:t>
                      </a:r>
                    </a:p>
                  </a:txBody>
                  <a:tcPr marT="36576" marB="36576" anchor="ctr">
                    <a:solidFill>
                      <a:srgbClr val="FFFFFF"/>
                    </a:solidFill>
                  </a:tcPr>
                </a:tc>
                <a:tc>
                  <a:txBody>
                    <a:bodyPr/>
                    <a:lstStyle/>
                    <a:p>
                      <a:pPr algn="l">
                        <a:spcAft>
                          <a:spcPts val="200"/>
                        </a:spcAft>
                      </a:pPr>
                      <a:r>
                        <a:rPr sz="950" b="1">
                          <a:solidFill>
                            <a:srgbClr val="0E9A87"/>
                          </a:solidFill>
                          <a:latin typeface="Calibri"/>
                        </a:rPr>
                        <a:t>PERSONELE INZET · OPLEIDEN</a:t>
                      </a:r>
                    </a:p>
                  </a:txBody>
                  <a:tcPr marT="36576" marB="36576" anchor="ctr">
                    <a:solidFill>
                      <a:srgbClr val="FFFFFF"/>
                    </a:solidFill>
                  </a:tcPr>
                </a:tc>
                <a:extLst>
                  <a:ext uri="{0D108BD9-81ED-4DB2-BD59-A6C34878D82A}">
                    <a16:rowId xmlns:a16="http://schemas.microsoft.com/office/drawing/2014/main" val="10000"/>
                  </a:ext>
                </a:extLst>
              </a:tr>
              <a:tr h="566928">
                <a:tc>
                  <a:txBody>
                    <a:bodyPr/>
                    <a:lstStyle/>
                    <a:p>
                      <a:pPr algn="l">
                        <a:spcAft>
                          <a:spcPts val="200"/>
                        </a:spcAft>
                      </a:pPr>
                      <a:r>
                        <a:rPr sz="1150" b="1">
                          <a:solidFill>
                            <a:srgbClr val="0D1B2A"/>
                          </a:solidFill>
                          <a:latin typeface="Calibri"/>
                        </a:rPr>
                        <a:t>Oudbouw</a:t>
                      </a:r>
                    </a:p>
                    <a:p>
                      <a:pPr algn="l">
                        <a:spcAft>
                          <a:spcPts val="200"/>
                        </a:spcAft>
                      </a:pPr>
                      <a:r>
                        <a:rPr sz="1150" b="1">
                          <a:solidFill>
                            <a:srgbClr val="0D1B2A"/>
                          </a:solidFill>
                          <a:latin typeface="Calibri"/>
                        </a:rPr>
                        <a:t>okt 2026 - mei 2027</a:t>
                      </a:r>
                    </a:p>
                  </a:txBody>
                  <a:tcPr marT="36576" marB="36576" anchor="ctr">
                    <a:solidFill>
                      <a:srgbClr val="FFFFFF"/>
                    </a:solidFill>
                  </a:tcPr>
                </a:tc>
                <a:tc>
                  <a:txBody>
                    <a:bodyPr/>
                    <a:lstStyle/>
                    <a:p>
                      <a:pPr algn="l">
                        <a:spcAft>
                          <a:spcPts val="200"/>
                        </a:spcAft>
                      </a:pPr>
                      <a:r>
                        <a:rPr sz="1150" b="0">
                          <a:solidFill>
                            <a:srgbClr val="55677C"/>
                          </a:solidFill>
                          <a:latin typeface="Calibri"/>
                        </a:rPr>
                        <a:t>Zie de vijf scenario's (dia 14)</a:t>
                      </a:r>
                    </a:p>
                  </a:txBody>
                  <a:tcPr marT="36576" marB="36576" anchor="ctr">
                    <a:solidFill>
                      <a:srgbClr val="FFFFFF"/>
                    </a:solidFill>
                  </a:tcPr>
                </a:tc>
                <a:tc>
                  <a:txBody>
                    <a:bodyPr/>
                    <a:lstStyle/>
                    <a:p>
                      <a:pPr algn="l">
                        <a:spcAft>
                          <a:spcPts val="200"/>
                        </a:spcAft>
                      </a:pPr>
                      <a:r>
                        <a:rPr sz="1150" b="0">
                          <a:solidFill>
                            <a:srgbClr val="8B9AAA"/>
                          </a:solidFill>
                          <a:latin typeface="Calibri"/>
                        </a:rPr>
                        <a:t>nog niet ingevuld</a:t>
                      </a:r>
                    </a:p>
                  </a:txBody>
                  <a:tcPr marT="36576" marB="36576" anchor="ctr">
                    <a:solidFill>
                      <a:srgbClr val="FFFFFF"/>
                    </a:solidFill>
                  </a:tcPr>
                </a:tc>
                <a:extLst>
                  <a:ext uri="{0D108BD9-81ED-4DB2-BD59-A6C34878D82A}">
                    <a16:rowId xmlns:a16="http://schemas.microsoft.com/office/drawing/2014/main" val="10001"/>
                  </a:ext>
                </a:extLst>
              </a:tr>
              <a:tr h="566928">
                <a:tc>
                  <a:txBody>
                    <a:bodyPr/>
                    <a:lstStyle/>
                    <a:p>
                      <a:pPr algn="l">
                        <a:spcAft>
                          <a:spcPts val="200"/>
                        </a:spcAft>
                      </a:pPr>
                      <a:r>
                        <a:rPr sz="1150" b="1">
                          <a:solidFill>
                            <a:srgbClr val="0D1B2A"/>
                          </a:solidFill>
                          <a:latin typeface="Calibri"/>
                        </a:rPr>
                        <a:t>Verhuisperiode</a:t>
                      </a:r>
                    </a:p>
                    <a:p>
                      <a:pPr algn="l">
                        <a:spcAft>
                          <a:spcPts val="200"/>
                        </a:spcAft>
                      </a:pPr>
                      <a:r>
                        <a:rPr sz="1150" b="1">
                          <a:solidFill>
                            <a:srgbClr val="0D1B2A"/>
                          </a:solidFill>
                          <a:latin typeface="Calibri"/>
                        </a:rPr>
                        <a:t>juni 2027</a:t>
                      </a:r>
                    </a:p>
                  </a:txBody>
                  <a:tcPr marT="36576" marB="36576" anchor="ctr">
                    <a:solidFill>
                      <a:srgbClr val="F6F9FD"/>
                    </a:solidFill>
                  </a:tcPr>
                </a:tc>
                <a:tc>
                  <a:txBody>
                    <a:bodyPr/>
                    <a:lstStyle/>
                    <a:p>
                      <a:pPr algn="l">
                        <a:spcAft>
                          <a:spcPts val="200"/>
                        </a:spcAft>
                      </a:pPr>
                      <a:r>
                        <a:rPr sz="1150" b="0">
                          <a:solidFill>
                            <a:srgbClr val="8B9AAA"/>
                          </a:solidFill>
                          <a:latin typeface="Calibri"/>
                        </a:rPr>
                        <a:t>nog niet ingevuld</a:t>
                      </a:r>
                    </a:p>
                  </a:txBody>
                  <a:tcPr marT="36576" marB="36576" anchor="ctr">
                    <a:solidFill>
                      <a:srgbClr val="F6F9FD"/>
                    </a:solidFill>
                  </a:tcPr>
                </a:tc>
                <a:tc>
                  <a:txBody>
                    <a:bodyPr/>
                    <a:lstStyle/>
                    <a:p>
                      <a:pPr algn="l">
                        <a:spcAft>
                          <a:spcPts val="200"/>
                        </a:spcAft>
                      </a:pPr>
                      <a:r>
                        <a:rPr sz="1150" b="0">
                          <a:solidFill>
                            <a:srgbClr val="8B9AAA"/>
                          </a:solidFill>
                          <a:latin typeface="Calibri"/>
                        </a:rPr>
                        <a:t>nog niet ingevuld</a:t>
                      </a:r>
                    </a:p>
                  </a:txBody>
                  <a:tcPr marT="36576" marB="36576" anchor="ctr">
                    <a:solidFill>
                      <a:srgbClr val="F6F9FD"/>
                    </a:solidFill>
                  </a:tcPr>
                </a:tc>
                <a:extLst>
                  <a:ext uri="{0D108BD9-81ED-4DB2-BD59-A6C34878D82A}">
                    <a16:rowId xmlns:a16="http://schemas.microsoft.com/office/drawing/2014/main" val="10002"/>
                  </a:ext>
                </a:extLst>
              </a:tr>
              <a:tr h="1371600">
                <a:tc>
                  <a:txBody>
                    <a:bodyPr/>
                    <a:lstStyle/>
                    <a:p>
                      <a:pPr algn="l">
                        <a:spcAft>
                          <a:spcPts val="200"/>
                        </a:spcAft>
                      </a:pPr>
                      <a:r>
                        <a:rPr sz="1150" b="1">
                          <a:solidFill>
                            <a:srgbClr val="0D1B2A"/>
                          </a:solidFill>
                          <a:latin typeface="Calibri"/>
                        </a:rPr>
                        <a:t>Nieuwbouw</a:t>
                      </a:r>
                    </a:p>
                    <a:p>
                      <a:pPr algn="l">
                        <a:spcAft>
                          <a:spcPts val="200"/>
                        </a:spcAft>
                      </a:pPr>
                      <a:r>
                        <a:rPr sz="1150" b="1">
                          <a:solidFill>
                            <a:srgbClr val="0D1B2A"/>
                          </a:solidFill>
                          <a:latin typeface="Calibri"/>
                        </a:rPr>
                        <a:t>vanaf juni 2027</a:t>
                      </a:r>
                    </a:p>
                  </a:txBody>
                  <a:tcPr marT="36576" marB="36576" anchor="ctr">
                    <a:solidFill>
                      <a:srgbClr val="FFFFFF"/>
                    </a:solidFill>
                  </a:tcPr>
                </a:tc>
                <a:tc>
                  <a:txBody>
                    <a:bodyPr/>
                    <a:lstStyle/>
                    <a:p>
                      <a:pPr algn="l">
                        <a:spcAft>
                          <a:spcPts val="200"/>
                        </a:spcAft>
                      </a:pPr>
                      <a:r>
                        <a:rPr sz="1050" b="0" dirty="0">
                          <a:solidFill>
                            <a:srgbClr val="55677C"/>
                          </a:solidFill>
                          <a:latin typeface="Calibri"/>
                        </a:rPr>
                        <a:t>1   </a:t>
                      </a:r>
                      <a:r>
                        <a:rPr sz="1050" b="0" dirty="0" err="1">
                          <a:solidFill>
                            <a:srgbClr val="55677C"/>
                          </a:solidFill>
                          <a:latin typeface="Calibri"/>
                        </a:rPr>
                        <a:t>Waar</a:t>
                      </a:r>
                      <a:r>
                        <a:rPr sz="1050" b="0" dirty="0">
                          <a:solidFill>
                            <a:srgbClr val="55677C"/>
                          </a:solidFill>
                          <a:latin typeface="Calibri"/>
                        </a:rPr>
                        <a:t> </a:t>
                      </a:r>
                      <a:r>
                        <a:rPr sz="1050" b="0" dirty="0" err="1">
                          <a:solidFill>
                            <a:srgbClr val="55677C"/>
                          </a:solidFill>
                          <a:latin typeface="Calibri"/>
                        </a:rPr>
                        <a:t>komt</a:t>
                      </a:r>
                      <a:r>
                        <a:rPr sz="1050" b="0" dirty="0">
                          <a:solidFill>
                            <a:srgbClr val="55677C"/>
                          </a:solidFill>
                          <a:latin typeface="Calibri"/>
                        </a:rPr>
                        <a:t> de </a:t>
                      </a:r>
                      <a:r>
                        <a:rPr sz="1050" b="0" dirty="0" err="1">
                          <a:solidFill>
                            <a:srgbClr val="55677C"/>
                          </a:solidFill>
                          <a:latin typeface="Calibri"/>
                        </a:rPr>
                        <a:t>recoverypatiënt</a:t>
                      </a:r>
                      <a:r>
                        <a:rPr sz="1050" b="0" dirty="0">
                          <a:solidFill>
                            <a:srgbClr val="55677C"/>
                          </a:solidFill>
                          <a:latin typeface="Calibri"/>
                        </a:rPr>
                        <a:t> in </a:t>
                      </a:r>
                      <a:r>
                        <a:rPr sz="1050" b="0" dirty="0" err="1">
                          <a:solidFill>
                            <a:srgbClr val="55677C"/>
                          </a:solidFill>
                          <a:latin typeface="Calibri"/>
                        </a:rPr>
                        <a:t>avond</a:t>
                      </a:r>
                      <a:r>
                        <a:rPr sz="1050" b="0" dirty="0">
                          <a:solidFill>
                            <a:srgbClr val="55677C"/>
                          </a:solidFill>
                          <a:latin typeface="Calibri"/>
                        </a:rPr>
                        <a:t>, </a:t>
                      </a:r>
                      <a:r>
                        <a:rPr sz="1050" b="0" dirty="0" err="1">
                          <a:solidFill>
                            <a:srgbClr val="55677C"/>
                          </a:solidFill>
                          <a:latin typeface="Calibri"/>
                        </a:rPr>
                        <a:t>nacht</a:t>
                      </a:r>
                      <a:r>
                        <a:rPr sz="1050" b="0" dirty="0">
                          <a:solidFill>
                            <a:srgbClr val="55677C"/>
                          </a:solidFill>
                          <a:latin typeface="Calibri"/>
                        </a:rPr>
                        <a:t> </a:t>
                      </a:r>
                      <a:r>
                        <a:rPr sz="1050" b="0" dirty="0" err="1">
                          <a:solidFill>
                            <a:srgbClr val="55677C"/>
                          </a:solidFill>
                          <a:latin typeface="Calibri"/>
                        </a:rPr>
                        <a:t>en</a:t>
                      </a:r>
                      <a:r>
                        <a:rPr sz="1050" b="0" dirty="0">
                          <a:solidFill>
                            <a:srgbClr val="55677C"/>
                          </a:solidFill>
                          <a:latin typeface="Calibri"/>
                        </a:rPr>
                        <a:t> weekend?</a:t>
                      </a:r>
                    </a:p>
                    <a:p>
                      <a:pPr algn="l">
                        <a:spcAft>
                          <a:spcPts val="200"/>
                        </a:spcAft>
                      </a:pPr>
                      <a:r>
                        <a:rPr sz="1050" b="0" dirty="0">
                          <a:solidFill>
                            <a:srgbClr val="55677C"/>
                          </a:solidFill>
                          <a:latin typeface="Calibri"/>
                        </a:rPr>
                        <a:t>2   </a:t>
                      </a:r>
                      <a:r>
                        <a:rPr sz="1050" b="0" dirty="0" err="1">
                          <a:solidFill>
                            <a:srgbClr val="55677C"/>
                          </a:solidFill>
                          <a:latin typeface="Calibri"/>
                        </a:rPr>
                        <a:t>Waar</a:t>
                      </a:r>
                      <a:r>
                        <a:rPr sz="1050" b="0" dirty="0">
                          <a:solidFill>
                            <a:srgbClr val="55677C"/>
                          </a:solidFill>
                          <a:latin typeface="Calibri"/>
                        </a:rPr>
                        <a:t> </a:t>
                      </a:r>
                      <a:r>
                        <a:rPr sz="1050" b="0" dirty="0" err="1">
                          <a:solidFill>
                            <a:srgbClr val="55677C"/>
                          </a:solidFill>
                          <a:latin typeface="Calibri"/>
                        </a:rPr>
                        <a:t>komt</a:t>
                      </a:r>
                      <a:r>
                        <a:rPr sz="1050" b="0" dirty="0">
                          <a:solidFill>
                            <a:srgbClr val="55677C"/>
                          </a:solidFill>
                          <a:latin typeface="Calibri"/>
                        </a:rPr>
                        <a:t> de </a:t>
                      </a:r>
                      <a:r>
                        <a:rPr sz="1050" b="0" dirty="0" err="1">
                          <a:solidFill>
                            <a:srgbClr val="55677C"/>
                          </a:solidFill>
                          <a:latin typeface="Calibri"/>
                        </a:rPr>
                        <a:t>cardioversie</a:t>
                      </a:r>
                      <a:r>
                        <a:rPr sz="1050" b="0" dirty="0">
                          <a:solidFill>
                            <a:srgbClr val="55677C"/>
                          </a:solidFill>
                          <a:latin typeface="Calibri"/>
                        </a:rPr>
                        <a:t>?</a:t>
                      </a:r>
                    </a:p>
                    <a:p>
                      <a:pPr algn="l">
                        <a:spcAft>
                          <a:spcPts val="200"/>
                        </a:spcAft>
                      </a:pPr>
                      <a:r>
                        <a:rPr sz="1050" b="0" dirty="0">
                          <a:solidFill>
                            <a:srgbClr val="55677C"/>
                          </a:solidFill>
                          <a:latin typeface="Calibri"/>
                        </a:rPr>
                        <a:t>3   </a:t>
                      </a:r>
                      <a:r>
                        <a:rPr sz="1050" b="0" dirty="0" err="1">
                          <a:solidFill>
                            <a:srgbClr val="55677C"/>
                          </a:solidFill>
                          <a:latin typeface="Calibri"/>
                        </a:rPr>
                        <a:t>Hoort</a:t>
                      </a:r>
                      <a:r>
                        <a:rPr sz="1050" b="0" dirty="0">
                          <a:solidFill>
                            <a:srgbClr val="55677C"/>
                          </a:solidFill>
                          <a:latin typeface="Calibri"/>
                        </a:rPr>
                        <a:t> de EHH </a:t>
                      </a:r>
                      <a:r>
                        <a:rPr sz="1050" b="0" dirty="0" err="1">
                          <a:solidFill>
                            <a:srgbClr val="55677C"/>
                          </a:solidFill>
                          <a:latin typeface="Calibri"/>
                        </a:rPr>
                        <a:t>bij</a:t>
                      </a:r>
                      <a:r>
                        <a:rPr sz="1050" b="0" dirty="0">
                          <a:solidFill>
                            <a:srgbClr val="55677C"/>
                          </a:solidFill>
                          <a:latin typeface="Calibri"/>
                        </a:rPr>
                        <a:t> de SEH of </a:t>
                      </a:r>
                      <a:r>
                        <a:rPr sz="1050" b="0" dirty="0" err="1">
                          <a:solidFill>
                            <a:srgbClr val="55677C"/>
                          </a:solidFill>
                          <a:latin typeface="Calibri"/>
                        </a:rPr>
                        <a:t>bij</a:t>
                      </a:r>
                      <a:r>
                        <a:rPr sz="1050" b="0" dirty="0">
                          <a:solidFill>
                            <a:srgbClr val="55677C"/>
                          </a:solidFill>
                          <a:latin typeface="Calibri"/>
                        </a:rPr>
                        <a:t> de </a:t>
                      </a:r>
                      <a:r>
                        <a:rPr sz="1050" b="0" dirty="0" err="1">
                          <a:solidFill>
                            <a:srgbClr val="55677C"/>
                          </a:solidFill>
                          <a:latin typeface="Calibri"/>
                        </a:rPr>
                        <a:t>Hotfloor</a:t>
                      </a:r>
                      <a:r>
                        <a:rPr sz="1050" b="0" dirty="0">
                          <a:solidFill>
                            <a:srgbClr val="55677C"/>
                          </a:solidFill>
                          <a:latin typeface="Calibri"/>
                        </a:rPr>
                        <a:t>?</a:t>
                      </a:r>
                    </a:p>
                    <a:p>
                      <a:pPr algn="l">
                        <a:spcAft>
                          <a:spcPts val="200"/>
                        </a:spcAft>
                      </a:pPr>
                      <a:r>
                        <a:rPr sz="1050" b="0" dirty="0">
                          <a:solidFill>
                            <a:srgbClr val="55677C"/>
                          </a:solidFill>
                          <a:latin typeface="Calibri"/>
                        </a:rPr>
                        <a:t>4   </a:t>
                      </a:r>
                      <a:r>
                        <a:rPr sz="1050" b="0" dirty="0" err="1">
                          <a:solidFill>
                            <a:srgbClr val="55677C"/>
                          </a:solidFill>
                          <a:latin typeface="Calibri"/>
                        </a:rPr>
                        <a:t>Komt</a:t>
                      </a:r>
                      <a:r>
                        <a:rPr sz="1050" b="0" dirty="0">
                          <a:solidFill>
                            <a:srgbClr val="55677C"/>
                          </a:solidFill>
                          <a:latin typeface="Calibri"/>
                        </a:rPr>
                        <a:t> de OSAS post-OK </a:t>
                      </a:r>
                      <a:r>
                        <a:rPr sz="1050" b="0" dirty="0" err="1">
                          <a:solidFill>
                            <a:srgbClr val="55677C"/>
                          </a:solidFill>
                          <a:latin typeface="Calibri"/>
                        </a:rPr>
                        <a:t>patiënt</a:t>
                      </a:r>
                      <a:r>
                        <a:rPr sz="1050" b="0" dirty="0">
                          <a:solidFill>
                            <a:srgbClr val="55677C"/>
                          </a:solidFill>
                          <a:latin typeface="Calibri"/>
                        </a:rPr>
                        <a:t> </a:t>
                      </a:r>
                      <a:r>
                        <a:rPr sz="1050" b="0" dirty="0" err="1">
                          <a:solidFill>
                            <a:srgbClr val="55677C"/>
                          </a:solidFill>
                          <a:latin typeface="Calibri"/>
                        </a:rPr>
                        <a:t>nog</a:t>
                      </a:r>
                      <a:r>
                        <a:rPr sz="1050" b="0" dirty="0">
                          <a:solidFill>
                            <a:srgbClr val="55677C"/>
                          </a:solidFill>
                          <a:latin typeface="Calibri"/>
                        </a:rPr>
                        <a:t> op de ICU?</a:t>
                      </a:r>
                    </a:p>
                  </a:txBody>
                  <a:tcPr marT="36576" marB="36576" anchor="ctr">
                    <a:solidFill>
                      <a:srgbClr val="FFFFFF"/>
                    </a:solidFill>
                  </a:tcPr>
                </a:tc>
                <a:tc>
                  <a:txBody>
                    <a:bodyPr/>
                    <a:lstStyle/>
                    <a:p>
                      <a:pPr algn="l">
                        <a:spcAft>
                          <a:spcPts val="200"/>
                        </a:spcAft>
                      </a:pPr>
                      <a:r>
                        <a:rPr sz="1150" b="0" dirty="0">
                          <a:solidFill>
                            <a:srgbClr val="55677C"/>
                          </a:solidFill>
                          <a:latin typeface="Calibri"/>
                        </a:rPr>
                        <a:t>1   Wat </a:t>
                      </a:r>
                      <a:r>
                        <a:rPr sz="1150" b="0" dirty="0" err="1">
                          <a:solidFill>
                            <a:srgbClr val="55677C"/>
                          </a:solidFill>
                          <a:latin typeface="Calibri"/>
                        </a:rPr>
                        <a:t>gebeurt</a:t>
                      </a:r>
                      <a:r>
                        <a:rPr sz="1150" b="0" dirty="0">
                          <a:solidFill>
                            <a:srgbClr val="55677C"/>
                          </a:solidFill>
                          <a:latin typeface="Calibri"/>
                        </a:rPr>
                        <a:t> er met de </a:t>
                      </a:r>
                      <a:r>
                        <a:rPr sz="1150" b="0" dirty="0" err="1">
                          <a:solidFill>
                            <a:srgbClr val="55677C"/>
                          </a:solidFill>
                          <a:latin typeface="Calibri"/>
                        </a:rPr>
                        <a:t>scopedienst</a:t>
                      </a:r>
                      <a:r>
                        <a:rPr sz="1150" b="0" dirty="0">
                          <a:solidFill>
                            <a:srgbClr val="55677C"/>
                          </a:solidFill>
                          <a:latin typeface="Calibri"/>
                        </a:rPr>
                        <a:t> van de CCU?</a:t>
                      </a:r>
                    </a:p>
                    <a:p>
                      <a:pPr algn="l">
                        <a:spcAft>
                          <a:spcPts val="200"/>
                        </a:spcAft>
                      </a:pPr>
                      <a:r>
                        <a:rPr sz="1150" b="0" dirty="0">
                          <a:solidFill>
                            <a:srgbClr val="55677C"/>
                          </a:solidFill>
                          <a:latin typeface="Calibri"/>
                        </a:rPr>
                        <a:t>2   Welke norm </a:t>
                      </a:r>
                      <a:r>
                        <a:rPr sz="1150" b="0" dirty="0" err="1">
                          <a:solidFill>
                            <a:srgbClr val="55677C"/>
                          </a:solidFill>
                          <a:latin typeface="Calibri"/>
                        </a:rPr>
                        <a:t>geldt</a:t>
                      </a:r>
                      <a:r>
                        <a:rPr sz="1150" b="0" dirty="0">
                          <a:solidFill>
                            <a:srgbClr val="55677C"/>
                          </a:solidFill>
                          <a:latin typeface="Calibri"/>
                        </a:rPr>
                        <a:t> </a:t>
                      </a:r>
                      <a:r>
                        <a:rPr sz="1150" b="0" dirty="0" err="1">
                          <a:solidFill>
                            <a:srgbClr val="55677C"/>
                          </a:solidFill>
                          <a:latin typeface="Calibri"/>
                        </a:rPr>
                        <a:t>voor</a:t>
                      </a:r>
                      <a:r>
                        <a:rPr sz="1150" b="0" dirty="0">
                          <a:solidFill>
                            <a:srgbClr val="55677C"/>
                          </a:solidFill>
                          <a:latin typeface="Calibri"/>
                        </a:rPr>
                        <a:t> de </a:t>
                      </a:r>
                      <a:r>
                        <a:rPr sz="1150" b="0" dirty="0" err="1">
                          <a:solidFill>
                            <a:srgbClr val="55677C"/>
                          </a:solidFill>
                          <a:latin typeface="Calibri"/>
                        </a:rPr>
                        <a:t>Hotfloor</a:t>
                      </a:r>
                      <a:r>
                        <a:rPr sz="1150" b="0" dirty="0">
                          <a:solidFill>
                            <a:srgbClr val="55677C"/>
                          </a:solidFill>
                          <a:latin typeface="Calibri"/>
                        </a:rPr>
                        <a:t>?</a:t>
                      </a:r>
                    </a:p>
                    <a:p>
                      <a:pPr algn="l">
                        <a:spcAft>
                          <a:spcPts val="200"/>
                        </a:spcAft>
                      </a:pPr>
                      <a:r>
                        <a:rPr sz="1150" b="0" dirty="0">
                          <a:solidFill>
                            <a:srgbClr val="55677C"/>
                          </a:solidFill>
                          <a:latin typeface="Calibri"/>
                        </a:rPr>
                        <a:t>3   </a:t>
                      </a:r>
                      <a:r>
                        <a:rPr sz="1150" b="0" dirty="0" err="1">
                          <a:solidFill>
                            <a:srgbClr val="55677C"/>
                          </a:solidFill>
                          <a:latin typeface="Calibri"/>
                        </a:rPr>
                        <a:t>Inzet</a:t>
                      </a:r>
                      <a:r>
                        <a:rPr sz="1150" b="0" dirty="0">
                          <a:solidFill>
                            <a:srgbClr val="55677C"/>
                          </a:solidFill>
                          <a:latin typeface="Calibri"/>
                        </a:rPr>
                        <a:t> </a:t>
                      </a:r>
                      <a:r>
                        <a:rPr sz="1150" b="0" dirty="0" err="1">
                          <a:solidFill>
                            <a:srgbClr val="55677C"/>
                          </a:solidFill>
                          <a:latin typeface="Calibri"/>
                        </a:rPr>
                        <a:t>kinderverpleegkundige</a:t>
                      </a:r>
                      <a:r>
                        <a:rPr sz="1150" b="0" dirty="0">
                          <a:solidFill>
                            <a:srgbClr val="55677C"/>
                          </a:solidFill>
                          <a:latin typeface="Calibri"/>
                        </a:rPr>
                        <a:t> op de SEH?</a:t>
                      </a:r>
                    </a:p>
                    <a:p>
                      <a:pPr algn="l">
                        <a:spcAft>
                          <a:spcPts val="200"/>
                        </a:spcAft>
                      </a:pPr>
                      <a:r>
                        <a:rPr sz="1150" b="0" dirty="0">
                          <a:solidFill>
                            <a:srgbClr val="55677C"/>
                          </a:solidFill>
                          <a:latin typeface="Calibri"/>
                        </a:rPr>
                        <a:t>4   En </a:t>
                      </a:r>
                      <a:r>
                        <a:rPr sz="1150" b="0" dirty="0" err="1">
                          <a:solidFill>
                            <a:srgbClr val="55677C"/>
                          </a:solidFill>
                          <a:latin typeface="Calibri"/>
                        </a:rPr>
                        <a:t>verder</a:t>
                      </a:r>
                      <a:endParaRPr sz="1150" b="0" dirty="0">
                        <a:solidFill>
                          <a:srgbClr val="55677C"/>
                        </a:solidFill>
                        <a:latin typeface="Calibri"/>
                      </a:endParaRPr>
                    </a:p>
                  </a:txBody>
                  <a:tcPr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11" name="Rounded Rectangle 10"/>
          <p:cNvSpPr/>
          <p:nvPr/>
        </p:nvSpPr>
        <p:spPr>
          <a:xfrm>
            <a:off x="640080" y="5394959"/>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ounded Rectangle 11"/>
          <p:cNvSpPr/>
          <p:nvPr/>
        </p:nvSpPr>
        <p:spPr>
          <a:xfrm>
            <a:off x="640080" y="5394959"/>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69264" y="5477255"/>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Voor de verhuisperiode is nog niets ingevuld: welke extra diensten zijn er nodig, en op welke locatie?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87E12"/>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dirty="0" err="1">
                <a:solidFill>
                  <a:srgbClr val="0D1B2A"/>
                </a:solidFill>
                <a:latin typeface="Calibri"/>
              </a:rPr>
              <a:t>Zesendertig</a:t>
            </a:r>
            <a:r>
              <a:rPr sz="3400" b="1" dirty="0">
                <a:solidFill>
                  <a:srgbClr val="0D1B2A"/>
                </a:solidFill>
                <a:latin typeface="Calibri"/>
              </a:rPr>
              <a:t> </a:t>
            </a:r>
            <a:r>
              <a:rPr sz="3400" b="1" dirty="0" err="1">
                <a:solidFill>
                  <a:srgbClr val="0D1B2A"/>
                </a:solidFill>
                <a:latin typeface="Calibri"/>
              </a:rPr>
              <a:t>punten</a:t>
            </a:r>
            <a:r>
              <a:rPr sz="3400" b="1" dirty="0">
                <a:solidFill>
                  <a:srgbClr val="0D1B2A"/>
                </a:solidFill>
                <a:latin typeface="Calibri"/>
              </a:rPr>
              <a:t>, </a:t>
            </a:r>
            <a:r>
              <a:rPr sz="3400" b="1" dirty="0" err="1">
                <a:solidFill>
                  <a:srgbClr val="0D1B2A"/>
                </a:solidFill>
                <a:latin typeface="Calibri"/>
              </a:rPr>
              <a:t>drie</a:t>
            </a:r>
            <a:r>
              <a:rPr sz="3400" b="1" dirty="0">
                <a:solidFill>
                  <a:srgbClr val="0D1B2A"/>
                </a:solidFill>
                <a:latin typeface="Calibri"/>
              </a:rPr>
              <a:t> </a:t>
            </a:r>
            <a:r>
              <a:rPr sz="3400" b="1" dirty="0" err="1">
                <a:solidFill>
                  <a:srgbClr val="0D1B2A"/>
                </a:solidFill>
                <a:latin typeface="Calibri"/>
              </a:rPr>
              <a:t>blokken</a:t>
            </a:r>
            <a:endParaRPr sz="3400" b="1" dirty="0">
              <a:solidFill>
                <a:srgbClr val="0D1B2A"/>
              </a:solidFill>
              <a:latin typeface="Calibri"/>
            </a:endParaRP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22</a:t>
            </a:r>
          </a:p>
        </p:txBody>
      </p:sp>
      <p:sp>
        <p:nvSpPr>
          <p:cNvPr id="10" name="Rounded Rectangle 9"/>
          <p:cNvSpPr/>
          <p:nvPr/>
        </p:nvSpPr>
        <p:spPr>
          <a:xfrm>
            <a:off x="640080"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640080" y="1700784"/>
            <a:ext cx="3417722"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32688" y="1975104"/>
            <a:ext cx="1097280" cy="237744"/>
          </a:xfrm>
          <a:prstGeom prst="rect">
            <a:avLst/>
          </a:prstGeom>
          <a:noFill/>
        </p:spPr>
        <p:txBody>
          <a:bodyPr wrap="square" lIns="0" tIns="0" rIns="0" bIns="0" anchor="t">
            <a:spAutoFit/>
          </a:bodyPr>
          <a:lstStyle/>
          <a:p>
            <a:pPr algn="l">
              <a:lnSpc>
                <a:spcPct val="120000"/>
              </a:lnSpc>
              <a:spcAft>
                <a:spcPts val="0"/>
              </a:spcAft>
            </a:pPr>
            <a:r>
              <a:rPr sz="900" b="1" spc="140">
                <a:solidFill>
                  <a:srgbClr val="8B9AAA"/>
                </a:solidFill>
                <a:latin typeface="Calibri"/>
              </a:rPr>
              <a:t>BLOK 01</a:t>
            </a:r>
          </a:p>
        </p:txBody>
      </p:sp>
      <p:sp>
        <p:nvSpPr>
          <p:cNvPr id="13" name="TextBox 12"/>
          <p:cNvSpPr txBox="1"/>
          <p:nvPr/>
        </p:nvSpPr>
        <p:spPr>
          <a:xfrm>
            <a:off x="2594762" y="1920240"/>
            <a:ext cx="1170432" cy="237744"/>
          </a:xfrm>
          <a:prstGeom prst="rect">
            <a:avLst/>
          </a:prstGeom>
          <a:noFill/>
        </p:spPr>
        <p:txBody>
          <a:bodyPr wrap="square" lIns="0" tIns="0" rIns="0" bIns="0" anchor="t">
            <a:spAutoFit/>
          </a:bodyPr>
          <a:lstStyle/>
          <a:p>
            <a:pPr algn="r">
              <a:lnSpc>
                <a:spcPct val="120000"/>
              </a:lnSpc>
              <a:spcAft>
                <a:spcPts val="0"/>
              </a:spcAft>
            </a:pPr>
            <a:r>
              <a:rPr sz="950" b="1">
                <a:solidFill>
                  <a:srgbClr val="1F6FB2"/>
                </a:solidFill>
                <a:latin typeface="Calibri"/>
              </a:rPr>
              <a:t>dia 23</a:t>
            </a:r>
          </a:p>
        </p:txBody>
      </p:sp>
      <p:sp>
        <p:nvSpPr>
          <p:cNvPr id="14" name="TextBox 13"/>
          <p:cNvSpPr txBox="1"/>
          <p:nvPr/>
        </p:nvSpPr>
        <p:spPr>
          <a:xfrm>
            <a:off x="932688" y="2267712"/>
            <a:ext cx="2832506" cy="786384"/>
          </a:xfrm>
          <a:prstGeom prst="rect">
            <a:avLst/>
          </a:prstGeom>
          <a:noFill/>
        </p:spPr>
        <p:txBody>
          <a:bodyPr wrap="square" lIns="0" tIns="0" rIns="0" bIns="0" anchor="t">
            <a:spAutoFit/>
          </a:bodyPr>
          <a:lstStyle/>
          <a:p>
            <a:pPr algn="l">
              <a:lnSpc>
                <a:spcPct val="120000"/>
              </a:lnSpc>
              <a:spcAft>
                <a:spcPts val="0"/>
              </a:spcAft>
            </a:pPr>
            <a:r>
              <a:rPr sz="4600" b="1">
                <a:solidFill>
                  <a:srgbClr val="1F6FB2"/>
                </a:solidFill>
                <a:latin typeface="Calibri"/>
              </a:rPr>
              <a:t>8</a:t>
            </a:r>
          </a:p>
        </p:txBody>
      </p:sp>
      <p:sp>
        <p:nvSpPr>
          <p:cNvPr id="15" name="TextBox 14"/>
          <p:cNvSpPr txBox="1"/>
          <p:nvPr/>
        </p:nvSpPr>
        <p:spPr>
          <a:xfrm>
            <a:off x="932688" y="3035808"/>
            <a:ext cx="2832506" cy="603504"/>
          </a:xfrm>
          <a:prstGeom prst="rect">
            <a:avLst/>
          </a:prstGeom>
          <a:noFill/>
        </p:spPr>
        <p:txBody>
          <a:bodyPr wrap="square" lIns="0" tIns="0" rIns="0" bIns="0" anchor="t">
            <a:spAutoFit/>
          </a:bodyPr>
          <a:lstStyle/>
          <a:p>
            <a:pPr algn="l">
              <a:lnSpc>
                <a:spcPct val="116000"/>
              </a:lnSpc>
              <a:spcAft>
                <a:spcPts val="0"/>
              </a:spcAft>
            </a:pPr>
            <a:r>
              <a:rPr sz="1600" b="1">
                <a:solidFill>
                  <a:srgbClr val="0D1B2A"/>
                </a:solidFill>
                <a:latin typeface="Calibri"/>
              </a:rPr>
              <a:t>Oudbouw, transitie</a:t>
            </a:r>
          </a:p>
          <a:p>
            <a:pPr algn="l">
              <a:lnSpc>
                <a:spcPct val="116000"/>
              </a:lnSpc>
              <a:spcAft>
                <a:spcPts val="0"/>
              </a:spcAft>
            </a:pPr>
            <a:r>
              <a:rPr sz="1600" b="1">
                <a:solidFill>
                  <a:srgbClr val="0D1B2A"/>
                </a:solidFill>
                <a:latin typeface="Calibri"/>
              </a:rPr>
              <a:t>en verhuisperiode</a:t>
            </a:r>
          </a:p>
        </p:txBody>
      </p:sp>
      <p:cxnSp>
        <p:nvCxnSpPr>
          <p:cNvPr id="16" name="Connector 15"/>
          <p:cNvCxnSpPr/>
          <p:nvPr/>
        </p:nvCxnSpPr>
        <p:spPr>
          <a:xfrm>
            <a:off x="932688"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955548" y="3977639"/>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2144" y="3931920"/>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lopende projecten</a:t>
            </a:r>
          </a:p>
        </p:txBody>
      </p:sp>
      <p:sp>
        <p:nvSpPr>
          <p:cNvPr id="19" name="Oval 18"/>
          <p:cNvSpPr/>
          <p:nvPr/>
        </p:nvSpPr>
        <p:spPr>
          <a:xfrm>
            <a:off x="955548" y="4170552"/>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52144" y="4124832"/>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inzet SEH tot de nieuwbouw</a:t>
            </a:r>
          </a:p>
        </p:txBody>
      </p:sp>
      <p:sp>
        <p:nvSpPr>
          <p:cNvPr id="21" name="Oval 20"/>
          <p:cNvSpPr/>
          <p:nvPr/>
        </p:nvSpPr>
        <p:spPr>
          <a:xfrm>
            <a:off x="955548" y="4363465"/>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52144" y="4317745"/>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weekendformatie 5-5-4</a:t>
            </a:r>
          </a:p>
        </p:txBody>
      </p:sp>
      <p:sp>
        <p:nvSpPr>
          <p:cNvPr id="23" name="Oval 22"/>
          <p:cNvSpPr/>
          <p:nvPr/>
        </p:nvSpPr>
        <p:spPr>
          <a:xfrm>
            <a:off x="955548" y="4556378"/>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2144" y="4510658"/>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norm ICU met recovery</a:t>
            </a:r>
          </a:p>
        </p:txBody>
      </p:sp>
      <p:sp>
        <p:nvSpPr>
          <p:cNvPr id="25" name="Oval 24"/>
          <p:cNvSpPr/>
          <p:nvPr/>
        </p:nvSpPr>
        <p:spPr>
          <a:xfrm>
            <a:off x="955548" y="4749291"/>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52144" y="4703571"/>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AO-dienst</a:t>
            </a:r>
          </a:p>
        </p:txBody>
      </p:sp>
      <p:sp>
        <p:nvSpPr>
          <p:cNvPr id="27" name="Oval 26"/>
          <p:cNvSpPr/>
          <p:nvPr/>
        </p:nvSpPr>
        <p:spPr>
          <a:xfrm>
            <a:off x="955548" y="4942204"/>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152144" y="4896484"/>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regieverpleegkundige</a:t>
            </a:r>
          </a:p>
        </p:txBody>
      </p:sp>
      <p:sp>
        <p:nvSpPr>
          <p:cNvPr id="29" name="Oval 28"/>
          <p:cNvSpPr/>
          <p:nvPr/>
        </p:nvSpPr>
        <p:spPr>
          <a:xfrm>
            <a:off x="955548" y="5135117"/>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52144" y="5089397"/>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extra diensten bij de verhuizing</a:t>
            </a:r>
          </a:p>
        </p:txBody>
      </p:sp>
      <p:sp>
        <p:nvSpPr>
          <p:cNvPr id="31" name="Rounded Rectangle 30"/>
          <p:cNvSpPr/>
          <p:nvPr/>
        </p:nvSpPr>
        <p:spPr>
          <a:xfrm>
            <a:off x="4386986"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4386986" y="1700784"/>
            <a:ext cx="3417722"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679594" y="1975104"/>
            <a:ext cx="1097280" cy="237744"/>
          </a:xfrm>
          <a:prstGeom prst="rect">
            <a:avLst/>
          </a:prstGeom>
          <a:noFill/>
        </p:spPr>
        <p:txBody>
          <a:bodyPr wrap="square" lIns="0" tIns="0" rIns="0" bIns="0" anchor="t">
            <a:spAutoFit/>
          </a:bodyPr>
          <a:lstStyle/>
          <a:p>
            <a:pPr algn="l">
              <a:lnSpc>
                <a:spcPct val="120000"/>
              </a:lnSpc>
              <a:spcAft>
                <a:spcPts val="0"/>
              </a:spcAft>
            </a:pPr>
            <a:r>
              <a:rPr sz="900" b="1" spc="140">
                <a:solidFill>
                  <a:srgbClr val="8B9AAA"/>
                </a:solidFill>
                <a:latin typeface="Calibri"/>
              </a:rPr>
              <a:t>BLOK 02</a:t>
            </a:r>
          </a:p>
        </p:txBody>
      </p:sp>
      <p:sp>
        <p:nvSpPr>
          <p:cNvPr id="34" name="TextBox 33"/>
          <p:cNvSpPr txBox="1"/>
          <p:nvPr/>
        </p:nvSpPr>
        <p:spPr>
          <a:xfrm>
            <a:off x="6341668" y="1920240"/>
            <a:ext cx="1170432"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dia 24 en 25</a:t>
            </a:r>
          </a:p>
        </p:txBody>
      </p:sp>
      <p:sp>
        <p:nvSpPr>
          <p:cNvPr id="35" name="TextBox 34"/>
          <p:cNvSpPr txBox="1"/>
          <p:nvPr/>
        </p:nvSpPr>
        <p:spPr>
          <a:xfrm>
            <a:off x="4679594" y="2267712"/>
            <a:ext cx="2832506" cy="786384"/>
          </a:xfrm>
          <a:prstGeom prst="rect">
            <a:avLst/>
          </a:prstGeom>
          <a:noFill/>
        </p:spPr>
        <p:txBody>
          <a:bodyPr wrap="square" lIns="0" tIns="0" rIns="0" bIns="0" anchor="t">
            <a:spAutoFit/>
          </a:bodyPr>
          <a:lstStyle/>
          <a:p>
            <a:pPr algn="l">
              <a:lnSpc>
                <a:spcPct val="120000"/>
              </a:lnSpc>
              <a:spcAft>
                <a:spcPts val="0"/>
              </a:spcAft>
            </a:pPr>
            <a:r>
              <a:rPr sz="4600" b="1">
                <a:solidFill>
                  <a:srgbClr val="0E9A87"/>
                </a:solidFill>
                <a:latin typeface="Calibri"/>
              </a:rPr>
              <a:t>12</a:t>
            </a:r>
          </a:p>
        </p:txBody>
      </p:sp>
      <p:sp>
        <p:nvSpPr>
          <p:cNvPr id="36" name="TextBox 35"/>
          <p:cNvSpPr txBox="1"/>
          <p:nvPr/>
        </p:nvSpPr>
        <p:spPr>
          <a:xfrm>
            <a:off x="4679594" y="3035808"/>
            <a:ext cx="2832506" cy="603504"/>
          </a:xfrm>
          <a:prstGeom prst="rect">
            <a:avLst/>
          </a:prstGeom>
          <a:noFill/>
        </p:spPr>
        <p:txBody>
          <a:bodyPr wrap="square" lIns="0" tIns="0" rIns="0" bIns="0" anchor="t">
            <a:spAutoFit/>
          </a:bodyPr>
          <a:lstStyle/>
          <a:p>
            <a:pPr algn="l">
              <a:lnSpc>
                <a:spcPct val="116000"/>
              </a:lnSpc>
              <a:spcAft>
                <a:spcPts val="0"/>
              </a:spcAft>
            </a:pPr>
            <a:r>
              <a:rPr sz="1600" b="1">
                <a:solidFill>
                  <a:srgbClr val="0D1B2A"/>
                </a:solidFill>
                <a:latin typeface="Calibri"/>
              </a:rPr>
              <a:t>Nieuwbouw</a:t>
            </a:r>
          </a:p>
        </p:txBody>
      </p:sp>
      <p:cxnSp>
        <p:nvCxnSpPr>
          <p:cNvPr id="37" name="Connector 36"/>
          <p:cNvCxnSpPr/>
          <p:nvPr/>
        </p:nvCxnSpPr>
        <p:spPr>
          <a:xfrm>
            <a:off x="4679594"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702454" y="3977639"/>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899050" y="393192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personeel EHH: SEH of ICU/CCU</a:t>
            </a:r>
          </a:p>
        </p:txBody>
      </p:sp>
      <p:sp>
        <p:nvSpPr>
          <p:cNvPr id="40" name="Oval 39"/>
          <p:cNvSpPr/>
          <p:nvPr/>
        </p:nvSpPr>
        <p:spPr>
          <a:xfrm>
            <a:off x="4702454" y="415137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9050" y="410565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afkapmoment acute cardio</a:t>
            </a:r>
          </a:p>
        </p:txBody>
      </p:sp>
      <p:sp>
        <p:nvSpPr>
          <p:cNvPr id="42" name="Oval 41"/>
          <p:cNvSpPr/>
          <p:nvPr/>
        </p:nvSpPr>
        <p:spPr>
          <a:xfrm>
            <a:off x="4702454" y="432511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899050" y="427939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uitspraak norm door Remco</a:t>
            </a:r>
          </a:p>
        </p:txBody>
      </p:sp>
      <p:sp>
        <p:nvSpPr>
          <p:cNvPr id="44" name="Oval 43"/>
          <p:cNvSpPr/>
          <p:nvPr/>
        </p:nvSpPr>
        <p:spPr>
          <a:xfrm>
            <a:off x="4702454" y="449884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899050" y="445312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scope CCU anders ingericht</a:t>
            </a:r>
          </a:p>
        </p:txBody>
      </p:sp>
      <p:sp>
        <p:nvSpPr>
          <p:cNvPr id="46" name="Oval 45"/>
          <p:cNvSpPr/>
          <p:nvPr/>
        </p:nvSpPr>
        <p:spPr>
          <a:xfrm>
            <a:off x="4702454" y="467258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899050" y="4626864"/>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normenkader ICU, 10% afwijking</a:t>
            </a:r>
          </a:p>
        </p:txBody>
      </p:sp>
      <p:sp>
        <p:nvSpPr>
          <p:cNvPr id="48" name="Oval 47"/>
          <p:cNvSpPr/>
          <p:nvPr/>
        </p:nvSpPr>
        <p:spPr>
          <a:xfrm>
            <a:off x="4702454" y="484632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9050" y="480060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personele inzet SEH</a:t>
            </a:r>
          </a:p>
        </p:txBody>
      </p:sp>
      <p:sp>
        <p:nvSpPr>
          <p:cNvPr id="50" name="Oval 49"/>
          <p:cNvSpPr/>
          <p:nvPr/>
        </p:nvSpPr>
        <p:spPr>
          <a:xfrm>
            <a:off x="4702454" y="502005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899050" y="497433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indirecte uren</a:t>
            </a:r>
          </a:p>
        </p:txBody>
      </p:sp>
      <p:sp>
        <p:nvSpPr>
          <p:cNvPr id="52" name="Oval 51"/>
          <p:cNvSpPr/>
          <p:nvPr/>
        </p:nvSpPr>
        <p:spPr>
          <a:xfrm>
            <a:off x="4702454" y="519379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99050" y="514807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regieverpleegkundige in de nieuwbouw</a:t>
            </a:r>
          </a:p>
        </p:txBody>
      </p:sp>
      <p:sp>
        <p:nvSpPr>
          <p:cNvPr id="54" name="Oval 53"/>
          <p:cNvSpPr/>
          <p:nvPr/>
        </p:nvSpPr>
        <p:spPr>
          <a:xfrm>
            <a:off x="4702454" y="536752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899050" y="532180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kinderverpleegkundige op de SEH</a:t>
            </a:r>
          </a:p>
        </p:txBody>
      </p:sp>
      <p:sp>
        <p:nvSpPr>
          <p:cNvPr id="56" name="Oval 55"/>
          <p:cNvSpPr/>
          <p:nvPr/>
        </p:nvSpPr>
        <p:spPr>
          <a:xfrm>
            <a:off x="4702454" y="554126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9050" y="5495544"/>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EPA's</a:t>
            </a:r>
          </a:p>
        </p:txBody>
      </p:sp>
      <p:sp>
        <p:nvSpPr>
          <p:cNvPr id="58" name="Oval 57"/>
          <p:cNvSpPr/>
          <p:nvPr/>
        </p:nvSpPr>
        <p:spPr>
          <a:xfrm>
            <a:off x="4702454" y="571500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899050" y="566928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acute poule</a:t>
            </a:r>
          </a:p>
        </p:txBody>
      </p:sp>
      <p:sp>
        <p:nvSpPr>
          <p:cNvPr id="60" name="Rounded Rectangle 59"/>
          <p:cNvSpPr/>
          <p:nvPr/>
        </p:nvSpPr>
        <p:spPr>
          <a:xfrm>
            <a:off x="8133892"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Rounded Rectangle 60"/>
          <p:cNvSpPr/>
          <p:nvPr/>
        </p:nvSpPr>
        <p:spPr>
          <a:xfrm>
            <a:off x="8133892" y="1700784"/>
            <a:ext cx="3417722"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8426500" y="1975104"/>
            <a:ext cx="1097280" cy="237744"/>
          </a:xfrm>
          <a:prstGeom prst="rect">
            <a:avLst/>
          </a:prstGeom>
          <a:noFill/>
        </p:spPr>
        <p:txBody>
          <a:bodyPr wrap="square" lIns="0" tIns="0" rIns="0" bIns="0" anchor="t">
            <a:spAutoFit/>
          </a:bodyPr>
          <a:lstStyle/>
          <a:p>
            <a:pPr algn="l">
              <a:lnSpc>
                <a:spcPct val="120000"/>
              </a:lnSpc>
              <a:spcAft>
                <a:spcPts val="0"/>
              </a:spcAft>
            </a:pPr>
            <a:r>
              <a:rPr sz="900" b="1" spc="140">
                <a:solidFill>
                  <a:srgbClr val="8B9AAA"/>
                </a:solidFill>
                <a:latin typeface="Calibri"/>
              </a:rPr>
              <a:t>BLOK 03</a:t>
            </a:r>
          </a:p>
        </p:txBody>
      </p:sp>
      <p:sp>
        <p:nvSpPr>
          <p:cNvPr id="63" name="TextBox 62"/>
          <p:cNvSpPr txBox="1"/>
          <p:nvPr/>
        </p:nvSpPr>
        <p:spPr>
          <a:xfrm>
            <a:off x="10088575" y="1920240"/>
            <a:ext cx="1170432" cy="237744"/>
          </a:xfrm>
          <a:prstGeom prst="rect">
            <a:avLst/>
          </a:prstGeom>
          <a:noFill/>
        </p:spPr>
        <p:txBody>
          <a:bodyPr wrap="square" lIns="0" tIns="0" rIns="0" bIns="0" anchor="t">
            <a:spAutoFit/>
          </a:bodyPr>
          <a:lstStyle/>
          <a:p>
            <a:pPr algn="r">
              <a:lnSpc>
                <a:spcPct val="120000"/>
              </a:lnSpc>
              <a:spcAft>
                <a:spcPts val="0"/>
              </a:spcAft>
            </a:pPr>
            <a:r>
              <a:rPr sz="950" b="1">
                <a:solidFill>
                  <a:srgbClr val="C4392D"/>
                </a:solidFill>
                <a:latin typeface="Calibri"/>
              </a:rPr>
              <a:t>dia 26 en 27</a:t>
            </a:r>
          </a:p>
        </p:txBody>
      </p:sp>
      <p:sp>
        <p:nvSpPr>
          <p:cNvPr id="64" name="TextBox 63"/>
          <p:cNvSpPr txBox="1"/>
          <p:nvPr/>
        </p:nvSpPr>
        <p:spPr>
          <a:xfrm>
            <a:off x="8426500" y="2267712"/>
            <a:ext cx="2832506" cy="786384"/>
          </a:xfrm>
          <a:prstGeom prst="rect">
            <a:avLst/>
          </a:prstGeom>
          <a:noFill/>
        </p:spPr>
        <p:txBody>
          <a:bodyPr wrap="square" lIns="0" tIns="0" rIns="0" bIns="0" anchor="t">
            <a:spAutoFit/>
          </a:bodyPr>
          <a:lstStyle/>
          <a:p>
            <a:pPr algn="l">
              <a:lnSpc>
                <a:spcPct val="120000"/>
              </a:lnSpc>
              <a:spcAft>
                <a:spcPts val="0"/>
              </a:spcAft>
            </a:pPr>
            <a:r>
              <a:rPr sz="4600" b="1">
                <a:solidFill>
                  <a:srgbClr val="C4392D"/>
                </a:solidFill>
                <a:latin typeface="Calibri"/>
              </a:rPr>
              <a:t>16</a:t>
            </a:r>
          </a:p>
        </p:txBody>
      </p:sp>
      <p:sp>
        <p:nvSpPr>
          <p:cNvPr id="65" name="TextBox 64"/>
          <p:cNvSpPr txBox="1"/>
          <p:nvPr/>
        </p:nvSpPr>
        <p:spPr>
          <a:xfrm>
            <a:off x="8426500" y="3035808"/>
            <a:ext cx="2832506" cy="603504"/>
          </a:xfrm>
          <a:prstGeom prst="rect">
            <a:avLst/>
          </a:prstGeom>
          <a:noFill/>
        </p:spPr>
        <p:txBody>
          <a:bodyPr wrap="square" lIns="0" tIns="0" rIns="0" bIns="0" anchor="t">
            <a:spAutoFit/>
          </a:bodyPr>
          <a:lstStyle/>
          <a:p>
            <a:pPr algn="l">
              <a:lnSpc>
                <a:spcPct val="116000"/>
              </a:lnSpc>
              <a:spcAft>
                <a:spcPts val="0"/>
              </a:spcAft>
            </a:pPr>
            <a:r>
              <a:rPr sz="1600" b="1">
                <a:solidFill>
                  <a:srgbClr val="0D1B2A"/>
                </a:solidFill>
                <a:latin typeface="Calibri"/>
              </a:rPr>
              <a:t>Knelpunten</a:t>
            </a:r>
          </a:p>
          <a:p>
            <a:pPr algn="l">
              <a:lnSpc>
                <a:spcPct val="116000"/>
              </a:lnSpc>
              <a:spcAft>
                <a:spcPts val="0"/>
              </a:spcAft>
            </a:pPr>
            <a:r>
              <a:rPr sz="1600" b="1">
                <a:solidFill>
                  <a:srgbClr val="0D1B2A"/>
                </a:solidFill>
                <a:latin typeface="Calibri"/>
              </a:rPr>
              <a:t>en vervolg</a:t>
            </a:r>
          </a:p>
        </p:txBody>
      </p:sp>
      <p:cxnSp>
        <p:nvCxnSpPr>
          <p:cNvPr id="66" name="Connector 65"/>
          <p:cNvCxnSpPr/>
          <p:nvPr/>
        </p:nvCxnSpPr>
        <p:spPr>
          <a:xfrm>
            <a:off x="8426500" y="3712464"/>
            <a:ext cx="2832507"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449360" y="397763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645956" y="3931920"/>
            <a:ext cx="2594762" cy="278130"/>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norm aanbodgericht in plaats van vraaggestuurd</a:t>
            </a:r>
          </a:p>
        </p:txBody>
      </p:sp>
      <p:sp>
        <p:nvSpPr>
          <p:cNvPr id="69" name="Oval 68"/>
          <p:cNvSpPr/>
          <p:nvPr/>
        </p:nvSpPr>
        <p:spPr>
          <a:xfrm>
            <a:off x="8449360" y="425576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645956" y="4210049"/>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SEH-artsen en begroting</a:t>
            </a:r>
          </a:p>
        </p:txBody>
      </p:sp>
      <p:sp>
        <p:nvSpPr>
          <p:cNvPr id="71" name="Oval 70"/>
          <p:cNvSpPr/>
          <p:nvPr/>
        </p:nvSpPr>
        <p:spPr>
          <a:xfrm>
            <a:off x="8449360" y="442950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645956" y="438378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afwijking van het jaarplan BIC</a:t>
            </a:r>
          </a:p>
        </p:txBody>
      </p:sp>
      <p:sp>
        <p:nvSpPr>
          <p:cNvPr id="73" name="Oval 72"/>
          <p:cNvSpPr/>
          <p:nvPr/>
        </p:nvSpPr>
        <p:spPr>
          <a:xfrm>
            <a:off x="8449360" y="460324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645956" y="455752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planning buiten CPP om</a:t>
            </a:r>
          </a:p>
        </p:txBody>
      </p:sp>
      <p:sp>
        <p:nvSpPr>
          <p:cNvPr id="75" name="Oval 74"/>
          <p:cNvSpPr/>
          <p:nvPr/>
        </p:nvSpPr>
        <p:spPr>
          <a:xfrm>
            <a:off x="8449360" y="477697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645956" y="473125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uitgangspunten en kaders ontbreken</a:t>
            </a:r>
          </a:p>
        </p:txBody>
      </p:sp>
      <p:sp>
        <p:nvSpPr>
          <p:cNvPr id="77" name="Oval 76"/>
          <p:cNvSpPr/>
          <p:nvPr/>
        </p:nvSpPr>
        <p:spPr>
          <a:xfrm>
            <a:off x="8449360" y="4950714"/>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645956" y="4904994"/>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vakantiegoedkeuringen</a:t>
            </a:r>
          </a:p>
        </p:txBody>
      </p:sp>
      <p:sp>
        <p:nvSpPr>
          <p:cNvPr id="79" name="Oval 78"/>
          <p:cNvSpPr/>
          <p:nvPr/>
        </p:nvSpPr>
        <p:spPr>
          <a:xfrm>
            <a:off x="8449360" y="5124450"/>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645956" y="507873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slapers op de SEH</a:t>
            </a:r>
          </a:p>
        </p:txBody>
      </p:sp>
      <p:sp>
        <p:nvSpPr>
          <p:cNvPr id="81" name="Oval 80"/>
          <p:cNvSpPr/>
          <p:nvPr/>
        </p:nvSpPr>
        <p:spPr>
          <a:xfrm>
            <a:off x="8449360" y="529818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645956" y="525246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simulatie ICU- en CCU-data</a:t>
            </a:r>
          </a:p>
        </p:txBody>
      </p:sp>
      <p:sp>
        <p:nvSpPr>
          <p:cNvPr id="83" name="Oval 82"/>
          <p:cNvSpPr/>
          <p:nvPr/>
        </p:nvSpPr>
        <p:spPr>
          <a:xfrm>
            <a:off x="8449360" y="547192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645956" y="542620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versneld jaarplan CCU</a:t>
            </a:r>
          </a:p>
        </p:txBody>
      </p:sp>
      <p:sp>
        <p:nvSpPr>
          <p:cNvPr id="85" name="Oval 84"/>
          <p:cNvSpPr/>
          <p:nvPr/>
        </p:nvSpPr>
        <p:spPr>
          <a:xfrm>
            <a:off x="8449360" y="564565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8645956" y="559993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drie vragen direct naar Remco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Oudbouw, transitie en verhuisperiode</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23</a:t>
            </a:r>
          </a:p>
        </p:txBody>
      </p:sp>
      <p:sp>
        <p:nvSpPr>
          <p:cNvPr id="10" name="Rounded Rectangle 9"/>
          <p:cNvSpPr/>
          <p:nvPr/>
        </p:nvSpPr>
        <p:spPr>
          <a:xfrm>
            <a:off x="640080"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1</a:t>
            </a:r>
          </a:p>
        </p:txBody>
      </p:sp>
      <p:sp>
        <p:nvSpPr>
          <p:cNvPr id="13" name="TextBox 12"/>
          <p:cNvSpPr txBox="1"/>
          <p:nvPr/>
        </p:nvSpPr>
        <p:spPr>
          <a:xfrm>
            <a:off x="859536"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Lopende projecten</a:t>
            </a:r>
          </a:p>
        </p:txBody>
      </p:sp>
      <p:sp>
        <p:nvSpPr>
          <p:cNvPr id="14" name="TextBox 13"/>
          <p:cNvSpPr txBox="1"/>
          <p:nvPr/>
        </p:nvSpPr>
        <p:spPr>
          <a:xfrm>
            <a:off x="859536"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meenemen, of later in begroting en jaarplan?</a:t>
            </a:r>
          </a:p>
        </p:txBody>
      </p:sp>
      <p:sp>
        <p:nvSpPr>
          <p:cNvPr id="15" name="Rounded Rectangle 14"/>
          <p:cNvSpPr/>
          <p:nvPr/>
        </p:nvSpPr>
        <p:spPr>
          <a:xfrm>
            <a:off x="3422827"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2</a:t>
            </a:r>
          </a:p>
        </p:txBody>
      </p:sp>
      <p:sp>
        <p:nvSpPr>
          <p:cNvPr id="18" name="TextBox 17"/>
          <p:cNvSpPr txBox="1"/>
          <p:nvPr/>
        </p:nvSpPr>
        <p:spPr>
          <a:xfrm>
            <a:off x="3642283"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Toewerken naar nieuwbouw</a:t>
            </a:r>
          </a:p>
        </p:txBody>
      </p:sp>
      <p:sp>
        <p:nvSpPr>
          <p:cNvPr id="19" name="TextBox 18"/>
          <p:cNvSpPr txBox="1"/>
          <p:nvPr/>
        </p:nvSpPr>
        <p:spPr>
          <a:xfrm>
            <a:off x="3642283"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welke impact op bedden en personeel?</a:t>
            </a:r>
          </a:p>
        </p:txBody>
      </p:sp>
      <p:sp>
        <p:nvSpPr>
          <p:cNvPr id="20" name="Rounded Rectangle 19"/>
          <p:cNvSpPr/>
          <p:nvPr/>
        </p:nvSpPr>
        <p:spPr>
          <a:xfrm>
            <a:off x="6205575"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3</a:t>
            </a:r>
          </a:p>
        </p:txBody>
      </p:sp>
      <p:sp>
        <p:nvSpPr>
          <p:cNvPr id="23" name="TextBox 22"/>
          <p:cNvSpPr txBox="1"/>
          <p:nvPr/>
        </p:nvSpPr>
        <p:spPr>
          <a:xfrm>
            <a:off x="6425031"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Inzet SEH tot de nieuwbouw</a:t>
            </a:r>
          </a:p>
        </p:txBody>
      </p:sp>
      <p:sp>
        <p:nvSpPr>
          <p:cNvPr id="24" name="TextBox 23"/>
          <p:cNvSpPr txBox="1"/>
          <p:nvPr/>
        </p:nvSpPr>
        <p:spPr>
          <a:xfrm>
            <a:off x="6425031"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huidige personele inzet aanhouden?</a:t>
            </a:r>
          </a:p>
        </p:txBody>
      </p:sp>
      <p:sp>
        <p:nvSpPr>
          <p:cNvPr id="25" name="Rounded Rectangle 24"/>
          <p:cNvSpPr/>
          <p:nvPr/>
        </p:nvSpPr>
        <p:spPr>
          <a:xfrm>
            <a:off x="8988323"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4</a:t>
            </a:r>
          </a:p>
        </p:txBody>
      </p:sp>
      <p:sp>
        <p:nvSpPr>
          <p:cNvPr id="28" name="TextBox 27"/>
          <p:cNvSpPr txBox="1"/>
          <p:nvPr/>
        </p:nvSpPr>
        <p:spPr>
          <a:xfrm>
            <a:off x="9207779"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Weekendformatie 5-5-4</a:t>
            </a:r>
          </a:p>
        </p:txBody>
      </p:sp>
      <p:sp>
        <p:nvSpPr>
          <p:cNvPr id="29" name="TextBox 28"/>
          <p:cNvSpPr txBox="1"/>
          <p:nvPr/>
        </p:nvSpPr>
        <p:spPr>
          <a:xfrm>
            <a:off x="9207779"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oudbouw niet aanpassen, wel dubbel opleiden</a:t>
            </a:r>
          </a:p>
        </p:txBody>
      </p:sp>
      <p:sp>
        <p:nvSpPr>
          <p:cNvPr id="30" name="Rounded Rectangle 29"/>
          <p:cNvSpPr/>
          <p:nvPr/>
        </p:nvSpPr>
        <p:spPr>
          <a:xfrm>
            <a:off x="640080"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5</a:t>
            </a:r>
          </a:p>
        </p:txBody>
      </p:sp>
      <p:sp>
        <p:nvSpPr>
          <p:cNvPr id="33" name="TextBox 32"/>
          <p:cNvSpPr txBox="1"/>
          <p:nvPr/>
        </p:nvSpPr>
        <p:spPr>
          <a:xfrm>
            <a:off x="859536"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Norm ICU met recovery</a:t>
            </a:r>
          </a:p>
        </p:txBody>
      </p:sp>
      <p:sp>
        <p:nvSpPr>
          <p:cNvPr id="34" name="TextBox 33"/>
          <p:cNvSpPr txBox="1"/>
          <p:nvPr/>
        </p:nvSpPr>
        <p:spPr>
          <a:xfrm>
            <a:off x="859536"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welke normering hanteren we? geparkeerd</a:t>
            </a:r>
          </a:p>
        </p:txBody>
      </p:sp>
      <p:sp>
        <p:nvSpPr>
          <p:cNvPr id="35" name="Rounded Rectangle 34"/>
          <p:cNvSpPr/>
          <p:nvPr/>
        </p:nvSpPr>
        <p:spPr>
          <a:xfrm>
            <a:off x="3422827"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6</a:t>
            </a:r>
          </a:p>
        </p:txBody>
      </p:sp>
      <p:sp>
        <p:nvSpPr>
          <p:cNvPr id="38" name="TextBox 37"/>
          <p:cNvSpPr txBox="1"/>
          <p:nvPr/>
        </p:nvSpPr>
        <p:spPr>
          <a:xfrm>
            <a:off x="3642283"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AO-dienst</a:t>
            </a:r>
          </a:p>
        </p:txBody>
      </p:sp>
      <p:sp>
        <p:nvSpPr>
          <p:cNvPr id="39" name="TextBox 38"/>
          <p:cNvSpPr txBox="1"/>
          <p:nvPr/>
        </p:nvSpPr>
        <p:spPr>
          <a:xfrm>
            <a:off x="3642283"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wat is het uitgangspunt bij drukte?</a:t>
            </a:r>
          </a:p>
        </p:txBody>
      </p:sp>
      <p:sp>
        <p:nvSpPr>
          <p:cNvPr id="40" name="Rounded Rectangle 39"/>
          <p:cNvSpPr/>
          <p:nvPr/>
        </p:nvSpPr>
        <p:spPr>
          <a:xfrm>
            <a:off x="6205575"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205575"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443319"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7</a:t>
            </a:r>
          </a:p>
        </p:txBody>
      </p:sp>
      <p:sp>
        <p:nvSpPr>
          <p:cNvPr id="43" name="TextBox 42"/>
          <p:cNvSpPr txBox="1"/>
          <p:nvPr/>
        </p:nvSpPr>
        <p:spPr>
          <a:xfrm>
            <a:off x="6425031"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Regieverpleegkundige</a:t>
            </a:r>
          </a:p>
        </p:txBody>
      </p:sp>
      <p:sp>
        <p:nvSpPr>
          <p:cNvPr id="44" name="TextBox 43"/>
          <p:cNvSpPr txBox="1"/>
          <p:nvPr/>
        </p:nvSpPr>
        <p:spPr>
          <a:xfrm>
            <a:off x="6425031"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per september; binnen of buiten de zorg?</a:t>
            </a:r>
          </a:p>
        </p:txBody>
      </p:sp>
      <p:sp>
        <p:nvSpPr>
          <p:cNvPr id="45" name="Rounded Rectangle 44"/>
          <p:cNvSpPr/>
          <p:nvPr/>
        </p:nvSpPr>
        <p:spPr>
          <a:xfrm>
            <a:off x="8988323"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988323"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9226067"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8</a:t>
            </a:r>
          </a:p>
        </p:txBody>
      </p:sp>
      <p:sp>
        <p:nvSpPr>
          <p:cNvPr id="48" name="TextBox 47"/>
          <p:cNvSpPr txBox="1"/>
          <p:nvPr/>
        </p:nvSpPr>
        <p:spPr>
          <a:xfrm>
            <a:off x="9207779"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Extra diensten verhuizing</a:t>
            </a:r>
          </a:p>
        </p:txBody>
      </p:sp>
      <p:sp>
        <p:nvSpPr>
          <p:cNvPr id="49" name="TextBox 48"/>
          <p:cNvSpPr txBox="1"/>
          <p:nvPr/>
        </p:nvSpPr>
        <p:spPr>
          <a:xfrm>
            <a:off x="9207779"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hoeveel, en op welke locatie?</a:t>
            </a:r>
          </a:p>
        </p:txBody>
      </p:sp>
      <p:sp>
        <p:nvSpPr>
          <p:cNvPr id="50" name="TextBox 49"/>
          <p:cNvSpPr txBox="1"/>
          <p:nvPr/>
        </p:nvSpPr>
        <p:spPr>
          <a:xfrm>
            <a:off x="640080" y="5660136"/>
            <a:ext cx="10911535" cy="237744"/>
          </a:xfrm>
          <a:prstGeom prst="rect">
            <a:avLst/>
          </a:prstGeom>
          <a:noFill/>
        </p:spPr>
        <p:txBody>
          <a:bodyPr wrap="square" lIns="0" rIns="0" tIns="0" bIns="0" anchor="t">
            <a:spAutoFit/>
          </a:bodyPr>
          <a:lstStyle/>
          <a:p>
            <a:pPr algn="l">
              <a:lnSpc>
                <a:spcPct val="120000"/>
              </a:lnSpc>
              <a:spcAft>
                <a:spcPts val="0"/>
              </a:spcAft>
            </a:pPr>
            <a:r>
              <a:rPr sz="950" b="0" spc="60">
                <a:solidFill>
                  <a:srgbClr val="8B9AAA"/>
                </a:solidFill>
                <a:latin typeface="Calibri"/>
              </a:rPr>
              <a:t>De volledige vraag staat bij de notities van deze dia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Nieuwbouw, deel 1</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24</a:t>
            </a:r>
          </a:p>
        </p:txBody>
      </p:sp>
      <p:sp>
        <p:nvSpPr>
          <p:cNvPr id="10" name="Rounded Rectangle 9"/>
          <p:cNvSpPr/>
          <p:nvPr/>
        </p:nvSpPr>
        <p:spPr>
          <a:xfrm>
            <a:off x="640080"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1</a:t>
            </a:r>
          </a:p>
        </p:txBody>
      </p:sp>
      <p:sp>
        <p:nvSpPr>
          <p:cNvPr id="13" name="TextBox 12"/>
          <p:cNvSpPr txBox="1"/>
          <p:nvPr/>
        </p:nvSpPr>
        <p:spPr>
          <a:xfrm>
            <a:off x="859536"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Personeel EHH</a:t>
            </a:r>
          </a:p>
        </p:txBody>
      </p:sp>
      <p:sp>
        <p:nvSpPr>
          <p:cNvPr id="14" name="TextBox 13"/>
          <p:cNvSpPr txBox="1"/>
          <p:nvPr/>
        </p:nvSpPr>
        <p:spPr>
          <a:xfrm>
            <a:off x="859536"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van de SEH of van de ICU/CCU?</a:t>
            </a:r>
          </a:p>
        </p:txBody>
      </p:sp>
      <p:sp>
        <p:nvSpPr>
          <p:cNvPr id="15" name="Rounded Rectangle 14"/>
          <p:cNvSpPr/>
          <p:nvPr/>
        </p:nvSpPr>
        <p:spPr>
          <a:xfrm>
            <a:off x="3422827"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2</a:t>
            </a:r>
          </a:p>
        </p:txBody>
      </p:sp>
      <p:sp>
        <p:nvSpPr>
          <p:cNvPr id="18" name="TextBox 17"/>
          <p:cNvSpPr txBox="1"/>
          <p:nvPr/>
        </p:nvSpPr>
        <p:spPr>
          <a:xfrm>
            <a:off x="3642283"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Afkapmoment acute cardio</a:t>
            </a:r>
          </a:p>
        </p:txBody>
      </p:sp>
      <p:sp>
        <p:nvSpPr>
          <p:cNvPr id="19" name="TextBox 18"/>
          <p:cNvSpPr txBox="1"/>
          <p:nvPr/>
        </p:nvSpPr>
        <p:spPr>
          <a:xfrm>
            <a:off x="3642283"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nu 2 uur; scenario's op 4, 6 en 24 uur</a:t>
            </a:r>
          </a:p>
        </p:txBody>
      </p:sp>
      <p:sp>
        <p:nvSpPr>
          <p:cNvPr id="20" name="Rounded Rectangle 19"/>
          <p:cNvSpPr/>
          <p:nvPr/>
        </p:nvSpPr>
        <p:spPr>
          <a:xfrm>
            <a:off x="6205575"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3</a:t>
            </a:r>
          </a:p>
        </p:txBody>
      </p:sp>
      <p:sp>
        <p:nvSpPr>
          <p:cNvPr id="23" name="TextBox 22"/>
          <p:cNvSpPr txBox="1"/>
          <p:nvPr/>
        </p:nvSpPr>
        <p:spPr>
          <a:xfrm>
            <a:off x="6425031"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Uitspraak over de norm</a:t>
            </a:r>
          </a:p>
        </p:txBody>
      </p:sp>
      <p:sp>
        <p:nvSpPr>
          <p:cNvPr id="24" name="TextBox 23"/>
          <p:cNvSpPr txBox="1"/>
          <p:nvPr/>
        </p:nvSpPr>
        <p:spPr>
          <a:xfrm>
            <a:off x="6425031"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Remco, of houden we de huidige normen aan?</a:t>
            </a:r>
          </a:p>
        </p:txBody>
      </p:sp>
      <p:sp>
        <p:nvSpPr>
          <p:cNvPr id="25" name="Rounded Rectangle 24"/>
          <p:cNvSpPr/>
          <p:nvPr/>
        </p:nvSpPr>
        <p:spPr>
          <a:xfrm>
            <a:off x="8988323"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4</a:t>
            </a:r>
          </a:p>
        </p:txBody>
      </p:sp>
      <p:sp>
        <p:nvSpPr>
          <p:cNvPr id="28" name="TextBox 27"/>
          <p:cNvSpPr txBox="1"/>
          <p:nvPr/>
        </p:nvSpPr>
        <p:spPr>
          <a:xfrm>
            <a:off x="9207779"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Scope CCU</a:t>
            </a:r>
          </a:p>
        </p:txBody>
      </p:sp>
      <p:sp>
        <p:nvSpPr>
          <p:cNvPr id="29" name="TextBox 28"/>
          <p:cNvSpPr txBox="1"/>
          <p:nvPr/>
        </p:nvSpPr>
        <p:spPr>
          <a:xfrm>
            <a:off x="9207779"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extra dienst overdag, zwaardere late en nacht</a:t>
            </a:r>
          </a:p>
        </p:txBody>
      </p:sp>
      <p:sp>
        <p:nvSpPr>
          <p:cNvPr id="30" name="Rounded Rectangle 29"/>
          <p:cNvSpPr/>
          <p:nvPr/>
        </p:nvSpPr>
        <p:spPr>
          <a:xfrm>
            <a:off x="640080"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5</a:t>
            </a:r>
          </a:p>
        </p:txBody>
      </p:sp>
      <p:sp>
        <p:nvSpPr>
          <p:cNvPr id="33" name="TextBox 32"/>
          <p:cNvSpPr txBox="1"/>
          <p:nvPr/>
        </p:nvSpPr>
        <p:spPr>
          <a:xfrm>
            <a:off x="859536"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Normenkader ICU</a:t>
            </a:r>
          </a:p>
        </p:txBody>
      </p:sp>
      <p:sp>
        <p:nvSpPr>
          <p:cNvPr id="34" name="TextBox 33"/>
          <p:cNvSpPr txBox="1"/>
          <p:nvPr/>
        </p:nvSpPr>
        <p:spPr>
          <a:xfrm>
            <a:off x="859536"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maximaal 10% afwijking van dedicated inzet</a:t>
            </a:r>
          </a:p>
        </p:txBody>
      </p:sp>
      <p:sp>
        <p:nvSpPr>
          <p:cNvPr id="35" name="Rounded Rectangle 34"/>
          <p:cNvSpPr/>
          <p:nvPr/>
        </p:nvSpPr>
        <p:spPr>
          <a:xfrm>
            <a:off x="3422827"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6</a:t>
            </a:r>
          </a:p>
        </p:txBody>
      </p:sp>
      <p:sp>
        <p:nvSpPr>
          <p:cNvPr id="38" name="TextBox 37"/>
          <p:cNvSpPr txBox="1"/>
          <p:nvPr/>
        </p:nvSpPr>
        <p:spPr>
          <a:xfrm>
            <a:off x="3642283"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Personele inzet SEH</a:t>
            </a:r>
          </a:p>
        </p:txBody>
      </p:sp>
      <p:sp>
        <p:nvSpPr>
          <p:cNvPr id="39" name="TextBox 38"/>
          <p:cNvSpPr txBox="1"/>
          <p:nvPr/>
        </p:nvSpPr>
        <p:spPr>
          <a:xfrm>
            <a:off x="3642283"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opplussen op extra bedden — hoeveel?</a:t>
            </a:r>
          </a:p>
        </p:txBody>
      </p:sp>
      <p:sp>
        <p:nvSpPr>
          <p:cNvPr id="40" name="TextBox 39"/>
          <p:cNvSpPr txBox="1"/>
          <p:nvPr/>
        </p:nvSpPr>
        <p:spPr>
          <a:xfrm>
            <a:off x="640080" y="5660136"/>
            <a:ext cx="10911535" cy="237744"/>
          </a:xfrm>
          <a:prstGeom prst="rect">
            <a:avLst/>
          </a:prstGeom>
          <a:noFill/>
        </p:spPr>
        <p:txBody>
          <a:bodyPr wrap="square" lIns="0" rIns="0" tIns="0" bIns="0" anchor="t">
            <a:spAutoFit/>
          </a:bodyPr>
          <a:lstStyle/>
          <a:p>
            <a:pPr algn="l">
              <a:lnSpc>
                <a:spcPct val="120000"/>
              </a:lnSpc>
              <a:spcAft>
                <a:spcPts val="0"/>
              </a:spcAft>
            </a:pPr>
            <a:r>
              <a:rPr sz="950" b="0" spc="60">
                <a:solidFill>
                  <a:srgbClr val="8B9AAA"/>
                </a:solidFill>
                <a:latin typeface="Calibri"/>
              </a:rPr>
              <a:t>De volledige vraag staat bij de notities van deze dia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Nieuwbouw, deel 2</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25</a:t>
            </a:r>
          </a:p>
        </p:txBody>
      </p:sp>
      <p:sp>
        <p:nvSpPr>
          <p:cNvPr id="10" name="Rounded Rectangle 9"/>
          <p:cNvSpPr/>
          <p:nvPr/>
        </p:nvSpPr>
        <p:spPr>
          <a:xfrm>
            <a:off x="640080"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1</a:t>
            </a:r>
          </a:p>
        </p:txBody>
      </p:sp>
      <p:sp>
        <p:nvSpPr>
          <p:cNvPr id="13" name="TextBox 12"/>
          <p:cNvSpPr txBox="1"/>
          <p:nvPr/>
        </p:nvSpPr>
        <p:spPr>
          <a:xfrm>
            <a:off x="859536"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Indirecte uren</a:t>
            </a:r>
          </a:p>
        </p:txBody>
      </p:sp>
      <p:sp>
        <p:nvSpPr>
          <p:cNvPr id="14" name="TextBox 13"/>
          <p:cNvSpPr txBox="1"/>
          <p:nvPr/>
        </p:nvSpPr>
        <p:spPr>
          <a:xfrm>
            <a:off x="859536"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de oude begroting loopt sterk uiteen</a:t>
            </a:r>
          </a:p>
        </p:txBody>
      </p:sp>
      <p:sp>
        <p:nvSpPr>
          <p:cNvPr id="15" name="Rounded Rectangle 14"/>
          <p:cNvSpPr/>
          <p:nvPr/>
        </p:nvSpPr>
        <p:spPr>
          <a:xfrm>
            <a:off x="3422827"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2</a:t>
            </a:r>
          </a:p>
        </p:txBody>
      </p:sp>
      <p:sp>
        <p:nvSpPr>
          <p:cNvPr id="18" name="TextBox 17"/>
          <p:cNvSpPr txBox="1"/>
          <p:nvPr/>
        </p:nvSpPr>
        <p:spPr>
          <a:xfrm>
            <a:off x="3642283"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Regieverpleegkundige</a:t>
            </a:r>
          </a:p>
        </p:txBody>
      </p:sp>
      <p:sp>
        <p:nvSpPr>
          <p:cNvPr id="19" name="TextBox 18"/>
          <p:cNvSpPr txBox="1"/>
          <p:nvPr/>
        </p:nvSpPr>
        <p:spPr>
          <a:xfrm>
            <a:off x="3642283"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hoe richten we de inzet in de nieuwbouw in?</a:t>
            </a:r>
          </a:p>
        </p:txBody>
      </p:sp>
      <p:sp>
        <p:nvSpPr>
          <p:cNvPr id="20" name="Rounded Rectangle 19"/>
          <p:cNvSpPr/>
          <p:nvPr/>
        </p:nvSpPr>
        <p:spPr>
          <a:xfrm>
            <a:off x="6205575"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3</a:t>
            </a:r>
          </a:p>
        </p:txBody>
      </p:sp>
      <p:sp>
        <p:nvSpPr>
          <p:cNvPr id="23" name="TextBox 22"/>
          <p:cNvSpPr txBox="1"/>
          <p:nvPr/>
        </p:nvSpPr>
        <p:spPr>
          <a:xfrm>
            <a:off x="6425031"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Kinderverpleegkundige</a:t>
            </a:r>
          </a:p>
        </p:txBody>
      </p:sp>
      <p:sp>
        <p:nvSpPr>
          <p:cNvPr id="24" name="TextBox 23"/>
          <p:cNvSpPr txBox="1"/>
          <p:nvPr/>
        </p:nvSpPr>
        <p:spPr>
          <a:xfrm>
            <a:off x="6425031"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dedicated op de SEH, of op afroep?</a:t>
            </a:r>
          </a:p>
        </p:txBody>
      </p:sp>
      <p:sp>
        <p:nvSpPr>
          <p:cNvPr id="25" name="Rounded Rectangle 24"/>
          <p:cNvSpPr/>
          <p:nvPr/>
        </p:nvSpPr>
        <p:spPr>
          <a:xfrm>
            <a:off x="8988323"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4</a:t>
            </a:r>
          </a:p>
        </p:txBody>
      </p:sp>
      <p:sp>
        <p:nvSpPr>
          <p:cNvPr id="28" name="TextBox 27"/>
          <p:cNvSpPr txBox="1"/>
          <p:nvPr/>
        </p:nvSpPr>
        <p:spPr>
          <a:xfrm>
            <a:off x="9207779"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EPA's</a:t>
            </a:r>
          </a:p>
        </p:txBody>
      </p:sp>
      <p:sp>
        <p:nvSpPr>
          <p:cNvPr id="29" name="TextBox 28"/>
          <p:cNvSpPr txBox="1"/>
          <p:nvPr/>
        </p:nvSpPr>
        <p:spPr>
          <a:xfrm>
            <a:off x="9207779"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vereist voor de SEH, en verplicht voor ICU en CCU?</a:t>
            </a:r>
          </a:p>
        </p:txBody>
      </p:sp>
      <p:sp>
        <p:nvSpPr>
          <p:cNvPr id="30" name="Rounded Rectangle 29"/>
          <p:cNvSpPr/>
          <p:nvPr/>
        </p:nvSpPr>
        <p:spPr>
          <a:xfrm>
            <a:off x="640080"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5</a:t>
            </a:r>
          </a:p>
        </p:txBody>
      </p:sp>
      <p:sp>
        <p:nvSpPr>
          <p:cNvPr id="33" name="TextBox 32"/>
          <p:cNvSpPr txBox="1"/>
          <p:nvPr/>
        </p:nvSpPr>
        <p:spPr>
          <a:xfrm>
            <a:off x="859536"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EPA's in de praktijk</a:t>
            </a:r>
          </a:p>
        </p:txBody>
      </p:sp>
      <p:sp>
        <p:nvSpPr>
          <p:cNvPr id="34" name="TextBox 33"/>
          <p:cNvSpPr txBox="1"/>
          <p:nvPr/>
        </p:nvSpPr>
        <p:spPr>
          <a:xfrm>
            <a:off x="859536"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wat betekent het als ze er zijn?</a:t>
            </a:r>
          </a:p>
        </p:txBody>
      </p:sp>
      <p:sp>
        <p:nvSpPr>
          <p:cNvPr id="35" name="Rounded Rectangle 34"/>
          <p:cNvSpPr/>
          <p:nvPr/>
        </p:nvSpPr>
        <p:spPr>
          <a:xfrm>
            <a:off x="3422827"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6</a:t>
            </a:r>
          </a:p>
        </p:txBody>
      </p:sp>
      <p:sp>
        <p:nvSpPr>
          <p:cNvPr id="38" name="TextBox 37"/>
          <p:cNvSpPr txBox="1"/>
          <p:nvPr/>
        </p:nvSpPr>
        <p:spPr>
          <a:xfrm>
            <a:off x="3642283"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Acute poule</a:t>
            </a:r>
          </a:p>
        </p:txBody>
      </p:sp>
      <p:sp>
        <p:nvSpPr>
          <p:cNvPr id="39" name="TextBox 38"/>
          <p:cNvSpPr txBox="1"/>
          <p:nvPr/>
        </p:nvSpPr>
        <p:spPr>
          <a:xfrm>
            <a:off x="3642283"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ook voor CCU/ICU en CCU/SEH?</a:t>
            </a:r>
          </a:p>
        </p:txBody>
      </p:sp>
      <p:sp>
        <p:nvSpPr>
          <p:cNvPr id="40" name="TextBox 39"/>
          <p:cNvSpPr txBox="1"/>
          <p:nvPr/>
        </p:nvSpPr>
        <p:spPr>
          <a:xfrm>
            <a:off x="640080" y="5660136"/>
            <a:ext cx="10911535" cy="237744"/>
          </a:xfrm>
          <a:prstGeom prst="rect">
            <a:avLst/>
          </a:prstGeom>
          <a:noFill/>
        </p:spPr>
        <p:txBody>
          <a:bodyPr wrap="square" lIns="0" rIns="0" tIns="0" bIns="0" anchor="t">
            <a:spAutoFit/>
          </a:bodyPr>
          <a:lstStyle/>
          <a:p>
            <a:pPr algn="l">
              <a:lnSpc>
                <a:spcPct val="120000"/>
              </a:lnSpc>
              <a:spcAft>
                <a:spcPts val="0"/>
              </a:spcAft>
            </a:pPr>
            <a:r>
              <a:rPr sz="950" b="0" spc="60">
                <a:solidFill>
                  <a:srgbClr val="8B9AAA"/>
                </a:solidFill>
                <a:latin typeface="Calibri"/>
              </a:rPr>
              <a:t>De volledige vraag staat bij de notities van deze dia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Wat er nu in de weg zit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26</a:t>
            </a:r>
          </a:p>
        </p:txBody>
      </p:sp>
      <p:sp>
        <p:nvSpPr>
          <p:cNvPr id="10" name="Rounded Rectangle 9"/>
          <p:cNvSpPr/>
          <p:nvPr/>
        </p:nvSpPr>
        <p:spPr>
          <a:xfrm>
            <a:off x="640080"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1</a:t>
            </a:r>
          </a:p>
        </p:txBody>
      </p:sp>
      <p:sp>
        <p:nvSpPr>
          <p:cNvPr id="13" name="TextBox 12"/>
          <p:cNvSpPr txBox="1"/>
          <p:nvPr/>
        </p:nvSpPr>
        <p:spPr>
          <a:xfrm>
            <a:off x="859536"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Verpleegkundige norm</a:t>
            </a:r>
          </a:p>
        </p:txBody>
      </p:sp>
      <p:sp>
        <p:nvSpPr>
          <p:cNvPr id="14" name="TextBox 13"/>
          <p:cNvSpPr txBox="1"/>
          <p:nvPr/>
        </p:nvSpPr>
        <p:spPr>
          <a:xfrm>
            <a:off x="859536"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aanbodgericht in plaats van vraaggestuurd</a:t>
            </a:r>
          </a:p>
        </p:txBody>
      </p:sp>
      <p:sp>
        <p:nvSpPr>
          <p:cNvPr id="15" name="Rounded Rectangle 14"/>
          <p:cNvSpPr/>
          <p:nvPr/>
        </p:nvSpPr>
        <p:spPr>
          <a:xfrm>
            <a:off x="3422827"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2</a:t>
            </a:r>
          </a:p>
        </p:txBody>
      </p:sp>
      <p:sp>
        <p:nvSpPr>
          <p:cNvPr id="18" name="TextBox 17"/>
          <p:cNvSpPr txBox="1"/>
          <p:nvPr/>
        </p:nvSpPr>
        <p:spPr>
          <a:xfrm>
            <a:off x="3642283"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SEH-artsen</a:t>
            </a:r>
          </a:p>
        </p:txBody>
      </p:sp>
      <p:sp>
        <p:nvSpPr>
          <p:cNvPr id="19" name="TextBox 18"/>
          <p:cNvSpPr txBox="1"/>
          <p:nvPr/>
        </p:nvSpPr>
        <p:spPr>
          <a:xfrm>
            <a:off x="3642283"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verhoogd, begroting niet aangepast</a:t>
            </a:r>
          </a:p>
        </p:txBody>
      </p:sp>
      <p:sp>
        <p:nvSpPr>
          <p:cNvPr id="20" name="Rounded Rectangle 19"/>
          <p:cNvSpPr/>
          <p:nvPr/>
        </p:nvSpPr>
        <p:spPr>
          <a:xfrm>
            <a:off x="6205575"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3</a:t>
            </a:r>
          </a:p>
        </p:txBody>
      </p:sp>
      <p:sp>
        <p:nvSpPr>
          <p:cNvPr id="23" name="TextBox 22"/>
          <p:cNvSpPr txBox="1"/>
          <p:nvPr/>
        </p:nvSpPr>
        <p:spPr>
          <a:xfrm>
            <a:off x="6425031"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Acute poort</a:t>
            </a:r>
          </a:p>
        </p:txBody>
      </p:sp>
      <p:sp>
        <p:nvSpPr>
          <p:cNvPr id="24" name="TextBox 23"/>
          <p:cNvSpPr txBox="1"/>
          <p:nvPr/>
        </p:nvSpPr>
        <p:spPr>
          <a:xfrm>
            <a:off x="6425031"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wat komt waar, en wat kunnen wij doorrekenen?</a:t>
            </a:r>
          </a:p>
        </p:txBody>
      </p:sp>
      <p:sp>
        <p:nvSpPr>
          <p:cNvPr id="25" name="Rounded Rectangle 24"/>
          <p:cNvSpPr/>
          <p:nvPr/>
        </p:nvSpPr>
        <p:spPr>
          <a:xfrm>
            <a:off x="8988323"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4</a:t>
            </a:r>
          </a:p>
        </p:txBody>
      </p:sp>
      <p:sp>
        <p:nvSpPr>
          <p:cNvPr id="28" name="TextBox 27"/>
          <p:cNvSpPr txBox="1"/>
          <p:nvPr/>
        </p:nvSpPr>
        <p:spPr>
          <a:xfrm>
            <a:off x="9207779"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Jaarplan BIC</a:t>
            </a:r>
          </a:p>
        </p:txBody>
      </p:sp>
      <p:sp>
        <p:nvSpPr>
          <p:cNvPr id="29" name="TextBox 28"/>
          <p:cNvSpPr txBox="1"/>
          <p:nvPr/>
        </p:nvSpPr>
        <p:spPr>
          <a:xfrm>
            <a:off x="9207779"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ICU en CCU wijken er structureel van af</a:t>
            </a:r>
          </a:p>
        </p:txBody>
      </p:sp>
      <p:sp>
        <p:nvSpPr>
          <p:cNvPr id="30" name="Rounded Rectangle 29"/>
          <p:cNvSpPr/>
          <p:nvPr/>
        </p:nvSpPr>
        <p:spPr>
          <a:xfrm>
            <a:off x="640080"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5</a:t>
            </a:r>
          </a:p>
        </p:txBody>
      </p:sp>
      <p:sp>
        <p:nvSpPr>
          <p:cNvPr id="33" name="TextBox 32"/>
          <p:cNvSpPr txBox="1"/>
          <p:nvPr/>
        </p:nvSpPr>
        <p:spPr>
          <a:xfrm>
            <a:off x="859536"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Planning buiten CPP</a:t>
            </a:r>
          </a:p>
        </p:txBody>
      </p:sp>
      <p:sp>
        <p:nvSpPr>
          <p:cNvPr id="34" name="TextBox 33"/>
          <p:cNvSpPr txBox="1"/>
          <p:nvPr/>
        </p:nvSpPr>
        <p:spPr>
          <a:xfrm>
            <a:off x="859536"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met name rond de acute poule</a:t>
            </a:r>
          </a:p>
        </p:txBody>
      </p:sp>
      <p:sp>
        <p:nvSpPr>
          <p:cNvPr id="35" name="Rounded Rectangle 34"/>
          <p:cNvSpPr/>
          <p:nvPr/>
        </p:nvSpPr>
        <p:spPr>
          <a:xfrm>
            <a:off x="3422827"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6</a:t>
            </a:r>
          </a:p>
        </p:txBody>
      </p:sp>
      <p:sp>
        <p:nvSpPr>
          <p:cNvPr id="38" name="TextBox 37"/>
          <p:cNvSpPr txBox="1"/>
          <p:nvPr/>
        </p:nvSpPr>
        <p:spPr>
          <a:xfrm>
            <a:off x="3642283"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Indirecte uren</a:t>
            </a:r>
          </a:p>
        </p:txBody>
      </p:sp>
      <p:sp>
        <p:nvSpPr>
          <p:cNvPr id="39" name="TextBox 38"/>
          <p:cNvSpPr txBox="1"/>
          <p:nvPr/>
        </p:nvSpPr>
        <p:spPr>
          <a:xfrm>
            <a:off x="3642283"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geen vastgesteld uitgangspunt</a:t>
            </a:r>
          </a:p>
        </p:txBody>
      </p:sp>
      <p:sp>
        <p:nvSpPr>
          <p:cNvPr id="40" name="Rounded Rectangle 39"/>
          <p:cNvSpPr/>
          <p:nvPr/>
        </p:nvSpPr>
        <p:spPr>
          <a:xfrm>
            <a:off x="6205575"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205575"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443319"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7</a:t>
            </a:r>
          </a:p>
        </p:txBody>
      </p:sp>
      <p:sp>
        <p:nvSpPr>
          <p:cNvPr id="43" name="TextBox 42"/>
          <p:cNvSpPr txBox="1"/>
          <p:nvPr/>
        </p:nvSpPr>
        <p:spPr>
          <a:xfrm>
            <a:off x="6425031"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Uitgangspunten en kaders</a:t>
            </a:r>
          </a:p>
        </p:txBody>
      </p:sp>
      <p:sp>
        <p:nvSpPr>
          <p:cNvPr id="44" name="TextBox 43"/>
          <p:cNvSpPr txBox="1"/>
          <p:nvPr/>
        </p:nvSpPr>
        <p:spPr>
          <a:xfrm>
            <a:off x="6425031"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die ontbreken</a:t>
            </a:r>
          </a:p>
        </p:txBody>
      </p:sp>
      <p:sp>
        <p:nvSpPr>
          <p:cNvPr id="45" name="Rounded Rectangle 44"/>
          <p:cNvSpPr/>
          <p:nvPr/>
        </p:nvSpPr>
        <p:spPr>
          <a:xfrm>
            <a:off x="8988323"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988323"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9226067"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8</a:t>
            </a:r>
          </a:p>
        </p:txBody>
      </p:sp>
      <p:sp>
        <p:nvSpPr>
          <p:cNvPr id="48" name="TextBox 47"/>
          <p:cNvSpPr txBox="1"/>
          <p:nvPr/>
        </p:nvSpPr>
        <p:spPr>
          <a:xfrm>
            <a:off x="9207779"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Vakantiegoedkeuringen</a:t>
            </a:r>
          </a:p>
        </p:txBody>
      </p:sp>
      <p:sp>
        <p:nvSpPr>
          <p:cNvPr id="49" name="TextBox 48"/>
          <p:cNvSpPr txBox="1"/>
          <p:nvPr/>
        </p:nvSpPr>
        <p:spPr>
          <a:xfrm>
            <a:off x="9207779"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te ruim, met name CCU; Remco: 20 tot 25%</a:t>
            </a:r>
          </a:p>
        </p:txBody>
      </p:sp>
      <p:sp>
        <p:nvSpPr>
          <p:cNvPr id="50" name="Rounded Rectangle 49"/>
          <p:cNvSpPr/>
          <p:nvPr/>
        </p:nvSpPr>
        <p:spPr>
          <a:xfrm>
            <a:off x="640080" y="4639056"/>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640080" y="4639056"/>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77824" y="4730496"/>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9</a:t>
            </a:r>
          </a:p>
        </p:txBody>
      </p:sp>
      <p:sp>
        <p:nvSpPr>
          <p:cNvPr id="53" name="TextBox 52"/>
          <p:cNvSpPr txBox="1"/>
          <p:nvPr/>
        </p:nvSpPr>
        <p:spPr>
          <a:xfrm>
            <a:off x="859536" y="5096256"/>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Slapers op de SEH</a:t>
            </a:r>
          </a:p>
        </p:txBody>
      </p:sp>
      <p:sp>
        <p:nvSpPr>
          <p:cNvPr id="54" name="TextBox 53"/>
          <p:cNvSpPr txBox="1"/>
          <p:nvPr/>
        </p:nvSpPr>
        <p:spPr>
          <a:xfrm>
            <a:off x="859536" y="5535167"/>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de JDT laat die druk niet zien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Simulatie, aantekeningen en Remco</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27</a:t>
            </a:r>
          </a:p>
        </p:txBody>
      </p:sp>
      <p:sp>
        <p:nvSpPr>
          <p:cNvPr id="10" name="Rounded Rectangle 9"/>
          <p:cNvSpPr/>
          <p:nvPr/>
        </p:nvSpPr>
        <p:spPr>
          <a:xfrm>
            <a:off x="640080"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1</a:t>
            </a:r>
          </a:p>
        </p:txBody>
      </p:sp>
      <p:sp>
        <p:nvSpPr>
          <p:cNvPr id="13" name="TextBox 12"/>
          <p:cNvSpPr txBox="1"/>
          <p:nvPr/>
        </p:nvSpPr>
        <p:spPr>
          <a:xfrm>
            <a:off x="859536"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Simulatie ICU</a:t>
            </a:r>
          </a:p>
        </p:txBody>
      </p:sp>
      <p:sp>
        <p:nvSpPr>
          <p:cNvPr id="14" name="TextBox 13"/>
          <p:cNvSpPr txBox="1"/>
          <p:nvPr/>
        </p:nvSpPr>
        <p:spPr>
          <a:xfrm>
            <a:off x="859536"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volledige ICU-data</a:t>
            </a:r>
          </a:p>
        </p:txBody>
      </p:sp>
      <p:sp>
        <p:nvSpPr>
          <p:cNvPr id="15" name="Rounded Rectangle 14"/>
          <p:cNvSpPr/>
          <p:nvPr/>
        </p:nvSpPr>
        <p:spPr>
          <a:xfrm>
            <a:off x="3422827"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2</a:t>
            </a:r>
          </a:p>
        </p:txBody>
      </p:sp>
      <p:sp>
        <p:nvSpPr>
          <p:cNvPr id="18" name="TextBox 17"/>
          <p:cNvSpPr txBox="1"/>
          <p:nvPr/>
        </p:nvSpPr>
        <p:spPr>
          <a:xfrm>
            <a:off x="3642283"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Simulatie CCU</a:t>
            </a:r>
          </a:p>
        </p:txBody>
      </p:sp>
      <p:sp>
        <p:nvSpPr>
          <p:cNvPr id="19" name="TextBox 18"/>
          <p:cNvSpPr txBox="1"/>
          <p:nvPr/>
        </p:nvSpPr>
        <p:spPr>
          <a:xfrm>
            <a:off x="3642283"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zonder de eerste 2 uur richting de SEH</a:t>
            </a:r>
          </a:p>
        </p:txBody>
      </p:sp>
      <p:sp>
        <p:nvSpPr>
          <p:cNvPr id="20" name="Rounded Rectangle 19"/>
          <p:cNvSpPr/>
          <p:nvPr/>
        </p:nvSpPr>
        <p:spPr>
          <a:xfrm>
            <a:off x="6205575"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3</a:t>
            </a:r>
          </a:p>
        </p:txBody>
      </p:sp>
      <p:sp>
        <p:nvSpPr>
          <p:cNvPr id="23" name="TextBox 22"/>
          <p:cNvSpPr txBox="1"/>
          <p:nvPr/>
        </p:nvSpPr>
        <p:spPr>
          <a:xfrm>
            <a:off x="6425031"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Bedden op dagniveau</a:t>
            </a:r>
          </a:p>
        </p:txBody>
      </p:sp>
      <p:sp>
        <p:nvSpPr>
          <p:cNvPr id="24" name="TextBox 23"/>
          <p:cNvSpPr txBox="1"/>
          <p:nvPr/>
        </p:nvSpPr>
        <p:spPr>
          <a:xfrm>
            <a:off x="6425031"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seizoenspatronen en verdeling ICU/CCU</a:t>
            </a:r>
          </a:p>
        </p:txBody>
      </p:sp>
      <p:sp>
        <p:nvSpPr>
          <p:cNvPr id="25" name="Rounded Rectangle 24"/>
          <p:cNvSpPr/>
          <p:nvPr/>
        </p:nvSpPr>
        <p:spPr>
          <a:xfrm>
            <a:off x="8988323"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4</a:t>
            </a:r>
          </a:p>
        </p:txBody>
      </p:sp>
      <p:sp>
        <p:nvSpPr>
          <p:cNvPr id="28" name="TextBox 27"/>
          <p:cNvSpPr txBox="1"/>
          <p:nvPr/>
        </p:nvSpPr>
        <p:spPr>
          <a:xfrm>
            <a:off x="9207779"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Versneld jaarplan CCU</a:t>
            </a:r>
          </a:p>
        </p:txBody>
      </p:sp>
      <p:sp>
        <p:nvSpPr>
          <p:cNvPr id="29" name="TextBox 28"/>
          <p:cNvSpPr txBox="1"/>
          <p:nvPr/>
        </p:nvSpPr>
        <p:spPr>
          <a:xfrm>
            <a:off x="9207779"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document Daniek: huidig, transitie, nieuwbouw</a:t>
            </a:r>
          </a:p>
        </p:txBody>
      </p:sp>
      <p:sp>
        <p:nvSpPr>
          <p:cNvPr id="30" name="Rounded Rectangle 29"/>
          <p:cNvSpPr/>
          <p:nvPr/>
        </p:nvSpPr>
        <p:spPr>
          <a:xfrm>
            <a:off x="640080"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5</a:t>
            </a:r>
          </a:p>
        </p:txBody>
      </p:sp>
      <p:sp>
        <p:nvSpPr>
          <p:cNvPr id="33" name="TextBox 32"/>
          <p:cNvSpPr txBox="1"/>
          <p:nvPr/>
        </p:nvSpPr>
        <p:spPr>
          <a:xfrm>
            <a:off x="859536"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Aftrap jaarplannen 2027</a:t>
            </a:r>
          </a:p>
        </p:txBody>
      </p:sp>
      <p:sp>
        <p:nvSpPr>
          <p:cNvPr id="34" name="TextBox 33"/>
          <p:cNvSpPr txBox="1"/>
          <p:nvPr/>
        </p:nvSpPr>
        <p:spPr>
          <a:xfrm>
            <a:off x="859536"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verpleegkundige inzet; wens voor SEH-artsen?</a:t>
            </a:r>
          </a:p>
        </p:txBody>
      </p:sp>
      <p:sp>
        <p:nvSpPr>
          <p:cNvPr id="35" name="Rounded Rectangle 34"/>
          <p:cNvSpPr/>
          <p:nvPr/>
        </p:nvSpPr>
        <p:spPr>
          <a:xfrm>
            <a:off x="3422827"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6</a:t>
            </a:r>
          </a:p>
        </p:txBody>
      </p:sp>
      <p:sp>
        <p:nvSpPr>
          <p:cNvPr id="38" name="TextBox 37"/>
          <p:cNvSpPr txBox="1"/>
          <p:nvPr/>
        </p:nvSpPr>
        <p:spPr>
          <a:xfrm>
            <a:off x="3642283"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Integratie ICU en CCU</a:t>
            </a:r>
          </a:p>
        </p:txBody>
      </p:sp>
      <p:sp>
        <p:nvSpPr>
          <p:cNvPr id="39" name="TextBox 38"/>
          <p:cNvSpPr txBox="1"/>
          <p:nvPr/>
        </p:nvSpPr>
        <p:spPr>
          <a:xfrm>
            <a:off x="3642283"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van de ICU op de CCU gebeurt nog niet</a:t>
            </a:r>
          </a:p>
        </p:txBody>
      </p:sp>
      <p:sp>
        <p:nvSpPr>
          <p:cNvPr id="40" name="Rounded Rectangle 39"/>
          <p:cNvSpPr/>
          <p:nvPr/>
        </p:nvSpPr>
        <p:spPr>
          <a:xfrm>
            <a:off x="6205575"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205575"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443319"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7</a:t>
            </a:r>
          </a:p>
        </p:txBody>
      </p:sp>
      <p:sp>
        <p:nvSpPr>
          <p:cNvPr id="43" name="TextBox 42"/>
          <p:cNvSpPr txBox="1"/>
          <p:nvPr/>
        </p:nvSpPr>
        <p:spPr>
          <a:xfrm>
            <a:off x="6425031"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Remco: personeel EHH</a:t>
            </a:r>
          </a:p>
        </p:txBody>
      </p:sp>
      <p:sp>
        <p:nvSpPr>
          <p:cNvPr id="44" name="TextBox 43"/>
          <p:cNvSpPr txBox="1"/>
          <p:nvPr/>
        </p:nvSpPr>
        <p:spPr>
          <a:xfrm>
            <a:off x="6425031"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bij de ICU/CCU of bij de SEH?</a:t>
            </a:r>
          </a:p>
        </p:txBody>
      </p:sp>
      <p:sp>
        <p:nvSpPr>
          <p:cNvPr id="45" name="Rounded Rectangle 44"/>
          <p:cNvSpPr/>
          <p:nvPr/>
        </p:nvSpPr>
        <p:spPr>
          <a:xfrm>
            <a:off x="8988323"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988323"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9226067"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8</a:t>
            </a:r>
          </a:p>
        </p:txBody>
      </p:sp>
      <p:sp>
        <p:nvSpPr>
          <p:cNvPr id="48" name="TextBox 47"/>
          <p:cNvSpPr txBox="1"/>
          <p:nvPr/>
        </p:nvSpPr>
        <p:spPr>
          <a:xfrm>
            <a:off x="9207779"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Remco: opvang acute cardio</a:t>
            </a:r>
          </a:p>
        </p:txBody>
      </p:sp>
      <p:sp>
        <p:nvSpPr>
          <p:cNvPr id="49" name="TextBox 48"/>
          <p:cNvSpPr txBox="1"/>
          <p:nvPr/>
        </p:nvSpPr>
        <p:spPr>
          <a:xfrm>
            <a:off x="9207779"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op de SEH of op de EHH?</a:t>
            </a:r>
          </a:p>
        </p:txBody>
      </p:sp>
      <p:sp>
        <p:nvSpPr>
          <p:cNvPr id="50" name="Rounded Rectangle 49"/>
          <p:cNvSpPr/>
          <p:nvPr/>
        </p:nvSpPr>
        <p:spPr>
          <a:xfrm>
            <a:off x="640080" y="4639056"/>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640080" y="4639056"/>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77824" y="4730496"/>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9</a:t>
            </a:r>
          </a:p>
        </p:txBody>
      </p:sp>
      <p:sp>
        <p:nvSpPr>
          <p:cNvPr id="53" name="TextBox 52"/>
          <p:cNvSpPr txBox="1"/>
          <p:nvPr/>
        </p:nvSpPr>
        <p:spPr>
          <a:xfrm>
            <a:off x="859536" y="5096256"/>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Remco: verblijf op de SEH</a:t>
            </a:r>
          </a:p>
        </p:txBody>
      </p:sp>
      <p:sp>
        <p:nvSpPr>
          <p:cNvPr id="54" name="TextBox 53"/>
          <p:cNvSpPr txBox="1"/>
          <p:nvPr/>
        </p:nvSpPr>
        <p:spPr>
          <a:xfrm>
            <a:off x="859536" y="5535167"/>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hoe lang voor doorstroom naar de EHH?</a:t>
            </a:r>
          </a:p>
        </p:txBody>
      </p:sp>
      <p:sp>
        <p:nvSpPr>
          <p:cNvPr id="55" name="Rounded Rectangle 54"/>
          <p:cNvSpPr/>
          <p:nvPr/>
        </p:nvSpPr>
        <p:spPr>
          <a:xfrm>
            <a:off x="3422827" y="4639056"/>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3422827" y="4639056"/>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3660571" y="4730496"/>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10</a:t>
            </a:r>
          </a:p>
        </p:txBody>
      </p:sp>
      <p:sp>
        <p:nvSpPr>
          <p:cNvPr id="58" name="TextBox 57"/>
          <p:cNvSpPr txBox="1"/>
          <p:nvPr/>
        </p:nvSpPr>
        <p:spPr>
          <a:xfrm>
            <a:off x="3642283" y="5096256"/>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Masterplan Acuut</a:t>
            </a:r>
          </a:p>
        </p:txBody>
      </p:sp>
      <p:sp>
        <p:nvSpPr>
          <p:cNvPr id="59" name="TextBox 58"/>
          <p:cNvSpPr txBox="1"/>
          <p:nvPr/>
        </p:nvSpPr>
        <p:spPr>
          <a:xfrm>
            <a:off x="3642283" y="5535167"/>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jaarplan opstellen en naast het huidige leggen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Zes besluiten waar de rest op wacht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28</a:t>
            </a:r>
          </a:p>
        </p:txBody>
      </p:sp>
      <p:sp>
        <p:nvSpPr>
          <p:cNvPr id="10" name="Rounded Rectangle 9"/>
          <p:cNvSpPr/>
          <p:nvPr/>
        </p:nvSpPr>
        <p:spPr>
          <a:xfrm>
            <a:off x="640080" y="175564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640080" y="1755648"/>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850392" y="1856232"/>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Waar valt de EHH onder?</a:t>
            </a:r>
          </a:p>
          <a:p>
            <a:pPr algn="l">
              <a:lnSpc>
                <a:spcPct val="120000"/>
              </a:lnSpc>
              <a:spcAft>
                <a:spcPts val="0"/>
              </a:spcAft>
            </a:pPr>
            <a:r>
              <a:rPr sz="1000" b="0">
                <a:solidFill>
                  <a:srgbClr val="8B9AA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4392D"/>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19</a:t>
            </a:r>
          </a:p>
        </p:txBody>
      </p:sp>
      <p:sp>
        <p:nvSpPr>
          <p:cNvPr id="17" name="Rounded Rectangle 16"/>
          <p:cNvSpPr/>
          <p:nvPr/>
        </p:nvSpPr>
        <p:spPr>
          <a:xfrm>
            <a:off x="640080" y="2450592"/>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640080" y="2450592"/>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850392" y="2551176"/>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Hoeveel plekken krijgt de acute poort?</a:t>
            </a:r>
          </a:p>
          <a:p>
            <a:pPr algn="l">
              <a:lnSpc>
                <a:spcPct val="120000"/>
              </a:lnSpc>
              <a:spcAft>
                <a:spcPts val="0"/>
              </a:spcAft>
            </a:pPr>
            <a:r>
              <a:rPr sz="1000" b="0">
                <a:solidFill>
                  <a:srgbClr val="8B9AA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4392D"/>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17</a:t>
            </a:r>
          </a:p>
        </p:txBody>
      </p:sp>
      <p:sp>
        <p:nvSpPr>
          <p:cNvPr id="24" name="Rounded Rectangle 23"/>
          <p:cNvSpPr/>
          <p:nvPr/>
        </p:nvSpPr>
        <p:spPr>
          <a:xfrm>
            <a:off x="640080" y="3145536"/>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ounded Rectangle 24"/>
          <p:cNvSpPr/>
          <p:nvPr/>
        </p:nvSpPr>
        <p:spPr>
          <a:xfrm>
            <a:off x="640080" y="3145536"/>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50392" y="3246120"/>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Wie stelt de norm verpleegkundigen vast?</a:t>
            </a:r>
          </a:p>
          <a:p>
            <a:pPr algn="l">
              <a:lnSpc>
                <a:spcPct val="120000"/>
              </a:lnSpc>
              <a:spcAft>
                <a:spcPts val="0"/>
              </a:spcAft>
            </a:pPr>
            <a:r>
              <a:rPr sz="1000" b="0">
                <a:solidFill>
                  <a:srgbClr val="8B9AA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4392D"/>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5 en 9</a:t>
            </a:r>
          </a:p>
        </p:txBody>
      </p:sp>
      <p:sp>
        <p:nvSpPr>
          <p:cNvPr id="31" name="Rounded Rectangle 30"/>
          <p:cNvSpPr/>
          <p:nvPr/>
        </p:nvSpPr>
        <p:spPr>
          <a:xfrm>
            <a:off x="640080" y="3840480"/>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640080" y="3840480"/>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850392" y="3941064"/>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87E12"/>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Welk scenario kiezen we?</a:t>
            </a:r>
          </a:p>
          <a:p>
            <a:pPr algn="l">
              <a:lnSpc>
                <a:spcPct val="120000"/>
              </a:lnSpc>
              <a:spcAft>
                <a:spcPts val="0"/>
              </a:spcAft>
            </a:pPr>
            <a:r>
              <a:rPr sz="1000" b="0">
                <a:solidFill>
                  <a:srgbClr val="8B9AA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87E12"/>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14</a:t>
            </a:r>
          </a:p>
        </p:txBody>
      </p:sp>
      <p:sp>
        <p:nvSpPr>
          <p:cNvPr id="38" name="Rounded Rectangle 37"/>
          <p:cNvSpPr/>
          <p:nvPr/>
        </p:nvSpPr>
        <p:spPr>
          <a:xfrm>
            <a:off x="640080" y="4535424"/>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640080" y="4535424"/>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850392" y="4636008"/>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87E12"/>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Wat is de weigerkans bij 16 bedden?</a:t>
            </a:r>
          </a:p>
          <a:p>
            <a:pPr algn="l">
              <a:lnSpc>
                <a:spcPct val="120000"/>
              </a:lnSpc>
              <a:spcAft>
                <a:spcPts val="0"/>
              </a:spcAft>
            </a:pPr>
            <a:r>
              <a:rPr sz="1000" b="0">
                <a:solidFill>
                  <a:srgbClr val="8B9AA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87E12"/>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17</a:t>
            </a:r>
          </a:p>
        </p:txBody>
      </p:sp>
      <p:sp>
        <p:nvSpPr>
          <p:cNvPr id="45" name="Rounded Rectangle 44"/>
          <p:cNvSpPr/>
          <p:nvPr/>
        </p:nvSpPr>
        <p:spPr>
          <a:xfrm>
            <a:off x="640080" y="523036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ounded Rectangle 45"/>
          <p:cNvSpPr/>
          <p:nvPr/>
        </p:nvSpPr>
        <p:spPr>
          <a:xfrm>
            <a:off x="640080" y="5230368"/>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850392" y="5330952"/>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87E12"/>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Wat doen we met de knelpunten?</a:t>
            </a:r>
          </a:p>
          <a:p>
            <a:pPr algn="l">
              <a:lnSpc>
                <a:spcPct val="120000"/>
              </a:lnSpc>
              <a:spcAft>
                <a:spcPts val="0"/>
              </a:spcAft>
            </a:pPr>
            <a:r>
              <a:rPr sz="1000" b="0">
                <a:solidFill>
                  <a:srgbClr val="8B9AA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87E12"/>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17 en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1371600"/>
            <a:ext cx="73152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0E9A87"/>
                </a:solidFill>
                <a:latin typeface="Calibri"/>
              </a:rPr>
              <a:t>WAAR HET OP NEERKOMT</a:t>
            </a:r>
          </a:p>
        </p:txBody>
      </p:sp>
      <p:sp>
        <p:nvSpPr>
          <p:cNvPr id="4" name="TextBox 3"/>
          <p:cNvSpPr txBox="1"/>
          <p:nvPr/>
        </p:nvSpPr>
        <p:spPr>
          <a:xfrm>
            <a:off x="640080" y="1700784"/>
            <a:ext cx="7863840" cy="914400"/>
          </a:xfrm>
          <a:prstGeom prst="rect">
            <a:avLst/>
          </a:prstGeom>
          <a:noFill/>
        </p:spPr>
        <p:txBody>
          <a:bodyPr wrap="square" lIns="0" tIns="0" rIns="0" bIns="0" anchor="t">
            <a:spAutoFit/>
          </a:bodyPr>
          <a:lstStyle/>
          <a:p>
            <a:pPr algn="l">
              <a:lnSpc>
                <a:spcPct val="120000"/>
              </a:lnSpc>
              <a:spcAft>
                <a:spcPts val="0"/>
              </a:spcAft>
            </a:pPr>
            <a:r>
              <a:rPr sz="4600" b="1">
                <a:solidFill>
                  <a:srgbClr val="0D1B2A"/>
                </a:solidFill>
                <a:latin typeface="Calibri"/>
              </a:rPr>
              <a:t>Drie dingen</a:t>
            </a:r>
          </a:p>
        </p:txBody>
      </p:sp>
      <p:cxnSp>
        <p:nvCxnSpPr>
          <p:cNvPr id="5" name="Connector 4"/>
          <p:cNvCxnSpPr/>
          <p:nvPr/>
        </p:nvCxnSpPr>
        <p:spPr>
          <a:xfrm>
            <a:off x="640080" y="2743200"/>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0080" y="3054096"/>
            <a:ext cx="475488" cy="475488"/>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7" name="Oval 6"/>
          <p:cNvSpPr/>
          <p:nvPr/>
        </p:nvSpPr>
        <p:spPr>
          <a:xfrm>
            <a:off x="804672" y="3218687"/>
            <a:ext cx="146304" cy="146304"/>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98448" y="3054096"/>
            <a:ext cx="8778240" cy="292608"/>
          </a:xfrm>
          <a:prstGeom prst="rect">
            <a:avLst/>
          </a:prstGeom>
          <a:noFill/>
        </p:spPr>
        <p:txBody>
          <a:bodyPr wrap="square" lIns="0" tIns="0" rIns="0" bIns="0" anchor="t">
            <a:spAutoFit/>
          </a:bodyPr>
          <a:lstStyle/>
          <a:p>
            <a:pPr algn="l">
              <a:lnSpc>
                <a:spcPct val="120000"/>
              </a:lnSpc>
              <a:spcAft>
                <a:spcPts val="0"/>
              </a:spcAft>
            </a:pPr>
            <a:r>
              <a:rPr sz="1700" b="1">
                <a:solidFill>
                  <a:srgbClr val="0E9A87"/>
                </a:solidFill>
                <a:latin typeface="Calibri"/>
              </a:rPr>
              <a:t>Fysiek eerst</a:t>
            </a:r>
          </a:p>
        </p:txBody>
      </p:sp>
      <p:sp>
        <p:nvSpPr>
          <p:cNvPr id="9" name="TextBox 8"/>
          <p:cNvSpPr txBox="1"/>
          <p:nvPr/>
        </p:nvSpPr>
        <p:spPr>
          <a:xfrm>
            <a:off x="1298448" y="3383279"/>
            <a:ext cx="8412480" cy="457200"/>
          </a:xfrm>
          <a:prstGeom prst="rect">
            <a:avLst/>
          </a:prstGeom>
          <a:noFill/>
        </p:spPr>
        <p:txBody>
          <a:bodyPr wrap="square" lIns="0" tIns="0" rIns="0" bIns="0" anchor="t">
            <a:spAutoFit/>
          </a:bodyPr>
          <a:lstStyle/>
          <a:p>
            <a:pPr algn="l">
              <a:lnSpc>
                <a:spcPct val="125000"/>
              </a:lnSpc>
              <a:spcAft>
                <a:spcPts val="0"/>
              </a:spcAft>
            </a:pPr>
            <a:r>
              <a:rPr sz="1250" b="0">
                <a:solidFill>
                  <a:srgbClr val="55677C"/>
                </a:solidFill>
                <a:latin typeface="Calibri"/>
              </a:rPr>
              <a:t>Wat en waar. De personele inzet volgt daaruit; andersom werkt het niet.</a:t>
            </a:r>
          </a:p>
        </p:txBody>
      </p:sp>
      <p:sp>
        <p:nvSpPr>
          <p:cNvPr id="10" name="Oval 9"/>
          <p:cNvSpPr/>
          <p:nvPr/>
        </p:nvSpPr>
        <p:spPr>
          <a:xfrm>
            <a:off x="640080" y="4096511"/>
            <a:ext cx="475488" cy="47548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1" name="Oval 10"/>
          <p:cNvSpPr/>
          <p:nvPr/>
        </p:nvSpPr>
        <p:spPr>
          <a:xfrm>
            <a:off x="804672" y="4261103"/>
            <a:ext cx="146304" cy="14630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98448" y="4096511"/>
            <a:ext cx="8778240" cy="292608"/>
          </a:xfrm>
          <a:prstGeom prst="rect">
            <a:avLst/>
          </a:prstGeom>
          <a:noFill/>
        </p:spPr>
        <p:txBody>
          <a:bodyPr wrap="square" lIns="0" tIns="0" rIns="0" bIns="0" anchor="t">
            <a:spAutoFit/>
          </a:bodyPr>
          <a:lstStyle/>
          <a:p>
            <a:pPr algn="l">
              <a:lnSpc>
                <a:spcPct val="120000"/>
              </a:lnSpc>
              <a:spcAft>
                <a:spcPts val="0"/>
              </a:spcAft>
            </a:pPr>
            <a:r>
              <a:rPr sz="1700" b="1">
                <a:solidFill>
                  <a:srgbClr val="C4392D"/>
                </a:solidFill>
                <a:latin typeface="Calibri"/>
              </a:rPr>
              <a:t>Drie besluiten blokkeren</a:t>
            </a:r>
          </a:p>
        </p:txBody>
      </p:sp>
      <p:sp>
        <p:nvSpPr>
          <p:cNvPr id="13" name="TextBox 12"/>
          <p:cNvSpPr txBox="1"/>
          <p:nvPr/>
        </p:nvSpPr>
        <p:spPr>
          <a:xfrm>
            <a:off x="1298448" y="4425696"/>
            <a:ext cx="8412480" cy="457200"/>
          </a:xfrm>
          <a:prstGeom prst="rect">
            <a:avLst/>
          </a:prstGeom>
          <a:noFill/>
        </p:spPr>
        <p:txBody>
          <a:bodyPr wrap="square" lIns="0" tIns="0" rIns="0" bIns="0" anchor="t">
            <a:spAutoFit/>
          </a:bodyPr>
          <a:lstStyle/>
          <a:p>
            <a:pPr algn="l">
              <a:lnSpc>
                <a:spcPct val="125000"/>
              </a:lnSpc>
              <a:spcAft>
                <a:spcPts val="0"/>
              </a:spcAft>
            </a:pPr>
            <a:r>
              <a:rPr sz="1250" b="0">
                <a:solidFill>
                  <a:srgbClr val="55677C"/>
                </a:solidFill>
                <a:latin typeface="Calibri"/>
              </a:rPr>
              <a:t>De EHH-vraag, het aantal plekken op de acute poort en de norm verpleegkundigen.</a:t>
            </a:r>
          </a:p>
        </p:txBody>
      </p:sp>
      <p:sp>
        <p:nvSpPr>
          <p:cNvPr id="14" name="Oval 13"/>
          <p:cNvSpPr/>
          <p:nvPr/>
        </p:nvSpPr>
        <p:spPr>
          <a:xfrm>
            <a:off x="640080" y="5138927"/>
            <a:ext cx="475488" cy="47548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5" name="Oval 14"/>
          <p:cNvSpPr/>
          <p:nvPr/>
        </p:nvSpPr>
        <p:spPr>
          <a:xfrm>
            <a:off x="804672" y="5303519"/>
            <a:ext cx="146304" cy="146304"/>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98448" y="5138927"/>
            <a:ext cx="8778240" cy="292608"/>
          </a:xfrm>
          <a:prstGeom prst="rect">
            <a:avLst/>
          </a:prstGeom>
          <a:noFill/>
        </p:spPr>
        <p:txBody>
          <a:bodyPr wrap="square" lIns="0" tIns="0" rIns="0" bIns="0" anchor="t">
            <a:spAutoFit/>
          </a:bodyPr>
          <a:lstStyle/>
          <a:p>
            <a:pPr algn="l">
              <a:lnSpc>
                <a:spcPct val="120000"/>
              </a:lnSpc>
              <a:spcAft>
                <a:spcPts val="0"/>
              </a:spcAft>
            </a:pPr>
            <a:r>
              <a:rPr sz="1700" b="1">
                <a:solidFill>
                  <a:srgbClr val="C87E12"/>
                </a:solidFill>
                <a:latin typeface="Calibri"/>
              </a:rPr>
              <a:t>Nu apart, straks samen</a:t>
            </a:r>
          </a:p>
        </p:txBody>
      </p:sp>
      <p:sp>
        <p:nvSpPr>
          <p:cNvPr id="17" name="TextBox 16"/>
          <p:cNvSpPr txBox="1"/>
          <p:nvPr/>
        </p:nvSpPr>
        <p:spPr>
          <a:xfrm>
            <a:off x="1298448" y="5468112"/>
            <a:ext cx="8412480" cy="457200"/>
          </a:xfrm>
          <a:prstGeom prst="rect">
            <a:avLst/>
          </a:prstGeom>
          <a:noFill/>
        </p:spPr>
        <p:txBody>
          <a:bodyPr wrap="square" lIns="0" tIns="0" rIns="0" bIns="0" anchor="t">
            <a:spAutoFit/>
          </a:bodyPr>
          <a:lstStyle/>
          <a:p>
            <a:pPr algn="l">
              <a:lnSpc>
                <a:spcPct val="125000"/>
              </a:lnSpc>
              <a:spcAft>
                <a:spcPts val="0"/>
              </a:spcAft>
            </a:pPr>
            <a:r>
              <a:rPr sz="1250" b="0">
                <a:solidFill>
                  <a:srgbClr val="55677C"/>
                </a:solidFill>
                <a:latin typeface="Calibri"/>
              </a:rPr>
              <a:t>De huidige berekeningen gelden per afdeling. Bij samenvoeging moet opnieuw geteld worden.</a:t>
            </a:r>
          </a:p>
        </p:txBody>
      </p:sp>
      <p:sp>
        <p:nvSpPr>
          <p:cNvPr id="18" name="Freeform 17"/>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zorgvraag naar rooster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Vier stappen — elke stap levert de input voor de volgende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1700784"/>
            <a:ext cx="2535859" cy="3785615"/>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40080" y="1700784"/>
            <a:ext cx="2535859"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32103" y="1947672"/>
            <a:ext cx="457200" cy="45720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0E9A87"/>
                </a:solidFill>
                <a:latin typeface="Calibri"/>
              </a:rPr>
              <a:t>01</a:t>
            </a:r>
          </a:p>
        </p:txBody>
      </p:sp>
      <p:sp>
        <p:nvSpPr>
          <p:cNvPr id="10" name="TextBox 9"/>
          <p:cNvSpPr txBox="1"/>
          <p:nvPr/>
        </p:nvSpPr>
        <p:spPr>
          <a:xfrm>
            <a:off x="877824" y="2523744"/>
            <a:ext cx="2060371" cy="548640"/>
          </a:xfrm>
          <a:prstGeom prst="rect">
            <a:avLst/>
          </a:prstGeom>
          <a:noFill/>
        </p:spPr>
        <p:txBody>
          <a:bodyPr wrap="square" lIns="0" rIns="0" tIns="0" bIns="0" anchor="t">
            <a:spAutoFit/>
          </a:bodyPr>
          <a:lstStyle/>
          <a:p>
            <a:pPr algn="l">
              <a:lnSpc>
                <a:spcPct val="114000"/>
              </a:lnSpc>
              <a:spcAft>
                <a:spcPts val="0"/>
              </a:spcAft>
            </a:pPr>
            <a:r>
              <a:rPr sz="1550" b="1">
                <a:solidFill>
                  <a:srgbClr val="0D1B2A"/>
                </a:solidFill>
                <a:latin typeface="Calibri"/>
              </a:rPr>
              <a:t>Beddencapaciteit</a:t>
            </a:r>
          </a:p>
        </p:txBody>
      </p:sp>
      <p:sp>
        <p:nvSpPr>
          <p:cNvPr id="11" name="Rounded Rectangle 10"/>
          <p:cNvSpPr/>
          <p:nvPr/>
        </p:nvSpPr>
        <p:spPr>
          <a:xfrm>
            <a:off x="877824" y="3108960"/>
            <a:ext cx="2060371" cy="292608"/>
          </a:xfrm>
          <a:prstGeom prst="roundRect">
            <a:avLst>
              <a:gd name="adj" fmla="val 50000"/>
            </a:avLst>
          </a:prstGeom>
          <a:solidFill>
            <a:srgbClr val="0E9A87">
              <a:alpha val="11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0E9A87"/>
                </a:solidFill>
                <a:latin typeface="Calibri"/>
              </a:rPr>
              <a:t>bedden per week</a:t>
            </a:r>
          </a:p>
        </p:txBody>
      </p:sp>
      <p:cxnSp>
        <p:nvCxnSpPr>
          <p:cNvPr id="12" name="Connector 11"/>
          <p:cNvCxnSpPr/>
          <p:nvPr/>
        </p:nvCxnSpPr>
        <p:spPr>
          <a:xfrm>
            <a:off x="877824" y="3566160"/>
            <a:ext cx="2060371"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09828" y="3771900"/>
            <a:ext cx="82296" cy="82296"/>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33856" y="3712464"/>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data-analyse: instroom, aanwezigheid, ligduur</a:t>
            </a:r>
          </a:p>
        </p:txBody>
      </p:sp>
      <p:sp>
        <p:nvSpPr>
          <p:cNvPr id="15" name="Oval 14"/>
          <p:cNvSpPr/>
          <p:nvPr/>
        </p:nvSpPr>
        <p:spPr>
          <a:xfrm>
            <a:off x="909828" y="4129024"/>
            <a:ext cx="82296" cy="82296"/>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33856" y="4069588"/>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rekenmodel op basis van de zorgvraag</a:t>
            </a:r>
          </a:p>
        </p:txBody>
      </p:sp>
      <p:sp>
        <p:nvSpPr>
          <p:cNvPr id="17" name="Oval 16"/>
          <p:cNvSpPr/>
          <p:nvPr/>
        </p:nvSpPr>
        <p:spPr>
          <a:xfrm>
            <a:off x="909828" y="4486148"/>
            <a:ext cx="82296" cy="82296"/>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426712"/>
            <a:ext cx="1804339" cy="519684"/>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afstemmen met zorgmanager en teammanagers</a:t>
            </a:r>
          </a:p>
        </p:txBody>
      </p:sp>
      <p:sp>
        <p:nvSpPr>
          <p:cNvPr id="19" name="Oval 18"/>
          <p:cNvSpPr/>
          <p:nvPr/>
        </p:nvSpPr>
        <p:spPr>
          <a:xfrm>
            <a:off x="909828" y="4998212"/>
            <a:ext cx="82296" cy="82296"/>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938776"/>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definitief advies per afdeling</a:t>
            </a:r>
          </a:p>
        </p:txBody>
      </p:sp>
      <p:sp>
        <p:nvSpPr>
          <p:cNvPr id="21" name="Right Arrow 20"/>
          <p:cNvSpPr/>
          <p:nvPr/>
        </p:nvSpPr>
        <p:spPr>
          <a:xfrm>
            <a:off x="3217087" y="2084832"/>
            <a:ext cx="173736" cy="173736"/>
          </a:xfrm>
          <a:prstGeom prst="rightArrow">
            <a:avLst/>
          </a:prstGeom>
          <a:solidFill>
            <a:srgbClr val="0E9A87">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31971" y="1700784"/>
            <a:ext cx="2535859" cy="3785615"/>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431971" y="1700784"/>
            <a:ext cx="2535859"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3623995" y="1947672"/>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6FB2"/>
                </a:solidFill>
                <a:latin typeface="Calibri"/>
              </a:rPr>
              <a:t>02</a:t>
            </a:r>
          </a:p>
        </p:txBody>
      </p:sp>
      <p:sp>
        <p:nvSpPr>
          <p:cNvPr id="25" name="TextBox 24"/>
          <p:cNvSpPr txBox="1"/>
          <p:nvPr/>
        </p:nvSpPr>
        <p:spPr>
          <a:xfrm>
            <a:off x="3669715" y="2523744"/>
            <a:ext cx="2060371" cy="548640"/>
          </a:xfrm>
          <a:prstGeom prst="rect">
            <a:avLst/>
          </a:prstGeom>
          <a:noFill/>
        </p:spPr>
        <p:txBody>
          <a:bodyPr wrap="square" lIns="0" rIns="0" tIns="0" bIns="0" anchor="t">
            <a:spAutoFit/>
          </a:bodyPr>
          <a:lstStyle/>
          <a:p>
            <a:pPr algn="l">
              <a:lnSpc>
                <a:spcPct val="114000"/>
              </a:lnSpc>
              <a:spcAft>
                <a:spcPts val="0"/>
              </a:spcAft>
            </a:pPr>
            <a:r>
              <a:rPr sz="1550" b="1">
                <a:solidFill>
                  <a:srgbClr val="0D1B2A"/>
                </a:solidFill>
                <a:latin typeface="Calibri"/>
              </a:rPr>
              <a:t>Personele formatie</a:t>
            </a:r>
          </a:p>
        </p:txBody>
      </p:sp>
      <p:sp>
        <p:nvSpPr>
          <p:cNvPr id="26" name="Rounded Rectangle 25"/>
          <p:cNvSpPr/>
          <p:nvPr/>
        </p:nvSpPr>
        <p:spPr>
          <a:xfrm>
            <a:off x="3669715" y="3108960"/>
            <a:ext cx="2060371" cy="292608"/>
          </a:xfrm>
          <a:prstGeom prst="roundRect">
            <a:avLst>
              <a:gd name="adj" fmla="val 50000"/>
            </a:avLst>
          </a:prstGeom>
          <a:solidFill>
            <a:srgbClr val="1F6FB2">
              <a:alpha val="11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1F6FB2"/>
                </a:solidFill>
                <a:latin typeface="Calibri"/>
              </a:rPr>
              <a:t>fte per afdeling</a:t>
            </a:r>
          </a:p>
        </p:txBody>
      </p:sp>
      <p:cxnSp>
        <p:nvCxnSpPr>
          <p:cNvPr id="27" name="Connector 26"/>
          <p:cNvCxnSpPr/>
          <p:nvPr/>
        </p:nvCxnSpPr>
        <p:spPr>
          <a:xfrm>
            <a:off x="3669715" y="3566160"/>
            <a:ext cx="2060372"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701719" y="3771900"/>
            <a:ext cx="82296" cy="8229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25747" y="3712464"/>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verpleegkundige norm: dag, laat, nacht</a:t>
            </a:r>
          </a:p>
        </p:txBody>
      </p:sp>
      <p:sp>
        <p:nvSpPr>
          <p:cNvPr id="30" name="Oval 29"/>
          <p:cNvSpPr/>
          <p:nvPr/>
        </p:nvSpPr>
        <p:spPr>
          <a:xfrm>
            <a:off x="3701719" y="4232317"/>
            <a:ext cx="82296" cy="8229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25747" y="4172881"/>
            <a:ext cx="1804339" cy="20980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roostersleutels opstellen</a:t>
            </a:r>
          </a:p>
        </p:txBody>
      </p:sp>
      <p:sp>
        <p:nvSpPr>
          <p:cNvPr id="32" name="Oval 31"/>
          <p:cNvSpPr/>
          <p:nvPr/>
        </p:nvSpPr>
        <p:spPr>
          <a:xfrm>
            <a:off x="3701719" y="4537794"/>
            <a:ext cx="82296" cy="8229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25747" y="4478358"/>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directe uren, daarna de indirecte uren</a:t>
            </a:r>
          </a:p>
        </p:txBody>
      </p:sp>
      <p:sp>
        <p:nvSpPr>
          <p:cNvPr id="34" name="Oval 33"/>
          <p:cNvSpPr/>
          <p:nvPr/>
        </p:nvSpPr>
        <p:spPr>
          <a:xfrm>
            <a:off x="3701719" y="4998212"/>
            <a:ext cx="82296" cy="82296"/>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25747" y="4938776"/>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fte-berekening per afdeling</a:t>
            </a:r>
          </a:p>
        </p:txBody>
      </p:sp>
      <p:sp>
        <p:nvSpPr>
          <p:cNvPr id="36" name="Right Arrow 35"/>
          <p:cNvSpPr/>
          <p:nvPr/>
        </p:nvSpPr>
        <p:spPr>
          <a:xfrm>
            <a:off x="6008979" y="2084832"/>
            <a:ext cx="173736" cy="173736"/>
          </a:xfrm>
          <a:prstGeom prst="right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23863" y="1700784"/>
            <a:ext cx="2535859" cy="3785615"/>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223863" y="1700784"/>
            <a:ext cx="2535859" cy="50292"/>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415887" y="1947672"/>
            <a:ext cx="457200" cy="457200"/>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6B4BA8"/>
                </a:solidFill>
                <a:latin typeface="Calibri"/>
              </a:rPr>
              <a:t>03</a:t>
            </a:r>
          </a:p>
        </p:txBody>
      </p:sp>
      <p:sp>
        <p:nvSpPr>
          <p:cNvPr id="40" name="TextBox 39"/>
          <p:cNvSpPr txBox="1"/>
          <p:nvPr/>
        </p:nvSpPr>
        <p:spPr>
          <a:xfrm>
            <a:off x="6461607" y="2523744"/>
            <a:ext cx="2060371" cy="548640"/>
          </a:xfrm>
          <a:prstGeom prst="rect">
            <a:avLst/>
          </a:prstGeom>
          <a:noFill/>
        </p:spPr>
        <p:txBody>
          <a:bodyPr wrap="square" lIns="0" rIns="0" tIns="0" bIns="0" anchor="t">
            <a:spAutoFit/>
          </a:bodyPr>
          <a:lstStyle/>
          <a:p>
            <a:pPr algn="l">
              <a:lnSpc>
                <a:spcPct val="114000"/>
              </a:lnSpc>
              <a:spcAft>
                <a:spcPts val="0"/>
              </a:spcAft>
            </a:pPr>
            <a:r>
              <a:rPr sz="1550" b="1">
                <a:solidFill>
                  <a:srgbClr val="0D1B2A"/>
                </a:solidFill>
                <a:latin typeface="Calibri"/>
              </a:rPr>
              <a:t>Personele planning</a:t>
            </a:r>
          </a:p>
        </p:txBody>
      </p:sp>
      <p:sp>
        <p:nvSpPr>
          <p:cNvPr id="41" name="Rounded Rectangle 40"/>
          <p:cNvSpPr/>
          <p:nvPr/>
        </p:nvSpPr>
        <p:spPr>
          <a:xfrm>
            <a:off x="6461607" y="3108960"/>
            <a:ext cx="2060371" cy="292608"/>
          </a:xfrm>
          <a:prstGeom prst="roundRect">
            <a:avLst>
              <a:gd name="adj" fmla="val 50000"/>
            </a:avLst>
          </a:prstGeom>
          <a:solidFill>
            <a:srgbClr val="6B4BA8">
              <a:alpha val="11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6B4BA8"/>
                </a:solidFill>
                <a:latin typeface="Calibri"/>
              </a:rPr>
              <a:t>het rooster</a:t>
            </a:r>
          </a:p>
        </p:txBody>
      </p:sp>
      <p:cxnSp>
        <p:nvCxnSpPr>
          <p:cNvPr id="42" name="Connector 41"/>
          <p:cNvCxnSpPr/>
          <p:nvPr/>
        </p:nvCxnSpPr>
        <p:spPr>
          <a:xfrm>
            <a:off x="6461607" y="3566160"/>
            <a:ext cx="2060372"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493611" y="3771900"/>
            <a:ext cx="82296" cy="82296"/>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17639" y="3712464"/>
            <a:ext cx="1804339" cy="20980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urenoverzicht per afdeling</a:t>
            </a:r>
          </a:p>
        </p:txBody>
      </p:sp>
      <p:sp>
        <p:nvSpPr>
          <p:cNvPr id="45" name="Oval 44"/>
          <p:cNvSpPr/>
          <p:nvPr/>
        </p:nvSpPr>
        <p:spPr>
          <a:xfrm>
            <a:off x="6493611" y="4180670"/>
            <a:ext cx="82296" cy="82296"/>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17639" y="4121234"/>
            <a:ext cx="1804339" cy="20980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opbouw in Ortec</a:t>
            </a:r>
          </a:p>
        </p:txBody>
      </p:sp>
      <p:sp>
        <p:nvSpPr>
          <p:cNvPr id="47" name="Oval 46"/>
          <p:cNvSpPr/>
          <p:nvPr/>
        </p:nvSpPr>
        <p:spPr>
          <a:xfrm>
            <a:off x="6493611" y="4589441"/>
            <a:ext cx="82296" cy="82296"/>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717639" y="4530005"/>
            <a:ext cx="1804339" cy="20980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planning door CPP</a:t>
            </a:r>
          </a:p>
        </p:txBody>
      </p:sp>
      <p:sp>
        <p:nvSpPr>
          <p:cNvPr id="49" name="Oval 48"/>
          <p:cNvSpPr/>
          <p:nvPr/>
        </p:nvSpPr>
        <p:spPr>
          <a:xfrm>
            <a:off x="6493611" y="4998211"/>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717639" y="4938775"/>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C87E12"/>
                </a:solidFill>
                <a:latin typeface="Calibri"/>
              </a:rPr>
              <a:t>verdere stappen nog niet uitgeschreven</a:t>
            </a:r>
          </a:p>
        </p:txBody>
      </p:sp>
      <p:sp>
        <p:nvSpPr>
          <p:cNvPr id="51" name="Right Arrow 50"/>
          <p:cNvSpPr/>
          <p:nvPr/>
        </p:nvSpPr>
        <p:spPr>
          <a:xfrm>
            <a:off x="8800871" y="2084832"/>
            <a:ext cx="173736" cy="173736"/>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9015755" y="1700784"/>
            <a:ext cx="2535859" cy="3785615"/>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9015755" y="1700784"/>
            <a:ext cx="2535859" cy="50292"/>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9207779" y="1947672"/>
            <a:ext cx="457200" cy="457200"/>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C87E12"/>
                </a:solidFill>
                <a:latin typeface="Calibri"/>
              </a:rPr>
              <a:t>04</a:t>
            </a:r>
          </a:p>
        </p:txBody>
      </p:sp>
      <p:sp>
        <p:nvSpPr>
          <p:cNvPr id="55" name="TextBox 54"/>
          <p:cNvSpPr txBox="1"/>
          <p:nvPr/>
        </p:nvSpPr>
        <p:spPr>
          <a:xfrm>
            <a:off x="9253499" y="2523744"/>
            <a:ext cx="2060371" cy="548640"/>
          </a:xfrm>
          <a:prstGeom prst="rect">
            <a:avLst/>
          </a:prstGeom>
          <a:noFill/>
        </p:spPr>
        <p:txBody>
          <a:bodyPr wrap="square" lIns="0" rIns="0" tIns="0" bIns="0" anchor="t">
            <a:spAutoFit/>
          </a:bodyPr>
          <a:lstStyle/>
          <a:p>
            <a:pPr algn="l">
              <a:lnSpc>
                <a:spcPct val="114000"/>
              </a:lnSpc>
              <a:spcAft>
                <a:spcPts val="0"/>
              </a:spcAft>
            </a:pPr>
            <a:r>
              <a:rPr sz="1550" b="1">
                <a:solidFill>
                  <a:srgbClr val="0D1B2A"/>
                </a:solidFill>
                <a:latin typeface="Calibri"/>
              </a:rPr>
              <a:t>Financiële begroting</a:t>
            </a:r>
          </a:p>
        </p:txBody>
      </p:sp>
      <p:sp>
        <p:nvSpPr>
          <p:cNvPr id="56" name="Rounded Rectangle 55"/>
          <p:cNvSpPr/>
          <p:nvPr/>
        </p:nvSpPr>
        <p:spPr>
          <a:xfrm>
            <a:off x="9253499" y="3108960"/>
            <a:ext cx="2060371"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fte-(mis)match</a:t>
            </a:r>
          </a:p>
        </p:txBody>
      </p:sp>
      <p:cxnSp>
        <p:nvCxnSpPr>
          <p:cNvPr id="57" name="Connector 56"/>
          <p:cNvCxnSpPr/>
          <p:nvPr/>
        </p:nvCxnSpPr>
        <p:spPr>
          <a:xfrm>
            <a:off x="9253499" y="3566160"/>
            <a:ext cx="2060372"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9285503" y="3771900"/>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509531" y="3712464"/>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bruto arbeidsduur volgens de cao</a:t>
            </a:r>
          </a:p>
        </p:txBody>
      </p:sp>
      <p:sp>
        <p:nvSpPr>
          <p:cNvPr id="60" name="Oval 59"/>
          <p:cNvSpPr/>
          <p:nvPr/>
        </p:nvSpPr>
        <p:spPr>
          <a:xfrm>
            <a:off x="9285503" y="4232317"/>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509531" y="4172881"/>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afwezigheid eraf: netto inzetbaarheid</a:t>
            </a:r>
          </a:p>
        </p:txBody>
      </p:sp>
      <p:sp>
        <p:nvSpPr>
          <p:cNvPr id="62" name="Oval 61"/>
          <p:cNvSpPr/>
          <p:nvPr/>
        </p:nvSpPr>
        <p:spPr>
          <a:xfrm>
            <a:off x="9285503" y="4692734"/>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509531" y="4633298"/>
            <a:ext cx="1804339" cy="20980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benodigde uren vanuit BIC</a:t>
            </a:r>
          </a:p>
        </p:txBody>
      </p:sp>
      <p:sp>
        <p:nvSpPr>
          <p:cNvPr id="64" name="Oval 63"/>
          <p:cNvSpPr/>
          <p:nvPr/>
        </p:nvSpPr>
        <p:spPr>
          <a:xfrm>
            <a:off x="9285503" y="4998212"/>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09531" y="4938776"/>
            <a:ext cx="1804339" cy="364743"/>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beschikbaar naast benodigd</a:t>
            </a:r>
          </a:p>
        </p:txBody>
      </p:sp>
      <p:sp>
        <p:nvSpPr>
          <p:cNvPr id="66" name="Rounded Rectangle 65"/>
          <p:cNvSpPr/>
          <p:nvPr/>
        </p:nvSpPr>
        <p:spPr>
          <a:xfrm>
            <a:off x="640080" y="5632704"/>
            <a:ext cx="10911535" cy="56692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unded Rectangle 66"/>
          <p:cNvSpPr/>
          <p:nvPr/>
        </p:nvSpPr>
        <p:spPr>
          <a:xfrm>
            <a:off x="640080" y="5632704"/>
            <a:ext cx="50292" cy="56692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9264" y="5715000"/>
            <a:ext cx="9997135" cy="402336"/>
          </a:xfrm>
          <a:prstGeom prst="rect">
            <a:avLst/>
          </a:prstGeom>
          <a:noFill/>
        </p:spPr>
        <p:txBody>
          <a:bodyPr wrap="square" lIns="0" rIns="0" tIns="0" bIns="0" anchor="ctr">
            <a:spAutoFit/>
          </a:bodyPr>
          <a:lstStyle/>
          <a:p>
            <a:pPr algn="l">
              <a:lnSpc>
                <a:spcPct val="120000"/>
              </a:lnSpc>
              <a:spcAft>
                <a:spcPts val="300"/>
              </a:spcAft>
            </a:pPr>
            <a:r>
              <a:rPr sz="700" b="1" spc="180">
                <a:solidFill>
                  <a:srgbClr val="C87E12"/>
                </a:solidFill>
                <a:latin typeface="Calibri"/>
              </a:rPr>
              <a:t>WAAR HET NU STOKT</a:t>
            </a:r>
          </a:p>
          <a:p>
            <a:pPr algn="l">
              <a:lnSpc>
                <a:spcPct val="120000"/>
              </a:lnSpc>
              <a:spcAft>
                <a:spcPts val="0"/>
              </a:spcAft>
            </a:pPr>
            <a:r>
              <a:rPr sz="850" b="1">
                <a:solidFill>
                  <a:srgbClr val="0D1B2A"/>
                </a:solidFill>
                <a:latin typeface="Calibri"/>
              </a:rPr>
              <a:t>Stap 02 kan niet af: de verpleegkundige norm ligt alleen op de ICU vast en de indirecte uren zijn niet vastgesteld. Zonder die twee staat ook stap 03 stil.</a:t>
            </a:r>
          </a:p>
        </p:txBody>
      </p:sp>
      <p:cxnSp>
        <p:nvCxnSpPr>
          <p:cNvPr id="69" name="Connector 68"/>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71" name="TextBox 70"/>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Formatieberekening</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Voorbeeld radiologie — van bruto arbeidsduur naar de fte-(mis)match</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1700784"/>
            <a:ext cx="2021372" cy="93268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04671" y="1828800"/>
            <a:ext cx="1692188" cy="310896"/>
          </a:xfrm>
          <a:prstGeom prst="rect">
            <a:avLst/>
          </a:prstGeom>
          <a:noFill/>
        </p:spPr>
        <p:txBody>
          <a:bodyPr wrap="square" lIns="0" rIns="0" tIns="0" bIns="0" anchor="t">
            <a:spAutoFit/>
          </a:bodyPr>
          <a:lstStyle/>
          <a:p>
            <a:pPr algn="ctr">
              <a:lnSpc>
                <a:spcPct val="120000"/>
              </a:lnSpc>
              <a:spcAft>
                <a:spcPts val="0"/>
              </a:spcAft>
            </a:pPr>
            <a:r>
              <a:rPr sz="1650" b="1">
                <a:solidFill>
                  <a:srgbClr val="0E9A87"/>
                </a:solidFill>
                <a:latin typeface="Calibri"/>
              </a:rPr>
              <a:t>Bruto</a:t>
            </a:r>
          </a:p>
        </p:txBody>
      </p:sp>
      <p:sp>
        <p:nvSpPr>
          <p:cNvPr id="9" name="TextBox 8"/>
          <p:cNvSpPr txBox="1"/>
          <p:nvPr/>
        </p:nvSpPr>
        <p:spPr>
          <a:xfrm>
            <a:off x="804671" y="2212848"/>
            <a:ext cx="1692188" cy="310896"/>
          </a:xfrm>
          <a:prstGeom prst="rect">
            <a:avLst/>
          </a:prstGeom>
          <a:noFill/>
        </p:spPr>
        <p:txBody>
          <a:bodyPr wrap="square" lIns="0" rIns="0" tIns="0" bIns="0" anchor="t">
            <a:spAutoFit/>
          </a:bodyPr>
          <a:lstStyle/>
          <a:p>
            <a:pPr algn="ctr">
              <a:lnSpc>
                <a:spcPct val="116000"/>
              </a:lnSpc>
              <a:spcAft>
                <a:spcPts val="0"/>
              </a:spcAft>
            </a:pPr>
            <a:r>
              <a:rPr sz="950" b="0">
                <a:solidFill>
                  <a:srgbClr val="55677C"/>
                </a:solidFill>
                <a:latin typeface="Calibri"/>
              </a:rPr>
              <a:t>vanuit HR en F&amp;C</a:t>
            </a:r>
          </a:p>
        </p:txBody>
      </p:sp>
      <p:sp>
        <p:nvSpPr>
          <p:cNvPr id="10" name="Right Arrow 9"/>
          <p:cNvSpPr/>
          <p:nvPr/>
        </p:nvSpPr>
        <p:spPr>
          <a:xfrm>
            <a:off x="2684312" y="2084832"/>
            <a:ext cx="155448" cy="155448"/>
          </a:xfrm>
          <a:prstGeom prst="rightArrow">
            <a:avLst/>
          </a:prstGeom>
          <a:solidFill>
            <a:srgbClr val="0E9A87">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62620" y="1700784"/>
            <a:ext cx="2021372" cy="932688"/>
          </a:xfrm>
          <a:prstGeom prst="roundRect">
            <a:avLst>
              <a:gd name="adj" fmla="val 3000"/>
            </a:avLst>
          </a:prstGeom>
          <a:solidFill>
            <a:srgbClr val="ECE8E0"/>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027212" y="1828800"/>
            <a:ext cx="1692188" cy="310896"/>
          </a:xfrm>
          <a:prstGeom prst="rect">
            <a:avLst/>
          </a:prstGeom>
          <a:noFill/>
        </p:spPr>
        <p:txBody>
          <a:bodyPr wrap="square" lIns="0" rIns="0" tIns="0" bIns="0" anchor="t">
            <a:spAutoFit/>
          </a:bodyPr>
          <a:lstStyle/>
          <a:p>
            <a:pPr algn="ctr">
              <a:lnSpc>
                <a:spcPct val="120000"/>
              </a:lnSpc>
              <a:spcAft>
                <a:spcPts val="0"/>
              </a:spcAft>
            </a:pPr>
            <a:r>
              <a:rPr sz="1650" b="1">
                <a:solidFill>
                  <a:srgbClr val="C87E12"/>
                </a:solidFill>
                <a:latin typeface="Calibri"/>
              </a:rPr>
              <a:t>Afwezigheid</a:t>
            </a:r>
          </a:p>
        </p:txBody>
      </p:sp>
      <p:sp>
        <p:nvSpPr>
          <p:cNvPr id="13" name="TextBox 12"/>
          <p:cNvSpPr txBox="1"/>
          <p:nvPr/>
        </p:nvSpPr>
        <p:spPr>
          <a:xfrm>
            <a:off x="3027212" y="2212848"/>
            <a:ext cx="1692188" cy="310896"/>
          </a:xfrm>
          <a:prstGeom prst="rect">
            <a:avLst/>
          </a:prstGeom>
          <a:noFill/>
        </p:spPr>
        <p:txBody>
          <a:bodyPr wrap="square" lIns="0" rIns="0" tIns="0" bIns="0" anchor="t">
            <a:spAutoFit/>
          </a:bodyPr>
          <a:lstStyle/>
          <a:p>
            <a:pPr algn="ctr">
              <a:lnSpc>
                <a:spcPct val="116000"/>
              </a:lnSpc>
              <a:spcAft>
                <a:spcPts val="0"/>
              </a:spcAft>
            </a:pPr>
            <a:r>
              <a:rPr sz="950" b="0">
                <a:solidFill>
                  <a:srgbClr val="55677C"/>
                </a:solidFill>
                <a:latin typeface="Calibri"/>
              </a:rPr>
              <a:t>vanuit HR en F&amp;C</a:t>
            </a:r>
          </a:p>
        </p:txBody>
      </p:sp>
      <p:sp>
        <p:nvSpPr>
          <p:cNvPr id="14" name="Right Arrow 13"/>
          <p:cNvSpPr/>
          <p:nvPr/>
        </p:nvSpPr>
        <p:spPr>
          <a:xfrm>
            <a:off x="4906853" y="2084832"/>
            <a:ext cx="155448" cy="155448"/>
          </a:xfrm>
          <a:prstGeom prst="rightArrow">
            <a:avLst/>
          </a:prstGeom>
          <a:solidFill>
            <a:srgbClr val="C87E1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85161" y="1700784"/>
            <a:ext cx="2021372" cy="93268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49753" y="1828800"/>
            <a:ext cx="1692188" cy="310896"/>
          </a:xfrm>
          <a:prstGeom prst="rect">
            <a:avLst/>
          </a:prstGeom>
          <a:noFill/>
        </p:spPr>
        <p:txBody>
          <a:bodyPr wrap="square" lIns="0" rIns="0" tIns="0" bIns="0" anchor="t">
            <a:spAutoFit/>
          </a:bodyPr>
          <a:lstStyle/>
          <a:p>
            <a:pPr algn="ctr">
              <a:lnSpc>
                <a:spcPct val="120000"/>
              </a:lnSpc>
              <a:spcAft>
                <a:spcPts val="0"/>
              </a:spcAft>
            </a:pPr>
            <a:r>
              <a:rPr sz="1650" b="1">
                <a:solidFill>
                  <a:srgbClr val="1F6FB2"/>
                </a:solidFill>
                <a:latin typeface="Calibri"/>
              </a:rPr>
              <a:t>Netto</a:t>
            </a:r>
          </a:p>
        </p:txBody>
      </p:sp>
      <p:sp>
        <p:nvSpPr>
          <p:cNvPr id="17" name="TextBox 16"/>
          <p:cNvSpPr txBox="1"/>
          <p:nvPr/>
        </p:nvSpPr>
        <p:spPr>
          <a:xfrm>
            <a:off x="5249753" y="2212848"/>
            <a:ext cx="1692188" cy="310896"/>
          </a:xfrm>
          <a:prstGeom prst="rect">
            <a:avLst/>
          </a:prstGeom>
          <a:noFill/>
        </p:spPr>
        <p:txBody>
          <a:bodyPr wrap="square" lIns="0" rIns="0" tIns="0" bIns="0" anchor="t">
            <a:spAutoFit/>
          </a:bodyPr>
          <a:lstStyle/>
          <a:p>
            <a:pPr algn="ctr">
              <a:lnSpc>
                <a:spcPct val="116000"/>
              </a:lnSpc>
              <a:spcAft>
                <a:spcPts val="0"/>
              </a:spcAft>
            </a:pPr>
            <a:r>
              <a:rPr sz="950" b="0">
                <a:solidFill>
                  <a:srgbClr val="55677C"/>
                </a:solidFill>
                <a:latin typeface="Calibri"/>
              </a:rPr>
              <a:t>bruto min afwezigheid</a:t>
            </a:r>
          </a:p>
        </p:txBody>
      </p:sp>
      <p:sp>
        <p:nvSpPr>
          <p:cNvPr id="18" name="Right Arrow 17"/>
          <p:cNvSpPr/>
          <p:nvPr/>
        </p:nvSpPr>
        <p:spPr>
          <a:xfrm>
            <a:off x="7129393" y="2084832"/>
            <a:ext cx="155448" cy="155448"/>
          </a:xfrm>
          <a:prstGeom prst="right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07701" y="1700784"/>
            <a:ext cx="2021372" cy="93268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72293" y="1828800"/>
            <a:ext cx="1692188" cy="310896"/>
          </a:xfrm>
          <a:prstGeom prst="rect">
            <a:avLst/>
          </a:prstGeom>
          <a:noFill/>
        </p:spPr>
        <p:txBody>
          <a:bodyPr wrap="square" lIns="0" rIns="0" tIns="0" bIns="0" anchor="t">
            <a:spAutoFit/>
          </a:bodyPr>
          <a:lstStyle/>
          <a:p>
            <a:pPr algn="ctr">
              <a:lnSpc>
                <a:spcPct val="120000"/>
              </a:lnSpc>
              <a:spcAft>
                <a:spcPts val="0"/>
              </a:spcAft>
            </a:pPr>
            <a:r>
              <a:rPr sz="1650" b="1">
                <a:solidFill>
                  <a:srgbClr val="6B4BA8"/>
                </a:solidFill>
                <a:latin typeface="Calibri"/>
              </a:rPr>
              <a:t>Benodigd</a:t>
            </a:r>
          </a:p>
        </p:txBody>
      </p:sp>
      <p:sp>
        <p:nvSpPr>
          <p:cNvPr id="21" name="TextBox 20"/>
          <p:cNvSpPr txBox="1"/>
          <p:nvPr/>
        </p:nvSpPr>
        <p:spPr>
          <a:xfrm>
            <a:off x="7472293" y="2212848"/>
            <a:ext cx="1692188" cy="310896"/>
          </a:xfrm>
          <a:prstGeom prst="rect">
            <a:avLst/>
          </a:prstGeom>
          <a:noFill/>
        </p:spPr>
        <p:txBody>
          <a:bodyPr wrap="square" lIns="0" rIns="0" tIns="0" bIns="0" anchor="t">
            <a:spAutoFit/>
          </a:bodyPr>
          <a:lstStyle/>
          <a:p>
            <a:pPr algn="ctr">
              <a:lnSpc>
                <a:spcPct val="116000"/>
              </a:lnSpc>
              <a:spcAft>
                <a:spcPts val="0"/>
              </a:spcAft>
            </a:pPr>
            <a:r>
              <a:rPr sz="950" b="0">
                <a:solidFill>
                  <a:srgbClr val="55677C"/>
                </a:solidFill>
                <a:latin typeface="Calibri"/>
              </a:rPr>
              <a:t>vanuit BIC</a:t>
            </a:r>
          </a:p>
        </p:txBody>
      </p:sp>
      <p:sp>
        <p:nvSpPr>
          <p:cNvPr id="22" name="Right Arrow 21"/>
          <p:cNvSpPr/>
          <p:nvPr/>
        </p:nvSpPr>
        <p:spPr>
          <a:xfrm>
            <a:off x="9351934" y="2084832"/>
            <a:ext cx="155448" cy="155448"/>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30242" y="1700784"/>
            <a:ext cx="2021372" cy="932688"/>
          </a:xfrm>
          <a:prstGeom prst="roundRect">
            <a:avLst>
              <a:gd name="adj" fmla="val 3000"/>
            </a:avLst>
          </a:prstGeom>
          <a:solidFill>
            <a:srgbClr val="ECDFE3"/>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94834" y="1828800"/>
            <a:ext cx="1692188" cy="310896"/>
          </a:xfrm>
          <a:prstGeom prst="rect">
            <a:avLst/>
          </a:prstGeom>
          <a:noFill/>
        </p:spPr>
        <p:txBody>
          <a:bodyPr wrap="square" lIns="0" rIns="0" tIns="0" bIns="0" anchor="t">
            <a:spAutoFit/>
          </a:bodyPr>
          <a:lstStyle/>
          <a:p>
            <a:pPr algn="ctr">
              <a:lnSpc>
                <a:spcPct val="120000"/>
              </a:lnSpc>
              <a:spcAft>
                <a:spcPts val="0"/>
              </a:spcAft>
            </a:pPr>
            <a:r>
              <a:rPr sz="1650" b="1">
                <a:solidFill>
                  <a:srgbClr val="C4392D"/>
                </a:solidFill>
                <a:latin typeface="Calibri"/>
              </a:rPr>
              <a:t>Resultaat</a:t>
            </a:r>
          </a:p>
        </p:txBody>
      </p:sp>
      <p:sp>
        <p:nvSpPr>
          <p:cNvPr id="25" name="TextBox 24"/>
          <p:cNvSpPr txBox="1"/>
          <p:nvPr/>
        </p:nvSpPr>
        <p:spPr>
          <a:xfrm>
            <a:off x="9694834" y="2212848"/>
            <a:ext cx="1692188" cy="310896"/>
          </a:xfrm>
          <a:prstGeom prst="rect">
            <a:avLst/>
          </a:prstGeom>
          <a:noFill/>
        </p:spPr>
        <p:txBody>
          <a:bodyPr wrap="square" lIns="0" rIns="0" tIns="0" bIns="0" anchor="t">
            <a:spAutoFit/>
          </a:bodyPr>
          <a:lstStyle/>
          <a:p>
            <a:pPr algn="ctr">
              <a:lnSpc>
                <a:spcPct val="116000"/>
              </a:lnSpc>
              <a:spcAft>
                <a:spcPts val="0"/>
              </a:spcAft>
            </a:pPr>
            <a:r>
              <a:rPr sz="950" b="0">
                <a:solidFill>
                  <a:srgbClr val="55677C"/>
                </a:solidFill>
                <a:latin typeface="Calibri"/>
              </a:rPr>
              <a:t>naar de begroting</a:t>
            </a:r>
          </a:p>
        </p:txBody>
      </p:sp>
      <p:sp>
        <p:nvSpPr>
          <p:cNvPr id="26" name="Rounded Rectangle 25"/>
          <p:cNvSpPr/>
          <p:nvPr/>
        </p:nvSpPr>
        <p:spPr>
          <a:xfrm>
            <a:off x="640080" y="2907792"/>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2907792"/>
            <a:ext cx="3454298"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14400" y="3127248"/>
            <a:ext cx="2905658" cy="694944"/>
          </a:xfrm>
          <a:prstGeom prst="rect">
            <a:avLst/>
          </a:prstGeom>
          <a:noFill/>
        </p:spPr>
        <p:txBody>
          <a:bodyPr wrap="square" lIns="0" rIns="0" tIns="0" bIns="0" anchor="t">
            <a:spAutoFit/>
          </a:bodyPr>
          <a:lstStyle/>
          <a:p>
            <a:pPr algn="l">
              <a:lnSpc>
                <a:spcPct val="120000"/>
              </a:lnSpc>
              <a:spcAft>
                <a:spcPts val="0"/>
              </a:spcAft>
            </a:pPr>
            <a:r>
              <a:rPr sz="4200" b="1">
                <a:solidFill>
                  <a:srgbClr val="0E9A87"/>
                </a:solidFill>
                <a:latin typeface="Calibri"/>
              </a:rPr>
              <a:t>1.878</a:t>
            </a:r>
          </a:p>
        </p:txBody>
      </p:sp>
      <p:sp>
        <p:nvSpPr>
          <p:cNvPr id="29" name="TextBox 28"/>
          <p:cNvSpPr txBox="1"/>
          <p:nvPr/>
        </p:nvSpPr>
        <p:spPr>
          <a:xfrm>
            <a:off x="914400" y="3822191"/>
            <a:ext cx="2905658" cy="237744"/>
          </a:xfrm>
          <a:prstGeom prst="rect">
            <a:avLst/>
          </a:prstGeom>
          <a:noFill/>
        </p:spPr>
        <p:txBody>
          <a:bodyPr wrap="square" lIns="0" rIns="0" tIns="0" bIns="0" anchor="t">
            <a:spAutoFit/>
          </a:bodyPr>
          <a:lstStyle/>
          <a:p>
            <a:pPr algn="l">
              <a:lnSpc>
                <a:spcPct val="120000"/>
              </a:lnSpc>
              <a:spcAft>
                <a:spcPts val="0"/>
              </a:spcAft>
            </a:pPr>
            <a:r>
              <a:rPr sz="950" b="1" spc="120">
                <a:solidFill>
                  <a:srgbClr val="8B9AAA"/>
                </a:solidFill>
                <a:latin typeface="Calibri"/>
              </a:rPr>
              <a:t>BRUTO UREN PER FTE</a:t>
            </a:r>
          </a:p>
        </p:txBody>
      </p:sp>
      <p:sp>
        <p:nvSpPr>
          <p:cNvPr id="30" name="TextBox 29"/>
          <p:cNvSpPr txBox="1"/>
          <p:nvPr/>
        </p:nvSpPr>
        <p:spPr>
          <a:xfrm>
            <a:off x="914400" y="4096512"/>
            <a:ext cx="2905658" cy="420624"/>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36,0 uur per week · 52,17 weken</a:t>
            </a:r>
          </a:p>
        </p:txBody>
      </p:sp>
      <p:sp>
        <p:nvSpPr>
          <p:cNvPr id="31" name="Rounded Rectangle 30"/>
          <p:cNvSpPr/>
          <p:nvPr/>
        </p:nvSpPr>
        <p:spPr>
          <a:xfrm>
            <a:off x="4368698" y="2907792"/>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368698" y="2907792"/>
            <a:ext cx="3454298" cy="50292"/>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43018" y="3127248"/>
            <a:ext cx="2905658" cy="694944"/>
          </a:xfrm>
          <a:prstGeom prst="rect">
            <a:avLst/>
          </a:prstGeom>
          <a:noFill/>
        </p:spPr>
        <p:txBody>
          <a:bodyPr wrap="square" lIns="0" rIns="0" tIns="0" bIns="0" anchor="t">
            <a:spAutoFit/>
          </a:bodyPr>
          <a:lstStyle/>
          <a:p>
            <a:pPr algn="l">
              <a:lnSpc>
                <a:spcPct val="120000"/>
              </a:lnSpc>
              <a:spcAft>
                <a:spcPts val="0"/>
              </a:spcAft>
            </a:pPr>
            <a:r>
              <a:rPr sz="4200" b="1">
                <a:solidFill>
                  <a:srgbClr val="C87E12"/>
                </a:solidFill>
                <a:latin typeface="Calibri"/>
              </a:rPr>
              <a:t>300</a:t>
            </a:r>
          </a:p>
        </p:txBody>
      </p:sp>
      <p:sp>
        <p:nvSpPr>
          <p:cNvPr id="34" name="TextBox 33"/>
          <p:cNvSpPr txBox="1"/>
          <p:nvPr/>
        </p:nvSpPr>
        <p:spPr>
          <a:xfrm>
            <a:off x="4643018" y="3822191"/>
            <a:ext cx="2905658" cy="237744"/>
          </a:xfrm>
          <a:prstGeom prst="rect">
            <a:avLst/>
          </a:prstGeom>
          <a:noFill/>
        </p:spPr>
        <p:txBody>
          <a:bodyPr wrap="square" lIns="0" rIns="0" tIns="0" bIns="0" anchor="t">
            <a:spAutoFit/>
          </a:bodyPr>
          <a:lstStyle/>
          <a:p>
            <a:pPr algn="l">
              <a:lnSpc>
                <a:spcPct val="120000"/>
              </a:lnSpc>
              <a:spcAft>
                <a:spcPts val="0"/>
              </a:spcAft>
            </a:pPr>
            <a:r>
              <a:rPr sz="950" b="1" spc="120">
                <a:solidFill>
                  <a:srgbClr val="8B9AAA"/>
                </a:solidFill>
                <a:latin typeface="Calibri"/>
              </a:rPr>
              <a:t>UREN AFWEZIGHEID  ·  15,9%</a:t>
            </a:r>
          </a:p>
        </p:txBody>
      </p:sp>
      <p:sp>
        <p:nvSpPr>
          <p:cNvPr id="35" name="TextBox 34"/>
          <p:cNvSpPr txBox="1"/>
          <p:nvPr/>
        </p:nvSpPr>
        <p:spPr>
          <a:xfrm>
            <a:off x="4643018" y="4096512"/>
            <a:ext cx="2905658" cy="420624"/>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vakantie 144,0 · ziek 75,1 · bijzonder 8,0 · PLB 22,0 · feestdagen 50,4</a:t>
            </a:r>
          </a:p>
        </p:txBody>
      </p:sp>
      <p:sp>
        <p:nvSpPr>
          <p:cNvPr id="36" name="Rounded Rectangle 35"/>
          <p:cNvSpPr/>
          <p:nvPr/>
        </p:nvSpPr>
        <p:spPr>
          <a:xfrm>
            <a:off x="8097316" y="2907792"/>
            <a:ext cx="3454298" cy="17007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097316" y="2907792"/>
            <a:ext cx="3454298"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371636" y="3127248"/>
            <a:ext cx="2905658" cy="694944"/>
          </a:xfrm>
          <a:prstGeom prst="rect">
            <a:avLst/>
          </a:prstGeom>
          <a:noFill/>
        </p:spPr>
        <p:txBody>
          <a:bodyPr wrap="square" lIns="0" rIns="0" tIns="0" bIns="0" anchor="t">
            <a:spAutoFit/>
          </a:bodyPr>
          <a:lstStyle/>
          <a:p>
            <a:pPr algn="l">
              <a:lnSpc>
                <a:spcPct val="120000"/>
              </a:lnSpc>
              <a:spcAft>
                <a:spcPts val="0"/>
              </a:spcAft>
            </a:pPr>
            <a:r>
              <a:rPr sz="4200" b="1">
                <a:solidFill>
                  <a:srgbClr val="1F6FB2"/>
                </a:solidFill>
                <a:latin typeface="Calibri"/>
              </a:rPr>
              <a:t>1.579</a:t>
            </a:r>
          </a:p>
        </p:txBody>
      </p:sp>
      <p:sp>
        <p:nvSpPr>
          <p:cNvPr id="39" name="TextBox 38"/>
          <p:cNvSpPr txBox="1"/>
          <p:nvPr/>
        </p:nvSpPr>
        <p:spPr>
          <a:xfrm>
            <a:off x="8371636" y="3822191"/>
            <a:ext cx="2905658" cy="237744"/>
          </a:xfrm>
          <a:prstGeom prst="rect">
            <a:avLst/>
          </a:prstGeom>
          <a:noFill/>
        </p:spPr>
        <p:txBody>
          <a:bodyPr wrap="square" lIns="0" rIns="0" tIns="0" bIns="0" anchor="t">
            <a:spAutoFit/>
          </a:bodyPr>
          <a:lstStyle/>
          <a:p>
            <a:pPr algn="l">
              <a:lnSpc>
                <a:spcPct val="120000"/>
              </a:lnSpc>
              <a:spcAft>
                <a:spcPts val="0"/>
              </a:spcAft>
            </a:pPr>
            <a:r>
              <a:rPr sz="950" b="1" spc="120">
                <a:solidFill>
                  <a:srgbClr val="8B9AAA"/>
                </a:solidFill>
                <a:latin typeface="Calibri"/>
              </a:rPr>
              <a:t>NETTO INZETBAAR  ·  84,1%</a:t>
            </a:r>
          </a:p>
        </p:txBody>
      </p:sp>
      <p:sp>
        <p:nvSpPr>
          <p:cNvPr id="40" name="TextBox 39"/>
          <p:cNvSpPr txBox="1"/>
          <p:nvPr/>
        </p:nvSpPr>
        <p:spPr>
          <a:xfrm>
            <a:off x="8371636" y="4096512"/>
            <a:ext cx="2905658" cy="420624"/>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30,3 uur per week</a:t>
            </a:r>
          </a:p>
        </p:txBody>
      </p:sp>
      <p:sp>
        <p:nvSpPr>
          <p:cNvPr id="41" name="Rounded Rectangle 40"/>
          <p:cNvSpPr/>
          <p:nvPr/>
        </p:nvSpPr>
        <p:spPr>
          <a:xfrm>
            <a:off x="640080" y="4773168"/>
            <a:ext cx="5291175" cy="10607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4400" y="4919472"/>
            <a:ext cx="4742535" cy="256032"/>
          </a:xfrm>
          <a:prstGeom prst="rect">
            <a:avLst/>
          </a:prstGeom>
          <a:noFill/>
        </p:spPr>
        <p:txBody>
          <a:bodyPr wrap="square" lIns="0" rIns="0" tIns="0" bIns="0" anchor="t">
            <a:spAutoFit/>
          </a:bodyPr>
          <a:lstStyle/>
          <a:p>
            <a:pPr algn="l">
              <a:lnSpc>
                <a:spcPct val="120000"/>
              </a:lnSpc>
              <a:spcAft>
                <a:spcPts val="0"/>
              </a:spcAft>
            </a:pPr>
            <a:r>
              <a:rPr sz="1250" b="1">
                <a:solidFill>
                  <a:srgbClr val="6B4BA8"/>
                </a:solidFill>
                <a:latin typeface="Calibri"/>
              </a:rPr>
              <a:t>Benodigde uren bestaan uit</a:t>
            </a:r>
          </a:p>
        </p:txBody>
      </p:sp>
      <p:sp>
        <p:nvSpPr>
          <p:cNvPr id="43" name="Oval 42"/>
          <p:cNvSpPr/>
          <p:nvPr/>
        </p:nvSpPr>
        <p:spPr>
          <a:xfrm>
            <a:off x="928116" y="5298948"/>
            <a:ext cx="82296" cy="82296"/>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52144" y="5230368"/>
            <a:ext cx="4504791" cy="219456"/>
          </a:xfrm>
          <a:prstGeom prst="rect">
            <a:avLst/>
          </a:prstGeom>
          <a:noFill/>
        </p:spPr>
        <p:txBody>
          <a:bodyPr wrap="square" lIns="0" rIns="0" tIns="0" bIns="0" anchor="t">
            <a:spAutoFit/>
          </a:bodyPr>
          <a:lstStyle/>
          <a:p>
            <a:pPr algn="l">
              <a:lnSpc>
                <a:spcPct val="114000"/>
              </a:lnSpc>
              <a:spcAft>
                <a:spcPts val="0"/>
              </a:spcAft>
            </a:pPr>
            <a:r>
              <a:rPr sz="950" b="0">
                <a:solidFill>
                  <a:srgbClr val="55677C"/>
                </a:solidFill>
                <a:latin typeface="Calibri"/>
              </a:rPr>
              <a:t>indirecte uren per afdeling</a:t>
            </a:r>
          </a:p>
        </p:txBody>
      </p:sp>
      <p:sp>
        <p:nvSpPr>
          <p:cNvPr id="45" name="Oval 44"/>
          <p:cNvSpPr/>
          <p:nvPr/>
        </p:nvSpPr>
        <p:spPr>
          <a:xfrm>
            <a:off x="928116" y="5490972"/>
            <a:ext cx="82296" cy="82296"/>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52144" y="5422392"/>
            <a:ext cx="4504791" cy="219456"/>
          </a:xfrm>
          <a:prstGeom prst="rect">
            <a:avLst/>
          </a:prstGeom>
          <a:noFill/>
        </p:spPr>
        <p:txBody>
          <a:bodyPr wrap="square" lIns="0" rIns="0" tIns="0" bIns="0" anchor="t">
            <a:spAutoFit/>
          </a:bodyPr>
          <a:lstStyle/>
          <a:p>
            <a:pPr algn="l">
              <a:lnSpc>
                <a:spcPct val="114000"/>
              </a:lnSpc>
              <a:spcAft>
                <a:spcPts val="0"/>
              </a:spcAft>
            </a:pPr>
            <a:r>
              <a:rPr sz="950" b="0">
                <a:solidFill>
                  <a:srgbClr val="55677C"/>
                </a:solidFill>
                <a:latin typeface="Calibri"/>
              </a:rPr>
              <a:t>directe uren o.b.v. roostersleutel of sessierooster</a:t>
            </a:r>
          </a:p>
        </p:txBody>
      </p:sp>
      <p:sp>
        <p:nvSpPr>
          <p:cNvPr id="47" name="Oval 46"/>
          <p:cNvSpPr/>
          <p:nvPr/>
        </p:nvSpPr>
        <p:spPr>
          <a:xfrm>
            <a:off x="928116" y="5682996"/>
            <a:ext cx="82296" cy="82296"/>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52144" y="5614416"/>
            <a:ext cx="4504791" cy="219456"/>
          </a:xfrm>
          <a:prstGeom prst="rect">
            <a:avLst/>
          </a:prstGeom>
          <a:noFill/>
        </p:spPr>
        <p:txBody>
          <a:bodyPr wrap="square" lIns="0" rIns="0" tIns="0" bIns="0" anchor="t">
            <a:spAutoFit/>
          </a:bodyPr>
          <a:lstStyle/>
          <a:p>
            <a:pPr algn="l">
              <a:lnSpc>
                <a:spcPct val="114000"/>
              </a:lnSpc>
              <a:spcAft>
                <a:spcPts val="0"/>
              </a:spcAft>
            </a:pPr>
            <a:r>
              <a:rPr sz="950" b="0">
                <a:solidFill>
                  <a:srgbClr val="55677C"/>
                </a:solidFill>
                <a:latin typeface="Calibri"/>
              </a:rPr>
              <a:t>spoedmodaliteiten en bereikbaarheidsdiensten</a:t>
            </a:r>
          </a:p>
        </p:txBody>
      </p:sp>
      <p:sp>
        <p:nvSpPr>
          <p:cNvPr id="49" name="Rounded Rectangle 48"/>
          <p:cNvSpPr/>
          <p:nvPr/>
        </p:nvSpPr>
        <p:spPr>
          <a:xfrm>
            <a:off x="6260439" y="4773168"/>
            <a:ext cx="5291175" cy="10607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534759" y="4919472"/>
            <a:ext cx="4742535" cy="256032"/>
          </a:xfrm>
          <a:prstGeom prst="rect">
            <a:avLst/>
          </a:prstGeom>
          <a:noFill/>
        </p:spPr>
        <p:txBody>
          <a:bodyPr wrap="square" lIns="0" rIns="0" tIns="0" bIns="0" anchor="t">
            <a:spAutoFit/>
          </a:bodyPr>
          <a:lstStyle/>
          <a:p>
            <a:pPr algn="l">
              <a:lnSpc>
                <a:spcPct val="120000"/>
              </a:lnSpc>
              <a:spcAft>
                <a:spcPts val="0"/>
              </a:spcAft>
            </a:pPr>
            <a:r>
              <a:rPr sz="1250" b="1">
                <a:solidFill>
                  <a:srgbClr val="C87E12"/>
                </a:solidFill>
                <a:latin typeface="Calibri"/>
              </a:rPr>
              <a:t>Overige afwijkingen komen er bovenop</a:t>
            </a:r>
          </a:p>
        </p:txBody>
      </p:sp>
      <p:sp>
        <p:nvSpPr>
          <p:cNvPr id="51" name="Oval 50"/>
          <p:cNvSpPr/>
          <p:nvPr/>
        </p:nvSpPr>
        <p:spPr>
          <a:xfrm>
            <a:off x="6548475" y="5298948"/>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772503" y="5230368"/>
            <a:ext cx="4504791" cy="219456"/>
          </a:xfrm>
          <a:prstGeom prst="rect">
            <a:avLst/>
          </a:prstGeom>
          <a:noFill/>
        </p:spPr>
        <p:txBody>
          <a:bodyPr wrap="square" lIns="0" rIns="0" tIns="0" bIns="0" anchor="t">
            <a:spAutoFit/>
          </a:bodyPr>
          <a:lstStyle/>
          <a:p>
            <a:pPr algn="l">
              <a:lnSpc>
                <a:spcPct val="114000"/>
              </a:lnSpc>
              <a:spcAft>
                <a:spcPts val="0"/>
              </a:spcAft>
            </a:pPr>
            <a:r>
              <a:rPr sz="950" b="0">
                <a:solidFill>
                  <a:srgbClr val="55677C"/>
                </a:solidFill>
                <a:latin typeface="Calibri"/>
              </a:rPr>
              <a:t>zwangerschapsverlof</a:t>
            </a:r>
          </a:p>
        </p:txBody>
      </p:sp>
      <p:sp>
        <p:nvSpPr>
          <p:cNvPr id="53" name="Oval 52"/>
          <p:cNvSpPr/>
          <p:nvPr/>
        </p:nvSpPr>
        <p:spPr>
          <a:xfrm>
            <a:off x="6548475" y="5490972"/>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72503" y="5422392"/>
            <a:ext cx="4504791" cy="219456"/>
          </a:xfrm>
          <a:prstGeom prst="rect">
            <a:avLst/>
          </a:prstGeom>
          <a:noFill/>
        </p:spPr>
        <p:txBody>
          <a:bodyPr wrap="square" lIns="0" rIns="0" tIns="0" bIns="0" anchor="t">
            <a:spAutoFit/>
          </a:bodyPr>
          <a:lstStyle/>
          <a:p>
            <a:pPr algn="l">
              <a:lnSpc>
                <a:spcPct val="114000"/>
              </a:lnSpc>
              <a:spcAft>
                <a:spcPts val="0"/>
              </a:spcAft>
            </a:pPr>
            <a:r>
              <a:rPr sz="950" b="0">
                <a:solidFill>
                  <a:srgbClr val="55677C"/>
                </a:solidFill>
                <a:latin typeface="Calibri"/>
              </a:rPr>
              <a:t>ouderschapsverlof</a:t>
            </a:r>
          </a:p>
        </p:txBody>
      </p:sp>
      <p:sp>
        <p:nvSpPr>
          <p:cNvPr id="55" name="Oval 54"/>
          <p:cNvSpPr/>
          <p:nvPr/>
        </p:nvSpPr>
        <p:spPr>
          <a:xfrm>
            <a:off x="6548475" y="5682996"/>
            <a:ext cx="82296" cy="82296"/>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72503" y="5614416"/>
            <a:ext cx="4504791" cy="219456"/>
          </a:xfrm>
          <a:prstGeom prst="rect">
            <a:avLst/>
          </a:prstGeom>
          <a:noFill/>
        </p:spPr>
        <p:txBody>
          <a:bodyPr wrap="square" lIns="0" rIns="0" tIns="0" bIns="0" anchor="t">
            <a:spAutoFit/>
          </a:bodyPr>
          <a:lstStyle/>
          <a:p>
            <a:pPr algn="l">
              <a:lnSpc>
                <a:spcPct val="114000"/>
              </a:lnSpc>
              <a:spcAft>
                <a:spcPts val="0"/>
              </a:spcAft>
            </a:pPr>
            <a:r>
              <a:rPr sz="950" b="0">
                <a:solidFill>
                  <a:srgbClr val="55677C"/>
                </a:solidFill>
                <a:latin typeface="Calibri"/>
              </a:rPr>
              <a:t>ziekteverzuim boven de 4 procent</a:t>
            </a:r>
          </a:p>
        </p:txBody>
      </p:sp>
      <p:cxnSp>
        <p:nvCxnSpPr>
          <p:cNvPr id="57" name="Connector 5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59" name="TextBox 5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234</TotalTime>
  <Words>3476</Words>
  <Application>Microsoft Office PowerPoint</Application>
  <PresentationFormat>Breedbeeld</PresentationFormat>
  <Paragraphs>674</Paragraphs>
  <Slides>27</Slides>
  <Notes>7</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27</vt:i4>
      </vt:variant>
    </vt:vector>
  </HeadingPairs>
  <TitlesOfParts>
    <vt:vector size="31" baseType="lpstr">
      <vt:lpstr>Aptos</vt:lpstr>
      <vt:lpstr>Arial</vt:lpstr>
      <vt:lpstr>Calibri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Vnoutchkov, Maxim</cp:lastModifiedBy>
  <cp:revision>4</cp:revision>
  <dcterms:created xsi:type="dcterms:W3CDTF">2013-01-27T09:14:16Z</dcterms:created>
  <dcterms:modified xsi:type="dcterms:W3CDTF">2026-08-03T08:50:47Z</dcterms:modified>
  <cp:category/>
</cp:coreProperties>
</file>