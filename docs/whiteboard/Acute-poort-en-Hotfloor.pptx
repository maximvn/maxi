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FFFFFF"/>
              </a:gs>
              <a:gs pos="100000">
                <a:srgbClr val="F1F6FC"/>
              </a:gs>
            </a:gsLst>
            <a:lin scaled="0" ang="189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6812279" y="548640"/>
            <a:ext cx="5303520" cy="5303520"/>
          </a:xfrm>
          <a:prstGeom prst="ellipse">
            <a:avLst/>
          </a:prstGeom>
          <a:noFill/>
          <a:ln w="12700">
            <a:solidFill>
              <a:srgbClr val="0E9A87">
                <a:alpha val="1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7498079" y="1234440"/>
            <a:ext cx="3931920" cy="3931920"/>
          </a:xfrm>
          <a:prstGeom prst="ellipse">
            <a:avLst/>
          </a:prstGeom>
          <a:noFill/>
          <a:ln w="12700">
            <a:solidFill>
              <a:srgbClr val="0E9A87">
                <a:alpha val="16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8183879" y="1920240"/>
            <a:ext cx="2560320" cy="2560320"/>
          </a:xfrm>
          <a:prstGeom prst="ellipse">
            <a:avLst/>
          </a:prstGeom>
          <a:noFill/>
          <a:ln w="12700">
            <a:solidFill>
              <a:srgbClr val="0E9A87">
                <a:alpha val="24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40080" y="1481328"/>
            <a:ext cx="7315200" cy="219456"/>
          </a:xfrm>
          <a:prstGeom prst="rect">
            <a:avLst/>
          </a:prstGeom>
          <a:noFill/>
        </p:spPr>
        <p:txBody>
          <a:bodyPr wrap="square" lIns="0" rIns="0" tIns="0" bIns="0" anchor="t">
            <a:spAutoFit/>
          </a:bodyPr>
          <a:lstStyle/>
          <a:p>
            <a:pPr algn="l">
              <a:lnSpc>
                <a:spcPct val="120000"/>
              </a:lnSpc>
              <a:spcAft>
                <a:spcPts val="0"/>
              </a:spcAft>
            </a:pPr>
            <a:r>
              <a:rPr sz="1100" b="1" spc="220">
                <a:solidFill>
                  <a:srgbClr val="0E9A87"/>
                </a:solidFill>
                <a:latin typeface="Calibri"/>
              </a:rPr>
              <a:t>INTEGRAAL CAPACITEITSMANAGEMENT</a:t>
            </a:r>
          </a:p>
        </p:txBody>
      </p:sp>
      <p:sp>
        <p:nvSpPr>
          <p:cNvPr id="7" name="TextBox 6"/>
          <p:cNvSpPr txBox="1"/>
          <p:nvPr/>
        </p:nvSpPr>
        <p:spPr>
          <a:xfrm>
            <a:off x="640080" y="1810512"/>
            <a:ext cx="7863840" cy="1828800"/>
          </a:xfrm>
          <a:prstGeom prst="rect">
            <a:avLst/>
          </a:prstGeom>
          <a:noFill/>
        </p:spPr>
        <p:txBody>
          <a:bodyPr wrap="square" lIns="0" rIns="0" tIns="0" bIns="0" anchor="t">
            <a:spAutoFit/>
          </a:bodyPr>
          <a:lstStyle/>
          <a:p>
            <a:pPr algn="l">
              <a:lnSpc>
                <a:spcPct val="100000"/>
              </a:lnSpc>
              <a:spcAft>
                <a:spcPts val="0"/>
              </a:spcAft>
            </a:pPr>
            <a:r>
              <a:rPr sz="6200" b="1">
                <a:solidFill>
                  <a:srgbClr val="0D1B2A"/>
                </a:solidFill>
                <a:latin typeface="Calibri"/>
              </a:rPr>
              <a:t>Acute poort</a:t>
            </a:r>
          </a:p>
          <a:p>
            <a:pPr algn="l">
              <a:lnSpc>
                <a:spcPct val="100000"/>
              </a:lnSpc>
              <a:spcAft>
                <a:spcPts val="0"/>
              </a:spcAft>
            </a:pPr>
            <a:r>
              <a:rPr sz="6200" b="1">
                <a:solidFill>
                  <a:srgbClr val="0E9A87"/>
                </a:solidFill>
                <a:latin typeface="Calibri"/>
              </a:rPr>
              <a:t>en Hotfloor</a:t>
            </a:r>
          </a:p>
        </p:txBody>
      </p:sp>
      <p:cxnSp>
        <p:nvCxnSpPr>
          <p:cNvPr id="8" name="Connector 7"/>
          <p:cNvCxnSpPr/>
          <p:nvPr/>
        </p:nvCxnSpPr>
        <p:spPr>
          <a:xfrm>
            <a:off x="640080" y="3803904"/>
            <a:ext cx="3108959" cy="0"/>
          </a:xfrm>
          <a:prstGeom prst="line">
            <a:avLst/>
          </a:prstGeom>
          <a:ln w="25400">
            <a:solidFill>
              <a:srgbClr val="0E9A87"/>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640080" y="3986784"/>
            <a:ext cx="6766560" cy="548640"/>
          </a:xfrm>
          <a:prstGeom prst="rect">
            <a:avLst/>
          </a:prstGeom>
          <a:noFill/>
        </p:spPr>
        <p:txBody>
          <a:bodyPr wrap="square" lIns="0" rIns="0" tIns="0" bIns="0" anchor="t">
            <a:spAutoFit/>
          </a:bodyPr>
          <a:lstStyle/>
          <a:p>
            <a:pPr algn="l">
              <a:lnSpc>
                <a:spcPct val="120000"/>
              </a:lnSpc>
              <a:spcAft>
                <a:spcPts val="0"/>
              </a:spcAft>
            </a:pPr>
            <a:r>
              <a:rPr sz="1600" b="0">
                <a:solidFill>
                  <a:srgbClr val="55677C"/>
                </a:solidFill>
                <a:latin typeface="Calibri"/>
              </a:rPr>
              <a:t>Van de huidige situatie naar de nieuwbouw, juni 2027</a:t>
            </a:r>
          </a:p>
        </p:txBody>
      </p:sp>
      <p:sp>
        <p:nvSpPr>
          <p:cNvPr id="10" name="TextBox 9"/>
          <p:cNvSpPr txBox="1"/>
          <p:nvPr/>
        </p:nvSpPr>
        <p:spPr>
          <a:xfrm>
            <a:off x="640080" y="4791456"/>
            <a:ext cx="2834640" cy="658368"/>
          </a:xfrm>
          <a:prstGeom prst="rect">
            <a:avLst/>
          </a:prstGeom>
          <a:noFill/>
        </p:spPr>
        <p:txBody>
          <a:bodyPr wrap="square" lIns="0" rIns="0" tIns="0" bIns="0" anchor="t">
            <a:spAutoFit/>
          </a:bodyPr>
          <a:lstStyle/>
          <a:p>
            <a:pPr algn="l">
              <a:lnSpc>
                <a:spcPct val="120000"/>
              </a:lnSpc>
              <a:spcAft>
                <a:spcPts val="0"/>
              </a:spcAft>
            </a:pPr>
            <a:r>
              <a:rPr sz="4000" b="1">
                <a:solidFill>
                  <a:srgbClr val="0E9A87"/>
                </a:solidFill>
                <a:latin typeface="Calibri"/>
              </a:rPr>
              <a:t>36</a:t>
            </a:r>
          </a:p>
        </p:txBody>
      </p:sp>
      <p:sp>
        <p:nvSpPr>
          <p:cNvPr id="11" name="TextBox 10"/>
          <p:cNvSpPr txBox="1"/>
          <p:nvPr/>
        </p:nvSpPr>
        <p:spPr>
          <a:xfrm>
            <a:off x="640080" y="5413248"/>
            <a:ext cx="2834640" cy="237744"/>
          </a:xfrm>
          <a:prstGeom prst="rect">
            <a:avLst/>
          </a:prstGeom>
          <a:noFill/>
        </p:spPr>
        <p:txBody>
          <a:bodyPr wrap="square" lIns="0" rIns="0" tIns="0" bIns="0" anchor="t">
            <a:spAutoFit/>
          </a:bodyPr>
          <a:lstStyle/>
          <a:p>
            <a:pPr algn="l">
              <a:lnSpc>
                <a:spcPct val="120000"/>
              </a:lnSpc>
              <a:spcAft>
                <a:spcPts val="0"/>
              </a:spcAft>
            </a:pPr>
            <a:r>
              <a:rPr sz="950" b="1" spc="140">
                <a:solidFill>
                  <a:srgbClr val="55677C"/>
                </a:solidFill>
                <a:latin typeface="Calibri"/>
              </a:rPr>
              <a:t>OPENSTAANDE VRAGEN</a:t>
            </a:r>
          </a:p>
        </p:txBody>
      </p:sp>
      <p:sp>
        <p:nvSpPr>
          <p:cNvPr id="12" name="TextBox 11"/>
          <p:cNvSpPr txBox="1"/>
          <p:nvPr/>
        </p:nvSpPr>
        <p:spPr>
          <a:xfrm>
            <a:off x="3703320" y="4791456"/>
            <a:ext cx="2834640" cy="658368"/>
          </a:xfrm>
          <a:prstGeom prst="rect">
            <a:avLst/>
          </a:prstGeom>
          <a:noFill/>
        </p:spPr>
        <p:txBody>
          <a:bodyPr wrap="square" lIns="0" rIns="0" tIns="0" bIns="0" anchor="t">
            <a:spAutoFit/>
          </a:bodyPr>
          <a:lstStyle/>
          <a:p>
            <a:pPr algn="l">
              <a:lnSpc>
                <a:spcPct val="120000"/>
              </a:lnSpc>
              <a:spcAft>
                <a:spcPts val="0"/>
              </a:spcAft>
            </a:pPr>
            <a:r>
              <a:rPr sz="4000" b="1">
                <a:solidFill>
                  <a:srgbClr val="C4392D"/>
                </a:solidFill>
                <a:latin typeface="Calibri"/>
              </a:rPr>
              <a:t>6</a:t>
            </a:r>
          </a:p>
        </p:txBody>
      </p:sp>
      <p:sp>
        <p:nvSpPr>
          <p:cNvPr id="13" name="TextBox 12"/>
          <p:cNvSpPr txBox="1"/>
          <p:nvPr/>
        </p:nvSpPr>
        <p:spPr>
          <a:xfrm>
            <a:off x="3703320" y="5413248"/>
            <a:ext cx="2834640" cy="237744"/>
          </a:xfrm>
          <a:prstGeom prst="rect">
            <a:avLst/>
          </a:prstGeom>
          <a:noFill/>
        </p:spPr>
        <p:txBody>
          <a:bodyPr wrap="square" lIns="0" rIns="0" tIns="0" bIns="0" anchor="t">
            <a:spAutoFit/>
          </a:bodyPr>
          <a:lstStyle/>
          <a:p>
            <a:pPr algn="l">
              <a:lnSpc>
                <a:spcPct val="120000"/>
              </a:lnSpc>
              <a:spcAft>
                <a:spcPts val="0"/>
              </a:spcAft>
            </a:pPr>
            <a:r>
              <a:rPr sz="950" b="1" spc="140">
                <a:solidFill>
                  <a:srgbClr val="55677C"/>
                </a:solidFill>
                <a:latin typeface="Calibri"/>
              </a:rPr>
              <a:t>BESLUITEN DIE KLEMMEN</a:t>
            </a:r>
          </a:p>
        </p:txBody>
      </p:sp>
      <p:sp>
        <p:nvSpPr>
          <p:cNvPr id="14" name="TextBox 13"/>
          <p:cNvSpPr txBox="1"/>
          <p:nvPr/>
        </p:nvSpPr>
        <p:spPr>
          <a:xfrm>
            <a:off x="6766560" y="4791456"/>
            <a:ext cx="2834640" cy="658368"/>
          </a:xfrm>
          <a:prstGeom prst="rect">
            <a:avLst/>
          </a:prstGeom>
          <a:noFill/>
        </p:spPr>
        <p:txBody>
          <a:bodyPr wrap="square" lIns="0" rIns="0" tIns="0" bIns="0" anchor="t">
            <a:spAutoFit/>
          </a:bodyPr>
          <a:lstStyle/>
          <a:p>
            <a:pPr algn="l">
              <a:lnSpc>
                <a:spcPct val="120000"/>
              </a:lnSpc>
              <a:spcAft>
                <a:spcPts val="0"/>
              </a:spcAft>
            </a:pPr>
            <a:r>
              <a:rPr sz="4000" b="1">
                <a:solidFill>
                  <a:srgbClr val="C87E12"/>
                </a:solidFill>
                <a:latin typeface="Calibri"/>
              </a:rPr>
              <a:t>2</a:t>
            </a:r>
          </a:p>
        </p:txBody>
      </p:sp>
      <p:sp>
        <p:nvSpPr>
          <p:cNvPr id="15" name="TextBox 14"/>
          <p:cNvSpPr txBox="1"/>
          <p:nvPr/>
        </p:nvSpPr>
        <p:spPr>
          <a:xfrm>
            <a:off x="6766560" y="5413248"/>
            <a:ext cx="2834640" cy="237744"/>
          </a:xfrm>
          <a:prstGeom prst="rect">
            <a:avLst/>
          </a:prstGeom>
          <a:noFill/>
        </p:spPr>
        <p:txBody>
          <a:bodyPr wrap="square" lIns="0" rIns="0" tIns="0" bIns="0" anchor="t">
            <a:spAutoFit/>
          </a:bodyPr>
          <a:lstStyle/>
          <a:p>
            <a:pPr algn="l">
              <a:lnSpc>
                <a:spcPct val="120000"/>
              </a:lnSpc>
              <a:spcAft>
                <a:spcPts val="0"/>
              </a:spcAft>
            </a:pPr>
            <a:r>
              <a:rPr sz="950" b="1" spc="140">
                <a:solidFill>
                  <a:srgbClr val="55677C"/>
                </a:solidFill>
                <a:latin typeface="Calibri"/>
              </a:rPr>
              <a:t>GROTE WIJZIGINGEN</a:t>
            </a:r>
          </a:p>
        </p:txBody>
      </p:sp>
      <p:sp>
        <p:nvSpPr>
          <p:cNvPr id="16" name="Freeform 15"/>
          <p:cNvSpPr/>
          <p:nvPr/>
        </p:nvSpPr>
        <p:spPr>
          <a:xfrm>
            <a:off x="0" y="5943600"/>
            <a:ext cx="12191695" cy="595274"/>
          </a:xfrm>
          <a:custGeom>
            <a:avLst/>
            <a:gdLst/>
            <a:ahLst/>
            <a:cxnLst/>
            <a:rect l="l" t="t" r="r" b="b"/>
            <a:pathLst>
              <a:path w="12191695" h="595274">
                <a:moveTo>
                  <a:pt x="0" y="384048"/>
                </a:moveTo>
                <a:lnTo>
                  <a:pt x="914377" y="384048"/>
                </a:lnTo>
                <a:lnTo>
                  <a:pt x="1097252" y="322600"/>
                </a:lnTo>
                <a:lnTo>
                  <a:pt x="1280127" y="422452"/>
                </a:lnTo>
                <a:lnTo>
                  <a:pt x="1523961" y="0"/>
                </a:lnTo>
                <a:lnTo>
                  <a:pt x="1767795" y="595274"/>
                </a:lnTo>
                <a:lnTo>
                  <a:pt x="2011629" y="384048"/>
                </a:lnTo>
                <a:lnTo>
                  <a:pt x="3047923" y="384048"/>
                </a:lnTo>
                <a:lnTo>
                  <a:pt x="3047923" y="384048"/>
                </a:lnTo>
                <a:lnTo>
                  <a:pt x="3962300" y="384048"/>
                </a:lnTo>
                <a:lnTo>
                  <a:pt x="4145176" y="322600"/>
                </a:lnTo>
                <a:lnTo>
                  <a:pt x="4328051" y="422452"/>
                </a:lnTo>
                <a:lnTo>
                  <a:pt x="4571885" y="0"/>
                </a:lnTo>
                <a:lnTo>
                  <a:pt x="4815719" y="595274"/>
                </a:lnTo>
                <a:lnTo>
                  <a:pt x="5059553" y="384048"/>
                </a:lnTo>
                <a:lnTo>
                  <a:pt x="6095847" y="384048"/>
                </a:lnTo>
                <a:lnTo>
                  <a:pt x="6095847" y="384048"/>
                </a:lnTo>
                <a:lnTo>
                  <a:pt x="7010224" y="384048"/>
                </a:lnTo>
                <a:lnTo>
                  <a:pt x="7193100" y="322600"/>
                </a:lnTo>
                <a:lnTo>
                  <a:pt x="7375975" y="422452"/>
                </a:lnTo>
                <a:lnTo>
                  <a:pt x="7619809" y="0"/>
                </a:lnTo>
                <a:lnTo>
                  <a:pt x="7863643" y="595274"/>
                </a:lnTo>
                <a:lnTo>
                  <a:pt x="8107477" y="384048"/>
                </a:lnTo>
                <a:lnTo>
                  <a:pt x="9143771" y="384048"/>
                </a:lnTo>
                <a:lnTo>
                  <a:pt x="9143771" y="384048"/>
                </a:lnTo>
                <a:lnTo>
                  <a:pt x="10058148" y="384048"/>
                </a:lnTo>
                <a:lnTo>
                  <a:pt x="10241023" y="322600"/>
                </a:lnTo>
                <a:lnTo>
                  <a:pt x="10423899" y="422452"/>
                </a:lnTo>
                <a:lnTo>
                  <a:pt x="10667733" y="0"/>
                </a:lnTo>
                <a:lnTo>
                  <a:pt x="10911567" y="595274"/>
                </a:lnTo>
                <a:lnTo>
                  <a:pt x="11155401" y="384048"/>
                </a:lnTo>
                <a:lnTo>
                  <a:pt x="12191695" y="384048"/>
                </a:lnTo>
              </a:path>
            </a:pathLst>
          </a:custGeom>
          <a:noFill/>
          <a:ln w="19050">
            <a:solidFill>
              <a:srgbClr val="0E9A87">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FFFFFF"/>
              </a:gs>
              <a:gs pos="100000">
                <a:srgbClr val="F1F6FC"/>
              </a:gs>
            </a:gsLst>
            <a:lin scaled="0" ang="189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6309360" y="457200"/>
            <a:ext cx="5486400" cy="3108960"/>
          </a:xfrm>
          <a:prstGeom prst="rect">
            <a:avLst/>
          </a:prstGeom>
          <a:noFill/>
        </p:spPr>
        <p:txBody>
          <a:bodyPr wrap="square" lIns="0" rIns="0" tIns="0" bIns="0" anchor="t">
            <a:spAutoFit/>
          </a:bodyPr>
          <a:lstStyle/>
          <a:p>
            <a:pPr algn="r">
              <a:lnSpc>
                <a:spcPct val="100000"/>
              </a:lnSpc>
              <a:spcAft>
                <a:spcPts val="0"/>
              </a:spcAft>
            </a:pPr>
            <a:r>
              <a:rPr sz="21000" b="1">
                <a:solidFill>
                  <a:srgbClr val="0E9A87">
                    <a:alpha val="9000"/>
                  </a:srgbClr>
                </a:solidFill>
                <a:latin typeface="Calibri"/>
              </a:rPr>
              <a:t>01</a:t>
            </a:r>
          </a:p>
        </p:txBody>
      </p:sp>
      <p:sp>
        <p:nvSpPr>
          <p:cNvPr id="4" name="TextBox 3"/>
          <p:cNvSpPr txBox="1"/>
          <p:nvPr/>
        </p:nvSpPr>
        <p:spPr>
          <a:xfrm>
            <a:off x="640080" y="2286000"/>
            <a:ext cx="5486400" cy="219456"/>
          </a:xfrm>
          <a:prstGeom prst="rect">
            <a:avLst/>
          </a:prstGeom>
          <a:noFill/>
        </p:spPr>
        <p:txBody>
          <a:bodyPr wrap="square" lIns="0" rIns="0" tIns="0" bIns="0" anchor="t">
            <a:spAutoFit/>
          </a:bodyPr>
          <a:lstStyle/>
          <a:p>
            <a:pPr algn="l">
              <a:lnSpc>
                <a:spcPct val="120000"/>
              </a:lnSpc>
              <a:spcAft>
                <a:spcPts val="0"/>
              </a:spcAft>
            </a:pPr>
            <a:r>
              <a:rPr sz="1100" b="1" spc="220">
                <a:solidFill>
                  <a:srgbClr val="0E9A87"/>
                </a:solidFill>
                <a:latin typeface="Calibri"/>
              </a:rPr>
              <a:t>DEEL 01</a:t>
            </a:r>
          </a:p>
        </p:txBody>
      </p:sp>
      <p:sp>
        <p:nvSpPr>
          <p:cNvPr id="5" name="TextBox 4"/>
          <p:cNvSpPr txBox="1"/>
          <p:nvPr/>
        </p:nvSpPr>
        <p:spPr>
          <a:xfrm>
            <a:off x="640080" y="2523744"/>
            <a:ext cx="6949440" cy="1316736"/>
          </a:xfrm>
          <a:prstGeom prst="rect">
            <a:avLst/>
          </a:prstGeom>
          <a:noFill/>
        </p:spPr>
        <p:txBody>
          <a:bodyPr wrap="square" lIns="0" rIns="0" tIns="0" bIns="0" anchor="t">
            <a:spAutoFit/>
          </a:bodyPr>
          <a:lstStyle/>
          <a:p>
            <a:pPr algn="l">
              <a:lnSpc>
                <a:spcPct val="105000"/>
              </a:lnSpc>
              <a:spcAft>
                <a:spcPts val="0"/>
              </a:spcAft>
            </a:pPr>
            <a:r>
              <a:rPr sz="4600" b="1">
                <a:solidFill>
                  <a:srgbClr val="0D1B2A"/>
                </a:solidFill>
                <a:latin typeface="Calibri"/>
              </a:rPr>
              <a:t>Waar staan we nu</a:t>
            </a:r>
          </a:p>
        </p:txBody>
      </p:sp>
      <p:cxnSp>
        <p:nvCxnSpPr>
          <p:cNvPr id="6" name="Connector 5"/>
          <p:cNvCxnSpPr/>
          <p:nvPr/>
        </p:nvCxnSpPr>
        <p:spPr>
          <a:xfrm>
            <a:off x="640080" y="3584448"/>
            <a:ext cx="2377440" cy="0"/>
          </a:xfrm>
          <a:prstGeom prst="line">
            <a:avLst/>
          </a:prstGeom>
          <a:ln w="25400">
            <a:solidFill>
              <a:srgbClr val="0E9A87"/>
            </a:solidFill>
          </a:ln>
        </p:spPr>
        <p:style>
          <a:lnRef idx="2">
            <a:schemeClr val="accent1"/>
          </a:lnRef>
          <a:fillRef idx="0">
            <a:schemeClr val="accent1"/>
          </a:fillRef>
          <a:effectRef idx="1">
            <a:schemeClr val="accent1"/>
          </a:effectRef>
          <a:fontRef idx="minor">
            <a:schemeClr val="tx1"/>
          </a:fontRef>
        </p:style>
      </p:cxnSp>
      <p:sp>
        <p:nvSpPr>
          <p:cNvPr id="7" name="Oval 6"/>
          <p:cNvSpPr/>
          <p:nvPr/>
        </p:nvSpPr>
        <p:spPr>
          <a:xfrm>
            <a:off x="649224" y="3895344"/>
            <a:ext cx="109728" cy="109728"/>
          </a:xfrm>
          <a:prstGeom prst="ellipse">
            <a:avLst/>
          </a:prstGeom>
          <a:solidFill>
            <a:srgbClr val="0E9A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32688" y="3840480"/>
            <a:ext cx="7680960" cy="274320"/>
          </a:xfrm>
          <a:prstGeom prst="rect">
            <a:avLst/>
          </a:prstGeom>
          <a:noFill/>
        </p:spPr>
        <p:txBody>
          <a:bodyPr wrap="square" lIns="0" rIns="0" tIns="0" bIns="0" anchor="t">
            <a:spAutoFit/>
          </a:bodyPr>
          <a:lstStyle/>
          <a:p>
            <a:pPr algn="l">
              <a:lnSpc>
                <a:spcPct val="120000"/>
              </a:lnSpc>
              <a:spcAft>
                <a:spcPts val="0"/>
              </a:spcAft>
            </a:pPr>
            <a:r>
              <a:rPr sz="1350" b="0">
                <a:solidFill>
                  <a:srgbClr val="55677C"/>
                </a:solidFill>
                <a:latin typeface="Calibri"/>
              </a:rPr>
              <a:t>De startsituatie per afdeling</a:t>
            </a:r>
          </a:p>
        </p:txBody>
      </p:sp>
      <p:sp>
        <p:nvSpPr>
          <p:cNvPr id="9" name="Oval 8"/>
          <p:cNvSpPr/>
          <p:nvPr/>
        </p:nvSpPr>
        <p:spPr>
          <a:xfrm>
            <a:off x="649224" y="4279392"/>
            <a:ext cx="109728" cy="109728"/>
          </a:xfrm>
          <a:prstGeom prst="ellipse">
            <a:avLst/>
          </a:prstGeom>
          <a:solidFill>
            <a:srgbClr val="0E9A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4224528"/>
            <a:ext cx="7680960" cy="274320"/>
          </a:xfrm>
          <a:prstGeom prst="rect">
            <a:avLst/>
          </a:prstGeom>
          <a:noFill/>
        </p:spPr>
        <p:txBody>
          <a:bodyPr wrap="square" lIns="0" rIns="0" tIns="0" bIns="0" anchor="t">
            <a:spAutoFit/>
          </a:bodyPr>
          <a:lstStyle/>
          <a:p>
            <a:pPr algn="l">
              <a:lnSpc>
                <a:spcPct val="120000"/>
              </a:lnSpc>
              <a:spcAft>
                <a:spcPts val="0"/>
              </a:spcAft>
            </a:pPr>
            <a:r>
              <a:rPr sz="1350" b="0">
                <a:solidFill>
                  <a:srgbClr val="55677C"/>
                </a:solidFill>
                <a:latin typeface="Calibri"/>
              </a:rPr>
              <a:t>Waarom tien en vijftien kamers niet optelbaar zijn</a:t>
            </a:r>
          </a:p>
        </p:txBody>
      </p:sp>
      <p:sp>
        <p:nvSpPr>
          <p:cNvPr id="11" name="Freeform 10"/>
          <p:cNvSpPr/>
          <p:nvPr/>
        </p:nvSpPr>
        <p:spPr>
          <a:xfrm>
            <a:off x="0" y="5998464"/>
            <a:ext cx="12191695" cy="510235"/>
          </a:xfrm>
          <a:custGeom>
            <a:avLst/>
            <a:gdLst/>
            <a:ahLst/>
            <a:cxnLst/>
            <a:rect l="l" t="t" r="r" b="b"/>
            <a:pathLst>
              <a:path w="12191695" h="510235">
                <a:moveTo>
                  <a:pt x="0" y="329184"/>
                </a:moveTo>
                <a:lnTo>
                  <a:pt x="914377" y="329184"/>
                </a:lnTo>
                <a:lnTo>
                  <a:pt x="1097252" y="276514"/>
                </a:lnTo>
                <a:lnTo>
                  <a:pt x="1280127" y="362102"/>
                </a:lnTo>
                <a:lnTo>
                  <a:pt x="1523961" y="0"/>
                </a:lnTo>
                <a:lnTo>
                  <a:pt x="1767795" y="510235"/>
                </a:lnTo>
                <a:lnTo>
                  <a:pt x="2011629" y="329184"/>
                </a:lnTo>
                <a:lnTo>
                  <a:pt x="3047923" y="329184"/>
                </a:lnTo>
                <a:lnTo>
                  <a:pt x="3047923" y="329184"/>
                </a:lnTo>
                <a:lnTo>
                  <a:pt x="3962300" y="329184"/>
                </a:lnTo>
                <a:lnTo>
                  <a:pt x="4145176" y="276514"/>
                </a:lnTo>
                <a:lnTo>
                  <a:pt x="4328051" y="362102"/>
                </a:lnTo>
                <a:lnTo>
                  <a:pt x="4571885" y="0"/>
                </a:lnTo>
                <a:lnTo>
                  <a:pt x="4815719" y="510235"/>
                </a:lnTo>
                <a:lnTo>
                  <a:pt x="5059553" y="329184"/>
                </a:lnTo>
                <a:lnTo>
                  <a:pt x="6095847" y="329184"/>
                </a:lnTo>
                <a:lnTo>
                  <a:pt x="6095847" y="329184"/>
                </a:lnTo>
                <a:lnTo>
                  <a:pt x="7010224" y="329184"/>
                </a:lnTo>
                <a:lnTo>
                  <a:pt x="7193100" y="276514"/>
                </a:lnTo>
                <a:lnTo>
                  <a:pt x="7375975" y="362102"/>
                </a:lnTo>
                <a:lnTo>
                  <a:pt x="7619809" y="0"/>
                </a:lnTo>
                <a:lnTo>
                  <a:pt x="7863643" y="510235"/>
                </a:lnTo>
                <a:lnTo>
                  <a:pt x="8107477" y="329184"/>
                </a:lnTo>
                <a:lnTo>
                  <a:pt x="9143771" y="329184"/>
                </a:lnTo>
                <a:lnTo>
                  <a:pt x="9143771" y="329184"/>
                </a:lnTo>
                <a:lnTo>
                  <a:pt x="10058148" y="329184"/>
                </a:lnTo>
                <a:lnTo>
                  <a:pt x="10241023" y="276514"/>
                </a:lnTo>
                <a:lnTo>
                  <a:pt x="10423899" y="362102"/>
                </a:lnTo>
                <a:lnTo>
                  <a:pt x="10667733" y="0"/>
                </a:lnTo>
                <a:lnTo>
                  <a:pt x="10911567" y="510235"/>
                </a:lnTo>
                <a:lnTo>
                  <a:pt x="11155401" y="329184"/>
                </a:lnTo>
                <a:lnTo>
                  <a:pt x="12191695" y="329184"/>
                </a:lnTo>
              </a:path>
            </a:pathLst>
          </a:custGeom>
          <a:noFill/>
          <a:ln w="15875">
            <a:solidFill>
              <a:srgbClr val="0E9A87">
                <a:alpha val="36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2" name="Connector 11"/>
          <p:cNvCxnSpPr/>
          <p:nvPr/>
        </p:nvCxnSpPr>
        <p:spPr>
          <a:xfrm>
            <a:off x="640080" y="6291072"/>
            <a:ext cx="10911535" cy="0"/>
          </a:xfrm>
          <a:prstGeom prst="line">
            <a:avLst/>
          </a:prstGeom>
          <a:ln w="9525">
            <a:solidFill>
              <a:srgbClr val="E2E9F1"/>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640080" y="6382512"/>
            <a:ext cx="5486400" cy="237744"/>
          </a:xfrm>
          <a:prstGeom prst="rect">
            <a:avLst/>
          </a:prstGeom>
          <a:noFill/>
        </p:spPr>
        <p:txBody>
          <a:bodyPr wrap="square" lIns="0" rIns="0" tIns="0" bIns="0" anchor="t">
            <a:spAutoFit/>
          </a:bodyPr>
          <a:lstStyle/>
          <a:p>
            <a:pPr algn="l">
              <a:lnSpc>
                <a:spcPct val="120000"/>
              </a:lnSpc>
              <a:spcAft>
                <a:spcPts val="0"/>
              </a:spcAft>
            </a:pPr>
            <a:r>
              <a:rPr sz="900" b="0" spc="80">
                <a:solidFill>
                  <a:srgbClr val="8B9AAA"/>
                </a:solidFill>
                <a:latin typeface="Calibri"/>
              </a:rPr>
              <a:t>Acute poort en Hotfloor</a:t>
            </a:r>
          </a:p>
        </p:txBody>
      </p:sp>
      <p:sp>
        <p:nvSpPr>
          <p:cNvPr id="14" name="TextBox 13"/>
          <p:cNvSpPr txBox="1"/>
          <p:nvPr/>
        </p:nvSpPr>
        <p:spPr>
          <a:xfrm>
            <a:off x="10637215" y="6382512"/>
            <a:ext cx="914400" cy="237744"/>
          </a:xfrm>
          <a:prstGeom prst="rect">
            <a:avLst/>
          </a:prstGeom>
          <a:noFill/>
        </p:spPr>
        <p:txBody>
          <a:bodyPr wrap="square" lIns="0" rIns="0" tIns="0" bIns="0" anchor="t">
            <a:spAutoFit/>
          </a:bodyPr>
          <a:lstStyle/>
          <a:p>
            <a:pPr algn="r">
              <a:lnSpc>
                <a:spcPct val="120000"/>
              </a:lnSpc>
              <a:spcAft>
                <a:spcPts val="0"/>
              </a:spcAft>
            </a:pPr>
            <a:r>
              <a:rPr sz="950" b="1">
                <a:solidFill>
                  <a:srgbClr val="0E9A87"/>
                </a:solidFill>
                <a:latin typeface="Calibri"/>
              </a:rP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FFFFFF"/>
              </a:gs>
              <a:gs pos="100000">
                <a:srgbClr val="F1F6FC"/>
              </a:gs>
            </a:gsLst>
            <a:lin scaled="0" ang="189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640080" y="566928"/>
            <a:ext cx="10911535" cy="219456"/>
          </a:xfrm>
          <a:prstGeom prst="rect">
            <a:avLst/>
          </a:prstGeom>
          <a:noFill/>
        </p:spPr>
        <p:txBody>
          <a:bodyPr wrap="square" lIns="0" rIns="0" tIns="0" bIns="0" anchor="t">
            <a:spAutoFit/>
          </a:bodyPr>
          <a:lstStyle/>
          <a:p>
            <a:pPr algn="l">
              <a:lnSpc>
                <a:spcPct val="120000"/>
              </a:lnSpc>
              <a:spcAft>
                <a:spcPts val="0"/>
              </a:spcAft>
            </a:pPr>
            <a:r>
              <a:rPr sz="1050" b="1" spc="220">
                <a:solidFill>
                  <a:srgbClr val="0E9A87"/>
                </a:solidFill>
                <a:latin typeface="Calibri"/>
              </a:rPr>
              <a:t>DEEL 01  ·  WAAR STAAN WE NU</a:t>
            </a:r>
          </a:p>
        </p:txBody>
      </p:sp>
      <p:sp>
        <p:nvSpPr>
          <p:cNvPr id="4" name="TextBox 3"/>
          <p:cNvSpPr txBox="1"/>
          <p:nvPr/>
        </p:nvSpPr>
        <p:spPr>
          <a:xfrm>
            <a:off x="640080" y="859536"/>
            <a:ext cx="10911535" cy="566928"/>
          </a:xfrm>
          <a:prstGeom prst="rect">
            <a:avLst/>
          </a:prstGeom>
          <a:noFill/>
        </p:spPr>
        <p:txBody>
          <a:bodyPr wrap="square" lIns="0" rIns="0" tIns="0" bIns="0" anchor="t">
            <a:spAutoFit/>
          </a:bodyPr>
          <a:lstStyle/>
          <a:p>
            <a:pPr algn="l">
              <a:lnSpc>
                <a:spcPct val="120000"/>
              </a:lnSpc>
              <a:spcAft>
                <a:spcPts val="0"/>
              </a:spcAft>
            </a:pPr>
            <a:r>
              <a:rPr sz="3400" b="1">
                <a:solidFill>
                  <a:srgbClr val="0D1B2A"/>
                </a:solidFill>
                <a:latin typeface="Calibri"/>
              </a:rPr>
              <a:t>Startsituatie per afdeling</a:t>
            </a:r>
          </a:p>
        </p:txBody>
      </p:sp>
      <p:sp>
        <p:nvSpPr>
          <p:cNvPr id="5" name="TextBox 4"/>
          <p:cNvSpPr txBox="1"/>
          <p:nvPr/>
        </p:nvSpPr>
        <p:spPr>
          <a:xfrm>
            <a:off x="640080" y="1335024"/>
            <a:ext cx="8510997" cy="274320"/>
          </a:xfrm>
          <a:prstGeom prst="rect">
            <a:avLst/>
          </a:prstGeom>
          <a:noFill/>
        </p:spPr>
        <p:txBody>
          <a:bodyPr wrap="square" lIns="0" rIns="0" tIns="0" bIns="0" anchor="t">
            <a:spAutoFit/>
          </a:bodyPr>
          <a:lstStyle/>
          <a:p>
            <a:pPr algn="l">
              <a:lnSpc>
                <a:spcPct val="120000"/>
              </a:lnSpc>
              <a:spcAft>
                <a:spcPts val="0"/>
              </a:spcAft>
            </a:pPr>
            <a:r>
              <a:rPr sz="1300" b="0">
                <a:solidFill>
                  <a:srgbClr val="55677C"/>
                </a:solidFill>
                <a:latin typeface="Calibri"/>
              </a:rPr>
              <a:t>Zonder vastgestelde norm is de personele inzet niet te onderbouwen</a:t>
            </a:r>
          </a:p>
        </p:txBody>
      </p:sp>
      <p:cxnSp>
        <p:nvCxnSpPr>
          <p:cNvPr id="6" name="Connector 5"/>
          <p:cNvCxnSpPr/>
          <p:nvPr/>
        </p:nvCxnSpPr>
        <p:spPr>
          <a:xfrm>
            <a:off x="640080" y="1609344"/>
            <a:ext cx="10911535" cy="0"/>
          </a:xfrm>
          <a:prstGeom prst="line">
            <a:avLst/>
          </a:prstGeom>
          <a:ln w="12700">
            <a:solidFill>
              <a:srgbClr val="E2E9F1"/>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640080" y="6291072"/>
            <a:ext cx="10911535" cy="0"/>
          </a:xfrm>
          <a:prstGeom prst="line">
            <a:avLst/>
          </a:prstGeom>
          <a:ln w="9525">
            <a:solidFill>
              <a:srgbClr val="E2E9F1"/>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40080" y="6382512"/>
            <a:ext cx="5486400" cy="237744"/>
          </a:xfrm>
          <a:prstGeom prst="rect">
            <a:avLst/>
          </a:prstGeom>
          <a:noFill/>
        </p:spPr>
        <p:txBody>
          <a:bodyPr wrap="square" lIns="0" rIns="0" tIns="0" bIns="0" anchor="t">
            <a:spAutoFit/>
          </a:bodyPr>
          <a:lstStyle/>
          <a:p>
            <a:pPr algn="l">
              <a:lnSpc>
                <a:spcPct val="120000"/>
              </a:lnSpc>
              <a:spcAft>
                <a:spcPts val="0"/>
              </a:spcAft>
            </a:pPr>
            <a:r>
              <a:rPr sz="900" b="0" spc="80">
                <a:solidFill>
                  <a:srgbClr val="8B9AAA"/>
                </a:solidFill>
                <a:latin typeface="Calibri"/>
              </a:rPr>
              <a:t>Acute poort en Hotfloor</a:t>
            </a:r>
          </a:p>
        </p:txBody>
      </p:sp>
      <p:sp>
        <p:nvSpPr>
          <p:cNvPr id="9" name="TextBox 8"/>
          <p:cNvSpPr txBox="1"/>
          <p:nvPr/>
        </p:nvSpPr>
        <p:spPr>
          <a:xfrm>
            <a:off x="10637215" y="6382512"/>
            <a:ext cx="914400" cy="237744"/>
          </a:xfrm>
          <a:prstGeom prst="rect">
            <a:avLst/>
          </a:prstGeom>
          <a:noFill/>
        </p:spPr>
        <p:txBody>
          <a:bodyPr wrap="square" lIns="0" rIns="0" tIns="0" bIns="0" anchor="t">
            <a:spAutoFit/>
          </a:bodyPr>
          <a:lstStyle/>
          <a:p>
            <a:pPr algn="r">
              <a:lnSpc>
                <a:spcPct val="120000"/>
              </a:lnSpc>
              <a:spcAft>
                <a:spcPts val="0"/>
              </a:spcAft>
            </a:pPr>
            <a:r>
              <a:rPr sz="950" b="1">
                <a:solidFill>
                  <a:srgbClr val="0E9A87"/>
                </a:solidFill>
                <a:latin typeface="Calibri"/>
              </a:rPr>
              <a:t>03</a:t>
            </a:r>
          </a:p>
        </p:txBody>
      </p:sp>
      <p:graphicFrame>
        <p:nvGraphicFramePr>
          <p:cNvPr id="10" name="Table 9"/>
          <p:cNvGraphicFramePr>
            <a:graphicFrameLocks noGrp="1"/>
          </p:cNvGraphicFramePr>
          <p:nvPr/>
        </p:nvGraphicFramePr>
        <p:xfrm>
          <a:off x="640080" y="1700784"/>
          <a:ext cx="10865814" cy="1938528"/>
        </p:xfrm>
        <a:graphic>
          <a:graphicData uri="http://schemas.openxmlformats.org/drawingml/2006/table">
            <a:tbl>
              <a:tblPr>
                <a:tableStyleId>{5C22544A-7EE6-4342-B048-85BDC9FD1C3A}</a:tableStyleId>
              </a:tblPr>
              <a:tblGrid>
                <a:gridCol w="1965960"/>
                <a:gridCol w="1097280"/>
                <a:gridCol w="1691640"/>
                <a:gridCol w="1051560"/>
                <a:gridCol w="1874519"/>
                <a:gridCol w="1691640"/>
                <a:gridCol w="1493215"/>
              </a:tblGrid>
              <a:tr h="329184">
                <a:tc>
                  <a:txBody>
                    <a:bodyPr wrap="square"/>
                    <a:lstStyle/>
                    <a:p>
                      <a:pPr algn="l">
                        <a:spcAft>
                          <a:spcPts val="200"/>
                        </a:spcAft>
                      </a:pPr>
                      <a:r>
                        <a:rPr sz="950" b="1">
                          <a:solidFill>
                            <a:srgbClr val="0E9A87"/>
                          </a:solidFill>
                          <a:latin typeface="Calibri"/>
                        </a:rPr>
                        <a:t>AFDELING</a:t>
                      </a:r>
                    </a:p>
                  </a:txBody>
                  <a:tcPr marL="91440" marR="91440" marT="36576" marB="36576" anchor="ctr">
                    <a:solidFill>
                      <a:srgbClr val="FFFFFF"/>
                    </a:solidFill>
                    <a:lnL w="0">
                      <a:noFill/>
                    </a:lnL>
                    <a:lnR w="0">
                      <a:noFill/>
                    </a:lnR>
                    <a:lnT w="0">
                      <a:noFill/>
                    </a:lnT>
                    <a:lnB w="6350" cap="flat">
                      <a:solidFill>
                        <a:srgbClr val="E2E9F1"/>
                      </a:solidFill>
                    </a:lnB>
                  </a:tcPr>
                </a:tc>
                <a:tc>
                  <a:txBody>
                    <a:bodyPr wrap="square"/>
                    <a:lstStyle/>
                    <a:p>
                      <a:pPr algn="ctr">
                        <a:spcAft>
                          <a:spcPts val="200"/>
                        </a:spcAft>
                      </a:pPr>
                      <a:r>
                        <a:rPr sz="950" b="1">
                          <a:solidFill>
                            <a:srgbClr val="0E9A87"/>
                          </a:solidFill>
                          <a:latin typeface="Calibri"/>
                        </a:rPr>
                        <a:t>KAMERS NU</a:t>
                      </a:r>
                    </a:p>
                  </a:txBody>
                  <a:tcPr marL="91440" marR="91440" marT="36576" marB="36576" anchor="ctr">
                    <a:solidFill>
                      <a:srgbClr val="FFFFFF"/>
                    </a:solidFill>
                    <a:lnL w="0">
                      <a:noFill/>
                    </a:lnL>
                    <a:lnR w="0">
                      <a:noFill/>
                    </a:lnR>
                    <a:lnT w="0">
                      <a:noFill/>
                    </a:lnT>
                    <a:lnB w="6350" cap="flat">
                      <a:solidFill>
                        <a:srgbClr val="E2E9F1"/>
                      </a:solidFill>
                    </a:lnB>
                  </a:tcPr>
                </a:tc>
                <a:tc>
                  <a:txBody>
                    <a:bodyPr wrap="square"/>
                    <a:lstStyle/>
                    <a:p>
                      <a:pPr algn="ctr">
                        <a:spcAft>
                          <a:spcPts val="200"/>
                        </a:spcAft>
                      </a:pPr>
                      <a:r>
                        <a:rPr sz="950" b="1">
                          <a:solidFill>
                            <a:srgbClr val="0E9A87"/>
                          </a:solidFill>
                          <a:latin typeface="Calibri"/>
                        </a:rPr>
                        <a:t>JAARPLAN</a:t>
                      </a:r>
                    </a:p>
                  </a:txBody>
                  <a:tcPr marL="91440" marR="91440" marT="36576" marB="36576" anchor="ctr">
                    <a:solidFill>
                      <a:srgbClr val="FFFFFF"/>
                    </a:solidFill>
                    <a:lnL w="0">
                      <a:noFill/>
                    </a:lnL>
                    <a:lnR w="0">
                      <a:noFill/>
                    </a:lnR>
                    <a:lnT w="0">
                      <a:noFill/>
                    </a:lnT>
                    <a:lnB w="6350" cap="flat">
                      <a:solidFill>
                        <a:srgbClr val="E2E9F1"/>
                      </a:solidFill>
                    </a:lnB>
                  </a:tcPr>
                </a:tc>
                <a:tc>
                  <a:txBody>
                    <a:bodyPr wrap="square"/>
                    <a:lstStyle/>
                    <a:p>
                      <a:pPr algn="ctr">
                        <a:spcAft>
                          <a:spcPts val="200"/>
                        </a:spcAft>
                      </a:pPr>
                      <a:r>
                        <a:rPr sz="950" b="1">
                          <a:solidFill>
                            <a:srgbClr val="0E9A87"/>
                          </a:solidFill>
                          <a:latin typeface="Calibri"/>
                        </a:rPr>
                        <a:t>NORM VPK</a:t>
                      </a:r>
                    </a:p>
                  </a:txBody>
                  <a:tcPr marL="91440" marR="91440" marT="36576" marB="36576" anchor="ctr">
                    <a:solidFill>
                      <a:srgbClr val="FFFFFF"/>
                    </a:solidFill>
                    <a:lnL w="0">
                      <a:noFill/>
                    </a:lnL>
                    <a:lnR w="0">
                      <a:noFill/>
                    </a:lnR>
                    <a:lnT w="0">
                      <a:noFill/>
                    </a:lnT>
                    <a:lnB w="6350" cap="flat">
                      <a:solidFill>
                        <a:srgbClr val="E2E9F1"/>
                      </a:solidFill>
                    </a:lnB>
                  </a:tcPr>
                </a:tc>
                <a:tc>
                  <a:txBody>
                    <a:bodyPr wrap="square"/>
                    <a:lstStyle/>
                    <a:p>
                      <a:pPr algn="ctr">
                        <a:spcAft>
                          <a:spcPts val="200"/>
                        </a:spcAft>
                      </a:pPr>
                      <a:r>
                        <a:rPr sz="950" b="1">
                          <a:solidFill>
                            <a:srgbClr val="0E9A87"/>
                          </a:solidFill>
                          <a:latin typeface="Calibri"/>
                        </a:rPr>
                        <a:t>HUIDIGE INZET</a:t>
                      </a:r>
                    </a:p>
                  </a:txBody>
                  <a:tcPr marL="91440" marR="91440" marT="36576" marB="36576" anchor="ctr">
                    <a:solidFill>
                      <a:srgbClr val="FFFFFF"/>
                    </a:solidFill>
                    <a:lnL w="0">
                      <a:noFill/>
                    </a:lnL>
                    <a:lnR w="0">
                      <a:noFill/>
                    </a:lnR>
                    <a:lnT w="0">
                      <a:noFill/>
                    </a:lnT>
                    <a:lnB w="6350" cap="flat">
                      <a:solidFill>
                        <a:srgbClr val="E2E9F1"/>
                      </a:solidFill>
                    </a:lnB>
                  </a:tcPr>
                </a:tc>
                <a:tc>
                  <a:txBody>
                    <a:bodyPr wrap="square"/>
                    <a:lstStyle/>
                    <a:p>
                      <a:pPr algn="ctr">
                        <a:spcAft>
                          <a:spcPts val="200"/>
                        </a:spcAft>
                      </a:pPr>
                      <a:r>
                        <a:rPr sz="900" b="1">
                          <a:solidFill>
                            <a:srgbClr val="0E9A87"/>
                          </a:solidFill>
                          <a:latin typeface="Calibri"/>
                        </a:rPr>
                        <a:t>OMGEREKENDE NORM</a:t>
                      </a:r>
                    </a:p>
                  </a:txBody>
                  <a:tcPr marL="91440" marR="91440" marT="36576" marB="36576" anchor="ctr">
                    <a:solidFill>
                      <a:srgbClr val="FFFFFF"/>
                    </a:solidFill>
                    <a:lnL w="0">
                      <a:noFill/>
                    </a:lnL>
                    <a:lnR w="0">
                      <a:noFill/>
                    </a:lnR>
                    <a:lnT w="0">
                      <a:noFill/>
                    </a:lnT>
                    <a:lnB w="6350" cap="flat">
                      <a:solidFill>
                        <a:srgbClr val="E2E9F1"/>
                      </a:solidFill>
                    </a:lnB>
                  </a:tcPr>
                </a:tc>
                <a:tc>
                  <a:txBody>
                    <a:bodyPr wrap="square"/>
                    <a:lstStyle/>
                    <a:p>
                      <a:pPr algn="ctr">
                        <a:spcAft>
                          <a:spcPts val="200"/>
                        </a:spcAft>
                      </a:pPr>
                      <a:r>
                        <a:rPr sz="950" b="1">
                          <a:solidFill>
                            <a:srgbClr val="0E9A87"/>
                          </a:solidFill>
                          <a:latin typeface="Calibri"/>
                        </a:rPr>
                        <a:t>GEWENSTE NORM</a:t>
                      </a:r>
                    </a:p>
                  </a:txBody>
                  <a:tcPr marL="91440" marR="91440" marT="36576" marB="36576" anchor="ctr">
                    <a:solidFill>
                      <a:srgbClr val="FFFFFF"/>
                    </a:solidFill>
                    <a:lnL w="0">
                      <a:noFill/>
                    </a:lnL>
                    <a:lnR w="0">
                      <a:noFill/>
                    </a:lnR>
                    <a:lnT w="0">
                      <a:noFill/>
                    </a:lnT>
                    <a:lnB w="6350" cap="flat">
                      <a:solidFill>
                        <a:srgbClr val="E2E9F1"/>
                      </a:solidFill>
                    </a:lnB>
                  </a:tcPr>
                </a:tc>
              </a:tr>
              <a:tr h="402336">
                <a:tc>
                  <a:txBody>
                    <a:bodyPr wrap="square"/>
                    <a:lstStyle/>
                    <a:p>
                      <a:pPr algn="l">
                        <a:spcAft>
                          <a:spcPts val="200"/>
                        </a:spcAft>
                      </a:pPr>
                      <a:r>
                        <a:rPr sz="1100" b="1">
                          <a:solidFill>
                            <a:srgbClr val="0D1B2A"/>
                          </a:solidFill>
                          <a:latin typeface="Calibri"/>
                        </a:rPr>
                        <a:t>ICU</a:t>
                      </a:r>
                    </a:p>
                  </a:txBody>
                  <a:tcPr marL="91440" marR="91440" marT="36576" marB="36576" anchor="ctr">
                    <a:solidFill>
                      <a:srgbClr val="FFFFFF"/>
                    </a:solidFill>
                    <a:lnL w="0">
                      <a:noFill/>
                    </a:lnL>
                    <a:lnR w="0">
                      <a:noFill/>
                    </a:lnR>
                    <a:lnT w="0">
                      <a:noFill/>
                    </a:lnT>
                    <a:lnB w="6350" cap="flat">
                      <a:solidFill>
                        <a:srgbClr val="E2E9F1"/>
                      </a:solidFill>
                    </a:lnB>
                  </a:tcPr>
                </a:tc>
                <a:tc>
                  <a:txBody>
                    <a:bodyPr wrap="square"/>
                    <a:lstStyle/>
                    <a:p>
                      <a:pPr algn="ctr">
                        <a:spcAft>
                          <a:spcPts val="200"/>
                        </a:spcAft>
                      </a:pPr>
                      <a:r>
                        <a:rPr sz="1100" b="0">
                          <a:solidFill>
                            <a:srgbClr val="0D1B2A"/>
                          </a:solidFill>
                          <a:latin typeface="Calibri"/>
                        </a:rPr>
                        <a:t>10</a:t>
                      </a:r>
                    </a:p>
                  </a:txBody>
                  <a:tcPr marL="91440" marR="91440" marT="36576" marB="36576" anchor="ctr">
                    <a:solidFill>
                      <a:srgbClr val="FFFFFF"/>
                    </a:solidFill>
                    <a:lnL w="0">
                      <a:noFill/>
                    </a:lnL>
                    <a:lnR w="0">
                      <a:noFill/>
                    </a:lnR>
                    <a:lnT w="0">
                      <a:noFill/>
                    </a:lnT>
                    <a:lnB w="6350" cap="flat">
                      <a:solidFill>
                        <a:srgbClr val="E2E9F1"/>
                      </a:solidFill>
                    </a:lnB>
                  </a:tcPr>
                </a:tc>
                <a:tc>
                  <a:txBody>
                    <a:bodyPr wrap="square"/>
                    <a:lstStyle/>
                    <a:p>
                      <a:pPr algn="ctr">
                        <a:spcAft>
                          <a:spcPts val="200"/>
                        </a:spcAft>
                      </a:pPr>
                      <a:r>
                        <a:rPr sz="1100" b="0">
                          <a:solidFill>
                            <a:srgbClr val="C4392D"/>
                          </a:solidFill>
                          <a:latin typeface="Calibri"/>
                        </a:rPr>
                        <a:t>nee</a:t>
                      </a:r>
                    </a:p>
                  </a:txBody>
                  <a:tcPr marL="91440" marR="91440" marT="36576" marB="36576" anchor="ctr">
                    <a:solidFill>
                      <a:srgbClr val="FFFFFF"/>
                    </a:solidFill>
                    <a:lnL w="0">
                      <a:noFill/>
                    </a:lnL>
                    <a:lnR w="0">
                      <a:noFill/>
                    </a:lnR>
                    <a:lnT w="0">
                      <a:noFill/>
                    </a:lnT>
                    <a:lnB w="6350" cap="flat">
                      <a:solidFill>
                        <a:srgbClr val="E2E9F1"/>
                      </a:solidFill>
                    </a:lnB>
                  </a:tcPr>
                </a:tc>
                <a:tc>
                  <a:txBody>
                    <a:bodyPr wrap="square"/>
                    <a:lstStyle/>
                    <a:p>
                      <a:pPr algn="ctr">
                        <a:spcAft>
                          <a:spcPts val="200"/>
                        </a:spcAft>
                      </a:pPr>
                      <a:r>
                        <a:rPr sz="1100" b="0">
                          <a:solidFill>
                            <a:srgbClr val="C4392D"/>
                          </a:solidFill>
                          <a:latin typeface="Calibri"/>
                        </a:rPr>
                        <a:t>nee</a:t>
                      </a:r>
                    </a:p>
                  </a:txBody>
                  <a:tcPr marL="91440" marR="91440" marT="36576" marB="36576" anchor="ctr">
                    <a:solidFill>
                      <a:srgbClr val="FFFFFF"/>
                    </a:solidFill>
                    <a:lnL w="0">
                      <a:noFill/>
                    </a:lnL>
                    <a:lnR w="0">
                      <a:noFill/>
                    </a:lnR>
                    <a:lnT w="0">
                      <a:noFill/>
                    </a:lnT>
                    <a:lnB w="6350" cap="flat">
                      <a:solidFill>
                        <a:srgbClr val="E2E9F1"/>
                      </a:solidFill>
                    </a:lnB>
                  </a:tcPr>
                </a:tc>
                <a:tc>
                  <a:txBody>
                    <a:bodyPr wrap="square"/>
                    <a:lstStyle/>
                    <a:p>
                      <a:pPr algn="ctr">
                        <a:spcAft>
                          <a:spcPts val="200"/>
                        </a:spcAft>
                      </a:pPr>
                      <a:r>
                        <a:rPr sz="1100" b="0">
                          <a:solidFill>
                            <a:srgbClr val="0E9A87"/>
                          </a:solidFill>
                          <a:latin typeface="Calibri"/>
                        </a:rPr>
                        <a:t>D · L · N</a:t>
                      </a:r>
                    </a:p>
                  </a:txBody>
                  <a:tcPr marL="91440" marR="91440" marT="36576" marB="36576" anchor="ctr">
                    <a:solidFill>
                      <a:srgbClr val="FFFFFF"/>
                    </a:solidFill>
                    <a:lnL w="0">
                      <a:noFill/>
                    </a:lnL>
                    <a:lnR w="0">
                      <a:noFill/>
                    </a:lnR>
                    <a:lnT w="0">
                      <a:noFill/>
                    </a:lnT>
                    <a:lnB w="6350" cap="flat">
                      <a:solidFill>
                        <a:srgbClr val="E2E9F1"/>
                      </a:solidFill>
                    </a:lnB>
                  </a:tcPr>
                </a:tc>
                <a:tc>
                  <a:txBody>
                    <a:bodyPr wrap="square"/>
                    <a:lstStyle/>
                    <a:p>
                      <a:pPr algn="ctr">
                        <a:spcAft>
                          <a:spcPts val="200"/>
                        </a:spcAft>
                      </a:pPr>
                      <a:r>
                        <a:rPr sz="1100" b="0">
                          <a:solidFill>
                            <a:srgbClr val="C87E12"/>
                          </a:solidFill>
                          <a:latin typeface="Calibri"/>
                        </a:rPr>
                        <a:t>in te vullen</a:t>
                      </a:r>
                    </a:p>
                  </a:txBody>
                  <a:tcPr marL="91440" marR="91440" marT="36576" marB="36576" anchor="ctr">
                    <a:solidFill>
                      <a:srgbClr val="FFFFFF"/>
                    </a:solidFill>
                    <a:lnL w="0">
                      <a:noFill/>
                    </a:lnL>
                    <a:lnR w="0">
                      <a:noFill/>
                    </a:lnR>
                    <a:lnT w="0">
                      <a:noFill/>
                    </a:lnT>
                    <a:lnB w="6350" cap="flat">
                      <a:solidFill>
                        <a:srgbClr val="E2E9F1"/>
                      </a:solidFill>
                    </a:lnB>
                  </a:tcPr>
                </a:tc>
                <a:tc>
                  <a:txBody>
                    <a:bodyPr wrap="square"/>
                    <a:lstStyle/>
                    <a:p>
                      <a:pPr algn="ctr">
                        <a:spcAft>
                          <a:spcPts val="200"/>
                        </a:spcAft>
                      </a:pPr>
                      <a:r>
                        <a:rPr sz="1100" b="0">
                          <a:solidFill>
                            <a:srgbClr val="C87E12"/>
                          </a:solidFill>
                          <a:latin typeface="Calibri"/>
                        </a:rPr>
                        <a:t>in te vullen</a:t>
                      </a:r>
                    </a:p>
                  </a:txBody>
                  <a:tcPr marL="91440" marR="91440" marT="36576" marB="36576" anchor="ctr">
                    <a:solidFill>
                      <a:srgbClr val="FFFFFF"/>
                    </a:solidFill>
                    <a:lnL w="0">
                      <a:noFill/>
                    </a:lnL>
                    <a:lnR w="0">
                      <a:noFill/>
                    </a:lnR>
                    <a:lnT w="0">
                      <a:noFill/>
                    </a:lnT>
                    <a:lnB w="6350" cap="flat">
                      <a:solidFill>
                        <a:srgbClr val="E2E9F1"/>
                      </a:solidFill>
                    </a:lnB>
                  </a:tcPr>
                </a:tc>
              </a:tr>
              <a:tr h="402336">
                <a:tc>
                  <a:txBody>
                    <a:bodyPr wrap="square"/>
                    <a:lstStyle/>
                    <a:p>
                      <a:pPr algn="l">
                        <a:spcAft>
                          <a:spcPts val="200"/>
                        </a:spcAft>
                      </a:pPr>
                      <a:r>
                        <a:rPr sz="1100" b="1">
                          <a:solidFill>
                            <a:srgbClr val="0D1B2A"/>
                          </a:solidFill>
                          <a:latin typeface="Calibri"/>
                        </a:rPr>
                        <a:t>CCU / SCU / EHH</a:t>
                      </a:r>
                    </a:p>
                  </a:txBody>
                  <a:tcPr marL="91440" marR="91440" marT="36576" marB="36576" anchor="ctr">
                    <a:solidFill>
                      <a:srgbClr val="F6F9FD"/>
                    </a:solidFill>
                    <a:lnL w="0">
                      <a:noFill/>
                    </a:lnL>
                    <a:lnR w="0">
                      <a:noFill/>
                    </a:lnR>
                    <a:lnT w="0">
                      <a:noFill/>
                    </a:lnT>
                    <a:lnB w="6350" cap="flat">
                      <a:solidFill>
                        <a:srgbClr val="E2E9F1"/>
                      </a:solidFill>
                    </a:lnB>
                  </a:tcPr>
                </a:tc>
                <a:tc>
                  <a:txBody>
                    <a:bodyPr wrap="square"/>
                    <a:lstStyle/>
                    <a:p>
                      <a:pPr algn="ctr">
                        <a:spcAft>
                          <a:spcPts val="200"/>
                        </a:spcAft>
                      </a:pPr>
                      <a:r>
                        <a:rPr sz="1100" b="0">
                          <a:solidFill>
                            <a:srgbClr val="0D1B2A"/>
                          </a:solidFill>
                          <a:latin typeface="Calibri"/>
                        </a:rPr>
                        <a:t>15</a:t>
                      </a:r>
                    </a:p>
                  </a:txBody>
                  <a:tcPr marL="91440" marR="91440" marT="36576" marB="36576" anchor="ctr">
                    <a:solidFill>
                      <a:srgbClr val="F6F9FD"/>
                    </a:solidFill>
                    <a:lnL w="0">
                      <a:noFill/>
                    </a:lnL>
                    <a:lnR w="0">
                      <a:noFill/>
                    </a:lnR>
                    <a:lnT w="0">
                      <a:noFill/>
                    </a:lnT>
                    <a:lnB w="6350" cap="flat">
                      <a:solidFill>
                        <a:srgbClr val="E2E9F1"/>
                      </a:solidFill>
                    </a:lnB>
                  </a:tcPr>
                </a:tc>
                <a:tc>
                  <a:txBody>
                    <a:bodyPr wrap="square"/>
                    <a:lstStyle/>
                    <a:p>
                      <a:pPr algn="ctr">
                        <a:spcAft>
                          <a:spcPts val="200"/>
                        </a:spcAft>
                      </a:pPr>
                      <a:r>
                        <a:rPr sz="1100" b="0">
                          <a:solidFill>
                            <a:srgbClr val="0E9A87"/>
                          </a:solidFill>
                          <a:latin typeface="Calibri"/>
                        </a:rPr>
                        <a:t>ja, versneld jaarplan</a:t>
                      </a:r>
                    </a:p>
                  </a:txBody>
                  <a:tcPr marL="91440" marR="91440" marT="36576" marB="36576" anchor="ctr">
                    <a:solidFill>
                      <a:srgbClr val="F6F9FD"/>
                    </a:solidFill>
                    <a:lnL w="0">
                      <a:noFill/>
                    </a:lnL>
                    <a:lnR w="0">
                      <a:noFill/>
                    </a:lnR>
                    <a:lnT w="0">
                      <a:noFill/>
                    </a:lnT>
                    <a:lnB w="6350" cap="flat">
                      <a:solidFill>
                        <a:srgbClr val="E2E9F1"/>
                      </a:solidFill>
                    </a:lnB>
                  </a:tcPr>
                </a:tc>
                <a:tc>
                  <a:txBody>
                    <a:bodyPr wrap="square"/>
                    <a:lstStyle/>
                    <a:p>
                      <a:pPr algn="ctr">
                        <a:spcAft>
                          <a:spcPts val="200"/>
                        </a:spcAft>
                      </a:pPr>
                      <a:r>
                        <a:rPr sz="1100" b="0">
                          <a:solidFill>
                            <a:srgbClr val="C4392D"/>
                          </a:solidFill>
                          <a:latin typeface="Calibri"/>
                        </a:rPr>
                        <a:t>nee</a:t>
                      </a:r>
                    </a:p>
                  </a:txBody>
                  <a:tcPr marL="91440" marR="91440" marT="36576" marB="36576" anchor="ctr">
                    <a:solidFill>
                      <a:srgbClr val="F6F9FD"/>
                    </a:solidFill>
                    <a:lnL w="0">
                      <a:noFill/>
                    </a:lnL>
                    <a:lnR w="0">
                      <a:noFill/>
                    </a:lnR>
                    <a:lnT w="0">
                      <a:noFill/>
                    </a:lnT>
                    <a:lnB w="6350" cap="flat">
                      <a:solidFill>
                        <a:srgbClr val="E2E9F1"/>
                      </a:solidFill>
                    </a:lnB>
                  </a:tcPr>
                </a:tc>
                <a:tc>
                  <a:txBody>
                    <a:bodyPr wrap="square"/>
                    <a:lstStyle/>
                    <a:p>
                      <a:pPr algn="ctr">
                        <a:spcAft>
                          <a:spcPts val="200"/>
                        </a:spcAft>
                      </a:pPr>
                      <a:r>
                        <a:rPr sz="1100" b="0">
                          <a:solidFill>
                            <a:srgbClr val="0E9A87"/>
                          </a:solidFill>
                          <a:latin typeface="Calibri"/>
                        </a:rPr>
                        <a:t>D · L · N</a:t>
                      </a:r>
                    </a:p>
                  </a:txBody>
                  <a:tcPr marL="91440" marR="91440" marT="36576" marB="36576" anchor="ctr">
                    <a:solidFill>
                      <a:srgbClr val="F6F9FD"/>
                    </a:solidFill>
                    <a:lnL w="0">
                      <a:noFill/>
                    </a:lnL>
                    <a:lnR w="0">
                      <a:noFill/>
                    </a:lnR>
                    <a:lnT w="0">
                      <a:noFill/>
                    </a:lnT>
                    <a:lnB w="6350" cap="flat">
                      <a:solidFill>
                        <a:srgbClr val="E2E9F1"/>
                      </a:solidFill>
                    </a:lnB>
                  </a:tcPr>
                </a:tc>
                <a:tc>
                  <a:txBody>
                    <a:bodyPr wrap="square"/>
                    <a:lstStyle/>
                    <a:p>
                      <a:pPr algn="ctr">
                        <a:spcAft>
                          <a:spcPts val="200"/>
                        </a:spcAft>
                      </a:pPr>
                      <a:r>
                        <a:rPr sz="1100" b="0">
                          <a:solidFill>
                            <a:srgbClr val="C87E12"/>
                          </a:solidFill>
                          <a:latin typeface="Calibri"/>
                        </a:rPr>
                        <a:t>in te vullen</a:t>
                      </a:r>
                    </a:p>
                  </a:txBody>
                  <a:tcPr marL="91440" marR="91440" marT="36576" marB="36576" anchor="ctr">
                    <a:solidFill>
                      <a:srgbClr val="F6F9FD"/>
                    </a:solidFill>
                    <a:lnL w="0">
                      <a:noFill/>
                    </a:lnL>
                    <a:lnR w="0">
                      <a:noFill/>
                    </a:lnR>
                    <a:lnT w="0">
                      <a:noFill/>
                    </a:lnT>
                    <a:lnB w="6350" cap="flat">
                      <a:solidFill>
                        <a:srgbClr val="E2E9F1"/>
                      </a:solidFill>
                    </a:lnB>
                  </a:tcPr>
                </a:tc>
                <a:tc>
                  <a:txBody>
                    <a:bodyPr wrap="square"/>
                    <a:lstStyle/>
                    <a:p>
                      <a:pPr algn="ctr">
                        <a:spcAft>
                          <a:spcPts val="200"/>
                        </a:spcAft>
                      </a:pPr>
                      <a:r>
                        <a:rPr sz="1100" b="0">
                          <a:solidFill>
                            <a:srgbClr val="C87E12"/>
                          </a:solidFill>
                          <a:latin typeface="Calibri"/>
                        </a:rPr>
                        <a:t>in te vullen</a:t>
                      </a:r>
                    </a:p>
                  </a:txBody>
                  <a:tcPr marL="91440" marR="91440" marT="36576" marB="36576" anchor="ctr">
                    <a:solidFill>
                      <a:srgbClr val="F6F9FD"/>
                    </a:solidFill>
                    <a:lnL w="0">
                      <a:noFill/>
                    </a:lnL>
                    <a:lnR w="0">
                      <a:noFill/>
                    </a:lnR>
                    <a:lnT w="0">
                      <a:noFill/>
                    </a:lnT>
                    <a:lnB w="6350" cap="flat">
                      <a:solidFill>
                        <a:srgbClr val="E2E9F1"/>
                      </a:solidFill>
                    </a:lnB>
                  </a:tcPr>
                </a:tc>
              </a:tr>
              <a:tr h="402336">
                <a:tc>
                  <a:txBody>
                    <a:bodyPr wrap="square"/>
                    <a:lstStyle/>
                    <a:p>
                      <a:pPr algn="l">
                        <a:spcAft>
                          <a:spcPts val="200"/>
                        </a:spcAft>
                      </a:pPr>
                      <a:r>
                        <a:rPr sz="1100" b="1">
                          <a:solidFill>
                            <a:srgbClr val="0D1B2A"/>
                          </a:solidFill>
                          <a:latin typeface="Calibri"/>
                        </a:rPr>
                        <a:t>SEH</a:t>
                      </a:r>
                    </a:p>
                  </a:txBody>
                  <a:tcPr marL="91440" marR="91440" marT="36576" marB="36576" anchor="ctr">
                    <a:solidFill>
                      <a:srgbClr val="FFFFFF"/>
                    </a:solidFill>
                    <a:lnL w="0">
                      <a:noFill/>
                    </a:lnL>
                    <a:lnR w="0">
                      <a:noFill/>
                    </a:lnR>
                    <a:lnT w="0">
                      <a:noFill/>
                    </a:lnT>
                    <a:lnB w="6350" cap="flat">
                      <a:solidFill>
                        <a:srgbClr val="E2E9F1"/>
                      </a:solidFill>
                    </a:lnB>
                  </a:tcPr>
                </a:tc>
                <a:tc>
                  <a:txBody>
                    <a:bodyPr wrap="square"/>
                    <a:lstStyle/>
                    <a:p>
                      <a:pPr algn="ctr">
                        <a:spcAft>
                          <a:spcPts val="200"/>
                        </a:spcAft>
                      </a:pPr>
                      <a:r>
                        <a:rPr sz="1100" b="0">
                          <a:solidFill>
                            <a:srgbClr val="8B9AAA"/>
                          </a:solidFill>
                          <a:latin typeface="Calibri"/>
                        </a:rPr>
                        <a:t>onbekend</a:t>
                      </a:r>
                    </a:p>
                  </a:txBody>
                  <a:tcPr marL="91440" marR="91440" marT="36576" marB="36576" anchor="ctr">
                    <a:solidFill>
                      <a:srgbClr val="FFFFFF"/>
                    </a:solidFill>
                    <a:lnL w="0">
                      <a:noFill/>
                    </a:lnL>
                    <a:lnR w="0">
                      <a:noFill/>
                    </a:lnR>
                    <a:lnT w="0">
                      <a:noFill/>
                    </a:lnT>
                    <a:lnB w="6350" cap="flat">
                      <a:solidFill>
                        <a:srgbClr val="E2E9F1"/>
                      </a:solidFill>
                    </a:lnB>
                  </a:tcPr>
                </a:tc>
                <a:tc>
                  <a:txBody>
                    <a:bodyPr wrap="square"/>
                    <a:lstStyle/>
                    <a:p>
                      <a:pPr algn="ctr">
                        <a:spcAft>
                          <a:spcPts val="200"/>
                        </a:spcAft>
                      </a:pPr>
                      <a:r>
                        <a:rPr sz="1100" b="0">
                          <a:solidFill>
                            <a:srgbClr val="8B9AAA"/>
                          </a:solidFill>
                          <a:latin typeface="Calibri"/>
                        </a:rPr>
                        <a:t>onbekend</a:t>
                      </a:r>
                    </a:p>
                  </a:txBody>
                  <a:tcPr marL="91440" marR="91440" marT="36576" marB="36576" anchor="ctr">
                    <a:solidFill>
                      <a:srgbClr val="FFFFFF"/>
                    </a:solidFill>
                    <a:lnL w="0">
                      <a:noFill/>
                    </a:lnL>
                    <a:lnR w="0">
                      <a:noFill/>
                    </a:lnR>
                    <a:lnT w="0">
                      <a:noFill/>
                    </a:lnT>
                    <a:lnB w="6350" cap="flat">
                      <a:solidFill>
                        <a:srgbClr val="E2E9F1"/>
                      </a:solidFill>
                    </a:lnB>
                  </a:tcPr>
                </a:tc>
                <a:tc>
                  <a:txBody>
                    <a:bodyPr wrap="square"/>
                    <a:lstStyle/>
                    <a:p>
                      <a:pPr algn="ctr">
                        <a:spcAft>
                          <a:spcPts val="200"/>
                        </a:spcAft>
                      </a:pPr>
                      <a:r>
                        <a:rPr sz="1100" b="0">
                          <a:solidFill>
                            <a:srgbClr val="C4392D"/>
                          </a:solidFill>
                          <a:latin typeface="Calibri"/>
                        </a:rPr>
                        <a:t>nee</a:t>
                      </a:r>
                    </a:p>
                  </a:txBody>
                  <a:tcPr marL="91440" marR="91440" marT="36576" marB="36576" anchor="ctr">
                    <a:solidFill>
                      <a:srgbClr val="FFFFFF"/>
                    </a:solidFill>
                    <a:lnL w="0">
                      <a:noFill/>
                    </a:lnL>
                    <a:lnR w="0">
                      <a:noFill/>
                    </a:lnR>
                    <a:lnT w="0">
                      <a:noFill/>
                    </a:lnT>
                    <a:lnB w="6350" cap="flat">
                      <a:solidFill>
                        <a:srgbClr val="E2E9F1"/>
                      </a:solidFill>
                    </a:lnB>
                  </a:tcPr>
                </a:tc>
                <a:tc>
                  <a:txBody>
                    <a:bodyPr wrap="square"/>
                    <a:lstStyle/>
                    <a:p>
                      <a:pPr algn="ctr">
                        <a:spcAft>
                          <a:spcPts val="200"/>
                        </a:spcAft>
                      </a:pPr>
                      <a:r>
                        <a:rPr sz="1100" b="0">
                          <a:solidFill>
                            <a:srgbClr val="0E9A87"/>
                          </a:solidFill>
                          <a:latin typeface="Calibri"/>
                        </a:rPr>
                        <a:t>D · T · L · N</a:t>
                      </a:r>
                    </a:p>
                  </a:txBody>
                  <a:tcPr marL="91440" marR="91440" marT="36576" marB="36576" anchor="ctr">
                    <a:solidFill>
                      <a:srgbClr val="FFFFFF"/>
                    </a:solidFill>
                    <a:lnL w="0">
                      <a:noFill/>
                    </a:lnL>
                    <a:lnR w="0">
                      <a:noFill/>
                    </a:lnR>
                    <a:lnT w="0">
                      <a:noFill/>
                    </a:lnT>
                    <a:lnB w="6350" cap="flat">
                      <a:solidFill>
                        <a:srgbClr val="E2E9F1"/>
                      </a:solidFill>
                    </a:lnB>
                  </a:tcPr>
                </a:tc>
                <a:tc>
                  <a:txBody>
                    <a:bodyPr wrap="square"/>
                    <a:lstStyle/>
                    <a:p>
                      <a:pPr algn="ctr">
                        <a:spcAft>
                          <a:spcPts val="200"/>
                        </a:spcAft>
                      </a:pPr>
                      <a:r>
                        <a:rPr sz="1100" b="0">
                          <a:solidFill>
                            <a:srgbClr val="C87E12"/>
                          </a:solidFill>
                          <a:latin typeface="Calibri"/>
                        </a:rPr>
                        <a:t>in te vullen</a:t>
                      </a:r>
                    </a:p>
                  </a:txBody>
                  <a:tcPr marL="91440" marR="91440" marT="36576" marB="36576" anchor="ctr">
                    <a:solidFill>
                      <a:srgbClr val="FFFFFF"/>
                    </a:solidFill>
                    <a:lnL w="0">
                      <a:noFill/>
                    </a:lnL>
                    <a:lnR w="0">
                      <a:noFill/>
                    </a:lnR>
                    <a:lnT w="0">
                      <a:noFill/>
                    </a:lnT>
                    <a:lnB w="6350" cap="flat">
                      <a:solidFill>
                        <a:srgbClr val="E2E9F1"/>
                      </a:solidFill>
                    </a:lnB>
                  </a:tcPr>
                </a:tc>
                <a:tc>
                  <a:txBody>
                    <a:bodyPr wrap="square"/>
                    <a:lstStyle/>
                    <a:p>
                      <a:pPr algn="ctr">
                        <a:spcAft>
                          <a:spcPts val="200"/>
                        </a:spcAft>
                      </a:pPr>
                      <a:r>
                        <a:rPr sz="1100" b="0">
                          <a:solidFill>
                            <a:srgbClr val="C87E12"/>
                          </a:solidFill>
                          <a:latin typeface="Calibri"/>
                        </a:rPr>
                        <a:t>in te vullen</a:t>
                      </a:r>
                    </a:p>
                  </a:txBody>
                  <a:tcPr marL="91440" marR="91440" marT="36576" marB="36576" anchor="ctr">
                    <a:solidFill>
                      <a:srgbClr val="FFFFFF"/>
                    </a:solidFill>
                    <a:lnL w="0">
                      <a:noFill/>
                    </a:lnL>
                    <a:lnR w="0">
                      <a:noFill/>
                    </a:lnR>
                    <a:lnT w="0">
                      <a:noFill/>
                    </a:lnT>
                    <a:lnB w="6350" cap="flat">
                      <a:solidFill>
                        <a:srgbClr val="E2E9F1"/>
                      </a:solidFill>
                    </a:lnB>
                  </a:tcPr>
                </a:tc>
              </a:tr>
              <a:tr h="402336">
                <a:tc>
                  <a:txBody>
                    <a:bodyPr wrap="square"/>
                    <a:lstStyle/>
                    <a:p>
                      <a:pPr algn="l">
                        <a:spcAft>
                          <a:spcPts val="200"/>
                        </a:spcAft>
                      </a:pPr>
                      <a:r>
                        <a:rPr sz="1100" b="1">
                          <a:solidFill>
                            <a:srgbClr val="0D1B2A"/>
                          </a:solidFill>
                          <a:latin typeface="Calibri"/>
                        </a:rPr>
                        <a:t>Kind spoed</a:t>
                      </a:r>
                    </a:p>
                  </a:txBody>
                  <a:tcPr marL="91440" marR="91440" marT="36576" marB="36576" anchor="ctr">
                    <a:solidFill>
                      <a:srgbClr val="F6F9FD"/>
                    </a:solidFill>
                    <a:lnL w="0">
                      <a:noFill/>
                    </a:lnL>
                    <a:lnR w="0">
                      <a:noFill/>
                    </a:lnR>
                    <a:lnT w="0">
                      <a:noFill/>
                    </a:lnT>
                    <a:lnB w="6350" cap="flat">
                      <a:solidFill>
                        <a:srgbClr val="E2E9F1"/>
                      </a:solidFill>
                    </a:lnB>
                  </a:tcPr>
                </a:tc>
                <a:tc>
                  <a:txBody>
                    <a:bodyPr wrap="square"/>
                    <a:lstStyle/>
                    <a:p>
                      <a:pPr algn="ctr">
                        <a:spcAft>
                          <a:spcPts val="200"/>
                        </a:spcAft>
                      </a:pPr>
                      <a:r>
                        <a:rPr sz="1100" b="0">
                          <a:solidFill>
                            <a:srgbClr val="8B9AAA"/>
                          </a:solidFill>
                          <a:latin typeface="Calibri"/>
                        </a:rPr>
                        <a:t>onbekend</a:t>
                      </a:r>
                    </a:p>
                  </a:txBody>
                  <a:tcPr marL="91440" marR="91440" marT="36576" marB="36576" anchor="ctr">
                    <a:solidFill>
                      <a:srgbClr val="F6F9FD"/>
                    </a:solidFill>
                    <a:lnL w="0">
                      <a:noFill/>
                    </a:lnL>
                    <a:lnR w="0">
                      <a:noFill/>
                    </a:lnR>
                    <a:lnT w="0">
                      <a:noFill/>
                    </a:lnT>
                    <a:lnB w="6350" cap="flat">
                      <a:solidFill>
                        <a:srgbClr val="E2E9F1"/>
                      </a:solidFill>
                    </a:lnB>
                  </a:tcPr>
                </a:tc>
                <a:tc>
                  <a:txBody>
                    <a:bodyPr wrap="square"/>
                    <a:lstStyle/>
                    <a:p>
                      <a:pPr algn="ctr">
                        <a:spcAft>
                          <a:spcPts val="200"/>
                        </a:spcAft>
                      </a:pPr>
                      <a:r>
                        <a:rPr sz="1100" b="0">
                          <a:solidFill>
                            <a:srgbClr val="C4392D"/>
                          </a:solidFill>
                          <a:latin typeface="Calibri"/>
                        </a:rPr>
                        <a:t>nee</a:t>
                      </a:r>
                    </a:p>
                  </a:txBody>
                  <a:tcPr marL="91440" marR="91440" marT="36576" marB="36576" anchor="ctr">
                    <a:solidFill>
                      <a:srgbClr val="F6F9FD"/>
                    </a:solidFill>
                    <a:lnL w="0">
                      <a:noFill/>
                    </a:lnL>
                    <a:lnR w="0">
                      <a:noFill/>
                    </a:lnR>
                    <a:lnT w="0">
                      <a:noFill/>
                    </a:lnT>
                    <a:lnB w="6350" cap="flat">
                      <a:solidFill>
                        <a:srgbClr val="E2E9F1"/>
                      </a:solidFill>
                    </a:lnB>
                  </a:tcPr>
                </a:tc>
                <a:tc>
                  <a:txBody>
                    <a:bodyPr wrap="square"/>
                    <a:lstStyle/>
                    <a:p>
                      <a:pPr algn="ctr">
                        <a:spcAft>
                          <a:spcPts val="200"/>
                        </a:spcAft>
                      </a:pPr>
                      <a:r>
                        <a:rPr sz="1100" b="0">
                          <a:solidFill>
                            <a:srgbClr val="8B9AAA"/>
                          </a:solidFill>
                          <a:latin typeface="Calibri"/>
                        </a:rPr>
                        <a:t>onbekend</a:t>
                      </a:r>
                    </a:p>
                  </a:txBody>
                  <a:tcPr marL="91440" marR="91440" marT="36576" marB="36576" anchor="ctr">
                    <a:solidFill>
                      <a:srgbClr val="F6F9FD"/>
                    </a:solidFill>
                    <a:lnL w="0">
                      <a:noFill/>
                    </a:lnL>
                    <a:lnR w="0">
                      <a:noFill/>
                    </a:lnR>
                    <a:lnT w="0">
                      <a:noFill/>
                    </a:lnT>
                    <a:lnB w="6350" cap="flat">
                      <a:solidFill>
                        <a:srgbClr val="E2E9F1"/>
                      </a:solidFill>
                    </a:lnB>
                  </a:tcPr>
                </a:tc>
                <a:tc>
                  <a:txBody>
                    <a:bodyPr wrap="square"/>
                    <a:lstStyle/>
                    <a:p>
                      <a:pPr algn="ctr">
                        <a:spcAft>
                          <a:spcPts val="200"/>
                        </a:spcAft>
                      </a:pPr>
                      <a:r>
                        <a:rPr sz="1100" b="0">
                          <a:solidFill>
                            <a:srgbClr val="8B9AAA"/>
                          </a:solidFill>
                          <a:latin typeface="Calibri"/>
                        </a:rPr>
                        <a:t>onbekend</a:t>
                      </a:r>
                    </a:p>
                  </a:txBody>
                  <a:tcPr marL="91440" marR="91440" marT="36576" marB="36576" anchor="ctr">
                    <a:solidFill>
                      <a:srgbClr val="F6F9FD"/>
                    </a:solidFill>
                    <a:lnL w="0">
                      <a:noFill/>
                    </a:lnL>
                    <a:lnR w="0">
                      <a:noFill/>
                    </a:lnR>
                    <a:lnT w="0">
                      <a:noFill/>
                    </a:lnT>
                    <a:lnB w="6350" cap="flat">
                      <a:solidFill>
                        <a:srgbClr val="E2E9F1"/>
                      </a:solidFill>
                    </a:lnB>
                  </a:tcPr>
                </a:tc>
                <a:tc>
                  <a:txBody>
                    <a:bodyPr wrap="square"/>
                    <a:lstStyle/>
                    <a:p>
                      <a:pPr algn="ctr">
                        <a:spcAft>
                          <a:spcPts val="200"/>
                        </a:spcAft>
                      </a:pPr>
                      <a:r>
                        <a:rPr sz="1100" b="0">
                          <a:solidFill>
                            <a:srgbClr val="8B9AAA"/>
                          </a:solidFill>
                          <a:latin typeface="Calibri"/>
                        </a:rPr>
                        <a:t>onbekend</a:t>
                      </a:r>
                    </a:p>
                  </a:txBody>
                  <a:tcPr marL="91440" marR="91440" marT="36576" marB="36576" anchor="ctr">
                    <a:solidFill>
                      <a:srgbClr val="F6F9FD"/>
                    </a:solidFill>
                    <a:lnL w="0">
                      <a:noFill/>
                    </a:lnL>
                    <a:lnR w="0">
                      <a:noFill/>
                    </a:lnR>
                    <a:lnT w="0">
                      <a:noFill/>
                    </a:lnT>
                    <a:lnB w="6350" cap="flat">
                      <a:solidFill>
                        <a:srgbClr val="E2E9F1"/>
                      </a:solidFill>
                    </a:lnB>
                  </a:tcPr>
                </a:tc>
                <a:tc>
                  <a:txBody>
                    <a:bodyPr wrap="square"/>
                    <a:lstStyle/>
                    <a:p>
                      <a:pPr algn="ctr">
                        <a:spcAft>
                          <a:spcPts val="200"/>
                        </a:spcAft>
                      </a:pPr>
                      <a:r>
                        <a:rPr sz="1100" b="0">
                          <a:solidFill>
                            <a:srgbClr val="C87E12"/>
                          </a:solidFill>
                          <a:latin typeface="Calibri"/>
                        </a:rPr>
                        <a:t>in te vullen</a:t>
                      </a:r>
                    </a:p>
                  </a:txBody>
                  <a:tcPr marL="91440" marR="91440" marT="36576" marB="36576" anchor="ctr">
                    <a:solidFill>
                      <a:srgbClr val="F6F9FD"/>
                    </a:solidFill>
                    <a:lnL w="0">
                      <a:noFill/>
                    </a:lnL>
                    <a:lnR w="0">
                      <a:noFill/>
                    </a:lnR>
                    <a:lnT w="0">
                      <a:noFill/>
                    </a:lnT>
                    <a:lnB w="6350" cap="flat">
                      <a:solidFill>
                        <a:srgbClr val="E2E9F1"/>
                      </a:solidFill>
                    </a:lnB>
                  </a:tcPr>
                </a:tc>
              </a:tr>
            </a:tbl>
          </a:graphicData>
        </a:graphic>
      </p:graphicFrame>
      <p:sp>
        <p:nvSpPr>
          <p:cNvPr id="11" name="Rounded Rectangle 10"/>
          <p:cNvSpPr/>
          <p:nvPr/>
        </p:nvSpPr>
        <p:spPr>
          <a:xfrm>
            <a:off x="640080" y="3950208"/>
            <a:ext cx="3454298" cy="1225296"/>
          </a:xfrm>
          <a:prstGeom prst="roundRect">
            <a:avLst>
              <a:gd name="adj" fmla="val 3000"/>
            </a:avLst>
          </a:prstGeom>
          <a:solidFill>
            <a:srgbClr val="FFFFFF"/>
          </a:solidFill>
          <a:ln w="12700">
            <a:solidFill>
              <a:srgbClr val="E2E9F1"/>
            </a:solidFill>
          </a:ln>
          <a:effectLst>
            <a:outerShdw blurRad="70000" dist="22000" dir="5400000" rotWithShape="0">
              <a:srgbClr val="1B3A5C">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640080" y="3950208"/>
            <a:ext cx="45720" cy="1225296"/>
          </a:xfrm>
          <a:prstGeom prst="roundRect">
            <a:avLst>
              <a:gd name="adj" fmla="val 50000"/>
            </a:avLst>
          </a:prstGeom>
          <a:solidFill>
            <a:srgbClr val="C439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14400" y="4078224"/>
            <a:ext cx="2942234" cy="566928"/>
          </a:xfrm>
          <a:prstGeom prst="rect">
            <a:avLst/>
          </a:prstGeom>
          <a:noFill/>
        </p:spPr>
        <p:txBody>
          <a:bodyPr wrap="square" lIns="0" rIns="0" tIns="0" bIns="0" anchor="t">
            <a:spAutoFit/>
          </a:bodyPr>
          <a:lstStyle/>
          <a:p>
            <a:pPr algn="l">
              <a:lnSpc>
                <a:spcPct val="120000"/>
              </a:lnSpc>
              <a:spcAft>
                <a:spcPts val="0"/>
              </a:spcAft>
            </a:pPr>
            <a:r>
              <a:rPr sz="3400" b="1">
                <a:solidFill>
                  <a:srgbClr val="C4392D"/>
                </a:solidFill>
                <a:latin typeface="Calibri"/>
              </a:rPr>
              <a:t>0 / 4</a:t>
            </a:r>
          </a:p>
        </p:txBody>
      </p:sp>
      <p:sp>
        <p:nvSpPr>
          <p:cNvPr id="14" name="TextBox 13"/>
          <p:cNvSpPr txBox="1"/>
          <p:nvPr/>
        </p:nvSpPr>
        <p:spPr>
          <a:xfrm>
            <a:off x="914400" y="4645152"/>
            <a:ext cx="2942234" cy="219456"/>
          </a:xfrm>
          <a:prstGeom prst="rect">
            <a:avLst/>
          </a:prstGeom>
          <a:noFill/>
        </p:spPr>
        <p:txBody>
          <a:bodyPr wrap="square" lIns="0" rIns="0" tIns="0" bIns="0" anchor="t">
            <a:spAutoFit/>
          </a:bodyPr>
          <a:lstStyle/>
          <a:p>
            <a:pPr algn="l">
              <a:lnSpc>
                <a:spcPct val="120000"/>
              </a:lnSpc>
              <a:spcAft>
                <a:spcPts val="0"/>
              </a:spcAft>
            </a:pPr>
            <a:r>
              <a:rPr sz="950" b="1" spc="130">
                <a:solidFill>
                  <a:srgbClr val="0D1B2A"/>
                </a:solidFill>
                <a:latin typeface="Calibri"/>
              </a:rPr>
              <a:t>AFDELINGEN MET EEN NORM</a:t>
            </a:r>
          </a:p>
        </p:txBody>
      </p:sp>
      <p:sp>
        <p:nvSpPr>
          <p:cNvPr id="15" name="TextBox 14"/>
          <p:cNvSpPr txBox="1"/>
          <p:nvPr/>
        </p:nvSpPr>
        <p:spPr>
          <a:xfrm>
            <a:off x="914400" y="4882896"/>
            <a:ext cx="2942234" cy="274320"/>
          </a:xfrm>
          <a:prstGeom prst="rect">
            <a:avLst/>
          </a:prstGeom>
          <a:noFill/>
        </p:spPr>
        <p:txBody>
          <a:bodyPr wrap="square" lIns="0" rIns="0" tIns="0" bIns="0" anchor="t">
            <a:spAutoFit/>
          </a:bodyPr>
          <a:lstStyle/>
          <a:p>
            <a:pPr algn="l">
              <a:lnSpc>
                <a:spcPct val="118000"/>
              </a:lnSpc>
              <a:spcAft>
                <a:spcPts val="0"/>
              </a:spcAft>
            </a:pPr>
            <a:r>
              <a:rPr sz="900" b="0">
                <a:solidFill>
                  <a:srgbClr val="55677C"/>
                </a:solidFill>
                <a:latin typeface="Calibri"/>
              </a:rPr>
              <a:t>voor geen enkele afdeling is de norm verpleegkundigen vastgesteld</a:t>
            </a:r>
          </a:p>
        </p:txBody>
      </p:sp>
      <p:sp>
        <p:nvSpPr>
          <p:cNvPr id="16" name="Rounded Rectangle 15"/>
          <p:cNvSpPr/>
          <p:nvPr/>
        </p:nvSpPr>
        <p:spPr>
          <a:xfrm>
            <a:off x="4368698" y="3950208"/>
            <a:ext cx="3454298" cy="1225296"/>
          </a:xfrm>
          <a:prstGeom prst="roundRect">
            <a:avLst>
              <a:gd name="adj" fmla="val 3000"/>
            </a:avLst>
          </a:prstGeom>
          <a:solidFill>
            <a:srgbClr val="FFFFFF"/>
          </a:solidFill>
          <a:ln w="12700">
            <a:solidFill>
              <a:srgbClr val="E2E9F1"/>
            </a:solidFill>
          </a:ln>
          <a:effectLst>
            <a:outerShdw blurRad="70000" dist="22000" dir="5400000" rotWithShape="0">
              <a:srgbClr val="1B3A5C">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4368698" y="3950208"/>
            <a:ext cx="45720" cy="1225296"/>
          </a:xfrm>
          <a:prstGeom prst="roundRect">
            <a:avLst>
              <a:gd name="adj" fmla="val 50000"/>
            </a:avLst>
          </a:prstGeom>
          <a:solidFill>
            <a:srgbClr val="0E9A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4643018" y="4078224"/>
            <a:ext cx="2942234" cy="566928"/>
          </a:xfrm>
          <a:prstGeom prst="rect">
            <a:avLst/>
          </a:prstGeom>
          <a:noFill/>
        </p:spPr>
        <p:txBody>
          <a:bodyPr wrap="square" lIns="0" rIns="0" tIns="0" bIns="0" anchor="t">
            <a:spAutoFit/>
          </a:bodyPr>
          <a:lstStyle/>
          <a:p>
            <a:pPr algn="l">
              <a:lnSpc>
                <a:spcPct val="120000"/>
              </a:lnSpc>
              <a:spcAft>
                <a:spcPts val="0"/>
              </a:spcAft>
            </a:pPr>
            <a:r>
              <a:rPr sz="3400" b="1">
                <a:solidFill>
                  <a:srgbClr val="0E9A87"/>
                </a:solidFill>
                <a:latin typeface="Calibri"/>
              </a:rPr>
              <a:t>1 / 4</a:t>
            </a:r>
          </a:p>
        </p:txBody>
      </p:sp>
      <p:sp>
        <p:nvSpPr>
          <p:cNvPr id="19" name="TextBox 18"/>
          <p:cNvSpPr txBox="1"/>
          <p:nvPr/>
        </p:nvSpPr>
        <p:spPr>
          <a:xfrm>
            <a:off x="4643018" y="4645152"/>
            <a:ext cx="2942234" cy="219456"/>
          </a:xfrm>
          <a:prstGeom prst="rect">
            <a:avLst/>
          </a:prstGeom>
          <a:noFill/>
        </p:spPr>
        <p:txBody>
          <a:bodyPr wrap="square" lIns="0" rIns="0" tIns="0" bIns="0" anchor="t">
            <a:spAutoFit/>
          </a:bodyPr>
          <a:lstStyle/>
          <a:p>
            <a:pPr algn="l">
              <a:lnSpc>
                <a:spcPct val="120000"/>
              </a:lnSpc>
              <a:spcAft>
                <a:spcPts val="0"/>
              </a:spcAft>
            </a:pPr>
            <a:r>
              <a:rPr sz="950" b="1" spc="130">
                <a:solidFill>
                  <a:srgbClr val="0D1B2A"/>
                </a:solidFill>
                <a:latin typeface="Calibri"/>
              </a:rPr>
              <a:t>AFDELINGEN MET EEN JAARPLAN</a:t>
            </a:r>
          </a:p>
        </p:txBody>
      </p:sp>
      <p:sp>
        <p:nvSpPr>
          <p:cNvPr id="20" name="TextBox 19"/>
          <p:cNvSpPr txBox="1"/>
          <p:nvPr/>
        </p:nvSpPr>
        <p:spPr>
          <a:xfrm>
            <a:off x="4643018" y="4882896"/>
            <a:ext cx="2942234" cy="274320"/>
          </a:xfrm>
          <a:prstGeom prst="rect">
            <a:avLst/>
          </a:prstGeom>
          <a:noFill/>
        </p:spPr>
        <p:txBody>
          <a:bodyPr wrap="square" lIns="0" rIns="0" tIns="0" bIns="0" anchor="t">
            <a:spAutoFit/>
          </a:bodyPr>
          <a:lstStyle/>
          <a:p>
            <a:pPr algn="l">
              <a:lnSpc>
                <a:spcPct val="118000"/>
              </a:lnSpc>
              <a:spcAft>
                <a:spcPts val="0"/>
              </a:spcAft>
            </a:pPr>
            <a:r>
              <a:rPr sz="900" b="0">
                <a:solidFill>
                  <a:srgbClr val="55677C"/>
                </a:solidFill>
                <a:latin typeface="Calibri"/>
              </a:rPr>
              <a:t>CCU/SCU/EHH heeft een versneld jaarplan; de rest heeft er geen</a:t>
            </a:r>
          </a:p>
        </p:txBody>
      </p:sp>
      <p:sp>
        <p:nvSpPr>
          <p:cNvPr id="21" name="Rounded Rectangle 20"/>
          <p:cNvSpPr/>
          <p:nvPr/>
        </p:nvSpPr>
        <p:spPr>
          <a:xfrm>
            <a:off x="8097316" y="3950208"/>
            <a:ext cx="3454298" cy="1225296"/>
          </a:xfrm>
          <a:prstGeom prst="roundRect">
            <a:avLst>
              <a:gd name="adj" fmla="val 3000"/>
            </a:avLst>
          </a:prstGeom>
          <a:solidFill>
            <a:srgbClr val="FFFFFF"/>
          </a:solidFill>
          <a:ln w="12700">
            <a:solidFill>
              <a:srgbClr val="E2E9F1"/>
            </a:solidFill>
          </a:ln>
          <a:effectLst>
            <a:outerShdw blurRad="70000" dist="22000" dir="5400000" rotWithShape="0">
              <a:srgbClr val="1B3A5C">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ounded Rectangle 21"/>
          <p:cNvSpPr/>
          <p:nvPr/>
        </p:nvSpPr>
        <p:spPr>
          <a:xfrm>
            <a:off x="8097316" y="3950208"/>
            <a:ext cx="45720" cy="1225296"/>
          </a:xfrm>
          <a:prstGeom prst="roundRect">
            <a:avLst>
              <a:gd name="adj" fmla="val 50000"/>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8371636" y="4078224"/>
            <a:ext cx="2942234" cy="566928"/>
          </a:xfrm>
          <a:prstGeom prst="rect">
            <a:avLst/>
          </a:prstGeom>
          <a:noFill/>
        </p:spPr>
        <p:txBody>
          <a:bodyPr wrap="square" lIns="0" rIns="0" tIns="0" bIns="0" anchor="t">
            <a:spAutoFit/>
          </a:bodyPr>
          <a:lstStyle/>
          <a:p>
            <a:pPr algn="l">
              <a:lnSpc>
                <a:spcPct val="120000"/>
              </a:lnSpc>
              <a:spcAft>
                <a:spcPts val="0"/>
              </a:spcAft>
            </a:pPr>
            <a:r>
              <a:rPr sz="3400" b="1">
                <a:solidFill>
                  <a:srgbClr val="1F6FB2"/>
                </a:solidFill>
                <a:latin typeface="Calibri"/>
              </a:rPr>
              <a:t>4 / 4</a:t>
            </a:r>
          </a:p>
        </p:txBody>
      </p:sp>
      <p:sp>
        <p:nvSpPr>
          <p:cNvPr id="24" name="TextBox 23"/>
          <p:cNvSpPr txBox="1"/>
          <p:nvPr/>
        </p:nvSpPr>
        <p:spPr>
          <a:xfrm>
            <a:off x="8371636" y="4645152"/>
            <a:ext cx="2942234" cy="219456"/>
          </a:xfrm>
          <a:prstGeom prst="rect">
            <a:avLst/>
          </a:prstGeom>
          <a:noFill/>
        </p:spPr>
        <p:txBody>
          <a:bodyPr wrap="square" lIns="0" rIns="0" tIns="0" bIns="0" anchor="t">
            <a:spAutoFit/>
          </a:bodyPr>
          <a:lstStyle/>
          <a:p>
            <a:pPr algn="l">
              <a:lnSpc>
                <a:spcPct val="120000"/>
              </a:lnSpc>
              <a:spcAft>
                <a:spcPts val="0"/>
              </a:spcAft>
            </a:pPr>
            <a:r>
              <a:rPr sz="950" b="1" spc="130">
                <a:solidFill>
                  <a:srgbClr val="0D1B2A"/>
                </a:solidFill>
                <a:latin typeface="Calibri"/>
              </a:rPr>
              <a:t>REKENEN NU APART</a:t>
            </a:r>
          </a:p>
        </p:txBody>
      </p:sp>
      <p:sp>
        <p:nvSpPr>
          <p:cNvPr id="25" name="TextBox 24"/>
          <p:cNvSpPr txBox="1"/>
          <p:nvPr/>
        </p:nvSpPr>
        <p:spPr>
          <a:xfrm>
            <a:off x="8371636" y="4882896"/>
            <a:ext cx="2942234" cy="274320"/>
          </a:xfrm>
          <a:prstGeom prst="rect">
            <a:avLst/>
          </a:prstGeom>
          <a:noFill/>
        </p:spPr>
        <p:txBody>
          <a:bodyPr wrap="square" lIns="0" rIns="0" tIns="0" bIns="0" anchor="t">
            <a:spAutoFit/>
          </a:bodyPr>
          <a:lstStyle/>
          <a:p>
            <a:pPr algn="l">
              <a:lnSpc>
                <a:spcPct val="118000"/>
              </a:lnSpc>
              <a:spcAft>
                <a:spcPts val="0"/>
              </a:spcAft>
            </a:pPr>
            <a:r>
              <a:rPr sz="900" b="0">
                <a:solidFill>
                  <a:srgbClr val="55677C"/>
                </a:solidFill>
                <a:latin typeface="Calibri"/>
              </a:rPr>
              <a:t>elke afdeling heeft een eigen berekening op de huidige situatie</a:t>
            </a:r>
          </a:p>
        </p:txBody>
      </p:sp>
      <p:sp>
        <p:nvSpPr>
          <p:cNvPr id="26" name="Rounded Rectangle 25"/>
          <p:cNvSpPr/>
          <p:nvPr/>
        </p:nvSpPr>
        <p:spPr>
          <a:xfrm>
            <a:off x="640080" y="5394959"/>
            <a:ext cx="10911535" cy="822960"/>
          </a:xfrm>
          <a:prstGeom prst="roundRect">
            <a:avLst>
              <a:gd name="adj" fmla="val 3000"/>
            </a:avLst>
          </a:prstGeom>
          <a:solidFill>
            <a:srgbClr val="ECE3E7"/>
          </a:solidFill>
          <a:ln w="15875">
            <a:solidFill>
              <a:srgbClr val="E0AEAD"/>
            </a:solidFill>
          </a:ln>
          <a:effectLst>
            <a:outerShdw blurRad="60000" dist="18000" dir="5400000" rotWithShape="0">
              <a:srgbClr val="1B3A5C">
                <a:alpha val="7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ounded Rectangle 26"/>
          <p:cNvSpPr/>
          <p:nvPr/>
        </p:nvSpPr>
        <p:spPr>
          <a:xfrm>
            <a:off x="640080" y="5394959"/>
            <a:ext cx="50292" cy="822960"/>
          </a:xfrm>
          <a:prstGeom prst="roundRect">
            <a:avLst>
              <a:gd name="adj" fmla="val 50000"/>
            </a:avLst>
          </a:prstGeom>
          <a:solidFill>
            <a:srgbClr val="C439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969264" y="5477255"/>
            <a:ext cx="9997135" cy="658368"/>
          </a:xfrm>
          <a:prstGeom prst="rect">
            <a:avLst/>
          </a:prstGeom>
          <a:noFill/>
        </p:spPr>
        <p:txBody>
          <a:bodyPr wrap="square" lIns="0" rIns="0" tIns="0" bIns="0" anchor="ctr">
            <a:spAutoFit/>
          </a:bodyPr>
          <a:lstStyle/>
          <a:p>
            <a:pPr algn="l">
              <a:lnSpc>
                <a:spcPct val="120000"/>
              </a:lnSpc>
              <a:spcAft>
                <a:spcPts val="300"/>
              </a:spcAft>
            </a:pPr>
            <a:r>
              <a:rPr sz="950" b="1" spc="180">
                <a:solidFill>
                  <a:srgbClr val="C4392D"/>
                </a:solidFill>
                <a:latin typeface="Calibri"/>
              </a:rPr>
              <a:t>NIET OPTELLEN</a:t>
            </a:r>
          </a:p>
          <a:p>
            <a:pPr algn="l">
              <a:lnSpc>
                <a:spcPct val="120000"/>
              </a:lnSpc>
              <a:spcAft>
                <a:spcPts val="0"/>
              </a:spcAft>
            </a:pPr>
            <a:r>
              <a:rPr sz="1250" b="1">
                <a:solidFill>
                  <a:srgbClr val="0D1B2A"/>
                </a:solidFill>
                <a:latin typeface="Calibri"/>
              </a:rPr>
              <a:t>10 en 15 zijn geen 25. Het zijn verschillende kamers voor verschillende specialismen — zie de volgende dia.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FFFFFF"/>
              </a:gs>
              <a:gs pos="100000">
                <a:srgbClr val="F1F6FC"/>
              </a:gs>
            </a:gsLst>
            <a:lin scaled="0" ang="189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640080" y="566928"/>
            <a:ext cx="10911535" cy="219456"/>
          </a:xfrm>
          <a:prstGeom prst="rect">
            <a:avLst/>
          </a:prstGeom>
          <a:noFill/>
        </p:spPr>
        <p:txBody>
          <a:bodyPr wrap="square" lIns="0" rIns="0" tIns="0" bIns="0" anchor="t">
            <a:spAutoFit/>
          </a:bodyPr>
          <a:lstStyle/>
          <a:p>
            <a:pPr algn="l">
              <a:lnSpc>
                <a:spcPct val="120000"/>
              </a:lnSpc>
              <a:spcAft>
                <a:spcPts val="0"/>
              </a:spcAft>
            </a:pPr>
            <a:r>
              <a:rPr sz="1050" b="1" spc="220">
                <a:solidFill>
                  <a:srgbClr val="C4392D"/>
                </a:solidFill>
                <a:latin typeface="Calibri"/>
              </a:rPr>
              <a:t>DEEL 01  ·  WAAR STAAN WE NU</a:t>
            </a:r>
          </a:p>
        </p:txBody>
      </p:sp>
      <p:sp>
        <p:nvSpPr>
          <p:cNvPr id="4" name="TextBox 3"/>
          <p:cNvSpPr txBox="1"/>
          <p:nvPr/>
        </p:nvSpPr>
        <p:spPr>
          <a:xfrm>
            <a:off x="640080" y="859536"/>
            <a:ext cx="10911535" cy="566928"/>
          </a:xfrm>
          <a:prstGeom prst="rect">
            <a:avLst/>
          </a:prstGeom>
          <a:noFill/>
        </p:spPr>
        <p:txBody>
          <a:bodyPr wrap="square" lIns="0" rIns="0" tIns="0" bIns="0" anchor="t">
            <a:spAutoFit/>
          </a:bodyPr>
          <a:lstStyle/>
          <a:p>
            <a:pPr algn="l">
              <a:lnSpc>
                <a:spcPct val="120000"/>
              </a:lnSpc>
              <a:spcAft>
                <a:spcPts val="0"/>
              </a:spcAft>
            </a:pPr>
            <a:r>
              <a:rPr sz="3400" b="1">
                <a:solidFill>
                  <a:srgbClr val="0D1B2A"/>
                </a:solidFill>
                <a:latin typeface="Calibri"/>
              </a:rPr>
              <a:t>10 en 15 zijn niet optelbaar</a:t>
            </a:r>
          </a:p>
        </p:txBody>
      </p:sp>
      <p:sp>
        <p:nvSpPr>
          <p:cNvPr id="5" name="TextBox 4"/>
          <p:cNvSpPr txBox="1"/>
          <p:nvPr/>
        </p:nvSpPr>
        <p:spPr>
          <a:xfrm>
            <a:off x="640080" y="1335024"/>
            <a:ext cx="8510997" cy="274320"/>
          </a:xfrm>
          <a:prstGeom prst="rect">
            <a:avLst/>
          </a:prstGeom>
          <a:noFill/>
        </p:spPr>
        <p:txBody>
          <a:bodyPr wrap="square" lIns="0" rIns="0" tIns="0" bIns="0" anchor="t">
            <a:spAutoFit/>
          </a:bodyPr>
          <a:lstStyle/>
          <a:p>
            <a:pPr algn="l">
              <a:lnSpc>
                <a:spcPct val="120000"/>
              </a:lnSpc>
              <a:spcAft>
                <a:spcPts val="0"/>
              </a:spcAft>
            </a:pPr>
            <a:r>
              <a:rPr sz="1300" b="0">
                <a:solidFill>
                  <a:srgbClr val="55677C"/>
                </a:solidFill>
                <a:latin typeface="Calibri"/>
              </a:rPr>
              <a:t>Verschillende kamers, verschillende specialismen, aparte berekeningen</a:t>
            </a:r>
          </a:p>
        </p:txBody>
      </p:sp>
      <p:cxnSp>
        <p:nvCxnSpPr>
          <p:cNvPr id="6" name="Connector 5"/>
          <p:cNvCxnSpPr/>
          <p:nvPr/>
        </p:nvCxnSpPr>
        <p:spPr>
          <a:xfrm>
            <a:off x="640080" y="1609344"/>
            <a:ext cx="10911535" cy="0"/>
          </a:xfrm>
          <a:prstGeom prst="line">
            <a:avLst/>
          </a:prstGeom>
          <a:ln w="12700">
            <a:solidFill>
              <a:srgbClr val="E2E9F1"/>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640080" y="6291072"/>
            <a:ext cx="10911535" cy="0"/>
          </a:xfrm>
          <a:prstGeom prst="line">
            <a:avLst/>
          </a:prstGeom>
          <a:ln w="9525">
            <a:solidFill>
              <a:srgbClr val="E2E9F1"/>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40080" y="6382512"/>
            <a:ext cx="5486400" cy="237744"/>
          </a:xfrm>
          <a:prstGeom prst="rect">
            <a:avLst/>
          </a:prstGeom>
          <a:noFill/>
        </p:spPr>
        <p:txBody>
          <a:bodyPr wrap="square" lIns="0" rIns="0" tIns="0" bIns="0" anchor="t">
            <a:spAutoFit/>
          </a:bodyPr>
          <a:lstStyle/>
          <a:p>
            <a:pPr algn="l">
              <a:lnSpc>
                <a:spcPct val="120000"/>
              </a:lnSpc>
              <a:spcAft>
                <a:spcPts val="0"/>
              </a:spcAft>
            </a:pPr>
            <a:r>
              <a:rPr sz="900" b="0" spc="80">
                <a:solidFill>
                  <a:srgbClr val="8B9AAA"/>
                </a:solidFill>
                <a:latin typeface="Calibri"/>
              </a:rPr>
              <a:t>Acute poort en Hotfloor</a:t>
            </a:r>
          </a:p>
        </p:txBody>
      </p:sp>
      <p:sp>
        <p:nvSpPr>
          <p:cNvPr id="9" name="TextBox 8"/>
          <p:cNvSpPr txBox="1"/>
          <p:nvPr/>
        </p:nvSpPr>
        <p:spPr>
          <a:xfrm>
            <a:off x="10637215" y="6382512"/>
            <a:ext cx="914400" cy="237744"/>
          </a:xfrm>
          <a:prstGeom prst="rect">
            <a:avLst/>
          </a:prstGeom>
          <a:noFill/>
        </p:spPr>
        <p:txBody>
          <a:bodyPr wrap="square" lIns="0" rIns="0" tIns="0" bIns="0" anchor="t">
            <a:spAutoFit/>
          </a:bodyPr>
          <a:lstStyle/>
          <a:p>
            <a:pPr algn="r">
              <a:lnSpc>
                <a:spcPct val="120000"/>
              </a:lnSpc>
              <a:spcAft>
                <a:spcPts val="0"/>
              </a:spcAft>
            </a:pPr>
            <a:r>
              <a:rPr sz="950" b="1">
                <a:solidFill>
                  <a:srgbClr val="0E9A87"/>
                </a:solidFill>
                <a:latin typeface="Calibri"/>
              </a:rPr>
              <a:t>04</a:t>
            </a:r>
          </a:p>
        </p:txBody>
      </p:sp>
      <p:sp>
        <p:nvSpPr>
          <p:cNvPr id="10" name="Rounded Rectangle 9"/>
          <p:cNvSpPr/>
          <p:nvPr/>
        </p:nvSpPr>
        <p:spPr>
          <a:xfrm>
            <a:off x="640080" y="1700784"/>
            <a:ext cx="4892040" cy="2962656"/>
          </a:xfrm>
          <a:prstGeom prst="roundRect">
            <a:avLst>
              <a:gd name="adj" fmla="val 3000"/>
            </a:avLst>
          </a:prstGeom>
          <a:solidFill>
            <a:srgbClr val="FFFFFF"/>
          </a:solidFill>
          <a:ln w="12700">
            <a:solidFill>
              <a:srgbClr val="E2E9F1"/>
            </a:solidFill>
          </a:ln>
          <a:effectLst>
            <a:outerShdw blurRad="70000" dist="22000" dir="5400000" rotWithShape="0">
              <a:srgbClr val="1B3A5C">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1920240"/>
            <a:ext cx="4306824" cy="329184"/>
          </a:xfrm>
          <a:prstGeom prst="rect">
            <a:avLst/>
          </a:prstGeom>
          <a:noFill/>
        </p:spPr>
        <p:txBody>
          <a:bodyPr wrap="square" lIns="0" rIns="0" tIns="0" bIns="0" anchor="t">
            <a:spAutoFit/>
          </a:bodyPr>
          <a:lstStyle/>
          <a:p>
            <a:pPr algn="l">
              <a:lnSpc>
                <a:spcPct val="120000"/>
              </a:lnSpc>
              <a:spcAft>
                <a:spcPts val="0"/>
              </a:spcAft>
            </a:pPr>
            <a:r>
              <a:rPr sz="2000" b="1">
                <a:solidFill>
                  <a:srgbClr val="1F6FB2"/>
                </a:solidFill>
                <a:latin typeface="Calibri"/>
              </a:rPr>
              <a:t>ICU</a:t>
            </a:r>
          </a:p>
        </p:txBody>
      </p:sp>
      <p:sp>
        <p:nvSpPr>
          <p:cNvPr id="12" name="TextBox 11"/>
          <p:cNvSpPr txBox="1"/>
          <p:nvPr/>
        </p:nvSpPr>
        <p:spPr>
          <a:xfrm>
            <a:off x="932688" y="2267712"/>
            <a:ext cx="4306824" cy="237744"/>
          </a:xfrm>
          <a:prstGeom prst="rect">
            <a:avLst/>
          </a:prstGeom>
          <a:noFill/>
        </p:spPr>
        <p:txBody>
          <a:bodyPr wrap="square" lIns="0" rIns="0" tIns="0" bIns="0" anchor="t">
            <a:spAutoFit/>
          </a:bodyPr>
          <a:lstStyle/>
          <a:p>
            <a:pPr algn="l">
              <a:lnSpc>
                <a:spcPct val="120000"/>
              </a:lnSpc>
              <a:spcAft>
                <a:spcPts val="0"/>
              </a:spcAft>
            </a:pPr>
            <a:r>
              <a:rPr sz="1000" b="1" spc="160">
                <a:solidFill>
                  <a:srgbClr val="55677C"/>
                </a:solidFill>
                <a:latin typeface="Calibri"/>
              </a:rPr>
              <a:t>10 KAMERS</a:t>
            </a:r>
          </a:p>
        </p:txBody>
      </p:sp>
      <p:sp>
        <p:nvSpPr>
          <p:cNvPr id="13" name="TextBox 12"/>
          <p:cNvSpPr txBox="1"/>
          <p:nvPr/>
        </p:nvSpPr>
        <p:spPr>
          <a:xfrm>
            <a:off x="932688" y="2505456"/>
            <a:ext cx="4306824" cy="237744"/>
          </a:xfrm>
          <a:prstGeom prst="rect">
            <a:avLst/>
          </a:prstGeom>
          <a:noFill/>
        </p:spPr>
        <p:txBody>
          <a:bodyPr wrap="square" lIns="0" rIns="0" tIns="0" bIns="0" anchor="t">
            <a:spAutoFit/>
          </a:bodyPr>
          <a:lstStyle/>
          <a:p>
            <a:pPr algn="l">
              <a:lnSpc>
                <a:spcPct val="120000"/>
              </a:lnSpc>
              <a:spcAft>
                <a:spcPts val="0"/>
              </a:spcAft>
            </a:pPr>
            <a:r>
              <a:rPr sz="1050" b="0">
                <a:solidFill>
                  <a:srgbClr val="8B9AAA"/>
                </a:solidFill>
                <a:latin typeface="Calibri"/>
              </a:rPr>
              <a:t>intensive care</a:t>
            </a:r>
          </a:p>
        </p:txBody>
      </p:sp>
      <p:sp>
        <p:nvSpPr>
          <p:cNvPr id="14" name="Rounded Rectangle 13"/>
          <p:cNvSpPr/>
          <p:nvPr/>
        </p:nvSpPr>
        <p:spPr>
          <a:xfrm>
            <a:off x="1705355" y="3374136"/>
            <a:ext cx="457200" cy="457200"/>
          </a:xfrm>
          <a:prstGeom prst="roundRect">
            <a:avLst>
              <a:gd name="adj" fmla="val 14000"/>
            </a:avLst>
          </a:prstGeom>
          <a:solidFill>
            <a:srgbClr val="1F6FB2">
              <a:alpha val="92000"/>
            </a:srgbClr>
          </a:solidFill>
          <a:ln w="15875">
            <a:solidFill>
              <a:srgbClr val="1F6FB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ounded Rectangle 14"/>
          <p:cNvSpPr/>
          <p:nvPr/>
        </p:nvSpPr>
        <p:spPr>
          <a:xfrm>
            <a:off x="2281427" y="3374136"/>
            <a:ext cx="457200" cy="457200"/>
          </a:xfrm>
          <a:prstGeom prst="roundRect">
            <a:avLst>
              <a:gd name="adj" fmla="val 14000"/>
            </a:avLst>
          </a:prstGeom>
          <a:solidFill>
            <a:srgbClr val="1F6FB2">
              <a:alpha val="92000"/>
            </a:srgbClr>
          </a:solidFill>
          <a:ln w="15875">
            <a:solidFill>
              <a:srgbClr val="1F6FB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2857500" y="3374136"/>
            <a:ext cx="457200" cy="457200"/>
          </a:xfrm>
          <a:prstGeom prst="roundRect">
            <a:avLst>
              <a:gd name="adj" fmla="val 14000"/>
            </a:avLst>
          </a:prstGeom>
          <a:solidFill>
            <a:srgbClr val="1F6FB2">
              <a:alpha val="92000"/>
            </a:srgbClr>
          </a:solidFill>
          <a:ln w="15875">
            <a:solidFill>
              <a:srgbClr val="1F6FB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3433572" y="3374136"/>
            <a:ext cx="457200" cy="457200"/>
          </a:xfrm>
          <a:prstGeom prst="roundRect">
            <a:avLst>
              <a:gd name="adj" fmla="val 14000"/>
            </a:avLst>
          </a:prstGeom>
          <a:solidFill>
            <a:srgbClr val="1F6FB2">
              <a:alpha val="92000"/>
            </a:srgbClr>
          </a:solidFill>
          <a:ln w="15875">
            <a:solidFill>
              <a:srgbClr val="1F6FB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ounded Rectangle 17"/>
          <p:cNvSpPr/>
          <p:nvPr/>
        </p:nvSpPr>
        <p:spPr>
          <a:xfrm>
            <a:off x="4009644" y="3374136"/>
            <a:ext cx="457200" cy="457200"/>
          </a:xfrm>
          <a:prstGeom prst="roundRect">
            <a:avLst>
              <a:gd name="adj" fmla="val 14000"/>
            </a:avLst>
          </a:prstGeom>
          <a:solidFill>
            <a:srgbClr val="1F6FB2">
              <a:alpha val="92000"/>
            </a:srgbClr>
          </a:solidFill>
          <a:ln w="15875">
            <a:solidFill>
              <a:srgbClr val="1F6FB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ounded Rectangle 18"/>
          <p:cNvSpPr/>
          <p:nvPr/>
        </p:nvSpPr>
        <p:spPr>
          <a:xfrm>
            <a:off x="1705355" y="3950208"/>
            <a:ext cx="457200" cy="457200"/>
          </a:xfrm>
          <a:prstGeom prst="roundRect">
            <a:avLst>
              <a:gd name="adj" fmla="val 14000"/>
            </a:avLst>
          </a:prstGeom>
          <a:solidFill>
            <a:srgbClr val="1F6FB2">
              <a:alpha val="92000"/>
            </a:srgbClr>
          </a:solidFill>
          <a:ln w="15875">
            <a:solidFill>
              <a:srgbClr val="1F6FB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2281427" y="3950208"/>
            <a:ext cx="457200" cy="457200"/>
          </a:xfrm>
          <a:prstGeom prst="roundRect">
            <a:avLst>
              <a:gd name="adj" fmla="val 14000"/>
            </a:avLst>
          </a:prstGeom>
          <a:solidFill>
            <a:srgbClr val="1F6FB2">
              <a:alpha val="92000"/>
            </a:srgbClr>
          </a:solidFill>
          <a:ln w="15875">
            <a:solidFill>
              <a:srgbClr val="1F6FB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2857500" y="3950208"/>
            <a:ext cx="457200" cy="457200"/>
          </a:xfrm>
          <a:prstGeom prst="roundRect">
            <a:avLst>
              <a:gd name="adj" fmla="val 14000"/>
            </a:avLst>
          </a:prstGeom>
          <a:solidFill>
            <a:srgbClr val="1F6FB2">
              <a:alpha val="92000"/>
            </a:srgbClr>
          </a:solidFill>
          <a:ln w="15875">
            <a:solidFill>
              <a:srgbClr val="1F6FB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ounded Rectangle 21"/>
          <p:cNvSpPr/>
          <p:nvPr/>
        </p:nvSpPr>
        <p:spPr>
          <a:xfrm>
            <a:off x="3433572" y="3950208"/>
            <a:ext cx="457200" cy="457200"/>
          </a:xfrm>
          <a:prstGeom prst="roundRect">
            <a:avLst>
              <a:gd name="adj" fmla="val 14000"/>
            </a:avLst>
          </a:prstGeom>
          <a:solidFill>
            <a:srgbClr val="1F6FB2">
              <a:alpha val="92000"/>
            </a:srgbClr>
          </a:solidFill>
          <a:ln w="15875">
            <a:solidFill>
              <a:srgbClr val="1F6FB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ounded Rectangle 22"/>
          <p:cNvSpPr/>
          <p:nvPr/>
        </p:nvSpPr>
        <p:spPr>
          <a:xfrm>
            <a:off x="4009644" y="3950208"/>
            <a:ext cx="457200" cy="457200"/>
          </a:xfrm>
          <a:prstGeom prst="roundRect">
            <a:avLst>
              <a:gd name="adj" fmla="val 14000"/>
            </a:avLst>
          </a:prstGeom>
          <a:solidFill>
            <a:srgbClr val="1F6FB2">
              <a:alpha val="92000"/>
            </a:srgbClr>
          </a:solidFill>
          <a:ln w="15875">
            <a:solidFill>
              <a:srgbClr val="1F6FB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ounded Rectangle 23"/>
          <p:cNvSpPr/>
          <p:nvPr/>
        </p:nvSpPr>
        <p:spPr>
          <a:xfrm>
            <a:off x="6659575" y="1700784"/>
            <a:ext cx="4892040" cy="2962656"/>
          </a:xfrm>
          <a:prstGeom prst="roundRect">
            <a:avLst>
              <a:gd name="adj" fmla="val 3000"/>
            </a:avLst>
          </a:prstGeom>
          <a:solidFill>
            <a:srgbClr val="FFFFFF"/>
          </a:solidFill>
          <a:ln w="12700">
            <a:solidFill>
              <a:srgbClr val="E2E9F1"/>
            </a:solidFill>
          </a:ln>
          <a:effectLst>
            <a:outerShdw blurRad="70000" dist="22000" dir="5400000" rotWithShape="0">
              <a:srgbClr val="1B3A5C">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6952183" y="1920240"/>
            <a:ext cx="4306824" cy="329184"/>
          </a:xfrm>
          <a:prstGeom prst="rect">
            <a:avLst/>
          </a:prstGeom>
          <a:noFill/>
        </p:spPr>
        <p:txBody>
          <a:bodyPr wrap="square" lIns="0" rIns="0" tIns="0" bIns="0" anchor="t">
            <a:spAutoFit/>
          </a:bodyPr>
          <a:lstStyle/>
          <a:p>
            <a:pPr algn="l">
              <a:lnSpc>
                <a:spcPct val="120000"/>
              </a:lnSpc>
              <a:spcAft>
                <a:spcPts val="0"/>
              </a:spcAft>
            </a:pPr>
            <a:r>
              <a:rPr sz="2000" b="1">
                <a:solidFill>
                  <a:srgbClr val="6B4BA8"/>
                </a:solidFill>
                <a:latin typeface="Calibri"/>
              </a:rPr>
              <a:t>CCU / SCU / EHH</a:t>
            </a:r>
          </a:p>
        </p:txBody>
      </p:sp>
      <p:sp>
        <p:nvSpPr>
          <p:cNvPr id="26" name="TextBox 25"/>
          <p:cNvSpPr txBox="1"/>
          <p:nvPr/>
        </p:nvSpPr>
        <p:spPr>
          <a:xfrm>
            <a:off x="6952183" y="2267712"/>
            <a:ext cx="4306824" cy="237744"/>
          </a:xfrm>
          <a:prstGeom prst="rect">
            <a:avLst/>
          </a:prstGeom>
          <a:noFill/>
        </p:spPr>
        <p:txBody>
          <a:bodyPr wrap="square" lIns="0" rIns="0" tIns="0" bIns="0" anchor="t">
            <a:spAutoFit/>
          </a:bodyPr>
          <a:lstStyle/>
          <a:p>
            <a:pPr algn="l">
              <a:lnSpc>
                <a:spcPct val="120000"/>
              </a:lnSpc>
              <a:spcAft>
                <a:spcPts val="0"/>
              </a:spcAft>
            </a:pPr>
            <a:r>
              <a:rPr sz="1000" b="1" spc="160">
                <a:solidFill>
                  <a:srgbClr val="55677C"/>
                </a:solidFill>
                <a:latin typeface="Calibri"/>
              </a:rPr>
              <a:t>15 KAMERS</a:t>
            </a:r>
          </a:p>
        </p:txBody>
      </p:sp>
      <p:sp>
        <p:nvSpPr>
          <p:cNvPr id="27" name="TextBox 26"/>
          <p:cNvSpPr txBox="1"/>
          <p:nvPr/>
        </p:nvSpPr>
        <p:spPr>
          <a:xfrm>
            <a:off x="6952183" y="2505456"/>
            <a:ext cx="4306824" cy="237744"/>
          </a:xfrm>
          <a:prstGeom prst="rect">
            <a:avLst/>
          </a:prstGeom>
          <a:noFill/>
        </p:spPr>
        <p:txBody>
          <a:bodyPr wrap="square" lIns="0" rIns="0" tIns="0" bIns="0" anchor="t">
            <a:spAutoFit/>
          </a:bodyPr>
          <a:lstStyle/>
          <a:p>
            <a:pPr algn="l">
              <a:lnSpc>
                <a:spcPct val="120000"/>
              </a:lnSpc>
              <a:spcAft>
                <a:spcPts val="0"/>
              </a:spcAft>
            </a:pPr>
            <a:r>
              <a:rPr sz="1050" b="0">
                <a:solidFill>
                  <a:srgbClr val="8B9AAA"/>
                </a:solidFill>
                <a:latin typeface="Calibri"/>
              </a:rPr>
              <a:t>coronary, stroke en eerste hart hulp</a:t>
            </a:r>
          </a:p>
        </p:txBody>
      </p:sp>
      <p:sp>
        <p:nvSpPr>
          <p:cNvPr id="28" name="Rounded Rectangle 27"/>
          <p:cNvSpPr/>
          <p:nvPr/>
        </p:nvSpPr>
        <p:spPr>
          <a:xfrm>
            <a:off x="7724851" y="2798064"/>
            <a:ext cx="457200" cy="457200"/>
          </a:xfrm>
          <a:prstGeom prst="roundRect">
            <a:avLst>
              <a:gd name="adj" fmla="val 14000"/>
            </a:avLst>
          </a:prstGeom>
          <a:solidFill>
            <a:srgbClr val="6B4BA8">
              <a:alpha val="92000"/>
            </a:srgbClr>
          </a:solidFill>
          <a:ln w="15875">
            <a:solidFill>
              <a:srgbClr val="6B4BA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300923" y="2798064"/>
            <a:ext cx="457200" cy="457200"/>
          </a:xfrm>
          <a:prstGeom prst="roundRect">
            <a:avLst>
              <a:gd name="adj" fmla="val 14000"/>
            </a:avLst>
          </a:prstGeom>
          <a:solidFill>
            <a:srgbClr val="6B4BA8">
              <a:alpha val="92000"/>
            </a:srgbClr>
          </a:solidFill>
          <a:ln w="15875">
            <a:solidFill>
              <a:srgbClr val="6B4BA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Rounded Rectangle 29"/>
          <p:cNvSpPr/>
          <p:nvPr/>
        </p:nvSpPr>
        <p:spPr>
          <a:xfrm>
            <a:off x="8876995" y="2798064"/>
            <a:ext cx="457200" cy="457200"/>
          </a:xfrm>
          <a:prstGeom prst="roundRect">
            <a:avLst>
              <a:gd name="adj" fmla="val 14000"/>
            </a:avLst>
          </a:prstGeom>
          <a:solidFill>
            <a:srgbClr val="6B4BA8">
              <a:alpha val="92000"/>
            </a:srgbClr>
          </a:solidFill>
          <a:ln w="15875">
            <a:solidFill>
              <a:srgbClr val="6B4BA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ounded Rectangle 30"/>
          <p:cNvSpPr/>
          <p:nvPr/>
        </p:nvSpPr>
        <p:spPr>
          <a:xfrm>
            <a:off x="9453067" y="2798064"/>
            <a:ext cx="457200" cy="457200"/>
          </a:xfrm>
          <a:prstGeom prst="roundRect">
            <a:avLst>
              <a:gd name="adj" fmla="val 14000"/>
            </a:avLst>
          </a:prstGeom>
          <a:solidFill>
            <a:srgbClr val="6B4BA8">
              <a:alpha val="92000"/>
            </a:srgbClr>
          </a:solidFill>
          <a:ln w="15875">
            <a:solidFill>
              <a:srgbClr val="6B4BA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ounded Rectangle 31"/>
          <p:cNvSpPr/>
          <p:nvPr/>
        </p:nvSpPr>
        <p:spPr>
          <a:xfrm>
            <a:off x="10029139" y="2798064"/>
            <a:ext cx="457200" cy="457200"/>
          </a:xfrm>
          <a:prstGeom prst="roundRect">
            <a:avLst>
              <a:gd name="adj" fmla="val 14000"/>
            </a:avLst>
          </a:prstGeom>
          <a:solidFill>
            <a:srgbClr val="6B4BA8">
              <a:alpha val="92000"/>
            </a:srgbClr>
          </a:solidFill>
          <a:ln w="15875">
            <a:solidFill>
              <a:srgbClr val="6B4BA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ounded Rectangle 32"/>
          <p:cNvSpPr/>
          <p:nvPr/>
        </p:nvSpPr>
        <p:spPr>
          <a:xfrm>
            <a:off x="7724851" y="3374136"/>
            <a:ext cx="457200" cy="457200"/>
          </a:xfrm>
          <a:prstGeom prst="roundRect">
            <a:avLst>
              <a:gd name="adj" fmla="val 14000"/>
            </a:avLst>
          </a:prstGeom>
          <a:solidFill>
            <a:srgbClr val="6B4BA8">
              <a:alpha val="92000"/>
            </a:srgbClr>
          </a:solidFill>
          <a:ln w="15875">
            <a:solidFill>
              <a:srgbClr val="6B4BA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Rounded Rectangle 33"/>
          <p:cNvSpPr/>
          <p:nvPr/>
        </p:nvSpPr>
        <p:spPr>
          <a:xfrm>
            <a:off x="8300923" y="3374136"/>
            <a:ext cx="457200" cy="457200"/>
          </a:xfrm>
          <a:prstGeom prst="roundRect">
            <a:avLst>
              <a:gd name="adj" fmla="val 14000"/>
            </a:avLst>
          </a:prstGeom>
          <a:solidFill>
            <a:srgbClr val="6B4BA8">
              <a:alpha val="92000"/>
            </a:srgbClr>
          </a:solidFill>
          <a:ln w="15875">
            <a:solidFill>
              <a:srgbClr val="6B4BA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Rounded Rectangle 34"/>
          <p:cNvSpPr/>
          <p:nvPr/>
        </p:nvSpPr>
        <p:spPr>
          <a:xfrm>
            <a:off x="8876995" y="3374136"/>
            <a:ext cx="457200" cy="457200"/>
          </a:xfrm>
          <a:prstGeom prst="roundRect">
            <a:avLst>
              <a:gd name="adj" fmla="val 14000"/>
            </a:avLst>
          </a:prstGeom>
          <a:solidFill>
            <a:srgbClr val="6B4BA8">
              <a:alpha val="92000"/>
            </a:srgbClr>
          </a:solidFill>
          <a:ln w="15875">
            <a:solidFill>
              <a:srgbClr val="6B4BA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Rounded Rectangle 35"/>
          <p:cNvSpPr/>
          <p:nvPr/>
        </p:nvSpPr>
        <p:spPr>
          <a:xfrm>
            <a:off x="9453067" y="3374136"/>
            <a:ext cx="457200" cy="457200"/>
          </a:xfrm>
          <a:prstGeom prst="roundRect">
            <a:avLst>
              <a:gd name="adj" fmla="val 14000"/>
            </a:avLst>
          </a:prstGeom>
          <a:solidFill>
            <a:srgbClr val="6B4BA8">
              <a:alpha val="92000"/>
            </a:srgbClr>
          </a:solidFill>
          <a:ln w="15875">
            <a:solidFill>
              <a:srgbClr val="6B4BA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ounded Rectangle 36"/>
          <p:cNvSpPr/>
          <p:nvPr/>
        </p:nvSpPr>
        <p:spPr>
          <a:xfrm>
            <a:off x="10029139" y="3374136"/>
            <a:ext cx="457200" cy="457200"/>
          </a:xfrm>
          <a:prstGeom prst="roundRect">
            <a:avLst>
              <a:gd name="adj" fmla="val 14000"/>
            </a:avLst>
          </a:prstGeom>
          <a:solidFill>
            <a:srgbClr val="6B4BA8">
              <a:alpha val="92000"/>
            </a:srgbClr>
          </a:solidFill>
          <a:ln w="15875">
            <a:solidFill>
              <a:srgbClr val="6B4BA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Rounded Rectangle 37"/>
          <p:cNvSpPr/>
          <p:nvPr/>
        </p:nvSpPr>
        <p:spPr>
          <a:xfrm>
            <a:off x="7724851" y="3950208"/>
            <a:ext cx="457200" cy="457200"/>
          </a:xfrm>
          <a:prstGeom prst="roundRect">
            <a:avLst>
              <a:gd name="adj" fmla="val 14000"/>
            </a:avLst>
          </a:prstGeom>
          <a:solidFill>
            <a:srgbClr val="6B4BA8">
              <a:alpha val="92000"/>
            </a:srgbClr>
          </a:solidFill>
          <a:ln w="15875">
            <a:solidFill>
              <a:srgbClr val="6B4BA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Rounded Rectangle 38"/>
          <p:cNvSpPr/>
          <p:nvPr/>
        </p:nvSpPr>
        <p:spPr>
          <a:xfrm>
            <a:off x="8300923" y="3950208"/>
            <a:ext cx="457200" cy="457200"/>
          </a:xfrm>
          <a:prstGeom prst="roundRect">
            <a:avLst>
              <a:gd name="adj" fmla="val 14000"/>
            </a:avLst>
          </a:prstGeom>
          <a:solidFill>
            <a:srgbClr val="6B4BA8">
              <a:alpha val="92000"/>
            </a:srgbClr>
          </a:solidFill>
          <a:ln w="15875">
            <a:solidFill>
              <a:srgbClr val="6B4BA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Rounded Rectangle 39"/>
          <p:cNvSpPr/>
          <p:nvPr/>
        </p:nvSpPr>
        <p:spPr>
          <a:xfrm>
            <a:off x="8876995" y="3950208"/>
            <a:ext cx="457200" cy="457200"/>
          </a:xfrm>
          <a:prstGeom prst="roundRect">
            <a:avLst>
              <a:gd name="adj" fmla="val 14000"/>
            </a:avLst>
          </a:prstGeom>
          <a:solidFill>
            <a:srgbClr val="6B4BA8">
              <a:alpha val="92000"/>
            </a:srgbClr>
          </a:solidFill>
          <a:ln w="15875">
            <a:solidFill>
              <a:srgbClr val="6B4BA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Rounded Rectangle 40"/>
          <p:cNvSpPr/>
          <p:nvPr/>
        </p:nvSpPr>
        <p:spPr>
          <a:xfrm>
            <a:off x="9453067" y="3950208"/>
            <a:ext cx="457200" cy="457200"/>
          </a:xfrm>
          <a:prstGeom prst="roundRect">
            <a:avLst>
              <a:gd name="adj" fmla="val 14000"/>
            </a:avLst>
          </a:prstGeom>
          <a:solidFill>
            <a:srgbClr val="6B4BA8">
              <a:alpha val="92000"/>
            </a:srgbClr>
          </a:solidFill>
          <a:ln w="15875">
            <a:solidFill>
              <a:srgbClr val="6B4BA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Rounded Rectangle 41"/>
          <p:cNvSpPr/>
          <p:nvPr/>
        </p:nvSpPr>
        <p:spPr>
          <a:xfrm>
            <a:off x="10029139" y="3950208"/>
            <a:ext cx="457200" cy="457200"/>
          </a:xfrm>
          <a:prstGeom prst="roundRect">
            <a:avLst>
              <a:gd name="adj" fmla="val 14000"/>
            </a:avLst>
          </a:prstGeom>
          <a:solidFill>
            <a:srgbClr val="6B4BA8">
              <a:alpha val="92000"/>
            </a:srgbClr>
          </a:solidFill>
          <a:ln w="15875">
            <a:solidFill>
              <a:srgbClr val="6B4BA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5532120" y="2761488"/>
            <a:ext cx="1127455" cy="914400"/>
          </a:xfrm>
          <a:prstGeom prst="rect">
            <a:avLst/>
          </a:prstGeom>
          <a:noFill/>
        </p:spPr>
        <p:txBody>
          <a:bodyPr wrap="square" lIns="0" rIns="0" tIns="0" bIns="0" anchor="t">
            <a:spAutoFit/>
          </a:bodyPr>
          <a:lstStyle/>
          <a:p>
            <a:pPr algn="ctr">
              <a:lnSpc>
                <a:spcPct val="120000"/>
              </a:lnSpc>
              <a:spcAft>
                <a:spcPts val="0"/>
              </a:spcAft>
            </a:pPr>
            <a:r>
              <a:rPr sz="5600" b="1">
                <a:solidFill>
                  <a:srgbClr val="C4392D"/>
                </a:solidFill>
                <a:latin typeface="Calibri"/>
              </a:rPr>
              <a:t>≠</a:t>
            </a:r>
          </a:p>
        </p:txBody>
      </p:sp>
      <p:sp>
        <p:nvSpPr>
          <p:cNvPr id="44" name="TextBox 43"/>
          <p:cNvSpPr txBox="1"/>
          <p:nvPr/>
        </p:nvSpPr>
        <p:spPr>
          <a:xfrm>
            <a:off x="5532120" y="3675888"/>
            <a:ext cx="1127455" cy="548640"/>
          </a:xfrm>
          <a:prstGeom prst="rect">
            <a:avLst/>
          </a:prstGeom>
          <a:noFill/>
        </p:spPr>
        <p:txBody>
          <a:bodyPr wrap="square" lIns="0" rIns="0" tIns="0" bIns="0" anchor="t">
            <a:spAutoFit/>
          </a:bodyPr>
          <a:lstStyle/>
          <a:p>
            <a:pPr algn="ctr">
              <a:lnSpc>
                <a:spcPct val="120000"/>
              </a:lnSpc>
              <a:spcAft>
                <a:spcPts val="0"/>
              </a:spcAft>
            </a:pPr>
            <a:r>
              <a:rPr sz="1050" b="0">
                <a:solidFill>
                  <a:srgbClr val="55677C"/>
                </a:solidFill>
                <a:latin typeface="Calibri"/>
              </a:rPr>
              <a:t>niet bij elkaar</a:t>
            </a:r>
          </a:p>
          <a:p>
            <a:pPr algn="ctr">
              <a:lnSpc>
                <a:spcPct val="120000"/>
              </a:lnSpc>
              <a:spcAft>
                <a:spcPts val="0"/>
              </a:spcAft>
            </a:pPr>
            <a:r>
              <a:rPr sz="1050" b="0">
                <a:solidFill>
                  <a:srgbClr val="55677C"/>
                </a:solidFill>
                <a:latin typeface="Calibri"/>
              </a:rPr>
              <a:t>op te tellen</a:t>
            </a:r>
          </a:p>
        </p:txBody>
      </p:sp>
      <p:sp>
        <p:nvSpPr>
          <p:cNvPr id="45" name="Rounded Rectangle 44"/>
          <p:cNvSpPr/>
          <p:nvPr/>
        </p:nvSpPr>
        <p:spPr>
          <a:xfrm>
            <a:off x="640080" y="4846320"/>
            <a:ext cx="5318607" cy="493776"/>
          </a:xfrm>
          <a:prstGeom prst="roundRect">
            <a:avLst>
              <a:gd name="adj" fmla="val 8000"/>
            </a:avLst>
          </a:prstGeom>
          <a:noFill/>
          <a:ln w="12700">
            <a:solidFill>
              <a:srgbClr val="E2E9F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TextBox 45"/>
          <p:cNvSpPr txBox="1"/>
          <p:nvPr/>
        </p:nvSpPr>
        <p:spPr>
          <a:xfrm>
            <a:off x="896112" y="4873752"/>
            <a:ext cx="2194560" cy="438912"/>
          </a:xfrm>
          <a:prstGeom prst="rect">
            <a:avLst/>
          </a:prstGeom>
          <a:noFill/>
        </p:spPr>
        <p:txBody>
          <a:bodyPr wrap="square" lIns="0" rIns="0" tIns="0" bIns="0" anchor="ctr">
            <a:spAutoFit/>
          </a:bodyPr>
          <a:lstStyle/>
          <a:p>
            <a:pPr algn="l">
              <a:lnSpc>
                <a:spcPct val="120000"/>
              </a:lnSpc>
              <a:spcAft>
                <a:spcPts val="0"/>
              </a:spcAft>
            </a:pPr>
            <a:r>
              <a:rPr sz="1400" b="1">
                <a:solidFill>
                  <a:srgbClr val="0D1B2A"/>
                </a:solidFill>
                <a:latin typeface="Calibri"/>
              </a:rPr>
              <a:t>SEH</a:t>
            </a:r>
          </a:p>
        </p:txBody>
      </p:sp>
      <p:sp>
        <p:nvSpPr>
          <p:cNvPr id="47" name="TextBox 46"/>
          <p:cNvSpPr txBox="1"/>
          <p:nvPr/>
        </p:nvSpPr>
        <p:spPr>
          <a:xfrm>
            <a:off x="2849727" y="4873752"/>
            <a:ext cx="2852928" cy="438912"/>
          </a:xfrm>
          <a:prstGeom prst="rect">
            <a:avLst/>
          </a:prstGeom>
          <a:noFill/>
        </p:spPr>
        <p:txBody>
          <a:bodyPr wrap="square" lIns="0" rIns="0" tIns="0" bIns="0" anchor="ctr">
            <a:spAutoFit/>
          </a:bodyPr>
          <a:lstStyle/>
          <a:p>
            <a:pPr algn="r">
              <a:lnSpc>
                <a:spcPct val="120000"/>
              </a:lnSpc>
              <a:spcAft>
                <a:spcPts val="0"/>
              </a:spcAft>
            </a:pPr>
            <a:r>
              <a:rPr sz="1050" b="0">
                <a:solidFill>
                  <a:srgbClr val="8B9AAA"/>
                </a:solidFill>
                <a:latin typeface="Calibri"/>
              </a:rPr>
              <a:t>aantal kamers nog niet in beeld</a:t>
            </a:r>
          </a:p>
        </p:txBody>
      </p:sp>
      <p:sp>
        <p:nvSpPr>
          <p:cNvPr id="48" name="Rounded Rectangle 47"/>
          <p:cNvSpPr/>
          <p:nvPr/>
        </p:nvSpPr>
        <p:spPr>
          <a:xfrm>
            <a:off x="6233007" y="4846320"/>
            <a:ext cx="5318607" cy="493776"/>
          </a:xfrm>
          <a:prstGeom prst="roundRect">
            <a:avLst>
              <a:gd name="adj" fmla="val 8000"/>
            </a:avLst>
          </a:prstGeom>
          <a:noFill/>
          <a:ln w="12700">
            <a:solidFill>
              <a:srgbClr val="E2E9F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TextBox 48"/>
          <p:cNvSpPr txBox="1"/>
          <p:nvPr/>
        </p:nvSpPr>
        <p:spPr>
          <a:xfrm>
            <a:off x="6489039" y="4873752"/>
            <a:ext cx="2194560" cy="438912"/>
          </a:xfrm>
          <a:prstGeom prst="rect">
            <a:avLst/>
          </a:prstGeom>
          <a:noFill/>
        </p:spPr>
        <p:txBody>
          <a:bodyPr wrap="square" lIns="0" rIns="0" tIns="0" bIns="0" anchor="ctr">
            <a:spAutoFit/>
          </a:bodyPr>
          <a:lstStyle/>
          <a:p>
            <a:pPr algn="l">
              <a:lnSpc>
                <a:spcPct val="120000"/>
              </a:lnSpc>
              <a:spcAft>
                <a:spcPts val="0"/>
              </a:spcAft>
            </a:pPr>
            <a:r>
              <a:rPr sz="1400" b="1">
                <a:solidFill>
                  <a:srgbClr val="0D1B2A"/>
                </a:solidFill>
                <a:latin typeface="Calibri"/>
              </a:rPr>
              <a:t>Kind spoed</a:t>
            </a:r>
          </a:p>
        </p:txBody>
      </p:sp>
      <p:sp>
        <p:nvSpPr>
          <p:cNvPr id="50" name="TextBox 49"/>
          <p:cNvSpPr txBox="1"/>
          <p:nvPr/>
        </p:nvSpPr>
        <p:spPr>
          <a:xfrm>
            <a:off x="8442655" y="4873752"/>
            <a:ext cx="2852928" cy="438912"/>
          </a:xfrm>
          <a:prstGeom prst="rect">
            <a:avLst/>
          </a:prstGeom>
          <a:noFill/>
        </p:spPr>
        <p:txBody>
          <a:bodyPr wrap="square" lIns="0" rIns="0" tIns="0" bIns="0" anchor="ctr">
            <a:spAutoFit/>
          </a:bodyPr>
          <a:lstStyle/>
          <a:p>
            <a:pPr algn="r">
              <a:lnSpc>
                <a:spcPct val="120000"/>
              </a:lnSpc>
              <a:spcAft>
                <a:spcPts val="0"/>
              </a:spcAft>
            </a:pPr>
            <a:r>
              <a:rPr sz="1050" b="0">
                <a:solidFill>
                  <a:srgbClr val="8B9AAA"/>
                </a:solidFill>
                <a:latin typeface="Calibri"/>
              </a:rPr>
              <a:t>aantal kamers nog niet in beeld</a:t>
            </a:r>
          </a:p>
        </p:txBody>
      </p:sp>
      <p:sp>
        <p:nvSpPr>
          <p:cNvPr id="51" name="Rounded Rectangle 50"/>
          <p:cNvSpPr/>
          <p:nvPr/>
        </p:nvSpPr>
        <p:spPr>
          <a:xfrm>
            <a:off x="640080" y="5358383"/>
            <a:ext cx="10911535" cy="786384"/>
          </a:xfrm>
          <a:prstGeom prst="roundRect">
            <a:avLst>
              <a:gd name="adj" fmla="val 3000"/>
            </a:avLst>
          </a:prstGeom>
          <a:solidFill>
            <a:srgbClr val="ECE3E7"/>
          </a:solidFill>
          <a:ln w="15875">
            <a:solidFill>
              <a:srgbClr val="E0AEAD"/>
            </a:solidFill>
          </a:ln>
          <a:effectLst>
            <a:outerShdw blurRad="60000" dist="18000" dir="5400000" rotWithShape="0">
              <a:srgbClr val="1B3A5C">
                <a:alpha val="7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Rounded Rectangle 51"/>
          <p:cNvSpPr/>
          <p:nvPr/>
        </p:nvSpPr>
        <p:spPr>
          <a:xfrm>
            <a:off x="640080" y="5358383"/>
            <a:ext cx="50292" cy="786384"/>
          </a:xfrm>
          <a:prstGeom prst="roundRect">
            <a:avLst>
              <a:gd name="adj" fmla="val 50000"/>
            </a:avLst>
          </a:prstGeom>
          <a:solidFill>
            <a:srgbClr val="C439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 name="TextBox 52"/>
          <p:cNvSpPr txBox="1"/>
          <p:nvPr/>
        </p:nvSpPr>
        <p:spPr>
          <a:xfrm>
            <a:off x="969264" y="5440679"/>
            <a:ext cx="9997135" cy="621792"/>
          </a:xfrm>
          <a:prstGeom prst="rect">
            <a:avLst/>
          </a:prstGeom>
          <a:noFill/>
        </p:spPr>
        <p:txBody>
          <a:bodyPr wrap="square" lIns="0" rIns="0" tIns="0" bIns="0" anchor="ctr">
            <a:spAutoFit/>
          </a:bodyPr>
          <a:lstStyle/>
          <a:p>
            <a:pPr algn="l">
              <a:lnSpc>
                <a:spcPct val="120000"/>
              </a:lnSpc>
              <a:spcAft>
                <a:spcPts val="300"/>
              </a:spcAft>
            </a:pPr>
            <a:r>
              <a:rPr sz="950" b="1" spc="180">
                <a:solidFill>
                  <a:srgbClr val="C4392D"/>
                </a:solidFill>
                <a:latin typeface="Calibri"/>
              </a:rPr>
              <a:t>WAT DIT BETEKENT VOOR DE CIJFERS</a:t>
            </a:r>
          </a:p>
          <a:p>
            <a:pPr algn="l">
              <a:lnSpc>
                <a:spcPct val="120000"/>
              </a:lnSpc>
              <a:spcAft>
                <a:spcPts val="0"/>
              </a:spcAft>
            </a:pPr>
            <a:r>
              <a:rPr sz="1250" b="1">
                <a:solidFill>
                  <a:srgbClr val="0D1B2A"/>
                </a:solidFill>
                <a:latin typeface="Calibri"/>
              </a:rPr>
              <a:t>De berekeningen zijn per specialisme apart gemaakt, op de huidige gescheiden situatie. Ze zijn niet een op een over te zetten naar nieuwbouwscenario's waarin afdelingen samengaan.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FFFFFF"/>
              </a:gs>
              <a:gs pos="100000">
                <a:srgbClr val="F1F6FC"/>
              </a:gs>
            </a:gsLst>
            <a:lin scaled="0" ang="189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6309360" y="457200"/>
            <a:ext cx="5486400" cy="3108960"/>
          </a:xfrm>
          <a:prstGeom prst="rect">
            <a:avLst/>
          </a:prstGeom>
          <a:noFill/>
        </p:spPr>
        <p:txBody>
          <a:bodyPr wrap="square" lIns="0" rIns="0" tIns="0" bIns="0" anchor="t">
            <a:spAutoFit/>
          </a:bodyPr>
          <a:lstStyle/>
          <a:p>
            <a:pPr algn="r">
              <a:lnSpc>
                <a:spcPct val="100000"/>
              </a:lnSpc>
              <a:spcAft>
                <a:spcPts val="0"/>
              </a:spcAft>
            </a:pPr>
            <a:r>
              <a:rPr sz="21000" b="1">
                <a:solidFill>
                  <a:srgbClr val="6B4BA8">
                    <a:alpha val="9000"/>
                  </a:srgbClr>
                </a:solidFill>
                <a:latin typeface="Calibri"/>
              </a:rPr>
              <a:t>02</a:t>
            </a:r>
          </a:p>
        </p:txBody>
      </p:sp>
      <p:sp>
        <p:nvSpPr>
          <p:cNvPr id="4" name="TextBox 3"/>
          <p:cNvSpPr txBox="1"/>
          <p:nvPr/>
        </p:nvSpPr>
        <p:spPr>
          <a:xfrm>
            <a:off x="640080" y="2286000"/>
            <a:ext cx="5486400" cy="219456"/>
          </a:xfrm>
          <a:prstGeom prst="rect">
            <a:avLst/>
          </a:prstGeom>
          <a:noFill/>
        </p:spPr>
        <p:txBody>
          <a:bodyPr wrap="square" lIns="0" rIns="0" tIns="0" bIns="0" anchor="t">
            <a:spAutoFit/>
          </a:bodyPr>
          <a:lstStyle/>
          <a:p>
            <a:pPr algn="l">
              <a:lnSpc>
                <a:spcPct val="120000"/>
              </a:lnSpc>
              <a:spcAft>
                <a:spcPts val="0"/>
              </a:spcAft>
            </a:pPr>
            <a:r>
              <a:rPr sz="1100" b="1" spc="220">
                <a:solidFill>
                  <a:srgbClr val="6B4BA8"/>
                </a:solidFill>
                <a:latin typeface="Calibri"/>
              </a:rPr>
              <a:t>DEEL 02</a:t>
            </a:r>
          </a:p>
        </p:txBody>
      </p:sp>
      <p:sp>
        <p:nvSpPr>
          <p:cNvPr id="5" name="TextBox 4"/>
          <p:cNvSpPr txBox="1"/>
          <p:nvPr/>
        </p:nvSpPr>
        <p:spPr>
          <a:xfrm>
            <a:off x="640080" y="2523744"/>
            <a:ext cx="6949440" cy="1316736"/>
          </a:xfrm>
          <a:prstGeom prst="rect">
            <a:avLst/>
          </a:prstGeom>
          <a:noFill/>
        </p:spPr>
        <p:txBody>
          <a:bodyPr wrap="square" lIns="0" rIns="0" tIns="0" bIns="0" anchor="t">
            <a:spAutoFit/>
          </a:bodyPr>
          <a:lstStyle/>
          <a:p>
            <a:pPr algn="l">
              <a:lnSpc>
                <a:spcPct val="105000"/>
              </a:lnSpc>
              <a:spcAft>
                <a:spcPts val="0"/>
              </a:spcAft>
            </a:pPr>
            <a:r>
              <a:rPr sz="4600" b="1">
                <a:solidFill>
                  <a:srgbClr val="0D1B2A"/>
                </a:solidFill>
                <a:latin typeface="Calibri"/>
              </a:rPr>
              <a:t>Wat gaan we rekenen</a:t>
            </a:r>
          </a:p>
        </p:txBody>
      </p:sp>
      <p:cxnSp>
        <p:nvCxnSpPr>
          <p:cNvPr id="6" name="Connector 5"/>
          <p:cNvCxnSpPr/>
          <p:nvPr/>
        </p:nvCxnSpPr>
        <p:spPr>
          <a:xfrm>
            <a:off x="640080" y="3584448"/>
            <a:ext cx="2377440" cy="0"/>
          </a:xfrm>
          <a:prstGeom prst="line">
            <a:avLst/>
          </a:prstGeom>
          <a:ln w="25400">
            <a:solidFill>
              <a:srgbClr val="6B4BA8"/>
            </a:solidFill>
          </a:ln>
        </p:spPr>
        <p:style>
          <a:lnRef idx="2">
            <a:schemeClr val="accent1"/>
          </a:lnRef>
          <a:fillRef idx="0">
            <a:schemeClr val="accent1"/>
          </a:fillRef>
          <a:effectRef idx="1">
            <a:schemeClr val="accent1"/>
          </a:effectRef>
          <a:fontRef idx="minor">
            <a:schemeClr val="tx1"/>
          </a:fontRef>
        </p:style>
      </p:cxnSp>
      <p:sp>
        <p:nvSpPr>
          <p:cNvPr id="7" name="Oval 6"/>
          <p:cNvSpPr/>
          <p:nvPr/>
        </p:nvSpPr>
        <p:spPr>
          <a:xfrm>
            <a:off x="649224" y="3895344"/>
            <a:ext cx="109728" cy="109728"/>
          </a:xfrm>
          <a:prstGeom prst="ellipse">
            <a:avLst/>
          </a:prstGeom>
          <a:solidFill>
            <a:srgbClr val="6B4B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32688" y="3840480"/>
            <a:ext cx="7680960" cy="274320"/>
          </a:xfrm>
          <a:prstGeom prst="rect">
            <a:avLst/>
          </a:prstGeom>
          <a:noFill/>
        </p:spPr>
        <p:txBody>
          <a:bodyPr wrap="square" lIns="0" rIns="0" tIns="0" bIns="0" anchor="t">
            <a:spAutoFit/>
          </a:bodyPr>
          <a:lstStyle/>
          <a:p>
            <a:pPr algn="l">
              <a:lnSpc>
                <a:spcPct val="120000"/>
              </a:lnSpc>
              <a:spcAft>
                <a:spcPts val="0"/>
              </a:spcAft>
            </a:pPr>
            <a:r>
              <a:rPr sz="1350" b="0">
                <a:solidFill>
                  <a:srgbClr val="55677C"/>
                </a:solidFill>
                <a:latin typeface="Calibri"/>
              </a:rPr>
              <a:t>Het tijdpad van september 2026 tot de verhuizing</a:t>
            </a:r>
          </a:p>
        </p:txBody>
      </p:sp>
      <p:sp>
        <p:nvSpPr>
          <p:cNvPr id="9" name="Oval 8"/>
          <p:cNvSpPr/>
          <p:nvPr/>
        </p:nvSpPr>
        <p:spPr>
          <a:xfrm>
            <a:off x="649224" y="4279392"/>
            <a:ext cx="109728" cy="109728"/>
          </a:xfrm>
          <a:prstGeom prst="ellipse">
            <a:avLst/>
          </a:prstGeom>
          <a:solidFill>
            <a:srgbClr val="6B4B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4224528"/>
            <a:ext cx="7680960" cy="274320"/>
          </a:xfrm>
          <a:prstGeom prst="rect">
            <a:avLst/>
          </a:prstGeom>
          <a:noFill/>
        </p:spPr>
        <p:txBody>
          <a:bodyPr wrap="square" lIns="0" rIns="0" tIns="0" bIns="0" anchor="t">
            <a:spAutoFit/>
          </a:bodyPr>
          <a:lstStyle/>
          <a:p>
            <a:pPr algn="l">
              <a:lnSpc>
                <a:spcPct val="120000"/>
              </a:lnSpc>
              <a:spcAft>
                <a:spcPts val="0"/>
              </a:spcAft>
            </a:pPr>
            <a:r>
              <a:rPr sz="1350" b="0">
                <a:solidFill>
                  <a:srgbClr val="55677C"/>
                </a:solidFill>
                <a:latin typeface="Calibri"/>
              </a:rPr>
              <a:t>De drie berekeningen en de stromen die meetellen</a:t>
            </a:r>
          </a:p>
        </p:txBody>
      </p:sp>
      <p:sp>
        <p:nvSpPr>
          <p:cNvPr id="11" name="Freeform 10"/>
          <p:cNvSpPr/>
          <p:nvPr/>
        </p:nvSpPr>
        <p:spPr>
          <a:xfrm>
            <a:off x="0" y="5998464"/>
            <a:ext cx="12191695" cy="510235"/>
          </a:xfrm>
          <a:custGeom>
            <a:avLst/>
            <a:gdLst/>
            <a:ahLst/>
            <a:cxnLst/>
            <a:rect l="l" t="t" r="r" b="b"/>
            <a:pathLst>
              <a:path w="12191695" h="510235">
                <a:moveTo>
                  <a:pt x="0" y="329184"/>
                </a:moveTo>
                <a:lnTo>
                  <a:pt x="914377" y="329184"/>
                </a:lnTo>
                <a:lnTo>
                  <a:pt x="1097252" y="276514"/>
                </a:lnTo>
                <a:lnTo>
                  <a:pt x="1280127" y="362102"/>
                </a:lnTo>
                <a:lnTo>
                  <a:pt x="1523961" y="0"/>
                </a:lnTo>
                <a:lnTo>
                  <a:pt x="1767795" y="510235"/>
                </a:lnTo>
                <a:lnTo>
                  <a:pt x="2011629" y="329184"/>
                </a:lnTo>
                <a:lnTo>
                  <a:pt x="3047923" y="329184"/>
                </a:lnTo>
                <a:lnTo>
                  <a:pt x="3047923" y="329184"/>
                </a:lnTo>
                <a:lnTo>
                  <a:pt x="3962300" y="329184"/>
                </a:lnTo>
                <a:lnTo>
                  <a:pt x="4145176" y="276514"/>
                </a:lnTo>
                <a:lnTo>
                  <a:pt x="4328051" y="362102"/>
                </a:lnTo>
                <a:lnTo>
                  <a:pt x="4571885" y="0"/>
                </a:lnTo>
                <a:lnTo>
                  <a:pt x="4815719" y="510235"/>
                </a:lnTo>
                <a:lnTo>
                  <a:pt x="5059553" y="329184"/>
                </a:lnTo>
                <a:lnTo>
                  <a:pt x="6095847" y="329184"/>
                </a:lnTo>
                <a:lnTo>
                  <a:pt x="6095847" y="329184"/>
                </a:lnTo>
                <a:lnTo>
                  <a:pt x="7010224" y="329184"/>
                </a:lnTo>
                <a:lnTo>
                  <a:pt x="7193100" y="276514"/>
                </a:lnTo>
                <a:lnTo>
                  <a:pt x="7375975" y="362102"/>
                </a:lnTo>
                <a:lnTo>
                  <a:pt x="7619809" y="0"/>
                </a:lnTo>
                <a:lnTo>
                  <a:pt x="7863643" y="510235"/>
                </a:lnTo>
                <a:lnTo>
                  <a:pt x="8107477" y="329184"/>
                </a:lnTo>
                <a:lnTo>
                  <a:pt x="9143771" y="329184"/>
                </a:lnTo>
                <a:lnTo>
                  <a:pt x="9143771" y="329184"/>
                </a:lnTo>
                <a:lnTo>
                  <a:pt x="10058148" y="329184"/>
                </a:lnTo>
                <a:lnTo>
                  <a:pt x="10241023" y="276514"/>
                </a:lnTo>
                <a:lnTo>
                  <a:pt x="10423899" y="362102"/>
                </a:lnTo>
                <a:lnTo>
                  <a:pt x="10667733" y="0"/>
                </a:lnTo>
                <a:lnTo>
                  <a:pt x="10911567" y="510235"/>
                </a:lnTo>
                <a:lnTo>
                  <a:pt x="11155401" y="329184"/>
                </a:lnTo>
                <a:lnTo>
                  <a:pt x="12191695" y="329184"/>
                </a:lnTo>
              </a:path>
            </a:pathLst>
          </a:custGeom>
          <a:noFill/>
          <a:ln w="15875">
            <a:solidFill>
              <a:srgbClr val="6B4BA8">
                <a:alpha val="36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2" name="Connector 11"/>
          <p:cNvCxnSpPr/>
          <p:nvPr/>
        </p:nvCxnSpPr>
        <p:spPr>
          <a:xfrm>
            <a:off x="640080" y="6291072"/>
            <a:ext cx="10911535" cy="0"/>
          </a:xfrm>
          <a:prstGeom prst="line">
            <a:avLst/>
          </a:prstGeom>
          <a:ln w="9525">
            <a:solidFill>
              <a:srgbClr val="E2E9F1"/>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640080" y="6382512"/>
            <a:ext cx="5486400" cy="237744"/>
          </a:xfrm>
          <a:prstGeom prst="rect">
            <a:avLst/>
          </a:prstGeom>
          <a:noFill/>
        </p:spPr>
        <p:txBody>
          <a:bodyPr wrap="square" lIns="0" rIns="0" tIns="0" bIns="0" anchor="t">
            <a:spAutoFit/>
          </a:bodyPr>
          <a:lstStyle/>
          <a:p>
            <a:pPr algn="l">
              <a:lnSpc>
                <a:spcPct val="120000"/>
              </a:lnSpc>
              <a:spcAft>
                <a:spcPts val="0"/>
              </a:spcAft>
            </a:pPr>
            <a:r>
              <a:rPr sz="900" b="0" spc="80">
                <a:solidFill>
                  <a:srgbClr val="8B9AAA"/>
                </a:solidFill>
                <a:latin typeface="Calibri"/>
              </a:rPr>
              <a:t>Acute poort en Hotfloor</a:t>
            </a:r>
          </a:p>
        </p:txBody>
      </p:sp>
      <p:sp>
        <p:nvSpPr>
          <p:cNvPr id="14" name="TextBox 13"/>
          <p:cNvSpPr txBox="1"/>
          <p:nvPr/>
        </p:nvSpPr>
        <p:spPr>
          <a:xfrm>
            <a:off x="10637215" y="6382512"/>
            <a:ext cx="914400" cy="237744"/>
          </a:xfrm>
          <a:prstGeom prst="rect">
            <a:avLst/>
          </a:prstGeom>
          <a:noFill/>
        </p:spPr>
        <p:txBody>
          <a:bodyPr wrap="square" lIns="0" rIns="0" tIns="0" bIns="0" anchor="t">
            <a:spAutoFit/>
          </a:bodyPr>
          <a:lstStyle/>
          <a:p>
            <a:pPr algn="r">
              <a:lnSpc>
                <a:spcPct val="120000"/>
              </a:lnSpc>
              <a:spcAft>
                <a:spcPts val="0"/>
              </a:spcAft>
            </a:pPr>
            <a:r>
              <a:rPr sz="950" b="1">
                <a:solidFill>
                  <a:srgbClr val="0E9A87"/>
                </a:solidFill>
                <a:latin typeface="Calibri"/>
              </a:rP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FFFFFF"/>
              </a:gs>
              <a:gs pos="100000">
                <a:srgbClr val="F1F6FC"/>
              </a:gs>
            </a:gsLst>
            <a:lin scaled="0" ang="189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640080" y="566928"/>
            <a:ext cx="10911535" cy="219456"/>
          </a:xfrm>
          <a:prstGeom prst="rect">
            <a:avLst/>
          </a:prstGeom>
          <a:noFill/>
        </p:spPr>
        <p:txBody>
          <a:bodyPr wrap="square" lIns="0" rIns="0" tIns="0" bIns="0" anchor="t">
            <a:spAutoFit/>
          </a:bodyPr>
          <a:lstStyle/>
          <a:p>
            <a:pPr algn="l">
              <a:lnSpc>
                <a:spcPct val="120000"/>
              </a:lnSpc>
              <a:spcAft>
                <a:spcPts val="0"/>
              </a:spcAft>
            </a:pPr>
            <a:r>
              <a:rPr sz="1050" b="1" spc="220">
                <a:solidFill>
                  <a:srgbClr val="6B4BA8"/>
                </a:solidFill>
                <a:latin typeface="Calibri"/>
              </a:rPr>
              <a:t>DEEL 02  ·  WAT GAAN WE REKENEN</a:t>
            </a:r>
          </a:p>
        </p:txBody>
      </p:sp>
      <p:sp>
        <p:nvSpPr>
          <p:cNvPr id="4" name="TextBox 3"/>
          <p:cNvSpPr txBox="1"/>
          <p:nvPr/>
        </p:nvSpPr>
        <p:spPr>
          <a:xfrm>
            <a:off x="640080" y="859536"/>
            <a:ext cx="10911535" cy="566928"/>
          </a:xfrm>
          <a:prstGeom prst="rect">
            <a:avLst/>
          </a:prstGeom>
          <a:noFill/>
        </p:spPr>
        <p:txBody>
          <a:bodyPr wrap="square" lIns="0" rIns="0" tIns="0" bIns="0" anchor="t">
            <a:spAutoFit/>
          </a:bodyPr>
          <a:lstStyle/>
          <a:p>
            <a:pPr algn="l">
              <a:lnSpc>
                <a:spcPct val="120000"/>
              </a:lnSpc>
              <a:spcAft>
                <a:spcPts val="0"/>
              </a:spcAft>
            </a:pPr>
            <a:r>
              <a:rPr sz="3400" b="1">
                <a:solidFill>
                  <a:srgbClr val="0D1B2A"/>
                </a:solidFill>
                <a:latin typeface="Calibri"/>
              </a:rPr>
              <a:t>Het tijdpad</a:t>
            </a:r>
          </a:p>
        </p:txBody>
      </p:sp>
      <p:sp>
        <p:nvSpPr>
          <p:cNvPr id="5" name="TextBox 4"/>
          <p:cNvSpPr txBox="1"/>
          <p:nvPr/>
        </p:nvSpPr>
        <p:spPr>
          <a:xfrm>
            <a:off x="640080" y="1335024"/>
            <a:ext cx="8510997" cy="274320"/>
          </a:xfrm>
          <a:prstGeom prst="rect">
            <a:avLst/>
          </a:prstGeom>
          <a:noFill/>
        </p:spPr>
        <p:txBody>
          <a:bodyPr wrap="square" lIns="0" rIns="0" tIns="0" bIns="0" anchor="t">
            <a:spAutoFit/>
          </a:bodyPr>
          <a:lstStyle/>
          <a:p>
            <a:pPr algn="l">
              <a:lnSpc>
                <a:spcPct val="120000"/>
              </a:lnSpc>
              <a:spcAft>
                <a:spcPts val="0"/>
              </a:spcAft>
            </a:pPr>
            <a:r>
              <a:rPr sz="1300" b="0">
                <a:solidFill>
                  <a:srgbClr val="55677C"/>
                </a:solidFill>
                <a:latin typeface="Calibri"/>
              </a:rPr>
              <a:t>Van de eerste berekening tot de verhuizing</a:t>
            </a:r>
          </a:p>
        </p:txBody>
      </p:sp>
      <p:cxnSp>
        <p:nvCxnSpPr>
          <p:cNvPr id="6" name="Connector 5"/>
          <p:cNvCxnSpPr/>
          <p:nvPr/>
        </p:nvCxnSpPr>
        <p:spPr>
          <a:xfrm>
            <a:off x="640080" y="1609344"/>
            <a:ext cx="10911535" cy="0"/>
          </a:xfrm>
          <a:prstGeom prst="line">
            <a:avLst/>
          </a:prstGeom>
          <a:ln w="12700">
            <a:solidFill>
              <a:srgbClr val="E2E9F1"/>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640080" y="6291072"/>
            <a:ext cx="10911535" cy="0"/>
          </a:xfrm>
          <a:prstGeom prst="line">
            <a:avLst/>
          </a:prstGeom>
          <a:ln w="9525">
            <a:solidFill>
              <a:srgbClr val="E2E9F1"/>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40080" y="6382512"/>
            <a:ext cx="5486400" cy="237744"/>
          </a:xfrm>
          <a:prstGeom prst="rect">
            <a:avLst/>
          </a:prstGeom>
          <a:noFill/>
        </p:spPr>
        <p:txBody>
          <a:bodyPr wrap="square" lIns="0" rIns="0" tIns="0" bIns="0" anchor="t">
            <a:spAutoFit/>
          </a:bodyPr>
          <a:lstStyle/>
          <a:p>
            <a:pPr algn="l">
              <a:lnSpc>
                <a:spcPct val="120000"/>
              </a:lnSpc>
              <a:spcAft>
                <a:spcPts val="0"/>
              </a:spcAft>
            </a:pPr>
            <a:r>
              <a:rPr sz="900" b="0" spc="80">
                <a:solidFill>
                  <a:srgbClr val="8B9AAA"/>
                </a:solidFill>
                <a:latin typeface="Calibri"/>
              </a:rPr>
              <a:t>Acute poort en Hotfloor</a:t>
            </a:r>
          </a:p>
        </p:txBody>
      </p:sp>
      <p:sp>
        <p:nvSpPr>
          <p:cNvPr id="9" name="TextBox 8"/>
          <p:cNvSpPr txBox="1"/>
          <p:nvPr/>
        </p:nvSpPr>
        <p:spPr>
          <a:xfrm>
            <a:off x="10637215" y="6382512"/>
            <a:ext cx="914400" cy="237744"/>
          </a:xfrm>
          <a:prstGeom prst="rect">
            <a:avLst/>
          </a:prstGeom>
          <a:noFill/>
        </p:spPr>
        <p:txBody>
          <a:bodyPr wrap="square" lIns="0" rIns="0" tIns="0" bIns="0" anchor="t">
            <a:spAutoFit/>
          </a:bodyPr>
          <a:lstStyle/>
          <a:p>
            <a:pPr algn="r">
              <a:lnSpc>
                <a:spcPct val="120000"/>
              </a:lnSpc>
              <a:spcAft>
                <a:spcPts val="0"/>
              </a:spcAft>
            </a:pPr>
            <a:r>
              <a:rPr sz="950" b="1">
                <a:solidFill>
                  <a:srgbClr val="0E9A87"/>
                </a:solidFill>
                <a:latin typeface="Calibri"/>
              </a:rPr>
              <a:t>06</a:t>
            </a:r>
          </a:p>
        </p:txBody>
      </p:sp>
      <p:sp>
        <p:nvSpPr>
          <p:cNvPr id="10" name="Rounded Rectangle 9"/>
          <p:cNvSpPr/>
          <p:nvPr/>
        </p:nvSpPr>
        <p:spPr>
          <a:xfrm>
            <a:off x="667512" y="1920240"/>
            <a:ext cx="724531" cy="548640"/>
          </a:xfrm>
          <a:prstGeom prst="roundRect">
            <a:avLst>
              <a:gd name="adj" fmla="val 16000"/>
            </a:avLst>
          </a:prstGeom>
          <a:solidFill>
            <a:srgbClr val="E2E8F0"/>
          </a:solidFill>
          <a:ln w="15875">
            <a:solidFill>
              <a:srgbClr val="CAD3DD"/>
            </a:solidFill>
          </a:ln>
          <a:effectLst>
            <a:outerShdw blurRad="60000" dist="18000" dir="5400000" rotWithShape="0">
              <a:srgbClr val="1B3A5C">
                <a:alpha val="7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31519" y="1993392"/>
            <a:ext cx="596515" cy="420624"/>
          </a:xfrm>
          <a:prstGeom prst="rect">
            <a:avLst/>
          </a:prstGeom>
          <a:noFill/>
        </p:spPr>
        <p:txBody>
          <a:bodyPr wrap="square" lIns="0" rIns="0" tIns="0" bIns="0" anchor="ctr">
            <a:spAutoFit/>
          </a:bodyPr>
          <a:lstStyle/>
          <a:p>
            <a:pPr algn="ctr">
              <a:lnSpc>
                <a:spcPct val="120000"/>
              </a:lnSpc>
              <a:spcAft>
                <a:spcPts val="100"/>
              </a:spcAft>
            </a:pPr>
            <a:r>
              <a:rPr sz="1100" b="1" spc="140">
                <a:solidFill>
                  <a:srgbClr val="8B9AAA"/>
                </a:solidFill>
                <a:latin typeface="Calibri"/>
              </a:rPr>
              <a:t>NU</a:t>
            </a:r>
          </a:p>
          <a:p>
            <a:pPr algn="ctr">
              <a:lnSpc>
                <a:spcPct val="120000"/>
              </a:lnSpc>
              <a:spcAft>
                <a:spcPts val="0"/>
              </a:spcAft>
            </a:pPr>
            <a:r>
              <a:rPr sz="900" b="0">
                <a:solidFill>
                  <a:srgbClr val="55677C"/>
                </a:solidFill>
                <a:latin typeface="Calibri"/>
              </a:rPr>
              <a:t>2026</a:t>
            </a:r>
          </a:p>
        </p:txBody>
      </p:sp>
      <p:sp>
        <p:nvSpPr>
          <p:cNvPr id="12" name="Rounded Rectangle 11"/>
          <p:cNvSpPr/>
          <p:nvPr/>
        </p:nvSpPr>
        <p:spPr>
          <a:xfrm>
            <a:off x="1446907" y="1920240"/>
            <a:ext cx="6180298" cy="548640"/>
          </a:xfrm>
          <a:prstGeom prst="roundRect">
            <a:avLst>
              <a:gd name="adj" fmla="val 16000"/>
            </a:avLst>
          </a:prstGeom>
          <a:solidFill>
            <a:srgbClr val="D2E2F1"/>
          </a:solidFill>
          <a:ln w="15875">
            <a:solidFill>
              <a:srgbClr val="A1C3E0"/>
            </a:solidFill>
          </a:ln>
          <a:effectLst>
            <a:outerShdw blurRad="60000" dist="18000" dir="5400000" rotWithShape="0">
              <a:srgbClr val="1B3A5C">
                <a:alpha val="7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1510915" y="1993392"/>
            <a:ext cx="6052282" cy="420624"/>
          </a:xfrm>
          <a:prstGeom prst="rect">
            <a:avLst/>
          </a:prstGeom>
          <a:noFill/>
        </p:spPr>
        <p:txBody>
          <a:bodyPr wrap="square" lIns="0" rIns="0" tIns="0" bIns="0" anchor="ctr">
            <a:spAutoFit/>
          </a:bodyPr>
          <a:lstStyle/>
          <a:p>
            <a:pPr algn="ctr">
              <a:lnSpc>
                <a:spcPct val="120000"/>
              </a:lnSpc>
              <a:spcAft>
                <a:spcPts val="100"/>
              </a:spcAft>
            </a:pPr>
            <a:r>
              <a:rPr sz="1100" b="1" spc="140">
                <a:solidFill>
                  <a:srgbClr val="1F6FB2"/>
                </a:solidFill>
                <a:latin typeface="Calibri"/>
              </a:rPr>
              <a:t>OUDBOUW</a:t>
            </a:r>
          </a:p>
          <a:p>
            <a:pPr algn="ctr">
              <a:lnSpc>
                <a:spcPct val="120000"/>
              </a:lnSpc>
              <a:spcAft>
                <a:spcPts val="0"/>
              </a:spcAft>
            </a:pPr>
            <a:r>
              <a:rPr sz="900" b="0">
                <a:solidFill>
                  <a:srgbClr val="55677C"/>
                </a:solidFill>
                <a:latin typeface="Calibri"/>
              </a:rPr>
              <a:t>okt 2026 - mei 2027</a:t>
            </a:r>
          </a:p>
        </p:txBody>
      </p:sp>
      <p:sp>
        <p:nvSpPr>
          <p:cNvPr id="14" name="Rounded Rectangle 13"/>
          <p:cNvSpPr/>
          <p:nvPr/>
        </p:nvSpPr>
        <p:spPr>
          <a:xfrm>
            <a:off x="7682070" y="1920240"/>
            <a:ext cx="3842112" cy="548640"/>
          </a:xfrm>
          <a:prstGeom prst="roundRect">
            <a:avLst>
              <a:gd name="adj" fmla="val 16000"/>
            </a:avLst>
          </a:prstGeom>
          <a:solidFill>
            <a:srgbClr val="CFE8EA"/>
          </a:solidFill>
          <a:ln w="15875">
            <a:solidFill>
              <a:srgbClr val="9BD3D0"/>
            </a:solidFill>
          </a:ln>
          <a:effectLst>
            <a:outerShdw blurRad="60000" dist="18000" dir="5400000" rotWithShape="0">
              <a:srgbClr val="1B3A5C">
                <a:alpha val="7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7746078" y="1993392"/>
            <a:ext cx="3714096" cy="420624"/>
          </a:xfrm>
          <a:prstGeom prst="rect">
            <a:avLst/>
          </a:prstGeom>
          <a:noFill/>
        </p:spPr>
        <p:txBody>
          <a:bodyPr wrap="square" lIns="0" rIns="0" tIns="0" bIns="0" anchor="ctr">
            <a:spAutoFit/>
          </a:bodyPr>
          <a:lstStyle/>
          <a:p>
            <a:pPr algn="ctr">
              <a:lnSpc>
                <a:spcPct val="120000"/>
              </a:lnSpc>
              <a:spcAft>
                <a:spcPts val="100"/>
              </a:spcAft>
            </a:pPr>
            <a:r>
              <a:rPr sz="1100" b="1" spc="140">
                <a:solidFill>
                  <a:srgbClr val="0E9A87"/>
                </a:solidFill>
                <a:latin typeface="Calibri"/>
              </a:rPr>
              <a:t>NIEUWBOUW</a:t>
            </a:r>
          </a:p>
          <a:p>
            <a:pPr algn="ctr">
              <a:lnSpc>
                <a:spcPct val="120000"/>
              </a:lnSpc>
              <a:spcAft>
                <a:spcPts val="0"/>
              </a:spcAft>
            </a:pPr>
            <a:r>
              <a:rPr sz="900" b="0">
                <a:solidFill>
                  <a:srgbClr val="55677C"/>
                </a:solidFill>
                <a:latin typeface="Calibri"/>
              </a:rPr>
              <a:t>vanaf juni 2027</a:t>
            </a:r>
          </a:p>
        </p:txBody>
      </p:sp>
      <p:sp>
        <p:nvSpPr>
          <p:cNvPr id="16" name="Rounded Rectangle 15"/>
          <p:cNvSpPr/>
          <p:nvPr/>
        </p:nvSpPr>
        <p:spPr>
          <a:xfrm>
            <a:off x="640080" y="2944368"/>
            <a:ext cx="779395" cy="109728"/>
          </a:xfrm>
          <a:prstGeom prst="roundRect">
            <a:avLst>
              <a:gd name="adj" fmla="val 50000"/>
            </a:avLst>
          </a:prstGeom>
          <a:solidFill>
            <a:srgbClr val="8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1419475" y="2944368"/>
            <a:ext cx="6235162" cy="109728"/>
          </a:xfrm>
          <a:prstGeom prst="roundRect">
            <a:avLst>
              <a:gd name="adj" fmla="val 50000"/>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ounded Rectangle 17"/>
          <p:cNvSpPr/>
          <p:nvPr/>
        </p:nvSpPr>
        <p:spPr>
          <a:xfrm>
            <a:off x="7654638" y="2944368"/>
            <a:ext cx="3896976" cy="109728"/>
          </a:xfrm>
          <a:prstGeom prst="roundRect">
            <a:avLst>
              <a:gd name="adj" fmla="val 50000"/>
            </a:avLst>
          </a:prstGeom>
          <a:solidFill>
            <a:srgbClr val="0E9A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19" name="Connector 18"/>
          <p:cNvCxnSpPr/>
          <p:nvPr/>
        </p:nvCxnSpPr>
        <p:spPr>
          <a:xfrm>
            <a:off x="640080" y="3054096"/>
            <a:ext cx="0" cy="0"/>
          </a:xfrm>
          <a:prstGeom prst="line">
            <a:avLst/>
          </a:prstGeom>
          <a:ln w="12700">
            <a:solidFill>
              <a:srgbClr val="E2E9F1"/>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1419475" y="3054096"/>
            <a:ext cx="0" cy="0"/>
          </a:xfrm>
          <a:prstGeom prst="line">
            <a:avLst/>
          </a:prstGeom>
          <a:ln w="12700">
            <a:solidFill>
              <a:srgbClr val="E2E9F1"/>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2198870" y="3054096"/>
            <a:ext cx="0" cy="0"/>
          </a:xfrm>
          <a:prstGeom prst="line">
            <a:avLst/>
          </a:prstGeom>
          <a:ln w="12700">
            <a:solidFill>
              <a:srgbClr val="E2E9F1"/>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2978266" y="3054096"/>
            <a:ext cx="0" cy="0"/>
          </a:xfrm>
          <a:prstGeom prst="line">
            <a:avLst/>
          </a:prstGeom>
          <a:ln w="12700">
            <a:solidFill>
              <a:srgbClr val="E2E9F1"/>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3757661" y="3054096"/>
            <a:ext cx="0" cy="0"/>
          </a:xfrm>
          <a:prstGeom prst="line">
            <a:avLst/>
          </a:prstGeom>
          <a:ln w="12700">
            <a:solidFill>
              <a:srgbClr val="E2E9F1"/>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4537056" y="3054096"/>
            <a:ext cx="0" cy="0"/>
          </a:xfrm>
          <a:prstGeom prst="line">
            <a:avLst/>
          </a:prstGeom>
          <a:ln w="12700">
            <a:solidFill>
              <a:srgbClr val="E2E9F1"/>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5316452" y="3054096"/>
            <a:ext cx="0" cy="0"/>
          </a:xfrm>
          <a:prstGeom prst="line">
            <a:avLst/>
          </a:prstGeom>
          <a:ln w="12700">
            <a:solidFill>
              <a:srgbClr val="E2E9F1"/>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6095847" y="3054096"/>
            <a:ext cx="0" cy="0"/>
          </a:xfrm>
          <a:prstGeom prst="line">
            <a:avLst/>
          </a:prstGeom>
          <a:ln w="12700">
            <a:solidFill>
              <a:srgbClr val="E2E9F1"/>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6875242" y="3054096"/>
            <a:ext cx="0" cy="0"/>
          </a:xfrm>
          <a:prstGeom prst="line">
            <a:avLst/>
          </a:prstGeom>
          <a:ln w="12700">
            <a:solidFill>
              <a:srgbClr val="E2E9F1"/>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7654638" y="3054096"/>
            <a:ext cx="0" cy="0"/>
          </a:xfrm>
          <a:prstGeom prst="line">
            <a:avLst/>
          </a:prstGeom>
          <a:ln w="12700">
            <a:solidFill>
              <a:srgbClr val="E2E9F1"/>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8434033" y="3054096"/>
            <a:ext cx="0" cy="0"/>
          </a:xfrm>
          <a:prstGeom prst="line">
            <a:avLst/>
          </a:prstGeom>
          <a:ln w="12700">
            <a:solidFill>
              <a:srgbClr val="E2E9F1"/>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9213429" y="3054096"/>
            <a:ext cx="0" cy="0"/>
          </a:xfrm>
          <a:prstGeom prst="line">
            <a:avLst/>
          </a:prstGeom>
          <a:ln w="12700">
            <a:solidFill>
              <a:srgbClr val="E2E9F1"/>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9992824" y="3054096"/>
            <a:ext cx="0" cy="0"/>
          </a:xfrm>
          <a:prstGeom prst="line">
            <a:avLst/>
          </a:prstGeom>
          <a:ln w="12700">
            <a:solidFill>
              <a:srgbClr val="E2E9F1"/>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10772219" y="3054096"/>
            <a:ext cx="0" cy="0"/>
          </a:xfrm>
          <a:prstGeom prst="line">
            <a:avLst/>
          </a:prstGeom>
          <a:ln w="12700">
            <a:solidFill>
              <a:srgbClr val="E2E9F1"/>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11551615" y="3054096"/>
            <a:ext cx="0" cy="0"/>
          </a:xfrm>
          <a:prstGeom prst="line">
            <a:avLst/>
          </a:prstGeom>
          <a:ln w="12700">
            <a:solidFill>
              <a:srgbClr val="E2E9F1"/>
            </a:solidFill>
          </a:ln>
        </p:spPr>
        <p:style>
          <a:lnRef idx="2">
            <a:schemeClr val="accent1"/>
          </a:lnRef>
          <a:fillRef idx="0">
            <a:schemeClr val="accent1"/>
          </a:fillRef>
          <a:effectRef idx="1">
            <a:schemeClr val="accent1"/>
          </a:effectRef>
          <a:fontRef idx="minor">
            <a:schemeClr val="tx1"/>
          </a:fontRef>
        </p:style>
      </p:cxnSp>
      <p:sp>
        <p:nvSpPr>
          <p:cNvPr id="34" name="Rectangle 33"/>
          <p:cNvSpPr/>
          <p:nvPr/>
        </p:nvSpPr>
        <p:spPr>
          <a:xfrm>
            <a:off x="1025205" y="3072384"/>
            <a:ext cx="9144" cy="91440"/>
          </a:xfrm>
          <a:prstGeom prst="rect">
            <a:avLst/>
          </a:prstGeom>
          <a:solidFill>
            <a:srgbClr val="C6D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640080" y="3218688"/>
            <a:ext cx="779395" cy="237744"/>
          </a:xfrm>
          <a:prstGeom prst="rect">
            <a:avLst/>
          </a:prstGeom>
          <a:noFill/>
        </p:spPr>
        <p:txBody>
          <a:bodyPr wrap="square" lIns="0" rIns="0" tIns="0" bIns="0" anchor="t">
            <a:spAutoFit/>
          </a:bodyPr>
          <a:lstStyle/>
          <a:p>
            <a:pPr algn="ctr">
              <a:lnSpc>
                <a:spcPct val="120000"/>
              </a:lnSpc>
              <a:spcAft>
                <a:spcPts val="0"/>
              </a:spcAft>
            </a:pPr>
            <a:r>
              <a:rPr sz="1050" b="1">
                <a:solidFill>
                  <a:srgbClr val="0D1B2A"/>
                </a:solidFill>
                <a:latin typeface="Calibri"/>
              </a:rPr>
              <a:t>sept</a:t>
            </a:r>
          </a:p>
        </p:txBody>
      </p:sp>
      <p:sp>
        <p:nvSpPr>
          <p:cNvPr id="36" name="Rectangle 35"/>
          <p:cNvSpPr/>
          <p:nvPr/>
        </p:nvSpPr>
        <p:spPr>
          <a:xfrm>
            <a:off x="1804601" y="3072384"/>
            <a:ext cx="9144" cy="91440"/>
          </a:xfrm>
          <a:prstGeom prst="rect">
            <a:avLst/>
          </a:prstGeom>
          <a:solidFill>
            <a:srgbClr val="C6D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1419475" y="3218688"/>
            <a:ext cx="779395" cy="237744"/>
          </a:xfrm>
          <a:prstGeom prst="rect">
            <a:avLst/>
          </a:prstGeom>
          <a:noFill/>
        </p:spPr>
        <p:txBody>
          <a:bodyPr wrap="square" lIns="0" rIns="0" tIns="0" bIns="0" anchor="t">
            <a:spAutoFit/>
          </a:bodyPr>
          <a:lstStyle/>
          <a:p>
            <a:pPr algn="ctr">
              <a:lnSpc>
                <a:spcPct val="120000"/>
              </a:lnSpc>
              <a:spcAft>
                <a:spcPts val="0"/>
              </a:spcAft>
            </a:pPr>
            <a:r>
              <a:rPr sz="1050" b="0">
                <a:solidFill>
                  <a:srgbClr val="55677C"/>
                </a:solidFill>
                <a:latin typeface="Calibri"/>
              </a:rPr>
              <a:t>okt</a:t>
            </a:r>
          </a:p>
        </p:txBody>
      </p:sp>
      <p:sp>
        <p:nvSpPr>
          <p:cNvPr id="38" name="Rectangle 37"/>
          <p:cNvSpPr/>
          <p:nvPr/>
        </p:nvSpPr>
        <p:spPr>
          <a:xfrm>
            <a:off x="2583996" y="3072384"/>
            <a:ext cx="9144" cy="91440"/>
          </a:xfrm>
          <a:prstGeom prst="rect">
            <a:avLst/>
          </a:prstGeom>
          <a:solidFill>
            <a:srgbClr val="C6D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2198870" y="3218688"/>
            <a:ext cx="779395" cy="237744"/>
          </a:xfrm>
          <a:prstGeom prst="rect">
            <a:avLst/>
          </a:prstGeom>
          <a:noFill/>
        </p:spPr>
        <p:txBody>
          <a:bodyPr wrap="square" lIns="0" rIns="0" tIns="0" bIns="0" anchor="t">
            <a:spAutoFit/>
          </a:bodyPr>
          <a:lstStyle/>
          <a:p>
            <a:pPr algn="ctr">
              <a:lnSpc>
                <a:spcPct val="120000"/>
              </a:lnSpc>
              <a:spcAft>
                <a:spcPts val="0"/>
              </a:spcAft>
            </a:pPr>
            <a:r>
              <a:rPr sz="1050" b="0">
                <a:solidFill>
                  <a:srgbClr val="55677C"/>
                </a:solidFill>
                <a:latin typeface="Calibri"/>
              </a:rPr>
              <a:t>nov</a:t>
            </a:r>
          </a:p>
        </p:txBody>
      </p:sp>
      <p:sp>
        <p:nvSpPr>
          <p:cNvPr id="40" name="Rectangle 39"/>
          <p:cNvSpPr/>
          <p:nvPr/>
        </p:nvSpPr>
        <p:spPr>
          <a:xfrm>
            <a:off x="3363391" y="3072384"/>
            <a:ext cx="9144" cy="91440"/>
          </a:xfrm>
          <a:prstGeom prst="rect">
            <a:avLst/>
          </a:prstGeom>
          <a:solidFill>
            <a:srgbClr val="C6D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2978266" y="3218688"/>
            <a:ext cx="779395" cy="237744"/>
          </a:xfrm>
          <a:prstGeom prst="rect">
            <a:avLst/>
          </a:prstGeom>
          <a:noFill/>
        </p:spPr>
        <p:txBody>
          <a:bodyPr wrap="square" lIns="0" rIns="0" tIns="0" bIns="0" anchor="t">
            <a:spAutoFit/>
          </a:bodyPr>
          <a:lstStyle/>
          <a:p>
            <a:pPr algn="ctr">
              <a:lnSpc>
                <a:spcPct val="120000"/>
              </a:lnSpc>
              <a:spcAft>
                <a:spcPts val="0"/>
              </a:spcAft>
            </a:pPr>
            <a:r>
              <a:rPr sz="1050" b="0">
                <a:solidFill>
                  <a:srgbClr val="55677C"/>
                </a:solidFill>
                <a:latin typeface="Calibri"/>
              </a:rPr>
              <a:t>dec</a:t>
            </a:r>
          </a:p>
        </p:txBody>
      </p:sp>
      <p:sp>
        <p:nvSpPr>
          <p:cNvPr id="42" name="Rectangle 41"/>
          <p:cNvSpPr/>
          <p:nvPr/>
        </p:nvSpPr>
        <p:spPr>
          <a:xfrm>
            <a:off x="4142787" y="3072384"/>
            <a:ext cx="9144" cy="91440"/>
          </a:xfrm>
          <a:prstGeom prst="rect">
            <a:avLst/>
          </a:prstGeom>
          <a:solidFill>
            <a:srgbClr val="C6D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3757661" y="3218688"/>
            <a:ext cx="779395" cy="237744"/>
          </a:xfrm>
          <a:prstGeom prst="rect">
            <a:avLst/>
          </a:prstGeom>
          <a:noFill/>
        </p:spPr>
        <p:txBody>
          <a:bodyPr wrap="square" lIns="0" rIns="0" tIns="0" bIns="0" anchor="t">
            <a:spAutoFit/>
          </a:bodyPr>
          <a:lstStyle/>
          <a:p>
            <a:pPr algn="ctr">
              <a:lnSpc>
                <a:spcPct val="120000"/>
              </a:lnSpc>
              <a:spcAft>
                <a:spcPts val="0"/>
              </a:spcAft>
            </a:pPr>
            <a:r>
              <a:rPr sz="1050" b="0">
                <a:solidFill>
                  <a:srgbClr val="55677C"/>
                </a:solidFill>
                <a:latin typeface="Calibri"/>
              </a:rPr>
              <a:t>jan</a:t>
            </a:r>
          </a:p>
        </p:txBody>
      </p:sp>
      <p:sp>
        <p:nvSpPr>
          <p:cNvPr id="44" name="Rectangle 43"/>
          <p:cNvSpPr/>
          <p:nvPr/>
        </p:nvSpPr>
        <p:spPr>
          <a:xfrm>
            <a:off x="4922182" y="3072384"/>
            <a:ext cx="9144" cy="91440"/>
          </a:xfrm>
          <a:prstGeom prst="rect">
            <a:avLst/>
          </a:prstGeom>
          <a:solidFill>
            <a:srgbClr val="C6D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4537056" y="3218688"/>
            <a:ext cx="779395" cy="237744"/>
          </a:xfrm>
          <a:prstGeom prst="rect">
            <a:avLst/>
          </a:prstGeom>
          <a:noFill/>
        </p:spPr>
        <p:txBody>
          <a:bodyPr wrap="square" lIns="0" rIns="0" tIns="0" bIns="0" anchor="t">
            <a:spAutoFit/>
          </a:bodyPr>
          <a:lstStyle/>
          <a:p>
            <a:pPr algn="ctr">
              <a:lnSpc>
                <a:spcPct val="120000"/>
              </a:lnSpc>
              <a:spcAft>
                <a:spcPts val="0"/>
              </a:spcAft>
            </a:pPr>
            <a:r>
              <a:rPr sz="1050" b="0">
                <a:solidFill>
                  <a:srgbClr val="55677C"/>
                </a:solidFill>
                <a:latin typeface="Calibri"/>
              </a:rPr>
              <a:t>feb</a:t>
            </a:r>
          </a:p>
        </p:txBody>
      </p:sp>
      <p:sp>
        <p:nvSpPr>
          <p:cNvPr id="46" name="Rectangle 45"/>
          <p:cNvSpPr/>
          <p:nvPr/>
        </p:nvSpPr>
        <p:spPr>
          <a:xfrm>
            <a:off x="5701577" y="3072384"/>
            <a:ext cx="9144" cy="91440"/>
          </a:xfrm>
          <a:prstGeom prst="rect">
            <a:avLst/>
          </a:prstGeom>
          <a:solidFill>
            <a:srgbClr val="C6D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TextBox 46"/>
          <p:cNvSpPr txBox="1"/>
          <p:nvPr/>
        </p:nvSpPr>
        <p:spPr>
          <a:xfrm>
            <a:off x="5316452" y="3218688"/>
            <a:ext cx="779395" cy="237744"/>
          </a:xfrm>
          <a:prstGeom prst="rect">
            <a:avLst/>
          </a:prstGeom>
          <a:noFill/>
        </p:spPr>
        <p:txBody>
          <a:bodyPr wrap="square" lIns="0" rIns="0" tIns="0" bIns="0" anchor="t">
            <a:spAutoFit/>
          </a:bodyPr>
          <a:lstStyle/>
          <a:p>
            <a:pPr algn="ctr">
              <a:lnSpc>
                <a:spcPct val="120000"/>
              </a:lnSpc>
              <a:spcAft>
                <a:spcPts val="0"/>
              </a:spcAft>
            </a:pPr>
            <a:r>
              <a:rPr sz="1050" b="0">
                <a:solidFill>
                  <a:srgbClr val="55677C"/>
                </a:solidFill>
                <a:latin typeface="Calibri"/>
              </a:rPr>
              <a:t>mrt</a:t>
            </a:r>
          </a:p>
        </p:txBody>
      </p:sp>
      <p:sp>
        <p:nvSpPr>
          <p:cNvPr id="48" name="Rectangle 47"/>
          <p:cNvSpPr/>
          <p:nvPr/>
        </p:nvSpPr>
        <p:spPr>
          <a:xfrm>
            <a:off x="6480973" y="3072384"/>
            <a:ext cx="9144" cy="91440"/>
          </a:xfrm>
          <a:prstGeom prst="rect">
            <a:avLst/>
          </a:prstGeom>
          <a:solidFill>
            <a:srgbClr val="C6D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TextBox 48"/>
          <p:cNvSpPr txBox="1"/>
          <p:nvPr/>
        </p:nvSpPr>
        <p:spPr>
          <a:xfrm>
            <a:off x="6095847" y="3218688"/>
            <a:ext cx="779395" cy="237744"/>
          </a:xfrm>
          <a:prstGeom prst="rect">
            <a:avLst/>
          </a:prstGeom>
          <a:noFill/>
        </p:spPr>
        <p:txBody>
          <a:bodyPr wrap="square" lIns="0" rIns="0" tIns="0" bIns="0" anchor="t">
            <a:spAutoFit/>
          </a:bodyPr>
          <a:lstStyle/>
          <a:p>
            <a:pPr algn="ctr">
              <a:lnSpc>
                <a:spcPct val="120000"/>
              </a:lnSpc>
              <a:spcAft>
                <a:spcPts val="0"/>
              </a:spcAft>
            </a:pPr>
            <a:r>
              <a:rPr sz="1050" b="0">
                <a:solidFill>
                  <a:srgbClr val="55677C"/>
                </a:solidFill>
                <a:latin typeface="Calibri"/>
              </a:rPr>
              <a:t>apr</a:t>
            </a:r>
          </a:p>
        </p:txBody>
      </p:sp>
      <p:sp>
        <p:nvSpPr>
          <p:cNvPr id="50" name="Rectangle 49"/>
          <p:cNvSpPr/>
          <p:nvPr/>
        </p:nvSpPr>
        <p:spPr>
          <a:xfrm>
            <a:off x="7260368" y="3072384"/>
            <a:ext cx="9144" cy="91440"/>
          </a:xfrm>
          <a:prstGeom prst="rect">
            <a:avLst/>
          </a:prstGeom>
          <a:solidFill>
            <a:srgbClr val="C6D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TextBox 50"/>
          <p:cNvSpPr txBox="1"/>
          <p:nvPr/>
        </p:nvSpPr>
        <p:spPr>
          <a:xfrm>
            <a:off x="6875242" y="3218688"/>
            <a:ext cx="779395" cy="237744"/>
          </a:xfrm>
          <a:prstGeom prst="rect">
            <a:avLst/>
          </a:prstGeom>
          <a:noFill/>
        </p:spPr>
        <p:txBody>
          <a:bodyPr wrap="square" lIns="0" rIns="0" tIns="0" bIns="0" anchor="t">
            <a:spAutoFit/>
          </a:bodyPr>
          <a:lstStyle/>
          <a:p>
            <a:pPr algn="ctr">
              <a:lnSpc>
                <a:spcPct val="120000"/>
              </a:lnSpc>
              <a:spcAft>
                <a:spcPts val="0"/>
              </a:spcAft>
            </a:pPr>
            <a:r>
              <a:rPr sz="1050" b="0">
                <a:solidFill>
                  <a:srgbClr val="55677C"/>
                </a:solidFill>
                <a:latin typeface="Calibri"/>
              </a:rPr>
              <a:t>mei</a:t>
            </a:r>
          </a:p>
        </p:txBody>
      </p:sp>
      <p:sp>
        <p:nvSpPr>
          <p:cNvPr id="52" name="Rectangle 51"/>
          <p:cNvSpPr/>
          <p:nvPr/>
        </p:nvSpPr>
        <p:spPr>
          <a:xfrm>
            <a:off x="8039764" y="3072384"/>
            <a:ext cx="9144" cy="91440"/>
          </a:xfrm>
          <a:prstGeom prst="rect">
            <a:avLst/>
          </a:prstGeom>
          <a:solidFill>
            <a:srgbClr val="C6D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 name="TextBox 52"/>
          <p:cNvSpPr txBox="1"/>
          <p:nvPr/>
        </p:nvSpPr>
        <p:spPr>
          <a:xfrm>
            <a:off x="7654638" y="3218688"/>
            <a:ext cx="779395" cy="237744"/>
          </a:xfrm>
          <a:prstGeom prst="rect">
            <a:avLst/>
          </a:prstGeom>
          <a:noFill/>
        </p:spPr>
        <p:txBody>
          <a:bodyPr wrap="square" lIns="0" rIns="0" tIns="0" bIns="0" anchor="t">
            <a:spAutoFit/>
          </a:bodyPr>
          <a:lstStyle/>
          <a:p>
            <a:pPr algn="ctr">
              <a:lnSpc>
                <a:spcPct val="120000"/>
              </a:lnSpc>
              <a:spcAft>
                <a:spcPts val="0"/>
              </a:spcAft>
            </a:pPr>
            <a:r>
              <a:rPr sz="1050" b="1">
                <a:solidFill>
                  <a:srgbClr val="0D1B2A"/>
                </a:solidFill>
                <a:latin typeface="Calibri"/>
              </a:rPr>
              <a:t>juni</a:t>
            </a:r>
          </a:p>
        </p:txBody>
      </p:sp>
      <p:sp>
        <p:nvSpPr>
          <p:cNvPr id="54" name="Rectangle 53"/>
          <p:cNvSpPr/>
          <p:nvPr/>
        </p:nvSpPr>
        <p:spPr>
          <a:xfrm>
            <a:off x="8819159" y="3072384"/>
            <a:ext cx="9144" cy="91440"/>
          </a:xfrm>
          <a:prstGeom prst="rect">
            <a:avLst/>
          </a:prstGeom>
          <a:solidFill>
            <a:srgbClr val="C6D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TextBox 54"/>
          <p:cNvSpPr txBox="1"/>
          <p:nvPr/>
        </p:nvSpPr>
        <p:spPr>
          <a:xfrm>
            <a:off x="8434033" y="3218688"/>
            <a:ext cx="779395" cy="237744"/>
          </a:xfrm>
          <a:prstGeom prst="rect">
            <a:avLst/>
          </a:prstGeom>
          <a:noFill/>
        </p:spPr>
        <p:txBody>
          <a:bodyPr wrap="square" lIns="0" rIns="0" tIns="0" bIns="0" anchor="t">
            <a:spAutoFit/>
          </a:bodyPr>
          <a:lstStyle/>
          <a:p>
            <a:pPr algn="ctr">
              <a:lnSpc>
                <a:spcPct val="120000"/>
              </a:lnSpc>
              <a:spcAft>
                <a:spcPts val="0"/>
              </a:spcAft>
            </a:pPr>
            <a:r>
              <a:rPr sz="1050" b="0">
                <a:solidFill>
                  <a:srgbClr val="55677C"/>
                </a:solidFill>
                <a:latin typeface="Calibri"/>
              </a:rPr>
              <a:t>juli</a:t>
            </a:r>
          </a:p>
        </p:txBody>
      </p:sp>
      <p:sp>
        <p:nvSpPr>
          <p:cNvPr id="56" name="Rectangle 55"/>
          <p:cNvSpPr/>
          <p:nvPr/>
        </p:nvSpPr>
        <p:spPr>
          <a:xfrm>
            <a:off x="9598554" y="3072384"/>
            <a:ext cx="9144" cy="91440"/>
          </a:xfrm>
          <a:prstGeom prst="rect">
            <a:avLst/>
          </a:prstGeom>
          <a:solidFill>
            <a:srgbClr val="C6D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7" name="TextBox 56"/>
          <p:cNvSpPr txBox="1"/>
          <p:nvPr/>
        </p:nvSpPr>
        <p:spPr>
          <a:xfrm>
            <a:off x="9213429" y="3218688"/>
            <a:ext cx="779395" cy="237744"/>
          </a:xfrm>
          <a:prstGeom prst="rect">
            <a:avLst/>
          </a:prstGeom>
          <a:noFill/>
        </p:spPr>
        <p:txBody>
          <a:bodyPr wrap="square" lIns="0" rIns="0" tIns="0" bIns="0" anchor="t">
            <a:spAutoFit/>
          </a:bodyPr>
          <a:lstStyle/>
          <a:p>
            <a:pPr algn="ctr">
              <a:lnSpc>
                <a:spcPct val="120000"/>
              </a:lnSpc>
              <a:spcAft>
                <a:spcPts val="0"/>
              </a:spcAft>
            </a:pPr>
            <a:r>
              <a:rPr sz="1050" b="0">
                <a:solidFill>
                  <a:srgbClr val="55677C"/>
                </a:solidFill>
                <a:latin typeface="Calibri"/>
              </a:rPr>
              <a:t>aug</a:t>
            </a:r>
          </a:p>
        </p:txBody>
      </p:sp>
      <p:sp>
        <p:nvSpPr>
          <p:cNvPr id="58" name="Rectangle 57"/>
          <p:cNvSpPr/>
          <p:nvPr/>
        </p:nvSpPr>
        <p:spPr>
          <a:xfrm>
            <a:off x="10377950" y="3072384"/>
            <a:ext cx="9144" cy="91440"/>
          </a:xfrm>
          <a:prstGeom prst="rect">
            <a:avLst/>
          </a:prstGeom>
          <a:solidFill>
            <a:srgbClr val="C6D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9" name="TextBox 58"/>
          <p:cNvSpPr txBox="1"/>
          <p:nvPr/>
        </p:nvSpPr>
        <p:spPr>
          <a:xfrm>
            <a:off x="9992824" y="3218688"/>
            <a:ext cx="779395" cy="237744"/>
          </a:xfrm>
          <a:prstGeom prst="rect">
            <a:avLst/>
          </a:prstGeom>
          <a:noFill/>
        </p:spPr>
        <p:txBody>
          <a:bodyPr wrap="square" lIns="0" rIns="0" tIns="0" bIns="0" anchor="t">
            <a:spAutoFit/>
          </a:bodyPr>
          <a:lstStyle/>
          <a:p>
            <a:pPr algn="ctr">
              <a:lnSpc>
                <a:spcPct val="120000"/>
              </a:lnSpc>
              <a:spcAft>
                <a:spcPts val="0"/>
              </a:spcAft>
            </a:pPr>
            <a:r>
              <a:rPr sz="1050" b="0">
                <a:solidFill>
                  <a:srgbClr val="55677C"/>
                </a:solidFill>
                <a:latin typeface="Calibri"/>
              </a:rPr>
              <a:t>sept</a:t>
            </a:r>
          </a:p>
        </p:txBody>
      </p:sp>
      <p:sp>
        <p:nvSpPr>
          <p:cNvPr id="60" name="Rectangle 59"/>
          <p:cNvSpPr/>
          <p:nvPr/>
        </p:nvSpPr>
        <p:spPr>
          <a:xfrm>
            <a:off x="11157345" y="3072384"/>
            <a:ext cx="9144" cy="91440"/>
          </a:xfrm>
          <a:prstGeom prst="rect">
            <a:avLst/>
          </a:prstGeom>
          <a:solidFill>
            <a:srgbClr val="C6D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1" name="TextBox 60"/>
          <p:cNvSpPr txBox="1"/>
          <p:nvPr/>
        </p:nvSpPr>
        <p:spPr>
          <a:xfrm>
            <a:off x="10772219" y="3218688"/>
            <a:ext cx="779395" cy="237744"/>
          </a:xfrm>
          <a:prstGeom prst="rect">
            <a:avLst/>
          </a:prstGeom>
          <a:noFill/>
        </p:spPr>
        <p:txBody>
          <a:bodyPr wrap="square" lIns="0" rIns="0" tIns="0" bIns="0" anchor="t">
            <a:spAutoFit/>
          </a:bodyPr>
          <a:lstStyle/>
          <a:p>
            <a:pPr algn="ctr">
              <a:lnSpc>
                <a:spcPct val="120000"/>
              </a:lnSpc>
              <a:spcAft>
                <a:spcPts val="0"/>
              </a:spcAft>
            </a:pPr>
            <a:r>
              <a:rPr sz="1050" b="0">
                <a:solidFill>
                  <a:srgbClr val="55677C"/>
                </a:solidFill>
                <a:latin typeface="Calibri"/>
              </a:rPr>
              <a:t>okt</a:t>
            </a:r>
          </a:p>
        </p:txBody>
      </p:sp>
      <p:sp>
        <p:nvSpPr>
          <p:cNvPr id="62" name="Oval 61"/>
          <p:cNvSpPr/>
          <p:nvPr/>
        </p:nvSpPr>
        <p:spPr>
          <a:xfrm>
            <a:off x="846897" y="2816352"/>
            <a:ext cx="365760" cy="365760"/>
          </a:xfrm>
          <a:prstGeom prst="ellipse">
            <a:avLst/>
          </a:prstGeom>
          <a:solidFill>
            <a:srgbClr val="6B4BA8">
              <a:alpha val="1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Oval 62"/>
          <p:cNvSpPr/>
          <p:nvPr/>
        </p:nvSpPr>
        <p:spPr>
          <a:xfrm>
            <a:off x="938337" y="2907792"/>
            <a:ext cx="182880" cy="182880"/>
          </a:xfrm>
          <a:prstGeom prst="ellipse">
            <a:avLst/>
          </a:prstGeom>
          <a:solidFill>
            <a:srgbClr val="6B4B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Freeform 63"/>
          <p:cNvSpPr/>
          <p:nvPr/>
        </p:nvSpPr>
        <p:spPr>
          <a:xfrm>
            <a:off x="1029777" y="3108960"/>
            <a:ext cx="1530543" cy="786384"/>
          </a:xfrm>
          <a:custGeom>
            <a:avLst/>
            <a:gdLst/>
            <a:ahLst/>
            <a:cxnLst/>
            <a:rect l="l" t="t" r="r" b="b"/>
            <a:pathLst>
              <a:path w="1530543" h="786384">
                <a:moveTo>
                  <a:pt x="0" y="0"/>
                </a:moveTo>
                <a:lnTo>
                  <a:pt x="0" y="621792"/>
                </a:lnTo>
                <a:lnTo>
                  <a:pt x="1530543" y="621792"/>
                </a:lnTo>
                <a:lnTo>
                  <a:pt x="1530543" y="786384"/>
                </a:lnTo>
              </a:path>
            </a:pathLst>
          </a:custGeom>
          <a:noFill/>
          <a:ln w="15875">
            <a:solidFill>
              <a:srgbClr val="A18F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ounded Rectangle 64"/>
          <p:cNvSpPr/>
          <p:nvPr/>
        </p:nvSpPr>
        <p:spPr>
          <a:xfrm>
            <a:off x="640080" y="3950208"/>
            <a:ext cx="3840480" cy="1225296"/>
          </a:xfrm>
          <a:prstGeom prst="roundRect">
            <a:avLst>
              <a:gd name="adj" fmla="val 3000"/>
            </a:avLst>
          </a:prstGeom>
          <a:solidFill>
            <a:srgbClr val="DDDCEF"/>
          </a:solidFill>
          <a:ln w="15875">
            <a:solidFill>
              <a:srgbClr val="BEB5DC"/>
            </a:solidFill>
          </a:ln>
          <a:effectLst>
            <a:outerShdw blurRad="60000" dist="18000" dir="5400000" rotWithShape="0">
              <a:srgbClr val="1B3A5C">
                <a:alpha val="7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6" name="TextBox 65"/>
          <p:cNvSpPr txBox="1"/>
          <p:nvPr/>
        </p:nvSpPr>
        <p:spPr>
          <a:xfrm>
            <a:off x="914400" y="4114800"/>
            <a:ext cx="3291840" cy="1005840"/>
          </a:xfrm>
          <a:prstGeom prst="rect">
            <a:avLst/>
          </a:prstGeom>
          <a:noFill/>
        </p:spPr>
        <p:txBody>
          <a:bodyPr wrap="square" lIns="0" rIns="0" tIns="0" bIns="0" anchor="t">
            <a:spAutoFit/>
          </a:bodyPr>
          <a:lstStyle/>
          <a:p>
            <a:pPr algn="l">
              <a:lnSpc>
                <a:spcPct val="120000"/>
              </a:lnSpc>
              <a:spcAft>
                <a:spcPts val="500"/>
              </a:spcAft>
            </a:pPr>
            <a:r>
              <a:rPr sz="1600" b="1">
                <a:solidFill>
                  <a:srgbClr val="6B4BA8"/>
                </a:solidFill>
                <a:latin typeface="Calibri"/>
              </a:rPr>
              <a:t>Berekeningen starten</a:t>
            </a:r>
          </a:p>
          <a:p>
            <a:pPr algn="l">
              <a:lnSpc>
                <a:spcPct val="124000"/>
              </a:lnSpc>
              <a:spcAft>
                <a:spcPts val="0"/>
              </a:spcAft>
            </a:pPr>
            <a:r>
              <a:rPr sz="1150" b="0">
                <a:solidFill>
                  <a:srgbClr val="55677C"/>
                </a:solidFill>
                <a:latin typeface="Calibri"/>
              </a:rPr>
              <a:t>aantal bedden, norm verpleegkundigen en indirecte uren</a:t>
            </a:r>
          </a:p>
        </p:txBody>
      </p:sp>
      <p:sp>
        <p:nvSpPr>
          <p:cNvPr id="67" name="Oval 66"/>
          <p:cNvSpPr/>
          <p:nvPr/>
        </p:nvSpPr>
        <p:spPr>
          <a:xfrm>
            <a:off x="7861456" y="2816352"/>
            <a:ext cx="365760" cy="365760"/>
          </a:xfrm>
          <a:prstGeom prst="ellipse">
            <a:avLst/>
          </a:prstGeom>
          <a:solidFill>
            <a:srgbClr val="C87E12">
              <a:alpha val="1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Oval 67"/>
          <p:cNvSpPr/>
          <p:nvPr/>
        </p:nvSpPr>
        <p:spPr>
          <a:xfrm>
            <a:off x="7952896" y="2907792"/>
            <a:ext cx="182880" cy="182880"/>
          </a:xfrm>
          <a:prstGeom prst="ellipse">
            <a:avLst/>
          </a:prstGeom>
          <a:solidFill>
            <a:srgbClr val="C87E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Freeform 68"/>
          <p:cNvSpPr/>
          <p:nvPr/>
        </p:nvSpPr>
        <p:spPr>
          <a:xfrm>
            <a:off x="8044336" y="3108960"/>
            <a:ext cx="0" cy="786384"/>
          </a:xfrm>
          <a:custGeom>
            <a:avLst/>
            <a:gdLst/>
            <a:ahLst/>
            <a:cxnLst/>
            <a:rect l="l" t="t" r="r" b="b"/>
            <a:pathLst>
              <a:path w="0" h="786384">
                <a:moveTo>
                  <a:pt x="0" y="0"/>
                </a:moveTo>
                <a:lnTo>
                  <a:pt x="0" y="621792"/>
                </a:lnTo>
                <a:lnTo>
                  <a:pt x="0" y="621792"/>
                </a:lnTo>
                <a:lnTo>
                  <a:pt x="0" y="786384"/>
                </a:lnTo>
              </a:path>
            </a:pathLst>
          </a:custGeom>
          <a:noFill/>
          <a:ln w="15875">
            <a:solidFill>
              <a:srgbClr val="D8AE7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ounded Rectangle 69"/>
          <p:cNvSpPr/>
          <p:nvPr/>
        </p:nvSpPr>
        <p:spPr>
          <a:xfrm>
            <a:off x="6124096" y="3950208"/>
            <a:ext cx="3840480" cy="1225296"/>
          </a:xfrm>
          <a:prstGeom prst="roundRect">
            <a:avLst>
              <a:gd name="adj" fmla="val 3000"/>
            </a:avLst>
          </a:prstGeom>
          <a:solidFill>
            <a:srgbClr val="EBE4D9"/>
          </a:solidFill>
          <a:ln w="15875">
            <a:solidFill>
              <a:srgbClr val="E1C8A3"/>
            </a:solidFill>
          </a:ln>
          <a:effectLst>
            <a:outerShdw blurRad="60000" dist="18000" dir="5400000" rotWithShape="0">
              <a:srgbClr val="1B3A5C">
                <a:alpha val="7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1" name="TextBox 70"/>
          <p:cNvSpPr txBox="1"/>
          <p:nvPr/>
        </p:nvSpPr>
        <p:spPr>
          <a:xfrm>
            <a:off x="6398416" y="4114800"/>
            <a:ext cx="3291840" cy="1005840"/>
          </a:xfrm>
          <a:prstGeom prst="rect">
            <a:avLst/>
          </a:prstGeom>
          <a:noFill/>
        </p:spPr>
        <p:txBody>
          <a:bodyPr wrap="square" lIns="0" rIns="0" tIns="0" bIns="0" anchor="t">
            <a:spAutoFit/>
          </a:bodyPr>
          <a:lstStyle/>
          <a:p>
            <a:pPr algn="l">
              <a:lnSpc>
                <a:spcPct val="120000"/>
              </a:lnSpc>
              <a:spcAft>
                <a:spcPts val="500"/>
              </a:spcAft>
            </a:pPr>
            <a:r>
              <a:rPr sz="1600" b="1">
                <a:solidFill>
                  <a:srgbClr val="C87E12"/>
                </a:solidFill>
                <a:latin typeface="Calibri"/>
              </a:rPr>
              <a:t>Verhuizing</a:t>
            </a:r>
          </a:p>
          <a:p>
            <a:pPr algn="l">
              <a:lnSpc>
                <a:spcPct val="124000"/>
              </a:lnSpc>
              <a:spcAft>
                <a:spcPts val="0"/>
              </a:spcAft>
            </a:pPr>
            <a:r>
              <a:rPr sz="1150" b="0">
                <a:solidFill>
                  <a:srgbClr val="55677C"/>
                </a:solidFill>
                <a:latin typeface="Calibri"/>
              </a:rPr>
              <a:t>daarna draait de zorg in de nieuwbouw</a:t>
            </a:r>
          </a:p>
        </p:txBody>
      </p:sp>
      <p:sp>
        <p:nvSpPr>
          <p:cNvPr id="72" name="Rounded Rectangle 71"/>
          <p:cNvSpPr/>
          <p:nvPr/>
        </p:nvSpPr>
        <p:spPr>
          <a:xfrm>
            <a:off x="640080" y="5431536"/>
            <a:ext cx="10911535" cy="822960"/>
          </a:xfrm>
          <a:prstGeom prst="roundRect">
            <a:avLst>
              <a:gd name="adj" fmla="val 3000"/>
            </a:avLst>
          </a:prstGeom>
          <a:solidFill>
            <a:srgbClr val="DCE8F5"/>
          </a:solidFill>
          <a:ln w="15875">
            <a:solidFill>
              <a:srgbClr val="A1C3E0"/>
            </a:solidFill>
          </a:ln>
          <a:effectLst>
            <a:outerShdw blurRad="60000" dist="18000" dir="5400000" rotWithShape="0">
              <a:srgbClr val="1B3A5C">
                <a:alpha val="7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3" name="Rounded Rectangle 72"/>
          <p:cNvSpPr/>
          <p:nvPr/>
        </p:nvSpPr>
        <p:spPr>
          <a:xfrm>
            <a:off x="640080" y="5431536"/>
            <a:ext cx="50292" cy="822960"/>
          </a:xfrm>
          <a:prstGeom prst="roundRect">
            <a:avLst>
              <a:gd name="adj" fmla="val 50000"/>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4" name="TextBox 73"/>
          <p:cNvSpPr txBox="1"/>
          <p:nvPr/>
        </p:nvSpPr>
        <p:spPr>
          <a:xfrm>
            <a:off x="969264" y="5513831"/>
            <a:ext cx="9997135" cy="658368"/>
          </a:xfrm>
          <a:prstGeom prst="rect">
            <a:avLst/>
          </a:prstGeom>
          <a:noFill/>
        </p:spPr>
        <p:txBody>
          <a:bodyPr wrap="square" lIns="0" rIns="0" tIns="0" bIns="0" anchor="ctr">
            <a:spAutoFit/>
          </a:bodyPr>
          <a:lstStyle/>
          <a:p>
            <a:pPr algn="l">
              <a:lnSpc>
                <a:spcPct val="120000"/>
              </a:lnSpc>
              <a:spcAft>
                <a:spcPts val="300"/>
              </a:spcAft>
            </a:pPr>
            <a:r>
              <a:rPr sz="950" b="1" spc="180">
                <a:solidFill>
                  <a:srgbClr val="1F6FB2"/>
                </a:solidFill>
                <a:latin typeface="Calibri"/>
              </a:rPr>
              <a:t>WAT DIT BETEKENT</a:t>
            </a:r>
          </a:p>
          <a:p>
            <a:pPr algn="l">
              <a:lnSpc>
                <a:spcPct val="120000"/>
              </a:lnSpc>
              <a:spcAft>
                <a:spcPts val="0"/>
              </a:spcAft>
            </a:pPr>
            <a:r>
              <a:rPr sz="1250" b="1">
                <a:solidFill>
                  <a:srgbClr val="0D1B2A"/>
                </a:solidFill>
                <a:latin typeface="Calibri"/>
              </a:rPr>
              <a:t>In de oudbouw werken de afdelingen al toe naar de nieuwe situatie. Wat schuift daar al, en wat pas na de verhuizing?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FFFFFF"/>
              </a:gs>
              <a:gs pos="100000">
                <a:srgbClr val="F1F6FC"/>
              </a:gs>
            </a:gsLst>
            <a:lin scaled="0" ang="189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640080" y="566928"/>
            <a:ext cx="10911535" cy="219456"/>
          </a:xfrm>
          <a:prstGeom prst="rect">
            <a:avLst/>
          </a:prstGeom>
          <a:noFill/>
        </p:spPr>
        <p:txBody>
          <a:bodyPr wrap="square" lIns="0" rIns="0" tIns="0" bIns="0" anchor="t">
            <a:spAutoFit/>
          </a:bodyPr>
          <a:lstStyle/>
          <a:p>
            <a:pPr algn="l">
              <a:lnSpc>
                <a:spcPct val="120000"/>
              </a:lnSpc>
              <a:spcAft>
                <a:spcPts val="0"/>
              </a:spcAft>
            </a:pPr>
            <a:r>
              <a:rPr sz="1050" b="1" spc="220">
                <a:solidFill>
                  <a:srgbClr val="6B4BA8"/>
                </a:solidFill>
                <a:latin typeface="Calibri"/>
              </a:rPr>
              <a:t>DEEL 02  ·  WAT GAAN WE REKENEN</a:t>
            </a:r>
          </a:p>
        </p:txBody>
      </p:sp>
      <p:sp>
        <p:nvSpPr>
          <p:cNvPr id="4" name="TextBox 3"/>
          <p:cNvSpPr txBox="1"/>
          <p:nvPr/>
        </p:nvSpPr>
        <p:spPr>
          <a:xfrm>
            <a:off x="640080" y="859536"/>
            <a:ext cx="10911535" cy="566928"/>
          </a:xfrm>
          <a:prstGeom prst="rect">
            <a:avLst/>
          </a:prstGeom>
          <a:noFill/>
        </p:spPr>
        <p:txBody>
          <a:bodyPr wrap="square" lIns="0" rIns="0" tIns="0" bIns="0" anchor="t">
            <a:spAutoFit/>
          </a:bodyPr>
          <a:lstStyle/>
          <a:p>
            <a:pPr algn="l">
              <a:lnSpc>
                <a:spcPct val="120000"/>
              </a:lnSpc>
              <a:spcAft>
                <a:spcPts val="0"/>
              </a:spcAft>
            </a:pPr>
            <a:r>
              <a:rPr sz="3400" b="1">
                <a:solidFill>
                  <a:srgbClr val="0D1B2A"/>
                </a:solidFill>
                <a:latin typeface="Calibri"/>
              </a:rPr>
              <a:t>Berekeningen</a:t>
            </a:r>
          </a:p>
        </p:txBody>
      </p:sp>
      <p:sp>
        <p:nvSpPr>
          <p:cNvPr id="5" name="TextBox 4"/>
          <p:cNvSpPr txBox="1"/>
          <p:nvPr/>
        </p:nvSpPr>
        <p:spPr>
          <a:xfrm>
            <a:off x="640080" y="1335024"/>
            <a:ext cx="8510997" cy="274320"/>
          </a:xfrm>
          <a:prstGeom prst="rect">
            <a:avLst/>
          </a:prstGeom>
          <a:noFill/>
        </p:spPr>
        <p:txBody>
          <a:bodyPr wrap="square" lIns="0" rIns="0" tIns="0" bIns="0" anchor="t">
            <a:spAutoFit/>
          </a:bodyPr>
          <a:lstStyle/>
          <a:p>
            <a:pPr algn="l">
              <a:lnSpc>
                <a:spcPct val="120000"/>
              </a:lnSpc>
              <a:spcAft>
                <a:spcPts val="0"/>
              </a:spcAft>
            </a:pPr>
            <a:r>
              <a:rPr sz="1250" b="0">
                <a:solidFill>
                  <a:srgbClr val="55677C"/>
                </a:solidFill>
                <a:latin typeface="Calibri"/>
              </a:rPr>
              <a:t>Start september 2026 — drie onderdelen, waarvan het eerste per afdeling is uitgesplitst naar patiëntstroom</a:t>
            </a:r>
          </a:p>
        </p:txBody>
      </p:sp>
      <p:cxnSp>
        <p:nvCxnSpPr>
          <p:cNvPr id="6" name="Connector 5"/>
          <p:cNvCxnSpPr/>
          <p:nvPr/>
        </p:nvCxnSpPr>
        <p:spPr>
          <a:xfrm>
            <a:off x="640080" y="1609344"/>
            <a:ext cx="10911535" cy="0"/>
          </a:xfrm>
          <a:prstGeom prst="line">
            <a:avLst/>
          </a:prstGeom>
          <a:ln w="12700">
            <a:solidFill>
              <a:srgbClr val="E2E9F1"/>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640080" y="6291072"/>
            <a:ext cx="10911535" cy="0"/>
          </a:xfrm>
          <a:prstGeom prst="line">
            <a:avLst/>
          </a:prstGeom>
          <a:ln w="9525">
            <a:solidFill>
              <a:srgbClr val="E2E9F1"/>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40080" y="6382512"/>
            <a:ext cx="5486400" cy="237744"/>
          </a:xfrm>
          <a:prstGeom prst="rect">
            <a:avLst/>
          </a:prstGeom>
          <a:noFill/>
        </p:spPr>
        <p:txBody>
          <a:bodyPr wrap="square" lIns="0" rIns="0" tIns="0" bIns="0" anchor="t">
            <a:spAutoFit/>
          </a:bodyPr>
          <a:lstStyle/>
          <a:p>
            <a:pPr algn="l">
              <a:lnSpc>
                <a:spcPct val="120000"/>
              </a:lnSpc>
              <a:spcAft>
                <a:spcPts val="0"/>
              </a:spcAft>
            </a:pPr>
            <a:r>
              <a:rPr sz="900" b="0" spc="80">
                <a:solidFill>
                  <a:srgbClr val="8B9AAA"/>
                </a:solidFill>
                <a:latin typeface="Calibri"/>
              </a:rPr>
              <a:t>Acute poort en Hotfloor</a:t>
            </a:r>
          </a:p>
        </p:txBody>
      </p:sp>
      <p:sp>
        <p:nvSpPr>
          <p:cNvPr id="9" name="TextBox 8"/>
          <p:cNvSpPr txBox="1"/>
          <p:nvPr/>
        </p:nvSpPr>
        <p:spPr>
          <a:xfrm>
            <a:off x="10637215" y="6382512"/>
            <a:ext cx="914400" cy="237744"/>
          </a:xfrm>
          <a:prstGeom prst="rect">
            <a:avLst/>
          </a:prstGeom>
          <a:noFill/>
        </p:spPr>
        <p:txBody>
          <a:bodyPr wrap="square" lIns="0" rIns="0" tIns="0" bIns="0" anchor="t">
            <a:spAutoFit/>
          </a:bodyPr>
          <a:lstStyle/>
          <a:p>
            <a:pPr algn="r">
              <a:lnSpc>
                <a:spcPct val="120000"/>
              </a:lnSpc>
              <a:spcAft>
                <a:spcPts val="0"/>
              </a:spcAft>
            </a:pPr>
            <a:r>
              <a:rPr sz="950" b="1">
                <a:solidFill>
                  <a:srgbClr val="0E9A87"/>
                </a:solidFill>
                <a:latin typeface="Calibri"/>
              </a:rPr>
              <a:t>07</a:t>
            </a:r>
          </a:p>
        </p:txBody>
      </p:sp>
      <p:sp>
        <p:nvSpPr>
          <p:cNvPr id="10" name="Rounded Rectangle 9"/>
          <p:cNvSpPr/>
          <p:nvPr/>
        </p:nvSpPr>
        <p:spPr>
          <a:xfrm>
            <a:off x="640080" y="1700784"/>
            <a:ext cx="7772400" cy="3602736"/>
          </a:xfrm>
          <a:prstGeom prst="roundRect">
            <a:avLst>
              <a:gd name="adj" fmla="val 3000"/>
            </a:avLst>
          </a:prstGeom>
          <a:solidFill>
            <a:srgbClr val="FFFFFF"/>
          </a:solidFill>
          <a:ln w="12700">
            <a:solidFill>
              <a:srgbClr val="E2E9F1"/>
            </a:solidFill>
          </a:ln>
          <a:effectLst>
            <a:outerShdw blurRad="70000" dist="22000" dir="5400000" rotWithShape="0">
              <a:srgbClr val="1B3A5C">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813815" y="1874520"/>
            <a:ext cx="457200" cy="457200"/>
          </a:xfrm>
          <a:prstGeom prst="ellipse">
            <a:avLst/>
          </a:prstGeom>
          <a:solidFill>
            <a:srgbClr val="1F6FB2">
              <a:alpha val="10000"/>
            </a:srgbClr>
          </a:solidFill>
          <a:ln w="15875">
            <a:solidFill>
              <a:srgbClr val="1F6FB2"/>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1F6FB2"/>
                </a:solidFill>
                <a:latin typeface="Calibri"/>
              </a:rPr>
              <a:t>1</a:t>
            </a:r>
          </a:p>
        </p:txBody>
      </p:sp>
      <p:sp>
        <p:nvSpPr>
          <p:cNvPr id="12" name="TextBox 11"/>
          <p:cNvSpPr txBox="1"/>
          <p:nvPr/>
        </p:nvSpPr>
        <p:spPr>
          <a:xfrm>
            <a:off x="1389888" y="1883664"/>
            <a:ext cx="6675120" cy="457200"/>
          </a:xfrm>
          <a:prstGeom prst="rect">
            <a:avLst/>
          </a:prstGeom>
          <a:noFill/>
        </p:spPr>
        <p:txBody>
          <a:bodyPr wrap="square" lIns="0" rIns="0" tIns="0" bIns="0" anchor="ctr">
            <a:spAutoFit/>
          </a:bodyPr>
          <a:lstStyle/>
          <a:p>
            <a:pPr algn="l">
              <a:lnSpc>
                <a:spcPct val="120000"/>
              </a:lnSpc>
              <a:spcAft>
                <a:spcPts val="0"/>
              </a:spcAft>
            </a:pPr>
            <a:r>
              <a:rPr sz="1700" b="1">
                <a:solidFill>
                  <a:srgbClr val="0D1B2A"/>
                </a:solidFill>
                <a:latin typeface="Calibri"/>
              </a:rPr>
              <a:t>Aantal bedden op basis van patiëntaanwezigheid</a:t>
            </a:r>
          </a:p>
        </p:txBody>
      </p:sp>
      <p:sp>
        <p:nvSpPr>
          <p:cNvPr id="13" name="TextBox 12"/>
          <p:cNvSpPr txBox="1"/>
          <p:nvPr/>
        </p:nvSpPr>
        <p:spPr>
          <a:xfrm>
            <a:off x="1389888" y="2267712"/>
            <a:ext cx="6675120" cy="237744"/>
          </a:xfrm>
          <a:prstGeom prst="rect">
            <a:avLst/>
          </a:prstGeom>
          <a:noFill/>
        </p:spPr>
        <p:txBody>
          <a:bodyPr wrap="square" lIns="0" rIns="0" tIns="0" bIns="0" anchor="t">
            <a:spAutoFit/>
          </a:bodyPr>
          <a:lstStyle/>
          <a:p>
            <a:pPr algn="l">
              <a:lnSpc>
                <a:spcPct val="120000"/>
              </a:lnSpc>
              <a:spcAft>
                <a:spcPts val="0"/>
              </a:spcAft>
            </a:pPr>
            <a:r>
              <a:rPr sz="1100" b="0">
                <a:solidFill>
                  <a:srgbClr val="55677C"/>
                </a:solidFill>
                <a:latin typeface="Calibri"/>
              </a:rPr>
              <a:t>dit hebben we nu per afdeling in kaart</a:t>
            </a:r>
          </a:p>
        </p:txBody>
      </p:sp>
      <p:cxnSp>
        <p:nvCxnSpPr>
          <p:cNvPr id="14" name="Connector 13"/>
          <p:cNvCxnSpPr/>
          <p:nvPr/>
        </p:nvCxnSpPr>
        <p:spPr>
          <a:xfrm>
            <a:off x="932688" y="2596896"/>
            <a:ext cx="7187184" cy="0"/>
          </a:xfrm>
          <a:prstGeom prst="line">
            <a:avLst/>
          </a:prstGeom>
          <a:ln w="12700">
            <a:solidFill>
              <a:srgbClr val="E2E9F1"/>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932688" y="2761488"/>
            <a:ext cx="1097280" cy="457200"/>
          </a:xfrm>
          <a:prstGeom prst="roundRect">
            <a:avLst>
              <a:gd name="adj" fmla="val 14000"/>
            </a:avLst>
          </a:prstGeom>
          <a:solidFill>
            <a:srgbClr val="CFE0F0"/>
          </a:solidFill>
          <a:ln w="15875">
            <a:solidFill>
              <a:srgbClr val="A1C3E0"/>
            </a:solidFill>
          </a:ln>
          <a:effectLst>
            <a:outerShdw blurRad="60000" dist="18000" dir="5400000" rotWithShape="0">
              <a:srgbClr val="1B3A5C">
                <a:alpha val="7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32688" y="2761488"/>
            <a:ext cx="1097280" cy="457200"/>
          </a:xfrm>
          <a:prstGeom prst="rect">
            <a:avLst/>
          </a:prstGeom>
          <a:noFill/>
        </p:spPr>
        <p:txBody>
          <a:bodyPr wrap="square" lIns="0" rIns="0" tIns="0" bIns="0" anchor="ctr">
            <a:spAutoFit/>
          </a:bodyPr>
          <a:lstStyle/>
          <a:p>
            <a:pPr algn="ctr">
              <a:lnSpc>
                <a:spcPct val="120000"/>
              </a:lnSpc>
              <a:spcAft>
                <a:spcPts val="0"/>
              </a:spcAft>
            </a:pPr>
            <a:r>
              <a:rPr sz="1400" b="1">
                <a:solidFill>
                  <a:srgbClr val="1F6FB2"/>
                </a:solidFill>
                <a:latin typeface="Calibri"/>
              </a:rPr>
              <a:t>ICU</a:t>
            </a:r>
          </a:p>
        </p:txBody>
      </p:sp>
      <p:sp>
        <p:nvSpPr>
          <p:cNvPr id="17" name="Freeform 16"/>
          <p:cNvSpPr/>
          <p:nvPr/>
        </p:nvSpPr>
        <p:spPr>
          <a:xfrm>
            <a:off x="2066543" y="2990088"/>
            <a:ext cx="237744" cy="0"/>
          </a:xfrm>
          <a:custGeom>
            <a:avLst/>
            <a:gdLst/>
            <a:ahLst/>
            <a:cxnLst/>
            <a:rect l="l" t="t" r="r" b="b"/>
            <a:pathLst>
              <a:path w="237744" h="0">
                <a:moveTo>
                  <a:pt x="0" y="0"/>
                </a:moveTo>
                <a:lnTo>
                  <a:pt x="237744" y="0"/>
                </a:lnTo>
              </a:path>
            </a:pathLst>
          </a:custGeom>
          <a:noFill/>
          <a:ln w="19050">
            <a:solidFill>
              <a:srgbClr val="73A5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2340863" y="2761488"/>
            <a:ext cx="1234440" cy="457200"/>
          </a:xfrm>
          <a:prstGeom prst="roundRect">
            <a:avLst>
              <a:gd name="adj" fmla="val 50000"/>
            </a:avLst>
          </a:prstGeom>
          <a:solidFill>
            <a:srgbClr val="1F6FB2">
              <a:alpha val="9000"/>
            </a:srgbClr>
          </a:solidFill>
          <a:ln w="12700">
            <a:solidFill>
              <a:srgbClr val="88B2D7"/>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ctr"/>
            <a:r>
              <a:rPr sz="1150" b="0">
                <a:solidFill>
                  <a:srgbClr val="1F6FB2"/>
                </a:solidFill>
                <a:latin typeface="Calibri"/>
              </a:rPr>
              <a:t>spoed</a:t>
            </a:r>
          </a:p>
        </p:txBody>
      </p:sp>
      <p:sp>
        <p:nvSpPr>
          <p:cNvPr id="19" name="Freeform 18"/>
          <p:cNvSpPr/>
          <p:nvPr/>
        </p:nvSpPr>
        <p:spPr>
          <a:xfrm>
            <a:off x="3611879" y="2990088"/>
            <a:ext cx="237745" cy="0"/>
          </a:xfrm>
          <a:custGeom>
            <a:avLst/>
            <a:gdLst/>
            <a:ahLst/>
            <a:cxnLst/>
            <a:rect l="l" t="t" r="r" b="b"/>
            <a:pathLst>
              <a:path w="237745" h="0">
                <a:moveTo>
                  <a:pt x="0" y="0"/>
                </a:moveTo>
                <a:lnTo>
                  <a:pt x="237745" y="0"/>
                </a:lnTo>
              </a:path>
            </a:pathLst>
          </a:custGeom>
          <a:noFill/>
          <a:ln w="19050">
            <a:solidFill>
              <a:srgbClr val="73A5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3886200" y="2761488"/>
            <a:ext cx="1234440" cy="457200"/>
          </a:xfrm>
          <a:prstGeom prst="roundRect">
            <a:avLst>
              <a:gd name="adj" fmla="val 50000"/>
            </a:avLst>
          </a:prstGeom>
          <a:solidFill>
            <a:srgbClr val="1F6FB2">
              <a:alpha val="9000"/>
            </a:srgbClr>
          </a:solidFill>
          <a:ln w="12700">
            <a:solidFill>
              <a:srgbClr val="88B2D7"/>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ctr"/>
            <a:r>
              <a:rPr sz="1150" b="0">
                <a:solidFill>
                  <a:srgbClr val="1F6FB2"/>
                </a:solidFill>
                <a:latin typeface="Calibri"/>
              </a:rPr>
              <a:t>electief</a:t>
            </a:r>
          </a:p>
        </p:txBody>
      </p:sp>
      <p:sp>
        <p:nvSpPr>
          <p:cNvPr id="21" name="Freeform 20"/>
          <p:cNvSpPr/>
          <p:nvPr/>
        </p:nvSpPr>
        <p:spPr>
          <a:xfrm>
            <a:off x="5157216" y="2990088"/>
            <a:ext cx="237743" cy="0"/>
          </a:xfrm>
          <a:custGeom>
            <a:avLst/>
            <a:gdLst/>
            <a:ahLst/>
            <a:cxnLst/>
            <a:rect l="l" t="t" r="r" b="b"/>
            <a:pathLst>
              <a:path w="237743" h="0">
                <a:moveTo>
                  <a:pt x="0" y="0"/>
                </a:moveTo>
                <a:lnTo>
                  <a:pt x="237743" y="0"/>
                </a:lnTo>
              </a:path>
            </a:pathLst>
          </a:custGeom>
          <a:noFill/>
          <a:ln w="19050">
            <a:solidFill>
              <a:srgbClr val="73A5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5431536" y="2761488"/>
            <a:ext cx="1234440" cy="457200"/>
          </a:xfrm>
          <a:prstGeom prst="roundRect">
            <a:avLst>
              <a:gd name="adj" fmla="val 50000"/>
            </a:avLst>
          </a:prstGeom>
          <a:solidFill>
            <a:srgbClr val="1F6FB2">
              <a:alpha val="9000"/>
            </a:srgbClr>
          </a:solidFill>
          <a:ln w="12700">
            <a:solidFill>
              <a:srgbClr val="88B2D7"/>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ctr"/>
            <a:r>
              <a:rPr sz="1150" b="0">
                <a:solidFill>
                  <a:srgbClr val="1F6FB2"/>
                </a:solidFill>
                <a:latin typeface="Calibri"/>
              </a:rPr>
              <a:t>recovery</a:t>
            </a:r>
          </a:p>
        </p:txBody>
      </p:sp>
      <p:sp>
        <p:nvSpPr>
          <p:cNvPr id="23" name="Rounded Rectangle 22"/>
          <p:cNvSpPr/>
          <p:nvPr/>
        </p:nvSpPr>
        <p:spPr>
          <a:xfrm>
            <a:off x="932688" y="3273552"/>
            <a:ext cx="1097280" cy="457200"/>
          </a:xfrm>
          <a:prstGeom prst="roundRect">
            <a:avLst>
              <a:gd name="adj" fmla="val 14000"/>
            </a:avLst>
          </a:prstGeom>
          <a:solidFill>
            <a:srgbClr val="DCDBEF"/>
          </a:solidFill>
          <a:ln w="15875">
            <a:solidFill>
              <a:srgbClr val="BEB5DC"/>
            </a:solidFill>
          </a:ln>
          <a:effectLst>
            <a:outerShdw blurRad="60000" dist="18000" dir="5400000" rotWithShape="0">
              <a:srgbClr val="1B3A5C">
                <a:alpha val="7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932688" y="3273552"/>
            <a:ext cx="1097280" cy="457200"/>
          </a:xfrm>
          <a:prstGeom prst="rect">
            <a:avLst/>
          </a:prstGeom>
          <a:noFill/>
        </p:spPr>
        <p:txBody>
          <a:bodyPr wrap="square" lIns="0" rIns="0" tIns="0" bIns="0" anchor="ctr">
            <a:spAutoFit/>
          </a:bodyPr>
          <a:lstStyle/>
          <a:p>
            <a:pPr algn="ctr">
              <a:lnSpc>
                <a:spcPct val="120000"/>
              </a:lnSpc>
              <a:spcAft>
                <a:spcPts val="0"/>
              </a:spcAft>
            </a:pPr>
            <a:r>
              <a:rPr sz="1400" b="1">
                <a:solidFill>
                  <a:srgbClr val="6B4BA8"/>
                </a:solidFill>
                <a:latin typeface="Calibri"/>
              </a:rPr>
              <a:t>CCU</a:t>
            </a:r>
          </a:p>
        </p:txBody>
      </p:sp>
      <p:sp>
        <p:nvSpPr>
          <p:cNvPr id="25" name="Freeform 24"/>
          <p:cNvSpPr/>
          <p:nvPr/>
        </p:nvSpPr>
        <p:spPr>
          <a:xfrm>
            <a:off x="2066543" y="3502152"/>
            <a:ext cx="237744" cy="0"/>
          </a:xfrm>
          <a:custGeom>
            <a:avLst/>
            <a:gdLst/>
            <a:ahLst/>
            <a:cxnLst/>
            <a:rect l="l" t="t" r="r" b="b"/>
            <a:pathLst>
              <a:path w="237744" h="0">
                <a:moveTo>
                  <a:pt x="0" y="0"/>
                </a:moveTo>
                <a:lnTo>
                  <a:pt x="237744" y="0"/>
                </a:lnTo>
              </a:path>
            </a:pathLst>
          </a:custGeom>
          <a:noFill/>
          <a:ln w="19050">
            <a:solidFill>
              <a:srgbClr val="A18F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2340863" y="3273552"/>
            <a:ext cx="1234440" cy="457200"/>
          </a:xfrm>
          <a:prstGeom prst="roundRect">
            <a:avLst>
              <a:gd name="adj" fmla="val 50000"/>
            </a:avLst>
          </a:prstGeom>
          <a:solidFill>
            <a:srgbClr val="6B4BA8">
              <a:alpha val="9000"/>
            </a:srgbClr>
          </a:solidFill>
          <a:ln w="12700">
            <a:solidFill>
              <a:srgbClr val="AEA0D2"/>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ctr"/>
            <a:r>
              <a:rPr sz="1150" b="0">
                <a:solidFill>
                  <a:srgbClr val="6B4BA8"/>
                </a:solidFill>
                <a:latin typeface="Calibri"/>
              </a:rPr>
              <a:t>spoed</a:t>
            </a:r>
          </a:p>
        </p:txBody>
      </p:sp>
      <p:sp>
        <p:nvSpPr>
          <p:cNvPr id="27" name="Freeform 26"/>
          <p:cNvSpPr/>
          <p:nvPr/>
        </p:nvSpPr>
        <p:spPr>
          <a:xfrm>
            <a:off x="3611879" y="3502152"/>
            <a:ext cx="237745" cy="0"/>
          </a:xfrm>
          <a:custGeom>
            <a:avLst/>
            <a:gdLst/>
            <a:ahLst/>
            <a:cxnLst/>
            <a:rect l="l" t="t" r="r" b="b"/>
            <a:pathLst>
              <a:path w="237745" h="0">
                <a:moveTo>
                  <a:pt x="0" y="0"/>
                </a:moveTo>
                <a:lnTo>
                  <a:pt x="237745" y="0"/>
                </a:lnTo>
              </a:path>
            </a:pathLst>
          </a:custGeom>
          <a:noFill/>
          <a:ln w="19050">
            <a:solidFill>
              <a:srgbClr val="A18F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3886200" y="3273552"/>
            <a:ext cx="1283817" cy="457200"/>
          </a:xfrm>
          <a:prstGeom prst="roundRect">
            <a:avLst>
              <a:gd name="adj" fmla="val 50000"/>
            </a:avLst>
          </a:prstGeom>
          <a:solidFill>
            <a:srgbClr val="6B4BA8">
              <a:alpha val="9000"/>
            </a:srgbClr>
          </a:solidFill>
          <a:ln w="12700">
            <a:solidFill>
              <a:srgbClr val="AEA0D2"/>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ctr"/>
            <a:r>
              <a:rPr sz="1150" b="0">
                <a:solidFill>
                  <a:srgbClr val="6B4BA8"/>
                </a:solidFill>
                <a:latin typeface="Calibri"/>
              </a:rPr>
              <a:t>cardioversie</a:t>
            </a:r>
          </a:p>
        </p:txBody>
      </p:sp>
      <p:sp>
        <p:nvSpPr>
          <p:cNvPr id="29" name="Rounded Rectangle 28"/>
          <p:cNvSpPr/>
          <p:nvPr/>
        </p:nvSpPr>
        <p:spPr>
          <a:xfrm>
            <a:off x="932688" y="3785616"/>
            <a:ext cx="1097280" cy="457200"/>
          </a:xfrm>
          <a:prstGeom prst="roundRect">
            <a:avLst>
              <a:gd name="adj" fmla="val 14000"/>
            </a:avLst>
          </a:prstGeom>
          <a:solidFill>
            <a:srgbClr val="CDE7E9"/>
          </a:solidFill>
          <a:ln w="15875">
            <a:solidFill>
              <a:srgbClr val="9BD3D0"/>
            </a:solidFill>
          </a:ln>
          <a:effectLst>
            <a:outerShdw blurRad="60000" dist="18000" dir="5400000" rotWithShape="0">
              <a:srgbClr val="1B3A5C">
                <a:alpha val="7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932688" y="3785616"/>
            <a:ext cx="1097280" cy="457200"/>
          </a:xfrm>
          <a:prstGeom prst="rect">
            <a:avLst/>
          </a:prstGeom>
          <a:noFill/>
        </p:spPr>
        <p:txBody>
          <a:bodyPr wrap="square" lIns="0" rIns="0" tIns="0" bIns="0" anchor="ctr">
            <a:spAutoFit/>
          </a:bodyPr>
          <a:lstStyle/>
          <a:p>
            <a:pPr algn="ctr">
              <a:lnSpc>
                <a:spcPct val="120000"/>
              </a:lnSpc>
              <a:spcAft>
                <a:spcPts val="0"/>
              </a:spcAft>
            </a:pPr>
            <a:r>
              <a:rPr sz="1400" b="1">
                <a:solidFill>
                  <a:srgbClr val="0E9A87"/>
                </a:solidFill>
                <a:latin typeface="Calibri"/>
              </a:rPr>
              <a:t>SCU</a:t>
            </a:r>
          </a:p>
        </p:txBody>
      </p:sp>
      <p:sp>
        <p:nvSpPr>
          <p:cNvPr id="31" name="Freeform 30"/>
          <p:cNvSpPr/>
          <p:nvPr/>
        </p:nvSpPr>
        <p:spPr>
          <a:xfrm>
            <a:off x="2066543" y="4014216"/>
            <a:ext cx="237744" cy="0"/>
          </a:xfrm>
          <a:custGeom>
            <a:avLst/>
            <a:gdLst/>
            <a:ahLst/>
            <a:cxnLst/>
            <a:rect l="l" t="t" r="r" b="b"/>
            <a:pathLst>
              <a:path w="237744" h="0">
                <a:moveTo>
                  <a:pt x="0" y="0"/>
                </a:moveTo>
                <a:lnTo>
                  <a:pt x="237744" y="0"/>
                </a:lnTo>
              </a:path>
            </a:pathLst>
          </a:custGeom>
          <a:noFill/>
          <a:ln w="19050">
            <a:solidFill>
              <a:srgbClr val="69BFB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2340863" y="3785616"/>
            <a:ext cx="1234440" cy="457200"/>
          </a:xfrm>
          <a:prstGeom prst="roundRect">
            <a:avLst>
              <a:gd name="adj" fmla="val 50000"/>
            </a:avLst>
          </a:prstGeom>
          <a:solidFill>
            <a:srgbClr val="0E9A87">
              <a:alpha val="9000"/>
            </a:srgbClr>
          </a:solidFill>
          <a:ln w="12700">
            <a:solidFill>
              <a:srgbClr val="80C8C2"/>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ctr"/>
            <a:r>
              <a:rPr sz="1150" b="0">
                <a:solidFill>
                  <a:srgbClr val="0E9A87"/>
                </a:solidFill>
                <a:latin typeface="Calibri"/>
              </a:rPr>
              <a:t>spoed</a:t>
            </a:r>
          </a:p>
        </p:txBody>
      </p:sp>
      <p:sp>
        <p:nvSpPr>
          <p:cNvPr id="33" name="Rounded Rectangle 32"/>
          <p:cNvSpPr/>
          <p:nvPr/>
        </p:nvSpPr>
        <p:spPr>
          <a:xfrm>
            <a:off x="932688" y="4297680"/>
            <a:ext cx="1097280" cy="457200"/>
          </a:xfrm>
          <a:prstGeom prst="roundRect">
            <a:avLst>
              <a:gd name="adj" fmla="val 14000"/>
            </a:avLst>
          </a:prstGeom>
          <a:solidFill>
            <a:srgbClr val="EAE3D7"/>
          </a:solidFill>
          <a:ln w="15875">
            <a:solidFill>
              <a:srgbClr val="E1C8A3"/>
            </a:solidFill>
          </a:ln>
          <a:effectLst>
            <a:outerShdw blurRad="60000" dist="18000" dir="5400000" rotWithShape="0">
              <a:srgbClr val="1B3A5C">
                <a:alpha val="7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932688" y="4297680"/>
            <a:ext cx="1097280" cy="457200"/>
          </a:xfrm>
          <a:prstGeom prst="rect">
            <a:avLst/>
          </a:prstGeom>
          <a:noFill/>
        </p:spPr>
        <p:txBody>
          <a:bodyPr wrap="square" lIns="0" rIns="0" tIns="0" bIns="0" anchor="ctr">
            <a:spAutoFit/>
          </a:bodyPr>
          <a:lstStyle/>
          <a:p>
            <a:pPr algn="ctr">
              <a:lnSpc>
                <a:spcPct val="120000"/>
              </a:lnSpc>
              <a:spcAft>
                <a:spcPts val="0"/>
              </a:spcAft>
            </a:pPr>
            <a:r>
              <a:rPr sz="1400" b="1">
                <a:solidFill>
                  <a:srgbClr val="C87E12"/>
                </a:solidFill>
                <a:latin typeface="Calibri"/>
              </a:rPr>
              <a:t>EHH</a:t>
            </a:r>
          </a:p>
        </p:txBody>
      </p:sp>
      <p:sp>
        <p:nvSpPr>
          <p:cNvPr id="35" name="Freeform 34"/>
          <p:cNvSpPr/>
          <p:nvPr/>
        </p:nvSpPr>
        <p:spPr>
          <a:xfrm>
            <a:off x="2066543" y="4526280"/>
            <a:ext cx="237744" cy="0"/>
          </a:xfrm>
          <a:custGeom>
            <a:avLst/>
            <a:gdLst/>
            <a:ahLst/>
            <a:cxnLst/>
            <a:rect l="l" t="t" r="r" b="b"/>
            <a:pathLst>
              <a:path w="237744" h="0">
                <a:moveTo>
                  <a:pt x="0" y="0"/>
                </a:moveTo>
                <a:lnTo>
                  <a:pt x="237744" y="0"/>
                </a:lnTo>
              </a:path>
            </a:pathLst>
          </a:custGeom>
          <a:noFill/>
          <a:ln w="19050">
            <a:solidFill>
              <a:srgbClr val="D8AE7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2340863" y="4297680"/>
            <a:ext cx="1234440" cy="457200"/>
          </a:xfrm>
          <a:prstGeom prst="roundRect">
            <a:avLst>
              <a:gd name="adj" fmla="val 50000"/>
            </a:avLst>
          </a:prstGeom>
          <a:solidFill>
            <a:srgbClr val="C87E12">
              <a:alpha val="9000"/>
            </a:srgbClr>
          </a:solidFill>
          <a:ln w="12700">
            <a:solidFill>
              <a:srgbClr val="DCBA87"/>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ctr"/>
            <a:r>
              <a:rPr sz="1150" b="0">
                <a:solidFill>
                  <a:srgbClr val="C87E12"/>
                </a:solidFill>
                <a:latin typeface="Calibri"/>
              </a:rPr>
              <a:t>spoed</a:t>
            </a:r>
          </a:p>
        </p:txBody>
      </p:sp>
      <p:sp>
        <p:nvSpPr>
          <p:cNvPr id="37" name="Rounded Rectangle 36"/>
          <p:cNvSpPr/>
          <p:nvPr/>
        </p:nvSpPr>
        <p:spPr>
          <a:xfrm>
            <a:off x="932688" y="4809744"/>
            <a:ext cx="1097280" cy="457200"/>
          </a:xfrm>
          <a:prstGeom prst="roundRect">
            <a:avLst>
              <a:gd name="adj" fmla="val 14000"/>
            </a:avLst>
          </a:prstGeom>
          <a:solidFill>
            <a:srgbClr val="CDD8E4"/>
          </a:solidFill>
          <a:ln w="15875">
            <a:solidFill>
              <a:srgbClr val="9CAFC2"/>
            </a:solidFill>
          </a:ln>
          <a:effectLst>
            <a:outerShdw blurRad="60000" dist="18000" dir="5400000" rotWithShape="0">
              <a:srgbClr val="1B3A5C">
                <a:alpha val="7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932688" y="4809744"/>
            <a:ext cx="1097280" cy="457200"/>
          </a:xfrm>
          <a:prstGeom prst="rect">
            <a:avLst/>
          </a:prstGeom>
          <a:noFill/>
        </p:spPr>
        <p:txBody>
          <a:bodyPr wrap="square" lIns="0" rIns="0" tIns="0" bIns="0" anchor="ctr">
            <a:spAutoFit/>
          </a:bodyPr>
          <a:lstStyle/>
          <a:p>
            <a:pPr algn="ctr">
              <a:lnSpc>
                <a:spcPct val="120000"/>
              </a:lnSpc>
              <a:spcAft>
                <a:spcPts val="0"/>
              </a:spcAft>
            </a:pPr>
            <a:r>
              <a:rPr sz="1400" b="1">
                <a:solidFill>
                  <a:srgbClr val="123A63"/>
                </a:solidFill>
                <a:latin typeface="Calibri"/>
              </a:rPr>
              <a:t>SEH</a:t>
            </a:r>
          </a:p>
        </p:txBody>
      </p:sp>
      <p:sp>
        <p:nvSpPr>
          <p:cNvPr id="39" name="Freeform 38"/>
          <p:cNvSpPr/>
          <p:nvPr/>
        </p:nvSpPr>
        <p:spPr>
          <a:xfrm>
            <a:off x="2066543" y="5038344"/>
            <a:ext cx="237744" cy="0"/>
          </a:xfrm>
          <a:custGeom>
            <a:avLst/>
            <a:gdLst/>
            <a:ahLst/>
            <a:cxnLst/>
            <a:rect l="l" t="t" r="r" b="b"/>
            <a:pathLst>
              <a:path w="237744" h="0">
                <a:moveTo>
                  <a:pt x="0" y="0"/>
                </a:moveTo>
                <a:lnTo>
                  <a:pt x="237744" y="0"/>
                </a:lnTo>
              </a:path>
            </a:pathLst>
          </a:custGeom>
          <a:noFill/>
          <a:ln w="19050">
            <a:solidFill>
              <a:srgbClr val="6B85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ounded Rectangle 39"/>
          <p:cNvSpPr/>
          <p:nvPr/>
        </p:nvSpPr>
        <p:spPr>
          <a:xfrm>
            <a:off x="2340863" y="4809744"/>
            <a:ext cx="2633472" cy="457200"/>
          </a:xfrm>
          <a:prstGeom prst="roundRect">
            <a:avLst>
              <a:gd name="adj" fmla="val 50000"/>
            </a:avLst>
          </a:prstGeom>
          <a:solidFill>
            <a:srgbClr val="123A63">
              <a:alpha val="9000"/>
            </a:srgbClr>
          </a:solidFill>
          <a:ln w="12700">
            <a:solidFill>
              <a:srgbClr val="8298B0"/>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ctr"/>
            <a:r>
              <a:rPr sz="1150" b="0">
                <a:solidFill>
                  <a:srgbClr val="123A63"/>
                </a:solidFill>
                <a:latin typeface="Calibri"/>
              </a:rPr>
              <a:t>scenario's van Maxim en Sigrid</a:t>
            </a:r>
          </a:p>
        </p:txBody>
      </p:sp>
      <p:sp>
        <p:nvSpPr>
          <p:cNvPr id="41" name="Rounded Rectangle 40"/>
          <p:cNvSpPr/>
          <p:nvPr/>
        </p:nvSpPr>
        <p:spPr>
          <a:xfrm>
            <a:off x="8714232" y="1700784"/>
            <a:ext cx="2837383" cy="1737360"/>
          </a:xfrm>
          <a:prstGeom prst="roundRect">
            <a:avLst>
              <a:gd name="adj" fmla="val 3000"/>
            </a:avLst>
          </a:prstGeom>
          <a:solidFill>
            <a:srgbClr val="FFFFFF"/>
          </a:solidFill>
          <a:ln w="12700">
            <a:solidFill>
              <a:srgbClr val="E2E9F1"/>
            </a:solidFill>
          </a:ln>
          <a:effectLst>
            <a:outerShdw blurRad="70000" dist="22000" dir="5400000" rotWithShape="0">
              <a:srgbClr val="1B3A5C">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Oval 41"/>
          <p:cNvSpPr/>
          <p:nvPr/>
        </p:nvSpPr>
        <p:spPr>
          <a:xfrm>
            <a:off x="8887967" y="1874520"/>
            <a:ext cx="420624" cy="420624"/>
          </a:xfrm>
          <a:prstGeom prst="ellipse">
            <a:avLst/>
          </a:prstGeom>
          <a:solidFill>
            <a:srgbClr val="6B4BA8">
              <a:alpha val="10000"/>
            </a:srgbClr>
          </a:solidFill>
          <a:ln w="15875">
            <a:solidFill>
              <a:srgbClr val="6B4BA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400" b="1">
                <a:solidFill>
                  <a:srgbClr val="6B4BA8"/>
                </a:solidFill>
                <a:latin typeface="Calibri"/>
              </a:rPr>
              <a:t>2</a:t>
            </a:r>
          </a:p>
        </p:txBody>
      </p:sp>
      <p:sp>
        <p:nvSpPr>
          <p:cNvPr id="43" name="TextBox 42"/>
          <p:cNvSpPr txBox="1"/>
          <p:nvPr/>
        </p:nvSpPr>
        <p:spPr>
          <a:xfrm>
            <a:off x="9427463" y="1883664"/>
            <a:ext cx="1831543" cy="420624"/>
          </a:xfrm>
          <a:prstGeom prst="rect">
            <a:avLst/>
          </a:prstGeom>
          <a:noFill/>
        </p:spPr>
        <p:txBody>
          <a:bodyPr wrap="square" lIns="0" rIns="0" tIns="0" bIns="0" anchor="ctr">
            <a:spAutoFit/>
          </a:bodyPr>
          <a:lstStyle/>
          <a:p>
            <a:pPr algn="l">
              <a:lnSpc>
                <a:spcPct val="114000"/>
              </a:lnSpc>
              <a:spcAft>
                <a:spcPts val="0"/>
              </a:spcAft>
            </a:pPr>
            <a:r>
              <a:rPr sz="1400" b="1">
                <a:solidFill>
                  <a:srgbClr val="0D1B2A"/>
                </a:solidFill>
                <a:latin typeface="Calibri"/>
              </a:rPr>
              <a:t>Norm verpleegkundigen</a:t>
            </a:r>
          </a:p>
        </p:txBody>
      </p:sp>
      <p:sp>
        <p:nvSpPr>
          <p:cNvPr id="44" name="TextBox 43"/>
          <p:cNvSpPr txBox="1"/>
          <p:nvPr/>
        </p:nvSpPr>
        <p:spPr>
          <a:xfrm>
            <a:off x="8970263" y="2395728"/>
            <a:ext cx="2325319" cy="219456"/>
          </a:xfrm>
          <a:prstGeom prst="rect">
            <a:avLst/>
          </a:prstGeom>
          <a:noFill/>
        </p:spPr>
        <p:txBody>
          <a:bodyPr wrap="square" lIns="0" rIns="0" tIns="0" bIns="0" anchor="t">
            <a:spAutoFit/>
          </a:bodyPr>
          <a:lstStyle/>
          <a:p>
            <a:pPr algn="l">
              <a:lnSpc>
                <a:spcPct val="120000"/>
              </a:lnSpc>
              <a:spcAft>
                <a:spcPts val="0"/>
              </a:spcAft>
            </a:pPr>
            <a:r>
              <a:rPr sz="1050" b="0">
                <a:solidFill>
                  <a:srgbClr val="55677C"/>
                </a:solidFill>
                <a:latin typeface="Calibri"/>
              </a:rPr>
              <a:t>patiëntenzorg, per dienst</a:t>
            </a:r>
          </a:p>
        </p:txBody>
      </p:sp>
      <p:sp>
        <p:nvSpPr>
          <p:cNvPr id="45" name="Rounded Rectangle 44"/>
          <p:cNvSpPr/>
          <p:nvPr/>
        </p:nvSpPr>
        <p:spPr>
          <a:xfrm>
            <a:off x="8970263" y="2706624"/>
            <a:ext cx="701954" cy="512064"/>
          </a:xfrm>
          <a:prstGeom prst="roundRect">
            <a:avLst>
              <a:gd name="adj" fmla="val 10000"/>
            </a:avLst>
          </a:prstGeom>
          <a:solidFill>
            <a:srgbClr val="F6F9FD"/>
          </a:solidFill>
          <a:ln w="12700">
            <a:solidFill>
              <a:srgbClr val="E2E9F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TextBox 45"/>
          <p:cNvSpPr txBox="1"/>
          <p:nvPr/>
        </p:nvSpPr>
        <p:spPr>
          <a:xfrm>
            <a:off x="8970263" y="2743200"/>
            <a:ext cx="701954" cy="237744"/>
          </a:xfrm>
          <a:prstGeom prst="rect">
            <a:avLst/>
          </a:prstGeom>
          <a:noFill/>
        </p:spPr>
        <p:txBody>
          <a:bodyPr wrap="square" lIns="0" rIns="0" tIns="0" bIns="0" anchor="t">
            <a:spAutoFit/>
          </a:bodyPr>
          <a:lstStyle/>
          <a:p>
            <a:pPr algn="ctr">
              <a:lnSpc>
                <a:spcPct val="120000"/>
              </a:lnSpc>
              <a:spcAft>
                <a:spcPts val="0"/>
              </a:spcAft>
            </a:pPr>
            <a:r>
              <a:rPr sz="1300" b="1">
                <a:solidFill>
                  <a:srgbClr val="6B4BA8"/>
                </a:solidFill>
                <a:latin typeface="Calibri"/>
              </a:rPr>
              <a:t>D</a:t>
            </a:r>
          </a:p>
        </p:txBody>
      </p:sp>
      <p:sp>
        <p:nvSpPr>
          <p:cNvPr id="47" name="TextBox 46"/>
          <p:cNvSpPr txBox="1"/>
          <p:nvPr/>
        </p:nvSpPr>
        <p:spPr>
          <a:xfrm>
            <a:off x="8970263" y="2980944"/>
            <a:ext cx="701954" cy="201168"/>
          </a:xfrm>
          <a:prstGeom prst="rect">
            <a:avLst/>
          </a:prstGeom>
          <a:noFill/>
        </p:spPr>
        <p:txBody>
          <a:bodyPr wrap="square" lIns="0" rIns="0" tIns="0" bIns="0" anchor="t">
            <a:spAutoFit/>
          </a:bodyPr>
          <a:lstStyle/>
          <a:p>
            <a:pPr algn="ctr">
              <a:lnSpc>
                <a:spcPct val="120000"/>
              </a:lnSpc>
              <a:spcAft>
                <a:spcPts val="0"/>
              </a:spcAft>
            </a:pPr>
            <a:r>
              <a:rPr sz="1100" b="0">
                <a:solidFill>
                  <a:srgbClr val="8B9AAA"/>
                </a:solidFill>
                <a:latin typeface="Calibri"/>
              </a:rPr>
              <a:t>___</a:t>
            </a:r>
          </a:p>
        </p:txBody>
      </p:sp>
      <p:sp>
        <p:nvSpPr>
          <p:cNvPr id="48" name="Rounded Rectangle 47"/>
          <p:cNvSpPr/>
          <p:nvPr/>
        </p:nvSpPr>
        <p:spPr>
          <a:xfrm>
            <a:off x="9781946" y="2706624"/>
            <a:ext cx="701954" cy="512064"/>
          </a:xfrm>
          <a:prstGeom prst="roundRect">
            <a:avLst>
              <a:gd name="adj" fmla="val 10000"/>
            </a:avLst>
          </a:prstGeom>
          <a:solidFill>
            <a:srgbClr val="F6F9FD"/>
          </a:solidFill>
          <a:ln w="12700">
            <a:solidFill>
              <a:srgbClr val="E2E9F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TextBox 48"/>
          <p:cNvSpPr txBox="1"/>
          <p:nvPr/>
        </p:nvSpPr>
        <p:spPr>
          <a:xfrm>
            <a:off x="9781946" y="2743200"/>
            <a:ext cx="701954" cy="237744"/>
          </a:xfrm>
          <a:prstGeom prst="rect">
            <a:avLst/>
          </a:prstGeom>
          <a:noFill/>
        </p:spPr>
        <p:txBody>
          <a:bodyPr wrap="square" lIns="0" rIns="0" tIns="0" bIns="0" anchor="t">
            <a:spAutoFit/>
          </a:bodyPr>
          <a:lstStyle/>
          <a:p>
            <a:pPr algn="ctr">
              <a:lnSpc>
                <a:spcPct val="120000"/>
              </a:lnSpc>
              <a:spcAft>
                <a:spcPts val="0"/>
              </a:spcAft>
            </a:pPr>
            <a:r>
              <a:rPr sz="1300" b="1">
                <a:solidFill>
                  <a:srgbClr val="6B4BA8"/>
                </a:solidFill>
                <a:latin typeface="Calibri"/>
              </a:rPr>
              <a:t>L</a:t>
            </a:r>
          </a:p>
        </p:txBody>
      </p:sp>
      <p:sp>
        <p:nvSpPr>
          <p:cNvPr id="50" name="TextBox 49"/>
          <p:cNvSpPr txBox="1"/>
          <p:nvPr/>
        </p:nvSpPr>
        <p:spPr>
          <a:xfrm>
            <a:off x="9781946" y="2980944"/>
            <a:ext cx="701954" cy="201168"/>
          </a:xfrm>
          <a:prstGeom prst="rect">
            <a:avLst/>
          </a:prstGeom>
          <a:noFill/>
        </p:spPr>
        <p:txBody>
          <a:bodyPr wrap="square" lIns="0" rIns="0" tIns="0" bIns="0" anchor="t">
            <a:spAutoFit/>
          </a:bodyPr>
          <a:lstStyle/>
          <a:p>
            <a:pPr algn="ctr">
              <a:lnSpc>
                <a:spcPct val="120000"/>
              </a:lnSpc>
              <a:spcAft>
                <a:spcPts val="0"/>
              </a:spcAft>
            </a:pPr>
            <a:r>
              <a:rPr sz="1100" b="0">
                <a:solidFill>
                  <a:srgbClr val="8B9AAA"/>
                </a:solidFill>
                <a:latin typeface="Calibri"/>
              </a:rPr>
              <a:t>___</a:t>
            </a:r>
          </a:p>
        </p:txBody>
      </p:sp>
      <p:sp>
        <p:nvSpPr>
          <p:cNvPr id="51" name="Rounded Rectangle 50"/>
          <p:cNvSpPr/>
          <p:nvPr/>
        </p:nvSpPr>
        <p:spPr>
          <a:xfrm>
            <a:off x="10593628" y="2706624"/>
            <a:ext cx="701954" cy="512064"/>
          </a:xfrm>
          <a:prstGeom prst="roundRect">
            <a:avLst>
              <a:gd name="adj" fmla="val 10000"/>
            </a:avLst>
          </a:prstGeom>
          <a:solidFill>
            <a:srgbClr val="F6F9FD"/>
          </a:solidFill>
          <a:ln w="12700">
            <a:solidFill>
              <a:srgbClr val="E2E9F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TextBox 51"/>
          <p:cNvSpPr txBox="1"/>
          <p:nvPr/>
        </p:nvSpPr>
        <p:spPr>
          <a:xfrm>
            <a:off x="10593628" y="2743200"/>
            <a:ext cx="701954" cy="237744"/>
          </a:xfrm>
          <a:prstGeom prst="rect">
            <a:avLst/>
          </a:prstGeom>
          <a:noFill/>
        </p:spPr>
        <p:txBody>
          <a:bodyPr wrap="square" lIns="0" rIns="0" tIns="0" bIns="0" anchor="t">
            <a:spAutoFit/>
          </a:bodyPr>
          <a:lstStyle/>
          <a:p>
            <a:pPr algn="ctr">
              <a:lnSpc>
                <a:spcPct val="120000"/>
              </a:lnSpc>
              <a:spcAft>
                <a:spcPts val="0"/>
              </a:spcAft>
            </a:pPr>
            <a:r>
              <a:rPr sz="1300" b="1">
                <a:solidFill>
                  <a:srgbClr val="6B4BA8"/>
                </a:solidFill>
                <a:latin typeface="Calibri"/>
              </a:rPr>
              <a:t>N</a:t>
            </a:r>
          </a:p>
        </p:txBody>
      </p:sp>
      <p:sp>
        <p:nvSpPr>
          <p:cNvPr id="53" name="TextBox 52"/>
          <p:cNvSpPr txBox="1"/>
          <p:nvPr/>
        </p:nvSpPr>
        <p:spPr>
          <a:xfrm>
            <a:off x="10593628" y="2980944"/>
            <a:ext cx="701954" cy="201168"/>
          </a:xfrm>
          <a:prstGeom prst="rect">
            <a:avLst/>
          </a:prstGeom>
          <a:noFill/>
        </p:spPr>
        <p:txBody>
          <a:bodyPr wrap="square" lIns="0" rIns="0" tIns="0" bIns="0" anchor="t">
            <a:spAutoFit/>
          </a:bodyPr>
          <a:lstStyle/>
          <a:p>
            <a:pPr algn="ctr">
              <a:lnSpc>
                <a:spcPct val="120000"/>
              </a:lnSpc>
              <a:spcAft>
                <a:spcPts val="0"/>
              </a:spcAft>
            </a:pPr>
            <a:r>
              <a:rPr sz="1100" b="0">
                <a:solidFill>
                  <a:srgbClr val="8B9AAA"/>
                </a:solidFill>
                <a:latin typeface="Calibri"/>
              </a:rPr>
              <a:t>___</a:t>
            </a:r>
          </a:p>
        </p:txBody>
      </p:sp>
      <p:sp>
        <p:nvSpPr>
          <p:cNvPr id="54" name="Rounded Rectangle 53"/>
          <p:cNvSpPr/>
          <p:nvPr/>
        </p:nvSpPr>
        <p:spPr>
          <a:xfrm>
            <a:off x="8714232" y="3566160"/>
            <a:ext cx="2837383" cy="1737360"/>
          </a:xfrm>
          <a:prstGeom prst="roundRect">
            <a:avLst>
              <a:gd name="adj" fmla="val 3000"/>
            </a:avLst>
          </a:prstGeom>
          <a:solidFill>
            <a:srgbClr val="FFFFFF"/>
          </a:solidFill>
          <a:ln w="12700">
            <a:solidFill>
              <a:srgbClr val="E2E9F1"/>
            </a:solidFill>
          </a:ln>
          <a:effectLst>
            <a:outerShdw blurRad="70000" dist="22000" dir="5400000" rotWithShape="0">
              <a:srgbClr val="1B3A5C">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Oval 54"/>
          <p:cNvSpPr/>
          <p:nvPr/>
        </p:nvSpPr>
        <p:spPr>
          <a:xfrm>
            <a:off x="8887967" y="3739896"/>
            <a:ext cx="420624" cy="420624"/>
          </a:xfrm>
          <a:prstGeom prst="ellipse">
            <a:avLst/>
          </a:prstGeom>
          <a:solidFill>
            <a:srgbClr val="0E9A87">
              <a:alpha val="10000"/>
            </a:srgbClr>
          </a:solidFill>
          <a:ln w="15875">
            <a:solidFill>
              <a:srgbClr val="0E9A87"/>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400" b="1">
                <a:solidFill>
                  <a:srgbClr val="0E9A87"/>
                </a:solidFill>
                <a:latin typeface="Calibri"/>
              </a:rPr>
              <a:t>3</a:t>
            </a:r>
          </a:p>
        </p:txBody>
      </p:sp>
      <p:sp>
        <p:nvSpPr>
          <p:cNvPr id="56" name="TextBox 55"/>
          <p:cNvSpPr txBox="1"/>
          <p:nvPr/>
        </p:nvSpPr>
        <p:spPr>
          <a:xfrm>
            <a:off x="9427463" y="3749040"/>
            <a:ext cx="1831543" cy="420624"/>
          </a:xfrm>
          <a:prstGeom prst="rect">
            <a:avLst/>
          </a:prstGeom>
          <a:noFill/>
        </p:spPr>
        <p:txBody>
          <a:bodyPr wrap="square" lIns="0" rIns="0" tIns="0" bIns="0" anchor="ctr">
            <a:spAutoFit/>
          </a:bodyPr>
          <a:lstStyle/>
          <a:p>
            <a:pPr algn="l">
              <a:lnSpc>
                <a:spcPct val="120000"/>
              </a:lnSpc>
              <a:spcAft>
                <a:spcPts val="0"/>
              </a:spcAft>
            </a:pPr>
            <a:r>
              <a:rPr sz="1400" b="1">
                <a:solidFill>
                  <a:srgbClr val="0D1B2A"/>
                </a:solidFill>
                <a:latin typeface="Calibri"/>
              </a:rPr>
              <a:t>Indirecte uren</a:t>
            </a:r>
          </a:p>
        </p:txBody>
      </p:sp>
      <p:sp>
        <p:nvSpPr>
          <p:cNvPr id="57" name="TextBox 56"/>
          <p:cNvSpPr txBox="1"/>
          <p:nvPr/>
        </p:nvSpPr>
        <p:spPr>
          <a:xfrm>
            <a:off x="8970263" y="4261104"/>
            <a:ext cx="2325319" cy="219456"/>
          </a:xfrm>
          <a:prstGeom prst="rect">
            <a:avLst/>
          </a:prstGeom>
          <a:noFill/>
        </p:spPr>
        <p:txBody>
          <a:bodyPr wrap="square" lIns="0" rIns="0" tIns="0" bIns="0" anchor="t">
            <a:spAutoFit/>
          </a:bodyPr>
          <a:lstStyle/>
          <a:p>
            <a:pPr algn="l">
              <a:lnSpc>
                <a:spcPct val="120000"/>
              </a:lnSpc>
              <a:spcAft>
                <a:spcPts val="0"/>
              </a:spcAft>
            </a:pPr>
            <a:r>
              <a:rPr sz="1050" b="0">
                <a:solidFill>
                  <a:srgbClr val="55677C"/>
                </a:solidFill>
                <a:latin typeface="Calibri"/>
              </a:rPr>
              <a:t>per afdeling</a:t>
            </a:r>
          </a:p>
        </p:txBody>
      </p:sp>
      <p:sp>
        <p:nvSpPr>
          <p:cNvPr id="58" name="TextBox 57"/>
          <p:cNvSpPr txBox="1"/>
          <p:nvPr/>
        </p:nvSpPr>
        <p:spPr>
          <a:xfrm>
            <a:off x="8970263" y="4572000"/>
            <a:ext cx="2325319" cy="603504"/>
          </a:xfrm>
          <a:prstGeom prst="rect">
            <a:avLst/>
          </a:prstGeom>
          <a:noFill/>
        </p:spPr>
        <p:txBody>
          <a:bodyPr wrap="square" lIns="0" rIns="0" tIns="0" bIns="0" anchor="t">
            <a:spAutoFit/>
          </a:bodyPr>
          <a:lstStyle/>
          <a:p>
            <a:pPr algn="l">
              <a:lnSpc>
                <a:spcPct val="124000"/>
              </a:lnSpc>
              <a:spcAft>
                <a:spcPts val="0"/>
              </a:spcAft>
            </a:pPr>
            <a:r>
              <a:rPr sz="1100" b="0">
                <a:solidFill>
                  <a:srgbClr val="55677C"/>
                </a:solidFill>
                <a:latin typeface="Calibri"/>
              </a:rPr>
              <a:t>In beeld gebracht, maar de oude begroting loopt sterk uiteen: wat houden we aan?</a:t>
            </a:r>
          </a:p>
        </p:txBody>
      </p:sp>
      <p:sp>
        <p:nvSpPr>
          <p:cNvPr id="59" name="Rounded Rectangle 58"/>
          <p:cNvSpPr/>
          <p:nvPr/>
        </p:nvSpPr>
        <p:spPr>
          <a:xfrm>
            <a:off x="640080" y="5431536"/>
            <a:ext cx="10911535" cy="713232"/>
          </a:xfrm>
          <a:prstGeom prst="roundRect">
            <a:avLst>
              <a:gd name="adj" fmla="val 3000"/>
            </a:avLst>
          </a:prstGeom>
          <a:solidFill>
            <a:srgbClr val="ECE3E7"/>
          </a:solidFill>
          <a:ln w="15875">
            <a:solidFill>
              <a:srgbClr val="E0AEAD"/>
            </a:solidFill>
          </a:ln>
          <a:effectLst>
            <a:outerShdw blurRad="60000" dist="18000" dir="5400000" rotWithShape="0">
              <a:srgbClr val="1B3A5C">
                <a:alpha val="7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0" name="Rounded Rectangle 59"/>
          <p:cNvSpPr/>
          <p:nvPr/>
        </p:nvSpPr>
        <p:spPr>
          <a:xfrm>
            <a:off x="640080" y="5431536"/>
            <a:ext cx="50292" cy="713232"/>
          </a:xfrm>
          <a:prstGeom prst="roundRect">
            <a:avLst>
              <a:gd name="adj" fmla="val 50000"/>
            </a:avLst>
          </a:prstGeom>
          <a:solidFill>
            <a:srgbClr val="C439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1" name="TextBox 60"/>
          <p:cNvSpPr txBox="1"/>
          <p:nvPr/>
        </p:nvSpPr>
        <p:spPr>
          <a:xfrm>
            <a:off x="969264" y="5513831"/>
            <a:ext cx="9997135" cy="548640"/>
          </a:xfrm>
          <a:prstGeom prst="rect">
            <a:avLst/>
          </a:prstGeom>
          <a:noFill/>
        </p:spPr>
        <p:txBody>
          <a:bodyPr wrap="square" lIns="0" rIns="0" tIns="0" bIns="0" anchor="ctr">
            <a:spAutoFit/>
          </a:bodyPr>
          <a:lstStyle/>
          <a:p>
            <a:pPr algn="l">
              <a:lnSpc>
                <a:spcPct val="120000"/>
              </a:lnSpc>
              <a:spcAft>
                <a:spcPts val="300"/>
              </a:spcAft>
            </a:pPr>
            <a:r>
              <a:rPr sz="900" b="1" spc="180">
                <a:solidFill>
                  <a:srgbClr val="C4392D"/>
                </a:solidFill>
                <a:latin typeface="Calibri"/>
              </a:rPr>
              <a:t>NOG NIET IN TE VULLEN</a:t>
            </a:r>
          </a:p>
          <a:p>
            <a:pPr algn="l">
              <a:lnSpc>
                <a:spcPct val="120000"/>
              </a:lnSpc>
              <a:spcAft>
                <a:spcPts val="0"/>
              </a:spcAft>
            </a:pPr>
            <a:r>
              <a:rPr sz="1200" b="1">
                <a:solidFill>
                  <a:srgbClr val="0D1B2A"/>
                </a:solidFill>
                <a:latin typeface="Calibri"/>
              </a:rPr>
              <a:t>Van geen van de drie onderdelen is te zeggen hoe ver ze zijn: de norm verpleegkundigen ligt nergens vast en de indirecte uren zijn nog niet vastgesteld.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FFFFFF"/>
              </a:gs>
              <a:gs pos="100000">
                <a:srgbClr val="F1F6FC"/>
              </a:gs>
            </a:gsLst>
            <a:lin scaled="0" ang="189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6309360" y="457200"/>
            <a:ext cx="5486400" cy="3108960"/>
          </a:xfrm>
          <a:prstGeom prst="rect">
            <a:avLst/>
          </a:prstGeom>
          <a:noFill/>
        </p:spPr>
        <p:txBody>
          <a:bodyPr wrap="square" lIns="0" rIns="0" tIns="0" bIns="0" anchor="t">
            <a:spAutoFit/>
          </a:bodyPr>
          <a:lstStyle/>
          <a:p>
            <a:pPr algn="r">
              <a:lnSpc>
                <a:spcPct val="100000"/>
              </a:lnSpc>
              <a:spcAft>
                <a:spcPts val="0"/>
              </a:spcAft>
            </a:pPr>
            <a:r>
              <a:rPr sz="21000" b="1">
                <a:solidFill>
                  <a:srgbClr val="1F6FB2">
                    <a:alpha val="9000"/>
                  </a:srgbClr>
                </a:solidFill>
                <a:latin typeface="Calibri"/>
              </a:rPr>
              <a:t>03</a:t>
            </a:r>
          </a:p>
        </p:txBody>
      </p:sp>
      <p:sp>
        <p:nvSpPr>
          <p:cNvPr id="4" name="TextBox 3"/>
          <p:cNvSpPr txBox="1"/>
          <p:nvPr/>
        </p:nvSpPr>
        <p:spPr>
          <a:xfrm>
            <a:off x="640080" y="2286000"/>
            <a:ext cx="5486400" cy="219456"/>
          </a:xfrm>
          <a:prstGeom prst="rect">
            <a:avLst/>
          </a:prstGeom>
          <a:noFill/>
        </p:spPr>
        <p:txBody>
          <a:bodyPr wrap="square" lIns="0" rIns="0" tIns="0" bIns="0" anchor="t">
            <a:spAutoFit/>
          </a:bodyPr>
          <a:lstStyle/>
          <a:p>
            <a:pPr algn="l">
              <a:lnSpc>
                <a:spcPct val="120000"/>
              </a:lnSpc>
              <a:spcAft>
                <a:spcPts val="0"/>
              </a:spcAft>
            </a:pPr>
            <a:r>
              <a:rPr sz="1100" b="1" spc="220">
                <a:solidFill>
                  <a:srgbClr val="1F6FB2"/>
                </a:solidFill>
                <a:latin typeface="Calibri"/>
              </a:rPr>
              <a:t>DEEL 03</a:t>
            </a:r>
          </a:p>
        </p:txBody>
      </p:sp>
      <p:sp>
        <p:nvSpPr>
          <p:cNvPr id="5" name="TextBox 4"/>
          <p:cNvSpPr txBox="1"/>
          <p:nvPr/>
        </p:nvSpPr>
        <p:spPr>
          <a:xfrm>
            <a:off x="640080" y="2523744"/>
            <a:ext cx="6949440" cy="1316736"/>
          </a:xfrm>
          <a:prstGeom prst="rect">
            <a:avLst/>
          </a:prstGeom>
          <a:noFill/>
        </p:spPr>
        <p:txBody>
          <a:bodyPr wrap="square" lIns="0" rIns="0" tIns="0" bIns="0" anchor="t">
            <a:spAutoFit/>
          </a:bodyPr>
          <a:lstStyle/>
          <a:p>
            <a:pPr algn="l">
              <a:lnSpc>
                <a:spcPct val="105000"/>
              </a:lnSpc>
              <a:spcAft>
                <a:spcPts val="0"/>
              </a:spcAft>
            </a:pPr>
            <a:r>
              <a:rPr sz="4600" b="1">
                <a:solidFill>
                  <a:srgbClr val="0D1B2A"/>
                </a:solidFill>
                <a:latin typeface="Calibri"/>
              </a:rPr>
              <a:t>Wat verandert er</a:t>
            </a:r>
          </a:p>
        </p:txBody>
      </p:sp>
      <p:cxnSp>
        <p:nvCxnSpPr>
          <p:cNvPr id="6" name="Connector 5"/>
          <p:cNvCxnSpPr/>
          <p:nvPr/>
        </p:nvCxnSpPr>
        <p:spPr>
          <a:xfrm>
            <a:off x="640080" y="3584448"/>
            <a:ext cx="2377440" cy="0"/>
          </a:xfrm>
          <a:prstGeom prst="line">
            <a:avLst/>
          </a:prstGeom>
          <a:ln w="25400">
            <a:solidFill>
              <a:srgbClr val="1F6FB2"/>
            </a:solidFill>
          </a:ln>
        </p:spPr>
        <p:style>
          <a:lnRef idx="2">
            <a:schemeClr val="accent1"/>
          </a:lnRef>
          <a:fillRef idx="0">
            <a:schemeClr val="accent1"/>
          </a:fillRef>
          <a:effectRef idx="1">
            <a:schemeClr val="accent1"/>
          </a:effectRef>
          <a:fontRef idx="minor">
            <a:schemeClr val="tx1"/>
          </a:fontRef>
        </p:style>
      </p:cxnSp>
      <p:sp>
        <p:nvSpPr>
          <p:cNvPr id="7" name="Oval 6"/>
          <p:cNvSpPr/>
          <p:nvPr/>
        </p:nvSpPr>
        <p:spPr>
          <a:xfrm>
            <a:off x="649224" y="3895344"/>
            <a:ext cx="109728" cy="109728"/>
          </a:xfrm>
          <a:prstGeom prst="ellipse">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32688" y="3840480"/>
            <a:ext cx="7680960" cy="274320"/>
          </a:xfrm>
          <a:prstGeom prst="rect">
            <a:avLst/>
          </a:prstGeom>
          <a:noFill/>
        </p:spPr>
        <p:txBody>
          <a:bodyPr wrap="square" lIns="0" rIns="0" tIns="0" bIns="0" anchor="t">
            <a:spAutoFit/>
          </a:bodyPr>
          <a:lstStyle/>
          <a:p>
            <a:pPr algn="l">
              <a:lnSpc>
                <a:spcPct val="120000"/>
              </a:lnSpc>
              <a:spcAft>
                <a:spcPts val="0"/>
              </a:spcAft>
            </a:pPr>
            <a:r>
              <a:rPr sz="1350" b="0">
                <a:solidFill>
                  <a:srgbClr val="55677C"/>
                </a:solidFill>
                <a:latin typeface="Calibri"/>
              </a:rPr>
              <a:t>Vier locaties worden twee clusters</a:t>
            </a:r>
          </a:p>
        </p:txBody>
      </p:sp>
      <p:sp>
        <p:nvSpPr>
          <p:cNvPr id="9" name="Oval 8"/>
          <p:cNvSpPr/>
          <p:nvPr/>
        </p:nvSpPr>
        <p:spPr>
          <a:xfrm>
            <a:off x="649224" y="4279392"/>
            <a:ext cx="109728" cy="109728"/>
          </a:xfrm>
          <a:prstGeom prst="ellipse">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4224528"/>
            <a:ext cx="7680960" cy="274320"/>
          </a:xfrm>
          <a:prstGeom prst="rect">
            <a:avLst/>
          </a:prstGeom>
          <a:noFill/>
        </p:spPr>
        <p:txBody>
          <a:bodyPr wrap="square" lIns="0" rIns="0" tIns="0" bIns="0" anchor="t">
            <a:spAutoFit/>
          </a:bodyPr>
          <a:lstStyle/>
          <a:p>
            <a:pPr algn="l">
              <a:lnSpc>
                <a:spcPct val="120000"/>
              </a:lnSpc>
              <a:spcAft>
                <a:spcPts val="0"/>
              </a:spcAft>
            </a:pPr>
            <a:r>
              <a:rPr sz="1350" b="0">
                <a:solidFill>
                  <a:srgbClr val="55677C"/>
                </a:solidFill>
                <a:latin typeface="Calibri"/>
              </a:rPr>
              <a:t>Vijf scenario's, twee analyses en één keuze die alles bepaalt</a:t>
            </a:r>
          </a:p>
        </p:txBody>
      </p:sp>
      <p:sp>
        <p:nvSpPr>
          <p:cNvPr id="11" name="Freeform 10"/>
          <p:cNvSpPr/>
          <p:nvPr/>
        </p:nvSpPr>
        <p:spPr>
          <a:xfrm>
            <a:off x="0" y="5998464"/>
            <a:ext cx="12191695" cy="510235"/>
          </a:xfrm>
          <a:custGeom>
            <a:avLst/>
            <a:gdLst/>
            <a:ahLst/>
            <a:cxnLst/>
            <a:rect l="l" t="t" r="r" b="b"/>
            <a:pathLst>
              <a:path w="12191695" h="510235">
                <a:moveTo>
                  <a:pt x="0" y="329184"/>
                </a:moveTo>
                <a:lnTo>
                  <a:pt x="914377" y="329184"/>
                </a:lnTo>
                <a:lnTo>
                  <a:pt x="1097252" y="276514"/>
                </a:lnTo>
                <a:lnTo>
                  <a:pt x="1280127" y="362102"/>
                </a:lnTo>
                <a:lnTo>
                  <a:pt x="1523961" y="0"/>
                </a:lnTo>
                <a:lnTo>
                  <a:pt x="1767795" y="510235"/>
                </a:lnTo>
                <a:lnTo>
                  <a:pt x="2011629" y="329184"/>
                </a:lnTo>
                <a:lnTo>
                  <a:pt x="3047923" y="329184"/>
                </a:lnTo>
                <a:lnTo>
                  <a:pt x="3047923" y="329184"/>
                </a:lnTo>
                <a:lnTo>
                  <a:pt x="3962300" y="329184"/>
                </a:lnTo>
                <a:lnTo>
                  <a:pt x="4145176" y="276514"/>
                </a:lnTo>
                <a:lnTo>
                  <a:pt x="4328051" y="362102"/>
                </a:lnTo>
                <a:lnTo>
                  <a:pt x="4571885" y="0"/>
                </a:lnTo>
                <a:lnTo>
                  <a:pt x="4815719" y="510235"/>
                </a:lnTo>
                <a:lnTo>
                  <a:pt x="5059553" y="329184"/>
                </a:lnTo>
                <a:lnTo>
                  <a:pt x="6095847" y="329184"/>
                </a:lnTo>
                <a:lnTo>
                  <a:pt x="6095847" y="329184"/>
                </a:lnTo>
                <a:lnTo>
                  <a:pt x="7010224" y="329184"/>
                </a:lnTo>
                <a:lnTo>
                  <a:pt x="7193100" y="276514"/>
                </a:lnTo>
                <a:lnTo>
                  <a:pt x="7375975" y="362102"/>
                </a:lnTo>
                <a:lnTo>
                  <a:pt x="7619809" y="0"/>
                </a:lnTo>
                <a:lnTo>
                  <a:pt x="7863643" y="510235"/>
                </a:lnTo>
                <a:lnTo>
                  <a:pt x="8107477" y="329184"/>
                </a:lnTo>
                <a:lnTo>
                  <a:pt x="9143771" y="329184"/>
                </a:lnTo>
                <a:lnTo>
                  <a:pt x="9143771" y="329184"/>
                </a:lnTo>
                <a:lnTo>
                  <a:pt x="10058148" y="329184"/>
                </a:lnTo>
                <a:lnTo>
                  <a:pt x="10241023" y="276514"/>
                </a:lnTo>
                <a:lnTo>
                  <a:pt x="10423899" y="362102"/>
                </a:lnTo>
                <a:lnTo>
                  <a:pt x="10667733" y="0"/>
                </a:lnTo>
                <a:lnTo>
                  <a:pt x="10911567" y="510235"/>
                </a:lnTo>
                <a:lnTo>
                  <a:pt x="11155401" y="329184"/>
                </a:lnTo>
                <a:lnTo>
                  <a:pt x="12191695" y="329184"/>
                </a:lnTo>
              </a:path>
            </a:pathLst>
          </a:custGeom>
          <a:noFill/>
          <a:ln w="15875">
            <a:solidFill>
              <a:srgbClr val="1F6FB2">
                <a:alpha val="36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2" name="Connector 11"/>
          <p:cNvCxnSpPr/>
          <p:nvPr/>
        </p:nvCxnSpPr>
        <p:spPr>
          <a:xfrm>
            <a:off x="640080" y="6291072"/>
            <a:ext cx="10911535" cy="0"/>
          </a:xfrm>
          <a:prstGeom prst="line">
            <a:avLst/>
          </a:prstGeom>
          <a:ln w="9525">
            <a:solidFill>
              <a:srgbClr val="E2E9F1"/>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640080" y="6382512"/>
            <a:ext cx="5486400" cy="237744"/>
          </a:xfrm>
          <a:prstGeom prst="rect">
            <a:avLst/>
          </a:prstGeom>
          <a:noFill/>
        </p:spPr>
        <p:txBody>
          <a:bodyPr wrap="square" lIns="0" rIns="0" tIns="0" bIns="0" anchor="t">
            <a:spAutoFit/>
          </a:bodyPr>
          <a:lstStyle/>
          <a:p>
            <a:pPr algn="l">
              <a:lnSpc>
                <a:spcPct val="120000"/>
              </a:lnSpc>
              <a:spcAft>
                <a:spcPts val="0"/>
              </a:spcAft>
            </a:pPr>
            <a:r>
              <a:rPr sz="900" b="0" spc="80">
                <a:solidFill>
                  <a:srgbClr val="8B9AAA"/>
                </a:solidFill>
                <a:latin typeface="Calibri"/>
              </a:rPr>
              <a:t>Acute poort en Hotfloor</a:t>
            </a:r>
          </a:p>
        </p:txBody>
      </p:sp>
      <p:sp>
        <p:nvSpPr>
          <p:cNvPr id="14" name="TextBox 13"/>
          <p:cNvSpPr txBox="1"/>
          <p:nvPr/>
        </p:nvSpPr>
        <p:spPr>
          <a:xfrm>
            <a:off x="10637215" y="6382512"/>
            <a:ext cx="914400" cy="237744"/>
          </a:xfrm>
          <a:prstGeom prst="rect">
            <a:avLst/>
          </a:prstGeom>
          <a:noFill/>
        </p:spPr>
        <p:txBody>
          <a:bodyPr wrap="square" lIns="0" rIns="0" tIns="0" bIns="0" anchor="t">
            <a:spAutoFit/>
          </a:bodyPr>
          <a:lstStyle/>
          <a:p>
            <a:pPr algn="r">
              <a:lnSpc>
                <a:spcPct val="120000"/>
              </a:lnSpc>
              <a:spcAft>
                <a:spcPts val="0"/>
              </a:spcAft>
            </a:pPr>
            <a:r>
              <a:rPr sz="950" b="1">
                <a:solidFill>
                  <a:srgbClr val="0E9A87"/>
                </a:solidFill>
                <a:latin typeface="Calibri"/>
              </a:rP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FFFFFF"/>
              </a:gs>
              <a:gs pos="100000">
                <a:srgbClr val="F1F6FC"/>
              </a:gs>
            </a:gsLst>
            <a:lin scaled="0" ang="189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640080" y="566928"/>
            <a:ext cx="10911535" cy="219456"/>
          </a:xfrm>
          <a:prstGeom prst="rect">
            <a:avLst/>
          </a:prstGeom>
          <a:noFill/>
        </p:spPr>
        <p:txBody>
          <a:bodyPr wrap="square" lIns="0" rIns="0" tIns="0" bIns="0" anchor="t">
            <a:spAutoFit/>
          </a:bodyPr>
          <a:lstStyle/>
          <a:p>
            <a:pPr algn="l">
              <a:lnSpc>
                <a:spcPct val="120000"/>
              </a:lnSpc>
              <a:spcAft>
                <a:spcPts val="0"/>
              </a:spcAft>
            </a:pPr>
            <a:r>
              <a:rPr sz="1050" b="1" spc="220">
                <a:solidFill>
                  <a:srgbClr val="1F6FB2"/>
                </a:solidFill>
                <a:latin typeface="Calibri"/>
              </a:rPr>
              <a:t>DEEL 03  ·  WAT VERANDERT ER</a:t>
            </a:r>
          </a:p>
        </p:txBody>
      </p:sp>
      <p:sp>
        <p:nvSpPr>
          <p:cNvPr id="4" name="TextBox 3"/>
          <p:cNvSpPr txBox="1"/>
          <p:nvPr/>
        </p:nvSpPr>
        <p:spPr>
          <a:xfrm>
            <a:off x="640080" y="859536"/>
            <a:ext cx="10911535" cy="566928"/>
          </a:xfrm>
          <a:prstGeom prst="rect">
            <a:avLst/>
          </a:prstGeom>
          <a:noFill/>
        </p:spPr>
        <p:txBody>
          <a:bodyPr wrap="square" lIns="0" rIns="0" tIns="0" bIns="0" anchor="t">
            <a:spAutoFit/>
          </a:bodyPr>
          <a:lstStyle/>
          <a:p>
            <a:pPr algn="l">
              <a:lnSpc>
                <a:spcPct val="120000"/>
              </a:lnSpc>
              <a:spcAft>
                <a:spcPts val="0"/>
              </a:spcAft>
            </a:pPr>
            <a:r>
              <a:rPr sz="3400" b="1">
                <a:solidFill>
                  <a:srgbClr val="0D1B2A"/>
                </a:solidFill>
                <a:latin typeface="Calibri"/>
              </a:rPr>
              <a:t>De transitie naar de nieuwbouw</a:t>
            </a:r>
          </a:p>
        </p:txBody>
      </p:sp>
      <p:sp>
        <p:nvSpPr>
          <p:cNvPr id="5" name="TextBox 4"/>
          <p:cNvSpPr txBox="1"/>
          <p:nvPr/>
        </p:nvSpPr>
        <p:spPr>
          <a:xfrm>
            <a:off x="640080" y="1335024"/>
            <a:ext cx="8510997" cy="274320"/>
          </a:xfrm>
          <a:prstGeom prst="rect">
            <a:avLst/>
          </a:prstGeom>
          <a:noFill/>
        </p:spPr>
        <p:txBody>
          <a:bodyPr wrap="square" lIns="0" rIns="0" tIns="0" bIns="0" anchor="t">
            <a:spAutoFit/>
          </a:bodyPr>
          <a:lstStyle/>
          <a:p>
            <a:pPr algn="l">
              <a:lnSpc>
                <a:spcPct val="120000"/>
              </a:lnSpc>
              <a:spcAft>
                <a:spcPts val="0"/>
              </a:spcAft>
            </a:pPr>
            <a:r>
              <a:rPr sz="1300" b="0">
                <a:solidFill>
                  <a:srgbClr val="55677C"/>
                </a:solidFill>
                <a:latin typeface="Calibri"/>
              </a:rPr>
              <a:t>Welk onderdeel gaat waarheen — en waar de EHH van de CCU/SCU loskomt</a:t>
            </a:r>
          </a:p>
        </p:txBody>
      </p:sp>
      <p:cxnSp>
        <p:nvCxnSpPr>
          <p:cNvPr id="6" name="Connector 5"/>
          <p:cNvCxnSpPr/>
          <p:nvPr/>
        </p:nvCxnSpPr>
        <p:spPr>
          <a:xfrm>
            <a:off x="640080" y="1609344"/>
            <a:ext cx="10911535" cy="0"/>
          </a:xfrm>
          <a:prstGeom prst="line">
            <a:avLst/>
          </a:prstGeom>
          <a:ln w="12700">
            <a:solidFill>
              <a:srgbClr val="E2E9F1"/>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640080" y="6291072"/>
            <a:ext cx="10911535" cy="0"/>
          </a:xfrm>
          <a:prstGeom prst="line">
            <a:avLst/>
          </a:prstGeom>
          <a:ln w="9525">
            <a:solidFill>
              <a:srgbClr val="E2E9F1"/>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40080" y="6382512"/>
            <a:ext cx="5486400" cy="237744"/>
          </a:xfrm>
          <a:prstGeom prst="rect">
            <a:avLst/>
          </a:prstGeom>
          <a:noFill/>
        </p:spPr>
        <p:txBody>
          <a:bodyPr wrap="square" lIns="0" rIns="0" tIns="0" bIns="0" anchor="t">
            <a:spAutoFit/>
          </a:bodyPr>
          <a:lstStyle/>
          <a:p>
            <a:pPr algn="l">
              <a:lnSpc>
                <a:spcPct val="120000"/>
              </a:lnSpc>
              <a:spcAft>
                <a:spcPts val="0"/>
              </a:spcAft>
            </a:pPr>
            <a:r>
              <a:rPr sz="900" b="0" spc="80">
                <a:solidFill>
                  <a:srgbClr val="8B9AAA"/>
                </a:solidFill>
                <a:latin typeface="Calibri"/>
              </a:rPr>
              <a:t>Acute poort en Hotfloor</a:t>
            </a:r>
          </a:p>
        </p:txBody>
      </p:sp>
      <p:sp>
        <p:nvSpPr>
          <p:cNvPr id="9" name="TextBox 8"/>
          <p:cNvSpPr txBox="1"/>
          <p:nvPr/>
        </p:nvSpPr>
        <p:spPr>
          <a:xfrm>
            <a:off x="10637215" y="6382512"/>
            <a:ext cx="914400" cy="237744"/>
          </a:xfrm>
          <a:prstGeom prst="rect">
            <a:avLst/>
          </a:prstGeom>
          <a:noFill/>
        </p:spPr>
        <p:txBody>
          <a:bodyPr wrap="square" lIns="0" rIns="0" tIns="0" bIns="0" anchor="t">
            <a:spAutoFit/>
          </a:bodyPr>
          <a:lstStyle/>
          <a:p>
            <a:pPr algn="r">
              <a:lnSpc>
                <a:spcPct val="120000"/>
              </a:lnSpc>
              <a:spcAft>
                <a:spcPts val="0"/>
              </a:spcAft>
            </a:pPr>
            <a:r>
              <a:rPr sz="950" b="1">
                <a:solidFill>
                  <a:srgbClr val="0E9A87"/>
                </a:solidFill>
                <a:latin typeface="Calibri"/>
              </a:rPr>
              <a:t>09</a:t>
            </a:r>
          </a:p>
        </p:txBody>
      </p:sp>
      <p:sp>
        <p:nvSpPr>
          <p:cNvPr id="10" name="TextBox 9"/>
          <p:cNvSpPr txBox="1"/>
          <p:nvPr/>
        </p:nvSpPr>
        <p:spPr>
          <a:xfrm>
            <a:off x="640080" y="1682496"/>
            <a:ext cx="3291840" cy="219456"/>
          </a:xfrm>
          <a:prstGeom prst="rect">
            <a:avLst/>
          </a:prstGeom>
          <a:noFill/>
        </p:spPr>
        <p:txBody>
          <a:bodyPr wrap="square" lIns="0" rIns="0" tIns="0" bIns="0" anchor="t">
            <a:spAutoFit/>
          </a:bodyPr>
          <a:lstStyle/>
          <a:p>
            <a:pPr algn="l">
              <a:lnSpc>
                <a:spcPct val="120000"/>
              </a:lnSpc>
              <a:spcAft>
                <a:spcPts val="0"/>
              </a:spcAft>
            </a:pPr>
            <a:r>
              <a:rPr sz="950" b="1" spc="220">
                <a:solidFill>
                  <a:srgbClr val="8B9AAA"/>
                </a:solidFill>
                <a:latin typeface="Calibri"/>
              </a:rPr>
              <a:t>HUIDIGE SITUATIE</a:t>
            </a:r>
          </a:p>
        </p:txBody>
      </p:sp>
      <p:cxnSp>
        <p:nvCxnSpPr>
          <p:cNvPr id="11" name="Connector 10"/>
          <p:cNvCxnSpPr/>
          <p:nvPr/>
        </p:nvCxnSpPr>
        <p:spPr>
          <a:xfrm>
            <a:off x="640080" y="1883664"/>
            <a:ext cx="3291840" cy="0"/>
          </a:xfrm>
          <a:prstGeom prst="line">
            <a:avLst/>
          </a:prstGeom>
          <a:ln w="25400">
            <a:solidFill>
              <a:srgbClr val="C6D6E6"/>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6720840" y="1682496"/>
            <a:ext cx="4023360" cy="219456"/>
          </a:xfrm>
          <a:prstGeom prst="rect">
            <a:avLst/>
          </a:prstGeom>
          <a:noFill/>
        </p:spPr>
        <p:txBody>
          <a:bodyPr wrap="square" lIns="0" rIns="0" tIns="0" bIns="0" anchor="t">
            <a:spAutoFit/>
          </a:bodyPr>
          <a:lstStyle/>
          <a:p>
            <a:pPr algn="l">
              <a:lnSpc>
                <a:spcPct val="120000"/>
              </a:lnSpc>
              <a:spcAft>
                <a:spcPts val="0"/>
              </a:spcAft>
            </a:pPr>
            <a:r>
              <a:rPr sz="950" b="1" spc="220">
                <a:solidFill>
                  <a:srgbClr val="1F6FB2"/>
                </a:solidFill>
                <a:latin typeface="Calibri"/>
              </a:rPr>
              <a:t>DE NIEUWBOUW</a:t>
            </a:r>
          </a:p>
        </p:txBody>
      </p:sp>
      <p:cxnSp>
        <p:nvCxnSpPr>
          <p:cNvPr id="13" name="Connector 12"/>
          <p:cNvCxnSpPr/>
          <p:nvPr/>
        </p:nvCxnSpPr>
        <p:spPr>
          <a:xfrm>
            <a:off x="6720840" y="1883664"/>
            <a:ext cx="4023360" cy="0"/>
          </a:xfrm>
          <a:prstGeom prst="line">
            <a:avLst/>
          </a:prstGeom>
          <a:ln w="25400">
            <a:solidFill>
              <a:srgbClr val="1F6FB2"/>
            </a:solidFill>
          </a:ln>
        </p:spPr>
        <p:style>
          <a:lnRef idx="2">
            <a:schemeClr val="accent1"/>
          </a:lnRef>
          <a:fillRef idx="0">
            <a:schemeClr val="accent1"/>
          </a:fillRef>
          <a:effectRef idx="1">
            <a:schemeClr val="accent1"/>
          </a:effectRef>
          <a:fontRef idx="minor">
            <a:schemeClr val="tx1"/>
          </a:fontRef>
        </p:style>
      </p:cxnSp>
      <p:sp>
        <p:nvSpPr>
          <p:cNvPr id="14" name="Freeform 13"/>
          <p:cNvSpPr/>
          <p:nvPr/>
        </p:nvSpPr>
        <p:spPr>
          <a:xfrm>
            <a:off x="3611880" y="2121408"/>
            <a:ext cx="603504" cy="1207008"/>
          </a:xfrm>
          <a:custGeom>
            <a:avLst/>
            <a:gdLst/>
            <a:ahLst/>
            <a:cxnLst/>
            <a:rect l="l" t="t" r="r" b="b"/>
            <a:pathLst>
              <a:path w="603504" h="1207008">
                <a:moveTo>
                  <a:pt x="0" y="0"/>
                </a:moveTo>
                <a:lnTo>
                  <a:pt x="47350" y="1860"/>
                </a:lnTo>
                <a:lnTo>
                  <a:pt x="94408" y="7430"/>
                </a:lnTo>
                <a:lnTo>
                  <a:pt x="140885" y="16674"/>
                </a:lnTo>
                <a:lnTo>
                  <a:pt x="186492" y="29537"/>
                </a:lnTo>
                <a:lnTo>
                  <a:pt x="230950" y="45939"/>
                </a:lnTo>
                <a:lnTo>
                  <a:pt x="273985" y="65777"/>
                </a:lnTo>
                <a:lnTo>
                  <a:pt x="315329" y="88932"/>
                </a:lnTo>
                <a:lnTo>
                  <a:pt x="354730" y="115259"/>
                </a:lnTo>
                <a:lnTo>
                  <a:pt x="391944" y="144595"/>
                </a:lnTo>
                <a:lnTo>
                  <a:pt x="426741" y="176762"/>
                </a:lnTo>
                <a:lnTo>
                  <a:pt x="458908" y="211559"/>
                </a:lnTo>
                <a:lnTo>
                  <a:pt x="488244" y="248773"/>
                </a:lnTo>
                <a:lnTo>
                  <a:pt x="514571" y="288174"/>
                </a:lnTo>
                <a:lnTo>
                  <a:pt x="537726" y="329518"/>
                </a:lnTo>
                <a:lnTo>
                  <a:pt x="557564" y="372553"/>
                </a:lnTo>
                <a:lnTo>
                  <a:pt x="573966" y="417011"/>
                </a:lnTo>
                <a:lnTo>
                  <a:pt x="586829" y="462618"/>
                </a:lnTo>
                <a:lnTo>
                  <a:pt x="596073" y="509095"/>
                </a:lnTo>
                <a:lnTo>
                  <a:pt x="601643" y="556153"/>
                </a:lnTo>
                <a:lnTo>
                  <a:pt x="603504" y="603504"/>
                </a:lnTo>
                <a:lnTo>
                  <a:pt x="601643" y="650854"/>
                </a:lnTo>
                <a:lnTo>
                  <a:pt x="596073" y="697912"/>
                </a:lnTo>
                <a:lnTo>
                  <a:pt x="586829" y="744389"/>
                </a:lnTo>
                <a:lnTo>
                  <a:pt x="573966" y="789996"/>
                </a:lnTo>
                <a:lnTo>
                  <a:pt x="557564" y="834454"/>
                </a:lnTo>
                <a:lnTo>
                  <a:pt x="537726" y="877489"/>
                </a:lnTo>
                <a:lnTo>
                  <a:pt x="514571" y="918833"/>
                </a:lnTo>
                <a:lnTo>
                  <a:pt x="488244" y="958234"/>
                </a:lnTo>
                <a:lnTo>
                  <a:pt x="458908" y="995448"/>
                </a:lnTo>
                <a:lnTo>
                  <a:pt x="426741" y="1030245"/>
                </a:lnTo>
                <a:lnTo>
                  <a:pt x="391944" y="1062412"/>
                </a:lnTo>
                <a:lnTo>
                  <a:pt x="354730" y="1091748"/>
                </a:lnTo>
                <a:lnTo>
                  <a:pt x="315329" y="1118075"/>
                </a:lnTo>
                <a:lnTo>
                  <a:pt x="273985" y="1141230"/>
                </a:lnTo>
                <a:lnTo>
                  <a:pt x="230950" y="1161068"/>
                </a:lnTo>
                <a:lnTo>
                  <a:pt x="186492" y="1177470"/>
                </a:lnTo>
                <a:lnTo>
                  <a:pt x="140885" y="1190333"/>
                </a:lnTo>
                <a:lnTo>
                  <a:pt x="94408" y="1199577"/>
                </a:lnTo>
                <a:lnTo>
                  <a:pt x="47350" y="1205147"/>
                </a:lnTo>
                <a:lnTo>
                  <a:pt x="0" y="1207008"/>
                </a:lnTo>
                <a:lnTo>
                  <a:pt x="0" y="603504"/>
                </a:lnTo>
                <a:close/>
              </a:path>
            </a:pathLst>
          </a:custGeom>
          <a:solidFill>
            <a:srgbClr val="1F6FB2"/>
          </a:solidFill>
          <a:ln w="317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406688" y="2654935"/>
            <a:ext cx="1110447" cy="139954"/>
          </a:xfrm>
          <a:prstGeom prst="rect">
            <a:avLst/>
          </a:prstGeom>
          <a:noFill/>
        </p:spPr>
        <p:txBody>
          <a:bodyPr wrap="square" lIns="0" rIns="0" tIns="0" bIns="0" anchor="t">
            <a:spAutoFit/>
          </a:bodyPr>
          <a:lstStyle/>
          <a:p>
            <a:pPr algn="ctr">
              <a:lnSpc>
                <a:spcPct val="116000"/>
              </a:lnSpc>
              <a:spcAft>
                <a:spcPts val="0"/>
              </a:spcAft>
            </a:pPr>
            <a:r>
              <a:rPr sz="950" b="1">
                <a:solidFill>
                  <a:srgbClr val="FFFFFF"/>
                </a:solidFill>
                <a:latin typeface="Calibri"/>
              </a:rPr>
              <a:t>SEH</a:t>
            </a:r>
          </a:p>
        </p:txBody>
      </p:sp>
      <p:sp>
        <p:nvSpPr>
          <p:cNvPr id="16" name="Freeform 15"/>
          <p:cNvSpPr/>
          <p:nvPr/>
        </p:nvSpPr>
        <p:spPr>
          <a:xfrm>
            <a:off x="3008376" y="2121408"/>
            <a:ext cx="603504" cy="1207008"/>
          </a:xfrm>
          <a:custGeom>
            <a:avLst/>
            <a:gdLst/>
            <a:ahLst/>
            <a:cxnLst/>
            <a:rect l="l" t="t" r="r" b="b"/>
            <a:pathLst>
              <a:path w="603504" h="1207008">
                <a:moveTo>
                  <a:pt x="603504" y="1207008"/>
                </a:moveTo>
                <a:lnTo>
                  <a:pt x="556153" y="1205147"/>
                </a:lnTo>
                <a:lnTo>
                  <a:pt x="509095" y="1199577"/>
                </a:lnTo>
                <a:lnTo>
                  <a:pt x="462618" y="1190333"/>
                </a:lnTo>
                <a:lnTo>
                  <a:pt x="417011" y="1177470"/>
                </a:lnTo>
                <a:lnTo>
                  <a:pt x="372553" y="1161068"/>
                </a:lnTo>
                <a:lnTo>
                  <a:pt x="329518" y="1141230"/>
                </a:lnTo>
                <a:lnTo>
                  <a:pt x="288174" y="1118075"/>
                </a:lnTo>
                <a:lnTo>
                  <a:pt x="248773" y="1091748"/>
                </a:lnTo>
                <a:lnTo>
                  <a:pt x="211559" y="1062412"/>
                </a:lnTo>
                <a:lnTo>
                  <a:pt x="176762" y="1030245"/>
                </a:lnTo>
                <a:lnTo>
                  <a:pt x="144595" y="995448"/>
                </a:lnTo>
                <a:lnTo>
                  <a:pt x="115259" y="958234"/>
                </a:lnTo>
                <a:lnTo>
                  <a:pt x="88932" y="918833"/>
                </a:lnTo>
                <a:lnTo>
                  <a:pt x="65777" y="877489"/>
                </a:lnTo>
                <a:lnTo>
                  <a:pt x="45939" y="834454"/>
                </a:lnTo>
                <a:lnTo>
                  <a:pt x="29537" y="789996"/>
                </a:lnTo>
                <a:lnTo>
                  <a:pt x="16674" y="744389"/>
                </a:lnTo>
                <a:lnTo>
                  <a:pt x="7430" y="697912"/>
                </a:lnTo>
                <a:lnTo>
                  <a:pt x="1860" y="650854"/>
                </a:lnTo>
                <a:lnTo>
                  <a:pt x="0" y="603504"/>
                </a:lnTo>
                <a:lnTo>
                  <a:pt x="1860" y="556153"/>
                </a:lnTo>
                <a:lnTo>
                  <a:pt x="7430" y="509095"/>
                </a:lnTo>
                <a:lnTo>
                  <a:pt x="16674" y="462618"/>
                </a:lnTo>
                <a:lnTo>
                  <a:pt x="29537" y="417011"/>
                </a:lnTo>
                <a:lnTo>
                  <a:pt x="45939" y="372553"/>
                </a:lnTo>
                <a:lnTo>
                  <a:pt x="65777" y="329518"/>
                </a:lnTo>
                <a:lnTo>
                  <a:pt x="88932" y="288174"/>
                </a:lnTo>
                <a:lnTo>
                  <a:pt x="115259" y="248773"/>
                </a:lnTo>
                <a:lnTo>
                  <a:pt x="144595" y="211559"/>
                </a:lnTo>
                <a:lnTo>
                  <a:pt x="176762" y="176762"/>
                </a:lnTo>
                <a:lnTo>
                  <a:pt x="211559" y="144595"/>
                </a:lnTo>
                <a:lnTo>
                  <a:pt x="248773" y="115259"/>
                </a:lnTo>
                <a:lnTo>
                  <a:pt x="288174" y="88932"/>
                </a:lnTo>
                <a:lnTo>
                  <a:pt x="329518" y="65777"/>
                </a:lnTo>
                <a:lnTo>
                  <a:pt x="372553" y="45939"/>
                </a:lnTo>
                <a:lnTo>
                  <a:pt x="417011" y="29537"/>
                </a:lnTo>
                <a:lnTo>
                  <a:pt x="462618" y="16674"/>
                </a:lnTo>
                <a:lnTo>
                  <a:pt x="509095" y="7430"/>
                </a:lnTo>
                <a:lnTo>
                  <a:pt x="556153" y="1860"/>
                </a:lnTo>
                <a:lnTo>
                  <a:pt x="603504" y="0"/>
                </a:lnTo>
                <a:lnTo>
                  <a:pt x="603504" y="603504"/>
                </a:lnTo>
                <a:close/>
              </a:path>
            </a:pathLst>
          </a:custGeom>
          <a:solidFill>
            <a:srgbClr val="1A5689"/>
          </a:solidFill>
          <a:ln w="317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06624" y="2654935"/>
            <a:ext cx="1110447" cy="139954"/>
          </a:xfrm>
          <a:prstGeom prst="rect">
            <a:avLst/>
          </a:prstGeom>
          <a:noFill/>
        </p:spPr>
        <p:txBody>
          <a:bodyPr wrap="square" lIns="0" rIns="0" tIns="0" bIns="0" anchor="t">
            <a:spAutoFit/>
          </a:bodyPr>
          <a:lstStyle/>
          <a:p>
            <a:pPr algn="ctr">
              <a:lnSpc>
                <a:spcPct val="116000"/>
              </a:lnSpc>
              <a:spcAft>
                <a:spcPts val="0"/>
              </a:spcAft>
            </a:pPr>
            <a:r>
              <a:rPr sz="950" b="1">
                <a:solidFill>
                  <a:srgbClr val="FFFFFF"/>
                </a:solidFill>
                <a:latin typeface="Calibri"/>
              </a:rPr>
              <a:t>Kind</a:t>
            </a:r>
          </a:p>
        </p:txBody>
      </p:sp>
      <p:sp>
        <p:nvSpPr>
          <p:cNvPr id="18" name="Oval 17"/>
          <p:cNvSpPr/>
          <p:nvPr/>
        </p:nvSpPr>
        <p:spPr>
          <a:xfrm>
            <a:off x="3008376" y="2121408"/>
            <a:ext cx="1207008" cy="1207008"/>
          </a:xfrm>
          <a:prstGeom prst="ellipse">
            <a:avLst/>
          </a:prstGeom>
          <a:noFill/>
          <a:ln w="508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640080" y="2267712"/>
            <a:ext cx="2240280" cy="310896"/>
          </a:xfrm>
          <a:prstGeom prst="rect">
            <a:avLst/>
          </a:prstGeom>
          <a:noFill/>
        </p:spPr>
        <p:txBody>
          <a:bodyPr wrap="square" lIns="0" rIns="0" tIns="0" bIns="0" anchor="t">
            <a:spAutoFit/>
          </a:bodyPr>
          <a:lstStyle/>
          <a:p>
            <a:pPr algn="r">
              <a:lnSpc>
                <a:spcPct val="114000"/>
              </a:lnSpc>
              <a:spcAft>
                <a:spcPts val="0"/>
              </a:spcAft>
            </a:pPr>
            <a:r>
              <a:rPr sz="1400" b="1">
                <a:solidFill>
                  <a:srgbClr val="0D1B2A"/>
                </a:solidFill>
                <a:latin typeface="Calibri"/>
              </a:rPr>
              <a:t>SEH &amp; Kind</a:t>
            </a:r>
          </a:p>
        </p:txBody>
      </p:sp>
      <p:sp>
        <p:nvSpPr>
          <p:cNvPr id="20" name="TextBox 19"/>
          <p:cNvSpPr txBox="1"/>
          <p:nvPr/>
        </p:nvSpPr>
        <p:spPr>
          <a:xfrm>
            <a:off x="640080" y="2670048"/>
            <a:ext cx="2240280" cy="548640"/>
          </a:xfrm>
          <a:prstGeom prst="rect">
            <a:avLst/>
          </a:prstGeom>
          <a:noFill/>
        </p:spPr>
        <p:txBody>
          <a:bodyPr wrap="square" lIns="0" rIns="0" tIns="0" bIns="0" anchor="t">
            <a:spAutoFit/>
          </a:bodyPr>
          <a:lstStyle/>
          <a:p>
            <a:pPr algn="r">
              <a:lnSpc>
                <a:spcPct val="122000"/>
              </a:lnSpc>
              <a:spcAft>
                <a:spcPts val="0"/>
              </a:spcAft>
            </a:pPr>
            <a:r>
              <a:rPr sz="1000" b="0">
                <a:solidFill>
                  <a:srgbClr val="55677C"/>
                </a:solidFill>
                <a:latin typeface="Calibri"/>
              </a:rPr>
              <a:t>Werken nu als afzonderlijke onderdelen.</a:t>
            </a:r>
          </a:p>
        </p:txBody>
      </p:sp>
      <p:sp>
        <p:nvSpPr>
          <p:cNvPr id="21" name="Freeform 20"/>
          <p:cNvSpPr/>
          <p:nvPr/>
        </p:nvSpPr>
        <p:spPr>
          <a:xfrm>
            <a:off x="3611880" y="3529583"/>
            <a:ext cx="603504" cy="905257"/>
          </a:xfrm>
          <a:custGeom>
            <a:avLst/>
            <a:gdLst/>
            <a:ahLst/>
            <a:cxnLst/>
            <a:rect l="l" t="t" r="r" b="b"/>
            <a:pathLst>
              <a:path w="603504" h="905257">
                <a:moveTo>
                  <a:pt x="0" y="0"/>
                </a:moveTo>
                <a:lnTo>
                  <a:pt x="31584" y="828"/>
                </a:lnTo>
                <a:lnTo>
                  <a:pt x="63083" y="3307"/>
                </a:lnTo>
                <a:lnTo>
                  <a:pt x="94408" y="7431"/>
                </a:lnTo>
                <a:lnTo>
                  <a:pt x="125475" y="13189"/>
                </a:lnTo>
                <a:lnTo>
                  <a:pt x="156198" y="20564"/>
                </a:lnTo>
                <a:lnTo>
                  <a:pt x="186492" y="29538"/>
                </a:lnTo>
                <a:lnTo>
                  <a:pt x="216276" y="40085"/>
                </a:lnTo>
                <a:lnTo>
                  <a:pt x="245467" y="52176"/>
                </a:lnTo>
                <a:lnTo>
                  <a:pt x="273985" y="65778"/>
                </a:lnTo>
                <a:lnTo>
                  <a:pt x="301752" y="80855"/>
                </a:lnTo>
                <a:lnTo>
                  <a:pt x="328691" y="97363"/>
                </a:lnTo>
                <a:lnTo>
                  <a:pt x="354730" y="115260"/>
                </a:lnTo>
                <a:lnTo>
                  <a:pt x="379797" y="134494"/>
                </a:lnTo>
                <a:lnTo>
                  <a:pt x="403822" y="155014"/>
                </a:lnTo>
                <a:lnTo>
                  <a:pt x="426741" y="176763"/>
                </a:lnTo>
                <a:lnTo>
                  <a:pt x="448490" y="199682"/>
                </a:lnTo>
                <a:lnTo>
                  <a:pt x="469010" y="223707"/>
                </a:lnTo>
                <a:lnTo>
                  <a:pt x="488244" y="248774"/>
                </a:lnTo>
                <a:lnTo>
                  <a:pt x="506141" y="274813"/>
                </a:lnTo>
                <a:lnTo>
                  <a:pt x="522649" y="301752"/>
                </a:lnTo>
                <a:lnTo>
                  <a:pt x="537726" y="329519"/>
                </a:lnTo>
                <a:lnTo>
                  <a:pt x="551328" y="358037"/>
                </a:lnTo>
                <a:lnTo>
                  <a:pt x="563419" y="387228"/>
                </a:lnTo>
                <a:lnTo>
                  <a:pt x="573966" y="417012"/>
                </a:lnTo>
                <a:lnTo>
                  <a:pt x="582940" y="447306"/>
                </a:lnTo>
                <a:lnTo>
                  <a:pt x="590315" y="478029"/>
                </a:lnTo>
                <a:lnTo>
                  <a:pt x="596073" y="509096"/>
                </a:lnTo>
                <a:lnTo>
                  <a:pt x="600197" y="540421"/>
                </a:lnTo>
                <a:lnTo>
                  <a:pt x="602676" y="571920"/>
                </a:lnTo>
                <a:lnTo>
                  <a:pt x="603504" y="603504"/>
                </a:lnTo>
                <a:lnTo>
                  <a:pt x="602676" y="635089"/>
                </a:lnTo>
                <a:lnTo>
                  <a:pt x="600197" y="666588"/>
                </a:lnTo>
                <a:lnTo>
                  <a:pt x="596073" y="697913"/>
                </a:lnTo>
                <a:lnTo>
                  <a:pt x="590315" y="728980"/>
                </a:lnTo>
                <a:lnTo>
                  <a:pt x="582940" y="759703"/>
                </a:lnTo>
                <a:lnTo>
                  <a:pt x="573966" y="789997"/>
                </a:lnTo>
                <a:lnTo>
                  <a:pt x="563419" y="819781"/>
                </a:lnTo>
                <a:lnTo>
                  <a:pt x="551328" y="848972"/>
                </a:lnTo>
                <a:lnTo>
                  <a:pt x="537726" y="877490"/>
                </a:lnTo>
                <a:lnTo>
                  <a:pt x="522649" y="905257"/>
                </a:lnTo>
                <a:lnTo>
                  <a:pt x="0" y="603504"/>
                </a:lnTo>
                <a:close/>
              </a:path>
            </a:pathLst>
          </a:custGeom>
          <a:solidFill>
            <a:srgbClr val="0E9A87"/>
          </a:solidFill>
          <a:ln w="317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359793" y="3888094"/>
            <a:ext cx="1110447" cy="139954"/>
          </a:xfrm>
          <a:prstGeom prst="rect">
            <a:avLst/>
          </a:prstGeom>
          <a:noFill/>
        </p:spPr>
        <p:txBody>
          <a:bodyPr wrap="square" lIns="0" rIns="0" tIns="0" bIns="0" anchor="t">
            <a:spAutoFit/>
          </a:bodyPr>
          <a:lstStyle/>
          <a:p>
            <a:pPr algn="ctr">
              <a:lnSpc>
                <a:spcPct val="116000"/>
              </a:lnSpc>
              <a:spcAft>
                <a:spcPts val="0"/>
              </a:spcAft>
            </a:pPr>
            <a:r>
              <a:rPr sz="950" b="1">
                <a:solidFill>
                  <a:srgbClr val="FFFFFF"/>
                </a:solidFill>
                <a:latin typeface="Calibri"/>
              </a:rPr>
              <a:t>CCU</a:t>
            </a:r>
          </a:p>
        </p:txBody>
      </p:sp>
      <p:sp>
        <p:nvSpPr>
          <p:cNvPr id="23" name="Freeform 22"/>
          <p:cNvSpPr/>
          <p:nvPr/>
        </p:nvSpPr>
        <p:spPr>
          <a:xfrm>
            <a:off x="3089230" y="4133087"/>
            <a:ext cx="1045299" cy="603505"/>
          </a:xfrm>
          <a:custGeom>
            <a:avLst/>
            <a:gdLst/>
            <a:ahLst/>
            <a:cxnLst/>
            <a:rect l="l" t="t" r="r" b="b"/>
            <a:pathLst>
              <a:path w="1045299" h="603505">
                <a:moveTo>
                  <a:pt x="1045299" y="301753"/>
                </a:moveTo>
                <a:lnTo>
                  <a:pt x="1028791" y="328692"/>
                </a:lnTo>
                <a:lnTo>
                  <a:pt x="1010894" y="354731"/>
                </a:lnTo>
                <a:lnTo>
                  <a:pt x="991660" y="379798"/>
                </a:lnTo>
                <a:lnTo>
                  <a:pt x="971140" y="403823"/>
                </a:lnTo>
                <a:lnTo>
                  <a:pt x="949391" y="426742"/>
                </a:lnTo>
                <a:lnTo>
                  <a:pt x="926472" y="448491"/>
                </a:lnTo>
                <a:lnTo>
                  <a:pt x="902447" y="469011"/>
                </a:lnTo>
                <a:lnTo>
                  <a:pt x="877380" y="488245"/>
                </a:lnTo>
                <a:lnTo>
                  <a:pt x="851341" y="506142"/>
                </a:lnTo>
                <a:lnTo>
                  <a:pt x="824402" y="522650"/>
                </a:lnTo>
                <a:lnTo>
                  <a:pt x="796635" y="537727"/>
                </a:lnTo>
                <a:lnTo>
                  <a:pt x="768117" y="551329"/>
                </a:lnTo>
                <a:lnTo>
                  <a:pt x="738926" y="563420"/>
                </a:lnTo>
                <a:lnTo>
                  <a:pt x="709142" y="573967"/>
                </a:lnTo>
                <a:lnTo>
                  <a:pt x="678848" y="582941"/>
                </a:lnTo>
                <a:lnTo>
                  <a:pt x="648125" y="590316"/>
                </a:lnTo>
                <a:lnTo>
                  <a:pt x="617058" y="596074"/>
                </a:lnTo>
                <a:lnTo>
                  <a:pt x="585733" y="600198"/>
                </a:lnTo>
                <a:lnTo>
                  <a:pt x="554234" y="602677"/>
                </a:lnTo>
                <a:lnTo>
                  <a:pt x="522650" y="603505"/>
                </a:lnTo>
                <a:lnTo>
                  <a:pt x="491065" y="602677"/>
                </a:lnTo>
                <a:lnTo>
                  <a:pt x="459566" y="600198"/>
                </a:lnTo>
                <a:lnTo>
                  <a:pt x="428241" y="596074"/>
                </a:lnTo>
                <a:lnTo>
                  <a:pt x="397174" y="590316"/>
                </a:lnTo>
                <a:lnTo>
                  <a:pt x="366451" y="582941"/>
                </a:lnTo>
                <a:lnTo>
                  <a:pt x="336157" y="573967"/>
                </a:lnTo>
                <a:lnTo>
                  <a:pt x="306373" y="563420"/>
                </a:lnTo>
                <a:lnTo>
                  <a:pt x="277182" y="551329"/>
                </a:lnTo>
                <a:lnTo>
                  <a:pt x="248664" y="537727"/>
                </a:lnTo>
                <a:lnTo>
                  <a:pt x="220898" y="522650"/>
                </a:lnTo>
                <a:lnTo>
                  <a:pt x="193958" y="506142"/>
                </a:lnTo>
                <a:lnTo>
                  <a:pt x="167919" y="488245"/>
                </a:lnTo>
                <a:lnTo>
                  <a:pt x="142852" y="469011"/>
                </a:lnTo>
                <a:lnTo>
                  <a:pt x="118827" y="448491"/>
                </a:lnTo>
                <a:lnTo>
                  <a:pt x="95908" y="426742"/>
                </a:lnTo>
                <a:lnTo>
                  <a:pt x="74159" y="403823"/>
                </a:lnTo>
                <a:lnTo>
                  <a:pt x="53639" y="379798"/>
                </a:lnTo>
                <a:lnTo>
                  <a:pt x="34405" y="354731"/>
                </a:lnTo>
                <a:lnTo>
                  <a:pt x="16508" y="328692"/>
                </a:lnTo>
                <a:lnTo>
                  <a:pt x="0" y="301753"/>
                </a:lnTo>
                <a:lnTo>
                  <a:pt x="522650" y="0"/>
                </a:lnTo>
                <a:close/>
              </a:path>
            </a:pathLst>
          </a:custGeom>
          <a:solidFill>
            <a:srgbClr val="0E766D"/>
          </a:solidFill>
          <a:ln w="317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056656" y="4413143"/>
            <a:ext cx="1110447" cy="139954"/>
          </a:xfrm>
          <a:prstGeom prst="rect">
            <a:avLst/>
          </a:prstGeom>
          <a:noFill/>
        </p:spPr>
        <p:txBody>
          <a:bodyPr wrap="square" lIns="0" rIns="0" tIns="0" bIns="0" anchor="t">
            <a:spAutoFit/>
          </a:bodyPr>
          <a:lstStyle/>
          <a:p>
            <a:pPr algn="ctr">
              <a:lnSpc>
                <a:spcPct val="116000"/>
              </a:lnSpc>
              <a:spcAft>
                <a:spcPts val="0"/>
              </a:spcAft>
            </a:pPr>
            <a:r>
              <a:rPr sz="950" b="1">
                <a:solidFill>
                  <a:srgbClr val="FFFFFF"/>
                </a:solidFill>
                <a:latin typeface="Calibri"/>
              </a:rPr>
              <a:t>SCU</a:t>
            </a:r>
          </a:p>
        </p:txBody>
      </p:sp>
      <p:sp>
        <p:nvSpPr>
          <p:cNvPr id="25" name="Freeform 24"/>
          <p:cNvSpPr/>
          <p:nvPr/>
        </p:nvSpPr>
        <p:spPr>
          <a:xfrm>
            <a:off x="3008376" y="3529583"/>
            <a:ext cx="603504" cy="905257"/>
          </a:xfrm>
          <a:custGeom>
            <a:avLst/>
            <a:gdLst/>
            <a:ahLst/>
            <a:cxnLst/>
            <a:rect l="l" t="t" r="r" b="b"/>
            <a:pathLst>
              <a:path w="603504" h="905257">
                <a:moveTo>
                  <a:pt x="80854" y="905257"/>
                </a:moveTo>
                <a:lnTo>
                  <a:pt x="65777" y="877490"/>
                </a:lnTo>
                <a:lnTo>
                  <a:pt x="52175" y="848972"/>
                </a:lnTo>
                <a:lnTo>
                  <a:pt x="40084" y="819781"/>
                </a:lnTo>
                <a:lnTo>
                  <a:pt x="29537" y="789997"/>
                </a:lnTo>
                <a:lnTo>
                  <a:pt x="20563" y="759703"/>
                </a:lnTo>
                <a:lnTo>
                  <a:pt x="13188" y="728980"/>
                </a:lnTo>
                <a:lnTo>
                  <a:pt x="7430" y="697913"/>
                </a:lnTo>
                <a:lnTo>
                  <a:pt x="3306" y="666588"/>
                </a:lnTo>
                <a:lnTo>
                  <a:pt x="827" y="635089"/>
                </a:lnTo>
                <a:lnTo>
                  <a:pt x="0" y="603504"/>
                </a:lnTo>
                <a:lnTo>
                  <a:pt x="827" y="571920"/>
                </a:lnTo>
                <a:lnTo>
                  <a:pt x="3306" y="540421"/>
                </a:lnTo>
                <a:lnTo>
                  <a:pt x="7430" y="509096"/>
                </a:lnTo>
                <a:lnTo>
                  <a:pt x="13188" y="478029"/>
                </a:lnTo>
                <a:lnTo>
                  <a:pt x="20563" y="447306"/>
                </a:lnTo>
                <a:lnTo>
                  <a:pt x="29537" y="417012"/>
                </a:lnTo>
                <a:lnTo>
                  <a:pt x="40084" y="387228"/>
                </a:lnTo>
                <a:lnTo>
                  <a:pt x="52175" y="358037"/>
                </a:lnTo>
                <a:lnTo>
                  <a:pt x="65777" y="329519"/>
                </a:lnTo>
                <a:lnTo>
                  <a:pt x="80854" y="301752"/>
                </a:lnTo>
                <a:lnTo>
                  <a:pt x="97362" y="274813"/>
                </a:lnTo>
                <a:lnTo>
                  <a:pt x="115259" y="248774"/>
                </a:lnTo>
                <a:lnTo>
                  <a:pt x="134493" y="223707"/>
                </a:lnTo>
                <a:lnTo>
                  <a:pt x="155013" y="199682"/>
                </a:lnTo>
                <a:lnTo>
                  <a:pt x="176762" y="176763"/>
                </a:lnTo>
                <a:lnTo>
                  <a:pt x="199681" y="155014"/>
                </a:lnTo>
                <a:lnTo>
                  <a:pt x="223706" y="134494"/>
                </a:lnTo>
                <a:lnTo>
                  <a:pt x="248773" y="115260"/>
                </a:lnTo>
                <a:lnTo>
                  <a:pt x="274812" y="97363"/>
                </a:lnTo>
                <a:lnTo>
                  <a:pt x="301752" y="80855"/>
                </a:lnTo>
                <a:lnTo>
                  <a:pt x="329518" y="65778"/>
                </a:lnTo>
                <a:lnTo>
                  <a:pt x="358036" y="52176"/>
                </a:lnTo>
                <a:lnTo>
                  <a:pt x="387227" y="40085"/>
                </a:lnTo>
                <a:lnTo>
                  <a:pt x="417011" y="29538"/>
                </a:lnTo>
                <a:lnTo>
                  <a:pt x="447305" y="20564"/>
                </a:lnTo>
                <a:lnTo>
                  <a:pt x="478028" y="13189"/>
                </a:lnTo>
                <a:lnTo>
                  <a:pt x="509095" y="7431"/>
                </a:lnTo>
                <a:lnTo>
                  <a:pt x="540420" y="3307"/>
                </a:lnTo>
                <a:lnTo>
                  <a:pt x="571919" y="828"/>
                </a:lnTo>
                <a:lnTo>
                  <a:pt x="603504" y="0"/>
                </a:lnTo>
                <a:lnTo>
                  <a:pt x="603504" y="603504"/>
                </a:lnTo>
                <a:close/>
              </a:path>
            </a:pathLst>
          </a:custGeom>
          <a:solidFill>
            <a:srgbClr val="1F6FB2"/>
          </a:solidFill>
          <a:ln w="317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753519" y="3888094"/>
            <a:ext cx="1110447" cy="139954"/>
          </a:xfrm>
          <a:prstGeom prst="rect">
            <a:avLst/>
          </a:prstGeom>
          <a:noFill/>
        </p:spPr>
        <p:txBody>
          <a:bodyPr wrap="square" lIns="0" rIns="0" tIns="0" bIns="0" anchor="t">
            <a:spAutoFit/>
          </a:bodyPr>
          <a:lstStyle/>
          <a:p>
            <a:pPr algn="ctr">
              <a:lnSpc>
                <a:spcPct val="116000"/>
              </a:lnSpc>
              <a:spcAft>
                <a:spcPts val="0"/>
              </a:spcAft>
            </a:pPr>
            <a:r>
              <a:rPr sz="950" b="1">
                <a:solidFill>
                  <a:srgbClr val="FFFFFF"/>
                </a:solidFill>
                <a:latin typeface="Calibri"/>
              </a:rPr>
              <a:t>EHH</a:t>
            </a:r>
          </a:p>
        </p:txBody>
      </p:sp>
      <p:sp>
        <p:nvSpPr>
          <p:cNvPr id="27" name="Oval 26"/>
          <p:cNvSpPr/>
          <p:nvPr/>
        </p:nvSpPr>
        <p:spPr>
          <a:xfrm>
            <a:off x="3008376" y="3529583"/>
            <a:ext cx="1207008" cy="1207008"/>
          </a:xfrm>
          <a:prstGeom prst="ellipse">
            <a:avLst/>
          </a:prstGeom>
          <a:noFill/>
          <a:ln w="508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640080" y="3675887"/>
            <a:ext cx="2240280" cy="310896"/>
          </a:xfrm>
          <a:prstGeom prst="rect">
            <a:avLst/>
          </a:prstGeom>
          <a:noFill/>
        </p:spPr>
        <p:txBody>
          <a:bodyPr wrap="square" lIns="0" rIns="0" tIns="0" bIns="0" anchor="t">
            <a:spAutoFit/>
          </a:bodyPr>
          <a:lstStyle/>
          <a:p>
            <a:pPr algn="r">
              <a:lnSpc>
                <a:spcPct val="114000"/>
              </a:lnSpc>
              <a:spcAft>
                <a:spcPts val="0"/>
              </a:spcAft>
            </a:pPr>
            <a:r>
              <a:rPr sz="1400" b="1">
                <a:solidFill>
                  <a:srgbClr val="0D1B2A"/>
                </a:solidFill>
                <a:latin typeface="Calibri"/>
              </a:rPr>
              <a:t>CCU / SCU / EHH</a:t>
            </a:r>
          </a:p>
        </p:txBody>
      </p:sp>
      <p:sp>
        <p:nvSpPr>
          <p:cNvPr id="29" name="TextBox 28"/>
          <p:cNvSpPr txBox="1"/>
          <p:nvPr/>
        </p:nvSpPr>
        <p:spPr>
          <a:xfrm>
            <a:off x="640080" y="4078224"/>
            <a:ext cx="2240280" cy="548640"/>
          </a:xfrm>
          <a:prstGeom prst="rect">
            <a:avLst/>
          </a:prstGeom>
          <a:noFill/>
        </p:spPr>
        <p:txBody>
          <a:bodyPr wrap="square" lIns="0" rIns="0" tIns="0" bIns="0" anchor="t">
            <a:spAutoFit/>
          </a:bodyPr>
          <a:lstStyle/>
          <a:p>
            <a:pPr algn="r">
              <a:lnSpc>
                <a:spcPct val="122000"/>
              </a:lnSpc>
              <a:spcAft>
                <a:spcPts val="0"/>
              </a:spcAft>
            </a:pPr>
            <a:r>
              <a:rPr sz="1000" b="0">
                <a:solidFill>
                  <a:srgbClr val="55677C"/>
                </a:solidFill>
                <a:latin typeface="Calibri"/>
              </a:rPr>
              <a:t>Vormen nu samen één fysieke afdeling.</a:t>
            </a:r>
          </a:p>
        </p:txBody>
      </p:sp>
      <p:sp>
        <p:nvSpPr>
          <p:cNvPr id="30" name="Oval 29"/>
          <p:cNvSpPr/>
          <p:nvPr/>
        </p:nvSpPr>
        <p:spPr>
          <a:xfrm>
            <a:off x="3008376" y="4901183"/>
            <a:ext cx="1207008" cy="1207008"/>
          </a:xfrm>
          <a:prstGeom prst="ellipse">
            <a:avLst/>
          </a:prstGeom>
          <a:solidFill>
            <a:srgbClr val="106F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3056656" y="5434711"/>
            <a:ext cx="1110447" cy="139954"/>
          </a:xfrm>
          <a:prstGeom prst="rect">
            <a:avLst/>
          </a:prstGeom>
          <a:noFill/>
        </p:spPr>
        <p:txBody>
          <a:bodyPr wrap="square" lIns="0" rIns="0" tIns="0" bIns="0" anchor="t">
            <a:spAutoFit/>
          </a:bodyPr>
          <a:lstStyle/>
          <a:p>
            <a:pPr algn="ctr">
              <a:lnSpc>
                <a:spcPct val="116000"/>
              </a:lnSpc>
              <a:spcAft>
                <a:spcPts val="0"/>
              </a:spcAft>
            </a:pPr>
            <a:r>
              <a:rPr sz="950" b="1">
                <a:solidFill>
                  <a:srgbClr val="FFFFFF"/>
                </a:solidFill>
                <a:latin typeface="Calibri"/>
              </a:rPr>
              <a:t>IC</a:t>
            </a:r>
          </a:p>
        </p:txBody>
      </p:sp>
      <p:sp>
        <p:nvSpPr>
          <p:cNvPr id="32" name="Oval 31"/>
          <p:cNvSpPr/>
          <p:nvPr/>
        </p:nvSpPr>
        <p:spPr>
          <a:xfrm>
            <a:off x="3008376" y="4901183"/>
            <a:ext cx="1207008" cy="1207008"/>
          </a:xfrm>
          <a:prstGeom prst="ellipse">
            <a:avLst/>
          </a:prstGeom>
          <a:noFill/>
          <a:ln w="508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640080" y="5047488"/>
            <a:ext cx="2240280" cy="310896"/>
          </a:xfrm>
          <a:prstGeom prst="rect">
            <a:avLst/>
          </a:prstGeom>
          <a:noFill/>
        </p:spPr>
        <p:txBody>
          <a:bodyPr wrap="square" lIns="0" rIns="0" tIns="0" bIns="0" anchor="t">
            <a:spAutoFit/>
          </a:bodyPr>
          <a:lstStyle/>
          <a:p>
            <a:pPr algn="r">
              <a:lnSpc>
                <a:spcPct val="114000"/>
              </a:lnSpc>
              <a:spcAft>
                <a:spcPts val="0"/>
              </a:spcAft>
            </a:pPr>
            <a:r>
              <a:rPr sz="1400" b="1">
                <a:solidFill>
                  <a:srgbClr val="0D1B2A"/>
                </a:solidFill>
                <a:latin typeface="Calibri"/>
              </a:rPr>
              <a:t>IC</a:t>
            </a:r>
          </a:p>
        </p:txBody>
      </p:sp>
      <p:sp>
        <p:nvSpPr>
          <p:cNvPr id="34" name="TextBox 33"/>
          <p:cNvSpPr txBox="1"/>
          <p:nvPr/>
        </p:nvSpPr>
        <p:spPr>
          <a:xfrm>
            <a:off x="640080" y="5449824"/>
            <a:ext cx="2240280" cy="548640"/>
          </a:xfrm>
          <a:prstGeom prst="rect">
            <a:avLst/>
          </a:prstGeom>
          <a:noFill/>
        </p:spPr>
        <p:txBody>
          <a:bodyPr wrap="square" lIns="0" rIns="0" tIns="0" bIns="0" anchor="t">
            <a:spAutoFit/>
          </a:bodyPr>
          <a:lstStyle/>
          <a:p>
            <a:pPr algn="r">
              <a:lnSpc>
                <a:spcPct val="122000"/>
              </a:lnSpc>
              <a:spcAft>
                <a:spcPts val="0"/>
              </a:spcAft>
            </a:pPr>
            <a:r>
              <a:rPr sz="1000" b="0">
                <a:solidFill>
                  <a:srgbClr val="55677C"/>
                </a:solidFill>
                <a:latin typeface="Calibri"/>
              </a:rPr>
              <a:t>Zelfstandige afdeling voor hoog complexe zorg.</a:t>
            </a:r>
          </a:p>
        </p:txBody>
      </p:sp>
      <p:sp>
        <p:nvSpPr>
          <p:cNvPr id="35" name="Freeform 34"/>
          <p:cNvSpPr/>
          <p:nvPr/>
        </p:nvSpPr>
        <p:spPr>
          <a:xfrm>
            <a:off x="7635240" y="1938528"/>
            <a:ext cx="914400" cy="1371600"/>
          </a:xfrm>
          <a:custGeom>
            <a:avLst/>
            <a:gdLst/>
            <a:ahLst/>
            <a:cxnLst/>
            <a:rect l="l" t="t" r="r" b="b"/>
            <a:pathLst>
              <a:path w="914400" h="1371600">
                <a:moveTo>
                  <a:pt x="0" y="0"/>
                </a:moveTo>
                <a:lnTo>
                  <a:pt x="47855" y="1253"/>
                </a:lnTo>
                <a:lnTo>
                  <a:pt x="95580" y="5009"/>
                </a:lnTo>
                <a:lnTo>
                  <a:pt x="143043" y="11257"/>
                </a:lnTo>
                <a:lnTo>
                  <a:pt x="190114" y="19981"/>
                </a:lnTo>
                <a:lnTo>
                  <a:pt x="236664" y="31157"/>
                </a:lnTo>
                <a:lnTo>
                  <a:pt x="282565" y="44753"/>
                </a:lnTo>
                <a:lnTo>
                  <a:pt x="327691" y="60734"/>
                </a:lnTo>
                <a:lnTo>
                  <a:pt x="371919" y="79054"/>
                </a:lnTo>
                <a:lnTo>
                  <a:pt x="415128" y="99663"/>
                </a:lnTo>
                <a:lnTo>
                  <a:pt x="457200" y="122506"/>
                </a:lnTo>
                <a:lnTo>
                  <a:pt x="498017" y="147519"/>
                </a:lnTo>
                <a:lnTo>
                  <a:pt x="537470" y="174634"/>
                </a:lnTo>
                <a:lnTo>
                  <a:pt x="575450" y="203777"/>
                </a:lnTo>
                <a:lnTo>
                  <a:pt x="611853" y="234868"/>
                </a:lnTo>
                <a:lnTo>
                  <a:pt x="646578" y="267821"/>
                </a:lnTo>
                <a:lnTo>
                  <a:pt x="679531" y="302546"/>
                </a:lnTo>
                <a:lnTo>
                  <a:pt x="710622" y="338949"/>
                </a:lnTo>
                <a:lnTo>
                  <a:pt x="739765" y="376929"/>
                </a:lnTo>
                <a:lnTo>
                  <a:pt x="766880" y="416382"/>
                </a:lnTo>
                <a:lnTo>
                  <a:pt x="791893" y="457200"/>
                </a:lnTo>
                <a:lnTo>
                  <a:pt x="814736" y="499271"/>
                </a:lnTo>
                <a:lnTo>
                  <a:pt x="835345" y="542480"/>
                </a:lnTo>
                <a:lnTo>
                  <a:pt x="853665" y="586708"/>
                </a:lnTo>
                <a:lnTo>
                  <a:pt x="869646" y="631834"/>
                </a:lnTo>
                <a:lnTo>
                  <a:pt x="883242" y="677735"/>
                </a:lnTo>
                <a:lnTo>
                  <a:pt x="894418" y="724285"/>
                </a:lnTo>
                <a:lnTo>
                  <a:pt x="903142" y="771356"/>
                </a:lnTo>
                <a:lnTo>
                  <a:pt x="909390" y="818819"/>
                </a:lnTo>
                <a:lnTo>
                  <a:pt x="913146" y="866544"/>
                </a:lnTo>
                <a:lnTo>
                  <a:pt x="914400" y="914400"/>
                </a:lnTo>
                <a:lnTo>
                  <a:pt x="913146" y="962255"/>
                </a:lnTo>
                <a:lnTo>
                  <a:pt x="909390" y="1009980"/>
                </a:lnTo>
                <a:lnTo>
                  <a:pt x="903142" y="1057443"/>
                </a:lnTo>
                <a:lnTo>
                  <a:pt x="894418" y="1104514"/>
                </a:lnTo>
                <a:lnTo>
                  <a:pt x="883242" y="1151064"/>
                </a:lnTo>
                <a:lnTo>
                  <a:pt x="869646" y="1196965"/>
                </a:lnTo>
                <a:lnTo>
                  <a:pt x="853665" y="1242091"/>
                </a:lnTo>
                <a:lnTo>
                  <a:pt x="835345" y="1286319"/>
                </a:lnTo>
                <a:lnTo>
                  <a:pt x="814736" y="1329528"/>
                </a:lnTo>
                <a:lnTo>
                  <a:pt x="791893" y="1371600"/>
                </a:lnTo>
                <a:lnTo>
                  <a:pt x="0" y="914400"/>
                </a:lnTo>
                <a:close/>
              </a:path>
            </a:pathLst>
          </a:custGeom>
          <a:solidFill>
            <a:srgbClr val="1F6FB2"/>
          </a:solidFill>
          <a:ln w="317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253290" y="2503043"/>
            <a:ext cx="1682496" cy="169418"/>
          </a:xfrm>
          <a:prstGeom prst="rect">
            <a:avLst/>
          </a:prstGeom>
          <a:noFill/>
        </p:spPr>
        <p:txBody>
          <a:bodyPr wrap="square" lIns="0" rIns="0" tIns="0" bIns="0" anchor="t">
            <a:spAutoFit/>
          </a:bodyPr>
          <a:lstStyle/>
          <a:p>
            <a:pPr algn="ctr">
              <a:lnSpc>
                <a:spcPct val="116000"/>
              </a:lnSpc>
              <a:spcAft>
                <a:spcPts val="0"/>
              </a:spcAft>
            </a:pPr>
            <a:r>
              <a:rPr sz="1150" b="1">
                <a:solidFill>
                  <a:srgbClr val="FFFFFF"/>
                </a:solidFill>
                <a:latin typeface="Calibri"/>
              </a:rPr>
              <a:t>SEH</a:t>
            </a:r>
          </a:p>
        </p:txBody>
      </p:sp>
      <p:sp>
        <p:nvSpPr>
          <p:cNvPr id="37" name="Freeform 36"/>
          <p:cNvSpPr/>
          <p:nvPr/>
        </p:nvSpPr>
        <p:spPr>
          <a:xfrm>
            <a:off x="6843346" y="2852928"/>
            <a:ext cx="1583787" cy="914400"/>
          </a:xfrm>
          <a:custGeom>
            <a:avLst/>
            <a:gdLst/>
            <a:ahLst/>
            <a:cxnLst/>
            <a:rect l="l" t="t" r="r" b="b"/>
            <a:pathLst>
              <a:path w="1583787" h="914400">
                <a:moveTo>
                  <a:pt x="1583787" y="457200"/>
                </a:moveTo>
                <a:lnTo>
                  <a:pt x="1558774" y="498017"/>
                </a:lnTo>
                <a:lnTo>
                  <a:pt x="1531659" y="537470"/>
                </a:lnTo>
                <a:lnTo>
                  <a:pt x="1502516" y="575450"/>
                </a:lnTo>
                <a:lnTo>
                  <a:pt x="1471425" y="611853"/>
                </a:lnTo>
                <a:lnTo>
                  <a:pt x="1438472" y="646578"/>
                </a:lnTo>
                <a:lnTo>
                  <a:pt x="1403747" y="679531"/>
                </a:lnTo>
                <a:lnTo>
                  <a:pt x="1367344" y="710622"/>
                </a:lnTo>
                <a:lnTo>
                  <a:pt x="1329364" y="739765"/>
                </a:lnTo>
                <a:lnTo>
                  <a:pt x="1289911" y="766880"/>
                </a:lnTo>
                <a:lnTo>
                  <a:pt x="1249094" y="791893"/>
                </a:lnTo>
                <a:lnTo>
                  <a:pt x="1207022" y="814736"/>
                </a:lnTo>
                <a:lnTo>
                  <a:pt x="1163813" y="835345"/>
                </a:lnTo>
                <a:lnTo>
                  <a:pt x="1119585" y="853665"/>
                </a:lnTo>
                <a:lnTo>
                  <a:pt x="1074459" y="869646"/>
                </a:lnTo>
                <a:lnTo>
                  <a:pt x="1028558" y="883242"/>
                </a:lnTo>
                <a:lnTo>
                  <a:pt x="982008" y="894418"/>
                </a:lnTo>
                <a:lnTo>
                  <a:pt x="934937" y="903142"/>
                </a:lnTo>
                <a:lnTo>
                  <a:pt x="887474" y="909390"/>
                </a:lnTo>
                <a:lnTo>
                  <a:pt x="839749" y="913146"/>
                </a:lnTo>
                <a:lnTo>
                  <a:pt x="791894" y="914400"/>
                </a:lnTo>
                <a:lnTo>
                  <a:pt x="744038" y="913146"/>
                </a:lnTo>
                <a:lnTo>
                  <a:pt x="696313" y="909390"/>
                </a:lnTo>
                <a:lnTo>
                  <a:pt x="648850" y="903142"/>
                </a:lnTo>
                <a:lnTo>
                  <a:pt x="601779" y="894418"/>
                </a:lnTo>
                <a:lnTo>
                  <a:pt x="555229" y="883242"/>
                </a:lnTo>
                <a:lnTo>
                  <a:pt x="509328" y="869646"/>
                </a:lnTo>
                <a:lnTo>
                  <a:pt x="464202" y="853665"/>
                </a:lnTo>
                <a:lnTo>
                  <a:pt x="419974" y="835345"/>
                </a:lnTo>
                <a:lnTo>
                  <a:pt x="376765" y="814736"/>
                </a:lnTo>
                <a:lnTo>
                  <a:pt x="334694" y="791893"/>
                </a:lnTo>
                <a:lnTo>
                  <a:pt x="293876" y="766880"/>
                </a:lnTo>
                <a:lnTo>
                  <a:pt x="254423" y="739765"/>
                </a:lnTo>
                <a:lnTo>
                  <a:pt x="216443" y="710622"/>
                </a:lnTo>
                <a:lnTo>
                  <a:pt x="180040" y="679531"/>
                </a:lnTo>
                <a:lnTo>
                  <a:pt x="145315" y="646578"/>
                </a:lnTo>
                <a:lnTo>
                  <a:pt x="112362" y="611853"/>
                </a:lnTo>
                <a:lnTo>
                  <a:pt x="81271" y="575450"/>
                </a:lnTo>
                <a:lnTo>
                  <a:pt x="52128" y="537470"/>
                </a:lnTo>
                <a:lnTo>
                  <a:pt x="25013" y="498017"/>
                </a:lnTo>
                <a:lnTo>
                  <a:pt x="0" y="457200"/>
                </a:lnTo>
                <a:lnTo>
                  <a:pt x="791894" y="0"/>
                </a:lnTo>
                <a:close/>
              </a:path>
            </a:pathLst>
          </a:custGeom>
          <a:solidFill>
            <a:srgbClr val="1A5689"/>
          </a:solidFill>
          <a:ln w="317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793992" y="3298571"/>
            <a:ext cx="1682496" cy="169418"/>
          </a:xfrm>
          <a:prstGeom prst="rect">
            <a:avLst/>
          </a:prstGeom>
          <a:noFill/>
        </p:spPr>
        <p:txBody>
          <a:bodyPr wrap="square" lIns="0" rIns="0" tIns="0" bIns="0" anchor="t">
            <a:spAutoFit/>
          </a:bodyPr>
          <a:lstStyle/>
          <a:p>
            <a:pPr algn="ctr">
              <a:lnSpc>
                <a:spcPct val="116000"/>
              </a:lnSpc>
              <a:spcAft>
                <a:spcPts val="0"/>
              </a:spcAft>
            </a:pPr>
            <a:r>
              <a:rPr sz="1150" b="1">
                <a:solidFill>
                  <a:srgbClr val="FFFFFF"/>
                </a:solidFill>
                <a:latin typeface="Calibri"/>
              </a:rPr>
              <a:t>Kind</a:t>
            </a:r>
          </a:p>
        </p:txBody>
      </p:sp>
      <p:sp>
        <p:nvSpPr>
          <p:cNvPr id="39" name="Freeform 38"/>
          <p:cNvSpPr/>
          <p:nvPr/>
        </p:nvSpPr>
        <p:spPr>
          <a:xfrm>
            <a:off x="6720840" y="1938528"/>
            <a:ext cx="914400" cy="1371600"/>
          </a:xfrm>
          <a:custGeom>
            <a:avLst/>
            <a:gdLst/>
            <a:ahLst/>
            <a:cxnLst/>
            <a:rect l="l" t="t" r="r" b="b"/>
            <a:pathLst>
              <a:path w="914400" h="1371600">
                <a:moveTo>
                  <a:pt x="122506" y="1371600"/>
                </a:moveTo>
                <a:lnTo>
                  <a:pt x="99663" y="1329528"/>
                </a:lnTo>
                <a:lnTo>
                  <a:pt x="79054" y="1286319"/>
                </a:lnTo>
                <a:lnTo>
                  <a:pt x="60734" y="1242091"/>
                </a:lnTo>
                <a:lnTo>
                  <a:pt x="44753" y="1196965"/>
                </a:lnTo>
                <a:lnTo>
                  <a:pt x="31157" y="1151064"/>
                </a:lnTo>
                <a:lnTo>
                  <a:pt x="19981" y="1104514"/>
                </a:lnTo>
                <a:lnTo>
                  <a:pt x="11257" y="1057443"/>
                </a:lnTo>
                <a:lnTo>
                  <a:pt x="5009" y="1009980"/>
                </a:lnTo>
                <a:lnTo>
                  <a:pt x="1253" y="962255"/>
                </a:lnTo>
                <a:lnTo>
                  <a:pt x="0" y="914400"/>
                </a:lnTo>
                <a:lnTo>
                  <a:pt x="1253" y="866544"/>
                </a:lnTo>
                <a:lnTo>
                  <a:pt x="5009" y="818819"/>
                </a:lnTo>
                <a:lnTo>
                  <a:pt x="11257" y="771356"/>
                </a:lnTo>
                <a:lnTo>
                  <a:pt x="19981" y="724285"/>
                </a:lnTo>
                <a:lnTo>
                  <a:pt x="31157" y="677735"/>
                </a:lnTo>
                <a:lnTo>
                  <a:pt x="44753" y="631834"/>
                </a:lnTo>
                <a:lnTo>
                  <a:pt x="60734" y="586708"/>
                </a:lnTo>
                <a:lnTo>
                  <a:pt x="79054" y="542480"/>
                </a:lnTo>
                <a:lnTo>
                  <a:pt x="99663" y="499271"/>
                </a:lnTo>
                <a:lnTo>
                  <a:pt x="122506" y="457200"/>
                </a:lnTo>
                <a:lnTo>
                  <a:pt x="147519" y="416382"/>
                </a:lnTo>
                <a:lnTo>
                  <a:pt x="174634" y="376929"/>
                </a:lnTo>
                <a:lnTo>
                  <a:pt x="203777" y="338949"/>
                </a:lnTo>
                <a:lnTo>
                  <a:pt x="234868" y="302546"/>
                </a:lnTo>
                <a:lnTo>
                  <a:pt x="267821" y="267821"/>
                </a:lnTo>
                <a:lnTo>
                  <a:pt x="302546" y="234868"/>
                </a:lnTo>
                <a:lnTo>
                  <a:pt x="338949" y="203777"/>
                </a:lnTo>
                <a:lnTo>
                  <a:pt x="376929" y="174634"/>
                </a:lnTo>
                <a:lnTo>
                  <a:pt x="416382" y="147519"/>
                </a:lnTo>
                <a:lnTo>
                  <a:pt x="457200" y="122506"/>
                </a:lnTo>
                <a:lnTo>
                  <a:pt x="499271" y="99663"/>
                </a:lnTo>
                <a:lnTo>
                  <a:pt x="542480" y="79054"/>
                </a:lnTo>
                <a:lnTo>
                  <a:pt x="586708" y="60734"/>
                </a:lnTo>
                <a:lnTo>
                  <a:pt x="631834" y="44753"/>
                </a:lnTo>
                <a:lnTo>
                  <a:pt x="677735" y="31157"/>
                </a:lnTo>
                <a:lnTo>
                  <a:pt x="724285" y="19981"/>
                </a:lnTo>
                <a:lnTo>
                  <a:pt x="771356" y="11257"/>
                </a:lnTo>
                <a:lnTo>
                  <a:pt x="818819" y="5009"/>
                </a:lnTo>
                <a:lnTo>
                  <a:pt x="866544" y="1253"/>
                </a:lnTo>
                <a:lnTo>
                  <a:pt x="914400" y="0"/>
                </a:lnTo>
                <a:lnTo>
                  <a:pt x="914400" y="914400"/>
                </a:lnTo>
                <a:close/>
              </a:path>
            </a:pathLst>
          </a:custGeom>
          <a:solidFill>
            <a:srgbClr val="185287"/>
          </a:solidFill>
          <a:ln w="317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334693" y="2503043"/>
            <a:ext cx="1682496" cy="169418"/>
          </a:xfrm>
          <a:prstGeom prst="rect">
            <a:avLst/>
          </a:prstGeom>
          <a:noFill/>
        </p:spPr>
        <p:txBody>
          <a:bodyPr wrap="square" lIns="0" rIns="0" tIns="0" bIns="0" anchor="t">
            <a:spAutoFit/>
          </a:bodyPr>
          <a:lstStyle/>
          <a:p>
            <a:pPr algn="ctr">
              <a:lnSpc>
                <a:spcPct val="116000"/>
              </a:lnSpc>
              <a:spcAft>
                <a:spcPts val="0"/>
              </a:spcAft>
            </a:pPr>
            <a:r>
              <a:rPr sz="1150" b="1">
                <a:solidFill>
                  <a:srgbClr val="FFFFFF"/>
                </a:solidFill>
                <a:latin typeface="Calibri"/>
              </a:rPr>
              <a:t>EHH</a:t>
            </a:r>
          </a:p>
        </p:txBody>
      </p:sp>
      <p:sp>
        <p:nvSpPr>
          <p:cNvPr id="41" name="Oval 40"/>
          <p:cNvSpPr/>
          <p:nvPr/>
        </p:nvSpPr>
        <p:spPr>
          <a:xfrm>
            <a:off x="6720840" y="1938528"/>
            <a:ext cx="1828800" cy="1828800"/>
          </a:xfrm>
          <a:prstGeom prst="ellipse">
            <a:avLst/>
          </a:prstGeom>
          <a:noFill/>
          <a:ln w="508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8796528" y="2286000"/>
            <a:ext cx="2755087" cy="310896"/>
          </a:xfrm>
          <a:prstGeom prst="rect">
            <a:avLst/>
          </a:prstGeom>
          <a:noFill/>
        </p:spPr>
        <p:txBody>
          <a:bodyPr wrap="square" lIns="0" rIns="0" tIns="0" bIns="0" anchor="t">
            <a:spAutoFit/>
          </a:bodyPr>
          <a:lstStyle/>
          <a:p>
            <a:pPr algn="l">
              <a:lnSpc>
                <a:spcPct val="120000"/>
              </a:lnSpc>
              <a:spcAft>
                <a:spcPts val="0"/>
              </a:spcAft>
            </a:pPr>
            <a:r>
              <a:rPr sz="1600" b="1">
                <a:solidFill>
                  <a:srgbClr val="0D1B2A"/>
                </a:solidFill>
                <a:latin typeface="Calibri"/>
              </a:rPr>
              <a:t>De acute poort</a:t>
            </a:r>
          </a:p>
        </p:txBody>
      </p:sp>
      <p:sp>
        <p:nvSpPr>
          <p:cNvPr id="43" name="TextBox 42"/>
          <p:cNvSpPr txBox="1"/>
          <p:nvPr/>
        </p:nvSpPr>
        <p:spPr>
          <a:xfrm>
            <a:off x="8796528" y="2670048"/>
            <a:ext cx="2755087" cy="786384"/>
          </a:xfrm>
          <a:prstGeom prst="rect">
            <a:avLst/>
          </a:prstGeom>
          <a:noFill/>
        </p:spPr>
        <p:txBody>
          <a:bodyPr wrap="square" lIns="0" rIns="0" tIns="0" bIns="0" anchor="t">
            <a:spAutoFit/>
          </a:bodyPr>
          <a:lstStyle/>
          <a:p>
            <a:pPr algn="l">
              <a:lnSpc>
                <a:spcPct val="124000"/>
              </a:lnSpc>
              <a:spcAft>
                <a:spcPts val="0"/>
              </a:spcAft>
            </a:pPr>
            <a:r>
              <a:rPr sz="1050" b="0">
                <a:solidFill>
                  <a:srgbClr val="55677C"/>
                </a:solidFill>
                <a:latin typeface="Calibri"/>
              </a:rPr>
              <a:t>De huidige SEH, de kinderspoed en de EHH komen hier samen achter één poort.</a:t>
            </a:r>
          </a:p>
        </p:txBody>
      </p:sp>
      <p:sp>
        <p:nvSpPr>
          <p:cNvPr id="44" name="Freeform 43"/>
          <p:cNvSpPr/>
          <p:nvPr/>
        </p:nvSpPr>
        <p:spPr>
          <a:xfrm>
            <a:off x="7635240" y="4224528"/>
            <a:ext cx="914400" cy="1371600"/>
          </a:xfrm>
          <a:custGeom>
            <a:avLst/>
            <a:gdLst/>
            <a:ahLst/>
            <a:cxnLst/>
            <a:rect l="l" t="t" r="r" b="b"/>
            <a:pathLst>
              <a:path w="914400" h="1371600">
                <a:moveTo>
                  <a:pt x="0" y="0"/>
                </a:moveTo>
                <a:lnTo>
                  <a:pt x="47855" y="1253"/>
                </a:lnTo>
                <a:lnTo>
                  <a:pt x="95580" y="5009"/>
                </a:lnTo>
                <a:lnTo>
                  <a:pt x="143043" y="11257"/>
                </a:lnTo>
                <a:lnTo>
                  <a:pt x="190114" y="19981"/>
                </a:lnTo>
                <a:lnTo>
                  <a:pt x="236664" y="31157"/>
                </a:lnTo>
                <a:lnTo>
                  <a:pt x="282565" y="44753"/>
                </a:lnTo>
                <a:lnTo>
                  <a:pt x="327691" y="60734"/>
                </a:lnTo>
                <a:lnTo>
                  <a:pt x="371919" y="79054"/>
                </a:lnTo>
                <a:lnTo>
                  <a:pt x="415128" y="99663"/>
                </a:lnTo>
                <a:lnTo>
                  <a:pt x="457200" y="122506"/>
                </a:lnTo>
                <a:lnTo>
                  <a:pt x="498017" y="147519"/>
                </a:lnTo>
                <a:lnTo>
                  <a:pt x="537470" y="174634"/>
                </a:lnTo>
                <a:lnTo>
                  <a:pt x="575450" y="203777"/>
                </a:lnTo>
                <a:lnTo>
                  <a:pt x="611853" y="234868"/>
                </a:lnTo>
                <a:lnTo>
                  <a:pt x="646578" y="267821"/>
                </a:lnTo>
                <a:lnTo>
                  <a:pt x="679531" y="302546"/>
                </a:lnTo>
                <a:lnTo>
                  <a:pt x="710622" y="338949"/>
                </a:lnTo>
                <a:lnTo>
                  <a:pt x="739765" y="376929"/>
                </a:lnTo>
                <a:lnTo>
                  <a:pt x="766880" y="416382"/>
                </a:lnTo>
                <a:lnTo>
                  <a:pt x="791893" y="457200"/>
                </a:lnTo>
                <a:lnTo>
                  <a:pt x="814736" y="499271"/>
                </a:lnTo>
                <a:lnTo>
                  <a:pt x="835345" y="542480"/>
                </a:lnTo>
                <a:lnTo>
                  <a:pt x="853665" y="586708"/>
                </a:lnTo>
                <a:lnTo>
                  <a:pt x="869646" y="631834"/>
                </a:lnTo>
                <a:lnTo>
                  <a:pt x="883242" y="677735"/>
                </a:lnTo>
                <a:lnTo>
                  <a:pt x="894418" y="724285"/>
                </a:lnTo>
                <a:lnTo>
                  <a:pt x="903142" y="771356"/>
                </a:lnTo>
                <a:lnTo>
                  <a:pt x="909390" y="818819"/>
                </a:lnTo>
                <a:lnTo>
                  <a:pt x="913146" y="866544"/>
                </a:lnTo>
                <a:lnTo>
                  <a:pt x="914400" y="914400"/>
                </a:lnTo>
                <a:lnTo>
                  <a:pt x="913146" y="962255"/>
                </a:lnTo>
                <a:lnTo>
                  <a:pt x="909390" y="1009980"/>
                </a:lnTo>
                <a:lnTo>
                  <a:pt x="903142" y="1057443"/>
                </a:lnTo>
                <a:lnTo>
                  <a:pt x="894418" y="1104514"/>
                </a:lnTo>
                <a:lnTo>
                  <a:pt x="883242" y="1151064"/>
                </a:lnTo>
                <a:lnTo>
                  <a:pt x="869646" y="1196965"/>
                </a:lnTo>
                <a:lnTo>
                  <a:pt x="853665" y="1242091"/>
                </a:lnTo>
                <a:lnTo>
                  <a:pt x="835345" y="1286319"/>
                </a:lnTo>
                <a:lnTo>
                  <a:pt x="814736" y="1329528"/>
                </a:lnTo>
                <a:lnTo>
                  <a:pt x="791893" y="1371600"/>
                </a:lnTo>
                <a:lnTo>
                  <a:pt x="0" y="914400"/>
                </a:lnTo>
                <a:close/>
              </a:path>
            </a:pathLst>
          </a:custGeom>
          <a:solidFill>
            <a:srgbClr val="106F77"/>
          </a:solidFill>
          <a:ln w="317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253290" y="4789043"/>
            <a:ext cx="1682496" cy="169418"/>
          </a:xfrm>
          <a:prstGeom prst="rect">
            <a:avLst/>
          </a:prstGeom>
          <a:noFill/>
        </p:spPr>
        <p:txBody>
          <a:bodyPr wrap="square" lIns="0" rIns="0" tIns="0" bIns="0" anchor="t">
            <a:spAutoFit/>
          </a:bodyPr>
          <a:lstStyle/>
          <a:p>
            <a:pPr algn="ctr">
              <a:lnSpc>
                <a:spcPct val="116000"/>
              </a:lnSpc>
              <a:spcAft>
                <a:spcPts val="0"/>
              </a:spcAft>
            </a:pPr>
            <a:r>
              <a:rPr sz="1150" b="1">
                <a:solidFill>
                  <a:srgbClr val="FFFFFF"/>
                </a:solidFill>
                <a:latin typeface="Calibri"/>
              </a:rPr>
              <a:t>IC</a:t>
            </a:r>
          </a:p>
        </p:txBody>
      </p:sp>
      <p:sp>
        <p:nvSpPr>
          <p:cNvPr id="46" name="Freeform 45"/>
          <p:cNvSpPr/>
          <p:nvPr/>
        </p:nvSpPr>
        <p:spPr>
          <a:xfrm>
            <a:off x="6843346" y="5138928"/>
            <a:ext cx="1583787" cy="914400"/>
          </a:xfrm>
          <a:custGeom>
            <a:avLst/>
            <a:gdLst/>
            <a:ahLst/>
            <a:cxnLst/>
            <a:rect l="l" t="t" r="r" b="b"/>
            <a:pathLst>
              <a:path w="1583787" h="914400">
                <a:moveTo>
                  <a:pt x="1583787" y="457200"/>
                </a:moveTo>
                <a:lnTo>
                  <a:pt x="1558774" y="498017"/>
                </a:lnTo>
                <a:lnTo>
                  <a:pt x="1531659" y="537470"/>
                </a:lnTo>
                <a:lnTo>
                  <a:pt x="1502516" y="575450"/>
                </a:lnTo>
                <a:lnTo>
                  <a:pt x="1471425" y="611853"/>
                </a:lnTo>
                <a:lnTo>
                  <a:pt x="1438472" y="646578"/>
                </a:lnTo>
                <a:lnTo>
                  <a:pt x="1403747" y="679531"/>
                </a:lnTo>
                <a:lnTo>
                  <a:pt x="1367344" y="710622"/>
                </a:lnTo>
                <a:lnTo>
                  <a:pt x="1329364" y="739765"/>
                </a:lnTo>
                <a:lnTo>
                  <a:pt x="1289911" y="766880"/>
                </a:lnTo>
                <a:lnTo>
                  <a:pt x="1249094" y="791893"/>
                </a:lnTo>
                <a:lnTo>
                  <a:pt x="1207022" y="814736"/>
                </a:lnTo>
                <a:lnTo>
                  <a:pt x="1163813" y="835345"/>
                </a:lnTo>
                <a:lnTo>
                  <a:pt x="1119585" y="853665"/>
                </a:lnTo>
                <a:lnTo>
                  <a:pt x="1074459" y="869646"/>
                </a:lnTo>
                <a:lnTo>
                  <a:pt x="1028558" y="883242"/>
                </a:lnTo>
                <a:lnTo>
                  <a:pt x="982008" y="894418"/>
                </a:lnTo>
                <a:lnTo>
                  <a:pt x="934937" y="903142"/>
                </a:lnTo>
                <a:lnTo>
                  <a:pt x="887474" y="909390"/>
                </a:lnTo>
                <a:lnTo>
                  <a:pt x="839749" y="913146"/>
                </a:lnTo>
                <a:lnTo>
                  <a:pt x="791894" y="914400"/>
                </a:lnTo>
                <a:lnTo>
                  <a:pt x="744038" y="913146"/>
                </a:lnTo>
                <a:lnTo>
                  <a:pt x="696313" y="909390"/>
                </a:lnTo>
                <a:lnTo>
                  <a:pt x="648850" y="903142"/>
                </a:lnTo>
                <a:lnTo>
                  <a:pt x="601779" y="894418"/>
                </a:lnTo>
                <a:lnTo>
                  <a:pt x="555229" y="883242"/>
                </a:lnTo>
                <a:lnTo>
                  <a:pt x="509328" y="869646"/>
                </a:lnTo>
                <a:lnTo>
                  <a:pt x="464202" y="853665"/>
                </a:lnTo>
                <a:lnTo>
                  <a:pt x="419974" y="835345"/>
                </a:lnTo>
                <a:lnTo>
                  <a:pt x="376765" y="814736"/>
                </a:lnTo>
                <a:lnTo>
                  <a:pt x="334694" y="791893"/>
                </a:lnTo>
                <a:lnTo>
                  <a:pt x="293876" y="766880"/>
                </a:lnTo>
                <a:lnTo>
                  <a:pt x="254423" y="739765"/>
                </a:lnTo>
                <a:lnTo>
                  <a:pt x="216443" y="710622"/>
                </a:lnTo>
                <a:lnTo>
                  <a:pt x="180040" y="679531"/>
                </a:lnTo>
                <a:lnTo>
                  <a:pt x="145315" y="646578"/>
                </a:lnTo>
                <a:lnTo>
                  <a:pt x="112362" y="611853"/>
                </a:lnTo>
                <a:lnTo>
                  <a:pt x="81271" y="575450"/>
                </a:lnTo>
                <a:lnTo>
                  <a:pt x="52128" y="537470"/>
                </a:lnTo>
                <a:lnTo>
                  <a:pt x="25013" y="498017"/>
                </a:lnTo>
                <a:lnTo>
                  <a:pt x="0" y="457200"/>
                </a:lnTo>
                <a:lnTo>
                  <a:pt x="791894" y="0"/>
                </a:lnTo>
                <a:close/>
              </a:path>
            </a:pathLst>
          </a:custGeom>
          <a:solidFill>
            <a:srgbClr val="0E9A87"/>
          </a:solidFill>
          <a:ln w="317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793992" y="5584571"/>
            <a:ext cx="1682496" cy="169418"/>
          </a:xfrm>
          <a:prstGeom prst="rect">
            <a:avLst/>
          </a:prstGeom>
          <a:noFill/>
        </p:spPr>
        <p:txBody>
          <a:bodyPr wrap="square" lIns="0" rIns="0" tIns="0" bIns="0" anchor="t">
            <a:spAutoFit/>
          </a:bodyPr>
          <a:lstStyle/>
          <a:p>
            <a:pPr algn="ctr">
              <a:lnSpc>
                <a:spcPct val="116000"/>
              </a:lnSpc>
              <a:spcAft>
                <a:spcPts val="0"/>
              </a:spcAft>
            </a:pPr>
            <a:r>
              <a:rPr sz="1150" b="1">
                <a:solidFill>
                  <a:srgbClr val="FFFFFF"/>
                </a:solidFill>
                <a:latin typeface="Calibri"/>
              </a:rPr>
              <a:t>CCU</a:t>
            </a:r>
          </a:p>
        </p:txBody>
      </p:sp>
      <p:sp>
        <p:nvSpPr>
          <p:cNvPr id="48" name="Freeform 47"/>
          <p:cNvSpPr/>
          <p:nvPr/>
        </p:nvSpPr>
        <p:spPr>
          <a:xfrm>
            <a:off x="6720840" y="4224528"/>
            <a:ext cx="914400" cy="1371600"/>
          </a:xfrm>
          <a:custGeom>
            <a:avLst/>
            <a:gdLst/>
            <a:ahLst/>
            <a:cxnLst/>
            <a:rect l="l" t="t" r="r" b="b"/>
            <a:pathLst>
              <a:path w="914400" h="1371600">
                <a:moveTo>
                  <a:pt x="122506" y="1371600"/>
                </a:moveTo>
                <a:lnTo>
                  <a:pt x="99663" y="1329528"/>
                </a:lnTo>
                <a:lnTo>
                  <a:pt x="79054" y="1286319"/>
                </a:lnTo>
                <a:lnTo>
                  <a:pt x="60734" y="1242091"/>
                </a:lnTo>
                <a:lnTo>
                  <a:pt x="44753" y="1196965"/>
                </a:lnTo>
                <a:lnTo>
                  <a:pt x="31157" y="1151064"/>
                </a:lnTo>
                <a:lnTo>
                  <a:pt x="19981" y="1104514"/>
                </a:lnTo>
                <a:lnTo>
                  <a:pt x="11257" y="1057443"/>
                </a:lnTo>
                <a:lnTo>
                  <a:pt x="5009" y="1009980"/>
                </a:lnTo>
                <a:lnTo>
                  <a:pt x="1253" y="962255"/>
                </a:lnTo>
                <a:lnTo>
                  <a:pt x="0" y="914400"/>
                </a:lnTo>
                <a:lnTo>
                  <a:pt x="1253" y="866544"/>
                </a:lnTo>
                <a:lnTo>
                  <a:pt x="5009" y="818819"/>
                </a:lnTo>
                <a:lnTo>
                  <a:pt x="11257" y="771356"/>
                </a:lnTo>
                <a:lnTo>
                  <a:pt x="19981" y="724285"/>
                </a:lnTo>
                <a:lnTo>
                  <a:pt x="31157" y="677735"/>
                </a:lnTo>
                <a:lnTo>
                  <a:pt x="44753" y="631834"/>
                </a:lnTo>
                <a:lnTo>
                  <a:pt x="60734" y="586708"/>
                </a:lnTo>
                <a:lnTo>
                  <a:pt x="79054" y="542480"/>
                </a:lnTo>
                <a:lnTo>
                  <a:pt x="99663" y="499271"/>
                </a:lnTo>
                <a:lnTo>
                  <a:pt x="122506" y="457200"/>
                </a:lnTo>
                <a:lnTo>
                  <a:pt x="147519" y="416382"/>
                </a:lnTo>
                <a:lnTo>
                  <a:pt x="174634" y="376929"/>
                </a:lnTo>
                <a:lnTo>
                  <a:pt x="203777" y="338949"/>
                </a:lnTo>
                <a:lnTo>
                  <a:pt x="234868" y="302546"/>
                </a:lnTo>
                <a:lnTo>
                  <a:pt x="267821" y="267821"/>
                </a:lnTo>
                <a:lnTo>
                  <a:pt x="302546" y="234868"/>
                </a:lnTo>
                <a:lnTo>
                  <a:pt x="338949" y="203777"/>
                </a:lnTo>
                <a:lnTo>
                  <a:pt x="376929" y="174634"/>
                </a:lnTo>
                <a:lnTo>
                  <a:pt x="416382" y="147519"/>
                </a:lnTo>
                <a:lnTo>
                  <a:pt x="457200" y="122506"/>
                </a:lnTo>
                <a:lnTo>
                  <a:pt x="499271" y="99663"/>
                </a:lnTo>
                <a:lnTo>
                  <a:pt x="542480" y="79054"/>
                </a:lnTo>
                <a:lnTo>
                  <a:pt x="586708" y="60734"/>
                </a:lnTo>
                <a:lnTo>
                  <a:pt x="631834" y="44753"/>
                </a:lnTo>
                <a:lnTo>
                  <a:pt x="677735" y="31157"/>
                </a:lnTo>
                <a:lnTo>
                  <a:pt x="724285" y="19981"/>
                </a:lnTo>
                <a:lnTo>
                  <a:pt x="771356" y="11257"/>
                </a:lnTo>
                <a:lnTo>
                  <a:pt x="818819" y="5009"/>
                </a:lnTo>
                <a:lnTo>
                  <a:pt x="866544" y="1253"/>
                </a:lnTo>
                <a:lnTo>
                  <a:pt x="914400" y="0"/>
                </a:lnTo>
                <a:lnTo>
                  <a:pt x="914400" y="914400"/>
                </a:lnTo>
                <a:close/>
              </a:path>
            </a:pathLst>
          </a:custGeom>
          <a:solidFill>
            <a:srgbClr val="0E766D"/>
          </a:solidFill>
          <a:ln w="317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334693" y="4789043"/>
            <a:ext cx="1682496" cy="169418"/>
          </a:xfrm>
          <a:prstGeom prst="rect">
            <a:avLst/>
          </a:prstGeom>
          <a:noFill/>
        </p:spPr>
        <p:txBody>
          <a:bodyPr wrap="square" lIns="0" rIns="0" tIns="0" bIns="0" anchor="t">
            <a:spAutoFit/>
          </a:bodyPr>
          <a:lstStyle/>
          <a:p>
            <a:pPr algn="ctr">
              <a:lnSpc>
                <a:spcPct val="116000"/>
              </a:lnSpc>
              <a:spcAft>
                <a:spcPts val="0"/>
              </a:spcAft>
            </a:pPr>
            <a:r>
              <a:rPr sz="1150" b="1">
                <a:solidFill>
                  <a:srgbClr val="FFFFFF"/>
                </a:solidFill>
                <a:latin typeface="Calibri"/>
              </a:rPr>
              <a:t>SCU</a:t>
            </a:r>
          </a:p>
        </p:txBody>
      </p:sp>
      <p:sp>
        <p:nvSpPr>
          <p:cNvPr id="50" name="Oval 49"/>
          <p:cNvSpPr/>
          <p:nvPr/>
        </p:nvSpPr>
        <p:spPr>
          <a:xfrm>
            <a:off x="6720840" y="4224528"/>
            <a:ext cx="1828800" cy="1828800"/>
          </a:xfrm>
          <a:prstGeom prst="ellipse">
            <a:avLst/>
          </a:prstGeom>
          <a:noFill/>
          <a:ln w="508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TextBox 50"/>
          <p:cNvSpPr txBox="1"/>
          <p:nvPr/>
        </p:nvSpPr>
        <p:spPr>
          <a:xfrm>
            <a:off x="8796528" y="4572000"/>
            <a:ext cx="2755087" cy="310896"/>
          </a:xfrm>
          <a:prstGeom prst="rect">
            <a:avLst/>
          </a:prstGeom>
          <a:noFill/>
        </p:spPr>
        <p:txBody>
          <a:bodyPr wrap="square" lIns="0" rIns="0" tIns="0" bIns="0" anchor="t">
            <a:spAutoFit/>
          </a:bodyPr>
          <a:lstStyle/>
          <a:p>
            <a:pPr algn="l">
              <a:lnSpc>
                <a:spcPct val="120000"/>
              </a:lnSpc>
              <a:spcAft>
                <a:spcPts val="0"/>
              </a:spcAft>
            </a:pPr>
            <a:r>
              <a:rPr sz="1600" b="1">
                <a:solidFill>
                  <a:srgbClr val="0D1B2A"/>
                </a:solidFill>
                <a:latin typeface="Calibri"/>
              </a:rPr>
              <a:t>De Hotfloor</a:t>
            </a:r>
          </a:p>
        </p:txBody>
      </p:sp>
      <p:sp>
        <p:nvSpPr>
          <p:cNvPr id="52" name="TextBox 51"/>
          <p:cNvSpPr txBox="1"/>
          <p:nvPr/>
        </p:nvSpPr>
        <p:spPr>
          <a:xfrm>
            <a:off x="8796528" y="4956048"/>
            <a:ext cx="2755087" cy="786384"/>
          </a:xfrm>
          <a:prstGeom prst="rect">
            <a:avLst/>
          </a:prstGeom>
          <a:noFill/>
        </p:spPr>
        <p:txBody>
          <a:bodyPr wrap="square" lIns="0" rIns="0" tIns="0" bIns="0" anchor="t">
            <a:spAutoFit/>
          </a:bodyPr>
          <a:lstStyle/>
          <a:p>
            <a:pPr algn="l">
              <a:lnSpc>
                <a:spcPct val="124000"/>
              </a:lnSpc>
              <a:spcAft>
                <a:spcPts val="0"/>
              </a:spcAft>
            </a:pPr>
            <a:r>
              <a:rPr sz="1050" b="0">
                <a:solidFill>
                  <a:srgbClr val="55677C"/>
                </a:solidFill>
                <a:latin typeface="Calibri"/>
              </a:rPr>
              <a:t>De IC smelt samen met de CCU en de SCU tot één cluster voor bewakingszorg.</a:t>
            </a:r>
          </a:p>
        </p:txBody>
      </p:sp>
      <p:sp>
        <p:nvSpPr>
          <p:cNvPr id="53" name="Freeform 52"/>
          <p:cNvSpPr/>
          <p:nvPr/>
        </p:nvSpPr>
        <p:spPr>
          <a:xfrm>
            <a:off x="4361688" y="2432304"/>
            <a:ext cx="2212848" cy="182880"/>
          </a:xfrm>
          <a:custGeom>
            <a:avLst/>
            <a:gdLst/>
            <a:ahLst/>
            <a:cxnLst/>
            <a:rect l="l" t="t" r="r" b="b"/>
            <a:pathLst>
              <a:path w="2212848" h="182880">
                <a:moveTo>
                  <a:pt x="0" y="182880"/>
                </a:moveTo>
                <a:lnTo>
                  <a:pt x="50292" y="182600"/>
                </a:lnTo>
                <a:lnTo>
                  <a:pt x="100584" y="181780"/>
                </a:lnTo>
                <a:lnTo>
                  <a:pt x="150876" y="180445"/>
                </a:lnTo>
                <a:lnTo>
                  <a:pt x="201168" y="178620"/>
                </a:lnTo>
                <a:lnTo>
                  <a:pt x="251460" y="176332"/>
                </a:lnTo>
                <a:lnTo>
                  <a:pt x="301752" y="173605"/>
                </a:lnTo>
                <a:lnTo>
                  <a:pt x="352044" y="170466"/>
                </a:lnTo>
                <a:lnTo>
                  <a:pt x="402336" y="166941"/>
                </a:lnTo>
                <a:lnTo>
                  <a:pt x="452628" y="163055"/>
                </a:lnTo>
                <a:lnTo>
                  <a:pt x="502920" y="158834"/>
                </a:lnTo>
                <a:lnTo>
                  <a:pt x="553212" y="154305"/>
                </a:lnTo>
                <a:lnTo>
                  <a:pt x="603504" y="149491"/>
                </a:lnTo>
                <a:lnTo>
                  <a:pt x="653796" y="144420"/>
                </a:lnTo>
                <a:lnTo>
                  <a:pt x="704088" y="139117"/>
                </a:lnTo>
                <a:lnTo>
                  <a:pt x="754380" y="133609"/>
                </a:lnTo>
                <a:lnTo>
                  <a:pt x="804672" y="127919"/>
                </a:lnTo>
                <a:lnTo>
                  <a:pt x="854964" y="122076"/>
                </a:lnTo>
                <a:lnTo>
                  <a:pt x="905256" y="116103"/>
                </a:lnTo>
                <a:lnTo>
                  <a:pt x="955548" y="110027"/>
                </a:lnTo>
                <a:lnTo>
                  <a:pt x="1005840" y="103874"/>
                </a:lnTo>
                <a:lnTo>
                  <a:pt x="1056132" y="97670"/>
                </a:lnTo>
                <a:lnTo>
                  <a:pt x="1106424" y="91440"/>
                </a:lnTo>
                <a:lnTo>
                  <a:pt x="1156716" y="85209"/>
                </a:lnTo>
                <a:lnTo>
                  <a:pt x="1207008" y="79005"/>
                </a:lnTo>
                <a:lnTo>
                  <a:pt x="1257300" y="72852"/>
                </a:lnTo>
                <a:lnTo>
                  <a:pt x="1307592" y="66776"/>
                </a:lnTo>
                <a:lnTo>
                  <a:pt x="1357884" y="60803"/>
                </a:lnTo>
                <a:lnTo>
                  <a:pt x="1408176" y="54960"/>
                </a:lnTo>
                <a:lnTo>
                  <a:pt x="1458468" y="49270"/>
                </a:lnTo>
                <a:lnTo>
                  <a:pt x="1508760" y="43762"/>
                </a:lnTo>
                <a:lnTo>
                  <a:pt x="1559052" y="38459"/>
                </a:lnTo>
                <a:lnTo>
                  <a:pt x="1609343" y="33388"/>
                </a:lnTo>
                <a:lnTo>
                  <a:pt x="1659636" y="28575"/>
                </a:lnTo>
                <a:lnTo>
                  <a:pt x="1709928" y="24045"/>
                </a:lnTo>
                <a:lnTo>
                  <a:pt x="1760219" y="19824"/>
                </a:lnTo>
                <a:lnTo>
                  <a:pt x="1810512" y="15938"/>
                </a:lnTo>
                <a:lnTo>
                  <a:pt x="1860804" y="12413"/>
                </a:lnTo>
                <a:lnTo>
                  <a:pt x="1911095" y="9274"/>
                </a:lnTo>
                <a:lnTo>
                  <a:pt x="1961387" y="6547"/>
                </a:lnTo>
                <a:lnTo>
                  <a:pt x="2011679" y="4259"/>
                </a:lnTo>
                <a:lnTo>
                  <a:pt x="2061971" y="2434"/>
                </a:lnTo>
                <a:lnTo>
                  <a:pt x="2112264" y="1099"/>
                </a:lnTo>
                <a:lnTo>
                  <a:pt x="2162556" y="279"/>
                </a:lnTo>
                <a:lnTo>
                  <a:pt x="2212848" y="0"/>
                </a:lnTo>
              </a:path>
            </a:pathLst>
          </a:custGeom>
          <a:noFill/>
          <a:ln w="57150">
            <a:solidFill>
              <a:srgbClr val="1F6FB2">
                <a:alpha val="7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Oval 53"/>
          <p:cNvSpPr/>
          <p:nvPr/>
        </p:nvSpPr>
        <p:spPr>
          <a:xfrm>
            <a:off x="4288536" y="2542032"/>
            <a:ext cx="146304" cy="146304"/>
          </a:xfrm>
          <a:prstGeom prst="ellipse">
            <a:avLst/>
          </a:prstGeom>
          <a:solidFill>
            <a:srgbClr val="1F6FB2"/>
          </a:solid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Oval 54"/>
          <p:cNvSpPr/>
          <p:nvPr/>
        </p:nvSpPr>
        <p:spPr>
          <a:xfrm>
            <a:off x="6501383" y="2359152"/>
            <a:ext cx="146304" cy="146304"/>
          </a:xfrm>
          <a:prstGeom prst="ellipse">
            <a:avLst/>
          </a:prstGeom>
          <a:solidFill>
            <a:srgbClr val="1F6FB2"/>
          </a:solid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Freeform 55"/>
          <p:cNvSpPr/>
          <p:nvPr/>
        </p:nvSpPr>
        <p:spPr>
          <a:xfrm>
            <a:off x="4361688" y="2724912"/>
            <a:ext cx="2212848" cy="128016"/>
          </a:xfrm>
          <a:custGeom>
            <a:avLst/>
            <a:gdLst/>
            <a:ahLst/>
            <a:cxnLst/>
            <a:rect l="l" t="t" r="r" b="b"/>
            <a:pathLst>
              <a:path w="2212848" h="128016">
                <a:moveTo>
                  <a:pt x="0" y="128016"/>
                </a:moveTo>
                <a:lnTo>
                  <a:pt x="50292" y="127820"/>
                </a:lnTo>
                <a:lnTo>
                  <a:pt x="100584" y="127246"/>
                </a:lnTo>
                <a:lnTo>
                  <a:pt x="150876" y="126311"/>
                </a:lnTo>
                <a:lnTo>
                  <a:pt x="201168" y="125034"/>
                </a:lnTo>
                <a:lnTo>
                  <a:pt x="251460" y="123432"/>
                </a:lnTo>
                <a:lnTo>
                  <a:pt x="301752" y="121523"/>
                </a:lnTo>
                <a:lnTo>
                  <a:pt x="352044" y="119326"/>
                </a:lnTo>
                <a:lnTo>
                  <a:pt x="402336" y="116859"/>
                </a:lnTo>
                <a:lnTo>
                  <a:pt x="452628" y="114138"/>
                </a:lnTo>
                <a:lnTo>
                  <a:pt x="502920" y="111184"/>
                </a:lnTo>
                <a:lnTo>
                  <a:pt x="553212" y="108013"/>
                </a:lnTo>
                <a:lnTo>
                  <a:pt x="603504" y="104644"/>
                </a:lnTo>
                <a:lnTo>
                  <a:pt x="653796" y="101094"/>
                </a:lnTo>
                <a:lnTo>
                  <a:pt x="704088" y="97382"/>
                </a:lnTo>
                <a:lnTo>
                  <a:pt x="754380" y="93526"/>
                </a:lnTo>
                <a:lnTo>
                  <a:pt x="804672" y="89543"/>
                </a:lnTo>
                <a:lnTo>
                  <a:pt x="854964" y="85453"/>
                </a:lnTo>
                <a:lnTo>
                  <a:pt x="905256" y="81272"/>
                </a:lnTo>
                <a:lnTo>
                  <a:pt x="955548" y="77019"/>
                </a:lnTo>
                <a:lnTo>
                  <a:pt x="1005840" y="72712"/>
                </a:lnTo>
                <a:lnTo>
                  <a:pt x="1056132" y="68369"/>
                </a:lnTo>
                <a:lnTo>
                  <a:pt x="1106424" y="64008"/>
                </a:lnTo>
                <a:lnTo>
                  <a:pt x="1156716" y="59646"/>
                </a:lnTo>
                <a:lnTo>
                  <a:pt x="1207008" y="55303"/>
                </a:lnTo>
                <a:lnTo>
                  <a:pt x="1257300" y="50996"/>
                </a:lnTo>
                <a:lnTo>
                  <a:pt x="1307592" y="46743"/>
                </a:lnTo>
                <a:lnTo>
                  <a:pt x="1357884" y="42562"/>
                </a:lnTo>
                <a:lnTo>
                  <a:pt x="1408176" y="38472"/>
                </a:lnTo>
                <a:lnTo>
                  <a:pt x="1458468" y="34489"/>
                </a:lnTo>
                <a:lnTo>
                  <a:pt x="1508760" y="30633"/>
                </a:lnTo>
                <a:lnTo>
                  <a:pt x="1559052" y="26921"/>
                </a:lnTo>
                <a:lnTo>
                  <a:pt x="1609343" y="23371"/>
                </a:lnTo>
                <a:lnTo>
                  <a:pt x="1659636" y="20002"/>
                </a:lnTo>
                <a:lnTo>
                  <a:pt x="1709928" y="16831"/>
                </a:lnTo>
                <a:lnTo>
                  <a:pt x="1760219" y="13877"/>
                </a:lnTo>
                <a:lnTo>
                  <a:pt x="1810512" y="11156"/>
                </a:lnTo>
                <a:lnTo>
                  <a:pt x="1860804" y="8689"/>
                </a:lnTo>
                <a:lnTo>
                  <a:pt x="1911095" y="6492"/>
                </a:lnTo>
                <a:lnTo>
                  <a:pt x="1961387" y="4583"/>
                </a:lnTo>
                <a:lnTo>
                  <a:pt x="2011679" y="2981"/>
                </a:lnTo>
                <a:lnTo>
                  <a:pt x="2061971" y="1704"/>
                </a:lnTo>
                <a:lnTo>
                  <a:pt x="2112264" y="769"/>
                </a:lnTo>
                <a:lnTo>
                  <a:pt x="2162556" y="195"/>
                </a:lnTo>
                <a:lnTo>
                  <a:pt x="2212848" y="0"/>
                </a:lnTo>
              </a:path>
            </a:pathLst>
          </a:custGeom>
          <a:noFill/>
          <a:ln w="57150">
            <a:solidFill>
              <a:srgbClr val="1F6FB2">
                <a:alpha val="7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Oval 56"/>
          <p:cNvSpPr/>
          <p:nvPr/>
        </p:nvSpPr>
        <p:spPr>
          <a:xfrm>
            <a:off x="4288536" y="2779776"/>
            <a:ext cx="146304" cy="146304"/>
          </a:xfrm>
          <a:prstGeom prst="ellipse">
            <a:avLst/>
          </a:prstGeom>
          <a:solidFill>
            <a:srgbClr val="1F6FB2"/>
          </a:solid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8" name="Oval 57"/>
          <p:cNvSpPr/>
          <p:nvPr/>
        </p:nvSpPr>
        <p:spPr>
          <a:xfrm>
            <a:off x="6501383" y="2651760"/>
            <a:ext cx="146304" cy="146304"/>
          </a:xfrm>
          <a:prstGeom prst="ellipse">
            <a:avLst/>
          </a:prstGeom>
          <a:solidFill>
            <a:srgbClr val="1F6FB2"/>
          </a:solid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9" name="Freeform 58"/>
          <p:cNvSpPr/>
          <p:nvPr/>
        </p:nvSpPr>
        <p:spPr>
          <a:xfrm>
            <a:off x="4361688" y="3054096"/>
            <a:ext cx="2212848" cy="1170432"/>
          </a:xfrm>
          <a:custGeom>
            <a:avLst/>
            <a:gdLst/>
            <a:ahLst/>
            <a:cxnLst/>
            <a:rect l="l" t="t" r="r" b="b"/>
            <a:pathLst>
              <a:path w="2212848" h="1170432">
                <a:moveTo>
                  <a:pt x="0" y="1170432"/>
                </a:moveTo>
                <a:lnTo>
                  <a:pt x="50292" y="1168645"/>
                </a:lnTo>
                <a:lnTo>
                  <a:pt x="100584" y="1163397"/>
                </a:lnTo>
                <a:lnTo>
                  <a:pt x="150876" y="1154850"/>
                </a:lnTo>
                <a:lnTo>
                  <a:pt x="201168" y="1143171"/>
                </a:lnTo>
                <a:lnTo>
                  <a:pt x="251460" y="1128524"/>
                </a:lnTo>
                <a:lnTo>
                  <a:pt x="301752" y="1111075"/>
                </a:lnTo>
                <a:lnTo>
                  <a:pt x="352044" y="1090987"/>
                </a:lnTo>
                <a:lnTo>
                  <a:pt x="402336" y="1068425"/>
                </a:lnTo>
                <a:lnTo>
                  <a:pt x="452628" y="1043556"/>
                </a:lnTo>
                <a:lnTo>
                  <a:pt x="502920" y="1016543"/>
                </a:lnTo>
                <a:lnTo>
                  <a:pt x="553212" y="987552"/>
                </a:lnTo>
                <a:lnTo>
                  <a:pt x="603504" y="956746"/>
                </a:lnTo>
                <a:lnTo>
                  <a:pt x="653796" y="924292"/>
                </a:lnTo>
                <a:lnTo>
                  <a:pt x="704088" y="890354"/>
                </a:lnTo>
                <a:lnTo>
                  <a:pt x="754380" y="855097"/>
                </a:lnTo>
                <a:lnTo>
                  <a:pt x="804672" y="818686"/>
                </a:lnTo>
                <a:lnTo>
                  <a:pt x="854964" y="781286"/>
                </a:lnTo>
                <a:lnTo>
                  <a:pt x="905256" y="743061"/>
                </a:lnTo>
                <a:lnTo>
                  <a:pt x="955548" y="704177"/>
                </a:lnTo>
                <a:lnTo>
                  <a:pt x="1005840" y="664798"/>
                </a:lnTo>
                <a:lnTo>
                  <a:pt x="1056132" y="625089"/>
                </a:lnTo>
                <a:lnTo>
                  <a:pt x="1106424" y="585216"/>
                </a:lnTo>
                <a:lnTo>
                  <a:pt x="1156716" y="545342"/>
                </a:lnTo>
                <a:lnTo>
                  <a:pt x="1207008" y="505633"/>
                </a:lnTo>
                <a:lnTo>
                  <a:pt x="1257300" y="466254"/>
                </a:lnTo>
                <a:lnTo>
                  <a:pt x="1307592" y="427370"/>
                </a:lnTo>
                <a:lnTo>
                  <a:pt x="1357884" y="389145"/>
                </a:lnTo>
                <a:lnTo>
                  <a:pt x="1408176" y="351745"/>
                </a:lnTo>
                <a:lnTo>
                  <a:pt x="1458468" y="315334"/>
                </a:lnTo>
                <a:lnTo>
                  <a:pt x="1508760" y="280077"/>
                </a:lnTo>
                <a:lnTo>
                  <a:pt x="1559052" y="246139"/>
                </a:lnTo>
                <a:lnTo>
                  <a:pt x="1609343" y="213685"/>
                </a:lnTo>
                <a:lnTo>
                  <a:pt x="1659636" y="182880"/>
                </a:lnTo>
                <a:lnTo>
                  <a:pt x="1709928" y="153888"/>
                </a:lnTo>
                <a:lnTo>
                  <a:pt x="1760219" y="126875"/>
                </a:lnTo>
                <a:lnTo>
                  <a:pt x="1810512" y="102006"/>
                </a:lnTo>
                <a:lnTo>
                  <a:pt x="1860804" y="79444"/>
                </a:lnTo>
                <a:lnTo>
                  <a:pt x="1911095" y="59356"/>
                </a:lnTo>
                <a:lnTo>
                  <a:pt x="1961387" y="41907"/>
                </a:lnTo>
                <a:lnTo>
                  <a:pt x="2011679" y="27260"/>
                </a:lnTo>
                <a:lnTo>
                  <a:pt x="2061971" y="15581"/>
                </a:lnTo>
                <a:lnTo>
                  <a:pt x="2112264" y="7034"/>
                </a:lnTo>
                <a:lnTo>
                  <a:pt x="2162556" y="1786"/>
                </a:lnTo>
                <a:lnTo>
                  <a:pt x="2212848" y="0"/>
                </a:lnTo>
              </a:path>
            </a:pathLst>
          </a:custGeom>
          <a:noFill/>
          <a:ln w="57150">
            <a:solidFill>
              <a:srgbClr val="1F6FB2">
                <a:alpha val="7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Oval 59"/>
          <p:cNvSpPr/>
          <p:nvPr/>
        </p:nvSpPr>
        <p:spPr>
          <a:xfrm>
            <a:off x="4288536" y="4151376"/>
            <a:ext cx="146304" cy="146304"/>
          </a:xfrm>
          <a:prstGeom prst="ellipse">
            <a:avLst/>
          </a:prstGeom>
          <a:solidFill>
            <a:srgbClr val="1F6FB2"/>
          </a:solid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1" name="Oval 60"/>
          <p:cNvSpPr/>
          <p:nvPr/>
        </p:nvSpPr>
        <p:spPr>
          <a:xfrm>
            <a:off x="6501383" y="2980944"/>
            <a:ext cx="146304" cy="146304"/>
          </a:xfrm>
          <a:prstGeom prst="ellipse">
            <a:avLst/>
          </a:prstGeom>
          <a:solidFill>
            <a:srgbClr val="1F6FB2"/>
          </a:solid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2" name="Freeform 61"/>
          <p:cNvSpPr/>
          <p:nvPr/>
        </p:nvSpPr>
        <p:spPr>
          <a:xfrm>
            <a:off x="4361688" y="3931920"/>
            <a:ext cx="2212848" cy="822960"/>
          </a:xfrm>
          <a:custGeom>
            <a:avLst/>
            <a:gdLst/>
            <a:ahLst/>
            <a:cxnLst/>
            <a:rect l="l" t="t" r="r" b="b"/>
            <a:pathLst>
              <a:path w="2212848" h="822960">
                <a:moveTo>
                  <a:pt x="0" y="0"/>
                </a:moveTo>
                <a:lnTo>
                  <a:pt x="50292" y="1255"/>
                </a:lnTo>
                <a:lnTo>
                  <a:pt x="100584" y="4946"/>
                </a:lnTo>
                <a:lnTo>
                  <a:pt x="150876" y="10955"/>
                </a:lnTo>
                <a:lnTo>
                  <a:pt x="201168" y="19167"/>
                </a:lnTo>
                <a:lnTo>
                  <a:pt x="251460" y="29465"/>
                </a:lnTo>
                <a:lnTo>
                  <a:pt x="301752" y="41735"/>
                </a:lnTo>
                <a:lnTo>
                  <a:pt x="352044" y="55859"/>
                </a:lnTo>
                <a:lnTo>
                  <a:pt x="402336" y="71723"/>
                </a:lnTo>
                <a:lnTo>
                  <a:pt x="452628" y="89209"/>
                </a:lnTo>
                <a:lnTo>
                  <a:pt x="502920" y="108202"/>
                </a:lnTo>
                <a:lnTo>
                  <a:pt x="553212" y="128587"/>
                </a:lnTo>
                <a:lnTo>
                  <a:pt x="603504" y="150247"/>
                </a:lnTo>
                <a:lnTo>
                  <a:pt x="653796" y="173066"/>
                </a:lnTo>
                <a:lnTo>
                  <a:pt x="704088" y="196929"/>
                </a:lnTo>
                <a:lnTo>
                  <a:pt x="754380" y="221719"/>
                </a:lnTo>
                <a:lnTo>
                  <a:pt x="804672" y="247320"/>
                </a:lnTo>
                <a:lnTo>
                  <a:pt x="854964" y="273617"/>
                </a:lnTo>
                <a:lnTo>
                  <a:pt x="905256" y="300494"/>
                </a:lnTo>
                <a:lnTo>
                  <a:pt x="955548" y="327835"/>
                </a:lnTo>
                <a:lnTo>
                  <a:pt x="1005840" y="355523"/>
                </a:lnTo>
                <a:lnTo>
                  <a:pt x="1056132" y="383443"/>
                </a:lnTo>
                <a:lnTo>
                  <a:pt x="1106424" y="411480"/>
                </a:lnTo>
                <a:lnTo>
                  <a:pt x="1156716" y="439516"/>
                </a:lnTo>
                <a:lnTo>
                  <a:pt x="1207008" y="467436"/>
                </a:lnTo>
                <a:lnTo>
                  <a:pt x="1257300" y="495124"/>
                </a:lnTo>
                <a:lnTo>
                  <a:pt x="1307592" y="522465"/>
                </a:lnTo>
                <a:lnTo>
                  <a:pt x="1357884" y="549342"/>
                </a:lnTo>
                <a:lnTo>
                  <a:pt x="1408176" y="575639"/>
                </a:lnTo>
                <a:lnTo>
                  <a:pt x="1458468" y="601240"/>
                </a:lnTo>
                <a:lnTo>
                  <a:pt x="1508760" y="626030"/>
                </a:lnTo>
                <a:lnTo>
                  <a:pt x="1559052" y="649893"/>
                </a:lnTo>
                <a:lnTo>
                  <a:pt x="1609343" y="672712"/>
                </a:lnTo>
                <a:lnTo>
                  <a:pt x="1659636" y="694372"/>
                </a:lnTo>
                <a:lnTo>
                  <a:pt x="1709928" y="714757"/>
                </a:lnTo>
                <a:lnTo>
                  <a:pt x="1760219" y="733750"/>
                </a:lnTo>
                <a:lnTo>
                  <a:pt x="1810512" y="751236"/>
                </a:lnTo>
                <a:lnTo>
                  <a:pt x="1860804" y="767100"/>
                </a:lnTo>
                <a:lnTo>
                  <a:pt x="1911095" y="781224"/>
                </a:lnTo>
                <a:lnTo>
                  <a:pt x="1961387" y="793494"/>
                </a:lnTo>
                <a:lnTo>
                  <a:pt x="2011679" y="803792"/>
                </a:lnTo>
                <a:lnTo>
                  <a:pt x="2061971" y="812004"/>
                </a:lnTo>
                <a:lnTo>
                  <a:pt x="2112264" y="818013"/>
                </a:lnTo>
                <a:lnTo>
                  <a:pt x="2162556" y="821704"/>
                </a:lnTo>
                <a:lnTo>
                  <a:pt x="2212848" y="822960"/>
                </a:lnTo>
              </a:path>
            </a:pathLst>
          </a:custGeom>
          <a:noFill/>
          <a:ln w="57150">
            <a:solidFill>
              <a:srgbClr val="0E9A87">
                <a:alpha val="7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Oval 62"/>
          <p:cNvSpPr/>
          <p:nvPr/>
        </p:nvSpPr>
        <p:spPr>
          <a:xfrm>
            <a:off x="4288536" y="3858768"/>
            <a:ext cx="146304" cy="146304"/>
          </a:xfrm>
          <a:prstGeom prst="ellipse">
            <a:avLst/>
          </a:prstGeom>
          <a:solidFill>
            <a:srgbClr val="0E9A87"/>
          </a:solid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4" name="Oval 63"/>
          <p:cNvSpPr/>
          <p:nvPr/>
        </p:nvSpPr>
        <p:spPr>
          <a:xfrm>
            <a:off x="6501383" y="4681728"/>
            <a:ext cx="146304" cy="146304"/>
          </a:xfrm>
          <a:prstGeom prst="ellipse">
            <a:avLst/>
          </a:prstGeom>
          <a:solidFill>
            <a:srgbClr val="0E9A87"/>
          </a:solid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5" name="Freeform 64"/>
          <p:cNvSpPr/>
          <p:nvPr/>
        </p:nvSpPr>
        <p:spPr>
          <a:xfrm>
            <a:off x="4361688" y="4315968"/>
            <a:ext cx="2212848" cy="822960"/>
          </a:xfrm>
          <a:custGeom>
            <a:avLst/>
            <a:gdLst/>
            <a:ahLst/>
            <a:cxnLst/>
            <a:rect l="l" t="t" r="r" b="b"/>
            <a:pathLst>
              <a:path w="2212848" h="822960">
                <a:moveTo>
                  <a:pt x="0" y="0"/>
                </a:moveTo>
                <a:lnTo>
                  <a:pt x="50292" y="1255"/>
                </a:lnTo>
                <a:lnTo>
                  <a:pt x="100584" y="4946"/>
                </a:lnTo>
                <a:lnTo>
                  <a:pt x="150876" y="10955"/>
                </a:lnTo>
                <a:lnTo>
                  <a:pt x="201168" y="19167"/>
                </a:lnTo>
                <a:lnTo>
                  <a:pt x="251460" y="29465"/>
                </a:lnTo>
                <a:lnTo>
                  <a:pt x="301752" y="41735"/>
                </a:lnTo>
                <a:lnTo>
                  <a:pt x="352044" y="55859"/>
                </a:lnTo>
                <a:lnTo>
                  <a:pt x="402336" y="71723"/>
                </a:lnTo>
                <a:lnTo>
                  <a:pt x="452628" y="89209"/>
                </a:lnTo>
                <a:lnTo>
                  <a:pt x="502920" y="108202"/>
                </a:lnTo>
                <a:lnTo>
                  <a:pt x="553212" y="128587"/>
                </a:lnTo>
                <a:lnTo>
                  <a:pt x="603504" y="150247"/>
                </a:lnTo>
                <a:lnTo>
                  <a:pt x="653796" y="173066"/>
                </a:lnTo>
                <a:lnTo>
                  <a:pt x="704088" y="196929"/>
                </a:lnTo>
                <a:lnTo>
                  <a:pt x="754380" y="221719"/>
                </a:lnTo>
                <a:lnTo>
                  <a:pt x="804672" y="247320"/>
                </a:lnTo>
                <a:lnTo>
                  <a:pt x="854964" y="273617"/>
                </a:lnTo>
                <a:lnTo>
                  <a:pt x="905256" y="300494"/>
                </a:lnTo>
                <a:lnTo>
                  <a:pt x="955548" y="327835"/>
                </a:lnTo>
                <a:lnTo>
                  <a:pt x="1005840" y="355523"/>
                </a:lnTo>
                <a:lnTo>
                  <a:pt x="1056132" y="383443"/>
                </a:lnTo>
                <a:lnTo>
                  <a:pt x="1106424" y="411480"/>
                </a:lnTo>
                <a:lnTo>
                  <a:pt x="1156716" y="439516"/>
                </a:lnTo>
                <a:lnTo>
                  <a:pt x="1207008" y="467436"/>
                </a:lnTo>
                <a:lnTo>
                  <a:pt x="1257300" y="495124"/>
                </a:lnTo>
                <a:lnTo>
                  <a:pt x="1307592" y="522465"/>
                </a:lnTo>
                <a:lnTo>
                  <a:pt x="1357884" y="549342"/>
                </a:lnTo>
                <a:lnTo>
                  <a:pt x="1408176" y="575639"/>
                </a:lnTo>
                <a:lnTo>
                  <a:pt x="1458468" y="601240"/>
                </a:lnTo>
                <a:lnTo>
                  <a:pt x="1508760" y="626030"/>
                </a:lnTo>
                <a:lnTo>
                  <a:pt x="1559052" y="649893"/>
                </a:lnTo>
                <a:lnTo>
                  <a:pt x="1609343" y="672712"/>
                </a:lnTo>
                <a:lnTo>
                  <a:pt x="1659636" y="694372"/>
                </a:lnTo>
                <a:lnTo>
                  <a:pt x="1709928" y="714757"/>
                </a:lnTo>
                <a:lnTo>
                  <a:pt x="1760219" y="733750"/>
                </a:lnTo>
                <a:lnTo>
                  <a:pt x="1810512" y="751236"/>
                </a:lnTo>
                <a:lnTo>
                  <a:pt x="1860804" y="767100"/>
                </a:lnTo>
                <a:lnTo>
                  <a:pt x="1911095" y="781224"/>
                </a:lnTo>
                <a:lnTo>
                  <a:pt x="1961387" y="793494"/>
                </a:lnTo>
                <a:lnTo>
                  <a:pt x="2011679" y="803792"/>
                </a:lnTo>
                <a:lnTo>
                  <a:pt x="2061971" y="812004"/>
                </a:lnTo>
                <a:lnTo>
                  <a:pt x="2112264" y="818013"/>
                </a:lnTo>
                <a:lnTo>
                  <a:pt x="2162556" y="821704"/>
                </a:lnTo>
                <a:lnTo>
                  <a:pt x="2212848" y="822960"/>
                </a:lnTo>
              </a:path>
            </a:pathLst>
          </a:custGeom>
          <a:noFill/>
          <a:ln w="57150">
            <a:solidFill>
              <a:srgbClr val="0E9A87">
                <a:alpha val="7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Oval 65"/>
          <p:cNvSpPr/>
          <p:nvPr/>
        </p:nvSpPr>
        <p:spPr>
          <a:xfrm>
            <a:off x="4288536" y="4242816"/>
            <a:ext cx="146304" cy="146304"/>
          </a:xfrm>
          <a:prstGeom prst="ellipse">
            <a:avLst/>
          </a:prstGeom>
          <a:solidFill>
            <a:srgbClr val="0E9A87"/>
          </a:solid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7" name="Oval 66"/>
          <p:cNvSpPr/>
          <p:nvPr/>
        </p:nvSpPr>
        <p:spPr>
          <a:xfrm>
            <a:off x="6501383" y="5065776"/>
            <a:ext cx="146304" cy="146304"/>
          </a:xfrm>
          <a:prstGeom prst="ellipse">
            <a:avLst/>
          </a:prstGeom>
          <a:solidFill>
            <a:srgbClr val="0E9A87"/>
          </a:solid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8" name="Freeform 67"/>
          <p:cNvSpPr/>
          <p:nvPr/>
        </p:nvSpPr>
        <p:spPr>
          <a:xfrm>
            <a:off x="4361688" y="5504688"/>
            <a:ext cx="2212848" cy="0"/>
          </a:xfrm>
          <a:custGeom>
            <a:avLst/>
            <a:gdLst/>
            <a:ahLst/>
            <a:cxnLst/>
            <a:rect l="l" t="t" r="r" b="b"/>
            <a:pathLst>
              <a:path w="2212848" h="0">
                <a:moveTo>
                  <a:pt x="0" y="0"/>
                </a:moveTo>
                <a:lnTo>
                  <a:pt x="50292" y="0"/>
                </a:lnTo>
                <a:lnTo>
                  <a:pt x="100584" y="0"/>
                </a:lnTo>
                <a:lnTo>
                  <a:pt x="150876" y="0"/>
                </a:lnTo>
                <a:lnTo>
                  <a:pt x="201168" y="0"/>
                </a:lnTo>
                <a:lnTo>
                  <a:pt x="251460" y="0"/>
                </a:lnTo>
                <a:lnTo>
                  <a:pt x="301752" y="0"/>
                </a:lnTo>
                <a:lnTo>
                  <a:pt x="352044" y="0"/>
                </a:lnTo>
                <a:lnTo>
                  <a:pt x="402336" y="0"/>
                </a:lnTo>
                <a:lnTo>
                  <a:pt x="452628" y="0"/>
                </a:lnTo>
                <a:lnTo>
                  <a:pt x="502920" y="0"/>
                </a:lnTo>
                <a:lnTo>
                  <a:pt x="553212" y="0"/>
                </a:lnTo>
                <a:lnTo>
                  <a:pt x="603504" y="0"/>
                </a:lnTo>
                <a:lnTo>
                  <a:pt x="653796" y="0"/>
                </a:lnTo>
                <a:lnTo>
                  <a:pt x="704088" y="0"/>
                </a:lnTo>
                <a:lnTo>
                  <a:pt x="754380" y="0"/>
                </a:lnTo>
                <a:lnTo>
                  <a:pt x="804672" y="0"/>
                </a:lnTo>
                <a:lnTo>
                  <a:pt x="854964" y="0"/>
                </a:lnTo>
                <a:lnTo>
                  <a:pt x="905256" y="0"/>
                </a:lnTo>
                <a:lnTo>
                  <a:pt x="955548" y="0"/>
                </a:lnTo>
                <a:lnTo>
                  <a:pt x="1005840" y="0"/>
                </a:lnTo>
                <a:lnTo>
                  <a:pt x="1056132" y="0"/>
                </a:lnTo>
                <a:lnTo>
                  <a:pt x="1106424" y="0"/>
                </a:lnTo>
                <a:lnTo>
                  <a:pt x="1156716" y="0"/>
                </a:lnTo>
                <a:lnTo>
                  <a:pt x="1207008" y="0"/>
                </a:lnTo>
                <a:lnTo>
                  <a:pt x="1257300" y="0"/>
                </a:lnTo>
                <a:lnTo>
                  <a:pt x="1307592" y="0"/>
                </a:lnTo>
                <a:lnTo>
                  <a:pt x="1357884" y="0"/>
                </a:lnTo>
                <a:lnTo>
                  <a:pt x="1408176" y="0"/>
                </a:lnTo>
                <a:lnTo>
                  <a:pt x="1458468" y="0"/>
                </a:lnTo>
                <a:lnTo>
                  <a:pt x="1508760" y="0"/>
                </a:lnTo>
                <a:lnTo>
                  <a:pt x="1559052" y="0"/>
                </a:lnTo>
                <a:lnTo>
                  <a:pt x="1609343" y="0"/>
                </a:lnTo>
                <a:lnTo>
                  <a:pt x="1659636" y="0"/>
                </a:lnTo>
                <a:lnTo>
                  <a:pt x="1709928" y="0"/>
                </a:lnTo>
                <a:lnTo>
                  <a:pt x="1760219" y="0"/>
                </a:lnTo>
                <a:lnTo>
                  <a:pt x="1810512" y="0"/>
                </a:lnTo>
                <a:lnTo>
                  <a:pt x="1860804" y="0"/>
                </a:lnTo>
                <a:lnTo>
                  <a:pt x="1911095" y="0"/>
                </a:lnTo>
                <a:lnTo>
                  <a:pt x="1961387" y="0"/>
                </a:lnTo>
                <a:lnTo>
                  <a:pt x="2011679" y="0"/>
                </a:lnTo>
                <a:lnTo>
                  <a:pt x="2061971" y="0"/>
                </a:lnTo>
                <a:lnTo>
                  <a:pt x="2112264" y="0"/>
                </a:lnTo>
                <a:lnTo>
                  <a:pt x="2162556" y="0"/>
                </a:lnTo>
                <a:lnTo>
                  <a:pt x="2212848" y="0"/>
                </a:lnTo>
              </a:path>
            </a:pathLst>
          </a:custGeom>
          <a:noFill/>
          <a:ln w="57150">
            <a:solidFill>
              <a:srgbClr val="106F77">
                <a:alpha val="7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Oval 68"/>
          <p:cNvSpPr/>
          <p:nvPr/>
        </p:nvSpPr>
        <p:spPr>
          <a:xfrm>
            <a:off x="4288536" y="5431536"/>
            <a:ext cx="146304" cy="146304"/>
          </a:xfrm>
          <a:prstGeom prst="ellipse">
            <a:avLst/>
          </a:prstGeom>
          <a:solidFill>
            <a:srgbClr val="106F77"/>
          </a:solid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0" name="Oval 69"/>
          <p:cNvSpPr/>
          <p:nvPr/>
        </p:nvSpPr>
        <p:spPr>
          <a:xfrm>
            <a:off x="6501383" y="5431536"/>
            <a:ext cx="146304" cy="146304"/>
          </a:xfrm>
          <a:prstGeom prst="ellipse">
            <a:avLst/>
          </a:prstGeom>
          <a:solidFill>
            <a:srgbClr val="106F77"/>
          </a:solid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1" name="Rounded Rectangle 70"/>
          <p:cNvSpPr/>
          <p:nvPr/>
        </p:nvSpPr>
        <p:spPr>
          <a:xfrm>
            <a:off x="8796528" y="3529584"/>
            <a:ext cx="2755087" cy="969264"/>
          </a:xfrm>
          <a:prstGeom prst="roundRect">
            <a:avLst>
              <a:gd name="adj" fmla="val 3000"/>
            </a:avLst>
          </a:prstGeom>
          <a:solidFill>
            <a:srgbClr val="DCE8F5"/>
          </a:solidFill>
          <a:ln w="15875">
            <a:solidFill>
              <a:srgbClr val="A1C3E0"/>
            </a:solidFill>
          </a:ln>
          <a:effectLst>
            <a:outerShdw blurRad="60000" dist="18000" dir="5400000" rotWithShape="0">
              <a:srgbClr val="1B3A5C">
                <a:alpha val="7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2" name="Rounded Rectangle 71"/>
          <p:cNvSpPr/>
          <p:nvPr/>
        </p:nvSpPr>
        <p:spPr>
          <a:xfrm>
            <a:off x="8796528" y="3529584"/>
            <a:ext cx="45720" cy="969264"/>
          </a:xfrm>
          <a:prstGeom prst="roundRect">
            <a:avLst>
              <a:gd name="adj" fmla="val 50000"/>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3" name="TextBox 72"/>
          <p:cNvSpPr txBox="1"/>
          <p:nvPr/>
        </p:nvSpPr>
        <p:spPr>
          <a:xfrm>
            <a:off x="9052559" y="3639312"/>
            <a:ext cx="2297887" cy="310896"/>
          </a:xfrm>
          <a:prstGeom prst="rect">
            <a:avLst/>
          </a:prstGeom>
          <a:noFill/>
        </p:spPr>
        <p:txBody>
          <a:bodyPr wrap="square" lIns="0" rIns="0" tIns="0" bIns="0" anchor="t">
            <a:spAutoFit/>
          </a:bodyPr>
          <a:lstStyle/>
          <a:p>
            <a:pPr algn="l">
              <a:lnSpc>
                <a:spcPct val="120000"/>
              </a:lnSpc>
              <a:spcAft>
                <a:spcPts val="0"/>
              </a:spcAft>
            </a:pPr>
            <a:r>
              <a:rPr sz="1200" b="1">
                <a:solidFill>
                  <a:srgbClr val="1F6FB2"/>
                </a:solidFill>
                <a:latin typeface="Calibri"/>
              </a:rPr>
              <a:t>Verschuiving van de EHH</a:t>
            </a:r>
          </a:p>
        </p:txBody>
      </p:sp>
      <p:sp>
        <p:nvSpPr>
          <p:cNvPr id="74" name="TextBox 73"/>
          <p:cNvSpPr txBox="1"/>
          <p:nvPr/>
        </p:nvSpPr>
        <p:spPr>
          <a:xfrm>
            <a:off x="9052559" y="3986784"/>
            <a:ext cx="2297887" cy="457200"/>
          </a:xfrm>
          <a:prstGeom prst="rect">
            <a:avLst/>
          </a:prstGeom>
          <a:noFill/>
        </p:spPr>
        <p:txBody>
          <a:bodyPr wrap="square" lIns="0" rIns="0" tIns="0" bIns="0" anchor="t">
            <a:spAutoFit/>
          </a:bodyPr>
          <a:lstStyle/>
          <a:p>
            <a:pPr algn="l">
              <a:lnSpc>
                <a:spcPct val="122000"/>
              </a:lnSpc>
              <a:spcAft>
                <a:spcPts val="0"/>
              </a:spcAft>
            </a:pPr>
            <a:r>
              <a:rPr sz="950" b="0">
                <a:solidFill>
                  <a:srgbClr val="55677C"/>
                </a:solidFill>
                <a:latin typeface="Calibri"/>
              </a:rPr>
              <a:t>De eerste hart hulp komt los van de CCU/SCU en verhuist naar de acute poort.</a:t>
            </a:r>
          </a:p>
        </p:txBody>
      </p:sp>
      <p:sp>
        <p:nvSpPr>
          <p:cNvPr id="75" name="Oval 74"/>
          <p:cNvSpPr/>
          <p:nvPr/>
        </p:nvSpPr>
        <p:spPr>
          <a:xfrm>
            <a:off x="4535424" y="1984248"/>
            <a:ext cx="109728" cy="109728"/>
          </a:xfrm>
          <a:prstGeom prst="ellipse">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4736592" y="1956816"/>
            <a:ext cx="2011680" cy="237744"/>
          </a:xfrm>
          <a:prstGeom prst="rect">
            <a:avLst/>
          </a:prstGeom>
          <a:noFill/>
        </p:spPr>
        <p:txBody>
          <a:bodyPr wrap="square" lIns="0" rIns="0" tIns="0" bIns="0" anchor="t">
            <a:spAutoFit/>
          </a:bodyPr>
          <a:lstStyle/>
          <a:p>
            <a:pPr algn="l">
              <a:lnSpc>
                <a:spcPct val="120000"/>
              </a:lnSpc>
              <a:spcAft>
                <a:spcPts val="0"/>
              </a:spcAft>
            </a:pPr>
            <a:r>
              <a:rPr sz="950" b="1" spc="60">
                <a:solidFill>
                  <a:srgbClr val="1F6FB2"/>
                </a:solidFill>
                <a:latin typeface="Calibri"/>
              </a:rPr>
              <a:t>naar de acute poort</a:t>
            </a:r>
          </a:p>
        </p:txBody>
      </p:sp>
      <p:sp>
        <p:nvSpPr>
          <p:cNvPr id="77" name="Oval 76"/>
          <p:cNvSpPr/>
          <p:nvPr/>
        </p:nvSpPr>
        <p:spPr>
          <a:xfrm>
            <a:off x="4535424" y="2258568"/>
            <a:ext cx="109728" cy="109728"/>
          </a:xfrm>
          <a:prstGeom prst="ellipse">
            <a:avLst/>
          </a:prstGeom>
          <a:solidFill>
            <a:srgbClr val="0E9A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4736592" y="2231136"/>
            <a:ext cx="2011680" cy="237744"/>
          </a:xfrm>
          <a:prstGeom prst="rect">
            <a:avLst/>
          </a:prstGeom>
          <a:noFill/>
        </p:spPr>
        <p:txBody>
          <a:bodyPr wrap="square" lIns="0" rIns="0" tIns="0" bIns="0" anchor="t">
            <a:spAutoFit/>
          </a:bodyPr>
          <a:lstStyle/>
          <a:p>
            <a:pPr algn="l">
              <a:lnSpc>
                <a:spcPct val="120000"/>
              </a:lnSpc>
              <a:spcAft>
                <a:spcPts val="0"/>
              </a:spcAft>
            </a:pPr>
            <a:r>
              <a:rPr sz="950" b="1" spc="60">
                <a:solidFill>
                  <a:srgbClr val="0E9A87"/>
                </a:solidFill>
                <a:latin typeface="Calibri"/>
              </a:rPr>
              <a:t>naar de Hotfloor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FFFFFF"/>
              </a:gs>
              <a:gs pos="100000">
                <a:srgbClr val="F1F6FC"/>
              </a:gs>
            </a:gsLst>
            <a:lin scaled="0" ang="189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640080" y="566928"/>
            <a:ext cx="10911535" cy="219456"/>
          </a:xfrm>
          <a:prstGeom prst="rect">
            <a:avLst/>
          </a:prstGeom>
          <a:noFill/>
        </p:spPr>
        <p:txBody>
          <a:bodyPr wrap="square" lIns="0" rIns="0" tIns="0" bIns="0" anchor="t">
            <a:spAutoFit/>
          </a:bodyPr>
          <a:lstStyle/>
          <a:p>
            <a:pPr algn="l">
              <a:lnSpc>
                <a:spcPct val="120000"/>
              </a:lnSpc>
              <a:spcAft>
                <a:spcPts val="0"/>
              </a:spcAft>
            </a:pPr>
            <a:r>
              <a:rPr sz="1050" b="1" spc="220">
                <a:solidFill>
                  <a:srgbClr val="0E9A87"/>
                </a:solidFill>
                <a:latin typeface="Calibri"/>
              </a:rPr>
              <a:t>DEEL 03  ·  WAT VERANDERT ER</a:t>
            </a:r>
          </a:p>
        </p:txBody>
      </p:sp>
      <p:sp>
        <p:nvSpPr>
          <p:cNvPr id="4" name="TextBox 3"/>
          <p:cNvSpPr txBox="1"/>
          <p:nvPr/>
        </p:nvSpPr>
        <p:spPr>
          <a:xfrm>
            <a:off x="640080" y="859536"/>
            <a:ext cx="10911535" cy="566928"/>
          </a:xfrm>
          <a:prstGeom prst="rect">
            <a:avLst/>
          </a:prstGeom>
          <a:noFill/>
        </p:spPr>
        <p:txBody>
          <a:bodyPr wrap="square" lIns="0" rIns="0" tIns="0" bIns="0" anchor="t">
            <a:spAutoFit/>
          </a:bodyPr>
          <a:lstStyle/>
          <a:p>
            <a:pPr algn="l">
              <a:lnSpc>
                <a:spcPct val="120000"/>
              </a:lnSpc>
              <a:spcAft>
                <a:spcPts val="0"/>
              </a:spcAft>
            </a:pPr>
            <a:r>
              <a:rPr sz="3400" b="1">
                <a:solidFill>
                  <a:srgbClr val="0D1B2A"/>
                </a:solidFill>
                <a:latin typeface="Calibri"/>
              </a:rPr>
              <a:t>De nieuwbouw fysiek</a:t>
            </a:r>
          </a:p>
        </p:txBody>
      </p:sp>
      <p:sp>
        <p:nvSpPr>
          <p:cNvPr id="5" name="TextBox 4"/>
          <p:cNvSpPr txBox="1"/>
          <p:nvPr/>
        </p:nvSpPr>
        <p:spPr>
          <a:xfrm>
            <a:off x="640080" y="1335024"/>
            <a:ext cx="8510997" cy="274320"/>
          </a:xfrm>
          <a:prstGeom prst="rect">
            <a:avLst/>
          </a:prstGeom>
          <a:noFill/>
        </p:spPr>
        <p:txBody>
          <a:bodyPr wrap="square" lIns="0" rIns="0" tIns="0" bIns="0" anchor="t">
            <a:spAutoFit/>
          </a:bodyPr>
          <a:lstStyle/>
          <a:p>
            <a:pPr algn="l">
              <a:lnSpc>
                <a:spcPct val="120000"/>
              </a:lnSpc>
              <a:spcAft>
                <a:spcPts val="0"/>
              </a:spcAft>
            </a:pPr>
            <a:r>
              <a:rPr sz="1300" b="0">
                <a:solidFill>
                  <a:srgbClr val="55677C"/>
                </a:solidFill>
                <a:latin typeface="Calibri"/>
              </a:rPr>
              <a:t>Twee clusters — met per onderdeel het aantal plekken, voor zover bekend</a:t>
            </a:r>
          </a:p>
        </p:txBody>
      </p:sp>
      <p:cxnSp>
        <p:nvCxnSpPr>
          <p:cNvPr id="6" name="Connector 5"/>
          <p:cNvCxnSpPr/>
          <p:nvPr/>
        </p:nvCxnSpPr>
        <p:spPr>
          <a:xfrm>
            <a:off x="640080" y="1609344"/>
            <a:ext cx="10911535" cy="0"/>
          </a:xfrm>
          <a:prstGeom prst="line">
            <a:avLst/>
          </a:prstGeom>
          <a:ln w="12700">
            <a:solidFill>
              <a:srgbClr val="E2E9F1"/>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640080" y="6291072"/>
            <a:ext cx="10911535" cy="0"/>
          </a:xfrm>
          <a:prstGeom prst="line">
            <a:avLst/>
          </a:prstGeom>
          <a:ln w="9525">
            <a:solidFill>
              <a:srgbClr val="E2E9F1"/>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40080" y="6382512"/>
            <a:ext cx="5486400" cy="237744"/>
          </a:xfrm>
          <a:prstGeom prst="rect">
            <a:avLst/>
          </a:prstGeom>
          <a:noFill/>
        </p:spPr>
        <p:txBody>
          <a:bodyPr wrap="square" lIns="0" rIns="0" tIns="0" bIns="0" anchor="t">
            <a:spAutoFit/>
          </a:bodyPr>
          <a:lstStyle/>
          <a:p>
            <a:pPr algn="l">
              <a:lnSpc>
                <a:spcPct val="120000"/>
              </a:lnSpc>
              <a:spcAft>
                <a:spcPts val="0"/>
              </a:spcAft>
            </a:pPr>
            <a:r>
              <a:rPr sz="900" b="0" spc="80">
                <a:solidFill>
                  <a:srgbClr val="8B9AAA"/>
                </a:solidFill>
                <a:latin typeface="Calibri"/>
              </a:rPr>
              <a:t>Acute poort en Hotfloor</a:t>
            </a:r>
          </a:p>
        </p:txBody>
      </p:sp>
      <p:sp>
        <p:nvSpPr>
          <p:cNvPr id="9" name="TextBox 8"/>
          <p:cNvSpPr txBox="1"/>
          <p:nvPr/>
        </p:nvSpPr>
        <p:spPr>
          <a:xfrm>
            <a:off x="10637215" y="6382512"/>
            <a:ext cx="914400" cy="237744"/>
          </a:xfrm>
          <a:prstGeom prst="rect">
            <a:avLst/>
          </a:prstGeom>
          <a:noFill/>
        </p:spPr>
        <p:txBody>
          <a:bodyPr wrap="square" lIns="0" rIns="0" tIns="0" bIns="0" anchor="t">
            <a:spAutoFit/>
          </a:bodyPr>
          <a:lstStyle/>
          <a:p>
            <a:pPr algn="r">
              <a:lnSpc>
                <a:spcPct val="120000"/>
              </a:lnSpc>
              <a:spcAft>
                <a:spcPts val="0"/>
              </a:spcAft>
            </a:pPr>
            <a:r>
              <a:rPr sz="950" b="1">
                <a:solidFill>
                  <a:srgbClr val="0E9A87"/>
                </a:solidFill>
                <a:latin typeface="Calibri"/>
              </a:rPr>
              <a:t>10</a:t>
            </a:r>
          </a:p>
        </p:txBody>
      </p:sp>
      <p:sp>
        <p:nvSpPr>
          <p:cNvPr id="10" name="Rounded Rectangle 9"/>
          <p:cNvSpPr/>
          <p:nvPr/>
        </p:nvSpPr>
        <p:spPr>
          <a:xfrm>
            <a:off x="640080" y="1700784"/>
            <a:ext cx="5272887" cy="3200400"/>
          </a:xfrm>
          <a:prstGeom prst="roundRect">
            <a:avLst>
              <a:gd name="adj" fmla="val 4000"/>
            </a:avLst>
          </a:prstGeom>
          <a:solidFill>
            <a:srgbClr val="DEEAF5"/>
          </a:solidFill>
          <a:ln w="15875">
            <a:solidFill>
              <a:srgbClr val="A1C3E0"/>
            </a:solidFill>
          </a:ln>
          <a:effectLst>
            <a:outerShdw blurRad="60000" dist="18000" dir="5400000" rotWithShape="0">
              <a:srgbClr val="1B3A5C">
                <a:alpha val="7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50976" y="1938528"/>
            <a:ext cx="3352647" cy="384048"/>
          </a:xfrm>
          <a:prstGeom prst="rect">
            <a:avLst/>
          </a:prstGeom>
          <a:noFill/>
        </p:spPr>
        <p:txBody>
          <a:bodyPr wrap="square" lIns="0" rIns="0" tIns="0" bIns="0" anchor="t">
            <a:spAutoFit/>
          </a:bodyPr>
          <a:lstStyle/>
          <a:p>
            <a:pPr algn="l">
              <a:lnSpc>
                <a:spcPct val="120000"/>
              </a:lnSpc>
              <a:spcAft>
                <a:spcPts val="0"/>
              </a:spcAft>
            </a:pPr>
            <a:r>
              <a:rPr sz="2200" b="1">
                <a:solidFill>
                  <a:srgbClr val="1F6FB2"/>
                </a:solidFill>
                <a:latin typeface="Calibri"/>
              </a:rPr>
              <a:t>Acute poort</a:t>
            </a:r>
          </a:p>
        </p:txBody>
      </p:sp>
      <p:sp>
        <p:nvSpPr>
          <p:cNvPr id="12" name="TextBox 11"/>
          <p:cNvSpPr txBox="1"/>
          <p:nvPr/>
        </p:nvSpPr>
        <p:spPr>
          <a:xfrm>
            <a:off x="950976" y="2359152"/>
            <a:ext cx="3352647" cy="237744"/>
          </a:xfrm>
          <a:prstGeom prst="rect">
            <a:avLst/>
          </a:prstGeom>
          <a:noFill/>
        </p:spPr>
        <p:txBody>
          <a:bodyPr wrap="square" lIns="0" rIns="0" tIns="0" bIns="0" anchor="t">
            <a:spAutoFit/>
          </a:bodyPr>
          <a:lstStyle/>
          <a:p>
            <a:pPr algn="l">
              <a:lnSpc>
                <a:spcPct val="120000"/>
              </a:lnSpc>
              <a:spcAft>
                <a:spcPts val="0"/>
              </a:spcAft>
            </a:pPr>
            <a:r>
              <a:rPr sz="1050" b="0">
                <a:solidFill>
                  <a:srgbClr val="55677C"/>
                </a:solidFill>
                <a:latin typeface="Calibri"/>
              </a:rPr>
              <a:t>23 kamers bekend, kind nog niet benoemd</a:t>
            </a:r>
          </a:p>
        </p:txBody>
      </p:sp>
      <p:sp>
        <p:nvSpPr>
          <p:cNvPr id="13" name="TextBox 12"/>
          <p:cNvSpPr txBox="1"/>
          <p:nvPr/>
        </p:nvSpPr>
        <p:spPr>
          <a:xfrm>
            <a:off x="4175607" y="1847088"/>
            <a:ext cx="1426464" cy="658368"/>
          </a:xfrm>
          <a:prstGeom prst="rect">
            <a:avLst/>
          </a:prstGeom>
          <a:noFill/>
        </p:spPr>
        <p:txBody>
          <a:bodyPr wrap="square" lIns="0" rIns="0" tIns="0" bIns="0" anchor="t">
            <a:spAutoFit/>
          </a:bodyPr>
          <a:lstStyle/>
          <a:p>
            <a:pPr algn="r">
              <a:lnSpc>
                <a:spcPct val="120000"/>
              </a:lnSpc>
              <a:spcAft>
                <a:spcPts val="0"/>
              </a:spcAft>
            </a:pPr>
            <a:r>
              <a:rPr sz="4000" b="1">
                <a:solidFill>
                  <a:srgbClr val="1F6FB2"/>
                </a:solidFill>
                <a:latin typeface="Calibri"/>
              </a:rPr>
              <a:t>23</a:t>
            </a:r>
          </a:p>
        </p:txBody>
      </p:sp>
      <p:sp>
        <p:nvSpPr>
          <p:cNvPr id="14" name="TextBox 13"/>
          <p:cNvSpPr txBox="1"/>
          <p:nvPr/>
        </p:nvSpPr>
        <p:spPr>
          <a:xfrm>
            <a:off x="4175607" y="2414016"/>
            <a:ext cx="1426464" cy="201168"/>
          </a:xfrm>
          <a:prstGeom prst="rect">
            <a:avLst/>
          </a:prstGeom>
          <a:noFill/>
        </p:spPr>
        <p:txBody>
          <a:bodyPr wrap="square" lIns="0" rIns="0" tIns="0" bIns="0" anchor="t">
            <a:spAutoFit/>
          </a:bodyPr>
          <a:lstStyle/>
          <a:p>
            <a:pPr algn="r">
              <a:lnSpc>
                <a:spcPct val="120000"/>
              </a:lnSpc>
              <a:spcAft>
                <a:spcPts val="0"/>
              </a:spcAft>
            </a:pPr>
            <a:r>
              <a:rPr sz="850" b="1" spc="140">
                <a:solidFill>
                  <a:srgbClr val="8B9AAA"/>
                </a:solidFill>
                <a:latin typeface="Calibri"/>
              </a:rPr>
              <a:t>KAMERS BEKEND</a:t>
            </a:r>
          </a:p>
        </p:txBody>
      </p:sp>
      <p:cxnSp>
        <p:nvCxnSpPr>
          <p:cNvPr id="15" name="Connector 14"/>
          <p:cNvCxnSpPr/>
          <p:nvPr/>
        </p:nvCxnSpPr>
        <p:spPr>
          <a:xfrm>
            <a:off x="950976" y="2724912"/>
            <a:ext cx="4651095" cy="0"/>
          </a:xfrm>
          <a:prstGeom prst="line">
            <a:avLst/>
          </a:prstGeom>
          <a:ln w="12700">
            <a:solidFill>
              <a:srgbClr val="92B9DB"/>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950976" y="2907792"/>
            <a:ext cx="4651095" cy="548640"/>
          </a:xfrm>
          <a:prstGeom prst="roundRect">
            <a:avLst>
              <a:gd name="adj" fmla="val 8000"/>
            </a:avLst>
          </a:prstGeom>
          <a:solidFill>
            <a:srgbClr val="FFFFFF"/>
          </a:solidFill>
          <a:ln w="12700">
            <a:solidFill>
              <a:srgbClr val="9DC0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1170431" y="2944368"/>
            <a:ext cx="2325547" cy="475488"/>
          </a:xfrm>
          <a:prstGeom prst="rect">
            <a:avLst/>
          </a:prstGeom>
          <a:noFill/>
        </p:spPr>
        <p:txBody>
          <a:bodyPr wrap="square" lIns="0" rIns="0" tIns="0" bIns="0" anchor="ctr">
            <a:spAutoFit/>
          </a:bodyPr>
          <a:lstStyle/>
          <a:p>
            <a:pPr algn="l">
              <a:lnSpc>
                <a:spcPct val="120000"/>
              </a:lnSpc>
              <a:spcAft>
                <a:spcPts val="0"/>
              </a:spcAft>
            </a:pPr>
            <a:r>
              <a:rPr sz="1400" b="1">
                <a:solidFill>
                  <a:srgbClr val="0D1B2A"/>
                </a:solidFill>
                <a:latin typeface="Calibri"/>
              </a:rPr>
              <a:t>SEH</a:t>
            </a:r>
          </a:p>
        </p:txBody>
      </p:sp>
      <p:sp>
        <p:nvSpPr>
          <p:cNvPr id="18" name="TextBox 17"/>
          <p:cNvSpPr txBox="1"/>
          <p:nvPr/>
        </p:nvSpPr>
        <p:spPr>
          <a:xfrm>
            <a:off x="3590391" y="2944368"/>
            <a:ext cx="1792224" cy="475488"/>
          </a:xfrm>
          <a:prstGeom prst="rect">
            <a:avLst/>
          </a:prstGeom>
          <a:noFill/>
        </p:spPr>
        <p:txBody>
          <a:bodyPr wrap="square" lIns="0" rIns="0" tIns="0" bIns="0" anchor="ctr">
            <a:spAutoFit/>
          </a:bodyPr>
          <a:lstStyle/>
          <a:p>
            <a:pPr algn="r">
              <a:lnSpc>
                <a:spcPct val="120000"/>
              </a:lnSpc>
              <a:spcAft>
                <a:spcPts val="0"/>
              </a:spcAft>
            </a:pPr>
            <a:r>
              <a:rPr sz="1200" b="1">
                <a:solidFill>
                  <a:srgbClr val="0E9A87"/>
                </a:solidFill>
                <a:latin typeface="Calibri"/>
              </a:rPr>
              <a:t>18 kamers</a:t>
            </a:r>
          </a:p>
        </p:txBody>
      </p:sp>
      <p:sp>
        <p:nvSpPr>
          <p:cNvPr id="19" name="Rounded Rectangle 18"/>
          <p:cNvSpPr/>
          <p:nvPr/>
        </p:nvSpPr>
        <p:spPr>
          <a:xfrm>
            <a:off x="950976" y="3584448"/>
            <a:ext cx="4651095" cy="548640"/>
          </a:xfrm>
          <a:prstGeom prst="roundRect">
            <a:avLst>
              <a:gd name="adj" fmla="val 8000"/>
            </a:avLst>
          </a:prstGeom>
          <a:solidFill>
            <a:srgbClr val="FFFFFF"/>
          </a:solidFill>
          <a:ln w="12700">
            <a:solidFill>
              <a:srgbClr val="9DC0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170431" y="3621024"/>
            <a:ext cx="2325547" cy="475488"/>
          </a:xfrm>
          <a:prstGeom prst="rect">
            <a:avLst/>
          </a:prstGeom>
          <a:noFill/>
        </p:spPr>
        <p:txBody>
          <a:bodyPr wrap="square" lIns="0" rIns="0" tIns="0" bIns="0" anchor="ctr">
            <a:spAutoFit/>
          </a:bodyPr>
          <a:lstStyle/>
          <a:p>
            <a:pPr algn="l">
              <a:lnSpc>
                <a:spcPct val="120000"/>
              </a:lnSpc>
              <a:spcAft>
                <a:spcPts val="0"/>
              </a:spcAft>
            </a:pPr>
            <a:r>
              <a:rPr sz="1400" b="1">
                <a:solidFill>
                  <a:srgbClr val="0D1B2A"/>
                </a:solidFill>
                <a:latin typeface="Calibri"/>
              </a:rPr>
              <a:t>EHH</a:t>
            </a:r>
          </a:p>
        </p:txBody>
      </p:sp>
      <p:sp>
        <p:nvSpPr>
          <p:cNvPr id="21" name="TextBox 20"/>
          <p:cNvSpPr txBox="1"/>
          <p:nvPr/>
        </p:nvSpPr>
        <p:spPr>
          <a:xfrm>
            <a:off x="3590391" y="3621024"/>
            <a:ext cx="1792224" cy="475488"/>
          </a:xfrm>
          <a:prstGeom prst="rect">
            <a:avLst/>
          </a:prstGeom>
          <a:noFill/>
        </p:spPr>
        <p:txBody>
          <a:bodyPr wrap="square" lIns="0" rIns="0" tIns="0" bIns="0" anchor="ctr">
            <a:spAutoFit/>
          </a:bodyPr>
          <a:lstStyle/>
          <a:p>
            <a:pPr algn="r">
              <a:lnSpc>
                <a:spcPct val="120000"/>
              </a:lnSpc>
              <a:spcAft>
                <a:spcPts val="0"/>
              </a:spcAft>
            </a:pPr>
            <a:r>
              <a:rPr sz="1200" b="1">
                <a:solidFill>
                  <a:srgbClr val="0E9A87"/>
                </a:solidFill>
                <a:latin typeface="Calibri"/>
              </a:rPr>
              <a:t>5 kamers</a:t>
            </a:r>
          </a:p>
        </p:txBody>
      </p:sp>
      <p:sp>
        <p:nvSpPr>
          <p:cNvPr id="22" name="Rounded Rectangle 21"/>
          <p:cNvSpPr/>
          <p:nvPr/>
        </p:nvSpPr>
        <p:spPr>
          <a:xfrm>
            <a:off x="950976" y="4261104"/>
            <a:ext cx="4651095" cy="548640"/>
          </a:xfrm>
          <a:prstGeom prst="roundRect">
            <a:avLst>
              <a:gd name="adj" fmla="val 8000"/>
            </a:avLst>
          </a:prstGeom>
          <a:solidFill>
            <a:srgbClr val="FFFFFF"/>
          </a:solidFill>
          <a:ln w="12700">
            <a:solidFill>
              <a:srgbClr val="9DC0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1170431" y="4297680"/>
            <a:ext cx="2325547" cy="475488"/>
          </a:xfrm>
          <a:prstGeom prst="rect">
            <a:avLst/>
          </a:prstGeom>
          <a:noFill/>
        </p:spPr>
        <p:txBody>
          <a:bodyPr wrap="square" lIns="0" rIns="0" tIns="0" bIns="0" anchor="ctr">
            <a:spAutoFit/>
          </a:bodyPr>
          <a:lstStyle/>
          <a:p>
            <a:pPr algn="l">
              <a:lnSpc>
                <a:spcPct val="120000"/>
              </a:lnSpc>
              <a:spcAft>
                <a:spcPts val="0"/>
              </a:spcAft>
            </a:pPr>
            <a:r>
              <a:rPr sz="1400" b="1">
                <a:solidFill>
                  <a:srgbClr val="0D1B2A"/>
                </a:solidFill>
                <a:latin typeface="Calibri"/>
              </a:rPr>
              <a:t>Kind</a:t>
            </a:r>
          </a:p>
        </p:txBody>
      </p:sp>
      <p:sp>
        <p:nvSpPr>
          <p:cNvPr id="24" name="TextBox 23"/>
          <p:cNvSpPr txBox="1"/>
          <p:nvPr/>
        </p:nvSpPr>
        <p:spPr>
          <a:xfrm>
            <a:off x="3590391" y="4297680"/>
            <a:ext cx="1792224" cy="475488"/>
          </a:xfrm>
          <a:prstGeom prst="rect">
            <a:avLst/>
          </a:prstGeom>
          <a:noFill/>
        </p:spPr>
        <p:txBody>
          <a:bodyPr wrap="square" lIns="0" rIns="0" tIns="0" bIns="0" anchor="ctr">
            <a:spAutoFit/>
          </a:bodyPr>
          <a:lstStyle/>
          <a:p>
            <a:pPr algn="r">
              <a:lnSpc>
                <a:spcPct val="120000"/>
              </a:lnSpc>
              <a:spcAft>
                <a:spcPts val="0"/>
              </a:spcAft>
            </a:pPr>
            <a:r>
              <a:rPr sz="1200" b="1">
                <a:solidFill>
                  <a:srgbClr val="C87E12"/>
                </a:solidFill>
                <a:latin typeface="Calibri"/>
              </a:rPr>
              <a:t>? kamers</a:t>
            </a:r>
          </a:p>
        </p:txBody>
      </p:sp>
      <p:sp>
        <p:nvSpPr>
          <p:cNvPr id="25" name="Rounded Rectangle 24"/>
          <p:cNvSpPr/>
          <p:nvPr/>
        </p:nvSpPr>
        <p:spPr>
          <a:xfrm>
            <a:off x="6278727" y="1700784"/>
            <a:ext cx="5272887" cy="3200400"/>
          </a:xfrm>
          <a:prstGeom prst="roundRect">
            <a:avLst>
              <a:gd name="adj" fmla="val 4000"/>
            </a:avLst>
          </a:prstGeom>
          <a:solidFill>
            <a:srgbClr val="DDEEF1"/>
          </a:solidFill>
          <a:ln w="15875">
            <a:solidFill>
              <a:srgbClr val="9BD3D0"/>
            </a:solidFill>
          </a:ln>
          <a:effectLst>
            <a:outerShdw blurRad="60000" dist="18000" dir="5400000" rotWithShape="0">
              <a:srgbClr val="1B3A5C">
                <a:alpha val="7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6589623" y="1938528"/>
            <a:ext cx="3352647" cy="384048"/>
          </a:xfrm>
          <a:prstGeom prst="rect">
            <a:avLst/>
          </a:prstGeom>
          <a:noFill/>
        </p:spPr>
        <p:txBody>
          <a:bodyPr wrap="square" lIns="0" rIns="0" tIns="0" bIns="0" anchor="t">
            <a:spAutoFit/>
          </a:bodyPr>
          <a:lstStyle/>
          <a:p>
            <a:pPr algn="l">
              <a:lnSpc>
                <a:spcPct val="120000"/>
              </a:lnSpc>
              <a:spcAft>
                <a:spcPts val="0"/>
              </a:spcAft>
            </a:pPr>
            <a:r>
              <a:rPr sz="2200" b="1">
                <a:solidFill>
                  <a:srgbClr val="0E9A87"/>
                </a:solidFill>
                <a:latin typeface="Calibri"/>
              </a:rPr>
              <a:t>Hotfloor</a:t>
            </a:r>
          </a:p>
        </p:txBody>
      </p:sp>
      <p:sp>
        <p:nvSpPr>
          <p:cNvPr id="27" name="TextBox 26"/>
          <p:cNvSpPr txBox="1"/>
          <p:nvPr/>
        </p:nvSpPr>
        <p:spPr>
          <a:xfrm>
            <a:off x="6589623" y="2359152"/>
            <a:ext cx="3352647" cy="237744"/>
          </a:xfrm>
          <a:prstGeom prst="rect">
            <a:avLst/>
          </a:prstGeom>
          <a:noFill/>
        </p:spPr>
        <p:txBody>
          <a:bodyPr wrap="square" lIns="0" rIns="0" tIns="0" bIns="0" anchor="t">
            <a:spAutoFit/>
          </a:bodyPr>
          <a:lstStyle/>
          <a:p>
            <a:pPr algn="l">
              <a:lnSpc>
                <a:spcPct val="120000"/>
              </a:lnSpc>
              <a:spcAft>
                <a:spcPts val="0"/>
              </a:spcAft>
            </a:pPr>
            <a:r>
              <a:rPr sz="1050" b="0">
                <a:solidFill>
                  <a:srgbClr val="55677C"/>
                </a:solidFill>
                <a:latin typeface="Calibri"/>
              </a:rPr>
              <a:t>16 bedden vastgesteld</a:t>
            </a:r>
          </a:p>
        </p:txBody>
      </p:sp>
      <p:sp>
        <p:nvSpPr>
          <p:cNvPr id="28" name="TextBox 27"/>
          <p:cNvSpPr txBox="1"/>
          <p:nvPr/>
        </p:nvSpPr>
        <p:spPr>
          <a:xfrm>
            <a:off x="9814255" y="1847088"/>
            <a:ext cx="1426464" cy="658368"/>
          </a:xfrm>
          <a:prstGeom prst="rect">
            <a:avLst/>
          </a:prstGeom>
          <a:noFill/>
        </p:spPr>
        <p:txBody>
          <a:bodyPr wrap="square" lIns="0" rIns="0" tIns="0" bIns="0" anchor="t">
            <a:spAutoFit/>
          </a:bodyPr>
          <a:lstStyle/>
          <a:p>
            <a:pPr algn="r">
              <a:lnSpc>
                <a:spcPct val="120000"/>
              </a:lnSpc>
              <a:spcAft>
                <a:spcPts val="0"/>
              </a:spcAft>
            </a:pPr>
            <a:r>
              <a:rPr sz="4000" b="1">
                <a:solidFill>
                  <a:srgbClr val="0E9A87"/>
                </a:solidFill>
                <a:latin typeface="Calibri"/>
              </a:rPr>
              <a:t>16</a:t>
            </a:r>
          </a:p>
        </p:txBody>
      </p:sp>
      <p:sp>
        <p:nvSpPr>
          <p:cNvPr id="29" name="TextBox 28"/>
          <p:cNvSpPr txBox="1"/>
          <p:nvPr/>
        </p:nvSpPr>
        <p:spPr>
          <a:xfrm>
            <a:off x="9814255" y="2414016"/>
            <a:ext cx="1426464" cy="201168"/>
          </a:xfrm>
          <a:prstGeom prst="rect">
            <a:avLst/>
          </a:prstGeom>
          <a:noFill/>
        </p:spPr>
        <p:txBody>
          <a:bodyPr wrap="square" lIns="0" rIns="0" tIns="0" bIns="0" anchor="t">
            <a:spAutoFit/>
          </a:bodyPr>
          <a:lstStyle/>
          <a:p>
            <a:pPr algn="r">
              <a:lnSpc>
                <a:spcPct val="120000"/>
              </a:lnSpc>
              <a:spcAft>
                <a:spcPts val="0"/>
              </a:spcAft>
            </a:pPr>
            <a:r>
              <a:rPr sz="850" b="1" spc="140">
                <a:solidFill>
                  <a:srgbClr val="8B9AAA"/>
                </a:solidFill>
                <a:latin typeface="Calibri"/>
              </a:rPr>
              <a:t>BEDDEN</a:t>
            </a:r>
          </a:p>
        </p:txBody>
      </p:sp>
      <p:cxnSp>
        <p:nvCxnSpPr>
          <p:cNvPr id="30" name="Connector 29"/>
          <p:cNvCxnSpPr/>
          <p:nvPr/>
        </p:nvCxnSpPr>
        <p:spPr>
          <a:xfrm>
            <a:off x="6589623" y="2724912"/>
            <a:ext cx="4651096" cy="0"/>
          </a:xfrm>
          <a:prstGeom prst="line">
            <a:avLst/>
          </a:prstGeom>
          <a:ln w="12700">
            <a:solidFill>
              <a:srgbClr val="8BCDC7"/>
            </a:solidFill>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6589623" y="2907792"/>
            <a:ext cx="4651095" cy="548640"/>
          </a:xfrm>
          <a:prstGeom prst="roundRect">
            <a:avLst>
              <a:gd name="adj" fmla="val 8000"/>
            </a:avLst>
          </a:prstGeom>
          <a:solidFill>
            <a:srgbClr val="FFFFFF"/>
          </a:solidFill>
          <a:ln w="12700">
            <a:solidFill>
              <a:srgbClr val="96D1C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6809079" y="2944368"/>
            <a:ext cx="2325547" cy="475488"/>
          </a:xfrm>
          <a:prstGeom prst="rect">
            <a:avLst/>
          </a:prstGeom>
          <a:noFill/>
        </p:spPr>
        <p:txBody>
          <a:bodyPr wrap="square" lIns="0" rIns="0" tIns="0" bIns="0" anchor="ctr">
            <a:spAutoFit/>
          </a:bodyPr>
          <a:lstStyle/>
          <a:p>
            <a:pPr algn="l">
              <a:lnSpc>
                <a:spcPct val="120000"/>
              </a:lnSpc>
              <a:spcAft>
                <a:spcPts val="0"/>
              </a:spcAft>
            </a:pPr>
            <a:r>
              <a:rPr sz="1400" b="1">
                <a:solidFill>
                  <a:srgbClr val="0D1B2A"/>
                </a:solidFill>
                <a:latin typeface="Calibri"/>
              </a:rPr>
              <a:t>ICU</a:t>
            </a:r>
          </a:p>
        </p:txBody>
      </p:sp>
      <p:sp>
        <p:nvSpPr>
          <p:cNvPr id="33" name="TextBox 32"/>
          <p:cNvSpPr txBox="1"/>
          <p:nvPr/>
        </p:nvSpPr>
        <p:spPr>
          <a:xfrm>
            <a:off x="9229039" y="2944368"/>
            <a:ext cx="1792224" cy="475488"/>
          </a:xfrm>
          <a:prstGeom prst="rect">
            <a:avLst/>
          </a:prstGeom>
          <a:noFill/>
        </p:spPr>
        <p:txBody>
          <a:bodyPr wrap="square" lIns="0" rIns="0" tIns="0" bIns="0" anchor="ctr">
            <a:spAutoFit/>
          </a:bodyPr>
          <a:lstStyle/>
          <a:p>
            <a:pPr algn="r">
              <a:lnSpc>
                <a:spcPct val="120000"/>
              </a:lnSpc>
              <a:spcAft>
                <a:spcPts val="0"/>
              </a:spcAft>
            </a:pPr>
            <a:r>
              <a:rPr sz="1200" b="1">
                <a:solidFill>
                  <a:srgbClr val="C87E12"/>
                </a:solidFill>
                <a:latin typeface="Calibri"/>
              </a:rPr>
              <a:t>? plekken</a:t>
            </a:r>
          </a:p>
        </p:txBody>
      </p:sp>
      <p:sp>
        <p:nvSpPr>
          <p:cNvPr id="34" name="Rounded Rectangle 33"/>
          <p:cNvSpPr/>
          <p:nvPr/>
        </p:nvSpPr>
        <p:spPr>
          <a:xfrm>
            <a:off x="6589623" y="3584448"/>
            <a:ext cx="4651095" cy="548640"/>
          </a:xfrm>
          <a:prstGeom prst="roundRect">
            <a:avLst>
              <a:gd name="adj" fmla="val 8000"/>
            </a:avLst>
          </a:prstGeom>
          <a:solidFill>
            <a:srgbClr val="FFFFFF"/>
          </a:solidFill>
          <a:ln w="12700">
            <a:solidFill>
              <a:srgbClr val="96D1C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6809079" y="3621024"/>
            <a:ext cx="2325547" cy="475488"/>
          </a:xfrm>
          <a:prstGeom prst="rect">
            <a:avLst/>
          </a:prstGeom>
          <a:noFill/>
        </p:spPr>
        <p:txBody>
          <a:bodyPr wrap="square" lIns="0" rIns="0" tIns="0" bIns="0" anchor="ctr">
            <a:spAutoFit/>
          </a:bodyPr>
          <a:lstStyle/>
          <a:p>
            <a:pPr algn="l">
              <a:lnSpc>
                <a:spcPct val="120000"/>
              </a:lnSpc>
              <a:spcAft>
                <a:spcPts val="0"/>
              </a:spcAft>
            </a:pPr>
            <a:r>
              <a:rPr sz="1400" b="1">
                <a:solidFill>
                  <a:srgbClr val="0D1B2A"/>
                </a:solidFill>
                <a:latin typeface="Calibri"/>
              </a:rPr>
              <a:t>CCU / SCU</a:t>
            </a:r>
          </a:p>
        </p:txBody>
      </p:sp>
      <p:sp>
        <p:nvSpPr>
          <p:cNvPr id="36" name="TextBox 35"/>
          <p:cNvSpPr txBox="1"/>
          <p:nvPr/>
        </p:nvSpPr>
        <p:spPr>
          <a:xfrm>
            <a:off x="9229039" y="3621024"/>
            <a:ext cx="1792224" cy="475488"/>
          </a:xfrm>
          <a:prstGeom prst="rect">
            <a:avLst/>
          </a:prstGeom>
          <a:noFill/>
        </p:spPr>
        <p:txBody>
          <a:bodyPr wrap="square" lIns="0" rIns="0" tIns="0" bIns="0" anchor="ctr">
            <a:spAutoFit/>
          </a:bodyPr>
          <a:lstStyle/>
          <a:p>
            <a:pPr algn="r">
              <a:lnSpc>
                <a:spcPct val="120000"/>
              </a:lnSpc>
              <a:spcAft>
                <a:spcPts val="0"/>
              </a:spcAft>
            </a:pPr>
            <a:r>
              <a:rPr sz="1200" b="1">
                <a:solidFill>
                  <a:srgbClr val="C87E12"/>
                </a:solidFill>
                <a:latin typeface="Calibri"/>
              </a:rPr>
              <a:t>? plekken</a:t>
            </a:r>
          </a:p>
        </p:txBody>
      </p:sp>
      <p:sp>
        <p:nvSpPr>
          <p:cNvPr id="37" name="Rounded Rectangle 36"/>
          <p:cNvSpPr/>
          <p:nvPr/>
        </p:nvSpPr>
        <p:spPr>
          <a:xfrm>
            <a:off x="640080" y="5358383"/>
            <a:ext cx="10911535" cy="786384"/>
          </a:xfrm>
          <a:prstGeom prst="roundRect">
            <a:avLst>
              <a:gd name="adj" fmla="val 3000"/>
            </a:avLst>
          </a:prstGeom>
          <a:solidFill>
            <a:srgbClr val="EDEAE5"/>
          </a:solidFill>
          <a:ln w="15875">
            <a:solidFill>
              <a:srgbClr val="E1C8A3"/>
            </a:solidFill>
          </a:ln>
          <a:effectLst>
            <a:outerShdw blurRad="60000" dist="18000" dir="5400000" rotWithShape="0">
              <a:srgbClr val="1B3A5C">
                <a:alpha val="7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Rounded Rectangle 37"/>
          <p:cNvSpPr/>
          <p:nvPr/>
        </p:nvSpPr>
        <p:spPr>
          <a:xfrm>
            <a:off x="640080" y="5358383"/>
            <a:ext cx="50292" cy="786384"/>
          </a:xfrm>
          <a:prstGeom prst="roundRect">
            <a:avLst>
              <a:gd name="adj" fmla="val 50000"/>
            </a:avLst>
          </a:prstGeom>
          <a:solidFill>
            <a:srgbClr val="C87E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969264" y="5440679"/>
            <a:ext cx="9997135" cy="621792"/>
          </a:xfrm>
          <a:prstGeom prst="rect">
            <a:avLst/>
          </a:prstGeom>
          <a:noFill/>
        </p:spPr>
        <p:txBody>
          <a:bodyPr wrap="square" lIns="0" rIns="0" tIns="0" bIns="0" anchor="ctr">
            <a:spAutoFit/>
          </a:bodyPr>
          <a:lstStyle/>
          <a:p>
            <a:pPr algn="l">
              <a:lnSpc>
                <a:spcPct val="120000"/>
              </a:lnSpc>
              <a:spcAft>
                <a:spcPts val="300"/>
              </a:spcAft>
            </a:pPr>
            <a:r>
              <a:rPr sz="950" b="1" spc="180">
                <a:solidFill>
                  <a:srgbClr val="C87E12"/>
                </a:solidFill>
                <a:latin typeface="Calibri"/>
              </a:rPr>
              <a:t>WAT ER NOG BEPAALD MOET WORDEN</a:t>
            </a:r>
          </a:p>
          <a:p>
            <a:pPr algn="l">
              <a:lnSpc>
                <a:spcPct val="120000"/>
              </a:lnSpc>
              <a:spcAft>
                <a:spcPts val="0"/>
              </a:spcAft>
            </a:pPr>
            <a:r>
              <a:rPr sz="1250" b="1">
                <a:solidFill>
                  <a:srgbClr val="0D1B2A"/>
                </a:solidFill>
                <a:latin typeface="Calibri"/>
              </a:rPr>
              <a:t>Voor de acute poort staan de SEH op achttien en de EHH op vijf kamers; voor kind is nog geen aantal benoemd. Voor de Hotfloor staat het totaal op zestien bedden, maar de verdeling over ICU en CCU/SCU niet.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FFFFFF"/>
              </a:gs>
              <a:gs pos="100000">
                <a:srgbClr val="F1F6FC"/>
              </a:gs>
            </a:gsLst>
            <a:lin scaled="0" ang="189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640080" y="566928"/>
            <a:ext cx="10911535" cy="219456"/>
          </a:xfrm>
          <a:prstGeom prst="rect">
            <a:avLst/>
          </a:prstGeom>
          <a:noFill/>
        </p:spPr>
        <p:txBody>
          <a:bodyPr wrap="square" lIns="0" rIns="0" tIns="0" bIns="0" anchor="t">
            <a:spAutoFit/>
          </a:bodyPr>
          <a:lstStyle/>
          <a:p>
            <a:pPr algn="l">
              <a:lnSpc>
                <a:spcPct val="120000"/>
              </a:lnSpc>
              <a:spcAft>
                <a:spcPts val="0"/>
              </a:spcAft>
            </a:pPr>
            <a:r>
              <a:rPr sz="1050" b="1" spc="220">
                <a:solidFill>
                  <a:srgbClr val="1F6FB2"/>
                </a:solidFill>
                <a:latin typeface="Calibri"/>
              </a:rPr>
              <a:t>DEEL 03  ·  WAT VERANDERT ER</a:t>
            </a:r>
          </a:p>
        </p:txBody>
      </p:sp>
      <p:sp>
        <p:nvSpPr>
          <p:cNvPr id="4" name="TextBox 3"/>
          <p:cNvSpPr txBox="1"/>
          <p:nvPr/>
        </p:nvSpPr>
        <p:spPr>
          <a:xfrm>
            <a:off x="640080" y="859536"/>
            <a:ext cx="10911535" cy="566928"/>
          </a:xfrm>
          <a:prstGeom prst="rect">
            <a:avLst/>
          </a:prstGeom>
          <a:noFill/>
        </p:spPr>
        <p:txBody>
          <a:bodyPr wrap="square" lIns="0" rIns="0" tIns="0" bIns="0" anchor="t">
            <a:spAutoFit/>
          </a:bodyPr>
          <a:lstStyle/>
          <a:p>
            <a:pPr algn="l">
              <a:lnSpc>
                <a:spcPct val="120000"/>
              </a:lnSpc>
              <a:spcAft>
                <a:spcPts val="0"/>
              </a:spcAft>
            </a:pPr>
            <a:r>
              <a:rPr sz="3400" b="1">
                <a:solidFill>
                  <a:srgbClr val="0D1B2A"/>
                </a:solidFill>
                <a:latin typeface="Calibri"/>
              </a:rPr>
              <a:t>De acute poort in kamers</a:t>
            </a:r>
          </a:p>
        </p:txBody>
      </p:sp>
      <p:sp>
        <p:nvSpPr>
          <p:cNvPr id="5" name="TextBox 4"/>
          <p:cNvSpPr txBox="1"/>
          <p:nvPr/>
        </p:nvSpPr>
        <p:spPr>
          <a:xfrm>
            <a:off x="640080" y="1335024"/>
            <a:ext cx="8510997" cy="274320"/>
          </a:xfrm>
          <a:prstGeom prst="rect">
            <a:avLst/>
          </a:prstGeom>
          <a:noFill/>
        </p:spPr>
        <p:txBody>
          <a:bodyPr wrap="square" lIns="0" rIns="0" tIns="0" bIns="0" anchor="t">
            <a:spAutoFit/>
          </a:bodyPr>
          <a:lstStyle/>
          <a:p>
            <a:pPr algn="l">
              <a:lnSpc>
                <a:spcPct val="120000"/>
              </a:lnSpc>
              <a:spcAft>
                <a:spcPts val="0"/>
              </a:spcAft>
            </a:pPr>
            <a:r>
              <a:rPr sz="1300" b="0">
                <a:solidFill>
                  <a:srgbClr val="55677C"/>
                </a:solidFill>
                <a:latin typeface="Calibri"/>
              </a:rPr>
              <a:t>Achttien SEH-kamers en vijf EHH-kamers — maar niet alle achttien zijn opnamekamers</a:t>
            </a:r>
          </a:p>
        </p:txBody>
      </p:sp>
      <p:cxnSp>
        <p:nvCxnSpPr>
          <p:cNvPr id="6" name="Connector 5"/>
          <p:cNvCxnSpPr/>
          <p:nvPr/>
        </p:nvCxnSpPr>
        <p:spPr>
          <a:xfrm>
            <a:off x="640080" y="1609344"/>
            <a:ext cx="10911535" cy="0"/>
          </a:xfrm>
          <a:prstGeom prst="line">
            <a:avLst/>
          </a:prstGeom>
          <a:ln w="12700">
            <a:solidFill>
              <a:srgbClr val="E2E9F1"/>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640080" y="6291072"/>
            <a:ext cx="10911535" cy="0"/>
          </a:xfrm>
          <a:prstGeom prst="line">
            <a:avLst/>
          </a:prstGeom>
          <a:ln w="9525">
            <a:solidFill>
              <a:srgbClr val="E2E9F1"/>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40080" y="6382512"/>
            <a:ext cx="5486400" cy="237744"/>
          </a:xfrm>
          <a:prstGeom prst="rect">
            <a:avLst/>
          </a:prstGeom>
          <a:noFill/>
        </p:spPr>
        <p:txBody>
          <a:bodyPr wrap="square" lIns="0" rIns="0" tIns="0" bIns="0" anchor="t">
            <a:spAutoFit/>
          </a:bodyPr>
          <a:lstStyle/>
          <a:p>
            <a:pPr algn="l">
              <a:lnSpc>
                <a:spcPct val="120000"/>
              </a:lnSpc>
              <a:spcAft>
                <a:spcPts val="0"/>
              </a:spcAft>
            </a:pPr>
            <a:r>
              <a:rPr sz="900" b="0" spc="80">
                <a:solidFill>
                  <a:srgbClr val="8B9AAA"/>
                </a:solidFill>
                <a:latin typeface="Calibri"/>
              </a:rPr>
              <a:t>Acute poort en Hotfloor</a:t>
            </a:r>
          </a:p>
        </p:txBody>
      </p:sp>
      <p:sp>
        <p:nvSpPr>
          <p:cNvPr id="9" name="TextBox 8"/>
          <p:cNvSpPr txBox="1"/>
          <p:nvPr/>
        </p:nvSpPr>
        <p:spPr>
          <a:xfrm>
            <a:off x="10637215" y="6382512"/>
            <a:ext cx="914400" cy="237744"/>
          </a:xfrm>
          <a:prstGeom prst="rect">
            <a:avLst/>
          </a:prstGeom>
          <a:noFill/>
        </p:spPr>
        <p:txBody>
          <a:bodyPr wrap="square" lIns="0" rIns="0" tIns="0" bIns="0" anchor="t">
            <a:spAutoFit/>
          </a:bodyPr>
          <a:lstStyle/>
          <a:p>
            <a:pPr algn="r">
              <a:lnSpc>
                <a:spcPct val="120000"/>
              </a:lnSpc>
              <a:spcAft>
                <a:spcPts val="0"/>
              </a:spcAft>
            </a:pPr>
            <a:r>
              <a:rPr sz="950" b="1">
                <a:solidFill>
                  <a:srgbClr val="0E9A87"/>
                </a:solidFill>
                <a:latin typeface="Calibri"/>
              </a:rPr>
              <a:t>11</a:t>
            </a:r>
          </a:p>
        </p:txBody>
      </p:sp>
      <p:sp>
        <p:nvSpPr>
          <p:cNvPr id="10" name="Rounded Rectangle 9"/>
          <p:cNvSpPr/>
          <p:nvPr/>
        </p:nvSpPr>
        <p:spPr>
          <a:xfrm>
            <a:off x="640080" y="1700784"/>
            <a:ext cx="6720840" cy="3291840"/>
          </a:xfrm>
          <a:prstGeom prst="roundRect">
            <a:avLst>
              <a:gd name="adj" fmla="val 3000"/>
            </a:avLst>
          </a:prstGeom>
          <a:solidFill>
            <a:srgbClr val="FFFFFF"/>
          </a:solidFill>
          <a:ln w="12700">
            <a:solidFill>
              <a:srgbClr val="E2E9F1"/>
            </a:solidFill>
          </a:ln>
          <a:effectLst>
            <a:outerShdw blurRad="70000" dist="22000" dir="5400000" rotWithShape="0">
              <a:srgbClr val="1B3A5C">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50976" y="1920240"/>
            <a:ext cx="2743200" cy="365760"/>
          </a:xfrm>
          <a:prstGeom prst="rect">
            <a:avLst/>
          </a:prstGeom>
          <a:noFill/>
        </p:spPr>
        <p:txBody>
          <a:bodyPr wrap="square" lIns="0" rIns="0" tIns="0" bIns="0" anchor="t">
            <a:spAutoFit/>
          </a:bodyPr>
          <a:lstStyle/>
          <a:p>
            <a:pPr algn="l">
              <a:lnSpc>
                <a:spcPct val="120000"/>
              </a:lnSpc>
              <a:spcAft>
                <a:spcPts val="0"/>
              </a:spcAft>
            </a:pPr>
            <a:r>
              <a:rPr sz="2200" b="1">
                <a:solidFill>
                  <a:srgbClr val="1F6FB2"/>
                </a:solidFill>
                <a:latin typeface="Calibri"/>
              </a:rPr>
              <a:t>SEH</a:t>
            </a:r>
          </a:p>
        </p:txBody>
      </p:sp>
      <p:sp>
        <p:nvSpPr>
          <p:cNvPr id="12" name="TextBox 11"/>
          <p:cNvSpPr txBox="1"/>
          <p:nvPr/>
        </p:nvSpPr>
        <p:spPr>
          <a:xfrm>
            <a:off x="950976" y="2322576"/>
            <a:ext cx="2743200" cy="237744"/>
          </a:xfrm>
          <a:prstGeom prst="rect">
            <a:avLst/>
          </a:prstGeom>
          <a:noFill/>
        </p:spPr>
        <p:txBody>
          <a:bodyPr wrap="square" lIns="0" rIns="0" tIns="0" bIns="0" anchor="t">
            <a:spAutoFit/>
          </a:bodyPr>
          <a:lstStyle/>
          <a:p>
            <a:pPr algn="l">
              <a:lnSpc>
                <a:spcPct val="120000"/>
              </a:lnSpc>
              <a:spcAft>
                <a:spcPts val="0"/>
              </a:spcAft>
            </a:pPr>
            <a:r>
              <a:rPr sz="1000" b="1" spc="160">
                <a:solidFill>
                  <a:srgbClr val="55677C"/>
                </a:solidFill>
                <a:latin typeface="Calibri"/>
              </a:rPr>
              <a:t>18 KAMERS</a:t>
            </a:r>
          </a:p>
        </p:txBody>
      </p:sp>
      <p:sp>
        <p:nvSpPr>
          <p:cNvPr id="13" name="Rounded Rectangle 12"/>
          <p:cNvSpPr/>
          <p:nvPr/>
        </p:nvSpPr>
        <p:spPr>
          <a:xfrm>
            <a:off x="969264" y="2670048"/>
            <a:ext cx="457200" cy="457200"/>
          </a:xfrm>
          <a:prstGeom prst="roundRect">
            <a:avLst>
              <a:gd name="adj" fmla="val 14000"/>
            </a:avLst>
          </a:prstGeom>
          <a:solidFill>
            <a:srgbClr val="1F6FB2">
              <a:alpha val="92000"/>
            </a:srgbClr>
          </a:solidFill>
          <a:ln w="15875">
            <a:solidFill>
              <a:srgbClr val="1F6FB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ounded Rectangle 13"/>
          <p:cNvSpPr/>
          <p:nvPr/>
        </p:nvSpPr>
        <p:spPr>
          <a:xfrm>
            <a:off x="1536192" y="2670048"/>
            <a:ext cx="457200" cy="457200"/>
          </a:xfrm>
          <a:prstGeom prst="roundRect">
            <a:avLst>
              <a:gd name="adj" fmla="val 14000"/>
            </a:avLst>
          </a:prstGeom>
          <a:solidFill>
            <a:srgbClr val="1F6FB2">
              <a:alpha val="92000"/>
            </a:srgbClr>
          </a:solidFill>
          <a:ln w="15875">
            <a:solidFill>
              <a:srgbClr val="1F6FB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ounded Rectangle 14"/>
          <p:cNvSpPr/>
          <p:nvPr/>
        </p:nvSpPr>
        <p:spPr>
          <a:xfrm>
            <a:off x="2103120" y="2670048"/>
            <a:ext cx="457200" cy="457200"/>
          </a:xfrm>
          <a:prstGeom prst="roundRect">
            <a:avLst>
              <a:gd name="adj" fmla="val 14000"/>
            </a:avLst>
          </a:prstGeom>
          <a:solidFill>
            <a:srgbClr val="1F6FB2">
              <a:alpha val="92000"/>
            </a:srgbClr>
          </a:solidFill>
          <a:ln w="15875">
            <a:solidFill>
              <a:srgbClr val="1F6FB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2670048" y="2670048"/>
            <a:ext cx="457200" cy="457200"/>
          </a:xfrm>
          <a:prstGeom prst="roundRect">
            <a:avLst>
              <a:gd name="adj" fmla="val 14000"/>
            </a:avLst>
          </a:prstGeom>
          <a:solidFill>
            <a:srgbClr val="1F6FB2">
              <a:alpha val="92000"/>
            </a:srgbClr>
          </a:solidFill>
          <a:ln w="15875">
            <a:solidFill>
              <a:srgbClr val="1F6FB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3236976" y="2670048"/>
            <a:ext cx="457200" cy="457200"/>
          </a:xfrm>
          <a:prstGeom prst="roundRect">
            <a:avLst>
              <a:gd name="adj" fmla="val 14000"/>
            </a:avLst>
          </a:prstGeom>
          <a:solidFill>
            <a:srgbClr val="1F6FB2">
              <a:alpha val="92000"/>
            </a:srgbClr>
          </a:solidFill>
          <a:ln w="15875">
            <a:solidFill>
              <a:srgbClr val="1F6FB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ounded Rectangle 17"/>
          <p:cNvSpPr/>
          <p:nvPr/>
        </p:nvSpPr>
        <p:spPr>
          <a:xfrm>
            <a:off x="3803904" y="2670048"/>
            <a:ext cx="457200" cy="457200"/>
          </a:xfrm>
          <a:prstGeom prst="roundRect">
            <a:avLst>
              <a:gd name="adj" fmla="val 14000"/>
            </a:avLst>
          </a:prstGeom>
          <a:solidFill>
            <a:srgbClr val="1F6FB2">
              <a:alpha val="92000"/>
            </a:srgbClr>
          </a:solidFill>
          <a:ln w="15875">
            <a:solidFill>
              <a:srgbClr val="1F6FB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ounded Rectangle 18"/>
          <p:cNvSpPr/>
          <p:nvPr/>
        </p:nvSpPr>
        <p:spPr>
          <a:xfrm>
            <a:off x="969264" y="3236976"/>
            <a:ext cx="457200" cy="457200"/>
          </a:xfrm>
          <a:prstGeom prst="roundRect">
            <a:avLst>
              <a:gd name="adj" fmla="val 14000"/>
            </a:avLst>
          </a:prstGeom>
          <a:solidFill>
            <a:srgbClr val="1F6FB2">
              <a:alpha val="92000"/>
            </a:srgbClr>
          </a:solidFill>
          <a:ln w="15875">
            <a:solidFill>
              <a:srgbClr val="1F6FB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1536192" y="3236976"/>
            <a:ext cx="457200" cy="457200"/>
          </a:xfrm>
          <a:prstGeom prst="roundRect">
            <a:avLst>
              <a:gd name="adj" fmla="val 14000"/>
            </a:avLst>
          </a:prstGeom>
          <a:solidFill>
            <a:srgbClr val="1F6FB2">
              <a:alpha val="92000"/>
            </a:srgbClr>
          </a:solidFill>
          <a:ln w="15875">
            <a:solidFill>
              <a:srgbClr val="1F6FB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2103120" y="3236976"/>
            <a:ext cx="457200" cy="457200"/>
          </a:xfrm>
          <a:prstGeom prst="roundRect">
            <a:avLst>
              <a:gd name="adj" fmla="val 14000"/>
            </a:avLst>
          </a:prstGeom>
          <a:solidFill>
            <a:srgbClr val="1F6FB2">
              <a:alpha val="92000"/>
            </a:srgbClr>
          </a:solidFill>
          <a:ln w="15875">
            <a:solidFill>
              <a:srgbClr val="1F6FB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ounded Rectangle 21"/>
          <p:cNvSpPr/>
          <p:nvPr/>
        </p:nvSpPr>
        <p:spPr>
          <a:xfrm>
            <a:off x="2670048" y="3236976"/>
            <a:ext cx="457200" cy="457200"/>
          </a:xfrm>
          <a:prstGeom prst="roundRect">
            <a:avLst>
              <a:gd name="adj" fmla="val 14000"/>
            </a:avLst>
          </a:prstGeom>
          <a:solidFill>
            <a:srgbClr val="1F6FB2">
              <a:alpha val="92000"/>
            </a:srgbClr>
          </a:solidFill>
          <a:ln w="15875">
            <a:solidFill>
              <a:srgbClr val="1F6FB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ounded Rectangle 22"/>
          <p:cNvSpPr/>
          <p:nvPr/>
        </p:nvSpPr>
        <p:spPr>
          <a:xfrm>
            <a:off x="3236976" y="3236976"/>
            <a:ext cx="457200" cy="457200"/>
          </a:xfrm>
          <a:prstGeom prst="roundRect">
            <a:avLst>
              <a:gd name="adj" fmla="val 14000"/>
            </a:avLst>
          </a:prstGeom>
          <a:solidFill>
            <a:srgbClr val="1F6FB2">
              <a:alpha val="92000"/>
            </a:srgbClr>
          </a:solidFill>
          <a:ln w="15875">
            <a:solidFill>
              <a:srgbClr val="1F6FB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ounded Rectangle 23"/>
          <p:cNvSpPr/>
          <p:nvPr/>
        </p:nvSpPr>
        <p:spPr>
          <a:xfrm>
            <a:off x="3803904" y="3236976"/>
            <a:ext cx="457200" cy="457200"/>
          </a:xfrm>
          <a:prstGeom prst="roundRect">
            <a:avLst>
              <a:gd name="adj" fmla="val 14000"/>
            </a:avLst>
          </a:prstGeom>
          <a:solidFill>
            <a:srgbClr val="1F6FB2">
              <a:alpha val="92000"/>
            </a:srgbClr>
          </a:solidFill>
          <a:ln w="15875">
            <a:solidFill>
              <a:srgbClr val="1F6FB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969264" y="3803904"/>
            <a:ext cx="457200" cy="457200"/>
          </a:xfrm>
          <a:prstGeom prst="roundRect">
            <a:avLst>
              <a:gd name="adj" fmla="val 14000"/>
            </a:avLst>
          </a:prstGeom>
          <a:solidFill>
            <a:srgbClr val="0E9A87">
              <a:alpha val="92000"/>
            </a:srgbClr>
          </a:solidFill>
          <a:ln w="15875">
            <a:solidFill>
              <a:srgbClr val="0E9A8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Rounded Rectangle 25"/>
          <p:cNvSpPr/>
          <p:nvPr/>
        </p:nvSpPr>
        <p:spPr>
          <a:xfrm>
            <a:off x="1536192" y="3803904"/>
            <a:ext cx="457200" cy="457200"/>
          </a:xfrm>
          <a:prstGeom prst="roundRect">
            <a:avLst>
              <a:gd name="adj" fmla="val 14000"/>
            </a:avLst>
          </a:prstGeom>
          <a:solidFill>
            <a:srgbClr val="0E9A87">
              <a:alpha val="92000"/>
            </a:srgbClr>
          </a:solidFill>
          <a:ln w="15875">
            <a:solidFill>
              <a:srgbClr val="0E9A8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ounded Rectangle 26"/>
          <p:cNvSpPr/>
          <p:nvPr/>
        </p:nvSpPr>
        <p:spPr>
          <a:xfrm>
            <a:off x="2103120" y="3803904"/>
            <a:ext cx="457200" cy="457200"/>
          </a:xfrm>
          <a:prstGeom prst="roundRect">
            <a:avLst>
              <a:gd name="adj" fmla="val 14000"/>
            </a:avLst>
          </a:prstGeom>
          <a:solidFill>
            <a:srgbClr val="0E9A87">
              <a:alpha val="92000"/>
            </a:srgbClr>
          </a:solidFill>
          <a:ln w="15875">
            <a:solidFill>
              <a:srgbClr val="0E9A8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ounded Rectangle 27"/>
          <p:cNvSpPr/>
          <p:nvPr/>
        </p:nvSpPr>
        <p:spPr>
          <a:xfrm>
            <a:off x="2670048" y="3803904"/>
            <a:ext cx="457200" cy="457200"/>
          </a:xfrm>
          <a:prstGeom prst="roundRect">
            <a:avLst>
              <a:gd name="adj" fmla="val 14000"/>
            </a:avLst>
          </a:prstGeom>
          <a:solidFill>
            <a:srgbClr val="6B4BA8">
              <a:alpha val="92000"/>
            </a:srgbClr>
          </a:solidFill>
          <a:ln w="15875">
            <a:solidFill>
              <a:srgbClr val="6B4BA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3236976" y="3803904"/>
            <a:ext cx="457200" cy="457200"/>
          </a:xfrm>
          <a:prstGeom prst="roundRect">
            <a:avLst>
              <a:gd name="adj" fmla="val 14000"/>
            </a:avLst>
          </a:prstGeom>
          <a:solidFill>
            <a:srgbClr val="C87E12">
              <a:alpha val="92000"/>
            </a:srgbClr>
          </a:solidFill>
          <a:ln w="15875">
            <a:solidFill>
              <a:srgbClr val="C87E1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Rounded Rectangle 29"/>
          <p:cNvSpPr/>
          <p:nvPr/>
        </p:nvSpPr>
        <p:spPr>
          <a:xfrm>
            <a:off x="3803904" y="3803904"/>
            <a:ext cx="457200" cy="457200"/>
          </a:xfrm>
          <a:prstGeom prst="roundRect">
            <a:avLst>
              <a:gd name="adj" fmla="val 14000"/>
            </a:avLst>
          </a:prstGeom>
          <a:solidFill>
            <a:srgbClr val="C87E12">
              <a:alpha val="92000"/>
            </a:srgbClr>
          </a:solidFill>
          <a:ln w="15875">
            <a:solidFill>
              <a:srgbClr val="C87E1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ounded Rectangle 30"/>
          <p:cNvSpPr/>
          <p:nvPr/>
        </p:nvSpPr>
        <p:spPr>
          <a:xfrm>
            <a:off x="4590288" y="2706624"/>
            <a:ext cx="201168" cy="201168"/>
          </a:xfrm>
          <a:prstGeom prst="roundRect">
            <a:avLst>
              <a:gd name="adj" fmla="val 30000"/>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4919472" y="2633472"/>
            <a:ext cx="457200" cy="256032"/>
          </a:xfrm>
          <a:prstGeom prst="rect">
            <a:avLst/>
          </a:prstGeom>
          <a:noFill/>
        </p:spPr>
        <p:txBody>
          <a:bodyPr wrap="square" lIns="0" rIns="0" tIns="0" bIns="0" anchor="t">
            <a:spAutoFit/>
          </a:bodyPr>
          <a:lstStyle/>
          <a:p>
            <a:pPr algn="l">
              <a:lnSpc>
                <a:spcPct val="120000"/>
              </a:lnSpc>
              <a:spcAft>
                <a:spcPts val="0"/>
              </a:spcAft>
            </a:pPr>
            <a:r>
              <a:rPr sz="1300" b="1">
                <a:solidFill>
                  <a:srgbClr val="1F6FB2"/>
                </a:solidFill>
                <a:latin typeface="Calibri"/>
              </a:rPr>
              <a:t>12</a:t>
            </a:r>
          </a:p>
        </p:txBody>
      </p:sp>
      <p:sp>
        <p:nvSpPr>
          <p:cNvPr id="33" name="TextBox 32"/>
          <p:cNvSpPr txBox="1"/>
          <p:nvPr/>
        </p:nvSpPr>
        <p:spPr>
          <a:xfrm>
            <a:off x="5248655" y="2633472"/>
            <a:ext cx="1956816" cy="256032"/>
          </a:xfrm>
          <a:prstGeom prst="rect">
            <a:avLst/>
          </a:prstGeom>
          <a:noFill/>
        </p:spPr>
        <p:txBody>
          <a:bodyPr wrap="square" lIns="0" rIns="0" tIns="0" bIns="0" anchor="t">
            <a:spAutoFit/>
          </a:bodyPr>
          <a:lstStyle/>
          <a:p>
            <a:pPr algn="l">
              <a:lnSpc>
                <a:spcPct val="120000"/>
              </a:lnSpc>
              <a:spcAft>
                <a:spcPts val="0"/>
              </a:spcAft>
            </a:pPr>
            <a:r>
              <a:rPr sz="900" b="1">
                <a:solidFill>
                  <a:srgbClr val="0D1B2A"/>
                </a:solidFill>
                <a:latin typeface="Calibri"/>
              </a:rPr>
              <a:t>reguliere behandelkamers</a:t>
            </a:r>
          </a:p>
        </p:txBody>
      </p:sp>
      <p:sp>
        <p:nvSpPr>
          <p:cNvPr id="34" name="TextBox 33"/>
          <p:cNvSpPr txBox="1"/>
          <p:nvPr/>
        </p:nvSpPr>
        <p:spPr>
          <a:xfrm>
            <a:off x="4919472" y="2889504"/>
            <a:ext cx="2249424" cy="274320"/>
          </a:xfrm>
          <a:prstGeom prst="rect">
            <a:avLst/>
          </a:prstGeom>
          <a:noFill/>
        </p:spPr>
        <p:txBody>
          <a:bodyPr wrap="square" lIns="0" rIns="0" tIns="0" bIns="0" anchor="t">
            <a:spAutoFit/>
          </a:bodyPr>
          <a:lstStyle/>
          <a:p>
            <a:pPr algn="l">
              <a:lnSpc>
                <a:spcPct val="118000"/>
              </a:lnSpc>
              <a:spcAft>
                <a:spcPts val="0"/>
              </a:spcAft>
            </a:pPr>
            <a:r>
              <a:rPr sz="900" b="0">
                <a:solidFill>
                  <a:srgbClr val="55677C"/>
                </a:solidFill>
                <a:latin typeface="Calibri"/>
              </a:rPr>
              <a:t>patiënten worden hier opgenomen</a:t>
            </a:r>
          </a:p>
        </p:txBody>
      </p:sp>
      <p:sp>
        <p:nvSpPr>
          <p:cNvPr id="35" name="Rounded Rectangle 34"/>
          <p:cNvSpPr/>
          <p:nvPr/>
        </p:nvSpPr>
        <p:spPr>
          <a:xfrm>
            <a:off x="4590288" y="3291840"/>
            <a:ext cx="201168" cy="201168"/>
          </a:xfrm>
          <a:prstGeom prst="roundRect">
            <a:avLst>
              <a:gd name="adj" fmla="val 30000"/>
            </a:avLst>
          </a:prstGeom>
          <a:solidFill>
            <a:srgbClr val="0E9A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4919472" y="3218688"/>
            <a:ext cx="457200" cy="256032"/>
          </a:xfrm>
          <a:prstGeom prst="rect">
            <a:avLst/>
          </a:prstGeom>
          <a:noFill/>
        </p:spPr>
        <p:txBody>
          <a:bodyPr wrap="square" lIns="0" rIns="0" tIns="0" bIns="0" anchor="t">
            <a:spAutoFit/>
          </a:bodyPr>
          <a:lstStyle/>
          <a:p>
            <a:pPr algn="l">
              <a:lnSpc>
                <a:spcPct val="120000"/>
              </a:lnSpc>
              <a:spcAft>
                <a:spcPts val="0"/>
              </a:spcAft>
            </a:pPr>
            <a:r>
              <a:rPr sz="1300" b="1">
                <a:solidFill>
                  <a:srgbClr val="0E9A87"/>
                </a:solidFill>
                <a:latin typeface="Calibri"/>
              </a:rPr>
              <a:t>3</a:t>
            </a:r>
          </a:p>
        </p:txBody>
      </p:sp>
      <p:sp>
        <p:nvSpPr>
          <p:cNvPr id="37" name="TextBox 36"/>
          <p:cNvSpPr txBox="1"/>
          <p:nvPr/>
        </p:nvSpPr>
        <p:spPr>
          <a:xfrm>
            <a:off x="5248655" y="3218688"/>
            <a:ext cx="1956816" cy="256032"/>
          </a:xfrm>
          <a:prstGeom prst="rect">
            <a:avLst/>
          </a:prstGeom>
          <a:noFill/>
        </p:spPr>
        <p:txBody>
          <a:bodyPr wrap="square" lIns="0" rIns="0" tIns="0" bIns="0" anchor="t">
            <a:spAutoFit/>
          </a:bodyPr>
          <a:lstStyle/>
          <a:p>
            <a:pPr algn="l">
              <a:lnSpc>
                <a:spcPct val="120000"/>
              </a:lnSpc>
              <a:spcAft>
                <a:spcPts val="0"/>
              </a:spcAft>
            </a:pPr>
            <a:r>
              <a:rPr sz="1100" b="1">
                <a:solidFill>
                  <a:srgbClr val="0D1B2A"/>
                </a:solidFill>
                <a:latin typeface="Calibri"/>
              </a:rPr>
              <a:t>fasttrack</a:t>
            </a:r>
          </a:p>
        </p:txBody>
      </p:sp>
      <p:sp>
        <p:nvSpPr>
          <p:cNvPr id="38" name="TextBox 37"/>
          <p:cNvSpPr txBox="1"/>
          <p:nvPr/>
        </p:nvSpPr>
        <p:spPr>
          <a:xfrm>
            <a:off x="4919472" y="3474720"/>
            <a:ext cx="2249424" cy="274320"/>
          </a:xfrm>
          <a:prstGeom prst="rect">
            <a:avLst/>
          </a:prstGeom>
          <a:noFill/>
        </p:spPr>
        <p:txBody>
          <a:bodyPr wrap="square" lIns="0" rIns="0" tIns="0" bIns="0" anchor="t">
            <a:spAutoFit/>
          </a:bodyPr>
          <a:lstStyle/>
          <a:p>
            <a:pPr algn="l">
              <a:lnSpc>
                <a:spcPct val="118000"/>
              </a:lnSpc>
              <a:spcAft>
                <a:spcPts val="0"/>
              </a:spcAft>
            </a:pPr>
            <a:r>
              <a:rPr sz="900" b="0">
                <a:solidFill>
                  <a:srgbClr val="55677C"/>
                </a:solidFill>
                <a:latin typeface="Calibri"/>
              </a:rPr>
              <a:t>bepaalde patiënten met fracturen</a:t>
            </a:r>
          </a:p>
        </p:txBody>
      </p:sp>
      <p:sp>
        <p:nvSpPr>
          <p:cNvPr id="39" name="Rounded Rectangle 38"/>
          <p:cNvSpPr/>
          <p:nvPr/>
        </p:nvSpPr>
        <p:spPr>
          <a:xfrm>
            <a:off x="4590288" y="3877056"/>
            <a:ext cx="201168" cy="201168"/>
          </a:xfrm>
          <a:prstGeom prst="roundRect">
            <a:avLst>
              <a:gd name="adj" fmla="val 30000"/>
            </a:avLst>
          </a:prstGeom>
          <a:solidFill>
            <a:srgbClr val="6B4B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4919472" y="3803904"/>
            <a:ext cx="457200" cy="256032"/>
          </a:xfrm>
          <a:prstGeom prst="rect">
            <a:avLst/>
          </a:prstGeom>
          <a:noFill/>
        </p:spPr>
        <p:txBody>
          <a:bodyPr wrap="square" lIns="0" rIns="0" tIns="0" bIns="0" anchor="t">
            <a:spAutoFit/>
          </a:bodyPr>
          <a:lstStyle/>
          <a:p>
            <a:pPr algn="l">
              <a:lnSpc>
                <a:spcPct val="120000"/>
              </a:lnSpc>
              <a:spcAft>
                <a:spcPts val="0"/>
              </a:spcAft>
            </a:pPr>
            <a:r>
              <a:rPr sz="1300" b="1">
                <a:solidFill>
                  <a:srgbClr val="6B4BA8"/>
                </a:solidFill>
                <a:latin typeface="Calibri"/>
              </a:rPr>
              <a:t>1</a:t>
            </a:r>
          </a:p>
        </p:txBody>
      </p:sp>
      <p:sp>
        <p:nvSpPr>
          <p:cNvPr id="41" name="TextBox 40"/>
          <p:cNvSpPr txBox="1"/>
          <p:nvPr/>
        </p:nvSpPr>
        <p:spPr>
          <a:xfrm>
            <a:off x="5248655" y="3803904"/>
            <a:ext cx="1956816" cy="256032"/>
          </a:xfrm>
          <a:prstGeom prst="rect">
            <a:avLst/>
          </a:prstGeom>
          <a:noFill/>
        </p:spPr>
        <p:txBody>
          <a:bodyPr wrap="square" lIns="0" rIns="0" tIns="0" bIns="0" anchor="t">
            <a:spAutoFit/>
          </a:bodyPr>
          <a:lstStyle/>
          <a:p>
            <a:pPr algn="l">
              <a:lnSpc>
                <a:spcPct val="120000"/>
              </a:lnSpc>
              <a:spcAft>
                <a:spcPts val="0"/>
              </a:spcAft>
            </a:pPr>
            <a:r>
              <a:rPr sz="1100" b="1">
                <a:solidFill>
                  <a:srgbClr val="0D1B2A"/>
                </a:solidFill>
                <a:latin typeface="Calibri"/>
              </a:rPr>
              <a:t>triage</a:t>
            </a:r>
          </a:p>
        </p:txBody>
      </p:sp>
      <p:sp>
        <p:nvSpPr>
          <p:cNvPr id="42" name="TextBox 41"/>
          <p:cNvSpPr txBox="1"/>
          <p:nvPr/>
        </p:nvSpPr>
        <p:spPr>
          <a:xfrm>
            <a:off x="4919472" y="4059936"/>
            <a:ext cx="2249424" cy="274320"/>
          </a:xfrm>
          <a:prstGeom prst="rect">
            <a:avLst/>
          </a:prstGeom>
          <a:noFill/>
        </p:spPr>
        <p:txBody>
          <a:bodyPr wrap="square" lIns="0" rIns="0" tIns="0" bIns="0" anchor="t">
            <a:spAutoFit/>
          </a:bodyPr>
          <a:lstStyle/>
          <a:p>
            <a:pPr algn="l">
              <a:lnSpc>
                <a:spcPct val="118000"/>
              </a:lnSpc>
              <a:spcAft>
                <a:spcPts val="0"/>
              </a:spcAft>
            </a:pPr>
            <a:r>
              <a:rPr sz="900" b="0">
                <a:solidFill>
                  <a:srgbClr val="55677C"/>
                </a:solidFill>
                <a:latin typeface="Calibri"/>
              </a:rPr>
              <a:t>patiënten worden gezien, niet opgenomen</a:t>
            </a:r>
          </a:p>
        </p:txBody>
      </p:sp>
      <p:sp>
        <p:nvSpPr>
          <p:cNvPr id="43" name="Rounded Rectangle 42"/>
          <p:cNvSpPr/>
          <p:nvPr/>
        </p:nvSpPr>
        <p:spPr>
          <a:xfrm>
            <a:off x="4590288" y="4462272"/>
            <a:ext cx="201168" cy="201168"/>
          </a:xfrm>
          <a:prstGeom prst="roundRect">
            <a:avLst>
              <a:gd name="adj" fmla="val 30000"/>
            </a:avLst>
          </a:prstGeom>
          <a:solidFill>
            <a:srgbClr val="C87E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4919472" y="4389120"/>
            <a:ext cx="457200" cy="256032"/>
          </a:xfrm>
          <a:prstGeom prst="rect">
            <a:avLst/>
          </a:prstGeom>
          <a:noFill/>
        </p:spPr>
        <p:txBody>
          <a:bodyPr wrap="square" lIns="0" rIns="0" tIns="0" bIns="0" anchor="t">
            <a:spAutoFit/>
          </a:bodyPr>
          <a:lstStyle/>
          <a:p>
            <a:pPr algn="l">
              <a:lnSpc>
                <a:spcPct val="120000"/>
              </a:lnSpc>
              <a:spcAft>
                <a:spcPts val="0"/>
              </a:spcAft>
            </a:pPr>
            <a:r>
              <a:rPr sz="1300" b="1">
                <a:solidFill>
                  <a:srgbClr val="C87E12"/>
                </a:solidFill>
                <a:latin typeface="Calibri"/>
              </a:rPr>
              <a:t>2</a:t>
            </a:r>
          </a:p>
        </p:txBody>
      </p:sp>
      <p:sp>
        <p:nvSpPr>
          <p:cNvPr id="45" name="TextBox 44"/>
          <p:cNvSpPr txBox="1"/>
          <p:nvPr/>
        </p:nvSpPr>
        <p:spPr>
          <a:xfrm>
            <a:off x="5248655" y="4389120"/>
            <a:ext cx="1956816" cy="256032"/>
          </a:xfrm>
          <a:prstGeom prst="rect">
            <a:avLst/>
          </a:prstGeom>
          <a:noFill/>
        </p:spPr>
        <p:txBody>
          <a:bodyPr wrap="square" lIns="0" rIns="0" tIns="0" bIns="0" anchor="t">
            <a:spAutoFit/>
          </a:bodyPr>
          <a:lstStyle/>
          <a:p>
            <a:pPr algn="l">
              <a:lnSpc>
                <a:spcPct val="120000"/>
              </a:lnSpc>
              <a:spcAft>
                <a:spcPts val="0"/>
              </a:spcAft>
            </a:pPr>
            <a:r>
              <a:rPr sz="1100" b="1">
                <a:solidFill>
                  <a:srgbClr val="0D1B2A"/>
                </a:solidFill>
                <a:latin typeface="Calibri"/>
              </a:rPr>
              <a:t>acute opvang</a:t>
            </a:r>
          </a:p>
        </p:txBody>
      </p:sp>
      <p:sp>
        <p:nvSpPr>
          <p:cNvPr id="46" name="TextBox 45"/>
          <p:cNvSpPr txBox="1"/>
          <p:nvPr/>
        </p:nvSpPr>
        <p:spPr>
          <a:xfrm>
            <a:off x="4919472" y="4645152"/>
            <a:ext cx="2249424" cy="274320"/>
          </a:xfrm>
          <a:prstGeom prst="rect">
            <a:avLst/>
          </a:prstGeom>
          <a:noFill/>
        </p:spPr>
        <p:txBody>
          <a:bodyPr wrap="square" lIns="0" rIns="0" tIns="0" bIns="0" anchor="t">
            <a:spAutoFit/>
          </a:bodyPr>
          <a:lstStyle/>
          <a:p>
            <a:pPr algn="l">
              <a:lnSpc>
                <a:spcPct val="118000"/>
              </a:lnSpc>
              <a:spcAft>
                <a:spcPts val="0"/>
              </a:spcAft>
            </a:pPr>
            <a:r>
              <a:rPr sz="950" b="0">
                <a:solidFill>
                  <a:srgbClr val="55677C"/>
                </a:solidFill>
                <a:latin typeface="Calibri"/>
              </a:rPr>
              <a:t>korte periode, geen verblijf</a:t>
            </a:r>
          </a:p>
        </p:txBody>
      </p:sp>
      <p:sp>
        <p:nvSpPr>
          <p:cNvPr id="47" name="Rounded Rectangle 46"/>
          <p:cNvSpPr/>
          <p:nvPr/>
        </p:nvSpPr>
        <p:spPr>
          <a:xfrm>
            <a:off x="7671815" y="1700784"/>
            <a:ext cx="3879799" cy="3291840"/>
          </a:xfrm>
          <a:prstGeom prst="roundRect">
            <a:avLst>
              <a:gd name="adj" fmla="val 3000"/>
            </a:avLst>
          </a:prstGeom>
          <a:solidFill>
            <a:srgbClr val="FFFFFF"/>
          </a:solidFill>
          <a:ln w="12700">
            <a:solidFill>
              <a:srgbClr val="E2E9F1"/>
            </a:solidFill>
          </a:ln>
          <a:effectLst>
            <a:outerShdw blurRad="70000" dist="22000" dir="5400000" rotWithShape="0">
              <a:srgbClr val="1B3A5C">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7964423" y="1920240"/>
            <a:ext cx="2743200" cy="365760"/>
          </a:xfrm>
          <a:prstGeom prst="rect">
            <a:avLst/>
          </a:prstGeom>
          <a:noFill/>
        </p:spPr>
        <p:txBody>
          <a:bodyPr wrap="square" lIns="0" rIns="0" tIns="0" bIns="0" anchor="t">
            <a:spAutoFit/>
          </a:bodyPr>
          <a:lstStyle/>
          <a:p>
            <a:pPr algn="l">
              <a:lnSpc>
                <a:spcPct val="120000"/>
              </a:lnSpc>
              <a:spcAft>
                <a:spcPts val="0"/>
              </a:spcAft>
            </a:pPr>
            <a:r>
              <a:rPr sz="2200" b="1">
                <a:solidFill>
                  <a:srgbClr val="123A63"/>
                </a:solidFill>
                <a:latin typeface="Calibri"/>
              </a:rPr>
              <a:t>EHH</a:t>
            </a:r>
          </a:p>
        </p:txBody>
      </p:sp>
      <p:sp>
        <p:nvSpPr>
          <p:cNvPr id="49" name="TextBox 48"/>
          <p:cNvSpPr txBox="1"/>
          <p:nvPr/>
        </p:nvSpPr>
        <p:spPr>
          <a:xfrm>
            <a:off x="7964423" y="2322576"/>
            <a:ext cx="2743200" cy="237744"/>
          </a:xfrm>
          <a:prstGeom prst="rect">
            <a:avLst/>
          </a:prstGeom>
          <a:noFill/>
        </p:spPr>
        <p:txBody>
          <a:bodyPr wrap="square" lIns="0" rIns="0" tIns="0" bIns="0" anchor="t">
            <a:spAutoFit/>
          </a:bodyPr>
          <a:lstStyle/>
          <a:p>
            <a:pPr algn="l">
              <a:lnSpc>
                <a:spcPct val="120000"/>
              </a:lnSpc>
              <a:spcAft>
                <a:spcPts val="0"/>
              </a:spcAft>
            </a:pPr>
            <a:r>
              <a:rPr sz="1000" b="1" spc="160">
                <a:solidFill>
                  <a:srgbClr val="55677C"/>
                </a:solidFill>
                <a:latin typeface="Calibri"/>
              </a:rPr>
              <a:t>5 KAMERS</a:t>
            </a:r>
          </a:p>
        </p:txBody>
      </p:sp>
      <p:sp>
        <p:nvSpPr>
          <p:cNvPr id="50" name="Rounded Rectangle 49"/>
          <p:cNvSpPr/>
          <p:nvPr/>
        </p:nvSpPr>
        <p:spPr>
          <a:xfrm>
            <a:off x="7982711" y="2670048"/>
            <a:ext cx="457200" cy="457200"/>
          </a:xfrm>
          <a:prstGeom prst="roundRect">
            <a:avLst>
              <a:gd name="adj" fmla="val 14000"/>
            </a:avLst>
          </a:prstGeom>
          <a:solidFill>
            <a:srgbClr val="123A63">
              <a:alpha val="92000"/>
            </a:srgbClr>
          </a:solidFill>
          <a:ln w="15875">
            <a:solidFill>
              <a:srgbClr val="123A6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Rounded Rectangle 50"/>
          <p:cNvSpPr/>
          <p:nvPr/>
        </p:nvSpPr>
        <p:spPr>
          <a:xfrm>
            <a:off x="8549639" y="2670048"/>
            <a:ext cx="457200" cy="457200"/>
          </a:xfrm>
          <a:prstGeom prst="roundRect">
            <a:avLst>
              <a:gd name="adj" fmla="val 14000"/>
            </a:avLst>
          </a:prstGeom>
          <a:solidFill>
            <a:srgbClr val="123A63">
              <a:alpha val="92000"/>
            </a:srgbClr>
          </a:solidFill>
          <a:ln w="15875">
            <a:solidFill>
              <a:srgbClr val="123A6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Rounded Rectangle 51"/>
          <p:cNvSpPr/>
          <p:nvPr/>
        </p:nvSpPr>
        <p:spPr>
          <a:xfrm>
            <a:off x="9116567" y="2670048"/>
            <a:ext cx="457200" cy="457200"/>
          </a:xfrm>
          <a:prstGeom prst="roundRect">
            <a:avLst>
              <a:gd name="adj" fmla="val 14000"/>
            </a:avLst>
          </a:prstGeom>
          <a:solidFill>
            <a:srgbClr val="123A63">
              <a:alpha val="92000"/>
            </a:srgbClr>
          </a:solidFill>
          <a:ln w="15875">
            <a:solidFill>
              <a:srgbClr val="123A6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 name="Rounded Rectangle 52"/>
          <p:cNvSpPr/>
          <p:nvPr/>
        </p:nvSpPr>
        <p:spPr>
          <a:xfrm>
            <a:off x="9683495" y="2670048"/>
            <a:ext cx="457200" cy="457200"/>
          </a:xfrm>
          <a:prstGeom prst="roundRect">
            <a:avLst>
              <a:gd name="adj" fmla="val 14000"/>
            </a:avLst>
          </a:prstGeom>
          <a:solidFill>
            <a:srgbClr val="123A63">
              <a:alpha val="92000"/>
            </a:srgbClr>
          </a:solidFill>
          <a:ln w="15875">
            <a:solidFill>
              <a:srgbClr val="123A6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Rounded Rectangle 53"/>
          <p:cNvSpPr/>
          <p:nvPr/>
        </p:nvSpPr>
        <p:spPr>
          <a:xfrm>
            <a:off x="10250424" y="2670048"/>
            <a:ext cx="457200" cy="457200"/>
          </a:xfrm>
          <a:prstGeom prst="roundRect">
            <a:avLst>
              <a:gd name="adj" fmla="val 14000"/>
            </a:avLst>
          </a:prstGeom>
          <a:solidFill>
            <a:srgbClr val="123A63">
              <a:alpha val="92000"/>
            </a:srgbClr>
          </a:solidFill>
          <a:ln w="15875">
            <a:solidFill>
              <a:srgbClr val="123A6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TextBox 54"/>
          <p:cNvSpPr txBox="1"/>
          <p:nvPr/>
        </p:nvSpPr>
        <p:spPr>
          <a:xfrm>
            <a:off x="7964423" y="3273552"/>
            <a:ext cx="3294583" cy="274320"/>
          </a:xfrm>
          <a:prstGeom prst="rect">
            <a:avLst/>
          </a:prstGeom>
          <a:noFill/>
        </p:spPr>
        <p:txBody>
          <a:bodyPr wrap="square" lIns="0" rIns="0" tIns="0" bIns="0" anchor="t">
            <a:spAutoFit/>
          </a:bodyPr>
          <a:lstStyle/>
          <a:p>
            <a:pPr algn="l">
              <a:lnSpc>
                <a:spcPct val="118000"/>
              </a:lnSpc>
              <a:spcAft>
                <a:spcPts val="0"/>
              </a:spcAft>
            </a:pPr>
            <a:r>
              <a:rPr sz="900" b="0">
                <a:solidFill>
                  <a:srgbClr val="55677C"/>
                </a:solidFill>
                <a:latin typeface="Calibri"/>
              </a:rPr>
              <a:t>eerste hart hulp, verhuist mee naar de acute poort</a:t>
            </a:r>
          </a:p>
        </p:txBody>
      </p:sp>
      <p:cxnSp>
        <p:nvCxnSpPr>
          <p:cNvPr id="56" name="Connector 55"/>
          <p:cNvCxnSpPr/>
          <p:nvPr/>
        </p:nvCxnSpPr>
        <p:spPr>
          <a:xfrm>
            <a:off x="7964423" y="3639312"/>
            <a:ext cx="3294584" cy="0"/>
          </a:xfrm>
          <a:prstGeom prst="line">
            <a:avLst/>
          </a:prstGeom>
          <a:ln w="12700">
            <a:solidFill>
              <a:srgbClr val="E2E9F1"/>
            </a:solidFill>
          </a:ln>
        </p:spPr>
        <p:style>
          <a:lnRef idx="2">
            <a:schemeClr val="accent1"/>
          </a:lnRef>
          <a:fillRef idx="0">
            <a:schemeClr val="accent1"/>
          </a:fillRef>
          <a:effectRef idx="1">
            <a:schemeClr val="accent1"/>
          </a:effectRef>
          <a:fontRef idx="minor">
            <a:schemeClr val="tx1"/>
          </a:fontRef>
        </p:style>
      </p:cxnSp>
      <p:sp>
        <p:nvSpPr>
          <p:cNvPr id="57" name="TextBox 56"/>
          <p:cNvSpPr txBox="1"/>
          <p:nvPr/>
        </p:nvSpPr>
        <p:spPr>
          <a:xfrm>
            <a:off x="7964423" y="3803904"/>
            <a:ext cx="2743200" cy="310896"/>
          </a:xfrm>
          <a:prstGeom prst="rect">
            <a:avLst/>
          </a:prstGeom>
          <a:noFill/>
        </p:spPr>
        <p:txBody>
          <a:bodyPr wrap="square" lIns="0" rIns="0" tIns="0" bIns="0" anchor="t">
            <a:spAutoFit/>
          </a:bodyPr>
          <a:lstStyle/>
          <a:p>
            <a:pPr algn="l">
              <a:lnSpc>
                <a:spcPct val="120000"/>
              </a:lnSpc>
              <a:spcAft>
                <a:spcPts val="0"/>
              </a:spcAft>
            </a:pPr>
            <a:r>
              <a:rPr sz="1800" b="1">
                <a:solidFill>
                  <a:srgbClr val="C87E12"/>
                </a:solidFill>
                <a:latin typeface="Calibri"/>
              </a:rPr>
              <a:t>Kind</a:t>
            </a:r>
          </a:p>
        </p:txBody>
      </p:sp>
      <p:sp>
        <p:nvSpPr>
          <p:cNvPr id="58" name="TextBox 57"/>
          <p:cNvSpPr txBox="1"/>
          <p:nvPr/>
        </p:nvSpPr>
        <p:spPr>
          <a:xfrm>
            <a:off x="7964423" y="4169664"/>
            <a:ext cx="3294583" cy="274320"/>
          </a:xfrm>
          <a:prstGeom prst="rect">
            <a:avLst/>
          </a:prstGeom>
          <a:noFill/>
        </p:spPr>
        <p:txBody>
          <a:bodyPr wrap="square" lIns="0" rIns="0" tIns="0" bIns="0" anchor="t">
            <a:spAutoFit/>
          </a:bodyPr>
          <a:lstStyle/>
          <a:p>
            <a:pPr algn="l">
              <a:lnSpc>
                <a:spcPct val="120000"/>
              </a:lnSpc>
              <a:spcAft>
                <a:spcPts val="0"/>
              </a:spcAft>
            </a:pPr>
            <a:r>
              <a:rPr sz="1050" b="0">
                <a:solidFill>
                  <a:srgbClr val="C87E12"/>
                </a:solidFill>
                <a:latin typeface="Calibri"/>
              </a:rPr>
              <a:t>aantal kamers nog niet benoemd</a:t>
            </a:r>
          </a:p>
        </p:txBody>
      </p:sp>
      <p:sp>
        <p:nvSpPr>
          <p:cNvPr id="59" name="TextBox 58"/>
          <p:cNvSpPr txBox="1"/>
          <p:nvPr/>
        </p:nvSpPr>
        <p:spPr>
          <a:xfrm>
            <a:off x="7964423" y="4462272"/>
            <a:ext cx="3294583" cy="274320"/>
          </a:xfrm>
          <a:prstGeom prst="rect">
            <a:avLst/>
          </a:prstGeom>
          <a:noFill/>
        </p:spPr>
        <p:txBody>
          <a:bodyPr wrap="square" lIns="0" rIns="0" tIns="0" bIns="0" anchor="t">
            <a:spAutoFit/>
          </a:bodyPr>
          <a:lstStyle/>
          <a:p>
            <a:pPr algn="l">
              <a:lnSpc>
                <a:spcPct val="120000"/>
              </a:lnSpc>
              <a:spcAft>
                <a:spcPts val="0"/>
              </a:spcAft>
            </a:pPr>
            <a:r>
              <a:rPr sz="950" b="0">
                <a:solidFill>
                  <a:srgbClr val="8B9AAA"/>
                </a:solidFill>
                <a:latin typeface="Calibri"/>
              </a:rPr>
              <a:t>de derde stroom achter de poort</a:t>
            </a:r>
          </a:p>
        </p:txBody>
      </p:sp>
      <p:sp>
        <p:nvSpPr>
          <p:cNvPr id="60" name="Rounded Rectangle 59"/>
          <p:cNvSpPr/>
          <p:nvPr/>
        </p:nvSpPr>
        <p:spPr>
          <a:xfrm>
            <a:off x="640080" y="5321807"/>
            <a:ext cx="10911535" cy="822960"/>
          </a:xfrm>
          <a:prstGeom prst="roundRect">
            <a:avLst>
              <a:gd name="adj" fmla="val 3000"/>
            </a:avLst>
          </a:prstGeom>
          <a:solidFill>
            <a:srgbClr val="ECE3E7"/>
          </a:solidFill>
          <a:ln w="15875">
            <a:solidFill>
              <a:srgbClr val="E0AEAD"/>
            </a:solidFill>
          </a:ln>
          <a:effectLst>
            <a:outerShdw blurRad="60000" dist="18000" dir="5400000" rotWithShape="0">
              <a:srgbClr val="1B3A5C">
                <a:alpha val="7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1" name="Rounded Rectangle 60"/>
          <p:cNvSpPr/>
          <p:nvPr/>
        </p:nvSpPr>
        <p:spPr>
          <a:xfrm>
            <a:off x="640080" y="5321807"/>
            <a:ext cx="50292" cy="822960"/>
          </a:xfrm>
          <a:prstGeom prst="roundRect">
            <a:avLst>
              <a:gd name="adj" fmla="val 50000"/>
            </a:avLst>
          </a:prstGeom>
          <a:solidFill>
            <a:srgbClr val="C439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2" name="TextBox 61"/>
          <p:cNvSpPr txBox="1"/>
          <p:nvPr/>
        </p:nvSpPr>
        <p:spPr>
          <a:xfrm>
            <a:off x="969264" y="5404103"/>
            <a:ext cx="9997135" cy="658368"/>
          </a:xfrm>
          <a:prstGeom prst="rect">
            <a:avLst/>
          </a:prstGeom>
          <a:noFill/>
        </p:spPr>
        <p:txBody>
          <a:bodyPr wrap="square" lIns="0" rIns="0" tIns="0" bIns="0" anchor="ctr">
            <a:spAutoFit/>
          </a:bodyPr>
          <a:lstStyle/>
          <a:p>
            <a:pPr algn="l">
              <a:lnSpc>
                <a:spcPct val="120000"/>
              </a:lnSpc>
              <a:spcAft>
                <a:spcPts val="300"/>
              </a:spcAft>
            </a:pPr>
            <a:r>
              <a:rPr sz="950" b="1" spc="180">
                <a:solidFill>
                  <a:srgbClr val="C4392D"/>
                </a:solidFill>
                <a:latin typeface="Calibri"/>
              </a:rPr>
              <a:t>WAT DIT BETEKENT VOOR DE CAPACITEIT</a:t>
            </a:r>
          </a:p>
          <a:p>
            <a:pPr algn="l">
              <a:lnSpc>
                <a:spcPct val="120000"/>
              </a:lnSpc>
              <a:spcAft>
                <a:spcPts val="0"/>
              </a:spcAft>
            </a:pPr>
            <a:r>
              <a:rPr sz="1250" b="1">
                <a:solidFill>
                  <a:srgbClr val="0D1B2A"/>
                </a:solidFill>
                <a:latin typeface="Calibri"/>
              </a:rPr>
              <a:t>Van de achttien SEH-kamers zijn er zes geen reguliere opnamekamer: drie fasttrack, één triage en twee acute kamers waar patiënten niet blijven liggen. Er blijven twaalf reguliere behandelkamers over.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FFFFFF"/>
              </a:gs>
              <a:gs pos="100000">
                <a:srgbClr val="F1F6FC"/>
              </a:gs>
            </a:gsLst>
            <a:lin scaled="0" ang="189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640080" y="566928"/>
            <a:ext cx="10911535" cy="219456"/>
          </a:xfrm>
          <a:prstGeom prst="rect">
            <a:avLst/>
          </a:prstGeom>
          <a:noFill/>
        </p:spPr>
        <p:txBody>
          <a:bodyPr wrap="square" lIns="0" rIns="0" tIns="0" bIns="0" anchor="t">
            <a:spAutoFit/>
          </a:bodyPr>
          <a:lstStyle/>
          <a:p>
            <a:pPr algn="l">
              <a:lnSpc>
                <a:spcPct val="120000"/>
              </a:lnSpc>
              <a:spcAft>
                <a:spcPts val="0"/>
              </a:spcAft>
            </a:pPr>
            <a:r>
              <a:rPr sz="1050" b="1" spc="220">
                <a:solidFill>
                  <a:srgbClr val="1F6FB2"/>
                </a:solidFill>
                <a:latin typeface="Calibri"/>
              </a:rPr>
              <a:t>DEEL 03  ·  WAT VERANDERT ER</a:t>
            </a:r>
          </a:p>
        </p:txBody>
      </p:sp>
      <p:sp>
        <p:nvSpPr>
          <p:cNvPr id="4" name="TextBox 3"/>
          <p:cNvSpPr txBox="1"/>
          <p:nvPr/>
        </p:nvSpPr>
        <p:spPr>
          <a:xfrm>
            <a:off x="640080" y="859536"/>
            <a:ext cx="10911535" cy="566928"/>
          </a:xfrm>
          <a:prstGeom prst="rect">
            <a:avLst/>
          </a:prstGeom>
          <a:noFill/>
        </p:spPr>
        <p:txBody>
          <a:bodyPr wrap="square" lIns="0" rIns="0" tIns="0" bIns="0" anchor="t">
            <a:spAutoFit/>
          </a:bodyPr>
          <a:lstStyle/>
          <a:p>
            <a:pPr algn="l">
              <a:lnSpc>
                <a:spcPct val="120000"/>
              </a:lnSpc>
              <a:spcAft>
                <a:spcPts val="0"/>
              </a:spcAft>
            </a:pPr>
            <a:r>
              <a:rPr sz="3400" b="1">
                <a:solidFill>
                  <a:srgbClr val="0D1B2A"/>
                </a:solidFill>
                <a:latin typeface="Calibri"/>
              </a:rPr>
              <a:t>Van vertrekpunt naar scenario's</a:t>
            </a:r>
          </a:p>
        </p:txBody>
      </p:sp>
      <p:sp>
        <p:nvSpPr>
          <p:cNvPr id="5" name="TextBox 4"/>
          <p:cNvSpPr txBox="1"/>
          <p:nvPr/>
        </p:nvSpPr>
        <p:spPr>
          <a:xfrm>
            <a:off x="640080" y="1335024"/>
            <a:ext cx="8510997" cy="274320"/>
          </a:xfrm>
          <a:prstGeom prst="rect">
            <a:avLst/>
          </a:prstGeom>
          <a:noFill/>
        </p:spPr>
        <p:txBody>
          <a:bodyPr wrap="square" lIns="0" rIns="0" tIns="0" bIns="0" anchor="t">
            <a:spAutoFit/>
          </a:bodyPr>
          <a:lstStyle/>
          <a:p>
            <a:pPr algn="l">
              <a:lnSpc>
                <a:spcPct val="120000"/>
              </a:lnSpc>
              <a:spcAft>
                <a:spcPts val="0"/>
              </a:spcAft>
            </a:pPr>
            <a:r>
              <a:rPr sz="1300" b="0">
                <a:solidFill>
                  <a:srgbClr val="55677C"/>
                </a:solidFill>
                <a:latin typeface="Calibri"/>
              </a:rPr>
              <a:t>Waar we nu staan, wat er in de oudbouw moet gebeuren, en welke varianten daaruit volgen</a:t>
            </a:r>
          </a:p>
        </p:txBody>
      </p:sp>
      <p:cxnSp>
        <p:nvCxnSpPr>
          <p:cNvPr id="6" name="Connector 5"/>
          <p:cNvCxnSpPr/>
          <p:nvPr/>
        </p:nvCxnSpPr>
        <p:spPr>
          <a:xfrm>
            <a:off x="640080" y="1609344"/>
            <a:ext cx="10911535" cy="0"/>
          </a:xfrm>
          <a:prstGeom prst="line">
            <a:avLst/>
          </a:prstGeom>
          <a:ln w="12700">
            <a:solidFill>
              <a:srgbClr val="E2E9F1"/>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640080" y="6291072"/>
            <a:ext cx="10911535" cy="0"/>
          </a:xfrm>
          <a:prstGeom prst="line">
            <a:avLst/>
          </a:prstGeom>
          <a:ln w="9525">
            <a:solidFill>
              <a:srgbClr val="E2E9F1"/>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40080" y="6382512"/>
            <a:ext cx="5486400" cy="237744"/>
          </a:xfrm>
          <a:prstGeom prst="rect">
            <a:avLst/>
          </a:prstGeom>
          <a:noFill/>
        </p:spPr>
        <p:txBody>
          <a:bodyPr wrap="square" lIns="0" rIns="0" tIns="0" bIns="0" anchor="t">
            <a:spAutoFit/>
          </a:bodyPr>
          <a:lstStyle/>
          <a:p>
            <a:pPr algn="l">
              <a:lnSpc>
                <a:spcPct val="120000"/>
              </a:lnSpc>
              <a:spcAft>
                <a:spcPts val="0"/>
              </a:spcAft>
            </a:pPr>
            <a:r>
              <a:rPr sz="900" b="0" spc="80">
                <a:solidFill>
                  <a:srgbClr val="8B9AAA"/>
                </a:solidFill>
                <a:latin typeface="Calibri"/>
              </a:rPr>
              <a:t>Acute poort en Hotfloor</a:t>
            </a:r>
          </a:p>
        </p:txBody>
      </p:sp>
      <p:sp>
        <p:nvSpPr>
          <p:cNvPr id="9" name="TextBox 8"/>
          <p:cNvSpPr txBox="1"/>
          <p:nvPr/>
        </p:nvSpPr>
        <p:spPr>
          <a:xfrm>
            <a:off x="10637215" y="6382512"/>
            <a:ext cx="914400" cy="237744"/>
          </a:xfrm>
          <a:prstGeom prst="rect">
            <a:avLst/>
          </a:prstGeom>
          <a:noFill/>
        </p:spPr>
        <p:txBody>
          <a:bodyPr wrap="square" lIns="0" rIns="0" tIns="0" bIns="0" anchor="t">
            <a:spAutoFit/>
          </a:bodyPr>
          <a:lstStyle/>
          <a:p>
            <a:pPr algn="r">
              <a:lnSpc>
                <a:spcPct val="120000"/>
              </a:lnSpc>
              <a:spcAft>
                <a:spcPts val="0"/>
              </a:spcAft>
            </a:pPr>
            <a:r>
              <a:rPr sz="950" b="1">
                <a:solidFill>
                  <a:srgbClr val="0E9A87"/>
                </a:solidFill>
                <a:latin typeface="Calibri"/>
              </a:rPr>
              <a:t>12</a:t>
            </a:r>
          </a:p>
        </p:txBody>
      </p:sp>
      <p:sp>
        <p:nvSpPr>
          <p:cNvPr id="10" name="Rounded Rectangle 9"/>
          <p:cNvSpPr/>
          <p:nvPr/>
        </p:nvSpPr>
        <p:spPr>
          <a:xfrm>
            <a:off x="640080" y="1700784"/>
            <a:ext cx="5272887" cy="859536"/>
          </a:xfrm>
          <a:prstGeom prst="roundRect">
            <a:avLst>
              <a:gd name="adj" fmla="val 3000"/>
            </a:avLst>
          </a:prstGeom>
          <a:solidFill>
            <a:srgbClr val="ECE3E7"/>
          </a:solidFill>
          <a:ln w="15875">
            <a:solidFill>
              <a:srgbClr val="E0AEAD"/>
            </a:solidFill>
          </a:ln>
          <a:effectLst>
            <a:outerShdw blurRad="60000" dist="18000" dir="5400000" rotWithShape="0">
              <a:srgbClr val="1B3A5C">
                <a:alpha val="7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ounded Rectangle 10"/>
          <p:cNvSpPr/>
          <p:nvPr/>
        </p:nvSpPr>
        <p:spPr>
          <a:xfrm>
            <a:off x="640080" y="1700784"/>
            <a:ext cx="45720" cy="859536"/>
          </a:xfrm>
          <a:prstGeom prst="roundRect">
            <a:avLst>
              <a:gd name="adj" fmla="val 50000"/>
            </a:avLst>
          </a:prstGeom>
          <a:solidFill>
            <a:srgbClr val="C439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914400" y="1810512"/>
            <a:ext cx="4724247" cy="274320"/>
          </a:xfrm>
          <a:prstGeom prst="rect">
            <a:avLst/>
          </a:prstGeom>
          <a:noFill/>
        </p:spPr>
        <p:txBody>
          <a:bodyPr wrap="square" lIns="0" rIns="0" tIns="0" bIns="0" anchor="t">
            <a:spAutoFit/>
          </a:bodyPr>
          <a:lstStyle/>
          <a:p>
            <a:pPr algn="l">
              <a:lnSpc>
                <a:spcPct val="120000"/>
              </a:lnSpc>
              <a:spcAft>
                <a:spcPts val="0"/>
              </a:spcAft>
            </a:pPr>
            <a:r>
              <a:rPr sz="1500" b="1">
                <a:solidFill>
                  <a:srgbClr val="C4392D"/>
                </a:solidFill>
                <a:latin typeface="Calibri"/>
              </a:rPr>
              <a:t>2026 / nu</a:t>
            </a:r>
          </a:p>
        </p:txBody>
      </p:sp>
      <p:sp>
        <p:nvSpPr>
          <p:cNvPr id="13" name="TextBox 12"/>
          <p:cNvSpPr txBox="1"/>
          <p:nvPr/>
        </p:nvSpPr>
        <p:spPr>
          <a:xfrm>
            <a:off x="2986887" y="1828800"/>
            <a:ext cx="2651760" cy="237744"/>
          </a:xfrm>
          <a:prstGeom prst="rect">
            <a:avLst/>
          </a:prstGeom>
          <a:noFill/>
        </p:spPr>
        <p:txBody>
          <a:bodyPr wrap="square" lIns="0" rIns="0" tIns="0" bIns="0" anchor="t">
            <a:spAutoFit/>
          </a:bodyPr>
          <a:lstStyle/>
          <a:p>
            <a:pPr algn="r">
              <a:lnSpc>
                <a:spcPct val="120000"/>
              </a:lnSpc>
              <a:spcAft>
                <a:spcPts val="0"/>
              </a:spcAft>
            </a:pPr>
            <a:r>
              <a:rPr sz="850" b="1" spc="120">
                <a:solidFill>
                  <a:srgbClr val="8B9AAA"/>
                </a:solidFill>
                <a:latin typeface="Calibri"/>
              </a:rPr>
              <a:t>VERTREKPUNT</a:t>
            </a:r>
          </a:p>
        </p:txBody>
      </p:sp>
      <p:sp>
        <p:nvSpPr>
          <p:cNvPr id="14" name="TextBox 13"/>
          <p:cNvSpPr txBox="1"/>
          <p:nvPr/>
        </p:nvSpPr>
        <p:spPr>
          <a:xfrm>
            <a:off x="914400" y="2121408"/>
            <a:ext cx="4724247" cy="384048"/>
          </a:xfrm>
          <a:prstGeom prst="rect">
            <a:avLst/>
          </a:prstGeom>
          <a:noFill/>
        </p:spPr>
        <p:txBody>
          <a:bodyPr wrap="square" lIns="0" rIns="0" tIns="0" bIns="0" anchor="t">
            <a:spAutoFit/>
          </a:bodyPr>
          <a:lstStyle/>
          <a:p>
            <a:pPr algn="l">
              <a:lnSpc>
                <a:spcPct val="120000"/>
              </a:lnSpc>
              <a:spcAft>
                <a:spcPts val="0"/>
              </a:spcAft>
            </a:pPr>
            <a:r>
              <a:rPr sz="1100" b="0">
                <a:solidFill>
                  <a:srgbClr val="55677C"/>
                </a:solidFill>
                <a:latin typeface="Calibri"/>
              </a:rPr>
              <a:t>Geen vastgestelde norm en geen vastgestelde roostersleutel.</a:t>
            </a:r>
          </a:p>
        </p:txBody>
      </p:sp>
      <p:sp>
        <p:nvSpPr>
          <p:cNvPr id="15" name="Rounded Rectangle 14"/>
          <p:cNvSpPr/>
          <p:nvPr/>
        </p:nvSpPr>
        <p:spPr>
          <a:xfrm>
            <a:off x="6278727" y="1700784"/>
            <a:ext cx="5272887" cy="859536"/>
          </a:xfrm>
          <a:prstGeom prst="roundRect">
            <a:avLst>
              <a:gd name="adj" fmla="val 3000"/>
            </a:avLst>
          </a:prstGeom>
          <a:solidFill>
            <a:srgbClr val="DCE8F5"/>
          </a:solidFill>
          <a:ln w="15875">
            <a:solidFill>
              <a:srgbClr val="A1C3E0"/>
            </a:solidFill>
          </a:ln>
          <a:effectLst>
            <a:outerShdw blurRad="60000" dist="18000" dir="5400000" rotWithShape="0">
              <a:srgbClr val="1B3A5C">
                <a:alpha val="7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6278727" y="1700784"/>
            <a:ext cx="45720" cy="859536"/>
          </a:xfrm>
          <a:prstGeom prst="roundRect">
            <a:avLst>
              <a:gd name="adj" fmla="val 50000"/>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553047" y="1810512"/>
            <a:ext cx="4724247" cy="274320"/>
          </a:xfrm>
          <a:prstGeom prst="rect">
            <a:avLst/>
          </a:prstGeom>
          <a:noFill/>
        </p:spPr>
        <p:txBody>
          <a:bodyPr wrap="square" lIns="0" rIns="0" tIns="0" bIns="0" anchor="t">
            <a:spAutoFit/>
          </a:bodyPr>
          <a:lstStyle/>
          <a:p>
            <a:pPr algn="l">
              <a:lnSpc>
                <a:spcPct val="120000"/>
              </a:lnSpc>
              <a:spcAft>
                <a:spcPts val="0"/>
              </a:spcAft>
            </a:pPr>
            <a:r>
              <a:rPr sz="1500" b="1">
                <a:solidFill>
                  <a:srgbClr val="1F6FB2"/>
                </a:solidFill>
                <a:latin typeface="Calibri"/>
              </a:rPr>
              <a:t>Oudbouw</a:t>
            </a:r>
          </a:p>
        </p:txBody>
      </p:sp>
      <p:sp>
        <p:nvSpPr>
          <p:cNvPr id="18" name="TextBox 17"/>
          <p:cNvSpPr txBox="1"/>
          <p:nvPr/>
        </p:nvSpPr>
        <p:spPr>
          <a:xfrm>
            <a:off x="8625535" y="1828800"/>
            <a:ext cx="2651760" cy="237744"/>
          </a:xfrm>
          <a:prstGeom prst="rect">
            <a:avLst/>
          </a:prstGeom>
          <a:noFill/>
        </p:spPr>
        <p:txBody>
          <a:bodyPr wrap="square" lIns="0" rIns="0" tIns="0" bIns="0" anchor="t">
            <a:spAutoFit/>
          </a:bodyPr>
          <a:lstStyle/>
          <a:p>
            <a:pPr algn="r">
              <a:lnSpc>
                <a:spcPct val="120000"/>
              </a:lnSpc>
              <a:spcAft>
                <a:spcPts val="0"/>
              </a:spcAft>
            </a:pPr>
            <a:r>
              <a:rPr sz="850" b="1" spc="120">
                <a:solidFill>
                  <a:srgbClr val="8B9AAA"/>
                </a:solidFill>
                <a:latin typeface="Calibri"/>
              </a:rPr>
              <a:t>OKTOBER 2026 TOT MEI 2027</a:t>
            </a:r>
          </a:p>
        </p:txBody>
      </p:sp>
      <p:sp>
        <p:nvSpPr>
          <p:cNvPr id="19" name="TextBox 18"/>
          <p:cNvSpPr txBox="1"/>
          <p:nvPr/>
        </p:nvSpPr>
        <p:spPr>
          <a:xfrm>
            <a:off x="6553047" y="2121408"/>
            <a:ext cx="4724247" cy="384048"/>
          </a:xfrm>
          <a:prstGeom prst="rect">
            <a:avLst/>
          </a:prstGeom>
          <a:noFill/>
        </p:spPr>
        <p:txBody>
          <a:bodyPr wrap="square" lIns="0" rIns="0" tIns="0" bIns="0" anchor="t">
            <a:spAutoFit/>
          </a:bodyPr>
          <a:lstStyle/>
          <a:p>
            <a:pPr algn="l">
              <a:lnSpc>
                <a:spcPct val="120000"/>
              </a:lnSpc>
              <a:spcAft>
                <a:spcPts val="0"/>
              </a:spcAft>
            </a:pPr>
            <a:r>
              <a:rPr sz="1100" b="0">
                <a:solidFill>
                  <a:srgbClr val="55677C"/>
                </a:solidFill>
                <a:latin typeface="Calibri"/>
              </a:rPr>
              <a:t>Hoe gaan we samenwerken? Diensten uitruilen, of fysieke patiëntcategorieën al schuiven?</a:t>
            </a:r>
          </a:p>
        </p:txBody>
      </p:sp>
      <p:sp>
        <p:nvSpPr>
          <p:cNvPr id="20" name="Down Arrow 19"/>
          <p:cNvSpPr/>
          <p:nvPr/>
        </p:nvSpPr>
        <p:spPr>
          <a:xfrm>
            <a:off x="5976975" y="2651760"/>
            <a:ext cx="237744" cy="292608"/>
          </a:xfrm>
          <a:prstGeom prst="downArrow">
            <a:avLst/>
          </a:prstGeom>
          <a:solidFill>
            <a:srgbClr val="1F6FB2">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0080" y="3035808"/>
            <a:ext cx="4572000" cy="219456"/>
          </a:xfrm>
          <a:prstGeom prst="rect">
            <a:avLst/>
          </a:prstGeom>
          <a:noFill/>
        </p:spPr>
        <p:txBody>
          <a:bodyPr wrap="square" lIns="0" rIns="0" tIns="0" bIns="0" anchor="t">
            <a:spAutoFit/>
          </a:bodyPr>
          <a:lstStyle/>
          <a:p>
            <a:pPr algn="l">
              <a:lnSpc>
                <a:spcPct val="120000"/>
              </a:lnSpc>
              <a:spcAft>
                <a:spcPts val="0"/>
              </a:spcAft>
            </a:pPr>
            <a:r>
              <a:rPr sz="950" b="1" spc="220">
                <a:solidFill>
                  <a:srgbClr val="1F6FB2"/>
                </a:solidFill>
                <a:latin typeface="Calibri"/>
              </a:rPr>
              <a:t>SCENARIO'S  ·  MOGELIJK</a:t>
            </a:r>
          </a:p>
        </p:txBody>
      </p:sp>
      <p:sp>
        <p:nvSpPr>
          <p:cNvPr id="22" name="Rounded Rectangle 21"/>
          <p:cNvSpPr/>
          <p:nvPr/>
        </p:nvSpPr>
        <p:spPr>
          <a:xfrm>
            <a:off x="640080" y="3310128"/>
            <a:ext cx="7132320" cy="475488"/>
          </a:xfrm>
          <a:prstGeom prst="roundRect">
            <a:avLst>
              <a:gd name="adj" fmla="val 3000"/>
            </a:avLst>
          </a:prstGeom>
          <a:solidFill>
            <a:srgbClr val="FFFFFF"/>
          </a:solidFill>
          <a:ln w="12700">
            <a:solidFill>
              <a:srgbClr val="E2E9F1"/>
            </a:solidFill>
          </a:ln>
          <a:effectLst>
            <a:outerShdw blurRad="70000" dist="22000" dir="5400000" rotWithShape="0">
              <a:srgbClr val="1B3A5C">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ounded Rectangle 22"/>
          <p:cNvSpPr/>
          <p:nvPr/>
        </p:nvSpPr>
        <p:spPr>
          <a:xfrm>
            <a:off x="640080" y="3310128"/>
            <a:ext cx="41148" cy="475488"/>
          </a:xfrm>
          <a:prstGeom prst="roundRect">
            <a:avLst>
              <a:gd name="adj" fmla="val 50000"/>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859536" y="3383279"/>
            <a:ext cx="329184" cy="329184"/>
          </a:xfrm>
          <a:prstGeom prst="ellipse">
            <a:avLst/>
          </a:prstGeom>
          <a:solidFill>
            <a:srgbClr val="1F6FB2">
              <a:alpha val="10000"/>
            </a:srgbClr>
          </a:solidFill>
          <a:ln w="15875">
            <a:solidFill>
              <a:srgbClr val="1F6FB2"/>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1F6FB2"/>
                </a:solidFill>
                <a:latin typeface="Calibri"/>
              </a:rPr>
              <a:t>1</a:t>
            </a:r>
          </a:p>
        </p:txBody>
      </p:sp>
      <p:sp>
        <p:nvSpPr>
          <p:cNvPr id="25" name="TextBox 24"/>
          <p:cNvSpPr txBox="1"/>
          <p:nvPr/>
        </p:nvSpPr>
        <p:spPr>
          <a:xfrm>
            <a:off x="1316736" y="3337560"/>
            <a:ext cx="6163056" cy="420624"/>
          </a:xfrm>
          <a:prstGeom prst="rect">
            <a:avLst/>
          </a:prstGeom>
          <a:noFill/>
        </p:spPr>
        <p:txBody>
          <a:bodyPr wrap="square" lIns="0" rIns="0" tIns="0" bIns="0" anchor="ctr">
            <a:spAutoFit/>
          </a:bodyPr>
          <a:lstStyle/>
          <a:p>
            <a:pPr algn="l">
              <a:lnSpc>
                <a:spcPct val="120000"/>
              </a:lnSpc>
              <a:spcAft>
                <a:spcPts val="100"/>
              </a:spcAft>
            </a:pPr>
            <a:r>
              <a:rPr sz="1300" b="1">
                <a:solidFill>
                  <a:srgbClr val="0D1B2A"/>
                </a:solidFill>
                <a:latin typeface="Calibri"/>
              </a:rPr>
              <a:t>EHH naar SEH</a:t>
            </a:r>
          </a:p>
          <a:p>
            <a:pPr algn="l">
              <a:lnSpc>
                <a:spcPct val="120000"/>
              </a:lnSpc>
              <a:spcAft>
                <a:spcPts val="0"/>
              </a:spcAft>
            </a:pPr>
            <a:r>
              <a:rPr sz="950" b="0">
                <a:solidFill>
                  <a:srgbClr val="8B9AAA"/>
                </a:solidFill>
                <a:latin typeface="Calibri"/>
              </a:rPr>
              <a:t>overdag, of ook 's avonds?</a:t>
            </a:r>
          </a:p>
        </p:txBody>
      </p:sp>
      <p:sp>
        <p:nvSpPr>
          <p:cNvPr id="26" name="Rounded Rectangle 25"/>
          <p:cNvSpPr/>
          <p:nvPr/>
        </p:nvSpPr>
        <p:spPr>
          <a:xfrm>
            <a:off x="640080" y="3877056"/>
            <a:ext cx="7132320" cy="475488"/>
          </a:xfrm>
          <a:prstGeom prst="roundRect">
            <a:avLst>
              <a:gd name="adj" fmla="val 3000"/>
            </a:avLst>
          </a:prstGeom>
          <a:solidFill>
            <a:srgbClr val="FFFFFF"/>
          </a:solidFill>
          <a:ln w="12700">
            <a:solidFill>
              <a:srgbClr val="E2E9F1"/>
            </a:solidFill>
          </a:ln>
          <a:effectLst>
            <a:outerShdw blurRad="70000" dist="22000" dir="5400000" rotWithShape="0">
              <a:srgbClr val="1B3A5C">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ounded Rectangle 26"/>
          <p:cNvSpPr/>
          <p:nvPr/>
        </p:nvSpPr>
        <p:spPr>
          <a:xfrm>
            <a:off x="640080" y="3877056"/>
            <a:ext cx="41148" cy="475488"/>
          </a:xfrm>
          <a:prstGeom prst="roundRect">
            <a:avLst>
              <a:gd name="adj" fmla="val 50000"/>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859536" y="3950208"/>
            <a:ext cx="329184" cy="329184"/>
          </a:xfrm>
          <a:prstGeom prst="ellipse">
            <a:avLst/>
          </a:prstGeom>
          <a:solidFill>
            <a:srgbClr val="1F6FB2">
              <a:alpha val="10000"/>
            </a:srgbClr>
          </a:solidFill>
          <a:ln w="15875">
            <a:solidFill>
              <a:srgbClr val="1F6FB2"/>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1F6FB2"/>
                </a:solidFill>
                <a:latin typeface="Calibri"/>
              </a:rPr>
              <a:t>2</a:t>
            </a:r>
          </a:p>
        </p:txBody>
      </p:sp>
      <p:sp>
        <p:nvSpPr>
          <p:cNvPr id="29" name="TextBox 28"/>
          <p:cNvSpPr txBox="1"/>
          <p:nvPr/>
        </p:nvSpPr>
        <p:spPr>
          <a:xfrm>
            <a:off x="1316736" y="3904488"/>
            <a:ext cx="6163056" cy="420624"/>
          </a:xfrm>
          <a:prstGeom prst="rect">
            <a:avLst/>
          </a:prstGeom>
          <a:noFill/>
        </p:spPr>
        <p:txBody>
          <a:bodyPr wrap="square" lIns="0" rIns="0" tIns="0" bIns="0" anchor="ctr">
            <a:spAutoFit/>
          </a:bodyPr>
          <a:lstStyle/>
          <a:p>
            <a:pPr algn="l">
              <a:lnSpc>
                <a:spcPct val="120000"/>
              </a:lnSpc>
              <a:spcAft>
                <a:spcPts val="100"/>
              </a:spcAft>
            </a:pPr>
            <a:r>
              <a:rPr sz="1300" b="1">
                <a:solidFill>
                  <a:srgbClr val="0D1B2A"/>
                </a:solidFill>
                <a:latin typeface="Calibri"/>
              </a:rPr>
              <a:t>ICU en SCU samen op de ICU</a:t>
            </a:r>
          </a:p>
        </p:txBody>
      </p:sp>
      <p:sp>
        <p:nvSpPr>
          <p:cNvPr id="30" name="Rounded Rectangle 29"/>
          <p:cNvSpPr/>
          <p:nvPr/>
        </p:nvSpPr>
        <p:spPr>
          <a:xfrm>
            <a:off x="640080" y="4443984"/>
            <a:ext cx="7132320" cy="475488"/>
          </a:xfrm>
          <a:prstGeom prst="roundRect">
            <a:avLst>
              <a:gd name="adj" fmla="val 3000"/>
            </a:avLst>
          </a:prstGeom>
          <a:solidFill>
            <a:srgbClr val="FFFFFF"/>
          </a:solidFill>
          <a:ln w="12700">
            <a:solidFill>
              <a:srgbClr val="E2E9F1"/>
            </a:solidFill>
          </a:ln>
          <a:effectLst>
            <a:outerShdw blurRad="70000" dist="22000" dir="5400000" rotWithShape="0">
              <a:srgbClr val="1B3A5C">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ounded Rectangle 30"/>
          <p:cNvSpPr/>
          <p:nvPr/>
        </p:nvSpPr>
        <p:spPr>
          <a:xfrm>
            <a:off x="640080" y="4443984"/>
            <a:ext cx="41148" cy="475488"/>
          </a:xfrm>
          <a:prstGeom prst="roundRect">
            <a:avLst>
              <a:gd name="adj" fmla="val 50000"/>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859536" y="4517136"/>
            <a:ext cx="329184" cy="329184"/>
          </a:xfrm>
          <a:prstGeom prst="ellipse">
            <a:avLst/>
          </a:prstGeom>
          <a:solidFill>
            <a:srgbClr val="1F6FB2">
              <a:alpha val="10000"/>
            </a:srgbClr>
          </a:solidFill>
          <a:ln w="15875">
            <a:solidFill>
              <a:srgbClr val="1F6FB2"/>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1F6FB2"/>
                </a:solidFill>
                <a:latin typeface="Calibri"/>
              </a:rPr>
              <a:t>3</a:t>
            </a:r>
          </a:p>
        </p:txBody>
      </p:sp>
      <p:sp>
        <p:nvSpPr>
          <p:cNvPr id="33" name="TextBox 32"/>
          <p:cNvSpPr txBox="1"/>
          <p:nvPr/>
        </p:nvSpPr>
        <p:spPr>
          <a:xfrm>
            <a:off x="1316736" y="4471416"/>
            <a:ext cx="6163056" cy="420624"/>
          </a:xfrm>
          <a:prstGeom prst="rect">
            <a:avLst/>
          </a:prstGeom>
          <a:noFill/>
        </p:spPr>
        <p:txBody>
          <a:bodyPr wrap="square" lIns="0" rIns="0" tIns="0" bIns="0" anchor="ctr">
            <a:spAutoFit/>
          </a:bodyPr>
          <a:lstStyle/>
          <a:p>
            <a:pPr algn="l">
              <a:lnSpc>
                <a:spcPct val="120000"/>
              </a:lnSpc>
              <a:spcAft>
                <a:spcPts val="100"/>
              </a:spcAft>
            </a:pPr>
            <a:r>
              <a:rPr sz="1300" b="1">
                <a:solidFill>
                  <a:srgbClr val="0D1B2A"/>
                </a:solidFill>
                <a:latin typeface="Calibri"/>
              </a:rPr>
              <a:t>Recovery ICU naar CCU / SCU</a:t>
            </a:r>
          </a:p>
        </p:txBody>
      </p:sp>
      <p:sp>
        <p:nvSpPr>
          <p:cNvPr id="34" name="Rounded Rectangle 33"/>
          <p:cNvSpPr/>
          <p:nvPr/>
        </p:nvSpPr>
        <p:spPr>
          <a:xfrm>
            <a:off x="640080" y="5010912"/>
            <a:ext cx="7132320" cy="475488"/>
          </a:xfrm>
          <a:prstGeom prst="roundRect">
            <a:avLst>
              <a:gd name="adj" fmla="val 3000"/>
            </a:avLst>
          </a:prstGeom>
          <a:solidFill>
            <a:srgbClr val="FFFFFF"/>
          </a:solidFill>
          <a:ln w="12700">
            <a:solidFill>
              <a:srgbClr val="E2E9F1"/>
            </a:solidFill>
          </a:ln>
          <a:effectLst>
            <a:outerShdw blurRad="70000" dist="22000" dir="5400000" rotWithShape="0">
              <a:srgbClr val="1B3A5C">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Rounded Rectangle 34"/>
          <p:cNvSpPr/>
          <p:nvPr/>
        </p:nvSpPr>
        <p:spPr>
          <a:xfrm>
            <a:off x="640080" y="5010912"/>
            <a:ext cx="41148" cy="475488"/>
          </a:xfrm>
          <a:prstGeom prst="roundRect">
            <a:avLst>
              <a:gd name="adj" fmla="val 50000"/>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Oval 35"/>
          <p:cNvSpPr/>
          <p:nvPr/>
        </p:nvSpPr>
        <p:spPr>
          <a:xfrm>
            <a:off x="859536" y="5084064"/>
            <a:ext cx="329184" cy="329184"/>
          </a:xfrm>
          <a:prstGeom prst="ellipse">
            <a:avLst/>
          </a:prstGeom>
          <a:solidFill>
            <a:srgbClr val="1F6FB2">
              <a:alpha val="10000"/>
            </a:srgbClr>
          </a:solidFill>
          <a:ln w="15875">
            <a:solidFill>
              <a:srgbClr val="1F6FB2"/>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1F6FB2"/>
                </a:solidFill>
                <a:latin typeface="Calibri"/>
              </a:rPr>
              <a:t>4</a:t>
            </a:r>
          </a:p>
        </p:txBody>
      </p:sp>
      <p:sp>
        <p:nvSpPr>
          <p:cNvPr id="37" name="TextBox 36"/>
          <p:cNvSpPr txBox="1"/>
          <p:nvPr/>
        </p:nvSpPr>
        <p:spPr>
          <a:xfrm>
            <a:off x="1316736" y="5038344"/>
            <a:ext cx="6163056" cy="420624"/>
          </a:xfrm>
          <a:prstGeom prst="rect">
            <a:avLst/>
          </a:prstGeom>
          <a:noFill/>
        </p:spPr>
        <p:txBody>
          <a:bodyPr wrap="square" lIns="0" rIns="0" tIns="0" bIns="0" anchor="ctr">
            <a:spAutoFit/>
          </a:bodyPr>
          <a:lstStyle/>
          <a:p>
            <a:pPr algn="l">
              <a:lnSpc>
                <a:spcPct val="120000"/>
              </a:lnSpc>
              <a:spcAft>
                <a:spcPts val="100"/>
              </a:spcAft>
            </a:pPr>
            <a:r>
              <a:rPr sz="1300" b="1">
                <a:solidFill>
                  <a:srgbClr val="0D1B2A"/>
                </a:solidFill>
                <a:latin typeface="Calibri"/>
              </a:rPr>
              <a:t>Cardioversies CCU verplaatsen</a:t>
            </a:r>
          </a:p>
        </p:txBody>
      </p:sp>
      <p:sp>
        <p:nvSpPr>
          <p:cNvPr id="38" name="Rounded Rectangle 37"/>
          <p:cNvSpPr/>
          <p:nvPr/>
        </p:nvSpPr>
        <p:spPr>
          <a:xfrm>
            <a:off x="640080" y="5577840"/>
            <a:ext cx="7132320" cy="475488"/>
          </a:xfrm>
          <a:prstGeom prst="roundRect">
            <a:avLst>
              <a:gd name="adj" fmla="val 3000"/>
            </a:avLst>
          </a:prstGeom>
          <a:solidFill>
            <a:srgbClr val="FFFFFF"/>
          </a:solidFill>
          <a:ln w="12700">
            <a:solidFill>
              <a:srgbClr val="E2E9F1"/>
            </a:solidFill>
          </a:ln>
          <a:effectLst>
            <a:outerShdw blurRad="70000" dist="22000" dir="5400000" rotWithShape="0">
              <a:srgbClr val="1B3A5C">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Rounded Rectangle 38"/>
          <p:cNvSpPr/>
          <p:nvPr/>
        </p:nvSpPr>
        <p:spPr>
          <a:xfrm>
            <a:off x="640080" y="5577840"/>
            <a:ext cx="41148" cy="475488"/>
          </a:xfrm>
          <a:prstGeom prst="roundRect">
            <a:avLst>
              <a:gd name="adj" fmla="val 50000"/>
            </a:avLst>
          </a:prstGeom>
          <a:solidFill>
            <a:srgbClr val="8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Oval 39"/>
          <p:cNvSpPr/>
          <p:nvPr/>
        </p:nvSpPr>
        <p:spPr>
          <a:xfrm>
            <a:off x="859536" y="5650992"/>
            <a:ext cx="329184" cy="329184"/>
          </a:xfrm>
          <a:prstGeom prst="ellipse">
            <a:avLst/>
          </a:prstGeom>
          <a:solidFill>
            <a:srgbClr val="8B9AAA">
              <a:alpha val="10000"/>
            </a:srgbClr>
          </a:solidFill>
          <a:ln w="15875">
            <a:solidFill>
              <a:srgbClr val="8B9AAA"/>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8B9AAA"/>
                </a:solidFill>
                <a:latin typeface="Calibri"/>
              </a:rPr>
              <a:t>5</a:t>
            </a:r>
          </a:p>
        </p:txBody>
      </p:sp>
      <p:sp>
        <p:nvSpPr>
          <p:cNvPr id="41" name="TextBox 40"/>
          <p:cNvSpPr txBox="1"/>
          <p:nvPr/>
        </p:nvSpPr>
        <p:spPr>
          <a:xfrm>
            <a:off x="1316736" y="5605272"/>
            <a:ext cx="6163056" cy="420624"/>
          </a:xfrm>
          <a:prstGeom prst="rect">
            <a:avLst/>
          </a:prstGeom>
          <a:noFill/>
        </p:spPr>
        <p:txBody>
          <a:bodyPr wrap="square" lIns="0" rIns="0" tIns="0" bIns="0" anchor="ctr">
            <a:spAutoFit/>
          </a:bodyPr>
          <a:lstStyle/>
          <a:p>
            <a:pPr algn="l">
              <a:lnSpc>
                <a:spcPct val="120000"/>
              </a:lnSpc>
              <a:spcAft>
                <a:spcPts val="100"/>
              </a:spcAft>
            </a:pPr>
            <a:r>
              <a:rPr sz="1300" b="1">
                <a:solidFill>
                  <a:srgbClr val="0D1B2A"/>
                </a:solidFill>
                <a:latin typeface="Calibri"/>
              </a:rPr>
              <a:t>Huidig: ICU, CCU/SCU/EHH en SEH apart</a:t>
            </a:r>
          </a:p>
          <a:p>
            <a:pPr algn="l">
              <a:lnSpc>
                <a:spcPct val="120000"/>
              </a:lnSpc>
              <a:spcAft>
                <a:spcPts val="0"/>
              </a:spcAft>
            </a:pPr>
            <a:r>
              <a:rPr sz="950" b="0">
                <a:solidFill>
                  <a:srgbClr val="8B9AAA"/>
                </a:solidFill>
                <a:latin typeface="Calibri"/>
              </a:rPr>
              <a:t>referentiescenario</a:t>
            </a:r>
          </a:p>
        </p:txBody>
      </p:sp>
      <p:sp>
        <p:nvSpPr>
          <p:cNvPr id="42" name="Rounded Rectangle 41"/>
          <p:cNvSpPr/>
          <p:nvPr/>
        </p:nvSpPr>
        <p:spPr>
          <a:xfrm>
            <a:off x="8101583" y="3310128"/>
            <a:ext cx="3450031" cy="2834640"/>
          </a:xfrm>
          <a:prstGeom prst="roundRect">
            <a:avLst>
              <a:gd name="adj" fmla="val 3000"/>
            </a:avLst>
          </a:prstGeom>
          <a:solidFill>
            <a:srgbClr val="E5E7F4"/>
          </a:solidFill>
          <a:ln w="15875">
            <a:solidFill>
              <a:srgbClr val="BEB5DC"/>
            </a:solidFill>
          </a:ln>
          <a:effectLst>
            <a:outerShdw blurRad="60000" dist="18000" dir="5400000" rotWithShape="0">
              <a:srgbClr val="1B3A5C">
                <a:alpha val="7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8357615" y="3493008"/>
            <a:ext cx="2937967" cy="548640"/>
          </a:xfrm>
          <a:prstGeom prst="rect">
            <a:avLst/>
          </a:prstGeom>
          <a:noFill/>
        </p:spPr>
        <p:txBody>
          <a:bodyPr wrap="square" lIns="0" rIns="0" tIns="0" bIns="0" anchor="t">
            <a:spAutoFit/>
          </a:bodyPr>
          <a:lstStyle/>
          <a:p>
            <a:pPr algn="l">
              <a:lnSpc>
                <a:spcPct val="120000"/>
              </a:lnSpc>
              <a:spcAft>
                <a:spcPts val="0"/>
              </a:spcAft>
            </a:pPr>
            <a:r>
              <a:rPr sz="1500" b="1">
                <a:solidFill>
                  <a:srgbClr val="6B4BA8"/>
                </a:solidFill>
                <a:latin typeface="Calibri"/>
              </a:rPr>
              <a:t>Elk scenario raakt</a:t>
            </a:r>
          </a:p>
          <a:p>
            <a:pPr algn="l">
              <a:lnSpc>
                <a:spcPct val="120000"/>
              </a:lnSpc>
              <a:spcAft>
                <a:spcPts val="0"/>
              </a:spcAft>
            </a:pPr>
            <a:r>
              <a:rPr sz="1500" b="1">
                <a:solidFill>
                  <a:srgbClr val="6B4BA8"/>
                </a:solidFill>
                <a:latin typeface="Calibri"/>
              </a:rPr>
              <a:t>twee dingen</a:t>
            </a:r>
          </a:p>
        </p:txBody>
      </p:sp>
      <p:sp>
        <p:nvSpPr>
          <p:cNvPr id="44" name="Rounded Rectangle 43"/>
          <p:cNvSpPr/>
          <p:nvPr/>
        </p:nvSpPr>
        <p:spPr>
          <a:xfrm>
            <a:off x="8339327" y="4133088"/>
            <a:ext cx="2974543" cy="731520"/>
          </a:xfrm>
          <a:prstGeom prst="roundRect">
            <a:avLst>
              <a:gd name="adj" fmla="val 8000"/>
            </a:avLst>
          </a:prstGeom>
          <a:solidFill>
            <a:srgbClr val="FFFFFF"/>
          </a:solidFill>
          <a:ln w="12700">
            <a:solidFill>
              <a:srgbClr val="92B9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8522208" y="4224528"/>
            <a:ext cx="2608783" cy="548640"/>
          </a:xfrm>
          <a:prstGeom prst="rect">
            <a:avLst/>
          </a:prstGeom>
          <a:noFill/>
        </p:spPr>
        <p:txBody>
          <a:bodyPr wrap="square" lIns="0" rIns="0" tIns="0" bIns="0" anchor="t">
            <a:spAutoFit/>
          </a:bodyPr>
          <a:lstStyle/>
          <a:p>
            <a:pPr algn="l">
              <a:lnSpc>
                <a:spcPct val="120000"/>
              </a:lnSpc>
              <a:spcAft>
                <a:spcPts val="200"/>
              </a:spcAft>
            </a:pPr>
            <a:r>
              <a:rPr sz="1250" b="1">
                <a:solidFill>
                  <a:srgbClr val="1F6FB2"/>
                </a:solidFill>
                <a:latin typeface="Calibri"/>
              </a:rPr>
              <a:t>Fysieke capaciteit</a:t>
            </a:r>
          </a:p>
          <a:p>
            <a:pPr algn="l">
              <a:lnSpc>
                <a:spcPct val="118000"/>
              </a:lnSpc>
              <a:spcAft>
                <a:spcPts val="0"/>
              </a:spcAft>
            </a:pPr>
            <a:r>
              <a:rPr sz="950" b="0">
                <a:solidFill>
                  <a:srgbClr val="55677C"/>
                </a:solidFill>
                <a:latin typeface="Calibri"/>
              </a:rPr>
              <a:t>aantal plekken, type plek, locatie</a:t>
            </a:r>
          </a:p>
        </p:txBody>
      </p:sp>
      <p:sp>
        <p:nvSpPr>
          <p:cNvPr id="46" name="Rounded Rectangle 45"/>
          <p:cNvSpPr/>
          <p:nvPr/>
        </p:nvSpPr>
        <p:spPr>
          <a:xfrm>
            <a:off x="8339327" y="4992624"/>
            <a:ext cx="2974543" cy="731520"/>
          </a:xfrm>
          <a:prstGeom prst="roundRect">
            <a:avLst>
              <a:gd name="adj" fmla="val 8000"/>
            </a:avLst>
          </a:prstGeom>
          <a:solidFill>
            <a:srgbClr val="FFFFFF"/>
          </a:solidFill>
          <a:ln w="12700">
            <a:solidFill>
              <a:srgbClr val="8BCDC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TextBox 46"/>
          <p:cNvSpPr txBox="1"/>
          <p:nvPr/>
        </p:nvSpPr>
        <p:spPr>
          <a:xfrm>
            <a:off x="8522208" y="5084064"/>
            <a:ext cx="2608783" cy="548640"/>
          </a:xfrm>
          <a:prstGeom prst="rect">
            <a:avLst/>
          </a:prstGeom>
          <a:noFill/>
        </p:spPr>
        <p:txBody>
          <a:bodyPr wrap="square" lIns="0" rIns="0" tIns="0" bIns="0" anchor="t">
            <a:spAutoFit/>
          </a:bodyPr>
          <a:lstStyle/>
          <a:p>
            <a:pPr algn="l">
              <a:lnSpc>
                <a:spcPct val="120000"/>
              </a:lnSpc>
              <a:spcAft>
                <a:spcPts val="200"/>
              </a:spcAft>
            </a:pPr>
            <a:r>
              <a:rPr sz="1250" b="1">
                <a:solidFill>
                  <a:srgbClr val="0E9A87"/>
                </a:solidFill>
                <a:latin typeface="Calibri"/>
              </a:rPr>
              <a:t>Personele inzet</a:t>
            </a:r>
          </a:p>
          <a:p>
            <a:pPr algn="l">
              <a:lnSpc>
                <a:spcPct val="118000"/>
              </a:lnSpc>
              <a:spcAft>
                <a:spcPts val="0"/>
              </a:spcAft>
            </a:pPr>
            <a:r>
              <a:rPr sz="950" b="0">
                <a:solidFill>
                  <a:srgbClr val="55677C"/>
                </a:solidFill>
                <a:latin typeface="Calibri"/>
              </a:rPr>
              <a:t>norm en deskundigheid</a:t>
            </a:r>
          </a:p>
        </p:txBody>
      </p:sp>
      <p:sp>
        <p:nvSpPr>
          <p:cNvPr id="48" name="TextBox 47"/>
          <p:cNvSpPr txBox="1"/>
          <p:nvPr/>
        </p:nvSpPr>
        <p:spPr>
          <a:xfrm>
            <a:off x="8357615" y="5833872"/>
            <a:ext cx="2937967" cy="274320"/>
          </a:xfrm>
          <a:prstGeom prst="rect">
            <a:avLst/>
          </a:prstGeom>
          <a:noFill/>
        </p:spPr>
        <p:txBody>
          <a:bodyPr wrap="square" lIns="0" rIns="0" tIns="0" bIns="0" anchor="t">
            <a:spAutoFit/>
          </a:bodyPr>
          <a:lstStyle/>
          <a:p>
            <a:pPr algn="l">
              <a:lnSpc>
                <a:spcPct val="120000"/>
              </a:lnSpc>
              <a:spcAft>
                <a:spcPts val="0"/>
              </a:spcAft>
            </a:pPr>
            <a:r>
              <a:rPr sz="1000" b="0">
                <a:solidFill>
                  <a:srgbClr val="55677C"/>
                </a:solidFill>
                <a:latin typeface="Calibri"/>
              </a:rPr>
              <a:t>De keuze gebeurt op basis van data uit BIC.</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FFFFFF"/>
              </a:gs>
              <a:gs pos="100000">
                <a:srgbClr val="F1F6FC"/>
              </a:gs>
            </a:gsLst>
            <a:lin scaled="0" ang="189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640080" y="566928"/>
            <a:ext cx="10911535" cy="219456"/>
          </a:xfrm>
          <a:prstGeom prst="rect">
            <a:avLst/>
          </a:prstGeom>
          <a:noFill/>
        </p:spPr>
        <p:txBody>
          <a:bodyPr wrap="square" lIns="0" rIns="0" tIns="0" bIns="0" anchor="t">
            <a:spAutoFit/>
          </a:bodyPr>
          <a:lstStyle/>
          <a:p>
            <a:pPr algn="l">
              <a:lnSpc>
                <a:spcPct val="120000"/>
              </a:lnSpc>
              <a:spcAft>
                <a:spcPts val="0"/>
              </a:spcAft>
            </a:pPr>
            <a:r>
              <a:rPr sz="1050" b="1" spc="220">
                <a:solidFill>
                  <a:srgbClr val="1F6FB2"/>
                </a:solidFill>
                <a:latin typeface="Calibri"/>
              </a:rPr>
              <a:t>DEEL 03  ·  WAT VERANDERT ER</a:t>
            </a:r>
          </a:p>
        </p:txBody>
      </p:sp>
      <p:sp>
        <p:nvSpPr>
          <p:cNvPr id="4" name="TextBox 3"/>
          <p:cNvSpPr txBox="1"/>
          <p:nvPr/>
        </p:nvSpPr>
        <p:spPr>
          <a:xfrm>
            <a:off x="640080" y="859536"/>
            <a:ext cx="10911535" cy="566928"/>
          </a:xfrm>
          <a:prstGeom prst="rect">
            <a:avLst/>
          </a:prstGeom>
          <a:noFill/>
        </p:spPr>
        <p:txBody>
          <a:bodyPr wrap="square" lIns="0" rIns="0" tIns="0" bIns="0" anchor="t">
            <a:spAutoFit/>
          </a:bodyPr>
          <a:lstStyle/>
          <a:p>
            <a:pPr algn="l">
              <a:lnSpc>
                <a:spcPct val="120000"/>
              </a:lnSpc>
              <a:spcAft>
                <a:spcPts val="0"/>
              </a:spcAft>
            </a:pPr>
            <a:r>
              <a:rPr sz="3400" b="1">
                <a:solidFill>
                  <a:srgbClr val="0D1B2A"/>
                </a:solidFill>
                <a:latin typeface="Calibri"/>
              </a:rPr>
              <a:t>Wat er per scenario verschuift</a:t>
            </a:r>
          </a:p>
        </p:txBody>
      </p:sp>
      <p:sp>
        <p:nvSpPr>
          <p:cNvPr id="5" name="TextBox 4"/>
          <p:cNvSpPr txBox="1"/>
          <p:nvPr/>
        </p:nvSpPr>
        <p:spPr>
          <a:xfrm>
            <a:off x="640080" y="1335024"/>
            <a:ext cx="8510997" cy="274320"/>
          </a:xfrm>
          <a:prstGeom prst="rect">
            <a:avLst/>
          </a:prstGeom>
          <a:noFill/>
        </p:spPr>
        <p:txBody>
          <a:bodyPr wrap="square" lIns="0" rIns="0" tIns="0" bIns="0" anchor="t">
            <a:spAutoFit/>
          </a:bodyPr>
          <a:lstStyle/>
          <a:p>
            <a:pPr algn="l">
              <a:lnSpc>
                <a:spcPct val="120000"/>
              </a:lnSpc>
              <a:spcAft>
                <a:spcPts val="0"/>
              </a:spcAft>
            </a:pPr>
            <a:r>
              <a:rPr sz="1300" b="0">
                <a:solidFill>
                  <a:srgbClr val="55677C"/>
                </a:solidFill>
                <a:latin typeface="Calibri"/>
              </a:rPr>
              <a:t>Oranje is het onderdeel dat van afdeling wisselt</a:t>
            </a:r>
          </a:p>
        </p:txBody>
      </p:sp>
      <p:cxnSp>
        <p:nvCxnSpPr>
          <p:cNvPr id="6" name="Connector 5"/>
          <p:cNvCxnSpPr/>
          <p:nvPr/>
        </p:nvCxnSpPr>
        <p:spPr>
          <a:xfrm>
            <a:off x="640080" y="1609344"/>
            <a:ext cx="10911535" cy="0"/>
          </a:xfrm>
          <a:prstGeom prst="line">
            <a:avLst/>
          </a:prstGeom>
          <a:ln w="12700">
            <a:solidFill>
              <a:srgbClr val="E2E9F1"/>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640080" y="6291072"/>
            <a:ext cx="10911535" cy="0"/>
          </a:xfrm>
          <a:prstGeom prst="line">
            <a:avLst/>
          </a:prstGeom>
          <a:ln w="9525">
            <a:solidFill>
              <a:srgbClr val="E2E9F1"/>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40080" y="6382512"/>
            <a:ext cx="5486400" cy="237744"/>
          </a:xfrm>
          <a:prstGeom prst="rect">
            <a:avLst/>
          </a:prstGeom>
          <a:noFill/>
        </p:spPr>
        <p:txBody>
          <a:bodyPr wrap="square" lIns="0" rIns="0" tIns="0" bIns="0" anchor="t">
            <a:spAutoFit/>
          </a:bodyPr>
          <a:lstStyle/>
          <a:p>
            <a:pPr algn="l">
              <a:lnSpc>
                <a:spcPct val="120000"/>
              </a:lnSpc>
              <a:spcAft>
                <a:spcPts val="0"/>
              </a:spcAft>
            </a:pPr>
            <a:r>
              <a:rPr sz="900" b="0" spc="80">
                <a:solidFill>
                  <a:srgbClr val="8B9AAA"/>
                </a:solidFill>
                <a:latin typeface="Calibri"/>
              </a:rPr>
              <a:t>Acute poort en Hotfloor</a:t>
            </a:r>
          </a:p>
        </p:txBody>
      </p:sp>
      <p:sp>
        <p:nvSpPr>
          <p:cNvPr id="9" name="TextBox 8"/>
          <p:cNvSpPr txBox="1"/>
          <p:nvPr/>
        </p:nvSpPr>
        <p:spPr>
          <a:xfrm>
            <a:off x="10637215" y="6382512"/>
            <a:ext cx="914400" cy="237744"/>
          </a:xfrm>
          <a:prstGeom prst="rect">
            <a:avLst/>
          </a:prstGeom>
          <a:noFill/>
        </p:spPr>
        <p:txBody>
          <a:bodyPr wrap="square" lIns="0" rIns="0" tIns="0" bIns="0" anchor="t">
            <a:spAutoFit/>
          </a:bodyPr>
          <a:lstStyle/>
          <a:p>
            <a:pPr algn="r">
              <a:lnSpc>
                <a:spcPct val="120000"/>
              </a:lnSpc>
              <a:spcAft>
                <a:spcPts val="0"/>
              </a:spcAft>
            </a:pPr>
            <a:r>
              <a:rPr sz="950" b="1">
                <a:solidFill>
                  <a:srgbClr val="0E9A87"/>
                </a:solidFill>
                <a:latin typeface="Calibri"/>
              </a:rPr>
              <a:t>13</a:t>
            </a:r>
          </a:p>
        </p:txBody>
      </p:sp>
      <p:sp>
        <p:nvSpPr>
          <p:cNvPr id="10" name="Rounded Rectangle 9"/>
          <p:cNvSpPr/>
          <p:nvPr/>
        </p:nvSpPr>
        <p:spPr>
          <a:xfrm>
            <a:off x="640080" y="1700784"/>
            <a:ext cx="5272887" cy="1883664"/>
          </a:xfrm>
          <a:prstGeom prst="roundRect">
            <a:avLst>
              <a:gd name="adj" fmla="val 3000"/>
            </a:avLst>
          </a:prstGeom>
          <a:solidFill>
            <a:srgbClr val="FFFFFF"/>
          </a:solidFill>
          <a:ln w="12700">
            <a:solidFill>
              <a:srgbClr val="E2E9F1"/>
            </a:solidFill>
          </a:ln>
          <a:effectLst>
            <a:outerShdw blurRad="70000" dist="22000" dir="5400000" rotWithShape="0">
              <a:srgbClr val="1B3A5C">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841247" y="1865376"/>
            <a:ext cx="402336" cy="402336"/>
          </a:xfrm>
          <a:prstGeom prst="ellipse">
            <a:avLst/>
          </a:prstGeom>
          <a:solidFill>
            <a:srgbClr val="1F6FB2">
              <a:alpha val="10000"/>
            </a:srgbClr>
          </a:solidFill>
          <a:ln w="15875">
            <a:solidFill>
              <a:srgbClr val="1F6FB2"/>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1F6FB2"/>
                </a:solidFill>
                <a:latin typeface="Calibri"/>
              </a:rPr>
              <a:t>1</a:t>
            </a:r>
          </a:p>
        </p:txBody>
      </p:sp>
      <p:sp>
        <p:nvSpPr>
          <p:cNvPr id="12" name="TextBox 11"/>
          <p:cNvSpPr txBox="1"/>
          <p:nvPr/>
        </p:nvSpPr>
        <p:spPr>
          <a:xfrm>
            <a:off x="1353312" y="1865376"/>
            <a:ext cx="4267047" cy="402336"/>
          </a:xfrm>
          <a:prstGeom prst="rect">
            <a:avLst/>
          </a:prstGeom>
          <a:noFill/>
        </p:spPr>
        <p:txBody>
          <a:bodyPr wrap="square" lIns="0" rIns="0" tIns="0" bIns="0" anchor="ctr">
            <a:spAutoFit/>
          </a:bodyPr>
          <a:lstStyle/>
          <a:p>
            <a:pPr algn="l">
              <a:lnSpc>
                <a:spcPct val="115000"/>
              </a:lnSpc>
              <a:spcAft>
                <a:spcPts val="0"/>
              </a:spcAft>
            </a:pPr>
            <a:r>
              <a:rPr sz="1350" b="1">
                <a:solidFill>
                  <a:srgbClr val="0D1B2A"/>
                </a:solidFill>
                <a:latin typeface="Calibri"/>
              </a:rPr>
              <a:t>EHH naar de SEH</a:t>
            </a:r>
          </a:p>
        </p:txBody>
      </p:sp>
      <p:sp>
        <p:nvSpPr>
          <p:cNvPr id="13" name="TextBox 12"/>
          <p:cNvSpPr txBox="1"/>
          <p:nvPr/>
        </p:nvSpPr>
        <p:spPr>
          <a:xfrm>
            <a:off x="1051560" y="2304288"/>
            <a:ext cx="1783080" cy="219456"/>
          </a:xfrm>
          <a:prstGeom prst="rect">
            <a:avLst/>
          </a:prstGeom>
          <a:noFill/>
        </p:spPr>
        <p:txBody>
          <a:bodyPr wrap="square" lIns="0" rIns="0" tIns="0" bIns="0" anchor="t">
            <a:spAutoFit/>
          </a:bodyPr>
          <a:lstStyle/>
          <a:p>
            <a:pPr algn="ctr">
              <a:lnSpc>
                <a:spcPct val="120000"/>
              </a:lnSpc>
              <a:spcAft>
                <a:spcPts val="0"/>
              </a:spcAft>
            </a:pPr>
            <a:r>
              <a:rPr sz="800" b="1" spc="120">
                <a:solidFill>
                  <a:srgbClr val="8B9AAA"/>
                </a:solidFill>
                <a:latin typeface="Calibri"/>
              </a:rPr>
              <a:t>NU</a:t>
            </a:r>
          </a:p>
        </p:txBody>
      </p:sp>
      <p:sp>
        <p:nvSpPr>
          <p:cNvPr id="14" name="TextBox 13"/>
          <p:cNvSpPr txBox="1"/>
          <p:nvPr/>
        </p:nvSpPr>
        <p:spPr>
          <a:xfrm>
            <a:off x="3718407" y="2304288"/>
            <a:ext cx="1783080" cy="219456"/>
          </a:xfrm>
          <a:prstGeom prst="rect">
            <a:avLst/>
          </a:prstGeom>
          <a:noFill/>
        </p:spPr>
        <p:txBody>
          <a:bodyPr wrap="square" lIns="0" rIns="0" tIns="0" bIns="0" anchor="t">
            <a:spAutoFit/>
          </a:bodyPr>
          <a:lstStyle/>
          <a:p>
            <a:pPr algn="ctr">
              <a:lnSpc>
                <a:spcPct val="120000"/>
              </a:lnSpc>
              <a:spcAft>
                <a:spcPts val="0"/>
              </a:spcAft>
            </a:pPr>
            <a:r>
              <a:rPr sz="800" b="1" spc="120">
                <a:solidFill>
                  <a:srgbClr val="8B9AAA"/>
                </a:solidFill>
                <a:latin typeface="Calibri"/>
              </a:rPr>
              <a:t>STRAKS</a:t>
            </a:r>
          </a:p>
        </p:txBody>
      </p:sp>
      <p:sp>
        <p:nvSpPr>
          <p:cNvPr id="15" name="Oval 14"/>
          <p:cNvSpPr/>
          <p:nvPr/>
        </p:nvSpPr>
        <p:spPr>
          <a:xfrm>
            <a:off x="1223010" y="2523744"/>
            <a:ext cx="548640" cy="548640"/>
          </a:xfrm>
          <a:prstGeom prst="ellipse">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1223010" y="2523744"/>
            <a:ext cx="548640" cy="548640"/>
          </a:xfrm>
          <a:prstGeom prst="ellipse">
            <a:avLst/>
          </a:prstGeom>
          <a:noFill/>
          <a:ln w="4191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784097" y="3118103"/>
            <a:ext cx="1426464" cy="457200"/>
          </a:xfrm>
          <a:prstGeom prst="rect">
            <a:avLst/>
          </a:prstGeom>
          <a:noFill/>
        </p:spPr>
        <p:txBody>
          <a:bodyPr wrap="square" lIns="0" rIns="0" tIns="0" bIns="0" anchor="t">
            <a:spAutoFit/>
          </a:bodyPr>
          <a:lstStyle/>
          <a:p>
            <a:pPr algn="ctr">
              <a:lnSpc>
                <a:spcPct val="114000"/>
              </a:lnSpc>
              <a:spcAft>
                <a:spcPts val="100"/>
              </a:spcAft>
            </a:pPr>
            <a:r>
              <a:rPr sz="850" b="1">
                <a:solidFill>
                  <a:srgbClr val="0D1B2A"/>
                </a:solidFill>
                <a:latin typeface="Calibri"/>
              </a:rPr>
              <a:t>SEH</a:t>
            </a:r>
          </a:p>
        </p:txBody>
      </p:sp>
      <p:sp>
        <p:nvSpPr>
          <p:cNvPr id="18" name="Freeform 17"/>
          <p:cNvSpPr/>
          <p:nvPr/>
        </p:nvSpPr>
        <p:spPr>
          <a:xfrm>
            <a:off x="2388870" y="2523744"/>
            <a:ext cx="274319" cy="411480"/>
          </a:xfrm>
          <a:custGeom>
            <a:avLst/>
            <a:gdLst/>
            <a:ahLst/>
            <a:cxnLst/>
            <a:rect l="l" t="t" r="r" b="b"/>
            <a:pathLst>
              <a:path w="274319" h="411480">
                <a:moveTo>
                  <a:pt x="0" y="0"/>
                </a:moveTo>
                <a:lnTo>
                  <a:pt x="14356" y="375"/>
                </a:lnTo>
                <a:lnTo>
                  <a:pt x="28674" y="1502"/>
                </a:lnTo>
                <a:lnTo>
                  <a:pt x="42913" y="3377"/>
                </a:lnTo>
                <a:lnTo>
                  <a:pt x="57034" y="5994"/>
                </a:lnTo>
                <a:lnTo>
                  <a:pt x="70999" y="9347"/>
                </a:lnTo>
                <a:lnTo>
                  <a:pt x="84769" y="13426"/>
                </a:lnTo>
                <a:lnTo>
                  <a:pt x="98307" y="18220"/>
                </a:lnTo>
                <a:lnTo>
                  <a:pt x="111575" y="23716"/>
                </a:lnTo>
                <a:lnTo>
                  <a:pt x="124538" y="29899"/>
                </a:lnTo>
                <a:lnTo>
                  <a:pt x="137159" y="36751"/>
                </a:lnTo>
                <a:lnTo>
                  <a:pt x="149405" y="44255"/>
                </a:lnTo>
                <a:lnTo>
                  <a:pt x="161241" y="52390"/>
                </a:lnTo>
                <a:lnTo>
                  <a:pt x="172635" y="61133"/>
                </a:lnTo>
                <a:lnTo>
                  <a:pt x="183555" y="70460"/>
                </a:lnTo>
                <a:lnTo>
                  <a:pt x="193973" y="80346"/>
                </a:lnTo>
                <a:lnTo>
                  <a:pt x="203859" y="90764"/>
                </a:lnTo>
                <a:lnTo>
                  <a:pt x="213186" y="101684"/>
                </a:lnTo>
                <a:lnTo>
                  <a:pt x="221929" y="113078"/>
                </a:lnTo>
                <a:lnTo>
                  <a:pt x="230064" y="124914"/>
                </a:lnTo>
                <a:lnTo>
                  <a:pt x="237568" y="137160"/>
                </a:lnTo>
                <a:lnTo>
                  <a:pt x="244420" y="149781"/>
                </a:lnTo>
                <a:lnTo>
                  <a:pt x="250603" y="162744"/>
                </a:lnTo>
                <a:lnTo>
                  <a:pt x="256099" y="176012"/>
                </a:lnTo>
                <a:lnTo>
                  <a:pt x="260893" y="189550"/>
                </a:lnTo>
                <a:lnTo>
                  <a:pt x="264972" y="203320"/>
                </a:lnTo>
                <a:lnTo>
                  <a:pt x="268325" y="217285"/>
                </a:lnTo>
                <a:lnTo>
                  <a:pt x="270942" y="231406"/>
                </a:lnTo>
                <a:lnTo>
                  <a:pt x="272817" y="245645"/>
                </a:lnTo>
                <a:lnTo>
                  <a:pt x="273944" y="259963"/>
                </a:lnTo>
                <a:lnTo>
                  <a:pt x="274319" y="274320"/>
                </a:lnTo>
                <a:lnTo>
                  <a:pt x="273944" y="288676"/>
                </a:lnTo>
                <a:lnTo>
                  <a:pt x="272817" y="302994"/>
                </a:lnTo>
                <a:lnTo>
                  <a:pt x="270942" y="317233"/>
                </a:lnTo>
                <a:lnTo>
                  <a:pt x="268325" y="331354"/>
                </a:lnTo>
                <a:lnTo>
                  <a:pt x="264972" y="345319"/>
                </a:lnTo>
                <a:lnTo>
                  <a:pt x="260893" y="359089"/>
                </a:lnTo>
                <a:lnTo>
                  <a:pt x="256099" y="372627"/>
                </a:lnTo>
                <a:lnTo>
                  <a:pt x="250603" y="385895"/>
                </a:lnTo>
                <a:lnTo>
                  <a:pt x="244420" y="398858"/>
                </a:lnTo>
                <a:lnTo>
                  <a:pt x="237568" y="411480"/>
                </a:lnTo>
                <a:lnTo>
                  <a:pt x="0" y="274320"/>
                </a:lnTo>
                <a:close/>
              </a:path>
            </a:pathLst>
          </a:custGeom>
          <a:solidFill>
            <a:srgbClr val="0E9A87"/>
          </a:solidFill>
          <a:ln w="2286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Freeform 18"/>
          <p:cNvSpPr/>
          <p:nvPr/>
        </p:nvSpPr>
        <p:spPr>
          <a:xfrm>
            <a:off x="2151301" y="2798064"/>
            <a:ext cx="475137" cy="274320"/>
          </a:xfrm>
          <a:custGeom>
            <a:avLst/>
            <a:gdLst/>
            <a:ahLst/>
            <a:cxnLst/>
            <a:rect l="l" t="t" r="r" b="b"/>
            <a:pathLst>
              <a:path w="475137" h="274320">
                <a:moveTo>
                  <a:pt x="475137" y="137160"/>
                </a:moveTo>
                <a:lnTo>
                  <a:pt x="467633" y="149405"/>
                </a:lnTo>
                <a:lnTo>
                  <a:pt x="459498" y="161241"/>
                </a:lnTo>
                <a:lnTo>
                  <a:pt x="450755" y="172635"/>
                </a:lnTo>
                <a:lnTo>
                  <a:pt x="441428" y="183555"/>
                </a:lnTo>
                <a:lnTo>
                  <a:pt x="431542" y="193973"/>
                </a:lnTo>
                <a:lnTo>
                  <a:pt x="421124" y="203859"/>
                </a:lnTo>
                <a:lnTo>
                  <a:pt x="410204" y="213186"/>
                </a:lnTo>
                <a:lnTo>
                  <a:pt x="398810" y="221929"/>
                </a:lnTo>
                <a:lnTo>
                  <a:pt x="386974" y="230064"/>
                </a:lnTo>
                <a:lnTo>
                  <a:pt x="374728" y="237568"/>
                </a:lnTo>
                <a:lnTo>
                  <a:pt x="362107" y="244420"/>
                </a:lnTo>
                <a:lnTo>
                  <a:pt x="349144" y="250603"/>
                </a:lnTo>
                <a:lnTo>
                  <a:pt x="335876" y="256099"/>
                </a:lnTo>
                <a:lnTo>
                  <a:pt x="322338" y="260893"/>
                </a:lnTo>
                <a:lnTo>
                  <a:pt x="308568" y="264972"/>
                </a:lnTo>
                <a:lnTo>
                  <a:pt x="294603" y="268325"/>
                </a:lnTo>
                <a:lnTo>
                  <a:pt x="280482" y="270942"/>
                </a:lnTo>
                <a:lnTo>
                  <a:pt x="266243" y="272817"/>
                </a:lnTo>
                <a:lnTo>
                  <a:pt x="251925" y="273944"/>
                </a:lnTo>
                <a:lnTo>
                  <a:pt x="237569" y="274320"/>
                </a:lnTo>
                <a:lnTo>
                  <a:pt x="223212" y="273944"/>
                </a:lnTo>
                <a:lnTo>
                  <a:pt x="208894" y="272817"/>
                </a:lnTo>
                <a:lnTo>
                  <a:pt x="194655" y="270942"/>
                </a:lnTo>
                <a:lnTo>
                  <a:pt x="180534" y="268325"/>
                </a:lnTo>
                <a:lnTo>
                  <a:pt x="166569" y="264972"/>
                </a:lnTo>
                <a:lnTo>
                  <a:pt x="152799" y="260893"/>
                </a:lnTo>
                <a:lnTo>
                  <a:pt x="139261" y="256099"/>
                </a:lnTo>
                <a:lnTo>
                  <a:pt x="125993" y="250603"/>
                </a:lnTo>
                <a:lnTo>
                  <a:pt x="113030" y="244420"/>
                </a:lnTo>
                <a:lnTo>
                  <a:pt x="100409" y="237568"/>
                </a:lnTo>
                <a:lnTo>
                  <a:pt x="88163" y="230064"/>
                </a:lnTo>
                <a:lnTo>
                  <a:pt x="76327" y="221929"/>
                </a:lnTo>
                <a:lnTo>
                  <a:pt x="64933" y="213186"/>
                </a:lnTo>
                <a:lnTo>
                  <a:pt x="54013" y="203859"/>
                </a:lnTo>
                <a:lnTo>
                  <a:pt x="43595" y="193973"/>
                </a:lnTo>
                <a:lnTo>
                  <a:pt x="33709" y="183555"/>
                </a:lnTo>
                <a:lnTo>
                  <a:pt x="24382" y="172635"/>
                </a:lnTo>
                <a:lnTo>
                  <a:pt x="15639" y="161241"/>
                </a:lnTo>
                <a:lnTo>
                  <a:pt x="7504" y="149405"/>
                </a:lnTo>
                <a:lnTo>
                  <a:pt x="0" y="137160"/>
                </a:lnTo>
                <a:lnTo>
                  <a:pt x="237569" y="0"/>
                </a:lnTo>
                <a:close/>
              </a:path>
            </a:pathLst>
          </a:custGeom>
          <a:solidFill>
            <a:srgbClr val="0E746B"/>
          </a:solidFill>
          <a:ln w="2286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Freeform 19"/>
          <p:cNvSpPr/>
          <p:nvPr/>
        </p:nvSpPr>
        <p:spPr>
          <a:xfrm>
            <a:off x="2114550" y="2523744"/>
            <a:ext cx="274320" cy="411480"/>
          </a:xfrm>
          <a:custGeom>
            <a:avLst/>
            <a:gdLst/>
            <a:ahLst/>
            <a:cxnLst/>
            <a:rect l="l" t="t" r="r" b="b"/>
            <a:pathLst>
              <a:path w="274320" h="411480">
                <a:moveTo>
                  <a:pt x="36751" y="411480"/>
                </a:moveTo>
                <a:lnTo>
                  <a:pt x="29899" y="398858"/>
                </a:lnTo>
                <a:lnTo>
                  <a:pt x="23716" y="385895"/>
                </a:lnTo>
                <a:lnTo>
                  <a:pt x="18220" y="372627"/>
                </a:lnTo>
                <a:lnTo>
                  <a:pt x="13426" y="359089"/>
                </a:lnTo>
                <a:lnTo>
                  <a:pt x="9347" y="345319"/>
                </a:lnTo>
                <a:lnTo>
                  <a:pt x="5994" y="331354"/>
                </a:lnTo>
                <a:lnTo>
                  <a:pt x="3377" y="317233"/>
                </a:lnTo>
                <a:lnTo>
                  <a:pt x="1502" y="302994"/>
                </a:lnTo>
                <a:lnTo>
                  <a:pt x="375" y="288676"/>
                </a:lnTo>
                <a:lnTo>
                  <a:pt x="0" y="274320"/>
                </a:lnTo>
                <a:lnTo>
                  <a:pt x="375" y="259963"/>
                </a:lnTo>
                <a:lnTo>
                  <a:pt x="1502" y="245645"/>
                </a:lnTo>
                <a:lnTo>
                  <a:pt x="3377" y="231406"/>
                </a:lnTo>
                <a:lnTo>
                  <a:pt x="5994" y="217285"/>
                </a:lnTo>
                <a:lnTo>
                  <a:pt x="9347" y="203320"/>
                </a:lnTo>
                <a:lnTo>
                  <a:pt x="13426" y="189550"/>
                </a:lnTo>
                <a:lnTo>
                  <a:pt x="18220" y="176012"/>
                </a:lnTo>
                <a:lnTo>
                  <a:pt x="23716" y="162744"/>
                </a:lnTo>
                <a:lnTo>
                  <a:pt x="29899" y="149781"/>
                </a:lnTo>
                <a:lnTo>
                  <a:pt x="36751" y="137160"/>
                </a:lnTo>
                <a:lnTo>
                  <a:pt x="44255" y="124914"/>
                </a:lnTo>
                <a:lnTo>
                  <a:pt x="52390" y="113078"/>
                </a:lnTo>
                <a:lnTo>
                  <a:pt x="61133" y="101684"/>
                </a:lnTo>
                <a:lnTo>
                  <a:pt x="70460" y="90764"/>
                </a:lnTo>
                <a:lnTo>
                  <a:pt x="80346" y="80346"/>
                </a:lnTo>
                <a:lnTo>
                  <a:pt x="90764" y="70460"/>
                </a:lnTo>
                <a:lnTo>
                  <a:pt x="101684" y="61133"/>
                </a:lnTo>
                <a:lnTo>
                  <a:pt x="113078" y="52390"/>
                </a:lnTo>
                <a:lnTo>
                  <a:pt x="124914" y="44255"/>
                </a:lnTo>
                <a:lnTo>
                  <a:pt x="137159" y="36751"/>
                </a:lnTo>
                <a:lnTo>
                  <a:pt x="149781" y="29899"/>
                </a:lnTo>
                <a:lnTo>
                  <a:pt x="162744" y="23716"/>
                </a:lnTo>
                <a:lnTo>
                  <a:pt x="176012" y="18220"/>
                </a:lnTo>
                <a:lnTo>
                  <a:pt x="189550" y="13426"/>
                </a:lnTo>
                <a:lnTo>
                  <a:pt x="203320" y="9347"/>
                </a:lnTo>
                <a:lnTo>
                  <a:pt x="217285" y="5994"/>
                </a:lnTo>
                <a:lnTo>
                  <a:pt x="231406" y="3377"/>
                </a:lnTo>
                <a:lnTo>
                  <a:pt x="245645" y="1502"/>
                </a:lnTo>
                <a:lnTo>
                  <a:pt x="259963" y="375"/>
                </a:lnTo>
                <a:lnTo>
                  <a:pt x="274320" y="0"/>
                </a:lnTo>
                <a:lnTo>
                  <a:pt x="274320" y="274320"/>
                </a:lnTo>
                <a:close/>
              </a:path>
            </a:pathLst>
          </a:custGeom>
          <a:solidFill>
            <a:srgbClr val="C87E12"/>
          </a:solidFill>
          <a:ln w="2286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2114550" y="2523744"/>
            <a:ext cx="548640" cy="548640"/>
          </a:xfrm>
          <a:prstGeom prst="ellipse">
            <a:avLst/>
          </a:prstGeom>
          <a:noFill/>
          <a:ln w="4191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1675637" y="3118103"/>
            <a:ext cx="1426464" cy="457200"/>
          </a:xfrm>
          <a:prstGeom prst="rect">
            <a:avLst/>
          </a:prstGeom>
          <a:noFill/>
        </p:spPr>
        <p:txBody>
          <a:bodyPr wrap="square" lIns="0" rIns="0" tIns="0" bIns="0" anchor="t">
            <a:spAutoFit/>
          </a:bodyPr>
          <a:lstStyle/>
          <a:p>
            <a:pPr algn="ctr">
              <a:lnSpc>
                <a:spcPct val="114000"/>
              </a:lnSpc>
              <a:spcAft>
                <a:spcPts val="100"/>
              </a:spcAft>
            </a:pPr>
            <a:r>
              <a:rPr sz="850" b="1">
                <a:solidFill>
                  <a:srgbClr val="0D1B2A"/>
                </a:solidFill>
                <a:latin typeface="Calibri"/>
              </a:rPr>
              <a:t>CCU / SCU / EHH</a:t>
            </a:r>
          </a:p>
        </p:txBody>
      </p:sp>
      <p:sp>
        <p:nvSpPr>
          <p:cNvPr id="23" name="Freeform 22"/>
          <p:cNvSpPr/>
          <p:nvPr/>
        </p:nvSpPr>
        <p:spPr>
          <a:xfrm>
            <a:off x="4164177" y="2523744"/>
            <a:ext cx="274320" cy="548640"/>
          </a:xfrm>
          <a:custGeom>
            <a:avLst/>
            <a:gdLst/>
            <a:ahLst/>
            <a:cxnLst/>
            <a:rect l="l" t="t" r="r" b="b"/>
            <a:pathLst>
              <a:path w="274320" h="548640">
                <a:moveTo>
                  <a:pt x="0" y="0"/>
                </a:moveTo>
                <a:lnTo>
                  <a:pt x="21523" y="845"/>
                </a:lnTo>
                <a:lnTo>
                  <a:pt x="42913" y="3377"/>
                </a:lnTo>
                <a:lnTo>
                  <a:pt x="64039" y="7579"/>
                </a:lnTo>
                <a:lnTo>
                  <a:pt x="84770" y="13426"/>
                </a:lnTo>
                <a:lnTo>
                  <a:pt x="104978" y="20881"/>
                </a:lnTo>
                <a:lnTo>
                  <a:pt x="124539" y="29899"/>
                </a:lnTo>
                <a:lnTo>
                  <a:pt x="143332" y="40423"/>
                </a:lnTo>
                <a:lnTo>
                  <a:pt x="161241" y="52390"/>
                </a:lnTo>
                <a:lnTo>
                  <a:pt x="178157" y="65725"/>
                </a:lnTo>
                <a:lnTo>
                  <a:pt x="193974" y="80346"/>
                </a:lnTo>
                <a:lnTo>
                  <a:pt x="208595" y="96163"/>
                </a:lnTo>
                <a:lnTo>
                  <a:pt x="221930" y="113078"/>
                </a:lnTo>
                <a:lnTo>
                  <a:pt x="233896" y="130988"/>
                </a:lnTo>
                <a:lnTo>
                  <a:pt x="244421" y="149781"/>
                </a:lnTo>
                <a:lnTo>
                  <a:pt x="253439" y="169342"/>
                </a:lnTo>
                <a:lnTo>
                  <a:pt x="260894" y="189550"/>
                </a:lnTo>
                <a:lnTo>
                  <a:pt x="266741" y="210281"/>
                </a:lnTo>
                <a:lnTo>
                  <a:pt x="270943" y="231406"/>
                </a:lnTo>
                <a:lnTo>
                  <a:pt x="273474" y="252797"/>
                </a:lnTo>
                <a:lnTo>
                  <a:pt x="274320" y="274320"/>
                </a:lnTo>
                <a:lnTo>
                  <a:pt x="273474" y="295842"/>
                </a:lnTo>
                <a:lnTo>
                  <a:pt x="270943" y="317233"/>
                </a:lnTo>
                <a:lnTo>
                  <a:pt x="266741" y="338358"/>
                </a:lnTo>
                <a:lnTo>
                  <a:pt x="260894" y="359089"/>
                </a:lnTo>
                <a:lnTo>
                  <a:pt x="253439" y="379297"/>
                </a:lnTo>
                <a:lnTo>
                  <a:pt x="244421" y="398858"/>
                </a:lnTo>
                <a:lnTo>
                  <a:pt x="233896" y="417651"/>
                </a:lnTo>
                <a:lnTo>
                  <a:pt x="221930" y="435561"/>
                </a:lnTo>
                <a:lnTo>
                  <a:pt x="208595" y="452476"/>
                </a:lnTo>
                <a:lnTo>
                  <a:pt x="193974" y="468293"/>
                </a:lnTo>
                <a:lnTo>
                  <a:pt x="178157" y="482914"/>
                </a:lnTo>
                <a:lnTo>
                  <a:pt x="161241" y="496249"/>
                </a:lnTo>
                <a:lnTo>
                  <a:pt x="143332" y="508216"/>
                </a:lnTo>
                <a:lnTo>
                  <a:pt x="124539" y="518740"/>
                </a:lnTo>
                <a:lnTo>
                  <a:pt x="104978" y="527758"/>
                </a:lnTo>
                <a:lnTo>
                  <a:pt x="84770" y="535213"/>
                </a:lnTo>
                <a:lnTo>
                  <a:pt x="64039" y="541060"/>
                </a:lnTo>
                <a:lnTo>
                  <a:pt x="42913" y="545262"/>
                </a:lnTo>
                <a:lnTo>
                  <a:pt x="21523" y="547794"/>
                </a:lnTo>
                <a:lnTo>
                  <a:pt x="0" y="548640"/>
                </a:lnTo>
                <a:lnTo>
                  <a:pt x="0" y="274320"/>
                </a:lnTo>
                <a:close/>
              </a:path>
            </a:pathLst>
          </a:custGeom>
          <a:solidFill>
            <a:srgbClr val="1F6FB2"/>
          </a:solidFill>
          <a:ln w="2286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Freeform 23"/>
          <p:cNvSpPr/>
          <p:nvPr/>
        </p:nvSpPr>
        <p:spPr>
          <a:xfrm>
            <a:off x="3889857" y="2523744"/>
            <a:ext cx="274320" cy="548640"/>
          </a:xfrm>
          <a:custGeom>
            <a:avLst/>
            <a:gdLst/>
            <a:ahLst/>
            <a:cxnLst/>
            <a:rect l="l" t="t" r="r" b="b"/>
            <a:pathLst>
              <a:path w="274320" h="548640">
                <a:moveTo>
                  <a:pt x="274320" y="548640"/>
                </a:moveTo>
                <a:lnTo>
                  <a:pt x="252797" y="547794"/>
                </a:lnTo>
                <a:lnTo>
                  <a:pt x="231407" y="545262"/>
                </a:lnTo>
                <a:lnTo>
                  <a:pt x="210281" y="541060"/>
                </a:lnTo>
                <a:lnTo>
                  <a:pt x="189551" y="535213"/>
                </a:lnTo>
                <a:lnTo>
                  <a:pt x="169342" y="527758"/>
                </a:lnTo>
                <a:lnTo>
                  <a:pt x="149781" y="518740"/>
                </a:lnTo>
                <a:lnTo>
                  <a:pt x="130988" y="508216"/>
                </a:lnTo>
                <a:lnTo>
                  <a:pt x="113079" y="496249"/>
                </a:lnTo>
                <a:lnTo>
                  <a:pt x="96164" y="482914"/>
                </a:lnTo>
                <a:lnTo>
                  <a:pt x="80347" y="468293"/>
                </a:lnTo>
                <a:lnTo>
                  <a:pt x="65726" y="452476"/>
                </a:lnTo>
                <a:lnTo>
                  <a:pt x="52391" y="435561"/>
                </a:lnTo>
                <a:lnTo>
                  <a:pt x="40424" y="417651"/>
                </a:lnTo>
                <a:lnTo>
                  <a:pt x="29899" y="398858"/>
                </a:lnTo>
                <a:lnTo>
                  <a:pt x="20881" y="379297"/>
                </a:lnTo>
                <a:lnTo>
                  <a:pt x="13426" y="359089"/>
                </a:lnTo>
                <a:lnTo>
                  <a:pt x="7580" y="338358"/>
                </a:lnTo>
                <a:lnTo>
                  <a:pt x="3377" y="317233"/>
                </a:lnTo>
                <a:lnTo>
                  <a:pt x="846" y="295842"/>
                </a:lnTo>
                <a:lnTo>
                  <a:pt x="0" y="274320"/>
                </a:lnTo>
                <a:lnTo>
                  <a:pt x="846" y="252797"/>
                </a:lnTo>
                <a:lnTo>
                  <a:pt x="3377" y="231406"/>
                </a:lnTo>
                <a:lnTo>
                  <a:pt x="7580" y="210281"/>
                </a:lnTo>
                <a:lnTo>
                  <a:pt x="13426" y="189550"/>
                </a:lnTo>
                <a:lnTo>
                  <a:pt x="20881" y="169342"/>
                </a:lnTo>
                <a:lnTo>
                  <a:pt x="29899" y="149781"/>
                </a:lnTo>
                <a:lnTo>
                  <a:pt x="40424" y="130988"/>
                </a:lnTo>
                <a:lnTo>
                  <a:pt x="52391" y="113078"/>
                </a:lnTo>
                <a:lnTo>
                  <a:pt x="65726" y="96163"/>
                </a:lnTo>
                <a:lnTo>
                  <a:pt x="80347" y="80346"/>
                </a:lnTo>
                <a:lnTo>
                  <a:pt x="96164" y="65725"/>
                </a:lnTo>
                <a:lnTo>
                  <a:pt x="113079" y="52390"/>
                </a:lnTo>
                <a:lnTo>
                  <a:pt x="130988" y="40423"/>
                </a:lnTo>
                <a:lnTo>
                  <a:pt x="149781" y="29899"/>
                </a:lnTo>
                <a:lnTo>
                  <a:pt x="169342" y="20881"/>
                </a:lnTo>
                <a:lnTo>
                  <a:pt x="189551" y="13426"/>
                </a:lnTo>
                <a:lnTo>
                  <a:pt x="210281" y="7579"/>
                </a:lnTo>
                <a:lnTo>
                  <a:pt x="231407" y="3377"/>
                </a:lnTo>
                <a:lnTo>
                  <a:pt x="252797" y="845"/>
                </a:lnTo>
                <a:lnTo>
                  <a:pt x="274320" y="0"/>
                </a:lnTo>
                <a:lnTo>
                  <a:pt x="274320" y="274320"/>
                </a:lnTo>
                <a:close/>
              </a:path>
            </a:pathLst>
          </a:custGeom>
          <a:solidFill>
            <a:srgbClr val="C87E12"/>
          </a:solidFill>
          <a:ln w="2286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3889857" y="2523744"/>
            <a:ext cx="548640" cy="548640"/>
          </a:xfrm>
          <a:prstGeom prst="ellipse">
            <a:avLst/>
          </a:prstGeom>
          <a:noFill/>
          <a:ln w="4191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3450945" y="3118103"/>
            <a:ext cx="1426464" cy="457200"/>
          </a:xfrm>
          <a:prstGeom prst="rect">
            <a:avLst/>
          </a:prstGeom>
          <a:noFill/>
        </p:spPr>
        <p:txBody>
          <a:bodyPr wrap="square" lIns="0" rIns="0" tIns="0" bIns="0" anchor="t">
            <a:spAutoFit/>
          </a:bodyPr>
          <a:lstStyle/>
          <a:p>
            <a:pPr algn="ctr">
              <a:lnSpc>
                <a:spcPct val="114000"/>
              </a:lnSpc>
              <a:spcAft>
                <a:spcPts val="100"/>
              </a:spcAft>
            </a:pPr>
            <a:r>
              <a:rPr sz="850" b="1">
                <a:solidFill>
                  <a:srgbClr val="0D1B2A"/>
                </a:solidFill>
                <a:latin typeface="Calibri"/>
              </a:rPr>
              <a:t>SEH + EHH</a:t>
            </a:r>
          </a:p>
        </p:txBody>
      </p:sp>
      <p:sp>
        <p:nvSpPr>
          <p:cNvPr id="27" name="Freeform 26"/>
          <p:cNvSpPr/>
          <p:nvPr/>
        </p:nvSpPr>
        <p:spPr>
          <a:xfrm>
            <a:off x="5055717" y="2523744"/>
            <a:ext cx="274320" cy="548640"/>
          </a:xfrm>
          <a:custGeom>
            <a:avLst/>
            <a:gdLst/>
            <a:ahLst/>
            <a:cxnLst/>
            <a:rect l="l" t="t" r="r" b="b"/>
            <a:pathLst>
              <a:path w="274320" h="548640">
                <a:moveTo>
                  <a:pt x="0" y="0"/>
                </a:moveTo>
                <a:lnTo>
                  <a:pt x="21523" y="845"/>
                </a:lnTo>
                <a:lnTo>
                  <a:pt x="42913" y="3377"/>
                </a:lnTo>
                <a:lnTo>
                  <a:pt x="64039" y="7579"/>
                </a:lnTo>
                <a:lnTo>
                  <a:pt x="84770" y="13426"/>
                </a:lnTo>
                <a:lnTo>
                  <a:pt x="104978" y="20881"/>
                </a:lnTo>
                <a:lnTo>
                  <a:pt x="124539" y="29899"/>
                </a:lnTo>
                <a:lnTo>
                  <a:pt x="143332" y="40423"/>
                </a:lnTo>
                <a:lnTo>
                  <a:pt x="161241" y="52390"/>
                </a:lnTo>
                <a:lnTo>
                  <a:pt x="178157" y="65725"/>
                </a:lnTo>
                <a:lnTo>
                  <a:pt x="193974" y="80346"/>
                </a:lnTo>
                <a:lnTo>
                  <a:pt x="208595" y="96163"/>
                </a:lnTo>
                <a:lnTo>
                  <a:pt x="221930" y="113078"/>
                </a:lnTo>
                <a:lnTo>
                  <a:pt x="233896" y="130988"/>
                </a:lnTo>
                <a:lnTo>
                  <a:pt x="244421" y="149781"/>
                </a:lnTo>
                <a:lnTo>
                  <a:pt x="253439" y="169342"/>
                </a:lnTo>
                <a:lnTo>
                  <a:pt x="260894" y="189550"/>
                </a:lnTo>
                <a:lnTo>
                  <a:pt x="266741" y="210281"/>
                </a:lnTo>
                <a:lnTo>
                  <a:pt x="270943" y="231406"/>
                </a:lnTo>
                <a:lnTo>
                  <a:pt x="273474" y="252797"/>
                </a:lnTo>
                <a:lnTo>
                  <a:pt x="274320" y="274320"/>
                </a:lnTo>
                <a:lnTo>
                  <a:pt x="273474" y="295842"/>
                </a:lnTo>
                <a:lnTo>
                  <a:pt x="270943" y="317233"/>
                </a:lnTo>
                <a:lnTo>
                  <a:pt x="266741" y="338358"/>
                </a:lnTo>
                <a:lnTo>
                  <a:pt x="260894" y="359089"/>
                </a:lnTo>
                <a:lnTo>
                  <a:pt x="253439" y="379297"/>
                </a:lnTo>
                <a:lnTo>
                  <a:pt x="244421" y="398858"/>
                </a:lnTo>
                <a:lnTo>
                  <a:pt x="233896" y="417651"/>
                </a:lnTo>
                <a:lnTo>
                  <a:pt x="221930" y="435561"/>
                </a:lnTo>
                <a:lnTo>
                  <a:pt x="208595" y="452476"/>
                </a:lnTo>
                <a:lnTo>
                  <a:pt x="193974" y="468293"/>
                </a:lnTo>
                <a:lnTo>
                  <a:pt x="178157" y="482914"/>
                </a:lnTo>
                <a:lnTo>
                  <a:pt x="161241" y="496249"/>
                </a:lnTo>
                <a:lnTo>
                  <a:pt x="143332" y="508216"/>
                </a:lnTo>
                <a:lnTo>
                  <a:pt x="124539" y="518740"/>
                </a:lnTo>
                <a:lnTo>
                  <a:pt x="104978" y="527758"/>
                </a:lnTo>
                <a:lnTo>
                  <a:pt x="84770" y="535213"/>
                </a:lnTo>
                <a:lnTo>
                  <a:pt x="64039" y="541060"/>
                </a:lnTo>
                <a:lnTo>
                  <a:pt x="42913" y="545262"/>
                </a:lnTo>
                <a:lnTo>
                  <a:pt x="21523" y="547794"/>
                </a:lnTo>
                <a:lnTo>
                  <a:pt x="0" y="548640"/>
                </a:lnTo>
                <a:lnTo>
                  <a:pt x="0" y="274320"/>
                </a:lnTo>
                <a:close/>
              </a:path>
            </a:pathLst>
          </a:custGeom>
          <a:solidFill>
            <a:srgbClr val="0E9A87"/>
          </a:solidFill>
          <a:ln w="2286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Freeform 27"/>
          <p:cNvSpPr/>
          <p:nvPr/>
        </p:nvSpPr>
        <p:spPr>
          <a:xfrm>
            <a:off x="4781397" y="2523744"/>
            <a:ext cx="274320" cy="548640"/>
          </a:xfrm>
          <a:custGeom>
            <a:avLst/>
            <a:gdLst/>
            <a:ahLst/>
            <a:cxnLst/>
            <a:rect l="l" t="t" r="r" b="b"/>
            <a:pathLst>
              <a:path w="274320" h="548640">
                <a:moveTo>
                  <a:pt x="274320" y="548640"/>
                </a:moveTo>
                <a:lnTo>
                  <a:pt x="252797" y="547794"/>
                </a:lnTo>
                <a:lnTo>
                  <a:pt x="231407" y="545262"/>
                </a:lnTo>
                <a:lnTo>
                  <a:pt x="210281" y="541060"/>
                </a:lnTo>
                <a:lnTo>
                  <a:pt x="189551" y="535213"/>
                </a:lnTo>
                <a:lnTo>
                  <a:pt x="169342" y="527758"/>
                </a:lnTo>
                <a:lnTo>
                  <a:pt x="149781" y="518740"/>
                </a:lnTo>
                <a:lnTo>
                  <a:pt x="130988" y="508216"/>
                </a:lnTo>
                <a:lnTo>
                  <a:pt x="113079" y="496249"/>
                </a:lnTo>
                <a:lnTo>
                  <a:pt x="96164" y="482914"/>
                </a:lnTo>
                <a:lnTo>
                  <a:pt x="80347" y="468293"/>
                </a:lnTo>
                <a:lnTo>
                  <a:pt x="65726" y="452476"/>
                </a:lnTo>
                <a:lnTo>
                  <a:pt x="52391" y="435561"/>
                </a:lnTo>
                <a:lnTo>
                  <a:pt x="40424" y="417651"/>
                </a:lnTo>
                <a:lnTo>
                  <a:pt x="29899" y="398858"/>
                </a:lnTo>
                <a:lnTo>
                  <a:pt x="20881" y="379297"/>
                </a:lnTo>
                <a:lnTo>
                  <a:pt x="13426" y="359089"/>
                </a:lnTo>
                <a:lnTo>
                  <a:pt x="7580" y="338358"/>
                </a:lnTo>
                <a:lnTo>
                  <a:pt x="3377" y="317233"/>
                </a:lnTo>
                <a:lnTo>
                  <a:pt x="846" y="295842"/>
                </a:lnTo>
                <a:lnTo>
                  <a:pt x="0" y="274320"/>
                </a:lnTo>
                <a:lnTo>
                  <a:pt x="846" y="252797"/>
                </a:lnTo>
                <a:lnTo>
                  <a:pt x="3377" y="231406"/>
                </a:lnTo>
                <a:lnTo>
                  <a:pt x="7580" y="210281"/>
                </a:lnTo>
                <a:lnTo>
                  <a:pt x="13426" y="189550"/>
                </a:lnTo>
                <a:lnTo>
                  <a:pt x="20881" y="169342"/>
                </a:lnTo>
                <a:lnTo>
                  <a:pt x="29899" y="149781"/>
                </a:lnTo>
                <a:lnTo>
                  <a:pt x="40424" y="130988"/>
                </a:lnTo>
                <a:lnTo>
                  <a:pt x="52391" y="113078"/>
                </a:lnTo>
                <a:lnTo>
                  <a:pt x="65726" y="96163"/>
                </a:lnTo>
                <a:lnTo>
                  <a:pt x="80347" y="80346"/>
                </a:lnTo>
                <a:lnTo>
                  <a:pt x="96164" y="65725"/>
                </a:lnTo>
                <a:lnTo>
                  <a:pt x="113079" y="52390"/>
                </a:lnTo>
                <a:lnTo>
                  <a:pt x="130988" y="40423"/>
                </a:lnTo>
                <a:lnTo>
                  <a:pt x="149781" y="29899"/>
                </a:lnTo>
                <a:lnTo>
                  <a:pt x="169342" y="20881"/>
                </a:lnTo>
                <a:lnTo>
                  <a:pt x="189551" y="13426"/>
                </a:lnTo>
                <a:lnTo>
                  <a:pt x="210281" y="7579"/>
                </a:lnTo>
                <a:lnTo>
                  <a:pt x="231407" y="3377"/>
                </a:lnTo>
                <a:lnTo>
                  <a:pt x="252797" y="845"/>
                </a:lnTo>
                <a:lnTo>
                  <a:pt x="274320" y="0"/>
                </a:lnTo>
                <a:lnTo>
                  <a:pt x="274320" y="274320"/>
                </a:lnTo>
                <a:close/>
              </a:path>
            </a:pathLst>
          </a:custGeom>
          <a:solidFill>
            <a:srgbClr val="0E746B"/>
          </a:solidFill>
          <a:ln w="2286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4781397" y="2523744"/>
            <a:ext cx="548640" cy="548640"/>
          </a:xfrm>
          <a:prstGeom prst="ellipse">
            <a:avLst/>
          </a:prstGeom>
          <a:noFill/>
          <a:ln w="4191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4342485" y="3118103"/>
            <a:ext cx="1426464" cy="457200"/>
          </a:xfrm>
          <a:prstGeom prst="rect">
            <a:avLst/>
          </a:prstGeom>
          <a:noFill/>
        </p:spPr>
        <p:txBody>
          <a:bodyPr wrap="square" lIns="0" rIns="0" tIns="0" bIns="0" anchor="t">
            <a:spAutoFit/>
          </a:bodyPr>
          <a:lstStyle/>
          <a:p>
            <a:pPr algn="ctr">
              <a:lnSpc>
                <a:spcPct val="114000"/>
              </a:lnSpc>
              <a:spcAft>
                <a:spcPts val="100"/>
              </a:spcAft>
            </a:pPr>
            <a:r>
              <a:rPr sz="850" b="1">
                <a:solidFill>
                  <a:srgbClr val="0D1B2A"/>
                </a:solidFill>
                <a:latin typeface="Calibri"/>
              </a:rPr>
              <a:t>CCU / SCU</a:t>
            </a:r>
          </a:p>
        </p:txBody>
      </p:sp>
      <p:sp>
        <p:nvSpPr>
          <p:cNvPr id="31" name="Freeform 30"/>
          <p:cNvSpPr/>
          <p:nvPr/>
        </p:nvSpPr>
        <p:spPr>
          <a:xfrm>
            <a:off x="2699765" y="2798064"/>
            <a:ext cx="1153516" cy="0"/>
          </a:xfrm>
          <a:custGeom>
            <a:avLst/>
            <a:gdLst/>
            <a:ahLst/>
            <a:cxnLst/>
            <a:rect l="l" t="t" r="r" b="b"/>
            <a:pathLst>
              <a:path w="1153516" h="0">
                <a:moveTo>
                  <a:pt x="0" y="0"/>
                </a:moveTo>
                <a:lnTo>
                  <a:pt x="26217" y="0"/>
                </a:lnTo>
                <a:lnTo>
                  <a:pt x="52433" y="0"/>
                </a:lnTo>
                <a:lnTo>
                  <a:pt x="78649" y="0"/>
                </a:lnTo>
                <a:lnTo>
                  <a:pt x="104866" y="0"/>
                </a:lnTo>
                <a:lnTo>
                  <a:pt x="131082" y="0"/>
                </a:lnTo>
                <a:lnTo>
                  <a:pt x="157298" y="0"/>
                </a:lnTo>
                <a:lnTo>
                  <a:pt x="183514" y="0"/>
                </a:lnTo>
                <a:lnTo>
                  <a:pt x="209731" y="0"/>
                </a:lnTo>
                <a:lnTo>
                  <a:pt x="235947" y="0"/>
                </a:lnTo>
                <a:lnTo>
                  <a:pt x="262163" y="0"/>
                </a:lnTo>
                <a:lnTo>
                  <a:pt x="288379" y="0"/>
                </a:lnTo>
                <a:lnTo>
                  <a:pt x="314596" y="0"/>
                </a:lnTo>
                <a:lnTo>
                  <a:pt x="340812" y="0"/>
                </a:lnTo>
                <a:lnTo>
                  <a:pt x="367028" y="0"/>
                </a:lnTo>
                <a:lnTo>
                  <a:pt x="393244" y="0"/>
                </a:lnTo>
                <a:lnTo>
                  <a:pt x="419461" y="0"/>
                </a:lnTo>
                <a:lnTo>
                  <a:pt x="445677" y="0"/>
                </a:lnTo>
                <a:lnTo>
                  <a:pt x="471893" y="0"/>
                </a:lnTo>
                <a:lnTo>
                  <a:pt x="498110" y="0"/>
                </a:lnTo>
                <a:lnTo>
                  <a:pt x="524326" y="0"/>
                </a:lnTo>
                <a:lnTo>
                  <a:pt x="550542" y="0"/>
                </a:lnTo>
                <a:lnTo>
                  <a:pt x="576758" y="0"/>
                </a:lnTo>
                <a:lnTo>
                  <a:pt x="602975" y="0"/>
                </a:lnTo>
                <a:lnTo>
                  <a:pt x="629191" y="0"/>
                </a:lnTo>
                <a:lnTo>
                  <a:pt x="655407" y="0"/>
                </a:lnTo>
                <a:lnTo>
                  <a:pt x="681623" y="0"/>
                </a:lnTo>
                <a:lnTo>
                  <a:pt x="707840" y="0"/>
                </a:lnTo>
                <a:lnTo>
                  <a:pt x="734056" y="0"/>
                </a:lnTo>
                <a:lnTo>
                  <a:pt x="760272" y="0"/>
                </a:lnTo>
                <a:lnTo>
                  <a:pt x="786488" y="0"/>
                </a:lnTo>
                <a:lnTo>
                  <a:pt x="812705" y="0"/>
                </a:lnTo>
                <a:lnTo>
                  <a:pt x="838921" y="0"/>
                </a:lnTo>
                <a:lnTo>
                  <a:pt x="865137" y="0"/>
                </a:lnTo>
                <a:lnTo>
                  <a:pt x="891353" y="0"/>
                </a:lnTo>
                <a:lnTo>
                  <a:pt x="917570" y="0"/>
                </a:lnTo>
                <a:lnTo>
                  <a:pt x="943786" y="0"/>
                </a:lnTo>
                <a:lnTo>
                  <a:pt x="970002" y="0"/>
                </a:lnTo>
                <a:lnTo>
                  <a:pt x="996219" y="0"/>
                </a:lnTo>
                <a:lnTo>
                  <a:pt x="1022435" y="0"/>
                </a:lnTo>
                <a:lnTo>
                  <a:pt x="1048651" y="0"/>
                </a:lnTo>
                <a:lnTo>
                  <a:pt x="1074867" y="0"/>
                </a:lnTo>
                <a:lnTo>
                  <a:pt x="1101084" y="0"/>
                </a:lnTo>
                <a:lnTo>
                  <a:pt x="1127300" y="0"/>
                </a:lnTo>
                <a:lnTo>
                  <a:pt x="1153516" y="0"/>
                </a:lnTo>
              </a:path>
            </a:pathLst>
          </a:custGeom>
          <a:noFill/>
          <a:ln w="44450">
            <a:solidFill>
              <a:srgbClr val="C87E12">
                <a:alpha val="8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2644901" y="2743200"/>
            <a:ext cx="109728" cy="109728"/>
          </a:xfrm>
          <a:prstGeom prst="ellipse">
            <a:avLst/>
          </a:prstGeom>
          <a:solidFill>
            <a:srgbClr val="C87E12"/>
          </a:solid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3798417" y="2743200"/>
            <a:ext cx="109728" cy="109728"/>
          </a:xfrm>
          <a:prstGeom prst="ellipse">
            <a:avLst/>
          </a:prstGeom>
          <a:solidFill>
            <a:srgbClr val="C87E12"/>
          </a:solid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Rounded Rectangle 33"/>
          <p:cNvSpPr/>
          <p:nvPr/>
        </p:nvSpPr>
        <p:spPr>
          <a:xfrm>
            <a:off x="6278727" y="1700784"/>
            <a:ext cx="5272887" cy="1883664"/>
          </a:xfrm>
          <a:prstGeom prst="roundRect">
            <a:avLst>
              <a:gd name="adj" fmla="val 3000"/>
            </a:avLst>
          </a:prstGeom>
          <a:solidFill>
            <a:srgbClr val="FFFFFF"/>
          </a:solidFill>
          <a:ln w="12700">
            <a:solidFill>
              <a:srgbClr val="E2E9F1"/>
            </a:solidFill>
          </a:ln>
          <a:effectLst>
            <a:outerShdw blurRad="70000" dist="22000" dir="5400000" rotWithShape="0">
              <a:srgbClr val="1B3A5C">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Oval 34"/>
          <p:cNvSpPr/>
          <p:nvPr/>
        </p:nvSpPr>
        <p:spPr>
          <a:xfrm>
            <a:off x="6479895" y="1865376"/>
            <a:ext cx="402336" cy="402336"/>
          </a:xfrm>
          <a:prstGeom prst="ellipse">
            <a:avLst/>
          </a:prstGeom>
          <a:solidFill>
            <a:srgbClr val="1F6FB2">
              <a:alpha val="10000"/>
            </a:srgbClr>
          </a:solidFill>
          <a:ln w="15875">
            <a:solidFill>
              <a:srgbClr val="1F6FB2"/>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1F6FB2"/>
                </a:solidFill>
                <a:latin typeface="Calibri"/>
              </a:rPr>
              <a:t>2</a:t>
            </a:r>
          </a:p>
        </p:txBody>
      </p:sp>
      <p:sp>
        <p:nvSpPr>
          <p:cNvPr id="36" name="TextBox 35"/>
          <p:cNvSpPr txBox="1"/>
          <p:nvPr/>
        </p:nvSpPr>
        <p:spPr>
          <a:xfrm>
            <a:off x="6991959" y="1865376"/>
            <a:ext cx="4267047" cy="402336"/>
          </a:xfrm>
          <a:prstGeom prst="rect">
            <a:avLst/>
          </a:prstGeom>
          <a:noFill/>
        </p:spPr>
        <p:txBody>
          <a:bodyPr wrap="square" lIns="0" rIns="0" tIns="0" bIns="0" anchor="ctr">
            <a:spAutoFit/>
          </a:bodyPr>
          <a:lstStyle/>
          <a:p>
            <a:pPr algn="l">
              <a:lnSpc>
                <a:spcPct val="115000"/>
              </a:lnSpc>
              <a:spcAft>
                <a:spcPts val="0"/>
              </a:spcAft>
            </a:pPr>
            <a:r>
              <a:rPr sz="1350" b="1">
                <a:solidFill>
                  <a:srgbClr val="0D1B2A"/>
                </a:solidFill>
                <a:latin typeface="Calibri"/>
              </a:rPr>
              <a:t>ICU en SCU samen op de ICU</a:t>
            </a:r>
          </a:p>
        </p:txBody>
      </p:sp>
      <p:sp>
        <p:nvSpPr>
          <p:cNvPr id="37" name="TextBox 36"/>
          <p:cNvSpPr txBox="1"/>
          <p:nvPr/>
        </p:nvSpPr>
        <p:spPr>
          <a:xfrm>
            <a:off x="6690207" y="2304288"/>
            <a:ext cx="1783080" cy="219456"/>
          </a:xfrm>
          <a:prstGeom prst="rect">
            <a:avLst/>
          </a:prstGeom>
          <a:noFill/>
        </p:spPr>
        <p:txBody>
          <a:bodyPr wrap="square" lIns="0" rIns="0" tIns="0" bIns="0" anchor="t">
            <a:spAutoFit/>
          </a:bodyPr>
          <a:lstStyle/>
          <a:p>
            <a:pPr algn="ctr">
              <a:lnSpc>
                <a:spcPct val="120000"/>
              </a:lnSpc>
              <a:spcAft>
                <a:spcPts val="0"/>
              </a:spcAft>
            </a:pPr>
            <a:r>
              <a:rPr sz="800" b="1" spc="120">
                <a:solidFill>
                  <a:srgbClr val="8B9AAA"/>
                </a:solidFill>
                <a:latin typeface="Calibri"/>
              </a:rPr>
              <a:t>NU</a:t>
            </a:r>
          </a:p>
        </p:txBody>
      </p:sp>
      <p:sp>
        <p:nvSpPr>
          <p:cNvPr id="38" name="TextBox 37"/>
          <p:cNvSpPr txBox="1"/>
          <p:nvPr/>
        </p:nvSpPr>
        <p:spPr>
          <a:xfrm>
            <a:off x="9357055" y="2304288"/>
            <a:ext cx="1783080" cy="219456"/>
          </a:xfrm>
          <a:prstGeom prst="rect">
            <a:avLst/>
          </a:prstGeom>
          <a:noFill/>
        </p:spPr>
        <p:txBody>
          <a:bodyPr wrap="square" lIns="0" rIns="0" tIns="0" bIns="0" anchor="t">
            <a:spAutoFit/>
          </a:bodyPr>
          <a:lstStyle/>
          <a:p>
            <a:pPr algn="ctr">
              <a:lnSpc>
                <a:spcPct val="120000"/>
              </a:lnSpc>
              <a:spcAft>
                <a:spcPts val="0"/>
              </a:spcAft>
            </a:pPr>
            <a:r>
              <a:rPr sz="800" b="1" spc="120">
                <a:solidFill>
                  <a:srgbClr val="8B9AAA"/>
                </a:solidFill>
                <a:latin typeface="Calibri"/>
              </a:rPr>
              <a:t>STRAKS</a:t>
            </a:r>
          </a:p>
        </p:txBody>
      </p:sp>
      <p:sp>
        <p:nvSpPr>
          <p:cNvPr id="39" name="Oval 38"/>
          <p:cNvSpPr/>
          <p:nvPr/>
        </p:nvSpPr>
        <p:spPr>
          <a:xfrm>
            <a:off x="6861657" y="2523744"/>
            <a:ext cx="548640" cy="548640"/>
          </a:xfrm>
          <a:prstGeom prst="ellipse">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Oval 39"/>
          <p:cNvSpPr/>
          <p:nvPr/>
        </p:nvSpPr>
        <p:spPr>
          <a:xfrm>
            <a:off x="6861657" y="2523744"/>
            <a:ext cx="548640" cy="548640"/>
          </a:xfrm>
          <a:prstGeom prst="ellipse">
            <a:avLst/>
          </a:prstGeom>
          <a:noFill/>
          <a:ln w="4191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6422745" y="3118103"/>
            <a:ext cx="1426464" cy="457200"/>
          </a:xfrm>
          <a:prstGeom prst="rect">
            <a:avLst/>
          </a:prstGeom>
          <a:noFill/>
        </p:spPr>
        <p:txBody>
          <a:bodyPr wrap="square" lIns="0" rIns="0" tIns="0" bIns="0" anchor="t">
            <a:spAutoFit/>
          </a:bodyPr>
          <a:lstStyle/>
          <a:p>
            <a:pPr algn="ctr">
              <a:lnSpc>
                <a:spcPct val="114000"/>
              </a:lnSpc>
              <a:spcAft>
                <a:spcPts val="100"/>
              </a:spcAft>
            </a:pPr>
            <a:r>
              <a:rPr sz="850" b="1">
                <a:solidFill>
                  <a:srgbClr val="0D1B2A"/>
                </a:solidFill>
                <a:latin typeface="Calibri"/>
              </a:rPr>
              <a:t>ICU</a:t>
            </a:r>
          </a:p>
        </p:txBody>
      </p:sp>
      <p:sp>
        <p:nvSpPr>
          <p:cNvPr id="42" name="Freeform 41"/>
          <p:cNvSpPr/>
          <p:nvPr/>
        </p:nvSpPr>
        <p:spPr>
          <a:xfrm>
            <a:off x="8027517" y="2523744"/>
            <a:ext cx="274320" cy="411480"/>
          </a:xfrm>
          <a:custGeom>
            <a:avLst/>
            <a:gdLst/>
            <a:ahLst/>
            <a:cxnLst/>
            <a:rect l="l" t="t" r="r" b="b"/>
            <a:pathLst>
              <a:path w="274320" h="411480">
                <a:moveTo>
                  <a:pt x="0" y="0"/>
                </a:moveTo>
                <a:lnTo>
                  <a:pt x="14357" y="375"/>
                </a:lnTo>
                <a:lnTo>
                  <a:pt x="28674" y="1502"/>
                </a:lnTo>
                <a:lnTo>
                  <a:pt x="42913" y="3377"/>
                </a:lnTo>
                <a:lnTo>
                  <a:pt x="57034" y="5994"/>
                </a:lnTo>
                <a:lnTo>
                  <a:pt x="70999" y="9347"/>
                </a:lnTo>
                <a:lnTo>
                  <a:pt x="84770" y="13426"/>
                </a:lnTo>
                <a:lnTo>
                  <a:pt x="98308" y="18220"/>
                </a:lnTo>
                <a:lnTo>
                  <a:pt x="111576" y="23716"/>
                </a:lnTo>
                <a:lnTo>
                  <a:pt x="124539" y="29899"/>
                </a:lnTo>
                <a:lnTo>
                  <a:pt x="137160" y="36751"/>
                </a:lnTo>
                <a:lnTo>
                  <a:pt x="149405" y="44255"/>
                </a:lnTo>
                <a:lnTo>
                  <a:pt x="161241" y="52390"/>
                </a:lnTo>
                <a:lnTo>
                  <a:pt x="172635" y="61133"/>
                </a:lnTo>
                <a:lnTo>
                  <a:pt x="183556" y="70460"/>
                </a:lnTo>
                <a:lnTo>
                  <a:pt x="193974" y="80346"/>
                </a:lnTo>
                <a:lnTo>
                  <a:pt x="203860" y="90764"/>
                </a:lnTo>
                <a:lnTo>
                  <a:pt x="213187" y="101684"/>
                </a:lnTo>
                <a:lnTo>
                  <a:pt x="221930" y="113078"/>
                </a:lnTo>
                <a:lnTo>
                  <a:pt x="230064" y="124914"/>
                </a:lnTo>
                <a:lnTo>
                  <a:pt x="237568" y="137160"/>
                </a:lnTo>
                <a:lnTo>
                  <a:pt x="244421" y="149781"/>
                </a:lnTo>
                <a:lnTo>
                  <a:pt x="250604" y="162744"/>
                </a:lnTo>
                <a:lnTo>
                  <a:pt x="256100" y="176012"/>
                </a:lnTo>
                <a:lnTo>
                  <a:pt x="260894" y="189550"/>
                </a:lnTo>
                <a:lnTo>
                  <a:pt x="264973" y="203320"/>
                </a:lnTo>
                <a:lnTo>
                  <a:pt x="268326" y="217285"/>
                </a:lnTo>
                <a:lnTo>
                  <a:pt x="270943" y="231406"/>
                </a:lnTo>
                <a:lnTo>
                  <a:pt x="272817" y="245645"/>
                </a:lnTo>
                <a:lnTo>
                  <a:pt x="273944" y="259963"/>
                </a:lnTo>
                <a:lnTo>
                  <a:pt x="274320" y="274320"/>
                </a:lnTo>
                <a:lnTo>
                  <a:pt x="273944" y="288676"/>
                </a:lnTo>
                <a:lnTo>
                  <a:pt x="272817" y="302994"/>
                </a:lnTo>
                <a:lnTo>
                  <a:pt x="270943" y="317233"/>
                </a:lnTo>
                <a:lnTo>
                  <a:pt x="268326" y="331354"/>
                </a:lnTo>
                <a:lnTo>
                  <a:pt x="264973" y="345319"/>
                </a:lnTo>
                <a:lnTo>
                  <a:pt x="260894" y="359089"/>
                </a:lnTo>
                <a:lnTo>
                  <a:pt x="256100" y="372627"/>
                </a:lnTo>
                <a:lnTo>
                  <a:pt x="250604" y="385895"/>
                </a:lnTo>
                <a:lnTo>
                  <a:pt x="244421" y="398858"/>
                </a:lnTo>
                <a:lnTo>
                  <a:pt x="237568" y="411480"/>
                </a:lnTo>
                <a:lnTo>
                  <a:pt x="0" y="274320"/>
                </a:lnTo>
                <a:close/>
              </a:path>
            </a:pathLst>
          </a:custGeom>
          <a:solidFill>
            <a:srgbClr val="0E9A87"/>
          </a:solidFill>
          <a:ln w="2286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Freeform 42"/>
          <p:cNvSpPr/>
          <p:nvPr/>
        </p:nvSpPr>
        <p:spPr>
          <a:xfrm>
            <a:off x="7789949" y="2798064"/>
            <a:ext cx="475136" cy="274320"/>
          </a:xfrm>
          <a:custGeom>
            <a:avLst/>
            <a:gdLst/>
            <a:ahLst/>
            <a:cxnLst/>
            <a:rect l="l" t="t" r="r" b="b"/>
            <a:pathLst>
              <a:path w="475136" h="274320">
                <a:moveTo>
                  <a:pt x="475136" y="137160"/>
                </a:moveTo>
                <a:lnTo>
                  <a:pt x="467632" y="149405"/>
                </a:lnTo>
                <a:lnTo>
                  <a:pt x="459498" y="161241"/>
                </a:lnTo>
                <a:lnTo>
                  <a:pt x="450755" y="172635"/>
                </a:lnTo>
                <a:lnTo>
                  <a:pt x="441428" y="183555"/>
                </a:lnTo>
                <a:lnTo>
                  <a:pt x="431542" y="193973"/>
                </a:lnTo>
                <a:lnTo>
                  <a:pt x="421124" y="203859"/>
                </a:lnTo>
                <a:lnTo>
                  <a:pt x="410203" y="213186"/>
                </a:lnTo>
                <a:lnTo>
                  <a:pt x="398809" y="221929"/>
                </a:lnTo>
                <a:lnTo>
                  <a:pt x="386973" y="230064"/>
                </a:lnTo>
                <a:lnTo>
                  <a:pt x="374728" y="237568"/>
                </a:lnTo>
                <a:lnTo>
                  <a:pt x="362107" y="244420"/>
                </a:lnTo>
                <a:lnTo>
                  <a:pt x="349144" y="250603"/>
                </a:lnTo>
                <a:lnTo>
                  <a:pt x="335876" y="256099"/>
                </a:lnTo>
                <a:lnTo>
                  <a:pt x="322338" y="260893"/>
                </a:lnTo>
                <a:lnTo>
                  <a:pt x="308567" y="264972"/>
                </a:lnTo>
                <a:lnTo>
                  <a:pt x="294602" y="268325"/>
                </a:lnTo>
                <a:lnTo>
                  <a:pt x="280481" y="270942"/>
                </a:lnTo>
                <a:lnTo>
                  <a:pt x="266242" y="272817"/>
                </a:lnTo>
                <a:lnTo>
                  <a:pt x="251925" y="273944"/>
                </a:lnTo>
                <a:lnTo>
                  <a:pt x="237568" y="274320"/>
                </a:lnTo>
                <a:lnTo>
                  <a:pt x="223211" y="273944"/>
                </a:lnTo>
                <a:lnTo>
                  <a:pt x="208894" y="272817"/>
                </a:lnTo>
                <a:lnTo>
                  <a:pt x="194655" y="270942"/>
                </a:lnTo>
                <a:lnTo>
                  <a:pt x="180534" y="268325"/>
                </a:lnTo>
                <a:lnTo>
                  <a:pt x="166569" y="264972"/>
                </a:lnTo>
                <a:lnTo>
                  <a:pt x="152799" y="260893"/>
                </a:lnTo>
                <a:lnTo>
                  <a:pt x="139261" y="256099"/>
                </a:lnTo>
                <a:lnTo>
                  <a:pt x="125992" y="250603"/>
                </a:lnTo>
                <a:lnTo>
                  <a:pt x="113029" y="244420"/>
                </a:lnTo>
                <a:lnTo>
                  <a:pt x="100408" y="237568"/>
                </a:lnTo>
                <a:lnTo>
                  <a:pt x="88163" y="230064"/>
                </a:lnTo>
                <a:lnTo>
                  <a:pt x="76327" y="221929"/>
                </a:lnTo>
                <a:lnTo>
                  <a:pt x="64933" y="213186"/>
                </a:lnTo>
                <a:lnTo>
                  <a:pt x="54012" y="203859"/>
                </a:lnTo>
                <a:lnTo>
                  <a:pt x="43595" y="193973"/>
                </a:lnTo>
                <a:lnTo>
                  <a:pt x="33709" y="183555"/>
                </a:lnTo>
                <a:lnTo>
                  <a:pt x="24381" y="172635"/>
                </a:lnTo>
                <a:lnTo>
                  <a:pt x="15639" y="161241"/>
                </a:lnTo>
                <a:lnTo>
                  <a:pt x="7504" y="149405"/>
                </a:lnTo>
                <a:lnTo>
                  <a:pt x="0" y="137160"/>
                </a:lnTo>
                <a:lnTo>
                  <a:pt x="237568" y="0"/>
                </a:lnTo>
                <a:close/>
              </a:path>
            </a:pathLst>
          </a:custGeom>
          <a:solidFill>
            <a:srgbClr val="C87E12"/>
          </a:solidFill>
          <a:ln w="2286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Freeform 43"/>
          <p:cNvSpPr/>
          <p:nvPr/>
        </p:nvSpPr>
        <p:spPr>
          <a:xfrm>
            <a:off x="7753197" y="2523744"/>
            <a:ext cx="274320" cy="411480"/>
          </a:xfrm>
          <a:custGeom>
            <a:avLst/>
            <a:gdLst/>
            <a:ahLst/>
            <a:cxnLst/>
            <a:rect l="l" t="t" r="r" b="b"/>
            <a:pathLst>
              <a:path w="274320" h="411480">
                <a:moveTo>
                  <a:pt x="36752" y="411480"/>
                </a:moveTo>
                <a:lnTo>
                  <a:pt x="29899" y="398858"/>
                </a:lnTo>
                <a:lnTo>
                  <a:pt x="23716" y="385895"/>
                </a:lnTo>
                <a:lnTo>
                  <a:pt x="18220" y="372627"/>
                </a:lnTo>
                <a:lnTo>
                  <a:pt x="13426" y="359089"/>
                </a:lnTo>
                <a:lnTo>
                  <a:pt x="9347" y="345319"/>
                </a:lnTo>
                <a:lnTo>
                  <a:pt x="5995" y="331354"/>
                </a:lnTo>
                <a:lnTo>
                  <a:pt x="3377" y="317233"/>
                </a:lnTo>
                <a:lnTo>
                  <a:pt x="1503" y="302994"/>
                </a:lnTo>
                <a:lnTo>
                  <a:pt x="376" y="288676"/>
                </a:lnTo>
                <a:lnTo>
                  <a:pt x="0" y="274320"/>
                </a:lnTo>
                <a:lnTo>
                  <a:pt x="376" y="259963"/>
                </a:lnTo>
                <a:lnTo>
                  <a:pt x="1503" y="245645"/>
                </a:lnTo>
                <a:lnTo>
                  <a:pt x="3377" y="231406"/>
                </a:lnTo>
                <a:lnTo>
                  <a:pt x="5995" y="217285"/>
                </a:lnTo>
                <a:lnTo>
                  <a:pt x="9347" y="203320"/>
                </a:lnTo>
                <a:lnTo>
                  <a:pt x="13426" y="189550"/>
                </a:lnTo>
                <a:lnTo>
                  <a:pt x="18220" y="176012"/>
                </a:lnTo>
                <a:lnTo>
                  <a:pt x="23716" y="162744"/>
                </a:lnTo>
                <a:lnTo>
                  <a:pt x="29899" y="149781"/>
                </a:lnTo>
                <a:lnTo>
                  <a:pt x="36752" y="137160"/>
                </a:lnTo>
                <a:lnTo>
                  <a:pt x="44256" y="124914"/>
                </a:lnTo>
                <a:lnTo>
                  <a:pt x="52391" y="113078"/>
                </a:lnTo>
                <a:lnTo>
                  <a:pt x="61133" y="101684"/>
                </a:lnTo>
                <a:lnTo>
                  <a:pt x="70461" y="90764"/>
                </a:lnTo>
                <a:lnTo>
                  <a:pt x="80347" y="80346"/>
                </a:lnTo>
                <a:lnTo>
                  <a:pt x="90764" y="70460"/>
                </a:lnTo>
                <a:lnTo>
                  <a:pt x="101685" y="61133"/>
                </a:lnTo>
                <a:lnTo>
                  <a:pt x="113079" y="52390"/>
                </a:lnTo>
                <a:lnTo>
                  <a:pt x="124915" y="44255"/>
                </a:lnTo>
                <a:lnTo>
                  <a:pt x="137160" y="36751"/>
                </a:lnTo>
                <a:lnTo>
                  <a:pt x="149781" y="29899"/>
                </a:lnTo>
                <a:lnTo>
                  <a:pt x="162744" y="23716"/>
                </a:lnTo>
                <a:lnTo>
                  <a:pt x="176013" y="18220"/>
                </a:lnTo>
                <a:lnTo>
                  <a:pt x="189551" y="13426"/>
                </a:lnTo>
                <a:lnTo>
                  <a:pt x="203321" y="9347"/>
                </a:lnTo>
                <a:lnTo>
                  <a:pt x="217286" y="5994"/>
                </a:lnTo>
                <a:lnTo>
                  <a:pt x="231407" y="3377"/>
                </a:lnTo>
                <a:lnTo>
                  <a:pt x="245646" y="1502"/>
                </a:lnTo>
                <a:lnTo>
                  <a:pt x="259963" y="375"/>
                </a:lnTo>
                <a:lnTo>
                  <a:pt x="274320" y="0"/>
                </a:lnTo>
                <a:lnTo>
                  <a:pt x="274320" y="274320"/>
                </a:lnTo>
                <a:close/>
              </a:path>
            </a:pathLst>
          </a:custGeom>
          <a:solidFill>
            <a:srgbClr val="123A63"/>
          </a:solidFill>
          <a:ln w="2286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7753197" y="2523744"/>
            <a:ext cx="548640" cy="548640"/>
          </a:xfrm>
          <a:prstGeom prst="ellipse">
            <a:avLst/>
          </a:prstGeom>
          <a:noFill/>
          <a:ln w="4191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TextBox 45"/>
          <p:cNvSpPr txBox="1"/>
          <p:nvPr/>
        </p:nvSpPr>
        <p:spPr>
          <a:xfrm>
            <a:off x="7314285" y="3118103"/>
            <a:ext cx="1426464" cy="457200"/>
          </a:xfrm>
          <a:prstGeom prst="rect">
            <a:avLst/>
          </a:prstGeom>
          <a:noFill/>
        </p:spPr>
        <p:txBody>
          <a:bodyPr wrap="square" lIns="0" rIns="0" tIns="0" bIns="0" anchor="t">
            <a:spAutoFit/>
          </a:bodyPr>
          <a:lstStyle/>
          <a:p>
            <a:pPr algn="ctr">
              <a:lnSpc>
                <a:spcPct val="114000"/>
              </a:lnSpc>
              <a:spcAft>
                <a:spcPts val="100"/>
              </a:spcAft>
            </a:pPr>
            <a:r>
              <a:rPr sz="850" b="1">
                <a:solidFill>
                  <a:srgbClr val="0D1B2A"/>
                </a:solidFill>
                <a:latin typeface="Calibri"/>
              </a:rPr>
              <a:t>CCU / SCU / EHH</a:t>
            </a:r>
          </a:p>
        </p:txBody>
      </p:sp>
      <p:sp>
        <p:nvSpPr>
          <p:cNvPr id="47" name="Freeform 46"/>
          <p:cNvSpPr/>
          <p:nvPr/>
        </p:nvSpPr>
        <p:spPr>
          <a:xfrm>
            <a:off x="9802825" y="2523744"/>
            <a:ext cx="274320" cy="548640"/>
          </a:xfrm>
          <a:custGeom>
            <a:avLst/>
            <a:gdLst/>
            <a:ahLst/>
            <a:cxnLst/>
            <a:rect l="l" t="t" r="r" b="b"/>
            <a:pathLst>
              <a:path w="274320" h="548640">
                <a:moveTo>
                  <a:pt x="0" y="0"/>
                </a:moveTo>
                <a:lnTo>
                  <a:pt x="21523" y="845"/>
                </a:lnTo>
                <a:lnTo>
                  <a:pt x="42913" y="3377"/>
                </a:lnTo>
                <a:lnTo>
                  <a:pt x="64038" y="7579"/>
                </a:lnTo>
                <a:lnTo>
                  <a:pt x="84769" y="13426"/>
                </a:lnTo>
                <a:lnTo>
                  <a:pt x="104977" y="20881"/>
                </a:lnTo>
                <a:lnTo>
                  <a:pt x="124538" y="29899"/>
                </a:lnTo>
                <a:lnTo>
                  <a:pt x="143332" y="40423"/>
                </a:lnTo>
                <a:lnTo>
                  <a:pt x="161241" y="52390"/>
                </a:lnTo>
                <a:lnTo>
                  <a:pt x="178156" y="65725"/>
                </a:lnTo>
                <a:lnTo>
                  <a:pt x="193973" y="80346"/>
                </a:lnTo>
                <a:lnTo>
                  <a:pt x="208594" y="96163"/>
                </a:lnTo>
                <a:lnTo>
                  <a:pt x="221929" y="113078"/>
                </a:lnTo>
                <a:lnTo>
                  <a:pt x="233896" y="130988"/>
                </a:lnTo>
                <a:lnTo>
                  <a:pt x="244421" y="149781"/>
                </a:lnTo>
                <a:lnTo>
                  <a:pt x="253438" y="169342"/>
                </a:lnTo>
                <a:lnTo>
                  <a:pt x="260894" y="189550"/>
                </a:lnTo>
                <a:lnTo>
                  <a:pt x="266740" y="210281"/>
                </a:lnTo>
                <a:lnTo>
                  <a:pt x="270942" y="231406"/>
                </a:lnTo>
                <a:lnTo>
                  <a:pt x="273474" y="252797"/>
                </a:lnTo>
                <a:lnTo>
                  <a:pt x="274320" y="274320"/>
                </a:lnTo>
                <a:lnTo>
                  <a:pt x="273474" y="295842"/>
                </a:lnTo>
                <a:lnTo>
                  <a:pt x="270942" y="317233"/>
                </a:lnTo>
                <a:lnTo>
                  <a:pt x="266740" y="338358"/>
                </a:lnTo>
                <a:lnTo>
                  <a:pt x="260894" y="359089"/>
                </a:lnTo>
                <a:lnTo>
                  <a:pt x="253438" y="379297"/>
                </a:lnTo>
                <a:lnTo>
                  <a:pt x="244421" y="398858"/>
                </a:lnTo>
                <a:lnTo>
                  <a:pt x="233896" y="417651"/>
                </a:lnTo>
                <a:lnTo>
                  <a:pt x="221929" y="435561"/>
                </a:lnTo>
                <a:lnTo>
                  <a:pt x="208594" y="452476"/>
                </a:lnTo>
                <a:lnTo>
                  <a:pt x="193973" y="468293"/>
                </a:lnTo>
                <a:lnTo>
                  <a:pt x="178156" y="482914"/>
                </a:lnTo>
                <a:lnTo>
                  <a:pt x="161241" y="496249"/>
                </a:lnTo>
                <a:lnTo>
                  <a:pt x="143332" y="508216"/>
                </a:lnTo>
                <a:lnTo>
                  <a:pt x="124538" y="518740"/>
                </a:lnTo>
                <a:lnTo>
                  <a:pt x="104977" y="527758"/>
                </a:lnTo>
                <a:lnTo>
                  <a:pt x="84769" y="535213"/>
                </a:lnTo>
                <a:lnTo>
                  <a:pt x="64038" y="541060"/>
                </a:lnTo>
                <a:lnTo>
                  <a:pt x="42913" y="545262"/>
                </a:lnTo>
                <a:lnTo>
                  <a:pt x="21523" y="547794"/>
                </a:lnTo>
                <a:lnTo>
                  <a:pt x="0" y="548640"/>
                </a:lnTo>
                <a:lnTo>
                  <a:pt x="0" y="274320"/>
                </a:lnTo>
                <a:close/>
              </a:path>
            </a:pathLst>
          </a:custGeom>
          <a:solidFill>
            <a:srgbClr val="1F6FB2"/>
          </a:solidFill>
          <a:ln w="2286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Freeform 47"/>
          <p:cNvSpPr/>
          <p:nvPr/>
        </p:nvSpPr>
        <p:spPr>
          <a:xfrm>
            <a:off x="9528505" y="2523744"/>
            <a:ext cx="274320" cy="548640"/>
          </a:xfrm>
          <a:custGeom>
            <a:avLst/>
            <a:gdLst/>
            <a:ahLst/>
            <a:cxnLst/>
            <a:rect l="l" t="t" r="r" b="b"/>
            <a:pathLst>
              <a:path w="274320" h="548640">
                <a:moveTo>
                  <a:pt x="274320" y="548640"/>
                </a:moveTo>
                <a:lnTo>
                  <a:pt x="252797" y="547794"/>
                </a:lnTo>
                <a:lnTo>
                  <a:pt x="231407" y="545262"/>
                </a:lnTo>
                <a:lnTo>
                  <a:pt x="210281" y="541060"/>
                </a:lnTo>
                <a:lnTo>
                  <a:pt x="189550" y="535213"/>
                </a:lnTo>
                <a:lnTo>
                  <a:pt x="169342" y="527758"/>
                </a:lnTo>
                <a:lnTo>
                  <a:pt x="149781" y="518740"/>
                </a:lnTo>
                <a:lnTo>
                  <a:pt x="130988" y="508216"/>
                </a:lnTo>
                <a:lnTo>
                  <a:pt x="113078" y="496249"/>
                </a:lnTo>
                <a:lnTo>
                  <a:pt x="96163" y="482914"/>
                </a:lnTo>
                <a:lnTo>
                  <a:pt x="80346" y="468293"/>
                </a:lnTo>
                <a:lnTo>
                  <a:pt x="65725" y="452476"/>
                </a:lnTo>
                <a:lnTo>
                  <a:pt x="52390" y="435561"/>
                </a:lnTo>
                <a:lnTo>
                  <a:pt x="40423" y="417651"/>
                </a:lnTo>
                <a:lnTo>
                  <a:pt x="29899" y="398858"/>
                </a:lnTo>
                <a:lnTo>
                  <a:pt x="20881" y="379297"/>
                </a:lnTo>
                <a:lnTo>
                  <a:pt x="13426" y="359089"/>
                </a:lnTo>
                <a:lnTo>
                  <a:pt x="7579" y="338358"/>
                </a:lnTo>
                <a:lnTo>
                  <a:pt x="3377" y="317233"/>
                </a:lnTo>
                <a:lnTo>
                  <a:pt x="845" y="295842"/>
                </a:lnTo>
                <a:lnTo>
                  <a:pt x="0" y="274320"/>
                </a:lnTo>
                <a:lnTo>
                  <a:pt x="845" y="252797"/>
                </a:lnTo>
                <a:lnTo>
                  <a:pt x="3377" y="231406"/>
                </a:lnTo>
                <a:lnTo>
                  <a:pt x="7579" y="210281"/>
                </a:lnTo>
                <a:lnTo>
                  <a:pt x="13426" y="189550"/>
                </a:lnTo>
                <a:lnTo>
                  <a:pt x="20881" y="169342"/>
                </a:lnTo>
                <a:lnTo>
                  <a:pt x="29899" y="149781"/>
                </a:lnTo>
                <a:lnTo>
                  <a:pt x="40423" y="130988"/>
                </a:lnTo>
                <a:lnTo>
                  <a:pt x="52390" y="113078"/>
                </a:lnTo>
                <a:lnTo>
                  <a:pt x="65725" y="96163"/>
                </a:lnTo>
                <a:lnTo>
                  <a:pt x="80346" y="80346"/>
                </a:lnTo>
                <a:lnTo>
                  <a:pt x="96163" y="65725"/>
                </a:lnTo>
                <a:lnTo>
                  <a:pt x="113078" y="52390"/>
                </a:lnTo>
                <a:lnTo>
                  <a:pt x="130988" y="40423"/>
                </a:lnTo>
                <a:lnTo>
                  <a:pt x="149781" y="29899"/>
                </a:lnTo>
                <a:lnTo>
                  <a:pt x="169342" y="20881"/>
                </a:lnTo>
                <a:lnTo>
                  <a:pt x="189550" y="13426"/>
                </a:lnTo>
                <a:lnTo>
                  <a:pt x="210281" y="7579"/>
                </a:lnTo>
                <a:lnTo>
                  <a:pt x="231407" y="3377"/>
                </a:lnTo>
                <a:lnTo>
                  <a:pt x="252797" y="845"/>
                </a:lnTo>
                <a:lnTo>
                  <a:pt x="274320" y="0"/>
                </a:lnTo>
                <a:lnTo>
                  <a:pt x="274320" y="274320"/>
                </a:lnTo>
                <a:close/>
              </a:path>
            </a:pathLst>
          </a:custGeom>
          <a:solidFill>
            <a:srgbClr val="C87E12"/>
          </a:solidFill>
          <a:ln w="2286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9528505" y="2523744"/>
            <a:ext cx="548640" cy="548640"/>
          </a:xfrm>
          <a:prstGeom prst="ellipse">
            <a:avLst/>
          </a:prstGeom>
          <a:noFill/>
          <a:ln w="4191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TextBox 49"/>
          <p:cNvSpPr txBox="1"/>
          <p:nvPr/>
        </p:nvSpPr>
        <p:spPr>
          <a:xfrm>
            <a:off x="9089593" y="3118103"/>
            <a:ext cx="1426464" cy="457200"/>
          </a:xfrm>
          <a:prstGeom prst="rect">
            <a:avLst/>
          </a:prstGeom>
          <a:noFill/>
        </p:spPr>
        <p:txBody>
          <a:bodyPr wrap="square" lIns="0" rIns="0" tIns="0" bIns="0" anchor="t">
            <a:spAutoFit/>
          </a:bodyPr>
          <a:lstStyle/>
          <a:p>
            <a:pPr algn="ctr">
              <a:lnSpc>
                <a:spcPct val="114000"/>
              </a:lnSpc>
              <a:spcAft>
                <a:spcPts val="100"/>
              </a:spcAft>
            </a:pPr>
            <a:r>
              <a:rPr sz="850" b="1">
                <a:solidFill>
                  <a:srgbClr val="0D1B2A"/>
                </a:solidFill>
                <a:latin typeface="Calibri"/>
              </a:rPr>
              <a:t>ICU + SCU</a:t>
            </a:r>
          </a:p>
        </p:txBody>
      </p:sp>
      <p:sp>
        <p:nvSpPr>
          <p:cNvPr id="51" name="Freeform 50"/>
          <p:cNvSpPr/>
          <p:nvPr/>
        </p:nvSpPr>
        <p:spPr>
          <a:xfrm>
            <a:off x="10694365" y="2523744"/>
            <a:ext cx="274320" cy="548640"/>
          </a:xfrm>
          <a:custGeom>
            <a:avLst/>
            <a:gdLst/>
            <a:ahLst/>
            <a:cxnLst/>
            <a:rect l="l" t="t" r="r" b="b"/>
            <a:pathLst>
              <a:path w="274320" h="548640">
                <a:moveTo>
                  <a:pt x="0" y="0"/>
                </a:moveTo>
                <a:lnTo>
                  <a:pt x="21523" y="845"/>
                </a:lnTo>
                <a:lnTo>
                  <a:pt x="42913" y="3377"/>
                </a:lnTo>
                <a:lnTo>
                  <a:pt x="64038" y="7579"/>
                </a:lnTo>
                <a:lnTo>
                  <a:pt x="84769" y="13426"/>
                </a:lnTo>
                <a:lnTo>
                  <a:pt x="104977" y="20881"/>
                </a:lnTo>
                <a:lnTo>
                  <a:pt x="124538" y="29899"/>
                </a:lnTo>
                <a:lnTo>
                  <a:pt x="143332" y="40423"/>
                </a:lnTo>
                <a:lnTo>
                  <a:pt x="161241" y="52390"/>
                </a:lnTo>
                <a:lnTo>
                  <a:pt x="178156" y="65725"/>
                </a:lnTo>
                <a:lnTo>
                  <a:pt x="193973" y="80346"/>
                </a:lnTo>
                <a:lnTo>
                  <a:pt x="208594" y="96163"/>
                </a:lnTo>
                <a:lnTo>
                  <a:pt x="221929" y="113078"/>
                </a:lnTo>
                <a:lnTo>
                  <a:pt x="233896" y="130988"/>
                </a:lnTo>
                <a:lnTo>
                  <a:pt x="244421" y="149781"/>
                </a:lnTo>
                <a:lnTo>
                  <a:pt x="253438" y="169342"/>
                </a:lnTo>
                <a:lnTo>
                  <a:pt x="260894" y="189550"/>
                </a:lnTo>
                <a:lnTo>
                  <a:pt x="266740" y="210281"/>
                </a:lnTo>
                <a:lnTo>
                  <a:pt x="270942" y="231406"/>
                </a:lnTo>
                <a:lnTo>
                  <a:pt x="273474" y="252797"/>
                </a:lnTo>
                <a:lnTo>
                  <a:pt x="274320" y="274320"/>
                </a:lnTo>
                <a:lnTo>
                  <a:pt x="273474" y="295842"/>
                </a:lnTo>
                <a:lnTo>
                  <a:pt x="270942" y="317233"/>
                </a:lnTo>
                <a:lnTo>
                  <a:pt x="266740" y="338358"/>
                </a:lnTo>
                <a:lnTo>
                  <a:pt x="260894" y="359089"/>
                </a:lnTo>
                <a:lnTo>
                  <a:pt x="253438" y="379297"/>
                </a:lnTo>
                <a:lnTo>
                  <a:pt x="244421" y="398858"/>
                </a:lnTo>
                <a:lnTo>
                  <a:pt x="233896" y="417651"/>
                </a:lnTo>
                <a:lnTo>
                  <a:pt x="221929" y="435561"/>
                </a:lnTo>
                <a:lnTo>
                  <a:pt x="208594" y="452476"/>
                </a:lnTo>
                <a:lnTo>
                  <a:pt x="193973" y="468293"/>
                </a:lnTo>
                <a:lnTo>
                  <a:pt x="178156" y="482914"/>
                </a:lnTo>
                <a:lnTo>
                  <a:pt x="161241" y="496249"/>
                </a:lnTo>
                <a:lnTo>
                  <a:pt x="143332" y="508216"/>
                </a:lnTo>
                <a:lnTo>
                  <a:pt x="124538" y="518740"/>
                </a:lnTo>
                <a:lnTo>
                  <a:pt x="104977" y="527758"/>
                </a:lnTo>
                <a:lnTo>
                  <a:pt x="84769" y="535213"/>
                </a:lnTo>
                <a:lnTo>
                  <a:pt x="64038" y="541060"/>
                </a:lnTo>
                <a:lnTo>
                  <a:pt x="42913" y="545262"/>
                </a:lnTo>
                <a:lnTo>
                  <a:pt x="21523" y="547794"/>
                </a:lnTo>
                <a:lnTo>
                  <a:pt x="0" y="548640"/>
                </a:lnTo>
                <a:lnTo>
                  <a:pt x="0" y="274320"/>
                </a:lnTo>
                <a:close/>
              </a:path>
            </a:pathLst>
          </a:custGeom>
          <a:solidFill>
            <a:srgbClr val="0E9A87"/>
          </a:solidFill>
          <a:ln w="2286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Freeform 51"/>
          <p:cNvSpPr/>
          <p:nvPr/>
        </p:nvSpPr>
        <p:spPr>
          <a:xfrm>
            <a:off x="10420045" y="2523744"/>
            <a:ext cx="274320" cy="548640"/>
          </a:xfrm>
          <a:custGeom>
            <a:avLst/>
            <a:gdLst/>
            <a:ahLst/>
            <a:cxnLst/>
            <a:rect l="l" t="t" r="r" b="b"/>
            <a:pathLst>
              <a:path w="274320" h="548640">
                <a:moveTo>
                  <a:pt x="274320" y="548640"/>
                </a:moveTo>
                <a:lnTo>
                  <a:pt x="252797" y="547794"/>
                </a:lnTo>
                <a:lnTo>
                  <a:pt x="231407" y="545262"/>
                </a:lnTo>
                <a:lnTo>
                  <a:pt x="210281" y="541060"/>
                </a:lnTo>
                <a:lnTo>
                  <a:pt x="189550" y="535213"/>
                </a:lnTo>
                <a:lnTo>
                  <a:pt x="169342" y="527758"/>
                </a:lnTo>
                <a:lnTo>
                  <a:pt x="149781" y="518740"/>
                </a:lnTo>
                <a:lnTo>
                  <a:pt x="130988" y="508216"/>
                </a:lnTo>
                <a:lnTo>
                  <a:pt x="113078" y="496249"/>
                </a:lnTo>
                <a:lnTo>
                  <a:pt x="96163" y="482914"/>
                </a:lnTo>
                <a:lnTo>
                  <a:pt x="80346" y="468293"/>
                </a:lnTo>
                <a:lnTo>
                  <a:pt x="65725" y="452476"/>
                </a:lnTo>
                <a:lnTo>
                  <a:pt x="52390" y="435561"/>
                </a:lnTo>
                <a:lnTo>
                  <a:pt x="40423" y="417651"/>
                </a:lnTo>
                <a:lnTo>
                  <a:pt x="29899" y="398858"/>
                </a:lnTo>
                <a:lnTo>
                  <a:pt x="20881" y="379297"/>
                </a:lnTo>
                <a:lnTo>
                  <a:pt x="13426" y="359089"/>
                </a:lnTo>
                <a:lnTo>
                  <a:pt x="7579" y="338358"/>
                </a:lnTo>
                <a:lnTo>
                  <a:pt x="3377" y="317233"/>
                </a:lnTo>
                <a:lnTo>
                  <a:pt x="845" y="295842"/>
                </a:lnTo>
                <a:lnTo>
                  <a:pt x="0" y="274320"/>
                </a:lnTo>
                <a:lnTo>
                  <a:pt x="845" y="252797"/>
                </a:lnTo>
                <a:lnTo>
                  <a:pt x="3377" y="231406"/>
                </a:lnTo>
                <a:lnTo>
                  <a:pt x="7579" y="210281"/>
                </a:lnTo>
                <a:lnTo>
                  <a:pt x="13426" y="189550"/>
                </a:lnTo>
                <a:lnTo>
                  <a:pt x="20881" y="169342"/>
                </a:lnTo>
                <a:lnTo>
                  <a:pt x="29899" y="149781"/>
                </a:lnTo>
                <a:lnTo>
                  <a:pt x="40423" y="130988"/>
                </a:lnTo>
                <a:lnTo>
                  <a:pt x="52390" y="113078"/>
                </a:lnTo>
                <a:lnTo>
                  <a:pt x="65725" y="96163"/>
                </a:lnTo>
                <a:lnTo>
                  <a:pt x="80346" y="80346"/>
                </a:lnTo>
                <a:lnTo>
                  <a:pt x="96163" y="65725"/>
                </a:lnTo>
                <a:lnTo>
                  <a:pt x="113078" y="52390"/>
                </a:lnTo>
                <a:lnTo>
                  <a:pt x="130988" y="40423"/>
                </a:lnTo>
                <a:lnTo>
                  <a:pt x="149781" y="29899"/>
                </a:lnTo>
                <a:lnTo>
                  <a:pt x="169342" y="20881"/>
                </a:lnTo>
                <a:lnTo>
                  <a:pt x="189550" y="13426"/>
                </a:lnTo>
                <a:lnTo>
                  <a:pt x="210281" y="7579"/>
                </a:lnTo>
                <a:lnTo>
                  <a:pt x="231407" y="3377"/>
                </a:lnTo>
                <a:lnTo>
                  <a:pt x="252797" y="845"/>
                </a:lnTo>
                <a:lnTo>
                  <a:pt x="274320" y="0"/>
                </a:lnTo>
                <a:lnTo>
                  <a:pt x="274320" y="274320"/>
                </a:lnTo>
                <a:close/>
              </a:path>
            </a:pathLst>
          </a:custGeom>
          <a:solidFill>
            <a:srgbClr val="123A63"/>
          </a:solidFill>
          <a:ln w="2286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Oval 52"/>
          <p:cNvSpPr/>
          <p:nvPr/>
        </p:nvSpPr>
        <p:spPr>
          <a:xfrm>
            <a:off x="10420045" y="2523744"/>
            <a:ext cx="548640" cy="548640"/>
          </a:xfrm>
          <a:prstGeom prst="ellipse">
            <a:avLst/>
          </a:prstGeom>
          <a:noFill/>
          <a:ln w="4191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TextBox 53"/>
          <p:cNvSpPr txBox="1"/>
          <p:nvPr/>
        </p:nvSpPr>
        <p:spPr>
          <a:xfrm>
            <a:off x="9981133" y="3118103"/>
            <a:ext cx="1426464" cy="457200"/>
          </a:xfrm>
          <a:prstGeom prst="rect">
            <a:avLst/>
          </a:prstGeom>
          <a:noFill/>
        </p:spPr>
        <p:txBody>
          <a:bodyPr wrap="square" lIns="0" rIns="0" tIns="0" bIns="0" anchor="t">
            <a:spAutoFit/>
          </a:bodyPr>
          <a:lstStyle/>
          <a:p>
            <a:pPr algn="ctr">
              <a:lnSpc>
                <a:spcPct val="114000"/>
              </a:lnSpc>
              <a:spcAft>
                <a:spcPts val="100"/>
              </a:spcAft>
            </a:pPr>
            <a:r>
              <a:rPr sz="850" b="1">
                <a:solidFill>
                  <a:srgbClr val="0D1B2A"/>
                </a:solidFill>
                <a:latin typeface="Calibri"/>
              </a:rPr>
              <a:t>CCU / EHH</a:t>
            </a:r>
          </a:p>
        </p:txBody>
      </p:sp>
      <p:sp>
        <p:nvSpPr>
          <p:cNvPr id="55" name="Freeform 54"/>
          <p:cNvSpPr/>
          <p:nvPr/>
        </p:nvSpPr>
        <p:spPr>
          <a:xfrm>
            <a:off x="8338413" y="2798064"/>
            <a:ext cx="1153516" cy="0"/>
          </a:xfrm>
          <a:custGeom>
            <a:avLst/>
            <a:gdLst/>
            <a:ahLst/>
            <a:cxnLst/>
            <a:rect l="l" t="t" r="r" b="b"/>
            <a:pathLst>
              <a:path w="1153516" h="0">
                <a:moveTo>
                  <a:pt x="0" y="0"/>
                </a:moveTo>
                <a:lnTo>
                  <a:pt x="26216" y="0"/>
                </a:lnTo>
                <a:lnTo>
                  <a:pt x="52433" y="0"/>
                </a:lnTo>
                <a:lnTo>
                  <a:pt x="78649" y="0"/>
                </a:lnTo>
                <a:lnTo>
                  <a:pt x="104865" y="0"/>
                </a:lnTo>
                <a:lnTo>
                  <a:pt x="131081" y="0"/>
                </a:lnTo>
                <a:lnTo>
                  <a:pt x="157298" y="0"/>
                </a:lnTo>
                <a:lnTo>
                  <a:pt x="183514" y="0"/>
                </a:lnTo>
                <a:lnTo>
                  <a:pt x="209730" y="0"/>
                </a:lnTo>
                <a:lnTo>
                  <a:pt x="235946" y="0"/>
                </a:lnTo>
                <a:lnTo>
                  <a:pt x="262163" y="0"/>
                </a:lnTo>
                <a:lnTo>
                  <a:pt x="288379" y="0"/>
                </a:lnTo>
                <a:lnTo>
                  <a:pt x="314595" y="0"/>
                </a:lnTo>
                <a:lnTo>
                  <a:pt x="340812" y="0"/>
                </a:lnTo>
                <a:lnTo>
                  <a:pt x="367028" y="0"/>
                </a:lnTo>
                <a:lnTo>
                  <a:pt x="393244" y="0"/>
                </a:lnTo>
                <a:lnTo>
                  <a:pt x="419460" y="0"/>
                </a:lnTo>
                <a:lnTo>
                  <a:pt x="445677" y="0"/>
                </a:lnTo>
                <a:lnTo>
                  <a:pt x="471893" y="0"/>
                </a:lnTo>
                <a:lnTo>
                  <a:pt x="498109" y="0"/>
                </a:lnTo>
                <a:lnTo>
                  <a:pt x="524325" y="0"/>
                </a:lnTo>
                <a:lnTo>
                  <a:pt x="550542" y="0"/>
                </a:lnTo>
                <a:lnTo>
                  <a:pt x="576758" y="0"/>
                </a:lnTo>
                <a:lnTo>
                  <a:pt x="602974" y="0"/>
                </a:lnTo>
                <a:lnTo>
                  <a:pt x="629190" y="0"/>
                </a:lnTo>
                <a:lnTo>
                  <a:pt x="655407" y="0"/>
                </a:lnTo>
                <a:lnTo>
                  <a:pt x="681623" y="0"/>
                </a:lnTo>
                <a:lnTo>
                  <a:pt x="707839" y="0"/>
                </a:lnTo>
                <a:lnTo>
                  <a:pt x="734055" y="0"/>
                </a:lnTo>
                <a:lnTo>
                  <a:pt x="760272" y="0"/>
                </a:lnTo>
                <a:lnTo>
                  <a:pt x="786488" y="0"/>
                </a:lnTo>
                <a:lnTo>
                  <a:pt x="812704" y="0"/>
                </a:lnTo>
                <a:lnTo>
                  <a:pt x="838921" y="0"/>
                </a:lnTo>
                <a:lnTo>
                  <a:pt x="865137" y="0"/>
                </a:lnTo>
                <a:lnTo>
                  <a:pt x="891353" y="0"/>
                </a:lnTo>
                <a:lnTo>
                  <a:pt x="917569" y="0"/>
                </a:lnTo>
                <a:lnTo>
                  <a:pt x="943786" y="0"/>
                </a:lnTo>
                <a:lnTo>
                  <a:pt x="970002" y="0"/>
                </a:lnTo>
                <a:lnTo>
                  <a:pt x="996218" y="0"/>
                </a:lnTo>
                <a:lnTo>
                  <a:pt x="1022434" y="0"/>
                </a:lnTo>
                <a:lnTo>
                  <a:pt x="1048651" y="0"/>
                </a:lnTo>
                <a:lnTo>
                  <a:pt x="1074867" y="0"/>
                </a:lnTo>
                <a:lnTo>
                  <a:pt x="1101083" y="0"/>
                </a:lnTo>
                <a:lnTo>
                  <a:pt x="1127299" y="0"/>
                </a:lnTo>
                <a:lnTo>
                  <a:pt x="1153516" y="0"/>
                </a:lnTo>
              </a:path>
            </a:pathLst>
          </a:custGeom>
          <a:noFill/>
          <a:ln w="44450">
            <a:solidFill>
              <a:srgbClr val="C87E12">
                <a:alpha val="8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Oval 55"/>
          <p:cNvSpPr/>
          <p:nvPr/>
        </p:nvSpPr>
        <p:spPr>
          <a:xfrm>
            <a:off x="8283549" y="2743200"/>
            <a:ext cx="109728" cy="109728"/>
          </a:xfrm>
          <a:prstGeom prst="ellipse">
            <a:avLst/>
          </a:prstGeom>
          <a:solidFill>
            <a:srgbClr val="C87E12"/>
          </a:solid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7" name="Oval 56"/>
          <p:cNvSpPr/>
          <p:nvPr/>
        </p:nvSpPr>
        <p:spPr>
          <a:xfrm>
            <a:off x="9437065" y="2743200"/>
            <a:ext cx="109728" cy="109728"/>
          </a:xfrm>
          <a:prstGeom prst="ellipse">
            <a:avLst/>
          </a:prstGeom>
          <a:solidFill>
            <a:srgbClr val="C87E12"/>
          </a:solid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8" name="Rounded Rectangle 57"/>
          <p:cNvSpPr/>
          <p:nvPr/>
        </p:nvSpPr>
        <p:spPr>
          <a:xfrm>
            <a:off x="640080" y="3767328"/>
            <a:ext cx="5272887" cy="1883664"/>
          </a:xfrm>
          <a:prstGeom prst="roundRect">
            <a:avLst>
              <a:gd name="adj" fmla="val 3000"/>
            </a:avLst>
          </a:prstGeom>
          <a:solidFill>
            <a:srgbClr val="FFFFFF"/>
          </a:solidFill>
          <a:ln w="12700">
            <a:solidFill>
              <a:srgbClr val="E2E9F1"/>
            </a:solidFill>
          </a:ln>
          <a:effectLst>
            <a:outerShdw blurRad="70000" dist="22000" dir="5400000" rotWithShape="0">
              <a:srgbClr val="1B3A5C">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9" name="Oval 58"/>
          <p:cNvSpPr/>
          <p:nvPr/>
        </p:nvSpPr>
        <p:spPr>
          <a:xfrm>
            <a:off x="841247" y="3931920"/>
            <a:ext cx="402336" cy="402336"/>
          </a:xfrm>
          <a:prstGeom prst="ellipse">
            <a:avLst/>
          </a:prstGeom>
          <a:solidFill>
            <a:srgbClr val="1F6FB2">
              <a:alpha val="10000"/>
            </a:srgbClr>
          </a:solidFill>
          <a:ln w="15875">
            <a:solidFill>
              <a:srgbClr val="1F6FB2"/>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1F6FB2"/>
                </a:solidFill>
                <a:latin typeface="Calibri"/>
              </a:rPr>
              <a:t>3</a:t>
            </a:r>
          </a:p>
        </p:txBody>
      </p:sp>
      <p:sp>
        <p:nvSpPr>
          <p:cNvPr id="60" name="TextBox 59"/>
          <p:cNvSpPr txBox="1"/>
          <p:nvPr/>
        </p:nvSpPr>
        <p:spPr>
          <a:xfrm>
            <a:off x="1353312" y="3931920"/>
            <a:ext cx="4267047" cy="402336"/>
          </a:xfrm>
          <a:prstGeom prst="rect">
            <a:avLst/>
          </a:prstGeom>
          <a:noFill/>
        </p:spPr>
        <p:txBody>
          <a:bodyPr wrap="square" lIns="0" rIns="0" tIns="0" bIns="0" anchor="ctr">
            <a:spAutoFit/>
          </a:bodyPr>
          <a:lstStyle/>
          <a:p>
            <a:pPr algn="l">
              <a:lnSpc>
                <a:spcPct val="115000"/>
              </a:lnSpc>
              <a:spcAft>
                <a:spcPts val="0"/>
              </a:spcAft>
            </a:pPr>
            <a:r>
              <a:rPr sz="1350" b="1">
                <a:solidFill>
                  <a:srgbClr val="0D1B2A"/>
                </a:solidFill>
                <a:latin typeface="Calibri"/>
              </a:rPr>
              <a:t>Recovery van de ICU naar CCU / SCU</a:t>
            </a:r>
          </a:p>
        </p:txBody>
      </p:sp>
      <p:sp>
        <p:nvSpPr>
          <p:cNvPr id="61" name="TextBox 60"/>
          <p:cNvSpPr txBox="1"/>
          <p:nvPr/>
        </p:nvSpPr>
        <p:spPr>
          <a:xfrm>
            <a:off x="1051560" y="4370832"/>
            <a:ext cx="1783080" cy="219456"/>
          </a:xfrm>
          <a:prstGeom prst="rect">
            <a:avLst/>
          </a:prstGeom>
          <a:noFill/>
        </p:spPr>
        <p:txBody>
          <a:bodyPr wrap="square" lIns="0" rIns="0" tIns="0" bIns="0" anchor="t">
            <a:spAutoFit/>
          </a:bodyPr>
          <a:lstStyle/>
          <a:p>
            <a:pPr algn="ctr">
              <a:lnSpc>
                <a:spcPct val="120000"/>
              </a:lnSpc>
              <a:spcAft>
                <a:spcPts val="0"/>
              </a:spcAft>
            </a:pPr>
            <a:r>
              <a:rPr sz="800" b="1" spc="120">
                <a:solidFill>
                  <a:srgbClr val="8B9AAA"/>
                </a:solidFill>
                <a:latin typeface="Calibri"/>
              </a:rPr>
              <a:t>NU</a:t>
            </a:r>
          </a:p>
        </p:txBody>
      </p:sp>
      <p:sp>
        <p:nvSpPr>
          <p:cNvPr id="62" name="TextBox 61"/>
          <p:cNvSpPr txBox="1"/>
          <p:nvPr/>
        </p:nvSpPr>
        <p:spPr>
          <a:xfrm>
            <a:off x="3718407" y="4370832"/>
            <a:ext cx="1783080" cy="219456"/>
          </a:xfrm>
          <a:prstGeom prst="rect">
            <a:avLst/>
          </a:prstGeom>
          <a:noFill/>
        </p:spPr>
        <p:txBody>
          <a:bodyPr wrap="square" lIns="0" rIns="0" tIns="0" bIns="0" anchor="t">
            <a:spAutoFit/>
          </a:bodyPr>
          <a:lstStyle/>
          <a:p>
            <a:pPr algn="ctr">
              <a:lnSpc>
                <a:spcPct val="120000"/>
              </a:lnSpc>
              <a:spcAft>
                <a:spcPts val="0"/>
              </a:spcAft>
            </a:pPr>
            <a:r>
              <a:rPr sz="800" b="1" spc="120">
                <a:solidFill>
                  <a:srgbClr val="8B9AAA"/>
                </a:solidFill>
                <a:latin typeface="Calibri"/>
              </a:rPr>
              <a:t>STRAKS</a:t>
            </a:r>
          </a:p>
        </p:txBody>
      </p:sp>
      <p:sp>
        <p:nvSpPr>
          <p:cNvPr id="63" name="Freeform 62"/>
          <p:cNvSpPr/>
          <p:nvPr/>
        </p:nvSpPr>
        <p:spPr>
          <a:xfrm>
            <a:off x="1497330" y="4590288"/>
            <a:ext cx="274320" cy="548640"/>
          </a:xfrm>
          <a:custGeom>
            <a:avLst/>
            <a:gdLst/>
            <a:ahLst/>
            <a:cxnLst/>
            <a:rect l="l" t="t" r="r" b="b"/>
            <a:pathLst>
              <a:path w="274320" h="548640">
                <a:moveTo>
                  <a:pt x="0" y="0"/>
                </a:moveTo>
                <a:lnTo>
                  <a:pt x="21522" y="845"/>
                </a:lnTo>
                <a:lnTo>
                  <a:pt x="42913" y="3377"/>
                </a:lnTo>
                <a:lnTo>
                  <a:pt x="64038" y="7579"/>
                </a:lnTo>
                <a:lnTo>
                  <a:pt x="84769" y="13426"/>
                </a:lnTo>
                <a:lnTo>
                  <a:pt x="104977" y="20881"/>
                </a:lnTo>
                <a:lnTo>
                  <a:pt x="124538" y="29899"/>
                </a:lnTo>
                <a:lnTo>
                  <a:pt x="143331" y="40423"/>
                </a:lnTo>
                <a:lnTo>
                  <a:pt x="161241" y="52390"/>
                </a:lnTo>
                <a:lnTo>
                  <a:pt x="178156" y="65725"/>
                </a:lnTo>
                <a:lnTo>
                  <a:pt x="193973" y="80346"/>
                </a:lnTo>
                <a:lnTo>
                  <a:pt x="208594" y="96163"/>
                </a:lnTo>
                <a:lnTo>
                  <a:pt x="221929" y="113078"/>
                </a:lnTo>
                <a:lnTo>
                  <a:pt x="233896" y="130988"/>
                </a:lnTo>
                <a:lnTo>
                  <a:pt x="244420" y="149781"/>
                </a:lnTo>
                <a:lnTo>
                  <a:pt x="253438" y="169342"/>
                </a:lnTo>
                <a:lnTo>
                  <a:pt x="260893" y="189550"/>
                </a:lnTo>
                <a:lnTo>
                  <a:pt x="266740" y="210281"/>
                </a:lnTo>
                <a:lnTo>
                  <a:pt x="270942" y="231406"/>
                </a:lnTo>
                <a:lnTo>
                  <a:pt x="273474" y="252797"/>
                </a:lnTo>
                <a:lnTo>
                  <a:pt x="274320" y="274320"/>
                </a:lnTo>
                <a:lnTo>
                  <a:pt x="273474" y="295842"/>
                </a:lnTo>
                <a:lnTo>
                  <a:pt x="270942" y="317233"/>
                </a:lnTo>
                <a:lnTo>
                  <a:pt x="266740" y="338358"/>
                </a:lnTo>
                <a:lnTo>
                  <a:pt x="260893" y="359089"/>
                </a:lnTo>
                <a:lnTo>
                  <a:pt x="253438" y="379297"/>
                </a:lnTo>
                <a:lnTo>
                  <a:pt x="244420" y="398858"/>
                </a:lnTo>
                <a:lnTo>
                  <a:pt x="233896" y="417651"/>
                </a:lnTo>
                <a:lnTo>
                  <a:pt x="221929" y="435561"/>
                </a:lnTo>
                <a:lnTo>
                  <a:pt x="208594" y="452476"/>
                </a:lnTo>
                <a:lnTo>
                  <a:pt x="193973" y="468293"/>
                </a:lnTo>
                <a:lnTo>
                  <a:pt x="178156" y="482914"/>
                </a:lnTo>
                <a:lnTo>
                  <a:pt x="161241" y="496249"/>
                </a:lnTo>
                <a:lnTo>
                  <a:pt x="143331" y="508216"/>
                </a:lnTo>
                <a:lnTo>
                  <a:pt x="124538" y="518740"/>
                </a:lnTo>
                <a:lnTo>
                  <a:pt x="104977" y="527758"/>
                </a:lnTo>
                <a:lnTo>
                  <a:pt x="84769" y="535213"/>
                </a:lnTo>
                <a:lnTo>
                  <a:pt x="64038" y="541060"/>
                </a:lnTo>
                <a:lnTo>
                  <a:pt x="42913" y="545262"/>
                </a:lnTo>
                <a:lnTo>
                  <a:pt x="21522" y="547794"/>
                </a:lnTo>
                <a:lnTo>
                  <a:pt x="0" y="548640"/>
                </a:lnTo>
                <a:lnTo>
                  <a:pt x="0" y="274320"/>
                </a:lnTo>
                <a:close/>
              </a:path>
            </a:pathLst>
          </a:custGeom>
          <a:solidFill>
            <a:srgbClr val="0E9A87"/>
          </a:solidFill>
          <a:ln w="2286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Freeform 63"/>
          <p:cNvSpPr/>
          <p:nvPr/>
        </p:nvSpPr>
        <p:spPr>
          <a:xfrm>
            <a:off x="1223010" y="4590288"/>
            <a:ext cx="274320" cy="548640"/>
          </a:xfrm>
          <a:custGeom>
            <a:avLst/>
            <a:gdLst/>
            <a:ahLst/>
            <a:cxnLst/>
            <a:rect l="l" t="t" r="r" b="b"/>
            <a:pathLst>
              <a:path w="274320" h="548640">
                <a:moveTo>
                  <a:pt x="274320" y="548640"/>
                </a:moveTo>
                <a:lnTo>
                  <a:pt x="252797" y="547794"/>
                </a:lnTo>
                <a:lnTo>
                  <a:pt x="231406" y="545262"/>
                </a:lnTo>
                <a:lnTo>
                  <a:pt x="210281" y="541060"/>
                </a:lnTo>
                <a:lnTo>
                  <a:pt x="189550" y="535213"/>
                </a:lnTo>
                <a:lnTo>
                  <a:pt x="169342" y="527758"/>
                </a:lnTo>
                <a:lnTo>
                  <a:pt x="149781" y="518740"/>
                </a:lnTo>
                <a:lnTo>
                  <a:pt x="130988" y="508216"/>
                </a:lnTo>
                <a:lnTo>
                  <a:pt x="113078" y="496249"/>
                </a:lnTo>
                <a:lnTo>
                  <a:pt x="96163" y="482914"/>
                </a:lnTo>
                <a:lnTo>
                  <a:pt x="80346" y="468293"/>
                </a:lnTo>
                <a:lnTo>
                  <a:pt x="65725" y="452476"/>
                </a:lnTo>
                <a:lnTo>
                  <a:pt x="52390" y="435561"/>
                </a:lnTo>
                <a:lnTo>
                  <a:pt x="40423" y="417651"/>
                </a:lnTo>
                <a:lnTo>
                  <a:pt x="29899" y="398858"/>
                </a:lnTo>
                <a:lnTo>
                  <a:pt x="20881" y="379297"/>
                </a:lnTo>
                <a:lnTo>
                  <a:pt x="13426" y="359089"/>
                </a:lnTo>
                <a:lnTo>
                  <a:pt x="7579" y="338358"/>
                </a:lnTo>
                <a:lnTo>
                  <a:pt x="3377" y="317233"/>
                </a:lnTo>
                <a:lnTo>
                  <a:pt x="845" y="295842"/>
                </a:lnTo>
                <a:lnTo>
                  <a:pt x="0" y="274320"/>
                </a:lnTo>
                <a:lnTo>
                  <a:pt x="845" y="252797"/>
                </a:lnTo>
                <a:lnTo>
                  <a:pt x="3377" y="231406"/>
                </a:lnTo>
                <a:lnTo>
                  <a:pt x="7579" y="210281"/>
                </a:lnTo>
                <a:lnTo>
                  <a:pt x="13426" y="189550"/>
                </a:lnTo>
                <a:lnTo>
                  <a:pt x="20881" y="169342"/>
                </a:lnTo>
                <a:lnTo>
                  <a:pt x="29899" y="149781"/>
                </a:lnTo>
                <a:lnTo>
                  <a:pt x="40423" y="130988"/>
                </a:lnTo>
                <a:lnTo>
                  <a:pt x="52390" y="113078"/>
                </a:lnTo>
                <a:lnTo>
                  <a:pt x="65725" y="96163"/>
                </a:lnTo>
                <a:lnTo>
                  <a:pt x="80346" y="80346"/>
                </a:lnTo>
                <a:lnTo>
                  <a:pt x="96163" y="65725"/>
                </a:lnTo>
                <a:lnTo>
                  <a:pt x="113078" y="52390"/>
                </a:lnTo>
                <a:lnTo>
                  <a:pt x="130988" y="40423"/>
                </a:lnTo>
                <a:lnTo>
                  <a:pt x="149781" y="29899"/>
                </a:lnTo>
                <a:lnTo>
                  <a:pt x="169342" y="20881"/>
                </a:lnTo>
                <a:lnTo>
                  <a:pt x="189550" y="13426"/>
                </a:lnTo>
                <a:lnTo>
                  <a:pt x="210281" y="7579"/>
                </a:lnTo>
                <a:lnTo>
                  <a:pt x="231406" y="3377"/>
                </a:lnTo>
                <a:lnTo>
                  <a:pt x="252797" y="845"/>
                </a:lnTo>
                <a:lnTo>
                  <a:pt x="274320" y="0"/>
                </a:lnTo>
                <a:lnTo>
                  <a:pt x="274320" y="274320"/>
                </a:lnTo>
                <a:close/>
              </a:path>
            </a:pathLst>
          </a:custGeom>
          <a:solidFill>
            <a:srgbClr val="0E746B"/>
          </a:solidFill>
          <a:ln w="2286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Oval 64"/>
          <p:cNvSpPr/>
          <p:nvPr/>
        </p:nvSpPr>
        <p:spPr>
          <a:xfrm>
            <a:off x="1223010" y="4590288"/>
            <a:ext cx="548640" cy="548640"/>
          </a:xfrm>
          <a:prstGeom prst="ellipse">
            <a:avLst/>
          </a:prstGeom>
          <a:noFill/>
          <a:ln w="4191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6" name="TextBox 65"/>
          <p:cNvSpPr txBox="1"/>
          <p:nvPr/>
        </p:nvSpPr>
        <p:spPr>
          <a:xfrm>
            <a:off x="784097" y="5184648"/>
            <a:ext cx="1426464" cy="457200"/>
          </a:xfrm>
          <a:prstGeom prst="rect">
            <a:avLst/>
          </a:prstGeom>
          <a:noFill/>
        </p:spPr>
        <p:txBody>
          <a:bodyPr wrap="square" lIns="0" rIns="0" tIns="0" bIns="0" anchor="t">
            <a:spAutoFit/>
          </a:bodyPr>
          <a:lstStyle/>
          <a:p>
            <a:pPr algn="ctr">
              <a:lnSpc>
                <a:spcPct val="114000"/>
              </a:lnSpc>
              <a:spcAft>
                <a:spcPts val="100"/>
              </a:spcAft>
            </a:pPr>
            <a:r>
              <a:rPr sz="850" b="1">
                <a:solidFill>
                  <a:srgbClr val="0D1B2A"/>
                </a:solidFill>
                <a:latin typeface="Calibri"/>
              </a:rPr>
              <a:t>CCU / SCU</a:t>
            </a:r>
          </a:p>
        </p:txBody>
      </p:sp>
      <p:sp>
        <p:nvSpPr>
          <p:cNvPr id="67" name="Freeform 66"/>
          <p:cNvSpPr/>
          <p:nvPr/>
        </p:nvSpPr>
        <p:spPr>
          <a:xfrm>
            <a:off x="2151301" y="4590288"/>
            <a:ext cx="511888" cy="548640"/>
          </a:xfrm>
          <a:custGeom>
            <a:avLst/>
            <a:gdLst/>
            <a:ahLst/>
            <a:cxnLst/>
            <a:rect l="l" t="t" r="r" b="b"/>
            <a:pathLst>
              <a:path w="511888" h="548640">
                <a:moveTo>
                  <a:pt x="237569" y="0"/>
                </a:moveTo>
                <a:lnTo>
                  <a:pt x="266243" y="1502"/>
                </a:lnTo>
                <a:lnTo>
                  <a:pt x="294603" y="5994"/>
                </a:lnTo>
                <a:lnTo>
                  <a:pt x="322338" y="13426"/>
                </a:lnTo>
                <a:lnTo>
                  <a:pt x="349144" y="23716"/>
                </a:lnTo>
                <a:lnTo>
                  <a:pt x="374728" y="36751"/>
                </a:lnTo>
                <a:lnTo>
                  <a:pt x="398810" y="52390"/>
                </a:lnTo>
                <a:lnTo>
                  <a:pt x="421124" y="70460"/>
                </a:lnTo>
                <a:lnTo>
                  <a:pt x="441428" y="90764"/>
                </a:lnTo>
                <a:lnTo>
                  <a:pt x="459498" y="113078"/>
                </a:lnTo>
                <a:lnTo>
                  <a:pt x="475137" y="137160"/>
                </a:lnTo>
                <a:lnTo>
                  <a:pt x="488172" y="162744"/>
                </a:lnTo>
                <a:lnTo>
                  <a:pt x="498462" y="189550"/>
                </a:lnTo>
                <a:lnTo>
                  <a:pt x="505894" y="217285"/>
                </a:lnTo>
                <a:lnTo>
                  <a:pt x="510386" y="245645"/>
                </a:lnTo>
                <a:lnTo>
                  <a:pt x="511888" y="274320"/>
                </a:lnTo>
                <a:lnTo>
                  <a:pt x="510386" y="302994"/>
                </a:lnTo>
                <a:lnTo>
                  <a:pt x="505894" y="331354"/>
                </a:lnTo>
                <a:lnTo>
                  <a:pt x="498462" y="359089"/>
                </a:lnTo>
                <a:lnTo>
                  <a:pt x="488172" y="385895"/>
                </a:lnTo>
                <a:lnTo>
                  <a:pt x="475137" y="411480"/>
                </a:lnTo>
                <a:lnTo>
                  <a:pt x="459498" y="435561"/>
                </a:lnTo>
                <a:lnTo>
                  <a:pt x="441428" y="457875"/>
                </a:lnTo>
                <a:lnTo>
                  <a:pt x="421124" y="478179"/>
                </a:lnTo>
                <a:lnTo>
                  <a:pt x="398810" y="496249"/>
                </a:lnTo>
                <a:lnTo>
                  <a:pt x="374728" y="511888"/>
                </a:lnTo>
                <a:lnTo>
                  <a:pt x="349144" y="524923"/>
                </a:lnTo>
                <a:lnTo>
                  <a:pt x="322338" y="535213"/>
                </a:lnTo>
                <a:lnTo>
                  <a:pt x="294603" y="542645"/>
                </a:lnTo>
                <a:lnTo>
                  <a:pt x="266243" y="547137"/>
                </a:lnTo>
                <a:lnTo>
                  <a:pt x="237569" y="548640"/>
                </a:lnTo>
                <a:lnTo>
                  <a:pt x="208894" y="547137"/>
                </a:lnTo>
                <a:lnTo>
                  <a:pt x="180534" y="542645"/>
                </a:lnTo>
                <a:lnTo>
                  <a:pt x="152799" y="535213"/>
                </a:lnTo>
                <a:lnTo>
                  <a:pt x="125993" y="524923"/>
                </a:lnTo>
                <a:lnTo>
                  <a:pt x="100409" y="511888"/>
                </a:lnTo>
                <a:lnTo>
                  <a:pt x="76327" y="496249"/>
                </a:lnTo>
                <a:lnTo>
                  <a:pt x="54013" y="478179"/>
                </a:lnTo>
                <a:lnTo>
                  <a:pt x="33709" y="457875"/>
                </a:lnTo>
                <a:lnTo>
                  <a:pt x="15639" y="435561"/>
                </a:lnTo>
                <a:lnTo>
                  <a:pt x="0" y="411480"/>
                </a:lnTo>
                <a:lnTo>
                  <a:pt x="237569" y="274320"/>
                </a:lnTo>
                <a:close/>
              </a:path>
            </a:pathLst>
          </a:custGeom>
          <a:solidFill>
            <a:srgbClr val="1F6FB2"/>
          </a:solidFill>
          <a:ln w="2286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Freeform 67"/>
          <p:cNvSpPr/>
          <p:nvPr/>
        </p:nvSpPr>
        <p:spPr>
          <a:xfrm>
            <a:off x="2114550" y="4590288"/>
            <a:ext cx="274320" cy="411480"/>
          </a:xfrm>
          <a:custGeom>
            <a:avLst/>
            <a:gdLst/>
            <a:ahLst/>
            <a:cxnLst/>
            <a:rect l="l" t="t" r="r" b="b"/>
            <a:pathLst>
              <a:path w="274320" h="411480">
                <a:moveTo>
                  <a:pt x="36751" y="411480"/>
                </a:moveTo>
                <a:lnTo>
                  <a:pt x="29899" y="398858"/>
                </a:lnTo>
                <a:lnTo>
                  <a:pt x="23716" y="385895"/>
                </a:lnTo>
                <a:lnTo>
                  <a:pt x="18220" y="372627"/>
                </a:lnTo>
                <a:lnTo>
                  <a:pt x="13426" y="359089"/>
                </a:lnTo>
                <a:lnTo>
                  <a:pt x="9347" y="345319"/>
                </a:lnTo>
                <a:lnTo>
                  <a:pt x="5994" y="331354"/>
                </a:lnTo>
                <a:lnTo>
                  <a:pt x="3377" y="317233"/>
                </a:lnTo>
                <a:lnTo>
                  <a:pt x="1502" y="302994"/>
                </a:lnTo>
                <a:lnTo>
                  <a:pt x="375" y="288676"/>
                </a:lnTo>
                <a:lnTo>
                  <a:pt x="0" y="274320"/>
                </a:lnTo>
                <a:lnTo>
                  <a:pt x="375" y="259963"/>
                </a:lnTo>
                <a:lnTo>
                  <a:pt x="1502" y="245645"/>
                </a:lnTo>
                <a:lnTo>
                  <a:pt x="3377" y="231406"/>
                </a:lnTo>
                <a:lnTo>
                  <a:pt x="5994" y="217285"/>
                </a:lnTo>
                <a:lnTo>
                  <a:pt x="9347" y="203320"/>
                </a:lnTo>
                <a:lnTo>
                  <a:pt x="13426" y="189550"/>
                </a:lnTo>
                <a:lnTo>
                  <a:pt x="18220" y="176012"/>
                </a:lnTo>
                <a:lnTo>
                  <a:pt x="23716" y="162744"/>
                </a:lnTo>
                <a:lnTo>
                  <a:pt x="29899" y="149781"/>
                </a:lnTo>
                <a:lnTo>
                  <a:pt x="36751" y="137160"/>
                </a:lnTo>
                <a:lnTo>
                  <a:pt x="44255" y="124914"/>
                </a:lnTo>
                <a:lnTo>
                  <a:pt x="52390" y="113078"/>
                </a:lnTo>
                <a:lnTo>
                  <a:pt x="61133" y="101684"/>
                </a:lnTo>
                <a:lnTo>
                  <a:pt x="70460" y="90764"/>
                </a:lnTo>
                <a:lnTo>
                  <a:pt x="80346" y="80346"/>
                </a:lnTo>
                <a:lnTo>
                  <a:pt x="90764" y="70460"/>
                </a:lnTo>
                <a:lnTo>
                  <a:pt x="101684" y="61133"/>
                </a:lnTo>
                <a:lnTo>
                  <a:pt x="113078" y="52390"/>
                </a:lnTo>
                <a:lnTo>
                  <a:pt x="124914" y="44255"/>
                </a:lnTo>
                <a:lnTo>
                  <a:pt x="137159" y="36751"/>
                </a:lnTo>
                <a:lnTo>
                  <a:pt x="149781" y="29899"/>
                </a:lnTo>
                <a:lnTo>
                  <a:pt x="162744" y="23716"/>
                </a:lnTo>
                <a:lnTo>
                  <a:pt x="176012" y="18220"/>
                </a:lnTo>
                <a:lnTo>
                  <a:pt x="189550" y="13426"/>
                </a:lnTo>
                <a:lnTo>
                  <a:pt x="203320" y="9347"/>
                </a:lnTo>
                <a:lnTo>
                  <a:pt x="217285" y="5994"/>
                </a:lnTo>
                <a:lnTo>
                  <a:pt x="231406" y="3377"/>
                </a:lnTo>
                <a:lnTo>
                  <a:pt x="245645" y="1502"/>
                </a:lnTo>
                <a:lnTo>
                  <a:pt x="259963" y="375"/>
                </a:lnTo>
                <a:lnTo>
                  <a:pt x="274320" y="0"/>
                </a:lnTo>
                <a:lnTo>
                  <a:pt x="274320" y="274320"/>
                </a:lnTo>
                <a:close/>
              </a:path>
            </a:pathLst>
          </a:custGeom>
          <a:solidFill>
            <a:srgbClr val="C87E12"/>
          </a:solidFill>
          <a:ln w="2286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Oval 68"/>
          <p:cNvSpPr/>
          <p:nvPr/>
        </p:nvSpPr>
        <p:spPr>
          <a:xfrm>
            <a:off x="2114550" y="4590288"/>
            <a:ext cx="548640" cy="548640"/>
          </a:xfrm>
          <a:prstGeom prst="ellipse">
            <a:avLst/>
          </a:prstGeom>
          <a:noFill/>
          <a:ln w="4191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0" name="TextBox 69"/>
          <p:cNvSpPr txBox="1"/>
          <p:nvPr/>
        </p:nvSpPr>
        <p:spPr>
          <a:xfrm>
            <a:off x="1675637" y="5184648"/>
            <a:ext cx="1426464" cy="457200"/>
          </a:xfrm>
          <a:prstGeom prst="rect">
            <a:avLst/>
          </a:prstGeom>
          <a:noFill/>
        </p:spPr>
        <p:txBody>
          <a:bodyPr wrap="square" lIns="0" rIns="0" tIns="0" bIns="0" anchor="t">
            <a:spAutoFit/>
          </a:bodyPr>
          <a:lstStyle/>
          <a:p>
            <a:pPr algn="ctr">
              <a:lnSpc>
                <a:spcPct val="114000"/>
              </a:lnSpc>
              <a:spcAft>
                <a:spcPts val="100"/>
              </a:spcAft>
            </a:pPr>
            <a:r>
              <a:rPr sz="850" b="1">
                <a:solidFill>
                  <a:srgbClr val="0D1B2A"/>
                </a:solidFill>
                <a:latin typeface="Calibri"/>
              </a:rPr>
              <a:t>ICU met recovery</a:t>
            </a:r>
          </a:p>
        </p:txBody>
      </p:sp>
      <p:sp>
        <p:nvSpPr>
          <p:cNvPr id="71" name="Freeform 70"/>
          <p:cNvSpPr/>
          <p:nvPr/>
        </p:nvSpPr>
        <p:spPr>
          <a:xfrm>
            <a:off x="4164177" y="4590288"/>
            <a:ext cx="274320" cy="411480"/>
          </a:xfrm>
          <a:custGeom>
            <a:avLst/>
            <a:gdLst/>
            <a:ahLst/>
            <a:cxnLst/>
            <a:rect l="l" t="t" r="r" b="b"/>
            <a:pathLst>
              <a:path w="274320" h="411480">
                <a:moveTo>
                  <a:pt x="0" y="0"/>
                </a:moveTo>
                <a:lnTo>
                  <a:pt x="14357" y="375"/>
                </a:lnTo>
                <a:lnTo>
                  <a:pt x="28674" y="1502"/>
                </a:lnTo>
                <a:lnTo>
                  <a:pt x="42913" y="3377"/>
                </a:lnTo>
                <a:lnTo>
                  <a:pt x="57034" y="5994"/>
                </a:lnTo>
                <a:lnTo>
                  <a:pt x="70999" y="9347"/>
                </a:lnTo>
                <a:lnTo>
                  <a:pt x="84770" y="13426"/>
                </a:lnTo>
                <a:lnTo>
                  <a:pt x="98308" y="18220"/>
                </a:lnTo>
                <a:lnTo>
                  <a:pt x="111576" y="23716"/>
                </a:lnTo>
                <a:lnTo>
                  <a:pt x="124539" y="29899"/>
                </a:lnTo>
                <a:lnTo>
                  <a:pt x="137160" y="36751"/>
                </a:lnTo>
                <a:lnTo>
                  <a:pt x="149405" y="44255"/>
                </a:lnTo>
                <a:lnTo>
                  <a:pt x="161241" y="52390"/>
                </a:lnTo>
                <a:lnTo>
                  <a:pt x="172635" y="61133"/>
                </a:lnTo>
                <a:lnTo>
                  <a:pt x="183556" y="70460"/>
                </a:lnTo>
                <a:lnTo>
                  <a:pt x="193974" y="80346"/>
                </a:lnTo>
                <a:lnTo>
                  <a:pt x="203860" y="90764"/>
                </a:lnTo>
                <a:lnTo>
                  <a:pt x="213187" y="101684"/>
                </a:lnTo>
                <a:lnTo>
                  <a:pt x="221930" y="113078"/>
                </a:lnTo>
                <a:lnTo>
                  <a:pt x="230064" y="124914"/>
                </a:lnTo>
                <a:lnTo>
                  <a:pt x="237568" y="137160"/>
                </a:lnTo>
                <a:lnTo>
                  <a:pt x="244421" y="149781"/>
                </a:lnTo>
                <a:lnTo>
                  <a:pt x="250604" y="162744"/>
                </a:lnTo>
                <a:lnTo>
                  <a:pt x="256100" y="176012"/>
                </a:lnTo>
                <a:lnTo>
                  <a:pt x="260894" y="189550"/>
                </a:lnTo>
                <a:lnTo>
                  <a:pt x="264973" y="203320"/>
                </a:lnTo>
                <a:lnTo>
                  <a:pt x="268326" y="217285"/>
                </a:lnTo>
                <a:lnTo>
                  <a:pt x="270943" y="231406"/>
                </a:lnTo>
                <a:lnTo>
                  <a:pt x="272817" y="245645"/>
                </a:lnTo>
                <a:lnTo>
                  <a:pt x="273944" y="259963"/>
                </a:lnTo>
                <a:lnTo>
                  <a:pt x="274320" y="274320"/>
                </a:lnTo>
                <a:lnTo>
                  <a:pt x="273944" y="288676"/>
                </a:lnTo>
                <a:lnTo>
                  <a:pt x="272817" y="302994"/>
                </a:lnTo>
                <a:lnTo>
                  <a:pt x="270943" y="317233"/>
                </a:lnTo>
                <a:lnTo>
                  <a:pt x="268326" y="331354"/>
                </a:lnTo>
                <a:lnTo>
                  <a:pt x="264973" y="345319"/>
                </a:lnTo>
                <a:lnTo>
                  <a:pt x="260894" y="359089"/>
                </a:lnTo>
                <a:lnTo>
                  <a:pt x="256100" y="372627"/>
                </a:lnTo>
                <a:lnTo>
                  <a:pt x="250604" y="385895"/>
                </a:lnTo>
                <a:lnTo>
                  <a:pt x="244421" y="398858"/>
                </a:lnTo>
                <a:lnTo>
                  <a:pt x="237568" y="411480"/>
                </a:lnTo>
                <a:lnTo>
                  <a:pt x="0" y="274320"/>
                </a:lnTo>
                <a:close/>
              </a:path>
            </a:pathLst>
          </a:custGeom>
          <a:solidFill>
            <a:srgbClr val="0E9A87"/>
          </a:solidFill>
          <a:ln w="2286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Freeform 71"/>
          <p:cNvSpPr/>
          <p:nvPr/>
        </p:nvSpPr>
        <p:spPr>
          <a:xfrm>
            <a:off x="3926609" y="4864608"/>
            <a:ext cx="475136" cy="274320"/>
          </a:xfrm>
          <a:custGeom>
            <a:avLst/>
            <a:gdLst/>
            <a:ahLst/>
            <a:cxnLst/>
            <a:rect l="l" t="t" r="r" b="b"/>
            <a:pathLst>
              <a:path w="475136" h="274320">
                <a:moveTo>
                  <a:pt x="475136" y="137160"/>
                </a:moveTo>
                <a:lnTo>
                  <a:pt x="467632" y="149405"/>
                </a:lnTo>
                <a:lnTo>
                  <a:pt x="459498" y="161241"/>
                </a:lnTo>
                <a:lnTo>
                  <a:pt x="450755" y="172635"/>
                </a:lnTo>
                <a:lnTo>
                  <a:pt x="441428" y="183555"/>
                </a:lnTo>
                <a:lnTo>
                  <a:pt x="431542" y="193973"/>
                </a:lnTo>
                <a:lnTo>
                  <a:pt x="421124" y="203859"/>
                </a:lnTo>
                <a:lnTo>
                  <a:pt x="410203" y="213186"/>
                </a:lnTo>
                <a:lnTo>
                  <a:pt x="398809" y="221929"/>
                </a:lnTo>
                <a:lnTo>
                  <a:pt x="386973" y="230064"/>
                </a:lnTo>
                <a:lnTo>
                  <a:pt x="374728" y="237568"/>
                </a:lnTo>
                <a:lnTo>
                  <a:pt x="362107" y="244420"/>
                </a:lnTo>
                <a:lnTo>
                  <a:pt x="349144" y="250603"/>
                </a:lnTo>
                <a:lnTo>
                  <a:pt x="335876" y="256099"/>
                </a:lnTo>
                <a:lnTo>
                  <a:pt x="322338" y="260893"/>
                </a:lnTo>
                <a:lnTo>
                  <a:pt x="308567" y="264972"/>
                </a:lnTo>
                <a:lnTo>
                  <a:pt x="294602" y="268325"/>
                </a:lnTo>
                <a:lnTo>
                  <a:pt x="280481" y="270942"/>
                </a:lnTo>
                <a:lnTo>
                  <a:pt x="266242" y="272817"/>
                </a:lnTo>
                <a:lnTo>
                  <a:pt x="251925" y="273944"/>
                </a:lnTo>
                <a:lnTo>
                  <a:pt x="237568" y="274320"/>
                </a:lnTo>
                <a:lnTo>
                  <a:pt x="223211" y="273944"/>
                </a:lnTo>
                <a:lnTo>
                  <a:pt x="208894" y="272817"/>
                </a:lnTo>
                <a:lnTo>
                  <a:pt x="194655" y="270942"/>
                </a:lnTo>
                <a:lnTo>
                  <a:pt x="180534" y="268325"/>
                </a:lnTo>
                <a:lnTo>
                  <a:pt x="166569" y="264972"/>
                </a:lnTo>
                <a:lnTo>
                  <a:pt x="152799" y="260893"/>
                </a:lnTo>
                <a:lnTo>
                  <a:pt x="139261" y="256099"/>
                </a:lnTo>
                <a:lnTo>
                  <a:pt x="125992" y="250603"/>
                </a:lnTo>
                <a:lnTo>
                  <a:pt x="113029" y="244420"/>
                </a:lnTo>
                <a:lnTo>
                  <a:pt x="100408" y="237568"/>
                </a:lnTo>
                <a:lnTo>
                  <a:pt x="88163" y="230064"/>
                </a:lnTo>
                <a:lnTo>
                  <a:pt x="76327" y="221929"/>
                </a:lnTo>
                <a:lnTo>
                  <a:pt x="64933" y="213186"/>
                </a:lnTo>
                <a:lnTo>
                  <a:pt x="54012" y="203859"/>
                </a:lnTo>
                <a:lnTo>
                  <a:pt x="43595" y="193973"/>
                </a:lnTo>
                <a:lnTo>
                  <a:pt x="33709" y="183555"/>
                </a:lnTo>
                <a:lnTo>
                  <a:pt x="24381" y="172635"/>
                </a:lnTo>
                <a:lnTo>
                  <a:pt x="15639" y="161241"/>
                </a:lnTo>
                <a:lnTo>
                  <a:pt x="7504" y="149405"/>
                </a:lnTo>
                <a:lnTo>
                  <a:pt x="0" y="137160"/>
                </a:lnTo>
                <a:lnTo>
                  <a:pt x="237568" y="0"/>
                </a:lnTo>
                <a:close/>
              </a:path>
            </a:pathLst>
          </a:custGeom>
          <a:solidFill>
            <a:srgbClr val="0E746B"/>
          </a:solidFill>
          <a:ln w="2286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Freeform 72"/>
          <p:cNvSpPr/>
          <p:nvPr/>
        </p:nvSpPr>
        <p:spPr>
          <a:xfrm>
            <a:off x="3889857" y="4590288"/>
            <a:ext cx="274320" cy="411480"/>
          </a:xfrm>
          <a:custGeom>
            <a:avLst/>
            <a:gdLst/>
            <a:ahLst/>
            <a:cxnLst/>
            <a:rect l="l" t="t" r="r" b="b"/>
            <a:pathLst>
              <a:path w="274320" h="411480">
                <a:moveTo>
                  <a:pt x="36752" y="411480"/>
                </a:moveTo>
                <a:lnTo>
                  <a:pt x="29899" y="398858"/>
                </a:lnTo>
                <a:lnTo>
                  <a:pt x="23716" y="385895"/>
                </a:lnTo>
                <a:lnTo>
                  <a:pt x="18220" y="372627"/>
                </a:lnTo>
                <a:lnTo>
                  <a:pt x="13426" y="359089"/>
                </a:lnTo>
                <a:lnTo>
                  <a:pt x="9347" y="345319"/>
                </a:lnTo>
                <a:lnTo>
                  <a:pt x="5995" y="331354"/>
                </a:lnTo>
                <a:lnTo>
                  <a:pt x="3377" y="317233"/>
                </a:lnTo>
                <a:lnTo>
                  <a:pt x="1503" y="302994"/>
                </a:lnTo>
                <a:lnTo>
                  <a:pt x="376" y="288676"/>
                </a:lnTo>
                <a:lnTo>
                  <a:pt x="0" y="274320"/>
                </a:lnTo>
                <a:lnTo>
                  <a:pt x="376" y="259963"/>
                </a:lnTo>
                <a:lnTo>
                  <a:pt x="1503" y="245645"/>
                </a:lnTo>
                <a:lnTo>
                  <a:pt x="3377" y="231406"/>
                </a:lnTo>
                <a:lnTo>
                  <a:pt x="5995" y="217285"/>
                </a:lnTo>
                <a:lnTo>
                  <a:pt x="9347" y="203320"/>
                </a:lnTo>
                <a:lnTo>
                  <a:pt x="13426" y="189550"/>
                </a:lnTo>
                <a:lnTo>
                  <a:pt x="18220" y="176012"/>
                </a:lnTo>
                <a:lnTo>
                  <a:pt x="23716" y="162744"/>
                </a:lnTo>
                <a:lnTo>
                  <a:pt x="29899" y="149781"/>
                </a:lnTo>
                <a:lnTo>
                  <a:pt x="36752" y="137160"/>
                </a:lnTo>
                <a:lnTo>
                  <a:pt x="44256" y="124914"/>
                </a:lnTo>
                <a:lnTo>
                  <a:pt x="52391" y="113078"/>
                </a:lnTo>
                <a:lnTo>
                  <a:pt x="61133" y="101684"/>
                </a:lnTo>
                <a:lnTo>
                  <a:pt x="70461" y="90764"/>
                </a:lnTo>
                <a:lnTo>
                  <a:pt x="80347" y="80346"/>
                </a:lnTo>
                <a:lnTo>
                  <a:pt x="90764" y="70460"/>
                </a:lnTo>
                <a:lnTo>
                  <a:pt x="101685" y="61133"/>
                </a:lnTo>
                <a:lnTo>
                  <a:pt x="113079" y="52390"/>
                </a:lnTo>
                <a:lnTo>
                  <a:pt x="124915" y="44255"/>
                </a:lnTo>
                <a:lnTo>
                  <a:pt x="137160" y="36751"/>
                </a:lnTo>
                <a:lnTo>
                  <a:pt x="149781" y="29899"/>
                </a:lnTo>
                <a:lnTo>
                  <a:pt x="162744" y="23716"/>
                </a:lnTo>
                <a:lnTo>
                  <a:pt x="176013" y="18220"/>
                </a:lnTo>
                <a:lnTo>
                  <a:pt x="189551" y="13426"/>
                </a:lnTo>
                <a:lnTo>
                  <a:pt x="203321" y="9347"/>
                </a:lnTo>
                <a:lnTo>
                  <a:pt x="217286" y="5994"/>
                </a:lnTo>
                <a:lnTo>
                  <a:pt x="231407" y="3377"/>
                </a:lnTo>
                <a:lnTo>
                  <a:pt x="245646" y="1502"/>
                </a:lnTo>
                <a:lnTo>
                  <a:pt x="259963" y="375"/>
                </a:lnTo>
                <a:lnTo>
                  <a:pt x="274320" y="0"/>
                </a:lnTo>
                <a:lnTo>
                  <a:pt x="274320" y="274320"/>
                </a:lnTo>
                <a:close/>
              </a:path>
            </a:pathLst>
          </a:custGeom>
          <a:solidFill>
            <a:srgbClr val="C87E12"/>
          </a:solidFill>
          <a:ln w="2286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Oval 73"/>
          <p:cNvSpPr/>
          <p:nvPr/>
        </p:nvSpPr>
        <p:spPr>
          <a:xfrm>
            <a:off x="3889857" y="4590288"/>
            <a:ext cx="548640" cy="548640"/>
          </a:xfrm>
          <a:prstGeom prst="ellipse">
            <a:avLst/>
          </a:prstGeom>
          <a:noFill/>
          <a:ln w="4191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5" name="TextBox 74"/>
          <p:cNvSpPr txBox="1"/>
          <p:nvPr/>
        </p:nvSpPr>
        <p:spPr>
          <a:xfrm>
            <a:off x="3450945" y="5184648"/>
            <a:ext cx="1426464" cy="457200"/>
          </a:xfrm>
          <a:prstGeom prst="rect">
            <a:avLst/>
          </a:prstGeom>
          <a:noFill/>
        </p:spPr>
        <p:txBody>
          <a:bodyPr wrap="square" lIns="0" rIns="0" tIns="0" bIns="0" anchor="t">
            <a:spAutoFit/>
          </a:bodyPr>
          <a:lstStyle/>
          <a:p>
            <a:pPr algn="ctr">
              <a:lnSpc>
                <a:spcPct val="114000"/>
              </a:lnSpc>
              <a:spcAft>
                <a:spcPts val="100"/>
              </a:spcAft>
            </a:pPr>
            <a:r>
              <a:rPr sz="850" b="1">
                <a:solidFill>
                  <a:srgbClr val="0D1B2A"/>
                </a:solidFill>
                <a:latin typeface="Calibri"/>
              </a:rPr>
              <a:t>CCU / SCU + recovery</a:t>
            </a:r>
          </a:p>
        </p:txBody>
      </p:sp>
      <p:sp>
        <p:nvSpPr>
          <p:cNvPr id="76" name="Oval 75"/>
          <p:cNvSpPr/>
          <p:nvPr/>
        </p:nvSpPr>
        <p:spPr>
          <a:xfrm>
            <a:off x="4781397" y="4590288"/>
            <a:ext cx="548640" cy="548640"/>
          </a:xfrm>
          <a:prstGeom prst="ellipse">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7" name="Oval 76"/>
          <p:cNvSpPr/>
          <p:nvPr/>
        </p:nvSpPr>
        <p:spPr>
          <a:xfrm>
            <a:off x="4781397" y="4590288"/>
            <a:ext cx="548640" cy="548640"/>
          </a:xfrm>
          <a:prstGeom prst="ellipse">
            <a:avLst/>
          </a:prstGeom>
          <a:noFill/>
          <a:ln w="4191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8" name="TextBox 77"/>
          <p:cNvSpPr txBox="1"/>
          <p:nvPr/>
        </p:nvSpPr>
        <p:spPr>
          <a:xfrm>
            <a:off x="4342485" y="5184648"/>
            <a:ext cx="1426464" cy="457200"/>
          </a:xfrm>
          <a:prstGeom prst="rect">
            <a:avLst/>
          </a:prstGeom>
          <a:noFill/>
        </p:spPr>
        <p:txBody>
          <a:bodyPr wrap="square" lIns="0" rIns="0" tIns="0" bIns="0" anchor="t">
            <a:spAutoFit/>
          </a:bodyPr>
          <a:lstStyle/>
          <a:p>
            <a:pPr algn="ctr">
              <a:lnSpc>
                <a:spcPct val="114000"/>
              </a:lnSpc>
              <a:spcAft>
                <a:spcPts val="100"/>
              </a:spcAft>
            </a:pPr>
            <a:r>
              <a:rPr sz="850" b="1">
                <a:solidFill>
                  <a:srgbClr val="0D1B2A"/>
                </a:solidFill>
                <a:latin typeface="Calibri"/>
              </a:rPr>
              <a:t>ICU</a:t>
            </a:r>
          </a:p>
        </p:txBody>
      </p:sp>
      <p:sp>
        <p:nvSpPr>
          <p:cNvPr id="79" name="Freeform 78"/>
          <p:cNvSpPr/>
          <p:nvPr/>
        </p:nvSpPr>
        <p:spPr>
          <a:xfrm>
            <a:off x="2699765" y="4864608"/>
            <a:ext cx="1153516" cy="0"/>
          </a:xfrm>
          <a:custGeom>
            <a:avLst/>
            <a:gdLst/>
            <a:ahLst/>
            <a:cxnLst/>
            <a:rect l="l" t="t" r="r" b="b"/>
            <a:pathLst>
              <a:path w="1153516" h="0">
                <a:moveTo>
                  <a:pt x="0" y="0"/>
                </a:moveTo>
                <a:lnTo>
                  <a:pt x="26217" y="0"/>
                </a:lnTo>
                <a:lnTo>
                  <a:pt x="52433" y="0"/>
                </a:lnTo>
                <a:lnTo>
                  <a:pt x="78649" y="0"/>
                </a:lnTo>
                <a:lnTo>
                  <a:pt x="104866" y="0"/>
                </a:lnTo>
                <a:lnTo>
                  <a:pt x="131082" y="0"/>
                </a:lnTo>
                <a:lnTo>
                  <a:pt x="157298" y="0"/>
                </a:lnTo>
                <a:lnTo>
                  <a:pt x="183514" y="0"/>
                </a:lnTo>
                <a:lnTo>
                  <a:pt x="209731" y="0"/>
                </a:lnTo>
                <a:lnTo>
                  <a:pt x="235947" y="0"/>
                </a:lnTo>
                <a:lnTo>
                  <a:pt x="262163" y="0"/>
                </a:lnTo>
                <a:lnTo>
                  <a:pt x="288379" y="0"/>
                </a:lnTo>
                <a:lnTo>
                  <a:pt x="314596" y="0"/>
                </a:lnTo>
                <a:lnTo>
                  <a:pt x="340812" y="0"/>
                </a:lnTo>
                <a:lnTo>
                  <a:pt x="367028" y="0"/>
                </a:lnTo>
                <a:lnTo>
                  <a:pt x="393244" y="0"/>
                </a:lnTo>
                <a:lnTo>
                  <a:pt x="419461" y="0"/>
                </a:lnTo>
                <a:lnTo>
                  <a:pt x="445677" y="0"/>
                </a:lnTo>
                <a:lnTo>
                  <a:pt x="471893" y="0"/>
                </a:lnTo>
                <a:lnTo>
                  <a:pt x="498110" y="0"/>
                </a:lnTo>
                <a:lnTo>
                  <a:pt x="524326" y="0"/>
                </a:lnTo>
                <a:lnTo>
                  <a:pt x="550542" y="0"/>
                </a:lnTo>
                <a:lnTo>
                  <a:pt x="576758" y="0"/>
                </a:lnTo>
                <a:lnTo>
                  <a:pt x="602975" y="0"/>
                </a:lnTo>
                <a:lnTo>
                  <a:pt x="629191" y="0"/>
                </a:lnTo>
                <a:lnTo>
                  <a:pt x="655407" y="0"/>
                </a:lnTo>
                <a:lnTo>
                  <a:pt x="681623" y="0"/>
                </a:lnTo>
                <a:lnTo>
                  <a:pt x="707840" y="0"/>
                </a:lnTo>
                <a:lnTo>
                  <a:pt x="734056" y="0"/>
                </a:lnTo>
                <a:lnTo>
                  <a:pt x="760272" y="0"/>
                </a:lnTo>
                <a:lnTo>
                  <a:pt x="786488" y="0"/>
                </a:lnTo>
                <a:lnTo>
                  <a:pt x="812705" y="0"/>
                </a:lnTo>
                <a:lnTo>
                  <a:pt x="838921" y="0"/>
                </a:lnTo>
                <a:lnTo>
                  <a:pt x="865137" y="0"/>
                </a:lnTo>
                <a:lnTo>
                  <a:pt x="891353" y="0"/>
                </a:lnTo>
                <a:lnTo>
                  <a:pt x="917570" y="0"/>
                </a:lnTo>
                <a:lnTo>
                  <a:pt x="943786" y="0"/>
                </a:lnTo>
                <a:lnTo>
                  <a:pt x="970002" y="0"/>
                </a:lnTo>
                <a:lnTo>
                  <a:pt x="996219" y="0"/>
                </a:lnTo>
                <a:lnTo>
                  <a:pt x="1022435" y="0"/>
                </a:lnTo>
                <a:lnTo>
                  <a:pt x="1048651" y="0"/>
                </a:lnTo>
                <a:lnTo>
                  <a:pt x="1074867" y="0"/>
                </a:lnTo>
                <a:lnTo>
                  <a:pt x="1101084" y="0"/>
                </a:lnTo>
                <a:lnTo>
                  <a:pt x="1127300" y="0"/>
                </a:lnTo>
                <a:lnTo>
                  <a:pt x="1153516" y="0"/>
                </a:lnTo>
              </a:path>
            </a:pathLst>
          </a:custGeom>
          <a:noFill/>
          <a:ln w="44450">
            <a:solidFill>
              <a:srgbClr val="C87E12">
                <a:alpha val="8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Oval 79"/>
          <p:cNvSpPr/>
          <p:nvPr/>
        </p:nvSpPr>
        <p:spPr>
          <a:xfrm>
            <a:off x="2644901" y="4809744"/>
            <a:ext cx="109728" cy="109728"/>
          </a:xfrm>
          <a:prstGeom prst="ellipse">
            <a:avLst/>
          </a:prstGeom>
          <a:solidFill>
            <a:srgbClr val="C87E12"/>
          </a:solid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1" name="Oval 80"/>
          <p:cNvSpPr/>
          <p:nvPr/>
        </p:nvSpPr>
        <p:spPr>
          <a:xfrm>
            <a:off x="3798417" y="4809744"/>
            <a:ext cx="109728" cy="109728"/>
          </a:xfrm>
          <a:prstGeom prst="ellipse">
            <a:avLst/>
          </a:prstGeom>
          <a:solidFill>
            <a:srgbClr val="C87E12"/>
          </a:solid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2" name="Rounded Rectangle 81"/>
          <p:cNvSpPr/>
          <p:nvPr/>
        </p:nvSpPr>
        <p:spPr>
          <a:xfrm>
            <a:off x="6278727" y="3767328"/>
            <a:ext cx="5272887" cy="1883664"/>
          </a:xfrm>
          <a:prstGeom prst="roundRect">
            <a:avLst>
              <a:gd name="adj" fmla="val 3000"/>
            </a:avLst>
          </a:prstGeom>
          <a:solidFill>
            <a:srgbClr val="FFFFFF"/>
          </a:solidFill>
          <a:ln w="12700">
            <a:solidFill>
              <a:srgbClr val="E2E9F1"/>
            </a:solidFill>
          </a:ln>
          <a:effectLst>
            <a:outerShdw blurRad="70000" dist="22000" dir="5400000" rotWithShape="0">
              <a:srgbClr val="1B3A5C">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3" name="Oval 82"/>
          <p:cNvSpPr/>
          <p:nvPr/>
        </p:nvSpPr>
        <p:spPr>
          <a:xfrm>
            <a:off x="6479895" y="3931920"/>
            <a:ext cx="402336" cy="402336"/>
          </a:xfrm>
          <a:prstGeom prst="ellipse">
            <a:avLst/>
          </a:prstGeom>
          <a:solidFill>
            <a:srgbClr val="1F6FB2">
              <a:alpha val="10000"/>
            </a:srgbClr>
          </a:solidFill>
          <a:ln w="15875">
            <a:solidFill>
              <a:srgbClr val="1F6FB2"/>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1F6FB2"/>
                </a:solidFill>
                <a:latin typeface="Calibri"/>
              </a:rPr>
              <a:t>4</a:t>
            </a:r>
          </a:p>
        </p:txBody>
      </p:sp>
      <p:sp>
        <p:nvSpPr>
          <p:cNvPr id="84" name="TextBox 83"/>
          <p:cNvSpPr txBox="1"/>
          <p:nvPr/>
        </p:nvSpPr>
        <p:spPr>
          <a:xfrm>
            <a:off x="6991959" y="3931920"/>
            <a:ext cx="4267047" cy="402336"/>
          </a:xfrm>
          <a:prstGeom prst="rect">
            <a:avLst/>
          </a:prstGeom>
          <a:noFill/>
        </p:spPr>
        <p:txBody>
          <a:bodyPr wrap="square" lIns="0" rIns="0" tIns="0" bIns="0" anchor="ctr">
            <a:spAutoFit/>
          </a:bodyPr>
          <a:lstStyle/>
          <a:p>
            <a:pPr algn="l">
              <a:lnSpc>
                <a:spcPct val="115000"/>
              </a:lnSpc>
              <a:spcAft>
                <a:spcPts val="0"/>
              </a:spcAft>
            </a:pPr>
            <a:r>
              <a:rPr sz="1350" b="1">
                <a:solidFill>
                  <a:srgbClr val="0D1B2A"/>
                </a:solidFill>
                <a:latin typeface="Calibri"/>
              </a:rPr>
              <a:t>Cardioversies van de CCU verplaatsen</a:t>
            </a:r>
          </a:p>
        </p:txBody>
      </p:sp>
      <p:sp>
        <p:nvSpPr>
          <p:cNvPr id="85" name="TextBox 84"/>
          <p:cNvSpPr txBox="1"/>
          <p:nvPr/>
        </p:nvSpPr>
        <p:spPr>
          <a:xfrm>
            <a:off x="6690207" y="4370832"/>
            <a:ext cx="1783080" cy="219456"/>
          </a:xfrm>
          <a:prstGeom prst="rect">
            <a:avLst/>
          </a:prstGeom>
          <a:noFill/>
        </p:spPr>
        <p:txBody>
          <a:bodyPr wrap="square" lIns="0" rIns="0" tIns="0" bIns="0" anchor="t">
            <a:spAutoFit/>
          </a:bodyPr>
          <a:lstStyle/>
          <a:p>
            <a:pPr algn="ctr">
              <a:lnSpc>
                <a:spcPct val="120000"/>
              </a:lnSpc>
              <a:spcAft>
                <a:spcPts val="0"/>
              </a:spcAft>
            </a:pPr>
            <a:r>
              <a:rPr sz="800" b="1" spc="120">
                <a:solidFill>
                  <a:srgbClr val="8B9AAA"/>
                </a:solidFill>
                <a:latin typeface="Calibri"/>
              </a:rPr>
              <a:t>NU</a:t>
            </a:r>
          </a:p>
        </p:txBody>
      </p:sp>
      <p:sp>
        <p:nvSpPr>
          <p:cNvPr id="86" name="TextBox 85"/>
          <p:cNvSpPr txBox="1"/>
          <p:nvPr/>
        </p:nvSpPr>
        <p:spPr>
          <a:xfrm>
            <a:off x="9357055" y="4370832"/>
            <a:ext cx="1783080" cy="219456"/>
          </a:xfrm>
          <a:prstGeom prst="rect">
            <a:avLst/>
          </a:prstGeom>
          <a:noFill/>
        </p:spPr>
        <p:txBody>
          <a:bodyPr wrap="square" lIns="0" rIns="0" tIns="0" bIns="0" anchor="t">
            <a:spAutoFit/>
          </a:bodyPr>
          <a:lstStyle/>
          <a:p>
            <a:pPr algn="ctr">
              <a:lnSpc>
                <a:spcPct val="120000"/>
              </a:lnSpc>
              <a:spcAft>
                <a:spcPts val="0"/>
              </a:spcAft>
            </a:pPr>
            <a:r>
              <a:rPr sz="800" b="1" spc="120">
                <a:solidFill>
                  <a:srgbClr val="8B9AAA"/>
                </a:solidFill>
                <a:latin typeface="Calibri"/>
              </a:rPr>
              <a:t>STRAKS</a:t>
            </a:r>
          </a:p>
        </p:txBody>
      </p:sp>
      <p:sp>
        <p:nvSpPr>
          <p:cNvPr id="87" name="Freeform 86"/>
          <p:cNvSpPr/>
          <p:nvPr/>
        </p:nvSpPr>
        <p:spPr>
          <a:xfrm>
            <a:off x="7344179" y="4590288"/>
            <a:ext cx="511888" cy="548640"/>
          </a:xfrm>
          <a:custGeom>
            <a:avLst/>
            <a:gdLst/>
            <a:ahLst/>
            <a:cxnLst/>
            <a:rect l="l" t="t" r="r" b="b"/>
            <a:pathLst>
              <a:path w="511888" h="548640">
                <a:moveTo>
                  <a:pt x="237568" y="0"/>
                </a:moveTo>
                <a:lnTo>
                  <a:pt x="266242" y="1502"/>
                </a:lnTo>
                <a:lnTo>
                  <a:pt x="294602" y="5994"/>
                </a:lnTo>
                <a:lnTo>
                  <a:pt x="322338" y="13426"/>
                </a:lnTo>
                <a:lnTo>
                  <a:pt x="349144" y="23716"/>
                </a:lnTo>
                <a:lnTo>
                  <a:pt x="374728" y="36751"/>
                </a:lnTo>
                <a:lnTo>
                  <a:pt x="398809" y="52390"/>
                </a:lnTo>
                <a:lnTo>
                  <a:pt x="421124" y="70460"/>
                </a:lnTo>
                <a:lnTo>
                  <a:pt x="441428" y="90764"/>
                </a:lnTo>
                <a:lnTo>
                  <a:pt x="459498" y="113078"/>
                </a:lnTo>
                <a:lnTo>
                  <a:pt x="475136" y="137160"/>
                </a:lnTo>
                <a:lnTo>
                  <a:pt x="488172" y="162744"/>
                </a:lnTo>
                <a:lnTo>
                  <a:pt x="498462" y="189550"/>
                </a:lnTo>
                <a:lnTo>
                  <a:pt x="505894" y="217285"/>
                </a:lnTo>
                <a:lnTo>
                  <a:pt x="510385" y="245645"/>
                </a:lnTo>
                <a:lnTo>
                  <a:pt x="511888" y="274320"/>
                </a:lnTo>
                <a:lnTo>
                  <a:pt x="510385" y="302994"/>
                </a:lnTo>
                <a:lnTo>
                  <a:pt x="505894" y="331354"/>
                </a:lnTo>
                <a:lnTo>
                  <a:pt x="498462" y="359089"/>
                </a:lnTo>
                <a:lnTo>
                  <a:pt x="488172" y="385895"/>
                </a:lnTo>
                <a:lnTo>
                  <a:pt x="475136" y="411480"/>
                </a:lnTo>
                <a:lnTo>
                  <a:pt x="459498" y="435561"/>
                </a:lnTo>
                <a:lnTo>
                  <a:pt x="441428" y="457875"/>
                </a:lnTo>
                <a:lnTo>
                  <a:pt x="421124" y="478179"/>
                </a:lnTo>
                <a:lnTo>
                  <a:pt x="398809" y="496249"/>
                </a:lnTo>
                <a:lnTo>
                  <a:pt x="374728" y="511888"/>
                </a:lnTo>
                <a:lnTo>
                  <a:pt x="349144" y="524923"/>
                </a:lnTo>
                <a:lnTo>
                  <a:pt x="322338" y="535213"/>
                </a:lnTo>
                <a:lnTo>
                  <a:pt x="294602" y="542645"/>
                </a:lnTo>
                <a:lnTo>
                  <a:pt x="266242" y="547137"/>
                </a:lnTo>
                <a:lnTo>
                  <a:pt x="237568" y="548640"/>
                </a:lnTo>
                <a:lnTo>
                  <a:pt x="208894" y="547137"/>
                </a:lnTo>
                <a:lnTo>
                  <a:pt x="180534" y="542645"/>
                </a:lnTo>
                <a:lnTo>
                  <a:pt x="152799" y="535213"/>
                </a:lnTo>
                <a:lnTo>
                  <a:pt x="125992" y="524923"/>
                </a:lnTo>
                <a:lnTo>
                  <a:pt x="100408" y="511888"/>
                </a:lnTo>
                <a:lnTo>
                  <a:pt x="76327" y="496249"/>
                </a:lnTo>
                <a:lnTo>
                  <a:pt x="54012" y="478179"/>
                </a:lnTo>
                <a:lnTo>
                  <a:pt x="33709" y="457875"/>
                </a:lnTo>
                <a:lnTo>
                  <a:pt x="15639" y="435561"/>
                </a:lnTo>
                <a:lnTo>
                  <a:pt x="0" y="411480"/>
                </a:lnTo>
                <a:lnTo>
                  <a:pt x="237568" y="274320"/>
                </a:lnTo>
                <a:close/>
              </a:path>
            </a:pathLst>
          </a:custGeom>
          <a:solidFill>
            <a:srgbClr val="0E9A87"/>
          </a:solidFill>
          <a:ln w="2286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Freeform 87"/>
          <p:cNvSpPr/>
          <p:nvPr/>
        </p:nvSpPr>
        <p:spPr>
          <a:xfrm>
            <a:off x="7307427" y="4590288"/>
            <a:ext cx="274320" cy="411480"/>
          </a:xfrm>
          <a:custGeom>
            <a:avLst/>
            <a:gdLst/>
            <a:ahLst/>
            <a:cxnLst/>
            <a:rect l="l" t="t" r="r" b="b"/>
            <a:pathLst>
              <a:path w="274320" h="411480">
                <a:moveTo>
                  <a:pt x="36752" y="411480"/>
                </a:moveTo>
                <a:lnTo>
                  <a:pt x="29899" y="398858"/>
                </a:lnTo>
                <a:lnTo>
                  <a:pt x="23716" y="385895"/>
                </a:lnTo>
                <a:lnTo>
                  <a:pt x="18220" y="372627"/>
                </a:lnTo>
                <a:lnTo>
                  <a:pt x="13426" y="359089"/>
                </a:lnTo>
                <a:lnTo>
                  <a:pt x="9347" y="345319"/>
                </a:lnTo>
                <a:lnTo>
                  <a:pt x="5995" y="331354"/>
                </a:lnTo>
                <a:lnTo>
                  <a:pt x="3377" y="317233"/>
                </a:lnTo>
                <a:lnTo>
                  <a:pt x="1503" y="302994"/>
                </a:lnTo>
                <a:lnTo>
                  <a:pt x="376" y="288676"/>
                </a:lnTo>
                <a:lnTo>
                  <a:pt x="0" y="274320"/>
                </a:lnTo>
                <a:lnTo>
                  <a:pt x="376" y="259963"/>
                </a:lnTo>
                <a:lnTo>
                  <a:pt x="1503" y="245645"/>
                </a:lnTo>
                <a:lnTo>
                  <a:pt x="3377" y="231406"/>
                </a:lnTo>
                <a:lnTo>
                  <a:pt x="5995" y="217285"/>
                </a:lnTo>
                <a:lnTo>
                  <a:pt x="9347" y="203320"/>
                </a:lnTo>
                <a:lnTo>
                  <a:pt x="13426" y="189550"/>
                </a:lnTo>
                <a:lnTo>
                  <a:pt x="18220" y="176012"/>
                </a:lnTo>
                <a:lnTo>
                  <a:pt x="23716" y="162744"/>
                </a:lnTo>
                <a:lnTo>
                  <a:pt x="29899" y="149781"/>
                </a:lnTo>
                <a:lnTo>
                  <a:pt x="36752" y="137160"/>
                </a:lnTo>
                <a:lnTo>
                  <a:pt x="44256" y="124914"/>
                </a:lnTo>
                <a:lnTo>
                  <a:pt x="52391" y="113078"/>
                </a:lnTo>
                <a:lnTo>
                  <a:pt x="61133" y="101684"/>
                </a:lnTo>
                <a:lnTo>
                  <a:pt x="70461" y="90764"/>
                </a:lnTo>
                <a:lnTo>
                  <a:pt x="80347" y="80346"/>
                </a:lnTo>
                <a:lnTo>
                  <a:pt x="90764" y="70460"/>
                </a:lnTo>
                <a:lnTo>
                  <a:pt x="101685" y="61133"/>
                </a:lnTo>
                <a:lnTo>
                  <a:pt x="113079" y="52390"/>
                </a:lnTo>
                <a:lnTo>
                  <a:pt x="124915" y="44255"/>
                </a:lnTo>
                <a:lnTo>
                  <a:pt x="137160" y="36751"/>
                </a:lnTo>
                <a:lnTo>
                  <a:pt x="149781" y="29899"/>
                </a:lnTo>
                <a:lnTo>
                  <a:pt x="162744" y="23716"/>
                </a:lnTo>
                <a:lnTo>
                  <a:pt x="176013" y="18220"/>
                </a:lnTo>
                <a:lnTo>
                  <a:pt x="189551" y="13426"/>
                </a:lnTo>
                <a:lnTo>
                  <a:pt x="203321" y="9347"/>
                </a:lnTo>
                <a:lnTo>
                  <a:pt x="217286" y="5994"/>
                </a:lnTo>
                <a:lnTo>
                  <a:pt x="231407" y="3377"/>
                </a:lnTo>
                <a:lnTo>
                  <a:pt x="245646" y="1502"/>
                </a:lnTo>
                <a:lnTo>
                  <a:pt x="259963" y="375"/>
                </a:lnTo>
                <a:lnTo>
                  <a:pt x="274320" y="0"/>
                </a:lnTo>
                <a:lnTo>
                  <a:pt x="274320" y="274320"/>
                </a:lnTo>
                <a:close/>
              </a:path>
            </a:pathLst>
          </a:custGeom>
          <a:solidFill>
            <a:srgbClr val="C87E12"/>
          </a:solidFill>
          <a:ln w="2286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Oval 88"/>
          <p:cNvSpPr/>
          <p:nvPr/>
        </p:nvSpPr>
        <p:spPr>
          <a:xfrm>
            <a:off x="7307427" y="4590288"/>
            <a:ext cx="548640" cy="548640"/>
          </a:xfrm>
          <a:prstGeom prst="ellipse">
            <a:avLst/>
          </a:prstGeom>
          <a:noFill/>
          <a:ln w="4191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0" name="TextBox 89"/>
          <p:cNvSpPr txBox="1"/>
          <p:nvPr/>
        </p:nvSpPr>
        <p:spPr>
          <a:xfrm>
            <a:off x="6868515" y="5184648"/>
            <a:ext cx="1426464" cy="457200"/>
          </a:xfrm>
          <a:prstGeom prst="rect">
            <a:avLst/>
          </a:prstGeom>
          <a:noFill/>
        </p:spPr>
        <p:txBody>
          <a:bodyPr wrap="square" lIns="0" rIns="0" tIns="0" bIns="0" anchor="t">
            <a:spAutoFit/>
          </a:bodyPr>
          <a:lstStyle/>
          <a:p>
            <a:pPr algn="ctr">
              <a:lnSpc>
                <a:spcPct val="114000"/>
              </a:lnSpc>
              <a:spcAft>
                <a:spcPts val="100"/>
              </a:spcAft>
            </a:pPr>
            <a:r>
              <a:rPr sz="850" b="1">
                <a:solidFill>
                  <a:srgbClr val="0D1B2A"/>
                </a:solidFill>
                <a:latin typeface="Calibri"/>
              </a:rPr>
              <a:t>CCU met cardioversie</a:t>
            </a:r>
          </a:p>
        </p:txBody>
      </p:sp>
      <p:sp>
        <p:nvSpPr>
          <p:cNvPr id="91" name="Oval 90"/>
          <p:cNvSpPr/>
          <p:nvPr/>
        </p:nvSpPr>
        <p:spPr>
          <a:xfrm>
            <a:off x="9528505" y="4590288"/>
            <a:ext cx="548640" cy="548640"/>
          </a:xfrm>
          <a:prstGeom prst="ellipse">
            <a:avLst/>
          </a:prstGeom>
          <a:solidFill>
            <a:srgbClr val="C87E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2" name="Oval 91"/>
          <p:cNvSpPr/>
          <p:nvPr/>
        </p:nvSpPr>
        <p:spPr>
          <a:xfrm>
            <a:off x="9528505" y="4590288"/>
            <a:ext cx="548640" cy="548640"/>
          </a:xfrm>
          <a:prstGeom prst="ellipse">
            <a:avLst/>
          </a:prstGeom>
          <a:noFill/>
          <a:ln w="4191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3" name="TextBox 92"/>
          <p:cNvSpPr txBox="1"/>
          <p:nvPr/>
        </p:nvSpPr>
        <p:spPr>
          <a:xfrm>
            <a:off x="9089593" y="5184648"/>
            <a:ext cx="1426464" cy="457200"/>
          </a:xfrm>
          <a:prstGeom prst="rect">
            <a:avLst/>
          </a:prstGeom>
          <a:noFill/>
        </p:spPr>
        <p:txBody>
          <a:bodyPr wrap="square" lIns="0" rIns="0" tIns="0" bIns="0" anchor="t">
            <a:spAutoFit/>
          </a:bodyPr>
          <a:lstStyle/>
          <a:p>
            <a:pPr algn="ctr">
              <a:lnSpc>
                <a:spcPct val="114000"/>
              </a:lnSpc>
              <a:spcAft>
                <a:spcPts val="100"/>
              </a:spcAft>
            </a:pPr>
            <a:r>
              <a:rPr sz="850" b="1">
                <a:solidFill>
                  <a:srgbClr val="0D1B2A"/>
                </a:solidFill>
                <a:latin typeface="Calibri"/>
              </a:rPr>
              <a:t>cardioversie</a:t>
            </a:r>
          </a:p>
          <a:p>
            <a:pPr algn="ctr">
              <a:lnSpc>
                <a:spcPct val="112000"/>
              </a:lnSpc>
              <a:spcAft>
                <a:spcPts val="0"/>
              </a:spcAft>
            </a:pPr>
            <a:r>
              <a:rPr sz="750" b="0">
                <a:solidFill>
                  <a:srgbClr val="C87E12"/>
                </a:solidFill>
                <a:latin typeface="Calibri"/>
              </a:rPr>
              <a:t>waarheen nog te bepalen</a:t>
            </a:r>
          </a:p>
        </p:txBody>
      </p:sp>
      <p:sp>
        <p:nvSpPr>
          <p:cNvPr id="94" name="Oval 93"/>
          <p:cNvSpPr/>
          <p:nvPr/>
        </p:nvSpPr>
        <p:spPr>
          <a:xfrm>
            <a:off x="10420045" y="4590288"/>
            <a:ext cx="548640" cy="548640"/>
          </a:xfrm>
          <a:prstGeom prst="ellipse">
            <a:avLst/>
          </a:prstGeom>
          <a:solidFill>
            <a:srgbClr val="0E9A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5" name="Oval 94"/>
          <p:cNvSpPr/>
          <p:nvPr/>
        </p:nvSpPr>
        <p:spPr>
          <a:xfrm>
            <a:off x="10420045" y="4590288"/>
            <a:ext cx="548640" cy="548640"/>
          </a:xfrm>
          <a:prstGeom prst="ellipse">
            <a:avLst/>
          </a:prstGeom>
          <a:noFill/>
          <a:ln w="4191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6" name="TextBox 95"/>
          <p:cNvSpPr txBox="1"/>
          <p:nvPr/>
        </p:nvSpPr>
        <p:spPr>
          <a:xfrm>
            <a:off x="9981133" y="5184648"/>
            <a:ext cx="1426464" cy="457200"/>
          </a:xfrm>
          <a:prstGeom prst="rect">
            <a:avLst/>
          </a:prstGeom>
          <a:noFill/>
        </p:spPr>
        <p:txBody>
          <a:bodyPr wrap="square" lIns="0" rIns="0" tIns="0" bIns="0" anchor="t">
            <a:spAutoFit/>
          </a:bodyPr>
          <a:lstStyle/>
          <a:p>
            <a:pPr algn="ctr">
              <a:lnSpc>
                <a:spcPct val="114000"/>
              </a:lnSpc>
              <a:spcAft>
                <a:spcPts val="100"/>
              </a:spcAft>
            </a:pPr>
            <a:r>
              <a:rPr sz="850" b="1">
                <a:solidFill>
                  <a:srgbClr val="0D1B2A"/>
                </a:solidFill>
                <a:latin typeface="Calibri"/>
              </a:rPr>
              <a:t>CCU</a:t>
            </a:r>
          </a:p>
        </p:txBody>
      </p:sp>
      <p:sp>
        <p:nvSpPr>
          <p:cNvPr id="97" name="Freeform 96"/>
          <p:cNvSpPr/>
          <p:nvPr/>
        </p:nvSpPr>
        <p:spPr>
          <a:xfrm>
            <a:off x="7892643" y="4864608"/>
            <a:ext cx="1599286" cy="0"/>
          </a:xfrm>
          <a:custGeom>
            <a:avLst/>
            <a:gdLst/>
            <a:ahLst/>
            <a:cxnLst/>
            <a:rect l="l" t="t" r="r" b="b"/>
            <a:pathLst>
              <a:path w="1599286" h="0">
                <a:moveTo>
                  <a:pt x="0" y="0"/>
                </a:moveTo>
                <a:lnTo>
                  <a:pt x="36348" y="0"/>
                </a:lnTo>
                <a:lnTo>
                  <a:pt x="72695" y="0"/>
                </a:lnTo>
                <a:lnTo>
                  <a:pt x="109042" y="0"/>
                </a:lnTo>
                <a:lnTo>
                  <a:pt x="145390" y="0"/>
                </a:lnTo>
                <a:lnTo>
                  <a:pt x="181737" y="0"/>
                </a:lnTo>
                <a:lnTo>
                  <a:pt x="218085" y="0"/>
                </a:lnTo>
                <a:lnTo>
                  <a:pt x="254432" y="0"/>
                </a:lnTo>
                <a:lnTo>
                  <a:pt x="290779" y="0"/>
                </a:lnTo>
                <a:lnTo>
                  <a:pt x="327127" y="0"/>
                </a:lnTo>
                <a:lnTo>
                  <a:pt x="363474" y="0"/>
                </a:lnTo>
                <a:lnTo>
                  <a:pt x="399822" y="0"/>
                </a:lnTo>
                <a:lnTo>
                  <a:pt x="436169" y="0"/>
                </a:lnTo>
                <a:lnTo>
                  <a:pt x="472516" y="0"/>
                </a:lnTo>
                <a:lnTo>
                  <a:pt x="508864" y="0"/>
                </a:lnTo>
                <a:lnTo>
                  <a:pt x="545211" y="0"/>
                </a:lnTo>
                <a:lnTo>
                  <a:pt x="581559" y="0"/>
                </a:lnTo>
                <a:lnTo>
                  <a:pt x="617906" y="0"/>
                </a:lnTo>
                <a:lnTo>
                  <a:pt x="654253" y="0"/>
                </a:lnTo>
                <a:lnTo>
                  <a:pt x="690601" y="0"/>
                </a:lnTo>
                <a:lnTo>
                  <a:pt x="726948" y="0"/>
                </a:lnTo>
                <a:lnTo>
                  <a:pt x="763296" y="0"/>
                </a:lnTo>
                <a:lnTo>
                  <a:pt x="799643" y="0"/>
                </a:lnTo>
                <a:lnTo>
                  <a:pt x="835990" y="0"/>
                </a:lnTo>
                <a:lnTo>
                  <a:pt x="872338" y="0"/>
                </a:lnTo>
                <a:lnTo>
                  <a:pt x="908685" y="0"/>
                </a:lnTo>
                <a:lnTo>
                  <a:pt x="945033" y="0"/>
                </a:lnTo>
                <a:lnTo>
                  <a:pt x="981380" y="0"/>
                </a:lnTo>
                <a:lnTo>
                  <a:pt x="1017727" y="0"/>
                </a:lnTo>
                <a:lnTo>
                  <a:pt x="1054075" y="0"/>
                </a:lnTo>
                <a:lnTo>
                  <a:pt x="1090422" y="0"/>
                </a:lnTo>
                <a:lnTo>
                  <a:pt x="1126770" y="0"/>
                </a:lnTo>
                <a:lnTo>
                  <a:pt x="1163117" y="0"/>
                </a:lnTo>
                <a:lnTo>
                  <a:pt x="1199464" y="0"/>
                </a:lnTo>
                <a:lnTo>
                  <a:pt x="1235812" y="0"/>
                </a:lnTo>
                <a:lnTo>
                  <a:pt x="1272159" y="0"/>
                </a:lnTo>
                <a:lnTo>
                  <a:pt x="1308507" y="0"/>
                </a:lnTo>
                <a:lnTo>
                  <a:pt x="1344854" y="0"/>
                </a:lnTo>
                <a:lnTo>
                  <a:pt x="1381201" y="0"/>
                </a:lnTo>
                <a:lnTo>
                  <a:pt x="1417549" y="0"/>
                </a:lnTo>
                <a:lnTo>
                  <a:pt x="1453896" y="0"/>
                </a:lnTo>
                <a:lnTo>
                  <a:pt x="1490244" y="0"/>
                </a:lnTo>
                <a:lnTo>
                  <a:pt x="1526591" y="0"/>
                </a:lnTo>
                <a:lnTo>
                  <a:pt x="1562938" y="0"/>
                </a:lnTo>
                <a:lnTo>
                  <a:pt x="1599286" y="0"/>
                </a:lnTo>
              </a:path>
            </a:pathLst>
          </a:custGeom>
          <a:noFill/>
          <a:ln w="44450">
            <a:solidFill>
              <a:srgbClr val="C87E12">
                <a:alpha val="8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Oval 97"/>
          <p:cNvSpPr/>
          <p:nvPr/>
        </p:nvSpPr>
        <p:spPr>
          <a:xfrm>
            <a:off x="7837779" y="4809744"/>
            <a:ext cx="109728" cy="109728"/>
          </a:xfrm>
          <a:prstGeom prst="ellipse">
            <a:avLst/>
          </a:prstGeom>
          <a:solidFill>
            <a:srgbClr val="C87E12"/>
          </a:solid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9" name="Oval 98"/>
          <p:cNvSpPr/>
          <p:nvPr/>
        </p:nvSpPr>
        <p:spPr>
          <a:xfrm>
            <a:off x="9437065" y="4809744"/>
            <a:ext cx="109728" cy="109728"/>
          </a:xfrm>
          <a:prstGeom prst="ellipse">
            <a:avLst/>
          </a:prstGeom>
          <a:solidFill>
            <a:srgbClr val="C87E12"/>
          </a:solid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0" name="Rounded Rectangle 99"/>
          <p:cNvSpPr/>
          <p:nvPr/>
        </p:nvSpPr>
        <p:spPr>
          <a:xfrm>
            <a:off x="640080" y="5852160"/>
            <a:ext cx="10911535" cy="402336"/>
          </a:xfrm>
          <a:prstGeom prst="roundRect">
            <a:avLst>
              <a:gd name="adj" fmla="val 3000"/>
            </a:avLst>
          </a:prstGeom>
          <a:solidFill>
            <a:srgbClr val="F6F9FD"/>
          </a:solidFill>
          <a:ln w="12700">
            <a:solidFill>
              <a:srgbClr val="E2E9F1"/>
            </a:solidFill>
          </a:ln>
          <a:effectLst>
            <a:outerShdw blurRad="70000" dist="22000" dir="5400000" rotWithShape="0">
              <a:srgbClr val="1B3A5C">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1" name="Oval 100"/>
          <p:cNvSpPr/>
          <p:nvPr/>
        </p:nvSpPr>
        <p:spPr>
          <a:xfrm>
            <a:off x="868679" y="5897880"/>
            <a:ext cx="310896" cy="310896"/>
          </a:xfrm>
          <a:prstGeom prst="ellipse">
            <a:avLst/>
          </a:prstGeom>
          <a:solidFill>
            <a:srgbClr val="8B9AAA">
              <a:alpha val="10000"/>
            </a:srgbClr>
          </a:solidFill>
          <a:ln w="15875">
            <a:solidFill>
              <a:srgbClr val="8B9AAA"/>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50" b="1">
                <a:solidFill>
                  <a:srgbClr val="8B9AAA"/>
                </a:solidFill>
                <a:latin typeface="Calibri"/>
              </a:rPr>
              <a:t>5</a:t>
            </a:r>
          </a:p>
        </p:txBody>
      </p:sp>
      <p:sp>
        <p:nvSpPr>
          <p:cNvPr id="102" name="TextBox 101"/>
          <p:cNvSpPr txBox="1"/>
          <p:nvPr/>
        </p:nvSpPr>
        <p:spPr>
          <a:xfrm>
            <a:off x="1316736" y="5870448"/>
            <a:ext cx="9905695" cy="365760"/>
          </a:xfrm>
          <a:prstGeom prst="rect">
            <a:avLst/>
          </a:prstGeom>
          <a:noFill/>
        </p:spPr>
        <p:txBody>
          <a:bodyPr wrap="square" lIns="0" rIns="0" tIns="0" bIns="0" anchor="ctr">
            <a:spAutoFit/>
          </a:bodyPr>
          <a:lstStyle/>
          <a:p>
            <a:pPr algn="l">
              <a:lnSpc>
                <a:spcPct val="120000"/>
              </a:lnSpc>
              <a:spcAft>
                <a:spcPts val="0"/>
              </a:spcAft>
            </a:pPr>
            <a:r>
              <a:rPr sz="1100" b="0">
                <a:solidFill>
                  <a:srgbClr val="55677C"/>
                </a:solidFill>
                <a:latin typeface="Calibri"/>
              </a:rPr>
              <a:t>Huidige situatie handhaven — ICU, CCU/SCU/EHH en SEH blijven apart. Er verschuift niets; dit is het referentiescenario.</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FFFFFF"/>
              </a:gs>
              <a:gs pos="100000">
                <a:srgbClr val="F1F6FC"/>
              </a:gs>
            </a:gsLst>
            <a:lin scaled="0" ang="189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640080" y="566928"/>
            <a:ext cx="10911535" cy="219456"/>
          </a:xfrm>
          <a:prstGeom prst="rect">
            <a:avLst/>
          </a:prstGeom>
          <a:noFill/>
        </p:spPr>
        <p:txBody>
          <a:bodyPr wrap="square" lIns="0" rIns="0" tIns="0" bIns="0" anchor="t">
            <a:spAutoFit/>
          </a:bodyPr>
          <a:lstStyle/>
          <a:p>
            <a:pPr algn="l">
              <a:lnSpc>
                <a:spcPct val="120000"/>
              </a:lnSpc>
              <a:spcAft>
                <a:spcPts val="0"/>
              </a:spcAft>
            </a:pPr>
            <a:r>
              <a:rPr sz="1050" b="1" spc="220">
                <a:solidFill>
                  <a:srgbClr val="6B4BA8"/>
                </a:solidFill>
                <a:latin typeface="Calibri"/>
              </a:rPr>
              <a:t>DEEL 03  ·  WAT VERANDERT ER</a:t>
            </a:r>
          </a:p>
        </p:txBody>
      </p:sp>
      <p:sp>
        <p:nvSpPr>
          <p:cNvPr id="4" name="TextBox 3"/>
          <p:cNvSpPr txBox="1"/>
          <p:nvPr/>
        </p:nvSpPr>
        <p:spPr>
          <a:xfrm>
            <a:off x="640080" y="859536"/>
            <a:ext cx="10911535" cy="566928"/>
          </a:xfrm>
          <a:prstGeom prst="rect">
            <a:avLst/>
          </a:prstGeom>
          <a:noFill/>
        </p:spPr>
        <p:txBody>
          <a:bodyPr wrap="square" lIns="0" rIns="0" tIns="0" bIns="0" anchor="t">
            <a:spAutoFit/>
          </a:bodyPr>
          <a:lstStyle/>
          <a:p>
            <a:pPr algn="l">
              <a:lnSpc>
                <a:spcPct val="120000"/>
              </a:lnSpc>
              <a:spcAft>
                <a:spcPts val="0"/>
              </a:spcAft>
            </a:pPr>
            <a:r>
              <a:rPr sz="3400" b="1">
                <a:solidFill>
                  <a:srgbClr val="0D1B2A"/>
                </a:solidFill>
                <a:latin typeface="Calibri"/>
              </a:rPr>
              <a:t>Van scenario naar rooster</a:t>
            </a:r>
          </a:p>
        </p:txBody>
      </p:sp>
      <p:sp>
        <p:nvSpPr>
          <p:cNvPr id="5" name="TextBox 4"/>
          <p:cNvSpPr txBox="1"/>
          <p:nvPr/>
        </p:nvSpPr>
        <p:spPr>
          <a:xfrm>
            <a:off x="640080" y="1335024"/>
            <a:ext cx="8510997" cy="274320"/>
          </a:xfrm>
          <a:prstGeom prst="rect">
            <a:avLst/>
          </a:prstGeom>
          <a:noFill/>
        </p:spPr>
        <p:txBody>
          <a:bodyPr wrap="square" lIns="0" rIns="0" tIns="0" bIns="0" anchor="t">
            <a:spAutoFit/>
          </a:bodyPr>
          <a:lstStyle/>
          <a:p>
            <a:pPr algn="l">
              <a:lnSpc>
                <a:spcPct val="120000"/>
              </a:lnSpc>
              <a:spcAft>
                <a:spcPts val="0"/>
              </a:spcAft>
            </a:pPr>
            <a:r>
              <a:rPr sz="1300" b="0">
                <a:solidFill>
                  <a:srgbClr val="55677C"/>
                </a:solidFill>
                <a:latin typeface="Calibri"/>
              </a:rPr>
              <a:t>De route die na de keuze gevolgd wordt</a:t>
            </a:r>
          </a:p>
        </p:txBody>
      </p:sp>
      <p:cxnSp>
        <p:nvCxnSpPr>
          <p:cNvPr id="6" name="Connector 5"/>
          <p:cNvCxnSpPr/>
          <p:nvPr/>
        </p:nvCxnSpPr>
        <p:spPr>
          <a:xfrm>
            <a:off x="640080" y="1609344"/>
            <a:ext cx="10911535" cy="0"/>
          </a:xfrm>
          <a:prstGeom prst="line">
            <a:avLst/>
          </a:prstGeom>
          <a:ln w="12700">
            <a:solidFill>
              <a:srgbClr val="E2E9F1"/>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640080" y="6291072"/>
            <a:ext cx="10911535" cy="0"/>
          </a:xfrm>
          <a:prstGeom prst="line">
            <a:avLst/>
          </a:prstGeom>
          <a:ln w="9525">
            <a:solidFill>
              <a:srgbClr val="E2E9F1"/>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40080" y="6382512"/>
            <a:ext cx="5486400" cy="237744"/>
          </a:xfrm>
          <a:prstGeom prst="rect">
            <a:avLst/>
          </a:prstGeom>
          <a:noFill/>
        </p:spPr>
        <p:txBody>
          <a:bodyPr wrap="square" lIns="0" rIns="0" tIns="0" bIns="0" anchor="t">
            <a:spAutoFit/>
          </a:bodyPr>
          <a:lstStyle/>
          <a:p>
            <a:pPr algn="l">
              <a:lnSpc>
                <a:spcPct val="120000"/>
              </a:lnSpc>
              <a:spcAft>
                <a:spcPts val="0"/>
              </a:spcAft>
            </a:pPr>
            <a:r>
              <a:rPr sz="900" b="0" spc="80">
                <a:solidFill>
                  <a:srgbClr val="8B9AAA"/>
                </a:solidFill>
                <a:latin typeface="Calibri"/>
              </a:rPr>
              <a:t>Acute poort en Hotfloor</a:t>
            </a:r>
          </a:p>
        </p:txBody>
      </p:sp>
      <p:sp>
        <p:nvSpPr>
          <p:cNvPr id="9" name="TextBox 8"/>
          <p:cNvSpPr txBox="1"/>
          <p:nvPr/>
        </p:nvSpPr>
        <p:spPr>
          <a:xfrm>
            <a:off x="10637215" y="6382512"/>
            <a:ext cx="914400" cy="237744"/>
          </a:xfrm>
          <a:prstGeom prst="rect">
            <a:avLst/>
          </a:prstGeom>
          <a:noFill/>
        </p:spPr>
        <p:txBody>
          <a:bodyPr wrap="square" lIns="0" rIns="0" tIns="0" bIns="0" anchor="t">
            <a:spAutoFit/>
          </a:bodyPr>
          <a:lstStyle/>
          <a:p>
            <a:pPr algn="r">
              <a:lnSpc>
                <a:spcPct val="120000"/>
              </a:lnSpc>
              <a:spcAft>
                <a:spcPts val="0"/>
              </a:spcAft>
            </a:pPr>
            <a:r>
              <a:rPr sz="950" b="1">
                <a:solidFill>
                  <a:srgbClr val="0E9A87"/>
                </a:solidFill>
                <a:latin typeface="Calibri"/>
              </a:rPr>
              <a:t>14</a:t>
            </a:r>
          </a:p>
        </p:txBody>
      </p:sp>
      <p:sp>
        <p:nvSpPr>
          <p:cNvPr id="10" name="Rounded Rectangle 9"/>
          <p:cNvSpPr/>
          <p:nvPr/>
        </p:nvSpPr>
        <p:spPr>
          <a:xfrm>
            <a:off x="640080" y="2066544"/>
            <a:ext cx="1650949" cy="2011680"/>
          </a:xfrm>
          <a:prstGeom prst="roundRect">
            <a:avLst>
              <a:gd name="adj" fmla="val 3000"/>
            </a:avLst>
          </a:prstGeom>
          <a:solidFill>
            <a:srgbClr val="FFFFFF"/>
          </a:solidFill>
          <a:ln w="12700">
            <a:solidFill>
              <a:srgbClr val="E2E9F1"/>
            </a:solidFill>
          </a:ln>
          <a:effectLst>
            <a:outerShdw blurRad="70000" dist="22000" dir="5400000" rotWithShape="0">
              <a:srgbClr val="1B3A5C">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209522" y="2249424"/>
            <a:ext cx="512064" cy="512064"/>
          </a:xfrm>
          <a:prstGeom prst="ellipse">
            <a:avLst/>
          </a:prstGeom>
          <a:solidFill>
            <a:srgbClr val="6B4BA8">
              <a:alpha val="10000"/>
            </a:srgbClr>
          </a:solidFill>
          <a:ln w="15875">
            <a:solidFill>
              <a:srgbClr val="6B4BA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400" b="1">
                <a:solidFill>
                  <a:srgbClr val="6B4BA8"/>
                </a:solidFill>
                <a:latin typeface="Calibri"/>
              </a:rPr>
              <a:t>01</a:t>
            </a:r>
          </a:p>
        </p:txBody>
      </p:sp>
      <p:sp>
        <p:nvSpPr>
          <p:cNvPr id="12" name="TextBox 11"/>
          <p:cNvSpPr txBox="1"/>
          <p:nvPr/>
        </p:nvSpPr>
        <p:spPr>
          <a:xfrm>
            <a:off x="786384" y="2889504"/>
            <a:ext cx="1358341" cy="566928"/>
          </a:xfrm>
          <a:prstGeom prst="rect">
            <a:avLst/>
          </a:prstGeom>
          <a:noFill/>
        </p:spPr>
        <p:txBody>
          <a:bodyPr wrap="square" lIns="0" rIns="0" tIns="0" bIns="0" anchor="t">
            <a:spAutoFit/>
          </a:bodyPr>
          <a:lstStyle/>
          <a:p>
            <a:pPr algn="ctr">
              <a:lnSpc>
                <a:spcPct val="115000"/>
              </a:lnSpc>
              <a:spcAft>
                <a:spcPts val="0"/>
              </a:spcAft>
            </a:pPr>
            <a:r>
              <a:rPr sz="1250" b="1">
                <a:solidFill>
                  <a:srgbClr val="0D1B2A"/>
                </a:solidFill>
                <a:latin typeface="Calibri"/>
              </a:rPr>
              <a:t>Scenario's uitwerken</a:t>
            </a:r>
          </a:p>
        </p:txBody>
      </p:sp>
      <p:sp>
        <p:nvSpPr>
          <p:cNvPr id="13" name="TextBox 12"/>
          <p:cNvSpPr txBox="1"/>
          <p:nvPr/>
        </p:nvSpPr>
        <p:spPr>
          <a:xfrm>
            <a:off x="786384" y="3511296"/>
            <a:ext cx="1358341" cy="457200"/>
          </a:xfrm>
          <a:prstGeom prst="rect">
            <a:avLst/>
          </a:prstGeom>
          <a:noFill/>
        </p:spPr>
        <p:txBody>
          <a:bodyPr wrap="square" lIns="0" rIns="0" tIns="0" bIns="0" anchor="t">
            <a:spAutoFit/>
          </a:bodyPr>
          <a:lstStyle/>
          <a:p>
            <a:pPr algn="ctr">
              <a:lnSpc>
                <a:spcPct val="115000"/>
              </a:lnSpc>
              <a:spcAft>
                <a:spcPts val="0"/>
              </a:spcAft>
            </a:pPr>
            <a:r>
              <a:rPr sz="950" b="0">
                <a:solidFill>
                  <a:srgbClr val="55677C"/>
                </a:solidFill>
                <a:latin typeface="Calibri"/>
              </a:rPr>
              <a:t>de vijf varianten doorrekenen</a:t>
            </a:r>
          </a:p>
        </p:txBody>
      </p:sp>
      <p:sp>
        <p:nvSpPr>
          <p:cNvPr id="14" name="Right Arrow 13"/>
          <p:cNvSpPr/>
          <p:nvPr/>
        </p:nvSpPr>
        <p:spPr>
          <a:xfrm>
            <a:off x="2309317" y="2980944"/>
            <a:ext cx="164592" cy="164592"/>
          </a:xfrm>
          <a:prstGeom prst="rightArrow">
            <a:avLst/>
          </a:prstGeom>
          <a:solidFill>
            <a:srgbClr val="6B4BA8">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2492197" y="2066544"/>
            <a:ext cx="1650949" cy="2011680"/>
          </a:xfrm>
          <a:prstGeom prst="roundRect">
            <a:avLst>
              <a:gd name="adj" fmla="val 3000"/>
            </a:avLst>
          </a:prstGeom>
          <a:solidFill>
            <a:srgbClr val="FFFFFF"/>
          </a:solidFill>
          <a:ln w="12700">
            <a:solidFill>
              <a:srgbClr val="E2E9F1"/>
            </a:solidFill>
          </a:ln>
          <a:effectLst>
            <a:outerShdw blurRad="70000" dist="22000" dir="5400000" rotWithShape="0">
              <a:srgbClr val="1B3A5C">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3061639" y="2249424"/>
            <a:ext cx="512064" cy="512064"/>
          </a:xfrm>
          <a:prstGeom prst="ellipse">
            <a:avLst/>
          </a:prstGeom>
          <a:solidFill>
            <a:srgbClr val="6B4BA8">
              <a:alpha val="10000"/>
            </a:srgbClr>
          </a:solidFill>
          <a:ln w="15875">
            <a:solidFill>
              <a:srgbClr val="6B4BA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400" b="1">
                <a:solidFill>
                  <a:srgbClr val="6B4BA8"/>
                </a:solidFill>
                <a:latin typeface="Calibri"/>
              </a:rPr>
              <a:t>02</a:t>
            </a:r>
          </a:p>
        </p:txBody>
      </p:sp>
      <p:sp>
        <p:nvSpPr>
          <p:cNvPr id="17" name="TextBox 16"/>
          <p:cNvSpPr txBox="1"/>
          <p:nvPr/>
        </p:nvSpPr>
        <p:spPr>
          <a:xfrm>
            <a:off x="2638501" y="2889504"/>
            <a:ext cx="1358341" cy="566928"/>
          </a:xfrm>
          <a:prstGeom prst="rect">
            <a:avLst/>
          </a:prstGeom>
          <a:noFill/>
        </p:spPr>
        <p:txBody>
          <a:bodyPr wrap="square" lIns="0" rIns="0" tIns="0" bIns="0" anchor="t">
            <a:spAutoFit/>
          </a:bodyPr>
          <a:lstStyle/>
          <a:p>
            <a:pPr algn="ctr">
              <a:lnSpc>
                <a:spcPct val="115000"/>
              </a:lnSpc>
              <a:spcAft>
                <a:spcPts val="0"/>
              </a:spcAft>
            </a:pPr>
            <a:r>
              <a:rPr sz="1250" b="1">
                <a:solidFill>
                  <a:srgbClr val="0D1B2A"/>
                </a:solidFill>
                <a:latin typeface="Calibri"/>
              </a:rPr>
              <a:t>Keuze maken</a:t>
            </a:r>
          </a:p>
        </p:txBody>
      </p:sp>
      <p:sp>
        <p:nvSpPr>
          <p:cNvPr id="18" name="TextBox 17"/>
          <p:cNvSpPr txBox="1"/>
          <p:nvPr/>
        </p:nvSpPr>
        <p:spPr>
          <a:xfrm>
            <a:off x="2638501" y="3511296"/>
            <a:ext cx="1358341" cy="457200"/>
          </a:xfrm>
          <a:prstGeom prst="rect">
            <a:avLst/>
          </a:prstGeom>
          <a:noFill/>
        </p:spPr>
        <p:txBody>
          <a:bodyPr wrap="square" lIns="0" rIns="0" tIns="0" bIns="0" anchor="t">
            <a:spAutoFit/>
          </a:bodyPr>
          <a:lstStyle/>
          <a:p>
            <a:pPr algn="ctr">
              <a:lnSpc>
                <a:spcPct val="115000"/>
              </a:lnSpc>
              <a:spcAft>
                <a:spcPts val="0"/>
              </a:spcAft>
            </a:pPr>
            <a:r>
              <a:rPr sz="950" b="0">
                <a:solidFill>
                  <a:srgbClr val="55677C"/>
                </a:solidFill>
                <a:latin typeface="Calibri"/>
              </a:rPr>
              <a:t>op basis van data uit BIC</a:t>
            </a:r>
          </a:p>
        </p:txBody>
      </p:sp>
      <p:sp>
        <p:nvSpPr>
          <p:cNvPr id="19" name="Right Arrow 18"/>
          <p:cNvSpPr/>
          <p:nvPr/>
        </p:nvSpPr>
        <p:spPr>
          <a:xfrm>
            <a:off x="4161434" y="2980944"/>
            <a:ext cx="164592" cy="164592"/>
          </a:xfrm>
          <a:prstGeom prst="rightArrow">
            <a:avLst/>
          </a:prstGeom>
          <a:solidFill>
            <a:srgbClr val="6B4BA8">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4344314" y="2066544"/>
            <a:ext cx="1650949" cy="2011680"/>
          </a:xfrm>
          <a:prstGeom prst="roundRect">
            <a:avLst>
              <a:gd name="adj" fmla="val 3000"/>
            </a:avLst>
          </a:prstGeom>
          <a:solidFill>
            <a:srgbClr val="FFFFFF"/>
          </a:solidFill>
          <a:ln w="12700">
            <a:solidFill>
              <a:srgbClr val="E2E9F1"/>
            </a:solidFill>
          </a:ln>
          <a:effectLst>
            <a:outerShdw blurRad="70000" dist="22000" dir="5400000" rotWithShape="0">
              <a:srgbClr val="1B3A5C">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4913757" y="2249424"/>
            <a:ext cx="512064" cy="512064"/>
          </a:xfrm>
          <a:prstGeom prst="ellipse">
            <a:avLst/>
          </a:prstGeom>
          <a:solidFill>
            <a:srgbClr val="6B4BA8">
              <a:alpha val="10000"/>
            </a:srgbClr>
          </a:solidFill>
          <a:ln w="15875">
            <a:solidFill>
              <a:srgbClr val="6B4BA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400" b="1">
                <a:solidFill>
                  <a:srgbClr val="6B4BA8"/>
                </a:solidFill>
                <a:latin typeface="Calibri"/>
              </a:rPr>
              <a:t>03</a:t>
            </a:r>
          </a:p>
        </p:txBody>
      </p:sp>
      <p:sp>
        <p:nvSpPr>
          <p:cNvPr id="22" name="TextBox 21"/>
          <p:cNvSpPr txBox="1"/>
          <p:nvPr/>
        </p:nvSpPr>
        <p:spPr>
          <a:xfrm>
            <a:off x="4490618" y="2889504"/>
            <a:ext cx="1358341" cy="566928"/>
          </a:xfrm>
          <a:prstGeom prst="rect">
            <a:avLst/>
          </a:prstGeom>
          <a:noFill/>
        </p:spPr>
        <p:txBody>
          <a:bodyPr wrap="square" lIns="0" rIns="0" tIns="0" bIns="0" anchor="t">
            <a:spAutoFit/>
          </a:bodyPr>
          <a:lstStyle/>
          <a:p>
            <a:pPr algn="ctr">
              <a:lnSpc>
                <a:spcPct val="115000"/>
              </a:lnSpc>
              <a:spcAft>
                <a:spcPts val="0"/>
              </a:spcAft>
            </a:pPr>
            <a:r>
              <a:rPr sz="1250" b="1">
                <a:solidFill>
                  <a:srgbClr val="0D1B2A"/>
                </a:solidFill>
                <a:latin typeface="Calibri"/>
              </a:rPr>
              <a:t>Week- en dagplan</a:t>
            </a:r>
          </a:p>
        </p:txBody>
      </p:sp>
      <p:sp>
        <p:nvSpPr>
          <p:cNvPr id="23" name="TextBox 22"/>
          <p:cNvSpPr txBox="1"/>
          <p:nvPr/>
        </p:nvSpPr>
        <p:spPr>
          <a:xfrm>
            <a:off x="4490618" y="3511296"/>
            <a:ext cx="1358341" cy="457200"/>
          </a:xfrm>
          <a:prstGeom prst="rect">
            <a:avLst/>
          </a:prstGeom>
          <a:noFill/>
        </p:spPr>
        <p:txBody>
          <a:bodyPr wrap="square" lIns="0" rIns="0" tIns="0" bIns="0" anchor="t">
            <a:spAutoFit/>
          </a:bodyPr>
          <a:lstStyle/>
          <a:p>
            <a:pPr algn="ctr">
              <a:lnSpc>
                <a:spcPct val="115000"/>
              </a:lnSpc>
              <a:spcAft>
                <a:spcPts val="0"/>
              </a:spcAft>
            </a:pPr>
            <a:r>
              <a:rPr sz="950" b="0">
                <a:solidFill>
                  <a:srgbClr val="55677C"/>
                </a:solidFill>
                <a:latin typeface="Calibri"/>
              </a:rPr>
              <a:t>wat is er wanneer nodig</a:t>
            </a:r>
          </a:p>
        </p:txBody>
      </p:sp>
      <p:sp>
        <p:nvSpPr>
          <p:cNvPr id="24" name="Right Arrow 23"/>
          <p:cNvSpPr/>
          <p:nvPr/>
        </p:nvSpPr>
        <p:spPr>
          <a:xfrm>
            <a:off x="6013551" y="2980944"/>
            <a:ext cx="164592" cy="164592"/>
          </a:xfrm>
          <a:prstGeom prst="rightArrow">
            <a:avLst/>
          </a:prstGeom>
          <a:solidFill>
            <a:srgbClr val="6B4BA8">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196431" y="2066544"/>
            <a:ext cx="1650949" cy="2011680"/>
          </a:xfrm>
          <a:prstGeom prst="roundRect">
            <a:avLst>
              <a:gd name="adj" fmla="val 3000"/>
            </a:avLst>
          </a:prstGeom>
          <a:solidFill>
            <a:srgbClr val="FFFFFF"/>
          </a:solidFill>
          <a:ln w="12700">
            <a:solidFill>
              <a:srgbClr val="E2E9F1"/>
            </a:solidFill>
          </a:ln>
          <a:effectLst>
            <a:outerShdw blurRad="70000" dist="22000" dir="5400000" rotWithShape="0">
              <a:srgbClr val="1B3A5C">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6765874" y="2249424"/>
            <a:ext cx="512064" cy="512064"/>
          </a:xfrm>
          <a:prstGeom prst="ellipse">
            <a:avLst/>
          </a:prstGeom>
          <a:solidFill>
            <a:srgbClr val="6B4BA8">
              <a:alpha val="10000"/>
            </a:srgbClr>
          </a:solidFill>
          <a:ln w="15875">
            <a:solidFill>
              <a:srgbClr val="6B4BA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400" b="1">
                <a:solidFill>
                  <a:srgbClr val="6B4BA8"/>
                </a:solidFill>
                <a:latin typeface="Calibri"/>
              </a:rPr>
              <a:t>04</a:t>
            </a:r>
          </a:p>
        </p:txBody>
      </p:sp>
      <p:sp>
        <p:nvSpPr>
          <p:cNvPr id="27" name="TextBox 26"/>
          <p:cNvSpPr txBox="1"/>
          <p:nvPr/>
        </p:nvSpPr>
        <p:spPr>
          <a:xfrm>
            <a:off x="6342735" y="2889504"/>
            <a:ext cx="1358341" cy="566928"/>
          </a:xfrm>
          <a:prstGeom prst="rect">
            <a:avLst/>
          </a:prstGeom>
          <a:noFill/>
        </p:spPr>
        <p:txBody>
          <a:bodyPr wrap="square" lIns="0" rIns="0" tIns="0" bIns="0" anchor="t">
            <a:spAutoFit/>
          </a:bodyPr>
          <a:lstStyle/>
          <a:p>
            <a:pPr algn="ctr">
              <a:lnSpc>
                <a:spcPct val="115000"/>
              </a:lnSpc>
              <a:spcAft>
                <a:spcPts val="0"/>
              </a:spcAft>
            </a:pPr>
            <a:r>
              <a:rPr sz="1250" b="1">
                <a:solidFill>
                  <a:srgbClr val="0D1B2A"/>
                </a:solidFill>
                <a:latin typeface="Calibri"/>
              </a:rPr>
              <a:t>Roostersleutels</a:t>
            </a:r>
          </a:p>
        </p:txBody>
      </p:sp>
      <p:sp>
        <p:nvSpPr>
          <p:cNvPr id="28" name="TextBox 27"/>
          <p:cNvSpPr txBox="1"/>
          <p:nvPr/>
        </p:nvSpPr>
        <p:spPr>
          <a:xfrm>
            <a:off x="6342735" y="3511296"/>
            <a:ext cx="1358341" cy="457200"/>
          </a:xfrm>
          <a:prstGeom prst="rect">
            <a:avLst/>
          </a:prstGeom>
          <a:noFill/>
        </p:spPr>
        <p:txBody>
          <a:bodyPr wrap="square" lIns="0" rIns="0" tIns="0" bIns="0" anchor="t">
            <a:spAutoFit/>
          </a:bodyPr>
          <a:lstStyle/>
          <a:p>
            <a:pPr algn="ctr">
              <a:lnSpc>
                <a:spcPct val="115000"/>
              </a:lnSpc>
              <a:spcAft>
                <a:spcPts val="0"/>
              </a:spcAft>
            </a:pPr>
            <a:r>
              <a:rPr sz="950" b="0">
                <a:solidFill>
                  <a:srgbClr val="55677C"/>
                </a:solidFill>
                <a:latin typeface="Calibri"/>
              </a:rPr>
              <a:t>vertaling naar de roosters</a:t>
            </a:r>
          </a:p>
        </p:txBody>
      </p:sp>
      <p:sp>
        <p:nvSpPr>
          <p:cNvPr id="29" name="Right Arrow 28"/>
          <p:cNvSpPr/>
          <p:nvPr/>
        </p:nvSpPr>
        <p:spPr>
          <a:xfrm>
            <a:off x="7865668" y="2980944"/>
            <a:ext cx="164592" cy="164592"/>
          </a:xfrm>
          <a:prstGeom prst="rightArrow">
            <a:avLst/>
          </a:prstGeom>
          <a:solidFill>
            <a:srgbClr val="6B4BA8">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8048548" y="2066544"/>
            <a:ext cx="1650949" cy="2011680"/>
          </a:xfrm>
          <a:prstGeom prst="roundRect">
            <a:avLst>
              <a:gd name="adj" fmla="val 3000"/>
            </a:avLst>
          </a:prstGeom>
          <a:solidFill>
            <a:srgbClr val="FFFFFF"/>
          </a:solidFill>
          <a:ln w="12700">
            <a:solidFill>
              <a:srgbClr val="E2E9F1"/>
            </a:solidFill>
          </a:ln>
          <a:effectLst>
            <a:outerShdw blurRad="70000" dist="22000" dir="5400000" rotWithShape="0">
              <a:srgbClr val="1B3A5C">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Oval 30"/>
          <p:cNvSpPr/>
          <p:nvPr/>
        </p:nvSpPr>
        <p:spPr>
          <a:xfrm>
            <a:off x="8617991" y="2249424"/>
            <a:ext cx="512064" cy="512064"/>
          </a:xfrm>
          <a:prstGeom prst="ellipse">
            <a:avLst/>
          </a:prstGeom>
          <a:solidFill>
            <a:srgbClr val="6B4BA8">
              <a:alpha val="10000"/>
            </a:srgbClr>
          </a:solidFill>
          <a:ln w="15875">
            <a:solidFill>
              <a:srgbClr val="6B4BA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400" b="1">
                <a:solidFill>
                  <a:srgbClr val="6B4BA8"/>
                </a:solidFill>
                <a:latin typeface="Calibri"/>
              </a:rPr>
              <a:t>05</a:t>
            </a:r>
          </a:p>
        </p:txBody>
      </p:sp>
      <p:sp>
        <p:nvSpPr>
          <p:cNvPr id="32" name="TextBox 31"/>
          <p:cNvSpPr txBox="1"/>
          <p:nvPr/>
        </p:nvSpPr>
        <p:spPr>
          <a:xfrm>
            <a:off x="8194852" y="2889504"/>
            <a:ext cx="1358341" cy="566928"/>
          </a:xfrm>
          <a:prstGeom prst="rect">
            <a:avLst/>
          </a:prstGeom>
          <a:noFill/>
        </p:spPr>
        <p:txBody>
          <a:bodyPr wrap="square" lIns="0" rIns="0" tIns="0" bIns="0" anchor="t">
            <a:spAutoFit/>
          </a:bodyPr>
          <a:lstStyle/>
          <a:p>
            <a:pPr algn="ctr">
              <a:lnSpc>
                <a:spcPct val="115000"/>
              </a:lnSpc>
              <a:spcAft>
                <a:spcPts val="0"/>
              </a:spcAft>
            </a:pPr>
            <a:r>
              <a:rPr sz="1250" b="1">
                <a:solidFill>
                  <a:srgbClr val="0D1B2A"/>
                </a:solidFill>
                <a:latin typeface="Calibri"/>
              </a:rPr>
              <a:t>Planning CPP</a:t>
            </a:r>
          </a:p>
        </p:txBody>
      </p:sp>
      <p:sp>
        <p:nvSpPr>
          <p:cNvPr id="33" name="TextBox 32"/>
          <p:cNvSpPr txBox="1"/>
          <p:nvPr/>
        </p:nvSpPr>
        <p:spPr>
          <a:xfrm>
            <a:off x="8194852" y="3511296"/>
            <a:ext cx="1358341" cy="457200"/>
          </a:xfrm>
          <a:prstGeom prst="rect">
            <a:avLst/>
          </a:prstGeom>
          <a:noFill/>
        </p:spPr>
        <p:txBody>
          <a:bodyPr wrap="square" lIns="0" rIns="0" tIns="0" bIns="0" anchor="t">
            <a:spAutoFit/>
          </a:bodyPr>
          <a:lstStyle/>
          <a:p>
            <a:pPr algn="ctr">
              <a:lnSpc>
                <a:spcPct val="115000"/>
              </a:lnSpc>
              <a:spcAft>
                <a:spcPts val="0"/>
              </a:spcAft>
            </a:pPr>
            <a:r>
              <a:rPr sz="950" b="0">
                <a:solidFill>
                  <a:srgbClr val="55677C"/>
                </a:solidFill>
                <a:latin typeface="Calibri"/>
              </a:rPr>
              <a:t>capaciteits- en personeelsplanning</a:t>
            </a:r>
          </a:p>
        </p:txBody>
      </p:sp>
      <p:sp>
        <p:nvSpPr>
          <p:cNvPr id="34" name="Right Arrow 33"/>
          <p:cNvSpPr/>
          <p:nvPr/>
        </p:nvSpPr>
        <p:spPr>
          <a:xfrm>
            <a:off x="9717786" y="2980944"/>
            <a:ext cx="164592" cy="164592"/>
          </a:xfrm>
          <a:prstGeom prst="rightArrow">
            <a:avLst/>
          </a:prstGeom>
          <a:solidFill>
            <a:srgbClr val="6B4BA8">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9900666" y="2066544"/>
            <a:ext cx="1650949" cy="2011680"/>
          </a:xfrm>
          <a:prstGeom prst="roundRect">
            <a:avLst>
              <a:gd name="adj" fmla="val 3000"/>
            </a:avLst>
          </a:prstGeom>
          <a:solidFill>
            <a:srgbClr val="FFFFFF"/>
          </a:solidFill>
          <a:ln w="12700">
            <a:solidFill>
              <a:srgbClr val="E2E9F1"/>
            </a:solidFill>
          </a:ln>
          <a:effectLst>
            <a:outerShdw blurRad="70000" dist="22000" dir="5400000" rotWithShape="0">
              <a:srgbClr val="1B3A5C">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Oval 35"/>
          <p:cNvSpPr/>
          <p:nvPr/>
        </p:nvSpPr>
        <p:spPr>
          <a:xfrm>
            <a:off x="10470108" y="2249424"/>
            <a:ext cx="512064" cy="512064"/>
          </a:xfrm>
          <a:prstGeom prst="ellipse">
            <a:avLst/>
          </a:prstGeom>
          <a:solidFill>
            <a:srgbClr val="6B4BA8">
              <a:alpha val="10000"/>
            </a:srgbClr>
          </a:solidFill>
          <a:ln w="15875">
            <a:solidFill>
              <a:srgbClr val="6B4BA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400" b="1">
                <a:solidFill>
                  <a:srgbClr val="6B4BA8"/>
                </a:solidFill>
                <a:latin typeface="Calibri"/>
              </a:rPr>
              <a:t>06</a:t>
            </a:r>
          </a:p>
        </p:txBody>
      </p:sp>
      <p:sp>
        <p:nvSpPr>
          <p:cNvPr id="37" name="TextBox 36"/>
          <p:cNvSpPr txBox="1"/>
          <p:nvPr/>
        </p:nvSpPr>
        <p:spPr>
          <a:xfrm>
            <a:off x="10046970" y="2889504"/>
            <a:ext cx="1358341" cy="566928"/>
          </a:xfrm>
          <a:prstGeom prst="rect">
            <a:avLst/>
          </a:prstGeom>
          <a:noFill/>
        </p:spPr>
        <p:txBody>
          <a:bodyPr wrap="square" lIns="0" rIns="0" tIns="0" bIns="0" anchor="t">
            <a:spAutoFit/>
          </a:bodyPr>
          <a:lstStyle/>
          <a:p>
            <a:pPr algn="ctr">
              <a:lnSpc>
                <a:spcPct val="115000"/>
              </a:lnSpc>
              <a:spcAft>
                <a:spcPts val="0"/>
              </a:spcAft>
            </a:pPr>
            <a:r>
              <a:rPr sz="1250" b="1">
                <a:solidFill>
                  <a:srgbClr val="0D1B2A"/>
                </a:solidFill>
                <a:latin typeface="Calibri"/>
              </a:rPr>
              <a:t>Monitoring</a:t>
            </a:r>
          </a:p>
        </p:txBody>
      </p:sp>
      <p:sp>
        <p:nvSpPr>
          <p:cNvPr id="38" name="TextBox 37"/>
          <p:cNvSpPr txBox="1"/>
          <p:nvPr/>
        </p:nvSpPr>
        <p:spPr>
          <a:xfrm>
            <a:off x="10046970" y="3511296"/>
            <a:ext cx="1358341" cy="457200"/>
          </a:xfrm>
          <a:prstGeom prst="rect">
            <a:avLst/>
          </a:prstGeom>
          <a:noFill/>
        </p:spPr>
        <p:txBody>
          <a:bodyPr wrap="square" lIns="0" rIns="0" tIns="0" bIns="0" anchor="t">
            <a:spAutoFit/>
          </a:bodyPr>
          <a:lstStyle/>
          <a:p>
            <a:pPr algn="ctr">
              <a:lnSpc>
                <a:spcPct val="115000"/>
              </a:lnSpc>
              <a:spcAft>
                <a:spcPts val="0"/>
              </a:spcAft>
            </a:pPr>
            <a:r>
              <a:rPr sz="950" b="0">
                <a:solidFill>
                  <a:srgbClr val="55677C"/>
                </a:solidFill>
                <a:latin typeface="Calibri"/>
              </a:rPr>
              <a:t>instroom, stops, knelpunten, uren</a:t>
            </a:r>
          </a:p>
        </p:txBody>
      </p:sp>
      <p:sp>
        <p:nvSpPr>
          <p:cNvPr id="39" name="Rounded Rectangle 38"/>
          <p:cNvSpPr/>
          <p:nvPr/>
        </p:nvSpPr>
        <p:spPr>
          <a:xfrm>
            <a:off x="640080" y="4315968"/>
            <a:ext cx="3454298" cy="749808"/>
          </a:xfrm>
          <a:prstGeom prst="roundRect">
            <a:avLst>
              <a:gd name="adj" fmla="val 3000"/>
            </a:avLst>
          </a:prstGeom>
          <a:solidFill>
            <a:srgbClr val="D8E6F3"/>
          </a:solidFill>
          <a:ln w="15875">
            <a:solidFill>
              <a:srgbClr val="A1C3E0"/>
            </a:solidFill>
          </a:ln>
          <a:effectLst>
            <a:outerShdw blurRad="60000" dist="18000" dir="5400000" rotWithShape="0">
              <a:srgbClr val="1B3A5C">
                <a:alpha val="7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859536" y="4407407"/>
            <a:ext cx="3015386" cy="566928"/>
          </a:xfrm>
          <a:prstGeom prst="rect">
            <a:avLst/>
          </a:prstGeom>
          <a:noFill/>
        </p:spPr>
        <p:txBody>
          <a:bodyPr wrap="square" lIns="0" rIns="0" tIns="0" bIns="0" anchor="ctr">
            <a:spAutoFit/>
          </a:bodyPr>
          <a:lstStyle/>
          <a:p>
            <a:pPr algn="l">
              <a:lnSpc>
                <a:spcPct val="120000"/>
              </a:lnSpc>
              <a:spcAft>
                <a:spcPts val="200"/>
              </a:spcAft>
            </a:pPr>
            <a:r>
              <a:rPr sz="1250" b="1">
                <a:solidFill>
                  <a:srgbClr val="1F6FB2"/>
                </a:solidFill>
                <a:latin typeface="Calibri"/>
              </a:rPr>
              <a:t>Fysiek gaat voor</a:t>
            </a:r>
          </a:p>
          <a:p>
            <a:pPr algn="l">
              <a:lnSpc>
                <a:spcPct val="120000"/>
              </a:lnSpc>
              <a:spcAft>
                <a:spcPts val="0"/>
              </a:spcAft>
            </a:pPr>
            <a:r>
              <a:rPr sz="1000" b="0">
                <a:solidFill>
                  <a:srgbClr val="55677C"/>
                </a:solidFill>
                <a:latin typeface="Calibri"/>
              </a:rPr>
              <a:t>eerst wat en waar</a:t>
            </a:r>
          </a:p>
        </p:txBody>
      </p:sp>
      <p:sp>
        <p:nvSpPr>
          <p:cNvPr id="41" name="Rounded Rectangle 40"/>
          <p:cNvSpPr/>
          <p:nvPr/>
        </p:nvSpPr>
        <p:spPr>
          <a:xfrm>
            <a:off x="4368698" y="4315968"/>
            <a:ext cx="3454298" cy="749808"/>
          </a:xfrm>
          <a:prstGeom prst="roundRect">
            <a:avLst>
              <a:gd name="adj" fmla="val 3000"/>
            </a:avLst>
          </a:prstGeom>
          <a:solidFill>
            <a:srgbClr val="D6EBEE"/>
          </a:solidFill>
          <a:ln w="15875">
            <a:solidFill>
              <a:srgbClr val="9BD3D0"/>
            </a:solidFill>
          </a:ln>
          <a:effectLst>
            <a:outerShdw blurRad="60000" dist="18000" dir="5400000" rotWithShape="0">
              <a:srgbClr val="1B3A5C">
                <a:alpha val="7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4588154" y="4407407"/>
            <a:ext cx="3015386" cy="566928"/>
          </a:xfrm>
          <a:prstGeom prst="rect">
            <a:avLst/>
          </a:prstGeom>
          <a:noFill/>
        </p:spPr>
        <p:txBody>
          <a:bodyPr wrap="square" lIns="0" rIns="0" tIns="0" bIns="0" anchor="ctr">
            <a:spAutoFit/>
          </a:bodyPr>
          <a:lstStyle/>
          <a:p>
            <a:pPr algn="l">
              <a:lnSpc>
                <a:spcPct val="120000"/>
              </a:lnSpc>
              <a:spcAft>
                <a:spcPts val="200"/>
              </a:spcAft>
            </a:pPr>
            <a:r>
              <a:rPr sz="1250" b="1">
                <a:solidFill>
                  <a:srgbClr val="0E9A87"/>
                </a:solidFill>
                <a:latin typeface="Calibri"/>
              </a:rPr>
              <a:t>Personele inzet volgt</a:t>
            </a:r>
          </a:p>
          <a:p>
            <a:pPr algn="l">
              <a:lnSpc>
                <a:spcPct val="120000"/>
              </a:lnSpc>
              <a:spcAft>
                <a:spcPts val="0"/>
              </a:spcAft>
            </a:pPr>
            <a:r>
              <a:rPr sz="1000" b="0">
                <a:solidFill>
                  <a:srgbClr val="55677C"/>
                </a:solidFill>
                <a:latin typeface="Calibri"/>
              </a:rPr>
              <a:t>uit wat en waar</a:t>
            </a:r>
          </a:p>
        </p:txBody>
      </p:sp>
      <p:sp>
        <p:nvSpPr>
          <p:cNvPr id="43" name="Rounded Rectangle 42"/>
          <p:cNvSpPr/>
          <p:nvPr/>
        </p:nvSpPr>
        <p:spPr>
          <a:xfrm>
            <a:off x="8097316" y="4315968"/>
            <a:ext cx="3454298" cy="749808"/>
          </a:xfrm>
          <a:prstGeom prst="roundRect">
            <a:avLst>
              <a:gd name="adj" fmla="val 3000"/>
            </a:avLst>
          </a:prstGeom>
          <a:solidFill>
            <a:srgbClr val="E1E1F2"/>
          </a:solidFill>
          <a:ln w="15875">
            <a:solidFill>
              <a:srgbClr val="BEB5DC"/>
            </a:solidFill>
          </a:ln>
          <a:effectLst>
            <a:outerShdw blurRad="60000" dist="18000" dir="5400000" rotWithShape="0">
              <a:srgbClr val="1B3A5C">
                <a:alpha val="7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8316772" y="4407407"/>
            <a:ext cx="3015386" cy="566928"/>
          </a:xfrm>
          <a:prstGeom prst="rect">
            <a:avLst/>
          </a:prstGeom>
          <a:noFill/>
        </p:spPr>
        <p:txBody>
          <a:bodyPr wrap="square" lIns="0" rIns="0" tIns="0" bIns="0" anchor="ctr">
            <a:spAutoFit/>
          </a:bodyPr>
          <a:lstStyle/>
          <a:p>
            <a:pPr algn="l">
              <a:lnSpc>
                <a:spcPct val="120000"/>
              </a:lnSpc>
              <a:spcAft>
                <a:spcPts val="200"/>
              </a:spcAft>
            </a:pPr>
            <a:r>
              <a:rPr sz="1250" b="1">
                <a:solidFill>
                  <a:srgbClr val="6B4BA8"/>
                </a:solidFill>
                <a:latin typeface="Calibri"/>
              </a:rPr>
              <a:t>Daarna monitoren</a:t>
            </a:r>
          </a:p>
          <a:p>
            <a:pPr algn="l">
              <a:lnSpc>
                <a:spcPct val="120000"/>
              </a:lnSpc>
              <a:spcAft>
                <a:spcPts val="0"/>
              </a:spcAft>
            </a:pPr>
            <a:r>
              <a:rPr sz="1000" b="0">
                <a:solidFill>
                  <a:srgbClr val="55677C"/>
                </a:solidFill>
                <a:latin typeface="Calibri"/>
              </a:rPr>
              <a:t>instroom, stops, knelpunten, uren</a:t>
            </a:r>
          </a:p>
        </p:txBody>
      </p:sp>
      <p:sp>
        <p:nvSpPr>
          <p:cNvPr id="45" name="Rounded Rectangle 44"/>
          <p:cNvSpPr/>
          <p:nvPr/>
        </p:nvSpPr>
        <p:spPr>
          <a:xfrm>
            <a:off x="640080" y="5486400"/>
            <a:ext cx="10911535" cy="658368"/>
          </a:xfrm>
          <a:prstGeom prst="roundRect">
            <a:avLst>
              <a:gd name="adj" fmla="val 3000"/>
            </a:avLst>
          </a:prstGeom>
          <a:solidFill>
            <a:srgbClr val="EDEAE5"/>
          </a:solidFill>
          <a:ln w="15875">
            <a:solidFill>
              <a:srgbClr val="E1C8A3"/>
            </a:solidFill>
          </a:ln>
          <a:effectLst>
            <a:outerShdw blurRad="60000" dist="18000" dir="5400000" rotWithShape="0">
              <a:srgbClr val="1B3A5C">
                <a:alpha val="7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Rounded Rectangle 45"/>
          <p:cNvSpPr/>
          <p:nvPr/>
        </p:nvSpPr>
        <p:spPr>
          <a:xfrm>
            <a:off x="640080" y="5486400"/>
            <a:ext cx="50292" cy="658368"/>
          </a:xfrm>
          <a:prstGeom prst="roundRect">
            <a:avLst>
              <a:gd name="adj" fmla="val 50000"/>
            </a:avLst>
          </a:prstGeom>
          <a:solidFill>
            <a:srgbClr val="C87E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TextBox 46"/>
          <p:cNvSpPr txBox="1"/>
          <p:nvPr/>
        </p:nvSpPr>
        <p:spPr>
          <a:xfrm>
            <a:off x="969264" y="5568696"/>
            <a:ext cx="9997135" cy="493776"/>
          </a:xfrm>
          <a:prstGeom prst="rect">
            <a:avLst/>
          </a:prstGeom>
          <a:noFill/>
        </p:spPr>
        <p:txBody>
          <a:bodyPr wrap="square" lIns="0" rIns="0" tIns="0" bIns="0" anchor="ctr">
            <a:spAutoFit/>
          </a:bodyPr>
          <a:lstStyle/>
          <a:p>
            <a:pPr algn="l">
              <a:lnSpc>
                <a:spcPct val="120000"/>
              </a:lnSpc>
              <a:spcAft>
                <a:spcPts val="300"/>
              </a:spcAft>
            </a:pPr>
            <a:r>
              <a:rPr sz="950" b="1" spc="180">
                <a:solidFill>
                  <a:srgbClr val="C87E12"/>
                </a:solidFill>
                <a:latin typeface="Calibri"/>
              </a:rPr>
              <a:t>OPENSTAANDE VRAAG</a:t>
            </a:r>
          </a:p>
          <a:p>
            <a:pPr algn="l">
              <a:lnSpc>
                <a:spcPct val="120000"/>
              </a:lnSpc>
              <a:spcAft>
                <a:spcPts val="0"/>
              </a:spcAft>
            </a:pPr>
            <a:r>
              <a:rPr sz="1250" b="1">
                <a:solidFill>
                  <a:srgbClr val="0D1B2A"/>
                </a:solidFill>
                <a:latin typeface="Calibri"/>
              </a:rPr>
              <a:t>De personele planning loopt nu niet volledig via CPP, met name rond de acute poule.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FFFFFF"/>
              </a:gs>
              <a:gs pos="100000">
                <a:srgbClr val="F1F6FC"/>
              </a:gs>
            </a:gsLst>
            <a:lin scaled="0" ang="189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640080" y="566928"/>
            <a:ext cx="10911535" cy="219456"/>
          </a:xfrm>
          <a:prstGeom prst="rect">
            <a:avLst/>
          </a:prstGeom>
          <a:noFill/>
        </p:spPr>
        <p:txBody>
          <a:bodyPr wrap="square" lIns="0" rIns="0" tIns="0" bIns="0" anchor="t">
            <a:spAutoFit/>
          </a:bodyPr>
          <a:lstStyle/>
          <a:p>
            <a:pPr algn="l">
              <a:lnSpc>
                <a:spcPct val="120000"/>
              </a:lnSpc>
              <a:spcAft>
                <a:spcPts val="0"/>
              </a:spcAft>
            </a:pPr>
            <a:r>
              <a:rPr sz="1050" b="1" spc="220">
                <a:solidFill>
                  <a:srgbClr val="C4392D"/>
                </a:solidFill>
                <a:latin typeface="Calibri"/>
              </a:rPr>
              <a:t>DEEL 03  ·  ANALYSE 1</a:t>
            </a:r>
          </a:p>
        </p:txBody>
      </p:sp>
      <p:sp>
        <p:nvSpPr>
          <p:cNvPr id="4" name="TextBox 3"/>
          <p:cNvSpPr txBox="1"/>
          <p:nvPr/>
        </p:nvSpPr>
        <p:spPr>
          <a:xfrm>
            <a:off x="640080" y="859536"/>
            <a:ext cx="10911535" cy="566928"/>
          </a:xfrm>
          <a:prstGeom prst="rect">
            <a:avLst/>
          </a:prstGeom>
          <a:noFill/>
        </p:spPr>
        <p:txBody>
          <a:bodyPr wrap="square" lIns="0" rIns="0" tIns="0" bIns="0" anchor="t">
            <a:spAutoFit/>
          </a:bodyPr>
          <a:lstStyle/>
          <a:p>
            <a:pPr algn="l">
              <a:lnSpc>
                <a:spcPct val="120000"/>
              </a:lnSpc>
              <a:spcAft>
                <a:spcPts val="0"/>
              </a:spcAft>
            </a:pPr>
            <a:r>
              <a:rPr sz="3400" b="1">
                <a:solidFill>
                  <a:srgbClr val="0D1B2A"/>
                </a:solidFill>
                <a:latin typeface="Calibri"/>
              </a:rPr>
              <a:t>De acute poort</a:t>
            </a:r>
          </a:p>
        </p:txBody>
      </p:sp>
      <p:sp>
        <p:nvSpPr>
          <p:cNvPr id="5" name="TextBox 4"/>
          <p:cNvSpPr txBox="1"/>
          <p:nvPr/>
        </p:nvSpPr>
        <p:spPr>
          <a:xfrm>
            <a:off x="640080" y="1335024"/>
            <a:ext cx="8510997" cy="274320"/>
          </a:xfrm>
          <a:prstGeom prst="rect">
            <a:avLst/>
          </a:prstGeom>
          <a:noFill/>
        </p:spPr>
        <p:txBody>
          <a:bodyPr wrap="square" lIns="0" rIns="0" tIns="0" bIns="0" anchor="t">
            <a:spAutoFit/>
          </a:bodyPr>
          <a:lstStyle/>
          <a:p>
            <a:pPr algn="l">
              <a:lnSpc>
                <a:spcPct val="120000"/>
              </a:lnSpc>
              <a:spcAft>
                <a:spcPts val="0"/>
              </a:spcAft>
            </a:pPr>
            <a:r>
              <a:rPr sz="1300" b="0">
                <a:solidFill>
                  <a:srgbClr val="55677C"/>
                </a:solidFill>
                <a:latin typeface="Calibri"/>
              </a:rPr>
              <a:t>Drie stromen achter één poort</a:t>
            </a:r>
          </a:p>
        </p:txBody>
      </p:sp>
      <p:cxnSp>
        <p:nvCxnSpPr>
          <p:cNvPr id="6" name="Connector 5"/>
          <p:cNvCxnSpPr/>
          <p:nvPr/>
        </p:nvCxnSpPr>
        <p:spPr>
          <a:xfrm>
            <a:off x="640080" y="1609344"/>
            <a:ext cx="10911535" cy="0"/>
          </a:xfrm>
          <a:prstGeom prst="line">
            <a:avLst/>
          </a:prstGeom>
          <a:ln w="12700">
            <a:solidFill>
              <a:srgbClr val="E2E9F1"/>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640080" y="6291072"/>
            <a:ext cx="10911535" cy="0"/>
          </a:xfrm>
          <a:prstGeom prst="line">
            <a:avLst/>
          </a:prstGeom>
          <a:ln w="9525">
            <a:solidFill>
              <a:srgbClr val="E2E9F1"/>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40080" y="6382512"/>
            <a:ext cx="5486400" cy="237744"/>
          </a:xfrm>
          <a:prstGeom prst="rect">
            <a:avLst/>
          </a:prstGeom>
          <a:noFill/>
        </p:spPr>
        <p:txBody>
          <a:bodyPr wrap="square" lIns="0" rIns="0" tIns="0" bIns="0" anchor="t">
            <a:spAutoFit/>
          </a:bodyPr>
          <a:lstStyle/>
          <a:p>
            <a:pPr algn="l">
              <a:lnSpc>
                <a:spcPct val="120000"/>
              </a:lnSpc>
              <a:spcAft>
                <a:spcPts val="0"/>
              </a:spcAft>
            </a:pPr>
            <a:r>
              <a:rPr sz="900" b="0" spc="80">
                <a:solidFill>
                  <a:srgbClr val="8B9AAA"/>
                </a:solidFill>
                <a:latin typeface="Calibri"/>
              </a:rPr>
              <a:t>Acute poort en Hotfloor</a:t>
            </a:r>
          </a:p>
        </p:txBody>
      </p:sp>
      <p:sp>
        <p:nvSpPr>
          <p:cNvPr id="9" name="TextBox 8"/>
          <p:cNvSpPr txBox="1"/>
          <p:nvPr/>
        </p:nvSpPr>
        <p:spPr>
          <a:xfrm>
            <a:off x="10637215" y="6382512"/>
            <a:ext cx="914400" cy="237744"/>
          </a:xfrm>
          <a:prstGeom prst="rect">
            <a:avLst/>
          </a:prstGeom>
          <a:noFill/>
        </p:spPr>
        <p:txBody>
          <a:bodyPr wrap="square" lIns="0" rIns="0" tIns="0" bIns="0" anchor="t">
            <a:spAutoFit/>
          </a:bodyPr>
          <a:lstStyle/>
          <a:p>
            <a:pPr algn="r">
              <a:lnSpc>
                <a:spcPct val="120000"/>
              </a:lnSpc>
              <a:spcAft>
                <a:spcPts val="0"/>
              </a:spcAft>
            </a:pPr>
            <a:r>
              <a:rPr sz="950" b="1">
                <a:solidFill>
                  <a:srgbClr val="0E9A87"/>
                </a:solidFill>
                <a:latin typeface="Calibri"/>
              </a:rPr>
              <a:t>15</a:t>
            </a:r>
          </a:p>
        </p:txBody>
      </p:sp>
      <p:sp>
        <p:nvSpPr>
          <p:cNvPr id="10" name="Rounded Rectangle 9"/>
          <p:cNvSpPr/>
          <p:nvPr/>
        </p:nvSpPr>
        <p:spPr>
          <a:xfrm>
            <a:off x="640080" y="1700784"/>
            <a:ext cx="5943600" cy="1243584"/>
          </a:xfrm>
          <a:prstGeom prst="roundRect">
            <a:avLst>
              <a:gd name="adj" fmla="val 3000"/>
            </a:avLst>
          </a:prstGeom>
          <a:solidFill>
            <a:srgbClr val="EAD8DB"/>
          </a:solidFill>
          <a:ln w="15875">
            <a:solidFill>
              <a:srgbClr val="E0AEAD"/>
            </a:solidFill>
          </a:ln>
          <a:effectLst>
            <a:outerShdw blurRad="60000" dist="18000" dir="5400000" rotWithShape="0">
              <a:srgbClr val="1B3A5C">
                <a:alpha val="7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69264" y="1883664"/>
            <a:ext cx="5285232" cy="658368"/>
          </a:xfrm>
          <a:prstGeom prst="rect">
            <a:avLst/>
          </a:prstGeom>
          <a:noFill/>
        </p:spPr>
        <p:txBody>
          <a:bodyPr wrap="square" lIns="0" rIns="0" tIns="0" bIns="0" anchor="t">
            <a:spAutoFit/>
          </a:bodyPr>
          <a:lstStyle/>
          <a:p>
            <a:pPr algn="l">
              <a:lnSpc>
                <a:spcPct val="120000"/>
              </a:lnSpc>
              <a:spcAft>
                <a:spcPts val="0"/>
              </a:spcAft>
            </a:pPr>
            <a:r>
              <a:rPr sz="4000" b="1">
                <a:solidFill>
                  <a:srgbClr val="C4392D"/>
                </a:solidFill>
                <a:latin typeface="Calibri"/>
              </a:rPr>
              <a:t>Past niet</a:t>
            </a:r>
          </a:p>
        </p:txBody>
      </p:sp>
      <p:sp>
        <p:nvSpPr>
          <p:cNvPr id="12" name="TextBox 11"/>
          <p:cNvSpPr txBox="1"/>
          <p:nvPr/>
        </p:nvSpPr>
        <p:spPr>
          <a:xfrm>
            <a:off x="969264" y="2523744"/>
            <a:ext cx="5285232" cy="310896"/>
          </a:xfrm>
          <a:prstGeom prst="rect">
            <a:avLst/>
          </a:prstGeom>
          <a:noFill/>
        </p:spPr>
        <p:txBody>
          <a:bodyPr wrap="square" lIns="0" rIns="0" tIns="0" bIns="0" anchor="t">
            <a:spAutoFit/>
          </a:bodyPr>
          <a:lstStyle/>
          <a:p>
            <a:pPr algn="l">
              <a:lnSpc>
                <a:spcPct val="120000"/>
              </a:lnSpc>
              <a:spcAft>
                <a:spcPts val="0"/>
              </a:spcAft>
            </a:pPr>
            <a:r>
              <a:rPr sz="1250" b="0">
                <a:solidFill>
                  <a:srgbClr val="55677C"/>
                </a:solidFill>
                <a:latin typeface="Calibri"/>
              </a:rPr>
              <a:t>geanalyseerd voor kind, EHH en SEH samen</a:t>
            </a:r>
          </a:p>
        </p:txBody>
      </p:sp>
      <p:sp>
        <p:nvSpPr>
          <p:cNvPr id="13" name="Rounded Rectangle 12"/>
          <p:cNvSpPr/>
          <p:nvPr/>
        </p:nvSpPr>
        <p:spPr>
          <a:xfrm>
            <a:off x="640080" y="3163824"/>
            <a:ext cx="5943600" cy="603504"/>
          </a:xfrm>
          <a:prstGeom prst="roundRect">
            <a:avLst>
              <a:gd name="adj" fmla="val 3000"/>
            </a:avLst>
          </a:prstGeom>
          <a:solidFill>
            <a:srgbClr val="FFFFFF"/>
          </a:solidFill>
          <a:ln w="12700">
            <a:solidFill>
              <a:srgbClr val="E2E9F1"/>
            </a:solidFill>
          </a:ln>
          <a:effectLst>
            <a:outerShdw blurRad="70000" dist="22000" dir="5400000" rotWithShape="0">
              <a:srgbClr val="1B3A5C">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822960" y="3282696"/>
            <a:ext cx="365760" cy="365760"/>
          </a:xfrm>
          <a:prstGeom prst="ellipse">
            <a:avLst/>
          </a:prstGeom>
          <a:solidFill>
            <a:srgbClr val="C4392D">
              <a:alpha val="10000"/>
            </a:srgbClr>
          </a:solidFill>
          <a:ln w="15875">
            <a:solidFill>
              <a:srgbClr val="C4392D"/>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C4392D"/>
                </a:solidFill>
                <a:latin typeface="Calibri"/>
              </a:rPr>
              <a:t>1</a:t>
            </a:r>
          </a:p>
        </p:txBody>
      </p:sp>
      <p:sp>
        <p:nvSpPr>
          <p:cNvPr id="15" name="TextBox 14"/>
          <p:cNvSpPr txBox="1"/>
          <p:nvPr/>
        </p:nvSpPr>
        <p:spPr>
          <a:xfrm>
            <a:off x="1316736" y="3218688"/>
            <a:ext cx="4937760" cy="493776"/>
          </a:xfrm>
          <a:prstGeom prst="rect">
            <a:avLst/>
          </a:prstGeom>
          <a:noFill/>
        </p:spPr>
        <p:txBody>
          <a:bodyPr wrap="square" lIns="0" rIns="0" tIns="0" bIns="0" anchor="ctr">
            <a:spAutoFit/>
          </a:bodyPr>
          <a:lstStyle/>
          <a:p>
            <a:pPr algn="l">
              <a:lnSpc>
                <a:spcPct val="120000"/>
              </a:lnSpc>
              <a:spcAft>
                <a:spcPts val="100"/>
              </a:spcAft>
            </a:pPr>
            <a:r>
              <a:rPr sz="1250" b="1">
                <a:solidFill>
                  <a:srgbClr val="0D1B2A"/>
                </a:solidFill>
                <a:latin typeface="Calibri"/>
              </a:rPr>
              <a:t>Analyse op dag- en uurniveau</a:t>
            </a:r>
          </a:p>
          <a:p>
            <a:pPr algn="l">
              <a:lnSpc>
                <a:spcPct val="120000"/>
              </a:lnSpc>
              <a:spcAft>
                <a:spcPts val="0"/>
              </a:spcAft>
            </a:pPr>
            <a:r>
              <a:rPr sz="1000" b="0">
                <a:solidFill>
                  <a:srgbClr val="8B9AAA"/>
                </a:solidFill>
                <a:latin typeface="Calibri"/>
              </a:rPr>
              <a:t>instroompatroon per uur</a:t>
            </a:r>
          </a:p>
        </p:txBody>
      </p:sp>
      <p:sp>
        <p:nvSpPr>
          <p:cNvPr id="16" name="Rounded Rectangle 15"/>
          <p:cNvSpPr/>
          <p:nvPr/>
        </p:nvSpPr>
        <p:spPr>
          <a:xfrm>
            <a:off x="640080" y="3858768"/>
            <a:ext cx="5943600" cy="603504"/>
          </a:xfrm>
          <a:prstGeom prst="roundRect">
            <a:avLst>
              <a:gd name="adj" fmla="val 3000"/>
            </a:avLst>
          </a:prstGeom>
          <a:solidFill>
            <a:srgbClr val="FFFFFF"/>
          </a:solidFill>
          <a:ln w="12700">
            <a:solidFill>
              <a:srgbClr val="E2E9F1"/>
            </a:solidFill>
          </a:ln>
          <a:effectLst>
            <a:outerShdw blurRad="70000" dist="22000" dir="5400000" rotWithShape="0">
              <a:srgbClr val="1B3A5C">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822960" y="3977639"/>
            <a:ext cx="365760" cy="365760"/>
          </a:xfrm>
          <a:prstGeom prst="ellipse">
            <a:avLst/>
          </a:prstGeom>
          <a:solidFill>
            <a:srgbClr val="C4392D">
              <a:alpha val="10000"/>
            </a:srgbClr>
          </a:solidFill>
          <a:ln w="15875">
            <a:solidFill>
              <a:srgbClr val="C4392D"/>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C4392D"/>
                </a:solidFill>
                <a:latin typeface="Calibri"/>
              </a:rPr>
              <a:t>2</a:t>
            </a:r>
          </a:p>
        </p:txBody>
      </p:sp>
      <p:sp>
        <p:nvSpPr>
          <p:cNvPr id="18" name="TextBox 17"/>
          <p:cNvSpPr txBox="1"/>
          <p:nvPr/>
        </p:nvSpPr>
        <p:spPr>
          <a:xfrm>
            <a:off x="1316736" y="3913631"/>
            <a:ext cx="4937760" cy="493776"/>
          </a:xfrm>
          <a:prstGeom prst="rect">
            <a:avLst/>
          </a:prstGeom>
          <a:noFill/>
        </p:spPr>
        <p:txBody>
          <a:bodyPr wrap="square" lIns="0" rIns="0" tIns="0" bIns="0" anchor="ctr">
            <a:spAutoFit/>
          </a:bodyPr>
          <a:lstStyle/>
          <a:p>
            <a:pPr algn="l">
              <a:lnSpc>
                <a:spcPct val="120000"/>
              </a:lnSpc>
              <a:spcAft>
                <a:spcPts val="100"/>
              </a:spcAft>
            </a:pPr>
            <a:r>
              <a:rPr sz="1250" b="1">
                <a:solidFill>
                  <a:srgbClr val="0D1B2A"/>
                </a:solidFill>
                <a:latin typeface="Calibri"/>
              </a:rPr>
              <a:t>Jaarpatroon in beeld gebracht</a:t>
            </a:r>
          </a:p>
          <a:p>
            <a:pPr algn="l">
              <a:lnSpc>
                <a:spcPct val="120000"/>
              </a:lnSpc>
              <a:spcAft>
                <a:spcPts val="0"/>
              </a:spcAft>
            </a:pPr>
            <a:r>
              <a:rPr sz="1000" b="0">
                <a:solidFill>
                  <a:srgbClr val="8B9AAA"/>
                </a:solidFill>
                <a:latin typeface="Calibri"/>
              </a:rPr>
              <a:t>seizoensinvloed zichtbaar</a:t>
            </a:r>
          </a:p>
        </p:txBody>
      </p:sp>
      <p:sp>
        <p:nvSpPr>
          <p:cNvPr id="19" name="Rounded Rectangle 18"/>
          <p:cNvSpPr/>
          <p:nvPr/>
        </p:nvSpPr>
        <p:spPr>
          <a:xfrm>
            <a:off x="640080" y="4553712"/>
            <a:ext cx="5943600" cy="603504"/>
          </a:xfrm>
          <a:prstGeom prst="roundRect">
            <a:avLst>
              <a:gd name="adj" fmla="val 3000"/>
            </a:avLst>
          </a:prstGeom>
          <a:solidFill>
            <a:srgbClr val="FFFFFF"/>
          </a:solidFill>
          <a:ln w="12700">
            <a:solidFill>
              <a:srgbClr val="E2E9F1"/>
            </a:solidFill>
          </a:ln>
          <a:effectLst>
            <a:outerShdw blurRad="70000" dist="22000" dir="5400000" rotWithShape="0">
              <a:srgbClr val="1B3A5C">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822960" y="4672583"/>
            <a:ext cx="365760" cy="365760"/>
          </a:xfrm>
          <a:prstGeom prst="ellipse">
            <a:avLst/>
          </a:prstGeom>
          <a:solidFill>
            <a:srgbClr val="C4392D">
              <a:alpha val="10000"/>
            </a:srgbClr>
          </a:solidFill>
          <a:ln w="15875">
            <a:solidFill>
              <a:srgbClr val="C4392D"/>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C4392D"/>
                </a:solidFill>
                <a:latin typeface="Calibri"/>
              </a:rPr>
              <a:t>3</a:t>
            </a:r>
          </a:p>
        </p:txBody>
      </p:sp>
      <p:sp>
        <p:nvSpPr>
          <p:cNvPr id="21" name="TextBox 20"/>
          <p:cNvSpPr txBox="1"/>
          <p:nvPr/>
        </p:nvSpPr>
        <p:spPr>
          <a:xfrm>
            <a:off x="1316736" y="4608575"/>
            <a:ext cx="4937760" cy="493776"/>
          </a:xfrm>
          <a:prstGeom prst="rect">
            <a:avLst/>
          </a:prstGeom>
          <a:noFill/>
        </p:spPr>
        <p:txBody>
          <a:bodyPr wrap="square" lIns="0" rIns="0" tIns="0" bIns="0" anchor="ctr">
            <a:spAutoFit/>
          </a:bodyPr>
          <a:lstStyle/>
          <a:p>
            <a:pPr algn="l">
              <a:lnSpc>
                <a:spcPct val="120000"/>
              </a:lnSpc>
              <a:spcAft>
                <a:spcPts val="100"/>
              </a:spcAft>
            </a:pPr>
            <a:r>
              <a:rPr sz="1250" b="1">
                <a:solidFill>
                  <a:srgbClr val="0D1B2A"/>
                </a:solidFill>
                <a:latin typeface="Calibri"/>
              </a:rPr>
              <a:t>Data beschikbaar</a:t>
            </a:r>
          </a:p>
          <a:p>
            <a:pPr algn="l">
              <a:lnSpc>
                <a:spcPct val="120000"/>
              </a:lnSpc>
              <a:spcAft>
                <a:spcPts val="0"/>
              </a:spcAft>
            </a:pPr>
            <a:r>
              <a:rPr sz="1000" b="0">
                <a:solidFill>
                  <a:srgbClr val="8B9AAA"/>
                </a:solidFill>
                <a:latin typeface="Calibri"/>
              </a:rPr>
              <a:t>met verschillende scenario's</a:t>
            </a:r>
          </a:p>
        </p:txBody>
      </p:sp>
      <p:sp>
        <p:nvSpPr>
          <p:cNvPr id="22" name="Rounded Rectangle 21"/>
          <p:cNvSpPr/>
          <p:nvPr/>
        </p:nvSpPr>
        <p:spPr>
          <a:xfrm>
            <a:off x="6949440" y="1700784"/>
            <a:ext cx="4602175" cy="3072384"/>
          </a:xfrm>
          <a:prstGeom prst="roundRect">
            <a:avLst>
              <a:gd name="adj" fmla="val 3000"/>
            </a:avLst>
          </a:prstGeom>
          <a:solidFill>
            <a:srgbClr val="FFFFFF"/>
          </a:solidFill>
          <a:ln w="12700">
            <a:solidFill>
              <a:srgbClr val="E2E9F1"/>
            </a:solidFill>
          </a:ln>
          <a:effectLst>
            <a:outerShdw blurRad="70000" dist="22000" dir="5400000" rotWithShape="0">
              <a:srgbClr val="1B3A5C">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7205472" y="1920240"/>
            <a:ext cx="4090111" cy="219456"/>
          </a:xfrm>
          <a:prstGeom prst="rect">
            <a:avLst/>
          </a:prstGeom>
          <a:noFill/>
        </p:spPr>
        <p:txBody>
          <a:bodyPr wrap="square" lIns="0" rIns="0" tIns="0" bIns="0" anchor="t">
            <a:spAutoFit/>
          </a:bodyPr>
          <a:lstStyle/>
          <a:p>
            <a:pPr algn="l">
              <a:lnSpc>
                <a:spcPct val="120000"/>
              </a:lnSpc>
              <a:spcAft>
                <a:spcPts val="0"/>
              </a:spcAft>
            </a:pPr>
            <a:r>
              <a:rPr sz="950" b="1" spc="220">
                <a:solidFill>
                  <a:srgbClr val="8B9AAA"/>
                </a:solidFill>
                <a:latin typeface="Calibri"/>
              </a:rPr>
              <a:t>DE DRIE STROMEN</a:t>
            </a:r>
          </a:p>
        </p:txBody>
      </p:sp>
      <p:sp>
        <p:nvSpPr>
          <p:cNvPr id="24" name="Rounded Rectangle 23"/>
          <p:cNvSpPr/>
          <p:nvPr/>
        </p:nvSpPr>
        <p:spPr>
          <a:xfrm>
            <a:off x="7187184" y="2304288"/>
            <a:ext cx="4126687" cy="658368"/>
          </a:xfrm>
          <a:prstGeom prst="roundRect">
            <a:avLst>
              <a:gd name="adj" fmla="val 3000"/>
            </a:avLst>
          </a:prstGeom>
          <a:solidFill>
            <a:srgbClr val="F6F9FD"/>
          </a:solidFill>
          <a:ln w="12700">
            <a:solidFill>
              <a:srgbClr val="C6D6E6"/>
            </a:solidFill>
          </a:ln>
          <a:effectLst>
            <a:outerShdw blurRad="70000" dist="22000" dir="5400000" rotWithShape="0">
              <a:srgbClr val="1B3A5C">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7370064" y="2359152"/>
            <a:ext cx="3760927" cy="548640"/>
          </a:xfrm>
          <a:prstGeom prst="rect">
            <a:avLst/>
          </a:prstGeom>
          <a:noFill/>
        </p:spPr>
        <p:txBody>
          <a:bodyPr wrap="square" lIns="0" rIns="0" tIns="0" bIns="0" anchor="ctr">
            <a:spAutoFit/>
          </a:bodyPr>
          <a:lstStyle/>
          <a:p>
            <a:pPr algn="l">
              <a:lnSpc>
                <a:spcPct val="120000"/>
              </a:lnSpc>
              <a:spcAft>
                <a:spcPts val="100"/>
              </a:spcAft>
            </a:pPr>
            <a:r>
              <a:rPr sz="1250" b="1">
                <a:solidFill>
                  <a:srgbClr val="1F6FB2"/>
                </a:solidFill>
                <a:latin typeface="Calibri"/>
              </a:rPr>
              <a:t>kind spoed</a:t>
            </a:r>
          </a:p>
          <a:p>
            <a:pPr algn="l">
              <a:lnSpc>
                <a:spcPct val="120000"/>
              </a:lnSpc>
              <a:spcAft>
                <a:spcPts val="0"/>
              </a:spcAft>
            </a:pPr>
            <a:r>
              <a:rPr sz="1000" b="0">
                <a:solidFill>
                  <a:srgbClr val="55677C"/>
                </a:solidFill>
                <a:latin typeface="Calibri"/>
              </a:rPr>
              <a:t>eigen stroom</a:t>
            </a:r>
          </a:p>
        </p:txBody>
      </p:sp>
      <p:sp>
        <p:nvSpPr>
          <p:cNvPr id="26" name="Rounded Rectangle 25"/>
          <p:cNvSpPr/>
          <p:nvPr/>
        </p:nvSpPr>
        <p:spPr>
          <a:xfrm>
            <a:off x="7187184" y="3072384"/>
            <a:ext cx="4126687" cy="658368"/>
          </a:xfrm>
          <a:prstGeom prst="roundRect">
            <a:avLst>
              <a:gd name="adj" fmla="val 3000"/>
            </a:avLst>
          </a:prstGeom>
          <a:solidFill>
            <a:srgbClr val="F6F9FD"/>
          </a:solidFill>
          <a:ln w="12700">
            <a:solidFill>
              <a:srgbClr val="C6D6E6"/>
            </a:solidFill>
          </a:ln>
          <a:effectLst>
            <a:outerShdw blurRad="70000" dist="22000" dir="5400000" rotWithShape="0">
              <a:srgbClr val="1B3A5C">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370064" y="3127248"/>
            <a:ext cx="3760927" cy="548640"/>
          </a:xfrm>
          <a:prstGeom prst="rect">
            <a:avLst/>
          </a:prstGeom>
          <a:noFill/>
        </p:spPr>
        <p:txBody>
          <a:bodyPr wrap="square" lIns="0" rIns="0" tIns="0" bIns="0" anchor="ctr">
            <a:spAutoFit/>
          </a:bodyPr>
          <a:lstStyle/>
          <a:p>
            <a:pPr algn="l">
              <a:lnSpc>
                <a:spcPct val="120000"/>
              </a:lnSpc>
              <a:spcAft>
                <a:spcPts val="100"/>
              </a:spcAft>
            </a:pPr>
            <a:r>
              <a:rPr sz="1250" b="1">
                <a:solidFill>
                  <a:srgbClr val="6B4BA8"/>
                </a:solidFill>
                <a:latin typeface="Calibri"/>
              </a:rPr>
              <a:t>EHH</a:t>
            </a:r>
          </a:p>
          <a:p>
            <a:pPr algn="l">
              <a:lnSpc>
                <a:spcPct val="120000"/>
              </a:lnSpc>
              <a:spcAft>
                <a:spcPts val="0"/>
              </a:spcAft>
            </a:pPr>
            <a:r>
              <a:rPr sz="1000" b="0">
                <a:solidFill>
                  <a:srgbClr val="55677C"/>
                </a:solidFill>
                <a:latin typeface="Calibri"/>
              </a:rPr>
              <a:t>eigen stroom</a:t>
            </a:r>
          </a:p>
        </p:txBody>
      </p:sp>
      <p:sp>
        <p:nvSpPr>
          <p:cNvPr id="28" name="Rounded Rectangle 27"/>
          <p:cNvSpPr/>
          <p:nvPr/>
        </p:nvSpPr>
        <p:spPr>
          <a:xfrm>
            <a:off x="7187184" y="3840480"/>
            <a:ext cx="4126687" cy="658368"/>
          </a:xfrm>
          <a:prstGeom prst="roundRect">
            <a:avLst>
              <a:gd name="adj" fmla="val 3000"/>
            </a:avLst>
          </a:prstGeom>
          <a:solidFill>
            <a:srgbClr val="F6F9FD"/>
          </a:solidFill>
          <a:ln w="12700">
            <a:solidFill>
              <a:srgbClr val="C6D6E6"/>
            </a:solidFill>
          </a:ln>
          <a:effectLst>
            <a:outerShdw blurRad="70000" dist="22000" dir="5400000" rotWithShape="0">
              <a:srgbClr val="1B3A5C">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7370064" y="3895344"/>
            <a:ext cx="3760927" cy="548640"/>
          </a:xfrm>
          <a:prstGeom prst="rect">
            <a:avLst/>
          </a:prstGeom>
          <a:noFill/>
        </p:spPr>
        <p:txBody>
          <a:bodyPr wrap="square" lIns="0" rIns="0" tIns="0" bIns="0" anchor="ctr">
            <a:spAutoFit/>
          </a:bodyPr>
          <a:lstStyle/>
          <a:p>
            <a:pPr algn="l">
              <a:lnSpc>
                <a:spcPct val="120000"/>
              </a:lnSpc>
              <a:spcAft>
                <a:spcPts val="100"/>
              </a:spcAft>
            </a:pPr>
            <a:r>
              <a:rPr sz="1250" b="1">
                <a:solidFill>
                  <a:srgbClr val="0E9A87"/>
                </a:solidFill>
                <a:latin typeface="Calibri"/>
              </a:rPr>
              <a:t>SEH</a:t>
            </a:r>
          </a:p>
          <a:p>
            <a:pPr algn="l">
              <a:lnSpc>
                <a:spcPct val="120000"/>
              </a:lnSpc>
              <a:spcAft>
                <a:spcPts val="0"/>
              </a:spcAft>
            </a:pPr>
            <a:r>
              <a:rPr sz="1000" b="0">
                <a:solidFill>
                  <a:srgbClr val="55677C"/>
                </a:solidFill>
                <a:latin typeface="Calibri"/>
              </a:rPr>
              <a:t>eigen stroom</a:t>
            </a:r>
          </a:p>
        </p:txBody>
      </p:sp>
      <p:sp>
        <p:nvSpPr>
          <p:cNvPr id="30" name="Rounded Rectangle 29"/>
          <p:cNvSpPr/>
          <p:nvPr/>
        </p:nvSpPr>
        <p:spPr>
          <a:xfrm>
            <a:off x="640080" y="5358383"/>
            <a:ext cx="10911535" cy="786384"/>
          </a:xfrm>
          <a:prstGeom prst="roundRect">
            <a:avLst>
              <a:gd name="adj" fmla="val 3000"/>
            </a:avLst>
          </a:prstGeom>
          <a:solidFill>
            <a:srgbClr val="ECE3E7"/>
          </a:solidFill>
          <a:ln w="15875">
            <a:solidFill>
              <a:srgbClr val="E0AEAD"/>
            </a:solidFill>
          </a:ln>
          <a:effectLst>
            <a:outerShdw blurRad="60000" dist="18000" dir="5400000" rotWithShape="0">
              <a:srgbClr val="1B3A5C">
                <a:alpha val="7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ounded Rectangle 30"/>
          <p:cNvSpPr/>
          <p:nvPr/>
        </p:nvSpPr>
        <p:spPr>
          <a:xfrm>
            <a:off x="640080" y="5358383"/>
            <a:ext cx="50292" cy="786384"/>
          </a:xfrm>
          <a:prstGeom prst="roundRect">
            <a:avLst>
              <a:gd name="adj" fmla="val 50000"/>
            </a:avLst>
          </a:prstGeom>
          <a:solidFill>
            <a:srgbClr val="C439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969264" y="5440679"/>
            <a:ext cx="9997135" cy="621792"/>
          </a:xfrm>
          <a:prstGeom prst="rect">
            <a:avLst/>
          </a:prstGeom>
          <a:noFill/>
        </p:spPr>
        <p:txBody>
          <a:bodyPr wrap="square" lIns="0" rIns="0" tIns="0" bIns="0" anchor="ctr">
            <a:spAutoFit/>
          </a:bodyPr>
          <a:lstStyle/>
          <a:p>
            <a:pPr algn="l">
              <a:lnSpc>
                <a:spcPct val="120000"/>
              </a:lnSpc>
              <a:spcAft>
                <a:spcPts val="300"/>
              </a:spcAft>
            </a:pPr>
            <a:r>
              <a:rPr sz="950" b="1" spc="180">
                <a:solidFill>
                  <a:srgbClr val="C4392D"/>
                </a:solidFill>
                <a:latin typeface="Calibri"/>
              </a:rPr>
              <a:t>DOEL EN VERVOLG</a:t>
            </a:r>
          </a:p>
          <a:p>
            <a:pPr algn="l">
              <a:lnSpc>
                <a:spcPct val="120000"/>
              </a:lnSpc>
              <a:spcAft>
                <a:spcPts val="0"/>
              </a:spcAft>
            </a:pPr>
            <a:r>
              <a:rPr sz="1250" b="1">
                <a:solidFill>
                  <a:srgbClr val="0D1B2A"/>
                </a:solidFill>
                <a:latin typeface="Calibri"/>
              </a:rPr>
              <a:t>De zorg passend maken op de fysieke nieuwe SEH. De analyse is gedeeld — welke acties volgen eruit, en wie pakt ze op?</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FFFFFF"/>
              </a:gs>
              <a:gs pos="100000">
                <a:srgbClr val="F1F6FC"/>
              </a:gs>
            </a:gsLst>
            <a:lin scaled="0" ang="189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640080" y="566928"/>
            <a:ext cx="10911535" cy="219456"/>
          </a:xfrm>
          <a:prstGeom prst="rect">
            <a:avLst/>
          </a:prstGeom>
          <a:noFill/>
        </p:spPr>
        <p:txBody>
          <a:bodyPr wrap="square" lIns="0" rIns="0" tIns="0" bIns="0" anchor="t">
            <a:spAutoFit/>
          </a:bodyPr>
          <a:lstStyle/>
          <a:p>
            <a:pPr algn="l">
              <a:lnSpc>
                <a:spcPct val="120000"/>
              </a:lnSpc>
              <a:spcAft>
                <a:spcPts val="0"/>
              </a:spcAft>
            </a:pPr>
            <a:r>
              <a:rPr sz="1050" b="1" spc="220">
                <a:solidFill>
                  <a:srgbClr val="0E9A87"/>
                </a:solidFill>
                <a:latin typeface="Calibri"/>
              </a:rPr>
              <a:t>DEEL 03  ·  ANALYSE 2</a:t>
            </a:r>
          </a:p>
        </p:txBody>
      </p:sp>
      <p:sp>
        <p:nvSpPr>
          <p:cNvPr id="4" name="TextBox 3"/>
          <p:cNvSpPr txBox="1"/>
          <p:nvPr/>
        </p:nvSpPr>
        <p:spPr>
          <a:xfrm>
            <a:off x="640080" y="859536"/>
            <a:ext cx="10911535" cy="566928"/>
          </a:xfrm>
          <a:prstGeom prst="rect">
            <a:avLst/>
          </a:prstGeom>
          <a:noFill/>
        </p:spPr>
        <p:txBody>
          <a:bodyPr wrap="square" lIns="0" rIns="0" tIns="0" bIns="0" anchor="t">
            <a:spAutoFit/>
          </a:bodyPr>
          <a:lstStyle/>
          <a:p>
            <a:pPr algn="l">
              <a:lnSpc>
                <a:spcPct val="120000"/>
              </a:lnSpc>
              <a:spcAft>
                <a:spcPts val="0"/>
              </a:spcAft>
            </a:pPr>
            <a:r>
              <a:rPr sz="3400" b="1">
                <a:solidFill>
                  <a:srgbClr val="0D1B2A"/>
                </a:solidFill>
                <a:latin typeface="Calibri"/>
              </a:rPr>
              <a:t>De Hotfloor</a:t>
            </a:r>
          </a:p>
        </p:txBody>
      </p:sp>
      <p:sp>
        <p:nvSpPr>
          <p:cNvPr id="5" name="TextBox 4"/>
          <p:cNvSpPr txBox="1"/>
          <p:nvPr/>
        </p:nvSpPr>
        <p:spPr>
          <a:xfrm>
            <a:off x="640080" y="1335024"/>
            <a:ext cx="8510997" cy="274320"/>
          </a:xfrm>
          <a:prstGeom prst="rect">
            <a:avLst/>
          </a:prstGeom>
          <a:noFill/>
        </p:spPr>
        <p:txBody>
          <a:bodyPr wrap="square" lIns="0" rIns="0" tIns="0" bIns="0" anchor="t">
            <a:spAutoFit/>
          </a:bodyPr>
          <a:lstStyle/>
          <a:p>
            <a:pPr algn="l">
              <a:lnSpc>
                <a:spcPct val="120000"/>
              </a:lnSpc>
              <a:spcAft>
                <a:spcPts val="0"/>
              </a:spcAft>
            </a:pPr>
            <a:r>
              <a:rPr sz="1300" b="0">
                <a:solidFill>
                  <a:srgbClr val="55677C"/>
                </a:solidFill>
                <a:latin typeface="Calibri"/>
              </a:rPr>
              <a:t>ICU, CCU en SCU samen op één vloer</a:t>
            </a:r>
          </a:p>
        </p:txBody>
      </p:sp>
      <p:cxnSp>
        <p:nvCxnSpPr>
          <p:cNvPr id="6" name="Connector 5"/>
          <p:cNvCxnSpPr/>
          <p:nvPr/>
        </p:nvCxnSpPr>
        <p:spPr>
          <a:xfrm>
            <a:off x="640080" y="1609344"/>
            <a:ext cx="10911535" cy="0"/>
          </a:xfrm>
          <a:prstGeom prst="line">
            <a:avLst/>
          </a:prstGeom>
          <a:ln w="12700">
            <a:solidFill>
              <a:srgbClr val="E2E9F1"/>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640080" y="6291072"/>
            <a:ext cx="10911535" cy="0"/>
          </a:xfrm>
          <a:prstGeom prst="line">
            <a:avLst/>
          </a:prstGeom>
          <a:ln w="9525">
            <a:solidFill>
              <a:srgbClr val="E2E9F1"/>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40080" y="6382512"/>
            <a:ext cx="5486400" cy="237744"/>
          </a:xfrm>
          <a:prstGeom prst="rect">
            <a:avLst/>
          </a:prstGeom>
          <a:noFill/>
        </p:spPr>
        <p:txBody>
          <a:bodyPr wrap="square" lIns="0" rIns="0" tIns="0" bIns="0" anchor="t">
            <a:spAutoFit/>
          </a:bodyPr>
          <a:lstStyle/>
          <a:p>
            <a:pPr algn="l">
              <a:lnSpc>
                <a:spcPct val="120000"/>
              </a:lnSpc>
              <a:spcAft>
                <a:spcPts val="0"/>
              </a:spcAft>
            </a:pPr>
            <a:r>
              <a:rPr sz="900" b="0" spc="80">
                <a:solidFill>
                  <a:srgbClr val="8B9AAA"/>
                </a:solidFill>
                <a:latin typeface="Calibri"/>
              </a:rPr>
              <a:t>Acute poort en Hotfloor</a:t>
            </a:r>
          </a:p>
        </p:txBody>
      </p:sp>
      <p:sp>
        <p:nvSpPr>
          <p:cNvPr id="9" name="TextBox 8"/>
          <p:cNvSpPr txBox="1"/>
          <p:nvPr/>
        </p:nvSpPr>
        <p:spPr>
          <a:xfrm>
            <a:off x="10637215" y="6382512"/>
            <a:ext cx="914400" cy="237744"/>
          </a:xfrm>
          <a:prstGeom prst="rect">
            <a:avLst/>
          </a:prstGeom>
          <a:noFill/>
        </p:spPr>
        <p:txBody>
          <a:bodyPr wrap="square" lIns="0" rIns="0" tIns="0" bIns="0" anchor="t">
            <a:spAutoFit/>
          </a:bodyPr>
          <a:lstStyle/>
          <a:p>
            <a:pPr algn="r">
              <a:lnSpc>
                <a:spcPct val="120000"/>
              </a:lnSpc>
              <a:spcAft>
                <a:spcPts val="0"/>
              </a:spcAft>
            </a:pPr>
            <a:r>
              <a:rPr sz="950" b="1">
                <a:solidFill>
                  <a:srgbClr val="0E9A87"/>
                </a:solidFill>
                <a:latin typeface="Calibri"/>
              </a:rPr>
              <a:t>16</a:t>
            </a:r>
          </a:p>
        </p:txBody>
      </p:sp>
      <p:sp>
        <p:nvSpPr>
          <p:cNvPr id="10" name="Rounded Rectangle 9"/>
          <p:cNvSpPr/>
          <p:nvPr/>
        </p:nvSpPr>
        <p:spPr>
          <a:xfrm>
            <a:off x="640080" y="1700784"/>
            <a:ext cx="5943600" cy="1243584"/>
          </a:xfrm>
          <a:prstGeom prst="roundRect">
            <a:avLst>
              <a:gd name="adj" fmla="val 3000"/>
            </a:avLst>
          </a:prstGeom>
          <a:solidFill>
            <a:srgbClr val="CDE7E9"/>
          </a:solidFill>
          <a:ln w="15875">
            <a:solidFill>
              <a:srgbClr val="9BD3D0"/>
            </a:solidFill>
          </a:ln>
          <a:effectLst>
            <a:outerShdw blurRad="60000" dist="18000" dir="5400000" rotWithShape="0">
              <a:srgbClr val="1B3A5C">
                <a:alpha val="7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69264" y="1883664"/>
            <a:ext cx="5285232" cy="658368"/>
          </a:xfrm>
          <a:prstGeom prst="rect">
            <a:avLst/>
          </a:prstGeom>
          <a:noFill/>
        </p:spPr>
        <p:txBody>
          <a:bodyPr wrap="square" lIns="0" rIns="0" tIns="0" bIns="0" anchor="t">
            <a:spAutoFit/>
          </a:bodyPr>
          <a:lstStyle/>
          <a:p>
            <a:pPr algn="l">
              <a:lnSpc>
                <a:spcPct val="120000"/>
              </a:lnSpc>
              <a:spcAft>
                <a:spcPts val="0"/>
              </a:spcAft>
            </a:pPr>
            <a:r>
              <a:rPr sz="4000" b="1">
                <a:solidFill>
                  <a:srgbClr val="0E9A87"/>
                </a:solidFill>
                <a:latin typeface="Calibri"/>
              </a:rPr>
              <a:t>Past wel</a:t>
            </a:r>
          </a:p>
        </p:txBody>
      </p:sp>
      <p:sp>
        <p:nvSpPr>
          <p:cNvPr id="12" name="TextBox 11"/>
          <p:cNvSpPr txBox="1"/>
          <p:nvPr/>
        </p:nvSpPr>
        <p:spPr>
          <a:xfrm>
            <a:off x="969264" y="2523744"/>
            <a:ext cx="5285232" cy="310896"/>
          </a:xfrm>
          <a:prstGeom prst="rect">
            <a:avLst/>
          </a:prstGeom>
          <a:noFill/>
        </p:spPr>
        <p:txBody>
          <a:bodyPr wrap="square" lIns="0" rIns="0" tIns="0" bIns="0" anchor="t">
            <a:spAutoFit/>
          </a:bodyPr>
          <a:lstStyle/>
          <a:p>
            <a:pPr algn="l">
              <a:lnSpc>
                <a:spcPct val="120000"/>
              </a:lnSpc>
              <a:spcAft>
                <a:spcPts val="0"/>
              </a:spcAft>
            </a:pPr>
            <a:r>
              <a:rPr sz="1250" b="0">
                <a:solidFill>
                  <a:srgbClr val="55677C"/>
                </a:solidFill>
                <a:latin typeface="Calibri"/>
              </a:rPr>
              <a:t>op zestien bedden</a:t>
            </a:r>
          </a:p>
        </p:txBody>
      </p:sp>
      <p:sp>
        <p:nvSpPr>
          <p:cNvPr id="13" name="Rounded Rectangle 12"/>
          <p:cNvSpPr/>
          <p:nvPr/>
        </p:nvSpPr>
        <p:spPr>
          <a:xfrm>
            <a:off x="640080" y="3163824"/>
            <a:ext cx="5943600" cy="603504"/>
          </a:xfrm>
          <a:prstGeom prst="roundRect">
            <a:avLst>
              <a:gd name="adj" fmla="val 3000"/>
            </a:avLst>
          </a:prstGeom>
          <a:solidFill>
            <a:srgbClr val="FFFFFF"/>
          </a:solidFill>
          <a:ln w="12700">
            <a:solidFill>
              <a:srgbClr val="E2E9F1"/>
            </a:solidFill>
          </a:ln>
          <a:effectLst>
            <a:outerShdw blurRad="70000" dist="22000" dir="5400000" rotWithShape="0">
              <a:srgbClr val="1B3A5C">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822960" y="3282696"/>
            <a:ext cx="365760" cy="365760"/>
          </a:xfrm>
          <a:prstGeom prst="ellipse">
            <a:avLst/>
          </a:prstGeom>
          <a:solidFill>
            <a:srgbClr val="0E9A87">
              <a:alpha val="10000"/>
            </a:srgbClr>
          </a:solidFill>
          <a:ln w="15875">
            <a:solidFill>
              <a:srgbClr val="0E9A87"/>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0E9A87"/>
                </a:solidFill>
                <a:latin typeface="Calibri"/>
              </a:rPr>
              <a:t>1</a:t>
            </a:r>
          </a:p>
        </p:txBody>
      </p:sp>
      <p:sp>
        <p:nvSpPr>
          <p:cNvPr id="15" name="TextBox 14"/>
          <p:cNvSpPr txBox="1"/>
          <p:nvPr/>
        </p:nvSpPr>
        <p:spPr>
          <a:xfrm>
            <a:off x="1316736" y="3218688"/>
            <a:ext cx="4937760" cy="493776"/>
          </a:xfrm>
          <a:prstGeom prst="rect">
            <a:avLst/>
          </a:prstGeom>
          <a:noFill/>
        </p:spPr>
        <p:txBody>
          <a:bodyPr wrap="square" lIns="0" rIns="0" tIns="0" bIns="0" anchor="ctr">
            <a:spAutoFit/>
          </a:bodyPr>
          <a:lstStyle/>
          <a:p>
            <a:pPr algn="l">
              <a:lnSpc>
                <a:spcPct val="120000"/>
              </a:lnSpc>
              <a:spcAft>
                <a:spcPts val="100"/>
              </a:spcAft>
            </a:pPr>
            <a:r>
              <a:rPr sz="1250" b="1">
                <a:solidFill>
                  <a:srgbClr val="0D1B2A"/>
                </a:solidFill>
                <a:latin typeface="Calibri"/>
              </a:rPr>
              <a:t>Weigerkans onbekend</a:t>
            </a:r>
          </a:p>
          <a:p>
            <a:pPr algn="l">
              <a:lnSpc>
                <a:spcPct val="120000"/>
              </a:lnSpc>
              <a:spcAft>
                <a:spcPts val="0"/>
              </a:spcAft>
            </a:pPr>
            <a:r>
              <a:rPr sz="1000" b="0">
                <a:solidFill>
                  <a:srgbClr val="8B9AAA"/>
                </a:solidFill>
                <a:latin typeface="Calibri"/>
              </a:rPr>
              <a:t>het risico is niet becijferd</a:t>
            </a:r>
          </a:p>
        </p:txBody>
      </p:sp>
      <p:sp>
        <p:nvSpPr>
          <p:cNvPr id="16" name="Rounded Rectangle 15"/>
          <p:cNvSpPr/>
          <p:nvPr/>
        </p:nvSpPr>
        <p:spPr>
          <a:xfrm>
            <a:off x="640080" y="3858768"/>
            <a:ext cx="5943600" cy="603504"/>
          </a:xfrm>
          <a:prstGeom prst="roundRect">
            <a:avLst>
              <a:gd name="adj" fmla="val 3000"/>
            </a:avLst>
          </a:prstGeom>
          <a:solidFill>
            <a:srgbClr val="FFFFFF"/>
          </a:solidFill>
          <a:ln w="12700">
            <a:solidFill>
              <a:srgbClr val="E2E9F1"/>
            </a:solidFill>
          </a:ln>
          <a:effectLst>
            <a:outerShdw blurRad="70000" dist="22000" dir="5400000" rotWithShape="0">
              <a:srgbClr val="1B3A5C">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822960" y="3977639"/>
            <a:ext cx="365760" cy="365760"/>
          </a:xfrm>
          <a:prstGeom prst="ellipse">
            <a:avLst/>
          </a:prstGeom>
          <a:solidFill>
            <a:srgbClr val="0E9A87">
              <a:alpha val="10000"/>
            </a:srgbClr>
          </a:solidFill>
          <a:ln w="15875">
            <a:solidFill>
              <a:srgbClr val="0E9A87"/>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0E9A87"/>
                </a:solidFill>
                <a:latin typeface="Calibri"/>
              </a:rPr>
              <a:t>2</a:t>
            </a:r>
          </a:p>
        </p:txBody>
      </p:sp>
      <p:sp>
        <p:nvSpPr>
          <p:cNvPr id="18" name="TextBox 17"/>
          <p:cNvSpPr txBox="1"/>
          <p:nvPr/>
        </p:nvSpPr>
        <p:spPr>
          <a:xfrm>
            <a:off x="1316736" y="3913631"/>
            <a:ext cx="4937760" cy="493776"/>
          </a:xfrm>
          <a:prstGeom prst="rect">
            <a:avLst/>
          </a:prstGeom>
          <a:noFill/>
        </p:spPr>
        <p:txBody>
          <a:bodyPr wrap="square" lIns="0" rIns="0" tIns="0" bIns="0" anchor="ctr">
            <a:spAutoFit/>
          </a:bodyPr>
          <a:lstStyle/>
          <a:p>
            <a:pPr algn="l">
              <a:lnSpc>
                <a:spcPct val="120000"/>
              </a:lnSpc>
              <a:spcAft>
                <a:spcPts val="100"/>
              </a:spcAft>
            </a:pPr>
            <a:r>
              <a:rPr sz="1250" b="1">
                <a:solidFill>
                  <a:srgbClr val="0D1B2A"/>
                </a:solidFill>
                <a:latin typeface="Calibri"/>
              </a:rPr>
              <a:t>EHH nog niet belegd</a:t>
            </a:r>
          </a:p>
          <a:p>
            <a:pPr algn="l">
              <a:lnSpc>
                <a:spcPct val="120000"/>
              </a:lnSpc>
              <a:spcAft>
                <a:spcPts val="0"/>
              </a:spcAft>
            </a:pPr>
            <a:r>
              <a:rPr sz="1000" b="0">
                <a:solidFill>
                  <a:srgbClr val="8B9AAA"/>
                </a:solidFill>
                <a:latin typeface="Calibri"/>
              </a:rPr>
              <a:t>apart, of toch bij de acute poort?</a:t>
            </a:r>
          </a:p>
        </p:txBody>
      </p:sp>
      <p:sp>
        <p:nvSpPr>
          <p:cNvPr id="19" name="Rounded Rectangle 18"/>
          <p:cNvSpPr/>
          <p:nvPr/>
        </p:nvSpPr>
        <p:spPr>
          <a:xfrm>
            <a:off x="640080" y="4553712"/>
            <a:ext cx="5943600" cy="603504"/>
          </a:xfrm>
          <a:prstGeom prst="roundRect">
            <a:avLst>
              <a:gd name="adj" fmla="val 3000"/>
            </a:avLst>
          </a:prstGeom>
          <a:solidFill>
            <a:srgbClr val="FFFFFF"/>
          </a:solidFill>
          <a:ln w="12700">
            <a:solidFill>
              <a:srgbClr val="E2E9F1"/>
            </a:solidFill>
          </a:ln>
          <a:effectLst>
            <a:outerShdw blurRad="70000" dist="22000" dir="5400000" rotWithShape="0">
              <a:srgbClr val="1B3A5C">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822960" y="4672583"/>
            <a:ext cx="365760" cy="365760"/>
          </a:xfrm>
          <a:prstGeom prst="ellipse">
            <a:avLst/>
          </a:prstGeom>
          <a:solidFill>
            <a:srgbClr val="0E9A87">
              <a:alpha val="10000"/>
            </a:srgbClr>
          </a:solidFill>
          <a:ln w="15875">
            <a:solidFill>
              <a:srgbClr val="0E9A87"/>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0E9A87"/>
                </a:solidFill>
                <a:latin typeface="Calibri"/>
              </a:rPr>
              <a:t>3</a:t>
            </a:r>
          </a:p>
        </p:txBody>
      </p:sp>
      <p:sp>
        <p:nvSpPr>
          <p:cNvPr id="21" name="TextBox 20"/>
          <p:cNvSpPr txBox="1"/>
          <p:nvPr/>
        </p:nvSpPr>
        <p:spPr>
          <a:xfrm>
            <a:off x="1316736" y="4608575"/>
            <a:ext cx="4937760" cy="493776"/>
          </a:xfrm>
          <a:prstGeom prst="rect">
            <a:avLst/>
          </a:prstGeom>
          <a:noFill/>
        </p:spPr>
        <p:txBody>
          <a:bodyPr wrap="square" lIns="0" rIns="0" tIns="0" bIns="0" anchor="ctr">
            <a:spAutoFit/>
          </a:bodyPr>
          <a:lstStyle/>
          <a:p>
            <a:pPr algn="l">
              <a:lnSpc>
                <a:spcPct val="120000"/>
              </a:lnSpc>
              <a:spcAft>
                <a:spcPts val="100"/>
              </a:spcAft>
            </a:pPr>
            <a:r>
              <a:rPr sz="1250" b="1">
                <a:solidFill>
                  <a:srgbClr val="0D1B2A"/>
                </a:solidFill>
                <a:latin typeface="Calibri"/>
              </a:rPr>
              <a:t>Personele verdeling open</a:t>
            </a:r>
          </a:p>
          <a:p>
            <a:pPr algn="l">
              <a:lnSpc>
                <a:spcPct val="120000"/>
              </a:lnSpc>
              <a:spcAft>
                <a:spcPts val="0"/>
              </a:spcAft>
            </a:pPr>
            <a:r>
              <a:rPr sz="1000" b="0">
                <a:solidFill>
                  <a:srgbClr val="8B9AAA"/>
                </a:solidFill>
                <a:latin typeface="Calibri"/>
              </a:rPr>
              <a:t>waar komt het personeel vandaan?</a:t>
            </a:r>
          </a:p>
        </p:txBody>
      </p:sp>
      <p:sp>
        <p:nvSpPr>
          <p:cNvPr id="22" name="Rounded Rectangle 21"/>
          <p:cNvSpPr/>
          <p:nvPr/>
        </p:nvSpPr>
        <p:spPr>
          <a:xfrm>
            <a:off x="6949440" y="1700784"/>
            <a:ext cx="4602175" cy="3072384"/>
          </a:xfrm>
          <a:prstGeom prst="roundRect">
            <a:avLst>
              <a:gd name="adj" fmla="val 3000"/>
            </a:avLst>
          </a:prstGeom>
          <a:solidFill>
            <a:srgbClr val="FFFFFF"/>
          </a:solidFill>
          <a:ln w="12700">
            <a:solidFill>
              <a:srgbClr val="E2E9F1"/>
            </a:solidFill>
          </a:ln>
          <a:effectLst>
            <a:outerShdw blurRad="70000" dist="22000" dir="5400000" rotWithShape="0">
              <a:srgbClr val="1B3A5C">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7205472" y="1920240"/>
            <a:ext cx="4090111" cy="219456"/>
          </a:xfrm>
          <a:prstGeom prst="rect">
            <a:avLst/>
          </a:prstGeom>
          <a:noFill/>
        </p:spPr>
        <p:txBody>
          <a:bodyPr wrap="square" lIns="0" rIns="0" tIns="0" bIns="0" anchor="t">
            <a:spAutoFit/>
          </a:bodyPr>
          <a:lstStyle/>
          <a:p>
            <a:pPr algn="l">
              <a:lnSpc>
                <a:spcPct val="120000"/>
              </a:lnSpc>
              <a:spcAft>
                <a:spcPts val="0"/>
              </a:spcAft>
            </a:pPr>
            <a:r>
              <a:rPr sz="950" b="1" spc="220">
                <a:solidFill>
                  <a:srgbClr val="8B9AAA"/>
                </a:solidFill>
                <a:latin typeface="Calibri"/>
              </a:rPr>
              <a:t>WAT NOG OPEN STAAT</a:t>
            </a:r>
          </a:p>
        </p:txBody>
      </p:sp>
      <p:sp>
        <p:nvSpPr>
          <p:cNvPr id="24" name="Rounded Rectangle 23"/>
          <p:cNvSpPr/>
          <p:nvPr/>
        </p:nvSpPr>
        <p:spPr>
          <a:xfrm>
            <a:off x="7187184" y="2304288"/>
            <a:ext cx="4126687" cy="658368"/>
          </a:xfrm>
          <a:prstGeom prst="roundRect">
            <a:avLst>
              <a:gd name="adj" fmla="val 3000"/>
            </a:avLst>
          </a:prstGeom>
          <a:solidFill>
            <a:srgbClr val="F6F9FD"/>
          </a:solidFill>
          <a:ln w="12700">
            <a:solidFill>
              <a:srgbClr val="C6D6E6"/>
            </a:solidFill>
          </a:ln>
          <a:effectLst>
            <a:outerShdw blurRad="70000" dist="22000" dir="5400000" rotWithShape="0">
              <a:srgbClr val="1B3A5C">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7370064" y="2359152"/>
            <a:ext cx="3760927" cy="548640"/>
          </a:xfrm>
          <a:prstGeom prst="rect">
            <a:avLst/>
          </a:prstGeom>
          <a:noFill/>
        </p:spPr>
        <p:txBody>
          <a:bodyPr wrap="square" lIns="0" rIns="0" tIns="0" bIns="0" anchor="ctr">
            <a:spAutoFit/>
          </a:bodyPr>
          <a:lstStyle/>
          <a:p>
            <a:pPr algn="l">
              <a:lnSpc>
                <a:spcPct val="120000"/>
              </a:lnSpc>
              <a:spcAft>
                <a:spcPts val="100"/>
              </a:spcAft>
            </a:pPr>
            <a:r>
              <a:rPr sz="1250" b="1">
                <a:solidFill>
                  <a:srgbClr val="0E9A87"/>
                </a:solidFill>
                <a:latin typeface="Calibri"/>
              </a:rPr>
              <a:t>16 bedden</a:t>
            </a:r>
          </a:p>
          <a:p>
            <a:pPr algn="l">
              <a:lnSpc>
                <a:spcPct val="120000"/>
              </a:lnSpc>
              <a:spcAft>
                <a:spcPts val="0"/>
              </a:spcAft>
            </a:pPr>
            <a:r>
              <a:rPr sz="1000" b="0">
                <a:solidFill>
                  <a:srgbClr val="55677C"/>
                </a:solidFill>
                <a:latin typeface="Calibri"/>
              </a:rPr>
              <a:t>vastgesteld</a:t>
            </a:r>
          </a:p>
        </p:txBody>
      </p:sp>
      <p:sp>
        <p:nvSpPr>
          <p:cNvPr id="26" name="Rounded Rectangle 25"/>
          <p:cNvSpPr/>
          <p:nvPr/>
        </p:nvSpPr>
        <p:spPr>
          <a:xfrm>
            <a:off x="7187184" y="3072384"/>
            <a:ext cx="4126687" cy="658368"/>
          </a:xfrm>
          <a:prstGeom prst="roundRect">
            <a:avLst>
              <a:gd name="adj" fmla="val 3000"/>
            </a:avLst>
          </a:prstGeom>
          <a:solidFill>
            <a:srgbClr val="F6F9FD"/>
          </a:solidFill>
          <a:ln w="12700">
            <a:solidFill>
              <a:srgbClr val="C6D6E6"/>
            </a:solidFill>
          </a:ln>
          <a:effectLst>
            <a:outerShdw blurRad="70000" dist="22000" dir="5400000" rotWithShape="0">
              <a:srgbClr val="1B3A5C">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370064" y="3127248"/>
            <a:ext cx="3760927" cy="548640"/>
          </a:xfrm>
          <a:prstGeom prst="rect">
            <a:avLst/>
          </a:prstGeom>
          <a:noFill/>
        </p:spPr>
        <p:txBody>
          <a:bodyPr wrap="square" lIns="0" rIns="0" tIns="0" bIns="0" anchor="ctr">
            <a:spAutoFit/>
          </a:bodyPr>
          <a:lstStyle/>
          <a:p>
            <a:pPr algn="l">
              <a:lnSpc>
                <a:spcPct val="120000"/>
              </a:lnSpc>
              <a:spcAft>
                <a:spcPts val="100"/>
              </a:spcAft>
            </a:pPr>
            <a:r>
              <a:rPr sz="1250" b="1">
                <a:solidFill>
                  <a:srgbClr val="C87E12"/>
                </a:solidFill>
                <a:latin typeface="Calibri"/>
              </a:rPr>
              <a:t>weigerkans</a:t>
            </a:r>
          </a:p>
          <a:p>
            <a:pPr algn="l">
              <a:lnSpc>
                <a:spcPct val="120000"/>
              </a:lnSpc>
              <a:spcAft>
                <a:spcPts val="0"/>
              </a:spcAft>
            </a:pPr>
            <a:r>
              <a:rPr sz="1000" b="0">
                <a:solidFill>
                  <a:srgbClr val="55677C"/>
                </a:solidFill>
                <a:latin typeface="Calibri"/>
              </a:rPr>
              <a:t>nog niet bekend</a:t>
            </a:r>
          </a:p>
        </p:txBody>
      </p:sp>
      <p:sp>
        <p:nvSpPr>
          <p:cNvPr id="28" name="Rounded Rectangle 27"/>
          <p:cNvSpPr/>
          <p:nvPr/>
        </p:nvSpPr>
        <p:spPr>
          <a:xfrm>
            <a:off x="7187184" y="3840480"/>
            <a:ext cx="4126687" cy="658368"/>
          </a:xfrm>
          <a:prstGeom prst="roundRect">
            <a:avLst>
              <a:gd name="adj" fmla="val 3000"/>
            </a:avLst>
          </a:prstGeom>
          <a:solidFill>
            <a:srgbClr val="F6F9FD"/>
          </a:solidFill>
          <a:ln w="12700">
            <a:solidFill>
              <a:srgbClr val="C6D6E6"/>
            </a:solidFill>
          </a:ln>
          <a:effectLst>
            <a:outerShdw blurRad="70000" dist="22000" dir="5400000" rotWithShape="0">
              <a:srgbClr val="1B3A5C">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7370064" y="3895344"/>
            <a:ext cx="3760927" cy="548640"/>
          </a:xfrm>
          <a:prstGeom prst="rect">
            <a:avLst/>
          </a:prstGeom>
          <a:noFill/>
        </p:spPr>
        <p:txBody>
          <a:bodyPr wrap="square" lIns="0" rIns="0" tIns="0" bIns="0" anchor="ctr">
            <a:spAutoFit/>
          </a:bodyPr>
          <a:lstStyle/>
          <a:p>
            <a:pPr algn="l">
              <a:lnSpc>
                <a:spcPct val="120000"/>
              </a:lnSpc>
              <a:spcAft>
                <a:spcPts val="100"/>
              </a:spcAft>
            </a:pPr>
            <a:r>
              <a:rPr sz="1250" b="1">
                <a:solidFill>
                  <a:srgbClr val="C87E12"/>
                </a:solidFill>
                <a:latin typeface="Calibri"/>
              </a:rPr>
              <a:t>EHH erbij?</a:t>
            </a:r>
          </a:p>
          <a:p>
            <a:pPr algn="l">
              <a:lnSpc>
                <a:spcPct val="120000"/>
              </a:lnSpc>
              <a:spcAft>
                <a:spcPts val="0"/>
              </a:spcAft>
            </a:pPr>
            <a:r>
              <a:rPr sz="1000" b="0">
                <a:solidFill>
                  <a:srgbClr val="55677C"/>
                </a:solidFill>
                <a:latin typeface="Calibri"/>
              </a:rPr>
              <a:t>nog te beslissen</a:t>
            </a:r>
          </a:p>
        </p:txBody>
      </p:sp>
      <p:sp>
        <p:nvSpPr>
          <p:cNvPr id="30" name="Rounded Rectangle 29"/>
          <p:cNvSpPr/>
          <p:nvPr/>
        </p:nvSpPr>
        <p:spPr>
          <a:xfrm>
            <a:off x="640080" y="5358383"/>
            <a:ext cx="10911535" cy="786384"/>
          </a:xfrm>
          <a:prstGeom prst="roundRect">
            <a:avLst>
              <a:gd name="adj" fmla="val 3000"/>
            </a:avLst>
          </a:prstGeom>
          <a:solidFill>
            <a:srgbClr val="EDEAE5"/>
          </a:solidFill>
          <a:ln w="15875">
            <a:solidFill>
              <a:srgbClr val="E1C8A3"/>
            </a:solidFill>
          </a:ln>
          <a:effectLst>
            <a:outerShdw blurRad="60000" dist="18000" dir="5400000" rotWithShape="0">
              <a:srgbClr val="1B3A5C">
                <a:alpha val="7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ounded Rectangle 30"/>
          <p:cNvSpPr/>
          <p:nvPr/>
        </p:nvSpPr>
        <p:spPr>
          <a:xfrm>
            <a:off x="640080" y="5358383"/>
            <a:ext cx="50292" cy="786384"/>
          </a:xfrm>
          <a:prstGeom prst="roundRect">
            <a:avLst>
              <a:gd name="adj" fmla="val 50000"/>
            </a:avLst>
          </a:prstGeom>
          <a:solidFill>
            <a:srgbClr val="C87E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969264" y="5440679"/>
            <a:ext cx="9997135" cy="621792"/>
          </a:xfrm>
          <a:prstGeom prst="rect">
            <a:avLst/>
          </a:prstGeom>
          <a:noFill/>
        </p:spPr>
        <p:txBody>
          <a:bodyPr wrap="square" lIns="0" rIns="0" tIns="0" bIns="0" anchor="ctr">
            <a:spAutoFit/>
          </a:bodyPr>
          <a:lstStyle/>
          <a:p>
            <a:pPr algn="l">
              <a:lnSpc>
                <a:spcPct val="120000"/>
              </a:lnSpc>
              <a:spcAft>
                <a:spcPts val="300"/>
              </a:spcAft>
            </a:pPr>
            <a:r>
              <a:rPr sz="950" b="1" spc="180">
                <a:solidFill>
                  <a:srgbClr val="C87E12"/>
                </a:solidFill>
                <a:latin typeface="Calibri"/>
              </a:rPr>
              <a:t>WAT ER NOG MOET GEBEUREN</a:t>
            </a:r>
          </a:p>
          <a:p>
            <a:pPr algn="l">
              <a:lnSpc>
                <a:spcPct val="120000"/>
              </a:lnSpc>
              <a:spcAft>
                <a:spcPts val="0"/>
              </a:spcAft>
            </a:pPr>
            <a:r>
              <a:rPr sz="1250" b="1">
                <a:solidFill>
                  <a:srgbClr val="0D1B2A"/>
                </a:solidFill>
                <a:latin typeface="Calibri"/>
              </a:rPr>
              <a:t>De uitkomst is positief, maar zonder weigerkans en zonder besluit over de EHH is het beeld niet compleet.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FFFFFF"/>
              </a:gs>
              <a:gs pos="100000">
                <a:srgbClr val="F1F6FC"/>
              </a:gs>
            </a:gsLst>
            <a:lin scaled="0" ang="189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640080" y="566928"/>
            <a:ext cx="10911535" cy="219456"/>
          </a:xfrm>
          <a:prstGeom prst="rect">
            <a:avLst/>
          </a:prstGeom>
          <a:noFill/>
        </p:spPr>
        <p:txBody>
          <a:bodyPr wrap="square" lIns="0" rIns="0" tIns="0" bIns="0" anchor="t">
            <a:spAutoFit/>
          </a:bodyPr>
          <a:lstStyle/>
          <a:p>
            <a:pPr algn="l">
              <a:lnSpc>
                <a:spcPct val="120000"/>
              </a:lnSpc>
              <a:spcAft>
                <a:spcPts val="0"/>
              </a:spcAft>
            </a:pPr>
            <a:r>
              <a:rPr sz="1050" b="1" spc="220">
                <a:solidFill>
                  <a:srgbClr val="C87E12"/>
                </a:solidFill>
                <a:latin typeface="Calibri"/>
              </a:rPr>
              <a:t>DEEL 03  ·  WAT VERANDERT ER</a:t>
            </a:r>
          </a:p>
        </p:txBody>
      </p:sp>
      <p:sp>
        <p:nvSpPr>
          <p:cNvPr id="4" name="TextBox 3"/>
          <p:cNvSpPr txBox="1"/>
          <p:nvPr/>
        </p:nvSpPr>
        <p:spPr>
          <a:xfrm>
            <a:off x="640080" y="859536"/>
            <a:ext cx="10911535" cy="566928"/>
          </a:xfrm>
          <a:prstGeom prst="rect">
            <a:avLst/>
          </a:prstGeom>
          <a:noFill/>
        </p:spPr>
        <p:txBody>
          <a:bodyPr wrap="square" lIns="0" rIns="0" tIns="0" bIns="0" anchor="t">
            <a:spAutoFit/>
          </a:bodyPr>
          <a:lstStyle/>
          <a:p>
            <a:pPr algn="l">
              <a:lnSpc>
                <a:spcPct val="120000"/>
              </a:lnSpc>
              <a:spcAft>
                <a:spcPts val="0"/>
              </a:spcAft>
            </a:pPr>
            <a:r>
              <a:rPr sz="3400" b="1">
                <a:solidFill>
                  <a:srgbClr val="0D1B2A"/>
                </a:solidFill>
                <a:latin typeface="Calibri"/>
              </a:rPr>
              <a:t>Waar valt de EHH onder?</a:t>
            </a:r>
          </a:p>
        </p:txBody>
      </p:sp>
      <p:sp>
        <p:nvSpPr>
          <p:cNvPr id="5" name="TextBox 4"/>
          <p:cNvSpPr txBox="1"/>
          <p:nvPr/>
        </p:nvSpPr>
        <p:spPr>
          <a:xfrm>
            <a:off x="640080" y="1335024"/>
            <a:ext cx="8510997" cy="274320"/>
          </a:xfrm>
          <a:prstGeom prst="rect">
            <a:avLst/>
          </a:prstGeom>
          <a:noFill/>
        </p:spPr>
        <p:txBody>
          <a:bodyPr wrap="square" lIns="0" rIns="0" tIns="0" bIns="0" anchor="t">
            <a:spAutoFit/>
          </a:bodyPr>
          <a:lstStyle/>
          <a:p>
            <a:pPr algn="l">
              <a:lnSpc>
                <a:spcPct val="120000"/>
              </a:lnSpc>
              <a:spcAft>
                <a:spcPts val="0"/>
              </a:spcAft>
            </a:pPr>
            <a:r>
              <a:rPr sz="1300" b="0">
                <a:solidFill>
                  <a:srgbClr val="55677C"/>
                </a:solidFill>
                <a:latin typeface="Calibri"/>
              </a:rPr>
              <a:t>Deze ene keuze bepaalt beide analyses en de personele inzet</a:t>
            </a:r>
          </a:p>
        </p:txBody>
      </p:sp>
      <p:cxnSp>
        <p:nvCxnSpPr>
          <p:cNvPr id="6" name="Connector 5"/>
          <p:cNvCxnSpPr/>
          <p:nvPr/>
        </p:nvCxnSpPr>
        <p:spPr>
          <a:xfrm>
            <a:off x="640080" y="1609344"/>
            <a:ext cx="10911535" cy="0"/>
          </a:xfrm>
          <a:prstGeom prst="line">
            <a:avLst/>
          </a:prstGeom>
          <a:ln w="12700">
            <a:solidFill>
              <a:srgbClr val="E2E9F1"/>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640080" y="6291072"/>
            <a:ext cx="10911535" cy="0"/>
          </a:xfrm>
          <a:prstGeom prst="line">
            <a:avLst/>
          </a:prstGeom>
          <a:ln w="9525">
            <a:solidFill>
              <a:srgbClr val="E2E9F1"/>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40080" y="6382512"/>
            <a:ext cx="5486400" cy="237744"/>
          </a:xfrm>
          <a:prstGeom prst="rect">
            <a:avLst/>
          </a:prstGeom>
          <a:noFill/>
        </p:spPr>
        <p:txBody>
          <a:bodyPr wrap="square" lIns="0" rIns="0" tIns="0" bIns="0" anchor="t">
            <a:spAutoFit/>
          </a:bodyPr>
          <a:lstStyle/>
          <a:p>
            <a:pPr algn="l">
              <a:lnSpc>
                <a:spcPct val="120000"/>
              </a:lnSpc>
              <a:spcAft>
                <a:spcPts val="0"/>
              </a:spcAft>
            </a:pPr>
            <a:r>
              <a:rPr sz="900" b="0" spc="80">
                <a:solidFill>
                  <a:srgbClr val="8B9AAA"/>
                </a:solidFill>
                <a:latin typeface="Calibri"/>
              </a:rPr>
              <a:t>Acute poort en Hotfloor</a:t>
            </a:r>
          </a:p>
        </p:txBody>
      </p:sp>
      <p:sp>
        <p:nvSpPr>
          <p:cNvPr id="9" name="TextBox 8"/>
          <p:cNvSpPr txBox="1"/>
          <p:nvPr/>
        </p:nvSpPr>
        <p:spPr>
          <a:xfrm>
            <a:off x="10637215" y="6382512"/>
            <a:ext cx="914400" cy="237744"/>
          </a:xfrm>
          <a:prstGeom prst="rect">
            <a:avLst/>
          </a:prstGeom>
          <a:noFill/>
        </p:spPr>
        <p:txBody>
          <a:bodyPr wrap="square" lIns="0" rIns="0" tIns="0" bIns="0" anchor="t">
            <a:spAutoFit/>
          </a:bodyPr>
          <a:lstStyle/>
          <a:p>
            <a:pPr algn="r">
              <a:lnSpc>
                <a:spcPct val="120000"/>
              </a:lnSpc>
              <a:spcAft>
                <a:spcPts val="0"/>
              </a:spcAft>
            </a:pPr>
            <a:r>
              <a:rPr sz="950" b="1">
                <a:solidFill>
                  <a:srgbClr val="0E9A87"/>
                </a:solidFill>
                <a:latin typeface="Calibri"/>
              </a:rPr>
              <a:t>17</a:t>
            </a:r>
          </a:p>
        </p:txBody>
      </p:sp>
      <p:sp>
        <p:nvSpPr>
          <p:cNvPr id="10" name="Rounded Rectangle 9"/>
          <p:cNvSpPr/>
          <p:nvPr/>
        </p:nvSpPr>
        <p:spPr>
          <a:xfrm>
            <a:off x="2103120" y="1700784"/>
            <a:ext cx="7985455" cy="1060704"/>
          </a:xfrm>
          <a:prstGeom prst="roundRect">
            <a:avLst>
              <a:gd name="adj" fmla="val 3000"/>
            </a:avLst>
          </a:prstGeom>
          <a:solidFill>
            <a:srgbClr val="E8DCC9"/>
          </a:solidFill>
          <a:ln w="15875">
            <a:solidFill>
              <a:srgbClr val="E1C8A3"/>
            </a:solidFill>
          </a:ln>
          <a:effectLst>
            <a:outerShdw blurRad="60000" dist="18000" dir="5400000" rotWithShape="0">
              <a:srgbClr val="1B3A5C">
                <a:alpha val="7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2103120" y="1847088"/>
            <a:ext cx="7985455" cy="548640"/>
          </a:xfrm>
          <a:prstGeom prst="rect">
            <a:avLst/>
          </a:prstGeom>
          <a:noFill/>
        </p:spPr>
        <p:txBody>
          <a:bodyPr wrap="square" lIns="0" rIns="0" tIns="0" bIns="0" anchor="t">
            <a:spAutoFit/>
          </a:bodyPr>
          <a:lstStyle/>
          <a:p>
            <a:pPr algn="ctr">
              <a:lnSpc>
                <a:spcPct val="120000"/>
              </a:lnSpc>
              <a:spcAft>
                <a:spcPts val="0"/>
              </a:spcAft>
            </a:pPr>
            <a:r>
              <a:rPr sz="3400" b="1">
                <a:solidFill>
                  <a:srgbClr val="C87E12"/>
                </a:solidFill>
                <a:latin typeface="Calibri"/>
              </a:rPr>
              <a:t>Bij 1 of bij 2?</a:t>
            </a:r>
          </a:p>
        </p:txBody>
      </p:sp>
      <p:sp>
        <p:nvSpPr>
          <p:cNvPr id="12" name="TextBox 11"/>
          <p:cNvSpPr txBox="1"/>
          <p:nvPr/>
        </p:nvSpPr>
        <p:spPr>
          <a:xfrm>
            <a:off x="2103120" y="2414016"/>
            <a:ext cx="7985455" cy="274320"/>
          </a:xfrm>
          <a:prstGeom prst="rect">
            <a:avLst/>
          </a:prstGeom>
          <a:noFill/>
        </p:spPr>
        <p:txBody>
          <a:bodyPr wrap="square" lIns="0" rIns="0" tIns="0" bIns="0" anchor="t">
            <a:spAutoFit/>
          </a:bodyPr>
          <a:lstStyle/>
          <a:p>
            <a:pPr algn="ctr">
              <a:lnSpc>
                <a:spcPct val="120000"/>
              </a:lnSpc>
              <a:spcAft>
                <a:spcPts val="0"/>
              </a:spcAft>
            </a:pPr>
            <a:r>
              <a:rPr sz="1250" b="0">
                <a:solidFill>
                  <a:srgbClr val="55677C"/>
                </a:solidFill>
                <a:latin typeface="Calibri"/>
              </a:rPr>
              <a:t>bij de acute poort, of bij de Hotfloor</a:t>
            </a:r>
          </a:p>
        </p:txBody>
      </p:sp>
      <p:sp>
        <p:nvSpPr>
          <p:cNvPr id="13" name="Freeform 12"/>
          <p:cNvSpPr/>
          <p:nvPr/>
        </p:nvSpPr>
        <p:spPr>
          <a:xfrm>
            <a:off x="3253663" y="2779776"/>
            <a:ext cx="2842184" cy="274320"/>
          </a:xfrm>
          <a:custGeom>
            <a:avLst/>
            <a:gdLst/>
            <a:ahLst/>
            <a:cxnLst/>
            <a:rect l="l" t="t" r="r" b="b"/>
            <a:pathLst>
              <a:path w="2842184" h="274320">
                <a:moveTo>
                  <a:pt x="2842184" y="0"/>
                </a:moveTo>
                <a:lnTo>
                  <a:pt x="2842184" y="109728"/>
                </a:lnTo>
                <a:lnTo>
                  <a:pt x="0" y="109728"/>
                </a:lnTo>
                <a:lnTo>
                  <a:pt x="0" y="274320"/>
                </a:lnTo>
              </a:path>
            </a:pathLst>
          </a:custGeom>
          <a:noFill/>
          <a:ln w="19050">
            <a:solidFill>
              <a:srgbClr val="DAB4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40080" y="3072384"/>
            <a:ext cx="5227167" cy="1920240"/>
          </a:xfrm>
          <a:prstGeom prst="roundRect">
            <a:avLst>
              <a:gd name="adj" fmla="val 3000"/>
            </a:avLst>
          </a:prstGeom>
          <a:solidFill>
            <a:srgbClr val="D8E6F3"/>
          </a:solidFill>
          <a:ln w="15875">
            <a:solidFill>
              <a:srgbClr val="A1C3E0"/>
            </a:solidFill>
          </a:ln>
          <a:effectLst>
            <a:outerShdw blurRad="60000" dist="18000" dir="5400000" rotWithShape="0">
              <a:srgbClr val="1B3A5C">
                <a:alpha val="7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804671" y="3218688"/>
            <a:ext cx="512064" cy="512064"/>
          </a:xfrm>
          <a:prstGeom prst="ellipse">
            <a:avLst/>
          </a:prstGeom>
          <a:solidFill>
            <a:srgbClr val="1F6FB2">
              <a:alpha val="10000"/>
            </a:srgbClr>
          </a:solidFill>
          <a:ln w="15875">
            <a:solidFill>
              <a:srgbClr val="1F6FB2"/>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600" b="1">
                <a:solidFill>
                  <a:srgbClr val="1F6FB2"/>
                </a:solidFill>
                <a:latin typeface="Calibri"/>
              </a:rPr>
              <a:t>1</a:t>
            </a:r>
          </a:p>
        </p:txBody>
      </p:sp>
      <p:sp>
        <p:nvSpPr>
          <p:cNvPr id="16" name="TextBox 15"/>
          <p:cNvSpPr txBox="1"/>
          <p:nvPr/>
        </p:nvSpPr>
        <p:spPr>
          <a:xfrm>
            <a:off x="1426464" y="3236976"/>
            <a:ext cx="4129887" cy="457200"/>
          </a:xfrm>
          <a:prstGeom prst="rect">
            <a:avLst/>
          </a:prstGeom>
          <a:noFill/>
        </p:spPr>
        <p:txBody>
          <a:bodyPr wrap="square" lIns="0" rIns="0" tIns="0" bIns="0" anchor="ctr">
            <a:spAutoFit/>
          </a:bodyPr>
          <a:lstStyle/>
          <a:p>
            <a:pPr algn="l">
              <a:lnSpc>
                <a:spcPct val="120000"/>
              </a:lnSpc>
              <a:spcAft>
                <a:spcPts val="0"/>
              </a:spcAft>
            </a:pPr>
            <a:r>
              <a:rPr sz="1900" b="1">
                <a:solidFill>
                  <a:srgbClr val="1F6FB2"/>
                </a:solidFill>
                <a:latin typeface="Calibri"/>
              </a:rPr>
              <a:t>Acute poort</a:t>
            </a:r>
          </a:p>
        </p:txBody>
      </p:sp>
      <p:sp>
        <p:nvSpPr>
          <p:cNvPr id="17" name="TextBox 16"/>
          <p:cNvSpPr txBox="1"/>
          <p:nvPr/>
        </p:nvSpPr>
        <p:spPr>
          <a:xfrm>
            <a:off x="896112" y="3822192"/>
            <a:ext cx="4715103" cy="256032"/>
          </a:xfrm>
          <a:prstGeom prst="rect">
            <a:avLst/>
          </a:prstGeom>
          <a:noFill/>
        </p:spPr>
        <p:txBody>
          <a:bodyPr wrap="square" lIns="0" rIns="0" tIns="0" bIns="0" anchor="t">
            <a:spAutoFit/>
          </a:bodyPr>
          <a:lstStyle/>
          <a:p>
            <a:pPr algn="l">
              <a:lnSpc>
                <a:spcPct val="120000"/>
              </a:lnSpc>
              <a:spcAft>
                <a:spcPts val="0"/>
              </a:spcAft>
            </a:pPr>
            <a:r>
              <a:rPr sz="1150" b="0">
                <a:solidFill>
                  <a:srgbClr val="0D1B2A"/>
                </a:solidFill>
                <a:latin typeface="Calibri"/>
              </a:rPr>
              <a:t>SEH · kind · EHH</a:t>
            </a:r>
          </a:p>
        </p:txBody>
      </p:sp>
      <p:cxnSp>
        <p:nvCxnSpPr>
          <p:cNvPr id="18" name="Connector 17"/>
          <p:cNvCxnSpPr/>
          <p:nvPr/>
        </p:nvCxnSpPr>
        <p:spPr>
          <a:xfrm>
            <a:off x="896112" y="4169664"/>
            <a:ext cx="4715103" cy="0"/>
          </a:xfrm>
          <a:prstGeom prst="line">
            <a:avLst/>
          </a:prstGeom>
          <a:ln w="12700">
            <a:solidFill>
              <a:srgbClr val="92B9DB"/>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896112" y="4315968"/>
            <a:ext cx="4715103" cy="548640"/>
          </a:xfrm>
          <a:prstGeom prst="rect">
            <a:avLst/>
          </a:prstGeom>
          <a:noFill/>
        </p:spPr>
        <p:txBody>
          <a:bodyPr wrap="square" lIns="0" rIns="0" tIns="0" bIns="0" anchor="t">
            <a:spAutoFit/>
          </a:bodyPr>
          <a:lstStyle/>
          <a:p>
            <a:pPr algn="l">
              <a:lnSpc>
                <a:spcPct val="125000"/>
              </a:lnSpc>
              <a:spcAft>
                <a:spcPts val="0"/>
              </a:spcAft>
            </a:pPr>
            <a:r>
              <a:rPr sz="1150" b="0">
                <a:solidFill>
                  <a:srgbClr val="55677C"/>
                </a:solidFill>
                <a:latin typeface="Calibri"/>
              </a:rPr>
              <a:t>De EHH telt mee in de plekken van de acute poort, die nu al te klein is.</a:t>
            </a:r>
          </a:p>
        </p:txBody>
      </p:sp>
      <p:sp>
        <p:nvSpPr>
          <p:cNvPr id="20" name="Freeform 19"/>
          <p:cNvSpPr/>
          <p:nvPr/>
        </p:nvSpPr>
        <p:spPr>
          <a:xfrm>
            <a:off x="6095847" y="2779776"/>
            <a:ext cx="2842184" cy="274320"/>
          </a:xfrm>
          <a:custGeom>
            <a:avLst/>
            <a:gdLst/>
            <a:ahLst/>
            <a:cxnLst/>
            <a:rect l="l" t="t" r="r" b="b"/>
            <a:pathLst>
              <a:path w="2842184" h="274320">
                <a:moveTo>
                  <a:pt x="0" y="0"/>
                </a:moveTo>
                <a:lnTo>
                  <a:pt x="0" y="109728"/>
                </a:lnTo>
                <a:lnTo>
                  <a:pt x="2842184" y="109728"/>
                </a:lnTo>
                <a:lnTo>
                  <a:pt x="2842184" y="274320"/>
                </a:lnTo>
              </a:path>
            </a:pathLst>
          </a:custGeom>
          <a:noFill/>
          <a:ln w="19050">
            <a:solidFill>
              <a:srgbClr val="DAB4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324447" y="3072384"/>
            <a:ext cx="5227167" cy="1920240"/>
          </a:xfrm>
          <a:prstGeom prst="roundRect">
            <a:avLst>
              <a:gd name="adj" fmla="val 3000"/>
            </a:avLst>
          </a:prstGeom>
          <a:solidFill>
            <a:srgbClr val="D6EBEE"/>
          </a:solidFill>
          <a:ln w="15875">
            <a:solidFill>
              <a:srgbClr val="9BD3D0"/>
            </a:solidFill>
          </a:ln>
          <a:effectLst>
            <a:outerShdw blurRad="60000" dist="18000" dir="5400000" rotWithShape="0">
              <a:srgbClr val="1B3A5C">
                <a:alpha val="7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Oval 21"/>
          <p:cNvSpPr/>
          <p:nvPr/>
        </p:nvSpPr>
        <p:spPr>
          <a:xfrm>
            <a:off x="6489039" y="3218688"/>
            <a:ext cx="512064" cy="512064"/>
          </a:xfrm>
          <a:prstGeom prst="ellipse">
            <a:avLst/>
          </a:prstGeom>
          <a:solidFill>
            <a:srgbClr val="0E9A87">
              <a:alpha val="10000"/>
            </a:srgbClr>
          </a:solidFill>
          <a:ln w="15875">
            <a:solidFill>
              <a:srgbClr val="0E9A87"/>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600" b="1">
                <a:solidFill>
                  <a:srgbClr val="0E9A87"/>
                </a:solidFill>
                <a:latin typeface="Calibri"/>
              </a:rPr>
              <a:t>2</a:t>
            </a:r>
          </a:p>
        </p:txBody>
      </p:sp>
      <p:sp>
        <p:nvSpPr>
          <p:cNvPr id="23" name="TextBox 22"/>
          <p:cNvSpPr txBox="1"/>
          <p:nvPr/>
        </p:nvSpPr>
        <p:spPr>
          <a:xfrm>
            <a:off x="7110831" y="3236976"/>
            <a:ext cx="4129887" cy="457200"/>
          </a:xfrm>
          <a:prstGeom prst="rect">
            <a:avLst/>
          </a:prstGeom>
          <a:noFill/>
        </p:spPr>
        <p:txBody>
          <a:bodyPr wrap="square" lIns="0" rIns="0" tIns="0" bIns="0" anchor="ctr">
            <a:spAutoFit/>
          </a:bodyPr>
          <a:lstStyle/>
          <a:p>
            <a:pPr algn="l">
              <a:lnSpc>
                <a:spcPct val="120000"/>
              </a:lnSpc>
              <a:spcAft>
                <a:spcPts val="0"/>
              </a:spcAft>
            </a:pPr>
            <a:r>
              <a:rPr sz="1900" b="1">
                <a:solidFill>
                  <a:srgbClr val="0E9A87"/>
                </a:solidFill>
                <a:latin typeface="Calibri"/>
              </a:rPr>
              <a:t>Hotfloor</a:t>
            </a:r>
          </a:p>
        </p:txBody>
      </p:sp>
      <p:sp>
        <p:nvSpPr>
          <p:cNvPr id="24" name="TextBox 23"/>
          <p:cNvSpPr txBox="1"/>
          <p:nvPr/>
        </p:nvSpPr>
        <p:spPr>
          <a:xfrm>
            <a:off x="6580479" y="3822192"/>
            <a:ext cx="4715103" cy="256032"/>
          </a:xfrm>
          <a:prstGeom prst="rect">
            <a:avLst/>
          </a:prstGeom>
          <a:noFill/>
        </p:spPr>
        <p:txBody>
          <a:bodyPr wrap="square" lIns="0" rIns="0" tIns="0" bIns="0" anchor="t">
            <a:spAutoFit/>
          </a:bodyPr>
          <a:lstStyle/>
          <a:p>
            <a:pPr algn="l">
              <a:lnSpc>
                <a:spcPct val="120000"/>
              </a:lnSpc>
              <a:spcAft>
                <a:spcPts val="0"/>
              </a:spcAft>
            </a:pPr>
            <a:r>
              <a:rPr sz="1150" b="0">
                <a:solidFill>
                  <a:srgbClr val="0D1B2A"/>
                </a:solidFill>
                <a:latin typeface="Calibri"/>
              </a:rPr>
              <a:t>ICU · CCU / SCU · EHH</a:t>
            </a:r>
          </a:p>
        </p:txBody>
      </p:sp>
      <p:cxnSp>
        <p:nvCxnSpPr>
          <p:cNvPr id="25" name="Connector 24"/>
          <p:cNvCxnSpPr/>
          <p:nvPr/>
        </p:nvCxnSpPr>
        <p:spPr>
          <a:xfrm>
            <a:off x="6580479" y="4169664"/>
            <a:ext cx="4715104" cy="0"/>
          </a:xfrm>
          <a:prstGeom prst="line">
            <a:avLst/>
          </a:prstGeom>
          <a:ln w="12700">
            <a:solidFill>
              <a:srgbClr val="8BCDC7"/>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6580479" y="4315968"/>
            <a:ext cx="4715103" cy="548640"/>
          </a:xfrm>
          <a:prstGeom prst="rect">
            <a:avLst/>
          </a:prstGeom>
          <a:noFill/>
        </p:spPr>
        <p:txBody>
          <a:bodyPr wrap="square" lIns="0" rIns="0" tIns="0" bIns="0" anchor="t">
            <a:spAutoFit/>
          </a:bodyPr>
          <a:lstStyle/>
          <a:p>
            <a:pPr algn="l">
              <a:lnSpc>
                <a:spcPct val="125000"/>
              </a:lnSpc>
              <a:spcAft>
                <a:spcPts val="0"/>
              </a:spcAft>
            </a:pPr>
            <a:r>
              <a:rPr sz="1150" b="0">
                <a:solidFill>
                  <a:srgbClr val="55677C"/>
                </a:solidFill>
                <a:latin typeface="Calibri"/>
              </a:rPr>
              <a:t>De EHH komt bij de zestien bedden, en het personeel komt van ICU of CCU.</a:t>
            </a:r>
          </a:p>
        </p:txBody>
      </p:sp>
      <p:sp>
        <p:nvSpPr>
          <p:cNvPr id="27" name="Rounded Rectangle 26"/>
          <p:cNvSpPr/>
          <p:nvPr/>
        </p:nvSpPr>
        <p:spPr>
          <a:xfrm>
            <a:off x="640080" y="5358383"/>
            <a:ext cx="10911535" cy="786384"/>
          </a:xfrm>
          <a:prstGeom prst="roundRect">
            <a:avLst>
              <a:gd name="adj" fmla="val 3000"/>
            </a:avLst>
          </a:prstGeom>
          <a:solidFill>
            <a:srgbClr val="EDEAE5"/>
          </a:solidFill>
          <a:ln w="15875">
            <a:solidFill>
              <a:srgbClr val="E1C8A3"/>
            </a:solidFill>
          </a:ln>
          <a:effectLst>
            <a:outerShdw blurRad="60000" dist="18000" dir="5400000" rotWithShape="0">
              <a:srgbClr val="1B3A5C">
                <a:alpha val="7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ounded Rectangle 27"/>
          <p:cNvSpPr/>
          <p:nvPr/>
        </p:nvSpPr>
        <p:spPr>
          <a:xfrm>
            <a:off x="640080" y="5358383"/>
            <a:ext cx="50292" cy="786384"/>
          </a:xfrm>
          <a:prstGeom prst="roundRect">
            <a:avLst>
              <a:gd name="adj" fmla="val 50000"/>
            </a:avLst>
          </a:prstGeom>
          <a:solidFill>
            <a:srgbClr val="C87E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969264" y="5440679"/>
            <a:ext cx="9997135" cy="621792"/>
          </a:xfrm>
          <a:prstGeom prst="rect">
            <a:avLst/>
          </a:prstGeom>
          <a:noFill/>
        </p:spPr>
        <p:txBody>
          <a:bodyPr wrap="square" lIns="0" rIns="0" tIns="0" bIns="0" anchor="ctr">
            <a:spAutoFit/>
          </a:bodyPr>
          <a:lstStyle/>
          <a:p>
            <a:pPr algn="l">
              <a:lnSpc>
                <a:spcPct val="120000"/>
              </a:lnSpc>
              <a:spcAft>
                <a:spcPts val="300"/>
              </a:spcAft>
            </a:pPr>
            <a:r>
              <a:rPr sz="950" b="1" spc="180">
                <a:solidFill>
                  <a:srgbClr val="C87E12"/>
                </a:solidFill>
                <a:latin typeface="Calibri"/>
              </a:rPr>
              <a:t>EN DAARNA?</a:t>
            </a:r>
          </a:p>
          <a:p>
            <a:pPr algn="l">
              <a:lnSpc>
                <a:spcPct val="120000"/>
              </a:lnSpc>
              <a:spcAft>
                <a:spcPts val="0"/>
              </a:spcAft>
            </a:pPr>
            <a:r>
              <a:rPr sz="1250" b="1">
                <a:solidFill>
                  <a:srgbClr val="0D1B2A"/>
                </a:solidFill>
                <a:latin typeface="Calibri"/>
              </a:rPr>
              <a:t>De analyses zijn gedaan en de knelpunten zijn gedeeld. Wat wordt daarmee gedaan, en welke acties volgen eruit? Of concluderen we dat het past en gaan we ermee aan de slag?</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FFFFFF"/>
              </a:gs>
              <a:gs pos="100000">
                <a:srgbClr val="F1F6FC"/>
              </a:gs>
            </a:gsLst>
            <a:lin scaled="0" ang="189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6309360" y="457200"/>
            <a:ext cx="5486400" cy="3108960"/>
          </a:xfrm>
          <a:prstGeom prst="rect">
            <a:avLst/>
          </a:prstGeom>
          <a:noFill/>
        </p:spPr>
        <p:txBody>
          <a:bodyPr wrap="square" lIns="0" rIns="0" tIns="0" bIns="0" anchor="t">
            <a:spAutoFit/>
          </a:bodyPr>
          <a:lstStyle/>
          <a:p>
            <a:pPr algn="r">
              <a:lnSpc>
                <a:spcPct val="100000"/>
              </a:lnSpc>
              <a:spcAft>
                <a:spcPts val="0"/>
              </a:spcAft>
            </a:pPr>
            <a:r>
              <a:rPr sz="21000" b="1">
                <a:solidFill>
                  <a:srgbClr val="C87E12">
                    <a:alpha val="9000"/>
                  </a:srgbClr>
                </a:solidFill>
                <a:latin typeface="Calibri"/>
              </a:rPr>
              <a:t>04</a:t>
            </a:r>
          </a:p>
        </p:txBody>
      </p:sp>
      <p:sp>
        <p:nvSpPr>
          <p:cNvPr id="4" name="TextBox 3"/>
          <p:cNvSpPr txBox="1"/>
          <p:nvPr/>
        </p:nvSpPr>
        <p:spPr>
          <a:xfrm>
            <a:off x="640080" y="2286000"/>
            <a:ext cx="5486400" cy="219456"/>
          </a:xfrm>
          <a:prstGeom prst="rect">
            <a:avLst/>
          </a:prstGeom>
          <a:noFill/>
        </p:spPr>
        <p:txBody>
          <a:bodyPr wrap="square" lIns="0" rIns="0" tIns="0" bIns="0" anchor="t">
            <a:spAutoFit/>
          </a:bodyPr>
          <a:lstStyle/>
          <a:p>
            <a:pPr algn="l">
              <a:lnSpc>
                <a:spcPct val="120000"/>
              </a:lnSpc>
              <a:spcAft>
                <a:spcPts val="0"/>
              </a:spcAft>
            </a:pPr>
            <a:r>
              <a:rPr sz="1100" b="1" spc="220">
                <a:solidFill>
                  <a:srgbClr val="C87E12"/>
                </a:solidFill>
                <a:latin typeface="Calibri"/>
              </a:rPr>
              <a:t>DEEL 04</a:t>
            </a:r>
          </a:p>
        </p:txBody>
      </p:sp>
      <p:sp>
        <p:nvSpPr>
          <p:cNvPr id="5" name="TextBox 4"/>
          <p:cNvSpPr txBox="1"/>
          <p:nvPr/>
        </p:nvSpPr>
        <p:spPr>
          <a:xfrm>
            <a:off x="640080" y="2523744"/>
            <a:ext cx="6949440" cy="1316736"/>
          </a:xfrm>
          <a:prstGeom prst="rect">
            <a:avLst/>
          </a:prstGeom>
          <a:noFill/>
        </p:spPr>
        <p:txBody>
          <a:bodyPr wrap="square" lIns="0" rIns="0" tIns="0" bIns="0" anchor="t">
            <a:spAutoFit/>
          </a:bodyPr>
          <a:lstStyle/>
          <a:p>
            <a:pPr algn="l">
              <a:lnSpc>
                <a:spcPct val="105000"/>
              </a:lnSpc>
              <a:spcAft>
                <a:spcPts val="0"/>
              </a:spcAft>
            </a:pPr>
            <a:r>
              <a:rPr sz="4600" b="1">
                <a:solidFill>
                  <a:srgbClr val="0D1B2A"/>
                </a:solidFill>
                <a:latin typeface="Calibri"/>
              </a:rPr>
              <a:t>Wat moet er besloten worden</a:t>
            </a:r>
          </a:p>
        </p:txBody>
      </p:sp>
      <p:cxnSp>
        <p:nvCxnSpPr>
          <p:cNvPr id="6" name="Connector 5"/>
          <p:cNvCxnSpPr/>
          <p:nvPr/>
        </p:nvCxnSpPr>
        <p:spPr>
          <a:xfrm>
            <a:off x="640080" y="3584448"/>
            <a:ext cx="2377440" cy="0"/>
          </a:xfrm>
          <a:prstGeom prst="line">
            <a:avLst/>
          </a:prstGeom>
          <a:ln w="25400">
            <a:solidFill>
              <a:srgbClr val="C87E12"/>
            </a:solidFill>
          </a:ln>
        </p:spPr>
        <p:style>
          <a:lnRef idx="2">
            <a:schemeClr val="accent1"/>
          </a:lnRef>
          <a:fillRef idx="0">
            <a:schemeClr val="accent1"/>
          </a:fillRef>
          <a:effectRef idx="1">
            <a:schemeClr val="accent1"/>
          </a:effectRef>
          <a:fontRef idx="minor">
            <a:schemeClr val="tx1"/>
          </a:fontRef>
        </p:style>
      </p:cxnSp>
      <p:sp>
        <p:nvSpPr>
          <p:cNvPr id="7" name="Oval 6"/>
          <p:cNvSpPr/>
          <p:nvPr/>
        </p:nvSpPr>
        <p:spPr>
          <a:xfrm>
            <a:off x="649224" y="3895344"/>
            <a:ext cx="109728" cy="109728"/>
          </a:xfrm>
          <a:prstGeom prst="ellipse">
            <a:avLst/>
          </a:prstGeom>
          <a:solidFill>
            <a:srgbClr val="C87E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32688" y="3840480"/>
            <a:ext cx="7680960" cy="274320"/>
          </a:xfrm>
          <a:prstGeom prst="rect">
            <a:avLst/>
          </a:prstGeom>
          <a:noFill/>
        </p:spPr>
        <p:txBody>
          <a:bodyPr wrap="square" lIns="0" rIns="0" tIns="0" bIns="0" anchor="t">
            <a:spAutoFit/>
          </a:bodyPr>
          <a:lstStyle/>
          <a:p>
            <a:pPr algn="l">
              <a:lnSpc>
                <a:spcPct val="120000"/>
              </a:lnSpc>
              <a:spcAft>
                <a:spcPts val="0"/>
              </a:spcAft>
            </a:pPr>
            <a:r>
              <a:rPr sz="1350" b="0">
                <a:solidFill>
                  <a:srgbClr val="55677C"/>
                </a:solidFill>
                <a:latin typeface="Calibri"/>
              </a:rPr>
              <a:t>Wat we per situatie weten</a:t>
            </a:r>
          </a:p>
        </p:txBody>
      </p:sp>
      <p:sp>
        <p:nvSpPr>
          <p:cNvPr id="9" name="Oval 8"/>
          <p:cNvSpPr/>
          <p:nvPr/>
        </p:nvSpPr>
        <p:spPr>
          <a:xfrm>
            <a:off x="649224" y="4279392"/>
            <a:ext cx="109728" cy="109728"/>
          </a:xfrm>
          <a:prstGeom prst="ellipse">
            <a:avLst/>
          </a:prstGeom>
          <a:solidFill>
            <a:srgbClr val="C87E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4224528"/>
            <a:ext cx="7680960" cy="274320"/>
          </a:xfrm>
          <a:prstGeom prst="rect">
            <a:avLst/>
          </a:prstGeom>
          <a:noFill/>
        </p:spPr>
        <p:txBody>
          <a:bodyPr wrap="square" lIns="0" rIns="0" tIns="0" bIns="0" anchor="t">
            <a:spAutoFit/>
          </a:bodyPr>
          <a:lstStyle/>
          <a:p>
            <a:pPr algn="l">
              <a:lnSpc>
                <a:spcPct val="120000"/>
              </a:lnSpc>
              <a:spcAft>
                <a:spcPts val="0"/>
              </a:spcAft>
            </a:pPr>
            <a:r>
              <a:rPr sz="1350" b="0">
                <a:solidFill>
                  <a:srgbClr val="55677C"/>
                </a:solidFill>
                <a:latin typeface="Calibri"/>
              </a:rPr>
              <a:t>Zesendertig vragen en zes besluiten</a:t>
            </a:r>
          </a:p>
        </p:txBody>
      </p:sp>
      <p:sp>
        <p:nvSpPr>
          <p:cNvPr id="11" name="Freeform 10"/>
          <p:cNvSpPr/>
          <p:nvPr/>
        </p:nvSpPr>
        <p:spPr>
          <a:xfrm>
            <a:off x="0" y="5998464"/>
            <a:ext cx="12191695" cy="510235"/>
          </a:xfrm>
          <a:custGeom>
            <a:avLst/>
            <a:gdLst/>
            <a:ahLst/>
            <a:cxnLst/>
            <a:rect l="l" t="t" r="r" b="b"/>
            <a:pathLst>
              <a:path w="12191695" h="510235">
                <a:moveTo>
                  <a:pt x="0" y="329184"/>
                </a:moveTo>
                <a:lnTo>
                  <a:pt x="914377" y="329184"/>
                </a:lnTo>
                <a:lnTo>
                  <a:pt x="1097252" y="276514"/>
                </a:lnTo>
                <a:lnTo>
                  <a:pt x="1280127" y="362102"/>
                </a:lnTo>
                <a:lnTo>
                  <a:pt x="1523961" y="0"/>
                </a:lnTo>
                <a:lnTo>
                  <a:pt x="1767795" y="510235"/>
                </a:lnTo>
                <a:lnTo>
                  <a:pt x="2011629" y="329184"/>
                </a:lnTo>
                <a:lnTo>
                  <a:pt x="3047923" y="329184"/>
                </a:lnTo>
                <a:lnTo>
                  <a:pt x="3047923" y="329184"/>
                </a:lnTo>
                <a:lnTo>
                  <a:pt x="3962300" y="329184"/>
                </a:lnTo>
                <a:lnTo>
                  <a:pt x="4145176" y="276514"/>
                </a:lnTo>
                <a:lnTo>
                  <a:pt x="4328051" y="362102"/>
                </a:lnTo>
                <a:lnTo>
                  <a:pt x="4571885" y="0"/>
                </a:lnTo>
                <a:lnTo>
                  <a:pt x="4815719" y="510235"/>
                </a:lnTo>
                <a:lnTo>
                  <a:pt x="5059553" y="329184"/>
                </a:lnTo>
                <a:lnTo>
                  <a:pt x="6095847" y="329184"/>
                </a:lnTo>
                <a:lnTo>
                  <a:pt x="6095847" y="329184"/>
                </a:lnTo>
                <a:lnTo>
                  <a:pt x="7010224" y="329184"/>
                </a:lnTo>
                <a:lnTo>
                  <a:pt x="7193100" y="276514"/>
                </a:lnTo>
                <a:lnTo>
                  <a:pt x="7375975" y="362102"/>
                </a:lnTo>
                <a:lnTo>
                  <a:pt x="7619809" y="0"/>
                </a:lnTo>
                <a:lnTo>
                  <a:pt x="7863643" y="510235"/>
                </a:lnTo>
                <a:lnTo>
                  <a:pt x="8107477" y="329184"/>
                </a:lnTo>
                <a:lnTo>
                  <a:pt x="9143771" y="329184"/>
                </a:lnTo>
                <a:lnTo>
                  <a:pt x="9143771" y="329184"/>
                </a:lnTo>
                <a:lnTo>
                  <a:pt x="10058148" y="329184"/>
                </a:lnTo>
                <a:lnTo>
                  <a:pt x="10241023" y="276514"/>
                </a:lnTo>
                <a:lnTo>
                  <a:pt x="10423899" y="362102"/>
                </a:lnTo>
                <a:lnTo>
                  <a:pt x="10667733" y="0"/>
                </a:lnTo>
                <a:lnTo>
                  <a:pt x="10911567" y="510235"/>
                </a:lnTo>
                <a:lnTo>
                  <a:pt x="11155401" y="329184"/>
                </a:lnTo>
                <a:lnTo>
                  <a:pt x="12191695" y="329184"/>
                </a:lnTo>
              </a:path>
            </a:pathLst>
          </a:custGeom>
          <a:noFill/>
          <a:ln w="15875">
            <a:solidFill>
              <a:srgbClr val="C87E12">
                <a:alpha val="36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2" name="Connector 11"/>
          <p:cNvCxnSpPr/>
          <p:nvPr/>
        </p:nvCxnSpPr>
        <p:spPr>
          <a:xfrm>
            <a:off x="640080" y="6291072"/>
            <a:ext cx="10911535" cy="0"/>
          </a:xfrm>
          <a:prstGeom prst="line">
            <a:avLst/>
          </a:prstGeom>
          <a:ln w="9525">
            <a:solidFill>
              <a:srgbClr val="E2E9F1"/>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640080" y="6382512"/>
            <a:ext cx="5486400" cy="237744"/>
          </a:xfrm>
          <a:prstGeom prst="rect">
            <a:avLst/>
          </a:prstGeom>
          <a:noFill/>
        </p:spPr>
        <p:txBody>
          <a:bodyPr wrap="square" lIns="0" rIns="0" tIns="0" bIns="0" anchor="t">
            <a:spAutoFit/>
          </a:bodyPr>
          <a:lstStyle/>
          <a:p>
            <a:pPr algn="l">
              <a:lnSpc>
                <a:spcPct val="120000"/>
              </a:lnSpc>
              <a:spcAft>
                <a:spcPts val="0"/>
              </a:spcAft>
            </a:pPr>
            <a:r>
              <a:rPr sz="900" b="0" spc="80">
                <a:solidFill>
                  <a:srgbClr val="8B9AAA"/>
                </a:solidFill>
                <a:latin typeface="Calibri"/>
              </a:rPr>
              <a:t>Acute poort en Hotfloor</a:t>
            </a:r>
          </a:p>
        </p:txBody>
      </p:sp>
      <p:sp>
        <p:nvSpPr>
          <p:cNvPr id="14" name="TextBox 13"/>
          <p:cNvSpPr txBox="1"/>
          <p:nvPr/>
        </p:nvSpPr>
        <p:spPr>
          <a:xfrm>
            <a:off x="10637215" y="6382512"/>
            <a:ext cx="914400" cy="237744"/>
          </a:xfrm>
          <a:prstGeom prst="rect">
            <a:avLst/>
          </a:prstGeom>
          <a:noFill/>
        </p:spPr>
        <p:txBody>
          <a:bodyPr wrap="square" lIns="0" rIns="0" tIns="0" bIns="0" anchor="t">
            <a:spAutoFit/>
          </a:bodyPr>
          <a:lstStyle/>
          <a:p>
            <a:pPr algn="r">
              <a:lnSpc>
                <a:spcPct val="120000"/>
              </a:lnSpc>
              <a:spcAft>
                <a:spcPts val="0"/>
              </a:spcAft>
            </a:pPr>
            <a:r>
              <a:rPr sz="950" b="1">
                <a:solidFill>
                  <a:srgbClr val="0E9A87"/>
                </a:solidFill>
                <a:latin typeface="Calibri"/>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FFFFFF"/>
              </a:gs>
              <a:gs pos="100000">
                <a:srgbClr val="F1F6FC"/>
              </a:gs>
            </a:gsLst>
            <a:lin scaled="0" ang="189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640080" y="566928"/>
            <a:ext cx="10911535" cy="219456"/>
          </a:xfrm>
          <a:prstGeom prst="rect">
            <a:avLst/>
          </a:prstGeom>
          <a:noFill/>
        </p:spPr>
        <p:txBody>
          <a:bodyPr wrap="square" lIns="0" rIns="0" tIns="0" bIns="0" anchor="t">
            <a:spAutoFit/>
          </a:bodyPr>
          <a:lstStyle/>
          <a:p>
            <a:pPr algn="l">
              <a:lnSpc>
                <a:spcPct val="120000"/>
              </a:lnSpc>
              <a:spcAft>
                <a:spcPts val="0"/>
              </a:spcAft>
            </a:pPr>
            <a:r>
              <a:rPr sz="1050" b="1" spc="220">
                <a:solidFill>
                  <a:srgbClr val="0E9A87"/>
                </a:solidFill>
                <a:latin typeface="Calibri"/>
              </a:rPr>
              <a:t>DEEL 04  ·  WAT MOET ER BESLOTEN WORDEN</a:t>
            </a:r>
          </a:p>
        </p:txBody>
      </p:sp>
      <p:sp>
        <p:nvSpPr>
          <p:cNvPr id="4" name="TextBox 3"/>
          <p:cNvSpPr txBox="1"/>
          <p:nvPr/>
        </p:nvSpPr>
        <p:spPr>
          <a:xfrm>
            <a:off x="640080" y="859536"/>
            <a:ext cx="10911535" cy="566928"/>
          </a:xfrm>
          <a:prstGeom prst="rect">
            <a:avLst/>
          </a:prstGeom>
          <a:noFill/>
        </p:spPr>
        <p:txBody>
          <a:bodyPr wrap="square" lIns="0" rIns="0" tIns="0" bIns="0" anchor="t">
            <a:spAutoFit/>
          </a:bodyPr>
          <a:lstStyle/>
          <a:p>
            <a:pPr algn="l">
              <a:lnSpc>
                <a:spcPct val="120000"/>
              </a:lnSpc>
              <a:spcAft>
                <a:spcPts val="0"/>
              </a:spcAft>
            </a:pPr>
            <a:r>
              <a:rPr sz="3400" b="1">
                <a:solidFill>
                  <a:srgbClr val="0D1B2A"/>
                </a:solidFill>
                <a:latin typeface="Calibri"/>
              </a:rPr>
              <a:t>Wat weten we per situatie</a:t>
            </a:r>
          </a:p>
        </p:txBody>
      </p:sp>
      <p:sp>
        <p:nvSpPr>
          <p:cNvPr id="5" name="TextBox 4"/>
          <p:cNvSpPr txBox="1"/>
          <p:nvPr/>
        </p:nvSpPr>
        <p:spPr>
          <a:xfrm>
            <a:off x="640080" y="1335024"/>
            <a:ext cx="8510997" cy="274320"/>
          </a:xfrm>
          <a:prstGeom prst="rect">
            <a:avLst/>
          </a:prstGeom>
          <a:noFill/>
        </p:spPr>
        <p:txBody>
          <a:bodyPr wrap="square" lIns="0" rIns="0" tIns="0" bIns="0" anchor="t">
            <a:spAutoFit/>
          </a:bodyPr>
          <a:lstStyle/>
          <a:p>
            <a:pPr algn="l">
              <a:lnSpc>
                <a:spcPct val="120000"/>
              </a:lnSpc>
              <a:spcAft>
                <a:spcPts val="0"/>
              </a:spcAft>
            </a:pPr>
            <a:r>
              <a:rPr sz="1300" b="0">
                <a:solidFill>
                  <a:srgbClr val="55677C"/>
                </a:solidFill>
                <a:latin typeface="Calibri"/>
              </a:rPr>
              <a:t>Fysieke planning naast personele inzet</a:t>
            </a:r>
          </a:p>
        </p:txBody>
      </p:sp>
      <p:cxnSp>
        <p:nvCxnSpPr>
          <p:cNvPr id="6" name="Connector 5"/>
          <p:cNvCxnSpPr/>
          <p:nvPr/>
        </p:nvCxnSpPr>
        <p:spPr>
          <a:xfrm>
            <a:off x="640080" y="1609344"/>
            <a:ext cx="10911535" cy="0"/>
          </a:xfrm>
          <a:prstGeom prst="line">
            <a:avLst/>
          </a:prstGeom>
          <a:ln w="12700">
            <a:solidFill>
              <a:srgbClr val="E2E9F1"/>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640080" y="6291072"/>
            <a:ext cx="10911535" cy="0"/>
          </a:xfrm>
          <a:prstGeom prst="line">
            <a:avLst/>
          </a:prstGeom>
          <a:ln w="9525">
            <a:solidFill>
              <a:srgbClr val="E2E9F1"/>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40080" y="6382512"/>
            <a:ext cx="5486400" cy="237744"/>
          </a:xfrm>
          <a:prstGeom prst="rect">
            <a:avLst/>
          </a:prstGeom>
          <a:noFill/>
        </p:spPr>
        <p:txBody>
          <a:bodyPr wrap="square" lIns="0" rIns="0" tIns="0" bIns="0" anchor="t">
            <a:spAutoFit/>
          </a:bodyPr>
          <a:lstStyle/>
          <a:p>
            <a:pPr algn="l">
              <a:lnSpc>
                <a:spcPct val="120000"/>
              </a:lnSpc>
              <a:spcAft>
                <a:spcPts val="0"/>
              </a:spcAft>
            </a:pPr>
            <a:r>
              <a:rPr sz="900" b="0" spc="80">
                <a:solidFill>
                  <a:srgbClr val="8B9AAA"/>
                </a:solidFill>
                <a:latin typeface="Calibri"/>
              </a:rPr>
              <a:t>Acute poort en Hotfloor</a:t>
            </a:r>
          </a:p>
        </p:txBody>
      </p:sp>
      <p:sp>
        <p:nvSpPr>
          <p:cNvPr id="9" name="TextBox 8"/>
          <p:cNvSpPr txBox="1"/>
          <p:nvPr/>
        </p:nvSpPr>
        <p:spPr>
          <a:xfrm>
            <a:off x="10637215" y="6382512"/>
            <a:ext cx="914400" cy="237744"/>
          </a:xfrm>
          <a:prstGeom prst="rect">
            <a:avLst/>
          </a:prstGeom>
          <a:noFill/>
        </p:spPr>
        <p:txBody>
          <a:bodyPr wrap="square" lIns="0" rIns="0" tIns="0" bIns="0" anchor="t">
            <a:spAutoFit/>
          </a:bodyPr>
          <a:lstStyle/>
          <a:p>
            <a:pPr algn="r">
              <a:lnSpc>
                <a:spcPct val="120000"/>
              </a:lnSpc>
              <a:spcAft>
                <a:spcPts val="0"/>
              </a:spcAft>
            </a:pPr>
            <a:r>
              <a:rPr sz="950" b="1">
                <a:solidFill>
                  <a:srgbClr val="0E9A87"/>
                </a:solidFill>
                <a:latin typeface="Calibri"/>
              </a:rPr>
              <a:t>19</a:t>
            </a:r>
          </a:p>
        </p:txBody>
      </p:sp>
      <p:graphicFrame>
        <p:nvGraphicFramePr>
          <p:cNvPr id="10" name="Table 9"/>
          <p:cNvGraphicFramePr>
            <a:graphicFrameLocks noGrp="1"/>
          </p:cNvGraphicFramePr>
          <p:nvPr/>
        </p:nvGraphicFramePr>
        <p:xfrm>
          <a:off x="640080" y="1700784"/>
          <a:ext cx="10911535" cy="2852928"/>
        </p:xfrm>
        <a:graphic>
          <a:graphicData uri="http://schemas.openxmlformats.org/drawingml/2006/table">
            <a:tbl>
              <a:tblPr>
                <a:tableStyleId>{5C22544A-7EE6-4342-B048-85BDC9FD1C3A}</a:tableStyleId>
              </a:tblPr>
              <a:tblGrid>
                <a:gridCol w="2286000"/>
                <a:gridCol w="4343400"/>
                <a:gridCol w="4282135"/>
              </a:tblGrid>
              <a:tr h="347472">
                <a:tc>
                  <a:txBody>
                    <a:bodyPr wrap="square"/>
                    <a:lstStyle/>
                    <a:p>
                      <a:pPr algn="l">
                        <a:spcAft>
                          <a:spcPts val="200"/>
                        </a:spcAft>
                      </a:pPr>
                      <a:r>
                        <a:rPr sz="950" b="1">
                          <a:solidFill>
                            <a:srgbClr val="0E9A87"/>
                          </a:solidFill>
                          <a:latin typeface="Calibri"/>
                        </a:rPr>
                        <a:t>SITUATIE</a:t>
                      </a:r>
                    </a:p>
                  </a:txBody>
                  <a:tcPr marL="91440" marR="91440" marT="36576" marB="36576" anchor="ctr">
                    <a:solidFill>
                      <a:srgbClr val="FFFFFF"/>
                    </a:solidFill>
                    <a:lnL w="0">
                      <a:noFill/>
                    </a:lnL>
                    <a:lnR w="0">
                      <a:noFill/>
                    </a:lnR>
                    <a:lnT w="0">
                      <a:noFill/>
                    </a:lnT>
                    <a:lnB w="6350" cap="flat">
                      <a:solidFill>
                        <a:srgbClr val="E2E9F1"/>
                      </a:solidFill>
                    </a:lnB>
                  </a:tcPr>
                </a:tc>
                <a:tc>
                  <a:txBody>
                    <a:bodyPr wrap="square"/>
                    <a:lstStyle/>
                    <a:p>
                      <a:pPr algn="l">
                        <a:spcAft>
                          <a:spcPts val="200"/>
                        </a:spcAft>
                      </a:pPr>
                      <a:r>
                        <a:rPr sz="950" b="1">
                          <a:solidFill>
                            <a:srgbClr val="0E9A87"/>
                          </a:solidFill>
                          <a:latin typeface="Calibri"/>
                        </a:rPr>
                        <a:t>FYSIEKE PLANNING</a:t>
                      </a:r>
                    </a:p>
                  </a:txBody>
                  <a:tcPr marL="91440" marR="91440" marT="36576" marB="36576" anchor="ctr">
                    <a:solidFill>
                      <a:srgbClr val="FFFFFF"/>
                    </a:solidFill>
                    <a:lnL w="0">
                      <a:noFill/>
                    </a:lnL>
                    <a:lnR w="0">
                      <a:noFill/>
                    </a:lnR>
                    <a:lnT w="0">
                      <a:noFill/>
                    </a:lnT>
                    <a:lnB w="6350" cap="flat">
                      <a:solidFill>
                        <a:srgbClr val="E2E9F1"/>
                      </a:solidFill>
                    </a:lnB>
                  </a:tcPr>
                </a:tc>
                <a:tc>
                  <a:txBody>
                    <a:bodyPr wrap="square"/>
                    <a:lstStyle/>
                    <a:p>
                      <a:pPr algn="l">
                        <a:spcAft>
                          <a:spcPts val="200"/>
                        </a:spcAft>
                      </a:pPr>
                      <a:r>
                        <a:rPr sz="950" b="1">
                          <a:solidFill>
                            <a:srgbClr val="0E9A87"/>
                          </a:solidFill>
                          <a:latin typeface="Calibri"/>
                        </a:rPr>
                        <a:t>PERSONELE INZET · OPLEIDEN</a:t>
                      </a:r>
                    </a:p>
                  </a:txBody>
                  <a:tcPr marL="91440" marR="91440" marT="36576" marB="36576" anchor="ctr">
                    <a:solidFill>
                      <a:srgbClr val="FFFFFF"/>
                    </a:solidFill>
                    <a:lnL w="0">
                      <a:noFill/>
                    </a:lnL>
                    <a:lnR w="0">
                      <a:noFill/>
                    </a:lnR>
                    <a:lnT w="0">
                      <a:noFill/>
                    </a:lnT>
                    <a:lnB w="6350" cap="flat">
                      <a:solidFill>
                        <a:srgbClr val="E2E9F1"/>
                      </a:solidFill>
                    </a:lnB>
                  </a:tcPr>
                </a:tc>
              </a:tr>
              <a:tr h="566928">
                <a:tc>
                  <a:txBody>
                    <a:bodyPr wrap="square"/>
                    <a:lstStyle/>
                    <a:p>
                      <a:pPr algn="l">
                        <a:spcAft>
                          <a:spcPts val="200"/>
                        </a:spcAft>
                      </a:pPr>
                      <a:r>
                        <a:rPr sz="1150" b="1">
                          <a:solidFill>
                            <a:srgbClr val="0D1B2A"/>
                          </a:solidFill>
                          <a:latin typeface="Calibri"/>
                        </a:rPr>
                        <a:t>Oudbouw</a:t>
                      </a:r>
                    </a:p>
                    <a:p>
                      <a:pPr algn="l">
                        <a:spcAft>
                          <a:spcPts val="200"/>
                        </a:spcAft>
                      </a:pPr>
                      <a:r>
                        <a:rPr sz="1150" b="1">
                          <a:solidFill>
                            <a:srgbClr val="0D1B2A"/>
                          </a:solidFill>
                          <a:latin typeface="Calibri"/>
                        </a:rPr>
                        <a:t>okt 2026 - mei 2027</a:t>
                      </a:r>
                    </a:p>
                  </a:txBody>
                  <a:tcPr marL="91440" marR="91440" marT="36576" marB="36576" anchor="ctr">
                    <a:solidFill>
                      <a:srgbClr val="FFFFFF"/>
                    </a:solidFill>
                    <a:lnL w="0">
                      <a:noFill/>
                    </a:lnL>
                    <a:lnR w="0">
                      <a:noFill/>
                    </a:lnR>
                    <a:lnT w="0">
                      <a:noFill/>
                    </a:lnT>
                    <a:lnB w="6350" cap="flat">
                      <a:solidFill>
                        <a:srgbClr val="E2E9F1"/>
                      </a:solidFill>
                    </a:lnB>
                  </a:tcPr>
                </a:tc>
                <a:tc>
                  <a:txBody>
                    <a:bodyPr wrap="square"/>
                    <a:lstStyle/>
                    <a:p>
                      <a:pPr algn="l">
                        <a:spcAft>
                          <a:spcPts val="200"/>
                        </a:spcAft>
                      </a:pPr>
                      <a:r>
                        <a:rPr sz="1150" b="0">
                          <a:solidFill>
                            <a:srgbClr val="55677C"/>
                          </a:solidFill>
                          <a:latin typeface="Calibri"/>
                        </a:rPr>
                        <a:t>Zie de vijf scenario's (dia 12)</a:t>
                      </a:r>
                    </a:p>
                  </a:txBody>
                  <a:tcPr marL="91440" marR="91440" marT="36576" marB="36576" anchor="ctr">
                    <a:solidFill>
                      <a:srgbClr val="FFFFFF"/>
                    </a:solidFill>
                    <a:lnL w="0">
                      <a:noFill/>
                    </a:lnL>
                    <a:lnR w="0">
                      <a:noFill/>
                    </a:lnR>
                    <a:lnT w="0">
                      <a:noFill/>
                    </a:lnT>
                    <a:lnB w="6350" cap="flat">
                      <a:solidFill>
                        <a:srgbClr val="E2E9F1"/>
                      </a:solidFill>
                    </a:lnB>
                  </a:tcPr>
                </a:tc>
                <a:tc>
                  <a:txBody>
                    <a:bodyPr wrap="square"/>
                    <a:lstStyle/>
                    <a:p>
                      <a:pPr algn="l">
                        <a:spcAft>
                          <a:spcPts val="200"/>
                        </a:spcAft>
                      </a:pPr>
                      <a:r>
                        <a:rPr sz="1150" b="0">
                          <a:solidFill>
                            <a:srgbClr val="8B9AAA"/>
                          </a:solidFill>
                          <a:latin typeface="Calibri"/>
                        </a:rPr>
                        <a:t>nog niet ingevuld</a:t>
                      </a:r>
                    </a:p>
                  </a:txBody>
                  <a:tcPr marL="91440" marR="91440" marT="36576" marB="36576" anchor="ctr">
                    <a:solidFill>
                      <a:srgbClr val="FFFFFF"/>
                    </a:solidFill>
                    <a:lnL w="0">
                      <a:noFill/>
                    </a:lnL>
                    <a:lnR w="0">
                      <a:noFill/>
                    </a:lnR>
                    <a:lnT w="0">
                      <a:noFill/>
                    </a:lnT>
                    <a:lnB w="6350" cap="flat">
                      <a:solidFill>
                        <a:srgbClr val="E2E9F1"/>
                      </a:solidFill>
                    </a:lnB>
                  </a:tcPr>
                </a:tc>
              </a:tr>
              <a:tr h="566928">
                <a:tc>
                  <a:txBody>
                    <a:bodyPr wrap="square"/>
                    <a:lstStyle/>
                    <a:p>
                      <a:pPr algn="l">
                        <a:spcAft>
                          <a:spcPts val="200"/>
                        </a:spcAft>
                      </a:pPr>
                      <a:r>
                        <a:rPr sz="1150" b="1">
                          <a:solidFill>
                            <a:srgbClr val="0D1B2A"/>
                          </a:solidFill>
                          <a:latin typeface="Calibri"/>
                        </a:rPr>
                        <a:t>Verhuisperiode</a:t>
                      </a:r>
                    </a:p>
                    <a:p>
                      <a:pPr algn="l">
                        <a:spcAft>
                          <a:spcPts val="200"/>
                        </a:spcAft>
                      </a:pPr>
                      <a:r>
                        <a:rPr sz="1150" b="1">
                          <a:solidFill>
                            <a:srgbClr val="0D1B2A"/>
                          </a:solidFill>
                          <a:latin typeface="Calibri"/>
                        </a:rPr>
                        <a:t>juni 2027</a:t>
                      </a:r>
                    </a:p>
                  </a:txBody>
                  <a:tcPr marL="91440" marR="91440" marT="36576" marB="36576" anchor="ctr">
                    <a:solidFill>
                      <a:srgbClr val="F6F9FD"/>
                    </a:solidFill>
                    <a:lnL w="0">
                      <a:noFill/>
                    </a:lnL>
                    <a:lnR w="0">
                      <a:noFill/>
                    </a:lnR>
                    <a:lnT w="0">
                      <a:noFill/>
                    </a:lnT>
                    <a:lnB w="6350" cap="flat">
                      <a:solidFill>
                        <a:srgbClr val="E2E9F1"/>
                      </a:solidFill>
                    </a:lnB>
                  </a:tcPr>
                </a:tc>
                <a:tc>
                  <a:txBody>
                    <a:bodyPr wrap="square"/>
                    <a:lstStyle/>
                    <a:p>
                      <a:pPr algn="l">
                        <a:spcAft>
                          <a:spcPts val="200"/>
                        </a:spcAft>
                      </a:pPr>
                      <a:r>
                        <a:rPr sz="1150" b="0">
                          <a:solidFill>
                            <a:srgbClr val="8B9AAA"/>
                          </a:solidFill>
                          <a:latin typeface="Calibri"/>
                        </a:rPr>
                        <a:t>nog niet ingevuld</a:t>
                      </a:r>
                    </a:p>
                  </a:txBody>
                  <a:tcPr marL="91440" marR="91440" marT="36576" marB="36576" anchor="ctr">
                    <a:solidFill>
                      <a:srgbClr val="F6F9FD"/>
                    </a:solidFill>
                    <a:lnL w="0">
                      <a:noFill/>
                    </a:lnL>
                    <a:lnR w="0">
                      <a:noFill/>
                    </a:lnR>
                    <a:lnT w="0">
                      <a:noFill/>
                    </a:lnT>
                    <a:lnB w="6350" cap="flat">
                      <a:solidFill>
                        <a:srgbClr val="E2E9F1"/>
                      </a:solidFill>
                    </a:lnB>
                  </a:tcPr>
                </a:tc>
                <a:tc>
                  <a:txBody>
                    <a:bodyPr wrap="square"/>
                    <a:lstStyle/>
                    <a:p>
                      <a:pPr algn="l">
                        <a:spcAft>
                          <a:spcPts val="200"/>
                        </a:spcAft>
                      </a:pPr>
                      <a:r>
                        <a:rPr sz="1150" b="0">
                          <a:solidFill>
                            <a:srgbClr val="8B9AAA"/>
                          </a:solidFill>
                          <a:latin typeface="Calibri"/>
                        </a:rPr>
                        <a:t>nog niet ingevuld</a:t>
                      </a:r>
                    </a:p>
                  </a:txBody>
                  <a:tcPr marL="91440" marR="91440" marT="36576" marB="36576" anchor="ctr">
                    <a:solidFill>
                      <a:srgbClr val="F6F9FD"/>
                    </a:solidFill>
                    <a:lnL w="0">
                      <a:noFill/>
                    </a:lnL>
                    <a:lnR w="0">
                      <a:noFill/>
                    </a:lnR>
                    <a:lnT w="0">
                      <a:noFill/>
                    </a:lnT>
                    <a:lnB w="6350" cap="flat">
                      <a:solidFill>
                        <a:srgbClr val="E2E9F1"/>
                      </a:solidFill>
                    </a:lnB>
                  </a:tcPr>
                </a:tc>
              </a:tr>
              <a:tr h="1371600">
                <a:tc>
                  <a:txBody>
                    <a:bodyPr wrap="square"/>
                    <a:lstStyle/>
                    <a:p>
                      <a:pPr algn="l">
                        <a:spcAft>
                          <a:spcPts val="200"/>
                        </a:spcAft>
                      </a:pPr>
                      <a:r>
                        <a:rPr sz="1150" b="1">
                          <a:solidFill>
                            <a:srgbClr val="0D1B2A"/>
                          </a:solidFill>
                          <a:latin typeface="Calibri"/>
                        </a:rPr>
                        <a:t>Nieuwbouw</a:t>
                      </a:r>
                    </a:p>
                    <a:p>
                      <a:pPr algn="l">
                        <a:spcAft>
                          <a:spcPts val="200"/>
                        </a:spcAft>
                      </a:pPr>
                      <a:r>
                        <a:rPr sz="1150" b="1">
                          <a:solidFill>
                            <a:srgbClr val="0D1B2A"/>
                          </a:solidFill>
                          <a:latin typeface="Calibri"/>
                        </a:rPr>
                        <a:t>vanaf juni 2027</a:t>
                      </a:r>
                    </a:p>
                  </a:txBody>
                  <a:tcPr marL="91440" marR="91440" marT="36576" marB="36576" anchor="ctr">
                    <a:solidFill>
                      <a:srgbClr val="FFFFFF"/>
                    </a:solidFill>
                    <a:lnL w="0">
                      <a:noFill/>
                    </a:lnL>
                    <a:lnR w="0">
                      <a:noFill/>
                    </a:lnR>
                    <a:lnT w="0">
                      <a:noFill/>
                    </a:lnT>
                    <a:lnB w="6350" cap="flat">
                      <a:solidFill>
                        <a:srgbClr val="E2E9F1"/>
                      </a:solidFill>
                    </a:lnB>
                  </a:tcPr>
                </a:tc>
                <a:tc>
                  <a:txBody>
                    <a:bodyPr wrap="square"/>
                    <a:lstStyle/>
                    <a:p>
                      <a:pPr algn="l">
                        <a:spcAft>
                          <a:spcPts val="200"/>
                        </a:spcAft>
                      </a:pPr>
                      <a:r>
                        <a:rPr sz="1050" b="0">
                          <a:solidFill>
                            <a:srgbClr val="55677C"/>
                          </a:solidFill>
                          <a:latin typeface="Calibri"/>
                        </a:rPr>
                        <a:t>1   Waar komt de recoverypatiënt in avond, nacht en weekend?</a:t>
                      </a:r>
                    </a:p>
                    <a:p>
                      <a:pPr algn="l">
                        <a:spcAft>
                          <a:spcPts val="200"/>
                        </a:spcAft>
                      </a:pPr>
                      <a:r>
                        <a:rPr sz="1050" b="0">
                          <a:solidFill>
                            <a:srgbClr val="55677C"/>
                          </a:solidFill>
                          <a:latin typeface="Calibri"/>
                        </a:rPr>
                        <a:t>2   Waar komt de cardioversie?</a:t>
                      </a:r>
                    </a:p>
                    <a:p>
                      <a:pPr algn="l">
                        <a:spcAft>
                          <a:spcPts val="200"/>
                        </a:spcAft>
                      </a:pPr>
                      <a:r>
                        <a:rPr sz="1050" b="0">
                          <a:solidFill>
                            <a:srgbClr val="55677C"/>
                          </a:solidFill>
                          <a:latin typeface="Calibri"/>
                        </a:rPr>
                        <a:t>3   Hoort de EHH bij de SEH of bij de Hotfloor?</a:t>
                      </a:r>
                    </a:p>
                    <a:p>
                      <a:pPr algn="l">
                        <a:spcAft>
                          <a:spcPts val="200"/>
                        </a:spcAft>
                      </a:pPr>
                      <a:r>
                        <a:rPr sz="1050" b="0">
                          <a:solidFill>
                            <a:srgbClr val="55677C"/>
                          </a:solidFill>
                          <a:latin typeface="Calibri"/>
                        </a:rPr>
                        <a:t>4   Komt de OSAS post-OK patiënt nog op de ICU?</a:t>
                      </a:r>
                    </a:p>
                  </a:txBody>
                  <a:tcPr marL="91440" marR="91440" marT="36576" marB="36576" anchor="ctr">
                    <a:solidFill>
                      <a:srgbClr val="FFFFFF"/>
                    </a:solidFill>
                    <a:lnL w="0">
                      <a:noFill/>
                    </a:lnL>
                    <a:lnR w="0">
                      <a:noFill/>
                    </a:lnR>
                    <a:lnT w="0">
                      <a:noFill/>
                    </a:lnT>
                    <a:lnB w="6350" cap="flat">
                      <a:solidFill>
                        <a:srgbClr val="E2E9F1"/>
                      </a:solidFill>
                    </a:lnB>
                  </a:tcPr>
                </a:tc>
                <a:tc>
                  <a:txBody>
                    <a:bodyPr wrap="square"/>
                    <a:lstStyle/>
                    <a:p>
                      <a:pPr algn="l">
                        <a:spcAft>
                          <a:spcPts val="200"/>
                        </a:spcAft>
                      </a:pPr>
                      <a:r>
                        <a:rPr sz="1150" b="0">
                          <a:solidFill>
                            <a:srgbClr val="55677C"/>
                          </a:solidFill>
                          <a:latin typeface="Calibri"/>
                        </a:rPr>
                        <a:t>1   Wat gebeurt er met de scopedienst van de CCU?</a:t>
                      </a:r>
                    </a:p>
                    <a:p>
                      <a:pPr algn="l">
                        <a:spcAft>
                          <a:spcPts val="200"/>
                        </a:spcAft>
                      </a:pPr>
                      <a:r>
                        <a:rPr sz="1150" b="0">
                          <a:solidFill>
                            <a:srgbClr val="55677C"/>
                          </a:solidFill>
                          <a:latin typeface="Calibri"/>
                        </a:rPr>
                        <a:t>2   Welke norm geldt voor de Hotfloor?</a:t>
                      </a:r>
                    </a:p>
                    <a:p>
                      <a:pPr algn="l">
                        <a:spcAft>
                          <a:spcPts val="200"/>
                        </a:spcAft>
                      </a:pPr>
                      <a:r>
                        <a:rPr sz="1150" b="0">
                          <a:solidFill>
                            <a:srgbClr val="55677C"/>
                          </a:solidFill>
                          <a:latin typeface="Calibri"/>
                        </a:rPr>
                        <a:t>3   Inzet kinderverpleegkundige op de SEH?</a:t>
                      </a:r>
                    </a:p>
                    <a:p>
                      <a:pPr algn="l">
                        <a:spcAft>
                          <a:spcPts val="200"/>
                        </a:spcAft>
                      </a:pPr>
                      <a:r>
                        <a:rPr sz="1150" b="0">
                          <a:solidFill>
                            <a:srgbClr val="55677C"/>
                          </a:solidFill>
                          <a:latin typeface="Calibri"/>
                        </a:rPr>
                        <a:t>4   En verder</a:t>
                      </a:r>
                    </a:p>
                  </a:txBody>
                  <a:tcPr marL="91440" marR="91440" marT="36576" marB="36576" anchor="ctr">
                    <a:solidFill>
                      <a:srgbClr val="FFFFFF"/>
                    </a:solidFill>
                    <a:lnL w="0">
                      <a:noFill/>
                    </a:lnL>
                    <a:lnR w="0">
                      <a:noFill/>
                    </a:lnR>
                    <a:lnT w="0">
                      <a:noFill/>
                    </a:lnT>
                    <a:lnB w="6350" cap="flat">
                      <a:solidFill>
                        <a:srgbClr val="E2E9F1"/>
                      </a:solidFill>
                    </a:lnB>
                  </a:tcPr>
                </a:tc>
              </a:tr>
            </a:tbl>
          </a:graphicData>
        </a:graphic>
      </p:graphicFrame>
      <p:sp>
        <p:nvSpPr>
          <p:cNvPr id="11" name="Rounded Rectangle 10"/>
          <p:cNvSpPr/>
          <p:nvPr/>
        </p:nvSpPr>
        <p:spPr>
          <a:xfrm>
            <a:off x="640080" y="5394959"/>
            <a:ext cx="10911535" cy="822960"/>
          </a:xfrm>
          <a:prstGeom prst="roundRect">
            <a:avLst>
              <a:gd name="adj" fmla="val 3000"/>
            </a:avLst>
          </a:prstGeom>
          <a:solidFill>
            <a:srgbClr val="EDEAE5"/>
          </a:solidFill>
          <a:ln w="15875">
            <a:solidFill>
              <a:srgbClr val="E1C8A3"/>
            </a:solidFill>
          </a:ln>
          <a:effectLst>
            <a:outerShdw blurRad="60000" dist="18000" dir="5400000" rotWithShape="0">
              <a:srgbClr val="1B3A5C">
                <a:alpha val="7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640080" y="5394959"/>
            <a:ext cx="50292" cy="822960"/>
          </a:xfrm>
          <a:prstGeom prst="roundRect">
            <a:avLst>
              <a:gd name="adj" fmla="val 50000"/>
            </a:avLst>
          </a:prstGeom>
          <a:solidFill>
            <a:srgbClr val="C87E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69264" y="5477255"/>
            <a:ext cx="9997135" cy="658368"/>
          </a:xfrm>
          <a:prstGeom prst="rect">
            <a:avLst/>
          </a:prstGeom>
          <a:noFill/>
        </p:spPr>
        <p:txBody>
          <a:bodyPr wrap="square" lIns="0" rIns="0" tIns="0" bIns="0" anchor="ctr">
            <a:spAutoFit/>
          </a:bodyPr>
          <a:lstStyle/>
          <a:p>
            <a:pPr algn="l">
              <a:lnSpc>
                <a:spcPct val="120000"/>
              </a:lnSpc>
              <a:spcAft>
                <a:spcPts val="300"/>
              </a:spcAft>
            </a:pPr>
            <a:r>
              <a:rPr sz="950" b="1" spc="180">
                <a:solidFill>
                  <a:srgbClr val="C87E12"/>
                </a:solidFill>
                <a:latin typeface="Calibri"/>
              </a:rPr>
              <a:t>OPENSTAANDE VRAAG</a:t>
            </a:r>
          </a:p>
          <a:p>
            <a:pPr algn="l">
              <a:lnSpc>
                <a:spcPct val="120000"/>
              </a:lnSpc>
              <a:spcAft>
                <a:spcPts val="0"/>
              </a:spcAft>
            </a:pPr>
            <a:r>
              <a:rPr sz="1250" b="1">
                <a:solidFill>
                  <a:srgbClr val="0D1B2A"/>
                </a:solidFill>
                <a:latin typeface="Calibri"/>
              </a:rPr>
              <a:t>Voor de verhuisperiode is nog niets ingevuld: welke extra diensten zijn er nodig, en op welke locatie?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FFFFFF"/>
              </a:gs>
              <a:gs pos="100000">
                <a:srgbClr val="F1F6FC"/>
              </a:gs>
            </a:gsLst>
            <a:lin scaled="0" ang="189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640080" y="566928"/>
            <a:ext cx="10911535" cy="219456"/>
          </a:xfrm>
          <a:prstGeom prst="rect">
            <a:avLst/>
          </a:prstGeom>
          <a:noFill/>
        </p:spPr>
        <p:txBody>
          <a:bodyPr wrap="square" lIns="0" rIns="0" tIns="0" bIns="0" anchor="t">
            <a:spAutoFit/>
          </a:bodyPr>
          <a:lstStyle/>
          <a:p>
            <a:pPr algn="l">
              <a:lnSpc>
                <a:spcPct val="120000"/>
              </a:lnSpc>
              <a:spcAft>
                <a:spcPts val="0"/>
              </a:spcAft>
            </a:pPr>
            <a:r>
              <a:rPr sz="1050" b="1" spc="220">
                <a:solidFill>
                  <a:srgbClr val="C87E12"/>
                </a:solidFill>
                <a:latin typeface="Calibri"/>
              </a:rPr>
              <a:t>DEEL 04  ·  WAT MOET ER BESLOTEN WORDEN</a:t>
            </a:r>
          </a:p>
        </p:txBody>
      </p:sp>
      <p:sp>
        <p:nvSpPr>
          <p:cNvPr id="4" name="TextBox 3"/>
          <p:cNvSpPr txBox="1"/>
          <p:nvPr/>
        </p:nvSpPr>
        <p:spPr>
          <a:xfrm>
            <a:off x="640080" y="859536"/>
            <a:ext cx="10911535" cy="566928"/>
          </a:xfrm>
          <a:prstGeom prst="rect">
            <a:avLst/>
          </a:prstGeom>
          <a:noFill/>
        </p:spPr>
        <p:txBody>
          <a:bodyPr wrap="square" lIns="0" rIns="0" tIns="0" bIns="0" anchor="t">
            <a:spAutoFit/>
          </a:bodyPr>
          <a:lstStyle/>
          <a:p>
            <a:pPr algn="l">
              <a:lnSpc>
                <a:spcPct val="120000"/>
              </a:lnSpc>
              <a:spcAft>
                <a:spcPts val="0"/>
              </a:spcAft>
            </a:pPr>
            <a:r>
              <a:rPr sz="3400" b="1">
                <a:solidFill>
                  <a:srgbClr val="0D1B2A"/>
                </a:solidFill>
                <a:latin typeface="Calibri"/>
              </a:rPr>
              <a:t>Zesendertig punten, drie blokken</a:t>
            </a:r>
          </a:p>
        </p:txBody>
      </p:sp>
      <p:sp>
        <p:nvSpPr>
          <p:cNvPr id="5" name="TextBox 4"/>
          <p:cNvSpPr txBox="1"/>
          <p:nvPr/>
        </p:nvSpPr>
        <p:spPr>
          <a:xfrm>
            <a:off x="640080" y="1335024"/>
            <a:ext cx="8510997" cy="274320"/>
          </a:xfrm>
          <a:prstGeom prst="rect">
            <a:avLst/>
          </a:prstGeom>
          <a:noFill/>
        </p:spPr>
        <p:txBody>
          <a:bodyPr wrap="square" lIns="0" rIns="0" tIns="0" bIns="0" anchor="t">
            <a:spAutoFit/>
          </a:bodyPr>
          <a:lstStyle/>
          <a:p>
            <a:pPr algn="l">
              <a:lnSpc>
                <a:spcPct val="120000"/>
              </a:lnSpc>
              <a:spcAft>
                <a:spcPts val="0"/>
              </a:spcAft>
            </a:pPr>
            <a:r>
              <a:rPr sz="1300" b="0">
                <a:solidFill>
                  <a:srgbClr val="55677C"/>
                </a:solidFill>
                <a:latin typeface="Calibri"/>
              </a:rPr>
              <a:t>De vragen en knelpunten van Lonneke en Maxim, gegroepeerd</a:t>
            </a:r>
          </a:p>
        </p:txBody>
      </p:sp>
      <p:cxnSp>
        <p:nvCxnSpPr>
          <p:cNvPr id="6" name="Connector 5"/>
          <p:cNvCxnSpPr/>
          <p:nvPr/>
        </p:nvCxnSpPr>
        <p:spPr>
          <a:xfrm>
            <a:off x="640080" y="1609344"/>
            <a:ext cx="10911535" cy="0"/>
          </a:xfrm>
          <a:prstGeom prst="line">
            <a:avLst/>
          </a:prstGeom>
          <a:ln w="12700">
            <a:solidFill>
              <a:srgbClr val="E2E9F1"/>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640080" y="6291072"/>
            <a:ext cx="10911535" cy="0"/>
          </a:xfrm>
          <a:prstGeom prst="line">
            <a:avLst/>
          </a:prstGeom>
          <a:ln w="9525">
            <a:solidFill>
              <a:srgbClr val="E2E9F1"/>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40080" y="6382512"/>
            <a:ext cx="5486400" cy="237744"/>
          </a:xfrm>
          <a:prstGeom prst="rect">
            <a:avLst/>
          </a:prstGeom>
          <a:noFill/>
        </p:spPr>
        <p:txBody>
          <a:bodyPr wrap="square" lIns="0" rIns="0" tIns="0" bIns="0" anchor="t">
            <a:spAutoFit/>
          </a:bodyPr>
          <a:lstStyle/>
          <a:p>
            <a:pPr algn="l">
              <a:lnSpc>
                <a:spcPct val="120000"/>
              </a:lnSpc>
              <a:spcAft>
                <a:spcPts val="0"/>
              </a:spcAft>
            </a:pPr>
            <a:r>
              <a:rPr sz="900" b="0" spc="80">
                <a:solidFill>
                  <a:srgbClr val="8B9AAA"/>
                </a:solidFill>
                <a:latin typeface="Calibri"/>
              </a:rPr>
              <a:t>Acute poort en Hotfloor</a:t>
            </a:r>
          </a:p>
        </p:txBody>
      </p:sp>
      <p:sp>
        <p:nvSpPr>
          <p:cNvPr id="9" name="TextBox 8"/>
          <p:cNvSpPr txBox="1"/>
          <p:nvPr/>
        </p:nvSpPr>
        <p:spPr>
          <a:xfrm>
            <a:off x="10637215" y="6382512"/>
            <a:ext cx="914400" cy="237744"/>
          </a:xfrm>
          <a:prstGeom prst="rect">
            <a:avLst/>
          </a:prstGeom>
          <a:noFill/>
        </p:spPr>
        <p:txBody>
          <a:bodyPr wrap="square" lIns="0" rIns="0" tIns="0" bIns="0" anchor="t">
            <a:spAutoFit/>
          </a:bodyPr>
          <a:lstStyle/>
          <a:p>
            <a:pPr algn="r">
              <a:lnSpc>
                <a:spcPct val="120000"/>
              </a:lnSpc>
              <a:spcAft>
                <a:spcPts val="0"/>
              </a:spcAft>
            </a:pPr>
            <a:r>
              <a:rPr sz="950" b="1">
                <a:solidFill>
                  <a:srgbClr val="0E9A87"/>
                </a:solidFill>
                <a:latin typeface="Calibri"/>
              </a:rPr>
              <a:t>20</a:t>
            </a:r>
          </a:p>
        </p:txBody>
      </p:sp>
      <p:sp>
        <p:nvSpPr>
          <p:cNvPr id="10" name="Rounded Rectangle 9"/>
          <p:cNvSpPr/>
          <p:nvPr/>
        </p:nvSpPr>
        <p:spPr>
          <a:xfrm>
            <a:off x="640080" y="1700784"/>
            <a:ext cx="3417722" cy="4206240"/>
          </a:xfrm>
          <a:prstGeom prst="roundRect">
            <a:avLst>
              <a:gd name="adj" fmla="val 3000"/>
            </a:avLst>
          </a:prstGeom>
          <a:solidFill>
            <a:srgbClr val="FFFFFF"/>
          </a:solidFill>
          <a:ln w="12700">
            <a:solidFill>
              <a:srgbClr val="E2E9F1"/>
            </a:solidFill>
          </a:ln>
          <a:effectLst>
            <a:outerShdw blurRad="70000" dist="22000" dir="5400000" rotWithShape="0">
              <a:srgbClr val="1B3A5C">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ounded Rectangle 10"/>
          <p:cNvSpPr/>
          <p:nvPr/>
        </p:nvSpPr>
        <p:spPr>
          <a:xfrm>
            <a:off x="640080" y="1700784"/>
            <a:ext cx="3417722" cy="50292"/>
          </a:xfrm>
          <a:prstGeom prst="roundRect">
            <a:avLst>
              <a:gd name="adj" fmla="val 50000"/>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932688" y="1975104"/>
            <a:ext cx="1097280" cy="237744"/>
          </a:xfrm>
          <a:prstGeom prst="rect">
            <a:avLst/>
          </a:prstGeom>
          <a:noFill/>
        </p:spPr>
        <p:txBody>
          <a:bodyPr wrap="square" lIns="0" rIns="0" tIns="0" bIns="0" anchor="t">
            <a:spAutoFit/>
          </a:bodyPr>
          <a:lstStyle/>
          <a:p>
            <a:pPr algn="l">
              <a:lnSpc>
                <a:spcPct val="120000"/>
              </a:lnSpc>
              <a:spcAft>
                <a:spcPts val="0"/>
              </a:spcAft>
            </a:pPr>
            <a:r>
              <a:rPr sz="900" b="1" spc="140">
                <a:solidFill>
                  <a:srgbClr val="8B9AAA"/>
                </a:solidFill>
                <a:latin typeface="Calibri"/>
              </a:rPr>
              <a:t>BLOK 01</a:t>
            </a:r>
          </a:p>
        </p:txBody>
      </p:sp>
      <p:sp>
        <p:nvSpPr>
          <p:cNvPr id="13" name="TextBox 12"/>
          <p:cNvSpPr txBox="1"/>
          <p:nvPr/>
        </p:nvSpPr>
        <p:spPr>
          <a:xfrm>
            <a:off x="2594762" y="1920240"/>
            <a:ext cx="1170432" cy="237744"/>
          </a:xfrm>
          <a:prstGeom prst="rect">
            <a:avLst/>
          </a:prstGeom>
          <a:noFill/>
        </p:spPr>
        <p:txBody>
          <a:bodyPr wrap="square" lIns="0" rIns="0" tIns="0" bIns="0" anchor="t">
            <a:spAutoFit/>
          </a:bodyPr>
          <a:lstStyle/>
          <a:p>
            <a:pPr algn="r">
              <a:lnSpc>
                <a:spcPct val="120000"/>
              </a:lnSpc>
              <a:spcAft>
                <a:spcPts val="0"/>
              </a:spcAft>
            </a:pPr>
            <a:r>
              <a:rPr sz="950" b="1">
                <a:solidFill>
                  <a:srgbClr val="1F6FB2"/>
                </a:solidFill>
                <a:latin typeface="Calibri"/>
              </a:rPr>
              <a:t>dia 19</a:t>
            </a:r>
          </a:p>
        </p:txBody>
      </p:sp>
      <p:sp>
        <p:nvSpPr>
          <p:cNvPr id="14" name="TextBox 13"/>
          <p:cNvSpPr txBox="1"/>
          <p:nvPr/>
        </p:nvSpPr>
        <p:spPr>
          <a:xfrm>
            <a:off x="932688" y="2267712"/>
            <a:ext cx="2832506" cy="786384"/>
          </a:xfrm>
          <a:prstGeom prst="rect">
            <a:avLst/>
          </a:prstGeom>
          <a:noFill/>
        </p:spPr>
        <p:txBody>
          <a:bodyPr wrap="square" lIns="0" rIns="0" tIns="0" bIns="0" anchor="t">
            <a:spAutoFit/>
          </a:bodyPr>
          <a:lstStyle/>
          <a:p>
            <a:pPr algn="l">
              <a:lnSpc>
                <a:spcPct val="120000"/>
              </a:lnSpc>
              <a:spcAft>
                <a:spcPts val="0"/>
              </a:spcAft>
            </a:pPr>
            <a:r>
              <a:rPr sz="4600" b="1">
                <a:solidFill>
                  <a:srgbClr val="1F6FB2"/>
                </a:solidFill>
                <a:latin typeface="Calibri"/>
              </a:rPr>
              <a:t>8</a:t>
            </a:r>
          </a:p>
        </p:txBody>
      </p:sp>
      <p:sp>
        <p:nvSpPr>
          <p:cNvPr id="15" name="TextBox 14"/>
          <p:cNvSpPr txBox="1"/>
          <p:nvPr/>
        </p:nvSpPr>
        <p:spPr>
          <a:xfrm>
            <a:off x="932688" y="3035808"/>
            <a:ext cx="2832506" cy="603504"/>
          </a:xfrm>
          <a:prstGeom prst="rect">
            <a:avLst/>
          </a:prstGeom>
          <a:noFill/>
        </p:spPr>
        <p:txBody>
          <a:bodyPr wrap="square" lIns="0" rIns="0" tIns="0" bIns="0" anchor="t">
            <a:spAutoFit/>
          </a:bodyPr>
          <a:lstStyle/>
          <a:p>
            <a:pPr algn="l">
              <a:lnSpc>
                <a:spcPct val="116000"/>
              </a:lnSpc>
              <a:spcAft>
                <a:spcPts val="0"/>
              </a:spcAft>
            </a:pPr>
            <a:r>
              <a:rPr sz="1600" b="1">
                <a:solidFill>
                  <a:srgbClr val="0D1B2A"/>
                </a:solidFill>
                <a:latin typeface="Calibri"/>
              </a:rPr>
              <a:t>Oudbouw, transitie</a:t>
            </a:r>
          </a:p>
          <a:p>
            <a:pPr algn="l">
              <a:lnSpc>
                <a:spcPct val="116000"/>
              </a:lnSpc>
              <a:spcAft>
                <a:spcPts val="0"/>
              </a:spcAft>
            </a:pPr>
            <a:r>
              <a:rPr sz="1600" b="1">
                <a:solidFill>
                  <a:srgbClr val="0D1B2A"/>
                </a:solidFill>
                <a:latin typeface="Calibri"/>
              </a:rPr>
              <a:t>en verhuisperiode</a:t>
            </a:r>
          </a:p>
        </p:txBody>
      </p:sp>
      <p:cxnSp>
        <p:nvCxnSpPr>
          <p:cNvPr id="16" name="Connector 15"/>
          <p:cNvCxnSpPr/>
          <p:nvPr/>
        </p:nvCxnSpPr>
        <p:spPr>
          <a:xfrm>
            <a:off x="932688" y="3712464"/>
            <a:ext cx="2832506" cy="0"/>
          </a:xfrm>
          <a:prstGeom prst="line">
            <a:avLst/>
          </a:prstGeom>
          <a:ln w="12700">
            <a:solidFill>
              <a:srgbClr val="E2E9F1"/>
            </a:solidFill>
          </a:ln>
        </p:spPr>
        <p:style>
          <a:lnRef idx="2">
            <a:schemeClr val="accent1"/>
          </a:lnRef>
          <a:fillRef idx="0">
            <a:schemeClr val="accent1"/>
          </a:fillRef>
          <a:effectRef idx="1">
            <a:schemeClr val="accent1"/>
          </a:effectRef>
          <a:fontRef idx="minor">
            <a:schemeClr val="tx1"/>
          </a:fontRef>
        </p:style>
      </p:cxnSp>
      <p:sp>
        <p:nvSpPr>
          <p:cNvPr id="17" name="Oval 16"/>
          <p:cNvSpPr/>
          <p:nvPr/>
        </p:nvSpPr>
        <p:spPr>
          <a:xfrm>
            <a:off x="955548" y="3977639"/>
            <a:ext cx="64008" cy="64008"/>
          </a:xfrm>
          <a:prstGeom prst="ellipse">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152144" y="3931920"/>
            <a:ext cx="2594762" cy="192913"/>
          </a:xfrm>
          <a:prstGeom prst="rect">
            <a:avLst/>
          </a:prstGeom>
          <a:noFill/>
        </p:spPr>
        <p:txBody>
          <a:bodyPr wrap="square" lIns="0" rIns="0" tIns="0" bIns="0" anchor="t">
            <a:spAutoFit/>
          </a:bodyPr>
          <a:lstStyle/>
          <a:p>
            <a:pPr algn="l">
              <a:lnSpc>
                <a:spcPct val="118000"/>
              </a:lnSpc>
              <a:spcAft>
                <a:spcPts val="0"/>
              </a:spcAft>
            </a:pPr>
            <a:r>
              <a:rPr sz="950" b="0">
                <a:solidFill>
                  <a:srgbClr val="55677C"/>
                </a:solidFill>
                <a:latin typeface="Calibri"/>
              </a:rPr>
              <a:t>lopende projecten</a:t>
            </a:r>
          </a:p>
        </p:txBody>
      </p:sp>
      <p:sp>
        <p:nvSpPr>
          <p:cNvPr id="19" name="Oval 18"/>
          <p:cNvSpPr/>
          <p:nvPr/>
        </p:nvSpPr>
        <p:spPr>
          <a:xfrm>
            <a:off x="955548" y="4170552"/>
            <a:ext cx="64008" cy="64008"/>
          </a:xfrm>
          <a:prstGeom prst="ellipse">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152144" y="4124832"/>
            <a:ext cx="2594762" cy="192913"/>
          </a:xfrm>
          <a:prstGeom prst="rect">
            <a:avLst/>
          </a:prstGeom>
          <a:noFill/>
        </p:spPr>
        <p:txBody>
          <a:bodyPr wrap="square" lIns="0" rIns="0" tIns="0" bIns="0" anchor="t">
            <a:spAutoFit/>
          </a:bodyPr>
          <a:lstStyle/>
          <a:p>
            <a:pPr algn="l">
              <a:lnSpc>
                <a:spcPct val="118000"/>
              </a:lnSpc>
              <a:spcAft>
                <a:spcPts val="0"/>
              </a:spcAft>
            </a:pPr>
            <a:r>
              <a:rPr sz="950" b="0">
                <a:solidFill>
                  <a:srgbClr val="55677C"/>
                </a:solidFill>
                <a:latin typeface="Calibri"/>
              </a:rPr>
              <a:t>inzet SEH tot de nieuwbouw</a:t>
            </a:r>
          </a:p>
        </p:txBody>
      </p:sp>
      <p:sp>
        <p:nvSpPr>
          <p:cNvPr id="21" name="Oval 20"/>
          <p:cNvSpPr/>
          <p:nvPr/>
        </p:nvSpPr>
        <p:spPr>
          <a:xfrm>
            <a:off x="955548" y="4363465"/>
            <a:ext cx="64008" cy="64008"/>
          </a:xfrm>
          <a:prstGeom prst="ellipse">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152144" y="4317745"/>
            <a:ext cx="2594762" cy="192913"/>
          </a:xfrm>
          <a:prstGeom prst="rect">
            <a:avLst/>
          </a:prstGeom>
          <a:noFill/>
        </p:spPr>
        <p:txBody>
          <a:bodyPr wrap="square" lIns="0" rIns="0" tIns="0" bIns="0" anchor="t">
            <a:spAutoFit/>
          </a:bodyPr>
          <a:lstStyle/>
          <a:p>
            <a:pPr algn="l">
              <a:lnSpc>
                <a:spcPct val="118000"/>
              </a:lnSpc>
              <a:spcAft>
                <a:spcPts val="0"/>
              </a:spcAft>
            </a:pPr>
            <a:r>
              <a:rPr sz="950" b="0">
                <a:solidFill>
                  <a:srgbClr val="55677C"/>
                </a:solidFill>
                <a:latin typeface="Calibri"/>
              </a:rPr>
              <a:t>weekendformatie 5-5-4</a:t>
            </a:r>
          </a:p>
        </p:txBody>
      </p:sp>
      <p:sp>
        <p:nvSpPr>
          <p:cNvPr id="23" name="Oval 22"/>
          <p:cNvSpPr/>
          <p:nvPr/>
        </p:nvSpPr>
        <p:spPr>
          <a:xfrm>
            <a:off x="955548" y="4556378"/>
            <a:ext cx="64008" cy="64008"/>
          </a:xfrm>
          <a:prstGeom prst="ellipse">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152144" y="4510658"/>
            <a:ext cx="2594762" cy="192913"/>
          </a:xfrm>
          <a:prstGeom prst="rect">
            <a:avLst/>
          </a:prstGeom>
          <a:noFill/>
        </p:spPr>
        <p:txBody>
          <a:bodyPr wrap="square" lIns="0" rIns="0" tIns="0" bIns="0" anchor="t">
            <a:spAutoFit/>
          </a:bodyPr>
          <a:lstStyle/>
          <a:p>
            <a:pPr algn="l">
              <a:lnSpc>
                <a:spcPct val="118000"/>
              </a:lnSpc>
              <a:spcAft>
                <a:spcPts val="0"/>
              </a:spcAft>
            </a:pPr>
            <a:r>
              <a:rPr sz="950" b="0">
                <a:solidFill>
                  <a:srgbClr val="55677C"/>
                </a:solidFill>
                <a:latin typeface="Calibri"/>
              </a:rPr>
              <a:t>norm ICU met recovery</a:t>
            </a:r>
          </a:p>
        </p:txBody>
      </p:sp>
      <p:sp>
        <p:nvSpPr>
          <p:cNvPr id="25" name="Oval 24"/>
          <p:cNvSpPr/>
          <p:nvPr/>
        </p:nvSpPr>
        <p:spPr>
          <a:xfrm>
            <a:off x="955548" y="4749291"/>
            <a:ext cx="64008" cy="64008"/>
          </a:xfrm>
          <a:prstGeom prst="ellipse">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152144" y="4703571"/>
            <a:ext cx="2594762" cy="192913"/>
          </a:xfrm>
          <a:prstGeom prst="rect">
            <a:avLst/>
          </a:prstGeom>
          <a:noFill/>
        </p:spPr>
        <p:txBody>
          <a:bodyPr wrap="square" lIns="0" rIns="0" tIns="0" bIns="0" anchor="t">
            <a:spAutoFit/>
          </a:bodyPr>
          <a:lstStyle/>
          <a:p>
            <a:pPr algn="l">
              <a:lnSpc>
                <a:spcPct val="118000"/>
              </a:lnSpc>
              <a:spcAft>
                <a:spcPts val="0"/>
              </a:spcAft>
            </a:pPr>
            <a:r>
              <a:rPr sz="950" b="0">
                <a:solidFill>
                  <a:srgbClr val="55677C"/>
                </a:solidFill>
                <a:latin typeface="Calibri"/>
              </a:rPr>
              <a:t>AO-dienst</a:t>
            </a:r>
          </a:p>
        </p:txBody>
      </p:sp>
      <p:sp>
        <p:nvSpPr>
          <p:cNvPr id="27" name="Oval 26"/>
          <p:cNvSpPr/>
          <p:nvPr/>
        </p:nvSpPr>
        <p:spPr>
          <a:xfrm>
            <a:off x="955548" y="4942204"/>
            <a:ext cx="64008" cy="64008"/>
          </a:xfrm>
          <a:prstGeom prst="ellipse">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152144" y="4896484"/>
            <a:ext cx="2594762" cy="192913"/>
          </a:xfrm>
          <a:prstGeom prst="rect">
            <a:avLst/>
          </a:prstGeom>
          <a:noFill/>
        </p:spPr>
        <p:txBody>
          <a:bodyPr wrap="square" lIns="0" rIns="0" tIns="0" bIns="0" anchor="t">
            <a:spAutoFit/>
          </a:bodyPr>
          <a:lstStyle/>
          <a:p>
            <a:pPr algn="l">
              <a:lnSpc>
                <a:spcPct val="118000"/>
              </a:lnSpc>
              <a:spcAft>
                <a:spcPts val="0"/>
              </a:spcAft>
            </a:pPr>
            <a:r>
              <a:rPr sz="950" b="0">
                <a:solidFill>
                  <a:srgbClr val="55677C"/>
                </a:solidFill>
                <a:latin typeface="Calibri"/>
              </a:rPr>
              <a:t>regieverpleegkundige</a:t>
            </a:r>
          </a:p>
        </p:txBody>
      </p:sp>
      <p:sp>
        <p:nvSpPr>
          <p:cNvPr id="29" name="Oval 28"/>
          <p:cNvSpPr/>
          <p:nvPr/>
        </p:nvSpPr>
        <p:spPr>
          <a:xfrm>
            <a:off x="955548" y="5135117"/>
            <a:ext cx="64008" cy="64008"/>
          </a:xfrm>
          <a:prstGeom prst="ellipse">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152144" y="5089397"/>
            <a:ext cx="2594762" cy="192913"/>
          </a:xfrm>
          <a:prstGeom prst="rect">
            <a:avLst/>
          </a:prstGeom>
          <a:noFill/>
        </p:spPr>
        <p:txBody>
          <a:bodyPr wrap="square" lIns="0" rIns="0" tIns="0" bIns="0" anchor="t">
            <a:spAutoFit/>
          </a:bodyPr>
          <a:lstStyle/>
          <a:p>
            <a:pPr algn="l">
              <a:lnSpc>
                <a:spcPct val="118000"/>
              </a:lnSpc>
              <a:spcAft>
                <a:spcPts val="0"/>
              </a:spcAft>
            </a:pPr>
            <a:r>
              <a:rPr sz="950" b="0">
                <a:solidFill>
                  <a:srgbClr val="55677C"/>
                </a:solidFill>
                <a:latin typeface="Calibri"/>
              </a:rPr>
              <a:t>extra diensten bij de verhuizing</a:t>
            </a:r>
          </a:p>
        </p:txBody>
      </p:sp>
      <p:sp>
        <p:nvSpPr>
          <p:cNvPr id="31" name="Rounded Rectangle 30"/>
          <p:cNvSpPr/>
          <p:nvPr/>
        </p:nvSpPr>
        <p:spPr>
          <a:xfrm>
            <a:off x="4386986" y="1700784"/>
            <a:ext cx="3417722" cy="4206240"/>
          </a:xfrm>
          <a:prstGeom prst="roundRect">
            <a:avLst>
              <a:gd name="adj" fmla="val 3000"/>
            </a:avLst>
          </a:prstGeom>
          <a:solidFill>
            <a:srgbClr val="FFFFFF"/>
          </a:solidFill>
          <a:ln w="12700">
            <a:solidFill>
              <a:srgbClr val="E2E9F1"/>
            </a:solidFill>
          </a:ln>
          <a:effectLst>
            <a:outerShdw blurRad="70000" dist="22000" dir="5400000" rotWithShape="0">
              <a:srgbClr val="1B3A5C">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ounded Rectangle 31"/>
          <p:cNvSpPr/>
          <p:nvPr/>
        </p:nvSpPr>
        <p:spPr>
          <a:xfrm>
            <a:off x="4386986" y="1700784"/>
            <a:ext cx="3417722" cy="50292"/>
          </a:xfrm>
          <a:prstGeom prst="roundRect">
            <a:avLst>
              <a:gd name="adj" fmla="val 50000"/>
            </a:avLst>
          </a:prstGeom>
          <a:solidFill>
            <a:srgbClr val="0E9A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4679594" y="1975104"/>
            <a:ext cx="1097280" cy="237744"/>
          </a:xfrm>
          <a:prstGeom prst="rect">
            <a:avLst/>
          </a:prstGeom>
          <a:noFill/>
        </p:spPr>
        <p:txBody>
          <a:bodyPr wrap="square" lIns="0" rIns="0" tIns="0" bIns="0" anchor="t">
            <a:spAutoFit/>
          </a:bodyPr>
          <a:lstStyle/>
          <a:p>
            <a:pPr algn="l">
              <a:lnSpc>
                <a:spcPct val="120000"/>
              </a:lnSpc>
              <a:spcAft>
                <a:spcPts val="0"/>
              </a:spcAft>
            </a:pPr>
            <a:r>
              <a:rPr sz="900" b="1" spc="140">
                <a:solidFill>
                  <a:srgbClr val="8B9AAA"/>
                </a:solidFill>
                <a:latin typeface="Calibri"/>
              </a:rPr>
              <a:t>BLOK 02</a:t>
            </a:r>
          </a:p>
        </p:txBody>
      </p:sp>
      <p:sp>
        <p:nvSpPr>
          <p:cNvPr id="34" name="TextBox 33"/>
          <p:cNvSpPr txBox="1"/>
          <p:nvPr/>
        </p:nvSpPr>
        <p:spPr>
          <a:xfrm>
            <a:off x="6341668" y="1920240"/>
            <a:ext cx="1170432" cy="237744"/>
          </a:xfrm>
          <a:prstGeom prst="rect">
            <a:avLst/>
          </a:prstGeom>
          <a:noFill/>
        </p:spPr>
        <p:txBody>
          <a:bodyPr wrap="square" lIns="0" rIns="0" tIns="0" bIns="0" anchor="t">
            <a:spAutoFit/>
          </a:bodyPr>
          <a:lstStyle/>
          <a:p>
            <a:pPr algn="r">
              <a:lnSpc>
                <a:spcPct val="120000"/>
              </a:lnSpc>
              <a:spcAft>
                <a:spcPts val="0"/>
              </a:spcAft>
            </a:pPr>
            <a:r>
              <a:rPr sz="950" b="1">
                <a:solidFill>
                  <a:srgbClr val="0E9A87"/>
                </a:solidFill>
                <a:latin typeface="Calibri"/>
              </a:rPr>
              <a:t>dia 20 en 21</a:t>
            </a:r>
          </a:p>
        </p:txBody>
      </p:sp>
      <p:sp>
        <p:nvSpPr>
          <p:cNvPr id="35" name="TextBox 34"/>
          <p:cNvSpPr txBox="1"/>
          <p:nvPr/>
        </p:nvSpPr>
        <p:spPr>
          <a:xfrm>
            <a:off x="4679594" y="2267712"/>
            <a:ext cx="2832506" cy="786384"/>
          </a:xfrm>
          <a:prstGeom prst="rect">
            <a:avLst/>
          </a:prstGeom>
          <a:noFill/>
        </p:spPr>
        <p:txBody>
          <a:bodyPr wrap="square" lIns="0" rIns="0" tIns="0" bIns="0" anchor="t">
            <a:spAutoFit/>
          </a:bodyPr>
          <a:lstStyle/>
          <a:p>
            <a:pPr algn="l">
              <a:lnSpc>
                <a:spcPct val="120000"/>
              </a:lnSpc>
              <a:spcAft>
                <a:spcPts val="0"/>
              </a:spcAft>
            </a:pPr>
            <a:r>
              <a:rPr sz="4600" b="1">
                <a:solidFill>
                  <a:srgbClr val="0E9A87"/>
                </a:solidFill>
                <a:latin typeface="Calibri"/>
              </a:rPr>
              <a:t>12</a:t>
            </a:r>
          </a:p>
        </p:txBody>
      </p:sp>
      <p:sp>
        <p:nvSpPr>
          <p:cNvPr id="36" name="TextBox 35"/>
          <p:cNvSpPr txBox="1"/>
          <p:nvPr/>
        </p:nvSpPr>
        <p:spPr>
          <a:xfrm>
            <a:off x="4679594" y="3035808"/>
            <a:ext cx="2832506" cy="603504"/>
          </a:xfrm>
          <a:prstGeom prst="rect">
            <a:avLst/>
          </a:prstGeom>
          <a:noFill/>
        </p:spPr>
        <p:txBody>
          <a:bodyPr wrap="square" lIns="0" rIns="0" tIns="0" bIns="0" anchor="t">
            <a:spAutoFit/>
          </a:bodyPr>
          <a:lstStyle/>
          <a:p>
            <a:pPr algn="l">
              <a:lnSpc>
                <a:spcPct val="116000"/>
              </a:lnSpc>
              <a:spcAft>
                <a:spcPts val="0"/>
              </a:spcAft>
            </a:pPr>
            <a:r>
              <a:rPr sz="1600" b="1">
                <a:solidFill>
                  <a:srgbClr val="0D1B2A"/>
                </a:solidFill>
                <a:latin typeface="Calibri"/>
              </a:rPr>
              <a:t>Nieuwbouw</a:t>
            </a:r>
          </a:p>
        </p:txBody>
      </p:sp>
      <p:cxnSp>
        <p:nvCxnSpPr>
          <p:cNvPr id="37" name="Connector 36"/>
          <p:cNvCxnSpPr/>
          <p:nvPr/>
        </p:nvCxnSpPr>
        <p:spPr>
          <a:xfrm>
            <a:off x="4679594" y="3712464"/>
            <a:ext cx="2832506" cy="0"/>
          </a:xfrm>
          <a:prstGeom prst="line">
            <a:avLst/>
          </a:prstGeom>
          <a:ln w="12700">
            <a:solidFill>
              <a:srgbClr val="E2E9F1"/>
            </a:solidFill>
          </a:ln>
        </p:spPr>
        <p:style>
          <a:lnRef idx="2">
            <a:schemeClr val="accent1"/>
          </a:lnRef>
          <a:fillRef idx="0">
            <a:schemeClr val="accent1"/>
          </a:fillRef>
          <a:effectRef idx="1">
            <a:schemeClr val="accent1"/>
          </a:effectRef>
          <a:fontRef idx="minor">
            <a:schemeClr val="tx1"/>
          </a:fontRef>
        </p:style>
      </p:cxnSp>
      <p:sp>
        <p:nvSpPr>
          <p:cNvPr id="38" name="Oval 37"/>
          <p:cNvSpPr/>
          <p:nvPr/>
        </p:nvSpPr>
        <p:spPr>
          <a:xfrm>
            <a:off x="4702454" y="3977639"/>
            <a:ext cx="64008" cy="64008"/>
          </a:xfrm>
          <a:prstGeom prst="ellipse">
            <a:avLst/>
          </a:prstGeom>
          <a:solidFill>
            <a:srgbClr val="0E9A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899050" y="3931920"/>
            <a:ext cx="2594762" cy="173736"/>
          </a:xfrm>
          <a:prstGeom prst="rect">
            <a:avLst/>
          </a:prstGeom>
          <a:noFill/>
        </p:spPr>
        <p:txBody>
          <a:bodyPr wrap="square" lIns="0" rIns="0" tIns="0" bIns="0" anchor="t">
            <a:spAutoFit/>
          </a:bodyPr>
          <a:lstStyle/>
          <a:p>
            <a:pPr algn="l">
              <a:lnSpc>
                <a:spcPct val="118000"/>
              </a:lnSpc>
              <a:spcAft>
                <a:spcPts val="0"/>
              </a:spcAft>
            </a:pPr>
            <a:r>
              <a:rPr sz="700" b="0">
                <a:solidFill>
                  <a:srgbClr val="55677C"/>
                </a:solidFill>
                <a:latin typeface="Calibri"/>
              </a:rPr>
              <a:t>personeel EHH: SEH of ICU/CCU</a:t>
            </a:r>
          </a:p>
        </p:txBody>
      </p:sp>
      <p:sp>
        <p:nvSpPr>
          <p:cNvPr id="40" name="Oval 39"/>
          <p:cNvSpPr/>
          <p:nvPr/>
        </p:nvSpPr>
        <p:spPr>
          <a:xfrm>
            <a:off x="4702454" y="4151376"/>
            <a:ext cx="64008" cy="64008"/>
          </a:xfrm>
          <a:prstGeom prst="ellipse">
            <a:avLst/>
          </a:prstGeom>
          <a:solidFill>
            <a:srgbClr val="0E9A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899050" y="4105656"/>
            <a:ext cx="2594762" cy="173736"/>
          </a:xfrm>
          <a:prstGeom prst="rect">
            <a:avLst/>
          </a:prstGeom>
          <a:noFill/>
        </p:spPr>
        <p:txBody>
          <a:bodyPr wrap="square" lIns="0" rIns="0" tIns="0" bIns="0" anchor="t">
            <a:spAutoFit/>
          </a:bodyPr>
          <a:lstStyle/>
          <a:p>
            <a:pPr algn="l">
              <a:lnSpc>
                <a:spcPct val="118000"/>
              </a:lnSpc>
              <a:spcAft>
                <a:spcPts val="0"/>
              </a:spcAft>
            </a:pPr>
            <a:r>
              <a:rPr sz="700" b="0">
                <a:solidFill>
                  <a:srgbClr val="55677C"/>
                </a:solidFill>
                <a:latin typeface="Calibri"/>
              </a:rPr>
              <a:t>afkapmoment acute cardio</a:t>
            </a:r>
          </a:p>
        </p:txBody>
      </p:sp>
      <p:sp>
        <p:nvSpPr>
          <p:cNvPr id="42" name="Oval 41"/>
          <p:cNvSpPr/>
          <p:nvPr/>
        </p:nvSpPr>
        <p:spPr>
          <a:xfrm>
            <a:off x="4702454" y="4325112"/>
            <a:ext cx="64008" cy="64008"/>
          </a:xfrm>
          <a:prstGeom prst="ellipse">
            <a:avLst/>
          </a:prstGeom>
          <a:solidFill>
            <a:srgbClr val="0E9A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899050" y="4279392"/>
            <a:ext cx="2594762" cy="173736"/>
          </a:xfrm>
          <a:prstGeom prst="rect">
            <a:avLst/>
          </a:prstGeom>
          <a:noFill/>
        </p:spPr>
        <p:txBody>
          <a:bodyPr wrap="square" lIns="0" rIns="0" tIns="0" bIns="0" anchor="t">
            <a:spAutoFit/>
          </a:bodyPr>
          <a:lstStyle/>
          <a:p>
            <a:pPr algn="l">
              <a:lnSpc>
                <a:spcPct val="118000"/>
              </a:lnSpc>
              <a:spcAft>
                <a:spcPts val="0"/>
              </a:spcAft>
            </a:pPr>
            <a:r>
              <a:rPr sz="700" b="0">
                <a:solidFill>
                  <a:srgbClr val="55677C"/>
                </a:solidFill>
                <a:latin typeface="Calibri"/>
              </a:rPr>
              <a:t>uitspraak norm door Remco</a:t>
            </a:r>
          </a:p>
        </p:txBody>
      </p:sp>
      <p:sp>
        <p:nvSpPr>
          <p:cNvPr id="44" name="Oval 43"/>
          <p:cNvSpPr/>
          <p:nvPr/>
        </p:nvSpPr>
        <p:spPr>
          <a:xfrm>
            <a:off x="4702454" y="4498848"/>
            <a:ext cx="64008" cy="64008"/>
          </a:xfrm>
          <a:prstGeom prst="ellipse">
            <a:avLst/>
          </a:prstGeom>
          <a:solidFill>
            <a:srgbClr val="0E9A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899050" y="4453128"/>
            <a:ext cx="2594762" cy="173736"/>
          </a:xfrm>
          <a:prstGeom prst="rect">
            <a:avLst/>
          </a:prstGeom>
          <a:noFill/>
        </p:spPr>
        <p:txBody>
          <a:bodyPr wrap="square" lIns="0" rIns="0" tIns="0" bIns="0" anchor="t">
            <a:spAutoFit/>
          </a:bodyPr>
          <a:lstStyle/>
          <a:p>
            <a:pPr algn="l">
              <a:lnSpc>
                <a:spcPct val="118000"/>
              </a:lnSpc>
              <a:spcAft>
                <a:spcPts val="0"/>
              </a:spcAft>
            </a:pPr>
            <a:r>
              <a:rPr sz="700" b="0">
                <a:solidFill>
                  <a:srgbClr val="55677C"/>
                </a:solidFill>
                <a:latin typeface="Calibri"/>
              </a:rPr>
              <a:t>scope CCU anders ingericht</a:t>
            </a:r>
          </a:p>
        </p:txBody>
      </p:sp>
      <p:sp>
        <p:nvSpPr>
          <p:cNvPr id="46" name="Oval 45"/>
          <p:cNvSpPr/>
          <p:nvPr/>
        </p:nvSpPr>
        <p:spPr>
          <a:xfrm>
            <a:off x="4702454" y="4672584"/>
            <a:ext cx="64008" cy="64008"/>
          </a:xfrm>
          <a:prstGeom prst="ellipse">
            <a:avLst/>
          </a:prstGeom>
          <a:solidFill>
            <a:srgbClr val="0E9A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4899050" y="4626864"/>
            <a:ext cx="2594762" cy="173736"/>
          </a:xfrm>
          <a:prstGeom prst="rect">
            <a:avLst/>
          </a:prstGeom>
          <a:noFill/>
        </p:spPr>
        <p:txBody>
          <a:bodyPr wrap="square" lIns="0" rIns="0" tIns="0" bIns="0" anchor="t">
            <a:spAutoFit/>
          </a:bodyPr>
          <a:lstStyle/>
          <a:p>
            <a:pPr algn="l">
              <a:lnSpc>
                <a:spcPct val="118000"/>
              </a:lnSpc>
              <a:spcAft>
                <a:spcPts val="0"/>
              </a:spcAft>
            </a:pPr>
            <a:r>
              <a:rPr sz="700" b="0">
                <a:solidFill>
                  <a:srgbClr val="55677C"/>
                </a:solidFill>
                <a:latin typeface="Calibri"/>
              </a:rPr>
              <a:t>normenkader ICU, 10% afwijking</a:t>
            </a:r>
          </a:p>
        </p:txBody>
      </p:sp>
      <p:sp>
        <p:nvSpPr>
          <p:cNvPr id="48" name="Oval 47"/>
          <p:cNvSpPr/>
          <p:nvPr/>
        </p:nvSpPr>
        <p:spPr>
          <a:xfrm>
            <a:off x="4702454" y="4846320"/>
            <a:ext cx="64008" cy="64008"/>
          </a:xfrm>
          <a:prstGeom prst="ellipse">
            <a:avLst/>
          </a:prstGeom>
          <a:solidFill>
            <a:srgbClr val="0E9A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4899050" y="4800600"/>
            <a:ext cx="2594762" cy="173736"/>
          </a:xfrm>
          <a:prstGeom prst="rect">
            <a:avLst/>
          </a:prstGeom>
          <a:noFill/>
        </p:spPr>
        <p:txBody>
          <a:bodyPr wrap="square" lIns="0" rIns="0" tIns="0" bIns="0" anchor="t">
            <a:spAutoFit/>
          </a:bodyPr>
          <a:lstStyle/>
          <a:p>
            <a:pPr algn="l">
              <a:lnSpc>
                <a:spcPct val="118000"/>
              </a:lnSpc>
              <a:spcAft>
                <a:spcPts val="0"/>
              </a:spcAft>
            </a:pPr>
            <a:r>
              <a:rPr sz="700" b="0">
                <a:solidFill>
                  <a:srgbClr val="55677C"/>
                </a:solidFill>
                <a:latin typeface="Calibri"/>
              </a:rPr>
              <a:t>personele inzet SEH</a:t>
            </a:r>
          </a:p>
        </p:txBody>
      </p:sp>
      <p:sp>
        <p:nvSpPr>
          <p:cNvPr id="50" name="Oval 49"/>
          <p:cNvSpPr/>
          <p:nvPr/>
        </p:nvSpPr>
        <p:spPr>
          <a:xfrm>
            <a:off x="4702454" y="5020056"/>
            <a:ext cx="64008" cy="64008"/>
          </a:xfrm>
          <a:prstGeom prst="ellipse">
            <a:avLst/>
          </a:prstGeom>
          <a:solidFill>
            <a:srgbClr val="0E9A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4899050" y="4974336"/>
            <a:ext cx="2594762" cy="173736"/>
          </a:xfrm>
          <a:prstGeom prst="rect">
            <a:avLst/>
          </a:prstGeom>
          <a:noFill/>
        </p:spPr>
        <p:txBody>
          <a:bodyPr wrap="square" lIns="0" rIns="0" tIns="0" bIns="0" anchor="t">
            <a:spAutoFit/>
          </a:bodyPr>
          <a:lstStyle/>
          <a:p>
            <a:pPr algn="l">
              <a:lnSpc>
                <a:spcPct val="118000"/>
              </a:lnSpc>
              <a:spcAft>
                <a:spcPts val="0"/>
              </a:spcAft>
            </a:pPr>
            <a:r>
              <a:rPr sz="700" b="0">
                <a:solidFill>
                  <a:srgbClr val="55677C"/>
                </a:solidFill>
                <a:latin typeface="Calibri"/>
              </a:rPr>
              <a:t>indirecte uren</a:t>
            </a:r>
          </a:p>
        </p:txBody>
      </p:sp>
      <p:sp>
        <p:nvSpPr>
          <p:cNvPr id="52" name="Oval 51"/>
          <p:cNvSpPr/>
          <p:nvPr/>
        </p:nvSpPr>
        <p:spPr>
          <a:xfrm>
            <a:off x="4702454" y="5193792"/>
            <a:ext cx="64008" cy="64008"/>
          </a:xfrm>
          <a:prstGeom prst="ellipse">
            <a:avLst/>
          </a:prstGeom>
          <a:solidFill>
            <a:srgbClr val="0E9A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4899050" y="5148072"/>
            <a:ext cx="2594762" cy="173736"/>
          </a:xfrm>
          <a:prstGeom prst="rect">
            <a:avLst/>
          </a:prstGeom>
          <a:noFill/>
        </p:spPr>
        <p:txBody>
          <a:bodyPr wrap="square" lIns="0" rIns="0" tIns="0" bIns="0" anchor="t">
            <a:spAutoFit/>
          </a:bodyPr>
          <a:lstStyle/>
          <a:p>
            <a:pPr algn="l">
              <a:lnSpc>
                <a:spcPct val="118000"/>
              </a:lnSpc>
              <a:spcAft>
                <a:spcPts val="0"/>
              </a:spcAft>
            </a:pPr>
            <a:r>
              <a:rPr sz="700" b="0">
                <a:solidFill>
                  <a:srgbClr val="55677C"/>
                </a:solidFill>
                <a:latin typeface="Calibri"/>
              </a:rPr>
              <a:t>regieverpleegkundige in de nieuwbouw</a:t>
            </a:r>
          </a:p>
        </p:txBody>
      </p:sp>
      <p:sp>
        <p:nvSpPr>
          <p:cNvPr id="54" name="Oval 53"/>
          <p:cNvSpPr/>
          <p:nvPr/>
        </p:nvSpPr>
        <p:spPr>
          <a:xfrm>
            <a:off x="4702454" y="5367528"/>
            <a:ext cx="64008" cy="64008"/>
          </a:xfrm>
          <a:prstGeom prst="ellipse">
            <a:avLst/>
          </a:prstGeom>
          <a:solidFill>
            <a:srgbClr val="0E9A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4899050" y="5321808"/>
            <a:ext cx="2594762" cy="173736"/>
          </a:xfrm>
          <a:prstGeom prst="rect">
            <a:avLst/>
          </a:prstGeom>
          <a:noFill/>
        </p:spPr>
        <p:txBody>
          <a:bodyPr wrap="square" lIns="0" rIns="0" tIns="0" bIns="0" anchor="t">
            <a:spAutoFit/>
          </a:bodyPr>
          <a:lstStyle/>
          <a:p>
            <a:pPr algn="l">
              <a:lnSpc>
                <a:spcPct val="118000"/>
              </a:lnSpc>
              <a:spcAft>
                <a:spcPts val="0"/>
              </a:spcAft>
            </a:pPr>
            <a:r>
              <a:rPr sz="700" b="0">
                <a:solidFill>
                  <a:srgbClr val="55677C"/>
                </a:solidFill>
                <a:latin typeface="Calibri"/>
              </a:rPr>
              <a:t>kinderverpleegkundige op de SEH</a:t>
            </a:r>
          </a:p>
        </p:txBody>
      </p:sp>
      <p:sp>
        <p:nvSpPr>
          <p:cNvPr id="56" name="Oval 55"/>
          <p:cNvSpPr/>
          <p:nvPr/>
        </p:nvSpPr>
        <p:spPr>
          <a:xfrm>
            <a:off x="4702454" y="5541264"/>
            <a:ext cx="64008" cy="64008"/>
          </a:xfrm>
          <a:prstGeom prst="ellipse">
            <a:avLst/>
          </a:prstGeom>
          <a:solidFill>
            <a:srgbClr val="0E9A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4899050" y="5495544"/>
            <a:ext cx="2594762" cy="173736"/>
          </a:xfrm>
          <a:prstGeom prst="rect">
            <a:avLst/>
          </a:prstGeom>
          <a:noFill/>
        </p:spPr>
        <p:txBody>
          <a:bodyPr wrap="square" lIns="0" rIns="0" tIns="0" bIns="0" anchor="t">
            <a:spAutoFit/>
          </a:bodyPr>
          <a:lstStyle/>
          <a:p>
            <a:pPr algn="l">
              <a:lnSpc>
                <a:spcPct val="118000"/>
              </a:lnSpc>
              <a:spcAft>
                <a:spcPts val="0"/>
              </a:spcAft>
            </a:pPr>
            <a:r>
              <a:rPr sz="700" b="0">
                <a:solidFill>
                  <a:srgbClr val="55677C"/>
                </a:solidFill>
                <a:latin typeface="Calibri"/>
              </a:rPr>
              <a:t>EPA's</a:t>
            </a:r>
          </a:p>
        </p:txBody>
      </p:sp>
      <p:sp>
        <p:nvSpPr>
          <p:cNvPr id="58" name="Oval 57"/>
          <p:cNvSpPr/>
          <p:nvPr/>
        </p:nvSpPr>
        <p:spPr>
          <a:xfrm>
            <a:off x="4702454" y="5715000"/>
            <a:ext cx="64008" cy="64008"/>
          </a:xfrm>
          <a:prstGeom prst="ellipse">
            <a:avLst/>
          </a:prstGeom>
          <a:solidFill>
            <a:srgbClr val="0E9A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4899050" y="5669280"/>
            <a:ext cx="2594762" cy="173736"/>
          </a:xfrm>
          <a:prstGeom prst="rect">
            <a:avLst/>
          </a:prstGeom>
          <a:noFill/>
        </p:spPr>
        <p:txBody>
          <a:bodyPr wrap="square" lIns="0" rIns="0" tIns="0" bIns="0" anchor="t">
            <a:spAutoFit/>
          </a:bodyPr>
          <a:lstStyle/>
          <a:p>
            <a:pPr algn="l">
              <a:lnSpc>
                <a:spcPct val="118000"/>
              </a:lnSpc>
              <a:spcAft>
                <a:spcPts val="0"/>
              </a:spcAft>
            </a:pPr>
            <a:r>
              <a:rPr sz="700" b="0">
                <a:solidFill>
                  <a:srgbClr val="55677C"/>
                </a:solidFill>
                <a:latin typeface="Calibri"/>
              </a:rPr>
              <a:t>acute poule</a:t>
            </a:r>
          </a:p>
        </p:txBody>
      </p:sp>
      <p:sp>
        <p:nvSpPr>
          <p:cNvPr id="60" name="Rounded Rectangle 59"/>
          <p:cNvSpPr/>
          <p:nvPr/>
        </p:nvSpPr>
        <p:spPr>
          <a:xfrm>
            <a:off x="8133892" y="1700784"/>
            <a:ext cx="3417722" cy="4206240"/>
          </a:xfrm>
          <a:prstGeom prst="roundRect">
            <a:avLst>
              <a:gd name="adj" fmla="val 3000"/>
            </a:avLst>
          </a:prstGeom>
          <a:solidFill>
            <a:srgbClr val="FFFFFF"/>
          </a:solidFill>
          <a:ln w="12700">
            <a:solidFill>
              <a:srgbClr val="E2E9F1"/>
            </a:solidFill>
          </a:ln>
          <a:effectLst>
            <a:outerShdw blurRad="70000" dist="22000" dir="5400000" rotWithShape="0">
              <a:srgbClr val="1B3A5C">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1" name="Rounded Rectangle 60"/>
          <p:cNvSpPr/>
          <p:nvPr/>
        </p:nvSpPr>
        <p:spPr>
          <a:xfrm>
            <a:off x="8133892" y="1700784"/>
            <a:ext cx="3417722" cy="50292"/>
          </a:xfrm>
          <a:prstGeom prst="roundRect">
            <a:avLst>
              <a:gd name="adj" fmla="val 50000"/>
            </a:avLst>
          </a:prstGeom>
          <a:solidFill>
            <a:srgbClr val="C439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2" name="TextBox 61"/>
          <p:cNvSpPr txBox="1"/>
          <p:nvPr/>
        </p:nvSpPr>
        <p:spPr>
          <a:xfrm>
            <a:off x="8426500" y="1975104"/>
            <a:ext cx="1097280" cy="237744"/>
          </a:xfrm>
          <a:prstGeom prst="rect">
            <a:avLst/>
          </a:prstGeom>
          <a:noFill/>
        </p:spPr>
        <p:txBody>
          <a:bodyPr wrap="square" lIns="0" rIns="0" tIns="0" bIns="0" anchor="t">
            <a:spAutoFit/>
          </a:bodyPr>
          <a:lstStyle/>
          <a:p>
            <a:pPr algn="l">
              <a:lnSpc>
                <a:spcPct val="120000"/>
              </a:lnSpc>
              <a:spcAft>
                <a:spcPts val="0"/>
              </a:spcAft>
            </a:pPr>
            <a:r>
              <a:rPr sz="900" b="1" spc="140">
                <a:solidFill>
                  <a:srgbClr val="8B9AAA"/>
                </a:solidFill>
                <a:latin typeface="Calibri"/>
              </a:rPr>
              <a:t>BLOK 03</a:t>
            </a:r>
          </a:p>
        </p:txBody>
      </p:sp>
      <p:sp>
        <p:nvSpPr>
          <p:cNvPr id="63" name="TextBox 62"/>
          <p:cNvSpPr txBox="1"/>
          <p:nvPr/>
        </p:nvSpPr>
        <p:spPr>
          <a:xfrm>
            <a:off x="10088575" y="1920240"/>
            <a:ext cx="1170432" cy="237744"/>
          </a:xfrm>
          <a:prstGeom prst="rect">
            <a:avLst/>
          </a:prstGeom>
          <a:noFill/>
        </p:spPr>
        <p:txBody>
          <a:bodyPr wrap="square" lIns="0" rIns="0" tIns="0" bIns="0" anchor="t">
            <a:spAutoFit/>
          </a:bodyPr>
          <a:lstStyle/>
          <a:p>
            <a:pPr algn="r">
              <a:lnSpc>
                <a:spcPct val="120000"/>
              </a:lnSpc>
              <a:spcAft>
                <a:spcPts val="0"/>
              </a:spcAft>
            </a:pPr>
            <a:r>
              <a:rPr sz="950" b="1">
                <a:solidFill>
                  <a:srgbClr val="C4392D"/>
                </a:solidFill>
                <a:latin typeface="Calibri"/>
              </a:rPr>
              <a:t>dia 22 en 23</a:t>
            </a:r>
          </a:p>
        </p:txBody>
      </p:sp>
      <p:sp>
        <p:nvSpPr>
          <p:cNvPr id="64" name="TextBox 63"/>
          <p:cNvSpPr txBox="1"/>
          <p:nvPr/>
        </p:nvSpPr>
        <p:spPr>
          <a:xfrm>
            <a:off x="8426500" y="2267712"/>
            <a:ext cx="2832506" cy="786384"/>
          </a:xfrm>
          <a:prstGeom prst="rect">
            <a:avLst/>
          </a:prstGeom>
          <a:noFill/>
        </p:spPr>
        <p:txBody>
          <a:bodyPr wrap="square" lIns="0" rIns="0" tIns="0" bIns="0" anchor="t">
            <a:spAutoFit/>
          </a:bodyPr>
          <a:lstStyle/>
          <a:p>
            <a:pPr algn="l">
              <a:lnSpc>
                <a:spcPct val="120000"/>
              </a:lnSpc>
              <a:spcAft>
                <a:spcPts val="0"/>
              </a:spcAft>
            </a:pPr>
            <a:r>
              <a:rPr sz="4600" b="1">
                <a:solidFill>
                  <a:srgbClr val="C4392D"/>
                </a:solidFill>
                <a:latin typeface="Calibri"/>
              </a:rPr>
              <a:t>16</a:t>
            </a:r>
          </a:p>
        </p:txBody>
      </p:sp>
      <p:sp>
        <p:nvSpPr>
          <p:cNvPr id="65" name="TextBox 64"/>
          <p:cNvSpPr txBox="1"/>
          <p:nvPr/>
        </p:nvSpPr>
        <p:spPr>
          <a:xfrm>
            <a:off x="8426500" y="3035808"/>
            <a:ext cx="2832506" cy="603504"/>
          </a:xfrm>
          <a:prstGeom prst="rect">
            <a:avLst/>
          </a:prstGeom>
          <a:noFill/>
        </p:spPr>
        <p:txBody>
          <a:bodyPr wrap="square" lIns="0" rIns="0" tIns="0" bIns="0" anchor="t">
            <a:spAutoFit/>
          </a:bodyPr>
          <a:lstStyle/>
          <a:p>
            <a:pPr algn="l">
              <a:lnSpc>
                <a:spcPct val="116000"/>
              </a:lnSpc>
              <a:spcAft>
                <a:spcPts val="0"/>
              </a:spcAft>
            </a:pPr>
            <a:r>
              <a:rPr sz="1600" b="1">
                <a:solidFill>
                  <a:srgbClr val="0D1B2A"/>
                </a:solidFill>
                <a:latin typeface="Calibri"/>
              </a:rPr>
              <a:t>Knelpunten</a:t>
            </a:r>
          </a:p>
          <a:p>
            <a:pPr algn="l">
              <a:lnSpc>
                <a:spcPct val="116000"/>
              </a:lnSpc>
              <a:spcAft>
                <a:spcPts val="0"/>
              </a:spcAft>
            </a:pPr>
            <a:r>
              <a:rPr sz="1600" b="1">
                <a:solidFill>
                  <a:srgbClr val="0D1B2A"/>
                </a:solidFill>
                <a:latin typeface="Calibri"/>
              </a:rPr>
              <a:t>en vervolg</a:t>
            </a:r>
          </a:p>
        </p:txBody>
      </p:sp>
      <p:cxnSp>
        <p:nvCxnSpPr>
          <p:cNvPr id="66" name="Connector 65"/>
          <p:cNvCxnSpPr/>
          <p:nvPr/>
        </p:nvCxnSpPr>
        <p:spPr>
          <a:xfrm>
            <a:off x="8426500" y="3712464"/>
            <a:ext cx="2832507" cy="0"/>
          </a:xfrm>
          <a:prstGeom prst="line">
            <a:avLst/>
          </a:prstGeom>
          <a:ln w="12700">
            <a:solidFill>
              <a:srgbClr val="E2E9F1"/>
            </a:solidFill>
          </a:ln>
        </p:spPr>
        <p:style>
          <a:lnRef idx="2">
            <a:schemeClr val="accent1"/>
          </a:lnRef>
          <a:fillRef idx="0">
            <a:schemeClr val="accent1"/>
          </a:fillRef>
          <a:effectRef idx="1">
            <a:schemeClr val="accent1"/>
          </a:effectRef>
          <a:fontRef idx="minor">
            <a:schemeClr val="tx1"/>
          </a:fontRef>
        </p:style>
      </p:cxnSp>
      <p:sp>
        <p:nvSpPr>
          <p:cNvPr id="67" name="Oval 66"/>
          <p:cNvSpPr/>
          <p:nvPr/>
        </p:nvSpPr>
        <p:spPr>
          <a:xfrm>
            <a:off x="8449360" y="3977639"/>
            <a:ext cx="64008" cy="64008"/>
          </a:xfrm>
          <a:prstGeom prst="ellipse">
            <a:avLst/>
          </a:prstGeom>
          <a:solidFill>
            <a:srgbClr val="C439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8645956" y="3931920"/>
            <a:ext cx="2594762" cy="278130"/>
          </a:xfrm>
          <a:prstGeom prst="rect">
            <a:avLst/>
          </a:prstGeom>
          <a:noFill/>
        </p:spPr>
        <p:txBody>
          <a:bodyPr wrap="square" lIns="0" rIns="0" tIns="0" bIns="0" anchor="t">
            <a:spAutoFit/>
          </a:bodyPr>
          <a:lstStyle/>
          <a:p>
            <a:pPr algn="l">
              <a:lnSpc>
                <a:spcPct val="118000"/>
              </a:lnSpc>
              <a:spcAft>
                <a:spcPts val="0"/>
              </a:spcAft>
            </a:pPr>
            <a:r>
              <a:rPr sz="700" b="0">
                <a:solidFill>
                  <a:srgbClr val="55677C"/>
                </a:solidFill>
                <a:latin typeface="Calibri"/>
              </a:rPr>
              <a:t>norm aanbodgericht in plaats van vraaggestuurd</a:t>
            </a:r>
          </a:p>
        </p:txBody>
      </p:sp>
      <p:sp>
        <p:nvSpPr>
          <p:cNvPr id="69" name="Oval 68"/>
          <p:cNvSpPr/>
          <p:nvPr/>
        </p:nvSpPr>
        <p:spPr>
          <a:xfrm>
            <a:off x="8449360" y="4255769"/>
            <a:ext cx="64008" cy="64008"/>
          </a:xfrm>
          <a:prstGeom prst="ellipse">
            <a:avLst/>
          </a:prstGeom>
          <a:solidFill>
            <a:srgbClr val="C439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8645956" y="4210049"/>
            <a:ext cx="2594762" cy="173736"/>
          </a:xfrm>
          <a:prstGeom prst="rect">
            <a:avLst/>
          </a:prstGeom>
          <a:noFill/>
        </p:spPr>
        <p:txBody>
          <a:bodyPr wrap="square" lIns="0" rIns="0" tIns="0" bIns="0" anchor="t">
            <a:spAutoFit/>
          </a:bodyPr>
          <a:lstStyle/>
          <a:p>
            <a:pPr algn="l">
              <a:lnSpc>
                <a:spcPct val="118000"/>
              </a:lnSpc>
              <a:spcAft>
                <a:spcPts val="0"/>
              </a:spcAft>
            </a:pPr>
            <a:r>
              <a:rPr sz="700" b="0">
                <a:solidFill>
                  <a:srgbClr val="55677C"/>
                </a:solidFill>
                <a:latin typeface="Calibri"/>
              </a:rPr>
              <a:t>SEH-artsen en begroting</a:t>
            </a:r>
          </a:p>
        </p:txBody>
      </p:sp>
      <p:sp>
        <p:nvSpPr>
          <p:cNvPr id="71" name="Oval 70"/>
          <p:cNvSpPr/>
          <p:nvPr/>
        </p:nvSpPr>
        <p:spPr>
          <a:xfrm>
            <a:off x="8449360" y="4429506"/>
            <a:ext cx="64008" cy="64008"/>
          </a:xfrm>
          <a:prstGeom prst="ellipse">
            <a:avLst/>
          </a:prstGeom>
          <a:solidFill>
            <a:srgbClr val="C439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8645956" y="4383786"/>
            <a:ext cx="2594762" cy="173736"/>
          </a:xfrm>
          <a:prstGeom prst="rect">
            <a:avLst/>
          </a:prstGeom>
          <a:noFill/>
        </p:spPr>
        <p:txBody>
          <a:bodyPr wrap="square" lIns="0" rIns="0" tIns="0" bIns="0" anchor="t">
            <a:spAutoFit/>
          </a:bodyPr>
          <a:lstStyle/>
          <a:p>
            <a:pPr algn="l">
              <a:lnSpc>
                <a:spcPct val="118000"/>
              </a:lnSpc>
              <a:spcAft>
                <a:spcPts val="0"/>
              </a:spcAft>
            </a:pPr>
            <a:r>
              <a:rPr sz="700" b="0">
                <a:solidFill>
                  <a:srgbClr val="55677C"/>
                </a:solidFill>
                <a:latin typeface="Calibri"/>
              </a:rPr>
              <a:t>afwijking van het jaarplan BIC</a:t>
            </a:r>
          </a:p>
        </p:txBody>
      </p:sp>
      <p:sp>
        <p:nvSpPr>
          <p:cNvPr id="73" name="Oval 72"/>
          <p:cNvSpPr/>
          <p:nvPr/>
        </p:nvSpPr>
        <p:spPr>
          <a:xfrm>
            <a:off x="8449360" y="4603242"/>
            <a:ext cx="64008" cy="64008"/>
          </a:xfrm>
          <a:prstGeom prst="ellipse">
            <a:avLst/>
          </a:prstGeom>
          <a:solidFill>
            <a:srgbClr val="C439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8645956" y="4557522"/>
            <a:ext cx="2594762" cy="173736"/>
          </a:xfrm>
          <a:prstGeom prst="rect">
            <a:avLst/>
          </a:prstGeom>
          <a:noFill/>
        </p:spPr>
        <p:txBody>
          <a:bodyPr wrap="square" lIns="0" rIns="0" tIns="0" bIns="0" anchor="t">
            <a:spAutoFit/>
          </a:bodyPr>
          <a:lstStyle/>
          <a:p>
            <a:pPr algn="l">
              <a:lnSpc>
                <a:spcPct val="118000"/>
              </a:lnSpc>
              <a:spcAft>
                <a:spcPts val="0"/>
              </a:spcAft>
            </a:pPr>
            <a:r>
              <a:rPr sz="700" b="0">
                <a:solidFill>
                  <a:srgbClr val="55677C"/>
                </a:solidFill>
                <a:latin typeface="Calibri"/>
              </a:rPr>
              <a:t>planning buiten CPP om</a:t>
            </a:r>
          </a:p>
        </p:txBody>
      </p:sp>
      <p:sp>
        <p:nvSpPr>
          <p:cNvPr id="75" name="Oval 74"/>
          <p:cNvSpPr/>
          <p:nvPr/>
        </p:nvSpPr>
        <p:spPr>
          <a:xfrm>
            <a:off x="8449360" y="4776978"/>
            <a:ext cx="64008" cy="64008"/>
          </a:xfrm>
          <a:prstGeom prst="ellipse">
            <a:avLst/>
          </a:prstGeom>
          <a:solidFill>
            <a:srgbClr val="C439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8645956" y="4731258"/>
            <a:ext cx="2594762" cy="173736"/>
          </a:xfrm>
          <a:prstGeom prst="rect">
            <a:avLst/>
          </a:prstGeom>
          <a:noFill/>
        </p:spPr>
        <p:txBody>
          <a:bodyPr wrap="square" lIns="0" rIns="0" tIns="0" bIns="0" anchor="t">
            <a:spAutoFit/>
          </a:bodyPr>
          <a:lstStyle/>
          <a:p>
            <a:pPr algn="l">
              <a:lnSpc>
                <a:spcPct val="118000"/>
              </a:lnSpc>
              <a:spcAft>
                <a:spcPts val="0"/>
              </a:spcAft>
            </a:pPr>
            <a:r>
              <a:rPr sz="700" b="0">
                <a:solidFill>
                  <a:srgbClr val="55677C"/>
                </a:solidFill>
                <a:latin typeface="Calibri"/>
              </a:rPr>
              <a:t>uitgangspunten en kaders ontbreken</a:t>
            </a:r>
          </a:p>
        </p:txBody>
      </p:sp>
      <p:sp>
        <p:nvSpPr>
          <p:cNvPr id="77" name="Oval 76"/>
          <p:cNvSpPr/>
          <p:nvPr/>
        </p:nvSpPr>
        <p:spPr>
          <a:xfrm>
            <a:off x="8449360" y="4950714"/>
            <a:ext cx="64008" cy="64008"/>
          </a:xfrm>
          <a:prstGeom prst="ellipse">
            <a:avLst/>
          </a:prstGeom>
          <a:solidFill>
            <a:srgbClr val="C439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8645956" y="4904994"/>
            <a:ext cx="2594762" cy="173736"/>
          </a:xfrm>
          <a:prstGeom prst="rect">
            <a:avLst/>
          </a:prstGeom>
          <a:noFill/>
        </p:spPr>
        <p:txBody>
          <a:bodyPr wrap="square" lIns="0" rIns="0" tIns="0" bIns="0" anchor="t">
            <a:spAutoFit/>
          </a:bodyPr>
          <a:lstStyle/>
          <a:p>
            <a:pPr algn="l">
              <a:lnSpc>
                <a:spcPct val="118000"/>
              </a:lnSpc>
              <a:spcAft>
                <a:spcPts val="0"/>
              </a:spcAft>
            </a:pPr>
            <a:r>
              <a:rPr sz="700" b="0">
                <a:solidFill>
                  <a:srgbClr val="55677C"/>
                </a:solidFill>
                <a:latin typeface="Calibri"/>
              </a:rPr>
              <a:t>vakantiegoedkeuringen</a:t>
            </a:r>
          </a:p>
        </p:txBody>
      </p:sp>
      <p:sp>
        <p:nvSpPr>
          <p:cNvPr id="79" name="Oval 78"/>
          <p:cNvSpPr/>
          <p:nvPr/>
        </p:nvSpPr>
        <p:spPr>
          <a:xfrm>
            <a:off x="8449360" y="5124450"/>
            <a:ext cx="64008" cy="64008"/>
          </a:xfrm>
          <a:prstGeom prst="ellipse">
            <a:avLst/>
          </a:prstGeom>
          <a:solidFill>
            <a:srgbClr val="C439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8645956" y="5078730"/>
            <a:ext cx="2594762" cy="173736"/>
          </a:xfrm>
          <a:prstGeom prst="rect">
            <a:avLst/>
          </a:prstGeom>
          <a:noFill/>
        </p:spPr>
        <p:txBody>
          <a:bodyPr wrap="square" lIns="0" rIns="0" tIns="0" bIns="0" anchor="t">
            <a:spAutoFit/>
          </a:bodyPr>
          <a:lstStyle/>
          <a:p>
            <a:pPr algn="l">
              <a:lnSpc>
                <a:spcPct val="118000"/>
              </a:lnSpc>
              <a:spcAft>
                <a:spcPts val="0"/>
              </a:spcAft>
            </a:pPr>
            <a:r>
              <a:rPr sz="700" b="0">
                <a:solidFill>
                  <a:srgbClr val="55677C"/>
                </a:solidFill>
                <a:latin typeface="Calibri"/>
              </a:rPr>
              <a:t>slapers op de SEH</a:t>
            </a:r>
          </a:p>
        </p:txBody>
      </p:sp>
      <p:sp>
        <p:nvSpPr>
          <p:cNvPr id="81" name="Oval 80"/>
          <p:cNvSpPr/>
          <p:nvPr/>
        </p:nvSpPr>
        <p:spPr>
          <a:xfrm>
            <a:off x="8449360" y="5298186"/>
            <a:ext cx="64008" cy="64008"/>
          </a:xfrm>
          <a:prstGeom prst="ellipse">
            <a:avLst/>
          </a:prstGeom>
          <a:solidFill>
            <a:srgbClr val="C439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8645956" y="5252466"/>
            <a:ext cx="2594762" cy="173736"/>
          </a:xfrm>
          <a:prstGeom prst="rect">
            <a:avLst/>
          </a:prstGeom>
          <a:noFill/>
        </p:spPr>
        <p:txBody>
          <a:bodyPr wrap="square" lIns="0" rIns="0" tIns="0" bIns="0" anchor="t">
            <a:spAutoFit/>
          </a:bodyPr>
          <a:lstStyle/>
          <a:p>
            <a:pPr algn="l">
              <a:lnSpc>
                <a:spcPct val="118000"/>
              </a:lnSpc>
              <a:spcAft>
                <a:spcPts val="0"/>
              </a:spcAft>
            </a:pPr>
            <a:r>
              <a:rPr sz="700" b="0">
                <a:solidFill>
                  <a:srgbClr val="55677C"/>
                </a:solidFill>
                <a:latin typeface="Calibri"/>
              </a:rPr>
              <a:t>simulatie ICU- en CCU-data</a:t>
            </a:r>
          </a:p>
        </p:txBody>
      </p:sp>
      <p:sp>
        <p:nvSpPr>
          <p:cNvPr id="83" name="Oval 82"/>
          <p:cNvSpPr/>
          <p:nvPr/>
        </p:nvSpPr>
        <p:spPr>
          <a:xfrm>
            <a:off x="8449360" y="5471922"/>
            <a:ext cx="64008" cy="64008"/>
          </a:xfrm>
          <a:prstGeom prst="ellipse">
            <a:avLst/>
          </a:prstGeom>
          <a:solidFill>
            <a:srgbClr val="C439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8645956" y="5426202"/>
            <a:ext cx="2594762" cy="173736"/>
          </a:xfrm>
          <a:prstGeom prst="rect">
            <a:avLst/>
          </a:prstGeom>
          <a:noFill/>
        </p:spPr>
        <p:txBody>
          <a:bodyPr wrap="square" lIns="0" rIns="0" tIns="0" bIns="0" anchor="t">
            <a:spAutoFit/>
          </a:bodyPr>
          <a:lstStyle/>
          <a:p>
            <a:pPr algn="l">
              <a:lnSpc>
                <a:spcPct val="118000"/>
              </a:lnSpc>
              <a:spcAft>
                <a:spcPts val="0"/>
              </a:spcAft>
            </a:pPr>
            <a:r>
              <a:rPr sz="700" b="0">
                <a:solidFill>
                  <a:srgbClr val="55677C"/>
                </a:solidFill>
                <a:latin typeface="Calibri"/>
              </a:rPr>
              <a:t>versneld jaarplan CCU</a:t>
            </a:r>
          </a:p>
        </p:txBody>
      </p:sp>
      <p:sp>
        <p:nvSpPr>
          <p:cNvPr id="85" name="Oval 84"/>
          <p:cNvSpPr/>
          <p:nvPr/>
        </p:nvSpPr>
        <p:spPr>
          <a:xfrm>
            <a:off x="8449360" y="5645658"/>
            <a:ext cx="64008" cy="64008"/>
          </a:xfrm>
          <a:prstGeom prst="ellipse">
            <a:avLst/>
          </a:prstGeom>
          <a:solidFill>
            <a:srgbClr val="C439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8645956" y="5599938"/>
            <a:ext cx="2594762" cy="173736"/>
          </a:xfrm>
          <a:prstGeom prst="rect">
            <a:avLst/>
          </a:prstGeom>
          <a:noFill/>
        </p:spPr>
        <p:txBody>
          <a:bodyPr wrap="square" lIns="0" rIns="0" tIns="0" bIns="0" anchor="t">
            <a:spAutoFit/>
          </a:bodyPr>
          <a:lstStyle/>
          <a:p>
            <a:pPr algn="l">
              <a:lnSpc>
                <a:spcPct val="118000"/>
              </a:lnSpc>
              <a:spcAft>
                <a:spcPts val="0"/>
              </a:spcAft>
            </a:pPr>
            <a:r>
              <a:rPr sz="700" b="0">
                <a:solidFill>
                  <a:srgbClr val="55677C"/>
                </a:solidFill>
                <a:latin typeface="Calibri"/>
              </a:rPr>
              <a:t>drie vragen direct naar Remco</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FFFFFF"/>
              </a:gs>
              <a:gs pos="100000">
                <a:srgbClr val="F1F6FC"/>
              </a:gs>
            </a:gsLst>
            <a:lin scaled="0" ang="189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640080" y="566928"/>
            <a:ext cx="10911535" cy="219456"/>
          </a:xfrm>
          <a:prstGeom prst="rect">
            <a:avLst/>
          </a:prstGeom>
          <a:noFill/>
        </p:spPr>
        <p:txBody>
          <a:bodyPr wrap="square" lIns="0" rIns="0" tIns="0" bIns="0" anchor="t">
            <a:spAutoFit/>
          </a:bodyPr>
          <a:lstStyle/>
          <a:p>
            <a:pPr algn="l">
              <a:lnSpc>
                <a:spcPct val="120000"/>
              </a:lnSpc>
              <a:spcAft>
                <a:spcPts val="0"/>
              </a:spcAft>
            </a:pPr>
            <a:r>
              <a:rPr sz="1050" b="1" spc="220">
                <a:solidFill>
                  <a:srgbClr val="1F6FB2"/>
                </a:solidFill>
                <a:latin typeface="Calibri"/>
              </a:rPr>
              <a:t>DEEL 04  ·  VRAGEN</a:t>
            </a:r>
          </a:p>
        </p:txBody>
      </p:sp>
      <p:sp>
        <p:nvSpPr>
          <p:cNvPr id="4" name="TextBox 3"/>
          <p:cNvSpPr txBox="1"/>
          <p:nvPr/>
        </p:nvSpPr>
        <p:spPr>
          <a:xfrm>
            <a:off x="640080" y="859536"/>
            <a:ext cx="10911535" cy="566928"/>
          </a:xfrm>
          <a:prstGeom prst="rect">
            <a:avLst/>
          </a:prstGeom>
          <a:noFill/>
        </p:spPr>
        <p:txBody>
          <a:bodyPr wrap="square" lIns="0" rIns="0" tIns="0" bIns="0" anchor="t">
            <a:spAutoFit/>
          </a:bodyPr>
          <a:lstStyle/>
          <a:p>
            <a:pPr algn="l">
              <a:lnSpc>
                <a:spcPct val="120000"/>
              </a:lnSpc>
              <a:spcAft>
                <a:spcPts val="0"/>
              </a:spcAft>
            </a:pPr>
            <a:r>
              <a:rPr sz="3400" b="1">
                <a:solidFill>
                  <a:srgbClr val="0D1B2A"/>
                </a:solidFill>
                <a:latin typeface="Calibri"/>
              </a:rPr>
              <a:t>Oudbouw, transitie en verhuisperiode</a:t>
            </a:r>
          </a:p>
        </p:txBody>
      </p:sp>
      <p:sp>
        <p:nvSpPr>
          <p:cNvPr id="5" name="TextBox 4"/>
          <p:cNvSpPr txBox="1"/>
          <p:nvPr/>
        </p:nvSpPr>
        <p:spPr>
          <a:xfrm>
            <a:off x="640080" y="1335024"/>
            <a:ext cx="8510997" cy="274320"/>
          </a:xfrm>
          <a:prstGeom prst="rect">
            <a:avLst/>
          </a:prstGeom>
          <a:noFill/>
        </p:spPr>
        <p:txBody>
          <a:bodyPr wrap="square" lIns="0" rIns="0" tIns="0" bIns="0" anchor="t">
            <a:spAutoFit/>
          </a:bodyPr>
          <a:lstStyle/>
          <a:p>
            <a:pPr algn="l">
              <a:lnSpc>
                <a:spcPct val="120000"/>
              </a:lnSpc>
              <a:spcAft>
                <a:spcPts val="0"/>
              </a:spcAft>
            </a:pPr>
            <a:r>
              <a:rPr sz="1300" b="0">
                <a:solidFill>
                  <a:srgbClr val="55677C"/>
                </a:solidFill>
                <a:latin typeface="Calibri"/>
              </a:rPr>
              <a:t>Uitgangspunten die de zorgmanager nodig heeft</a:t>
            </a:r>
          </a:p>
        </p:txBody>
      </p:sp>
      <p:cxnSp>
        <p:nvCxnSpPr>
          <p:cNvPr id="6" name="Connector 5"/>
          <p:cNvCxnSpPr/>
          <p:nvPr/>
        </p:nvCxnSpPr>
        <p:spPr>
          <a:xfrm>
            <a:off x="640080" y="1609344"/>
            <a:ext cx="10911535" cy="0"/>
          </a:xfrm>
          <a:prstGeom prst="line">
            <a:avLst/>
          </a:prstGeom>
          <a:ln w="12700">
            <a:solidFill>
              <a:srgbClr val="E2E9F1"/>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640080" y="6291072"/>
            <a:ext cx="10911535" cy="0"/>
          </a:xfrm>
          <a:prstGeom prst="line">
            <a:avLst/>
          </a:prstGeom>
          <a:ln w="9525">
            <a:solidFill>
              <a:srgbClr val="E2E9F1"/>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40080" y="6382512"/>
            <a:ext cx="5486400" cy="237744"/>
          </a:xfrm>
          <a:prstGeom prst="rect">
            <a:avLst/>
          </a:prstGeom>
          <a:noFill/>
        </p:spPr>
        <p:txBody>
          <a:bodyPr wrap="square" lIns="0" rIns="0" tIns="0" bIns="0" anchor="t">
            <a:spAutoFit/>
          </a:bodyPr>
          <a:lstStyle/>
          <a:p>
            <a:pPr algn="l">
              <a:lnSpc>
                <a:spcPct val="120000"/>
              </a:lnSpc>
              <a:spcAft>
                <a:spcPts val="0"/>
              </a:spcAft>
            </a:pPr>
            <a:r>
              <a:rPr sz="900" b="0" spc="80">
                <a:solidFill>
                  <a:srgbClr val="8B9AAA"/>
                </a:solidFill>
                <a:latin typeface="Calibri"/>
              </a:rPr>
              <a:t>Acute poort en Hotfloor</a:t>
            </a:r>
          </a:p>
        </p:txBody>
      </p:sp>
      <p:sp>
        <p:nvSpPr>
          <p:cNvPr id="9" name="TextBox 8"/>
          <p:cNvSpPr txBox="1"/>
          <p:nvPr/>
        </p:nvSpPr>
        <p:spPr>
          <a:xfrm>
            <a:off x="10637215" y="6382512"/>
            <a:ext cx="914400" cy="237744"/>
          </a:xfrm>
          <a:prstGeom prst="rect">
            <a:avLst/>
          </a:prstGeom>
          <a:noFill/>
        </p:spPr>
        <p:txBody>
          <a:bodyPr wrap="square" lIns="0" rIns="0" tIns="0" bIns="0" anchor="t">
            <a:spAutoFit/>
          </a:bodyPr>
          <a:lstStyle/>
          <a:p>
            <a:pPr algn="r">
              <a:lnSpc>
                <a:spcPct val="120000"/>
              </a:lnSpc>
              <a:spcAft>
                <a:spcPts val="0"/>
              </a:spcAft>
            </a:pPr>
            <a:r>
              <a:rPr sz="950" b="1">
                <a:solidFill>
                  <a:srgbClr val="0E9A87"/>
                </a:solidFill>
                <a:latin typeface="Calibri"/>
              </a:rPr>
              <a:t>21</a:t>
            </a:r>
          </a:p>
        </p:txBody>
      </p:sp>
      <p:graphicFrame>
        <p:nvGraphicFramePr>
          <p:cNvPr id="10" name="Table 9"/>
          <p:cNvGraphicFramePr>
            <a:graphicFrameLocks noGrp="1"/>
          </p:cNvGraphicFramePr>
          <p:nvPr/>
        </p:nvGraphicFramePr>
        <p:xfrm>
          <a:off x="640080" y="1700784"/>
          <a:ext cx="10911535" cy="3730752"/>
        </p:xfrm>
        <a:graphic>
          <a:graphicData uri="http://schemas.openxmlformats.org/drawingml/2006/table">
            <a:tbl>
              <a:tblPr>
                <a:tableStyleId>{5C22544A-7EE6-4342-B048-85BDC9FD1C3A}</a:tableStyleId>
              </a:tblPr>
              <a:tblGrid>
                <a:gridCol w="548640"/>
                <a:gridCol w="10362895"/>
              </a:tblGrid>
              <a:tr h="329184">
                <a:tc>
                  <a:txBody>
                    <a:bodyPr wrap="square"/>
                    <a:lstStyle/>
                    <a:p>
                      <a:pPr algn="ctr">
                        <a:spcAft>
                          <a:spcPts val="200"/>
                        </a:spcAft>
                      </a:pPr>
                      <a:r>
                        <a:rPr sz="950" b="1">
                          <a:solidFill>
                            <a:srgbClr val="1F6FB2"/>
                          </a:solidFill>
                          <a:latin typeface="Calibri"/>
                        </a:rPr>
                        <a:t>#</a:t>
                      </a:r>
                    </a:p>
                  </a:txBody>
                  <a:tcPr marL="91440" marR="91440" marT="36576" marB="36576" anchor="ctr">
                    <a:solidFill>
                      <a:srgbClr val="FFFFFF"/>
                    </a:solidFill>
                    <a:lnL w="0">
                      <a:noFill/>
                    </a:lnL>
                    <a:lnR w="0">
                      <a:noFill/>
                    </a:lnR>
                    <a:lnT w="0">
                      <a:noFill/>
                    </a:lnT>
                    <a:lnB w="6350" cap="flat">
                      <a:solidFill>
                        <a:srgbClr val="E2E9F1"/>
                      </a:solidFill>
                    </a:lnB>
                  </a:tcPr>
                </a:tc>
                <a:tc>
                  <a:txBody>
                    <a:bodyPr wrap="square"/>
                    <a:lstStyle/>
                    <a:p>
                      <a:pPr algn="l">
                        <a:spcAft>
                          <a:spcPts val="200"/>
                        </a:spcAft>
                      </a:pPr>
                      <a:r>
                        <a:rPr sz="950" b="1">
                          <a:solidFill>
                            <a:srgbClr val="1F6FB2"/>
                          </a:solidFill>
                          <a:latin typeface="Calibri"/>
                        </a:rPr>
                        <a:t>VRAAG OF KNELPUNT</a:t>
                      </a:r>
                    </a:p>
                  </a:txBody>
                  <a:tcPr marL="91440" marR="91440" marT="36576" marB="36576" anchor="ctr">
                    <a:solidFill>
                      <a:srgbClr val="FFFFFF"/>
                    </a:solidFill>
                    <a:lnL w="0">
                      <a:noFill/>
                    </a:lnL>
                    <a:lnR w="0">
                      <a:noFill/>
                    </a:lnR>
                    <a:lnT w="0">
                      <a:noFill/>
                    </a:lnT>
                    <a:lnB w="6350" cap="flat">
                      <a:solidFill>
                        <a:srgbClr val="E2E9F1"/>
                      </a:solidFill>
                    </a:lnB>
                  </a:tcPr>
                </a:tc>
              </a:tr>
              <a:tr h="332232">
                <a:tc>
                  <a:txBody>
                    <a:bodyPr wrap="square"/>
                    <a:lstStyle/>
                    <a:p>
                      <a:pPr algn="ctr">
                        <a:spcAft>
                          <a:spcPts val="200"/>
                        </a:spcAft>
                      </a:pPr>
                      <a:r>
                        <a:rPr sz="1200" b="1">
                          <a:solidFill>
                            <a:srgbClr val="1F6FB2"/>
                          </a:solidFill>
                          <a:latin typeface="Calibri"/>
                        </a:rPr>
                        <a:t>1</a:t>
                      </a:r>
                    </a:p>
                  </a:txBody>
                  <a:tcPr marL="91440" marR="91440" marT="36576" marB="36576" anchor="ctr">
                    <a:solidFill>
                      <a:srgbClr val="FFFFFF"/>
                    </a:solidFill>
                    <a:lnL w="0">
                      <a:noFill/>
                    </a:lnL>
                    <a:lnR w="0">
                      <a:noFill/>
                    </a:lnR>
                    <a:lnT w="0">
                      <a:noFill/>
                    </a:lnT>
                    <a:lnB w="6350" cap="flat">
                      <a:solidFill>
                        <a:srgbClr val="E2E9F1"/>
                      </a:solidFill>
                    </a:lnB>
                  </a:tcPr>
                </a:tc>
                <a:tc>
                  <a:txBody>
                    <a:bodyPr wrap="square"/>
                    <a:lstStyle/>
                    <a:p>
                      <a:pPr algn="l">
                        <a:spcAft>
                          <a:spcPts val="200"/>
                        </a:spcAft>
                      </a:pPr>
                      <a:r>
                        <a:rPr sz="1200" b="0">
                          <a:solidFill>
                            <a:srgbClr val="55677C"/>
                          </a:solidFill>
                          <a:latin typeface="Calibri"/>
                        </a:rPr>
                        <a:t>Wat moeten we meenemen uit lopende projecten, of wordt dit later doorgevoerd in de begroting en het jaarplan?</a:t>
                      </a:r>
                    </a:p>
                  </a:txBody>
                  <a:tcPr marL="91440" marR="91440" marT="36576" marB="36576" anchor="ctr">
                    <a:solidFill>
                      <a:srgbClr val="FFFFFF"/>
                    </a:solidFill>
                    <a:lnL w="0">
                      <a:noFill/>
                    </a:lnL>
                    <a:lnR w="0">
                      <a:noFill/>
                    </a:lnR>
                    <a:lnT w="0">
                      <a:noFill/>
                    </a:lnT>
                    <a:lnB w="6350" cap="flat">
                      <a:solidFill>
                        <a:srgbClr val="E2E9F1"/>
                      </a:solidFill>
                    </a:lnB>
                  </a:tcPr>
                </a:tc>
              </a:tr>
              <a:tr h="332232">
                <a:tc>
                  <a:txBody>
                    <a:bodyPr wrap="square"/>
                    <a:lstStyle/>
                    <a:p>
                      <a:pPr algn="ctr">
                        <a:spcAft>
                          <a:spcPts val="200"/>
                        </a:spcAft>
                      </a:pPr>
                      <a:r>
                        <a:rPr sz="1200" b="1">
                          <a:solidFill>
                            <a:srgbClr val="1F6FB2"/>
                          </a:solidFill>
                          <a:latin typeface="Calibri"/>
                        </a:rPr>
                        <a:t>2</a:t>
                      </a:r>
                    </a:p>
                  </a:txBody>
                  <a:tcPr marL="91440" marR="91440" marT="36576" marB="36576" anchor="ctr">
                    <a:solidFill>
                      <a:srgbClr val="F6F9FD"/>
                    </a:solidFill>
                    <a:lnL w="0">
                      <a:noFill/>
                    </a:lnL>
                    <a:lnR w="0">
                      <a:noFill/>
                    </a:lnR>
                    <a:lnT w="0">
                      <a:noFill/>
                    </a:lnT>
                    <a:lnB w="6350" cap="flat">
                      <a:solidFill>
                        <a:srgbClr val="E2E9F1"/>
                      </a:solidFill>
                    </a:lnB>
                  </a:tcPr>
                </a:tc>
                <a:tc>
                  <a:txBody>
                    <a:bodyPr wrap="square"/>
                    <a:lstStyle/>
                    <a:p>
                      <a:pPr algn="l">
                        <a:spcAft>
                          <a:spcPts val="200"/>
                        </a:spcAft>
                      </a:pPr>
                      <a:r>
                        <a:rPr sz="1200" b="0">
                          <a:solidFill>
                            <a:srgbClr val="55677C"/>
                          </a:solidFill>
                          <a:latin typeface="Calibri"/>
                        </a:rPr>
                        <a:t>Hoe werken de afdelingen nu al toe naar de nieuwbouwsituatie, en welke impact heeft dat op bedden en personeel?</a:t>
                      </a:r>
                    </a:p>
                  </a:txBody>
                  <a:tcPr marL="91440" marR="91440" marT="36576" marB="36576" anchor="ctr">
                    <a:solidFill>
                      <a:srgbClr val="F6F9FD"/>
                    </a:solidFill>
                    <a:lnL w="0">
                      <a:noFill/>
                    </a:lnL>
                    <a:lnR w="0">
                      <a:noFill/>
                    </a:lnR>
                    <a:lnT w="0">
                      <a:noFill/>
                    </a:lnT>
                    <a:lnB w="6350" cap="flat">
                      <a:solidFill>
                        <a:srgbClr val="E2E9F1"/>
                      </a:solidFill>
                    </a:lnB>
                  </a:tcPr>
                </a:tc>
              </a:tr>
              <a:tr h="518160">
                <a:tc>
                  <a:txBody>
                    <a:bodyPr wrap="square"/>
                    <a:lstStyle/>
                    <a:p>
                      <a:pPr algn="ctr">
                        <a:spcAft>
                          <a:spcPts val="200"/>
                        </a:spcAft>
                      </a:pPr>
                      <a:r>
                        <a:rPr sz="1200" b="1">
                          <a:solidFill>
                            <a:srgbClr val="1F6FB2"/>
                          </a:solidFill>
                          <a:latin typeface="Calibri"/>
                        </a:rPr>
                        <a:t>3</a:t>
                      </a:r>
                    </a:p>
                  </a:txBody>
                  <a:tcPr marL="91440" marR="91440" marT="36576" marB="36576" anchor="ctr">
                    <a:solidFill>
                      <a:srgbClr val="FFFFFF"/>
                    </a:solidFill>
                    <a:lnL w="0">
                      <a:noFill/>
                    </a:lnL>
                    <a:lnR w="0">
                      <a:noFill/>
                    </a:lnR>
                    <a:lnT w="0">
                      <a:noFill/>
                    </a:lnT>
                    <a:lnB w="6350" cap="flat">
                      <a:solidFill>
                        <a:srgbClr val="E2E9F1"/>
                      </a:solidFill>
                    </a:lnB>
                  </a:tcPr>
                </a:tc>
                <a:tc>
                  <a:txBody>
                    <a:bodyPr wrap="square"/>
                    <a:lstStyle/>
                    <a:p>
                      <a:pPr algn="l">
                        <a:spcAft>
                          <a:spcPts val="200"/>
                        </a:spcAft>
                      </a:pPr>
                      <a:r>
                        <a:rPr sz="1200" b="0">
                          <a:solidFill>
                            <a:srgbClr val="55677C"/>
                          </a:solidFill>
                          <a:latin typeface="Calibri"/>
                        </a:rPr>
                        <a:t>Kunnen we de huidige personele inzet van de SEH aanhouden tot de nieuwbouw, exclusief eventuele extra inzet voor de nieuwbouw?</a:t>
                      </a:r>
                    </a:p>
                  </a:txBody>
                  <a:tcPr marL="91440" marR="91440" marT="36576" marB="36576" anchor="ctr">
                    <a:solidFill>
                      <a:srgbClr val="FFFFFF"/>
                    </a:solidFill>
                    <a:lnL w="0">
                      <a:noFill/>
                    </a:lnL>
                    <a:lnR w="0">
                      <a:noFill/>
                    </a:lnR>
                    <a:lnT w="0">
                      <a:noFill/>
                    </a:lnT>
                    <a:lnB w="6350" cap="flat">
                      <a:solidFill>
                        <a:srgbClr val="E2E9F1"/>
                      </a:solidFill>
                    </a:lnB>
                  </a:tcPr>
                </a:tc>
              </a:tr>
              <a:tr h="518160">
                <a:tc>
                  <a:txBody>
                    <a:bodyPr wrap="square"/>
                    <a:lstStyle/>
                    <a:p>
                      <a:pPr algn="ctr">
                        <a:spcAft>
                          <a:spcPts val="200"/>
                        </a:spcAft>
                      </a:pPr>
                      <a:r>
                        <a:rPr sz="1200" b="1">
                          <a:solidFill>
                            <a:srgbClr val="1F6FB2"/>
                          </a:solidFill>
                          <a:latin typeface="Calibri"/>
                        </a:rPr>
                        <a:t>4</a:t>
                      </a:r>
                    </a:p>
                  </a:txBody>
                  <a:tcPr marL="91440" marR="91440" marT="36576" marB="36576" anchor="ctr">
                    <a:solidFill>
                      <a:srgbClr val="F6F9FD"/>
                    </a:solidFill>
                    <a:lnL w="0">
                      <a:noFill/>
                    </a:lnL>
                    <a:lnR w="0">
                      <a:noFill/>
                    </a:lnR>
                    <a:lnT w="0">
                      <a:noFill/>
                    </a:lnT>
                    <a:lnB w="6350" cap="flat">
                      <a:solidFill>
                        <a:srgbClr val="E2E9F1"/>
                      </a:solidFill>
                    </a:lnB>
                  </a:tcPr>
                </a:tc>
                <a:tc>
                  <a:txBody>
                    <a:bodyPr wrap="square"/>
                    <a:lstStyle/>
                    <a:p>
                      <a:pPr algn="l">
                        <a:spcAft>
                          <a:spcPts val="200"/>
                        </a:spcAft>
                      </a:pPr>
                      <a:r>
                        <a:rPr sz="1200" b="0">
                          <a:solidFill>
                            <a:srgbClr val="55677C"/>
                          </a:solidFill>
                          <a:latin typeface="Calibri"/>
                        </a:rPr>
                        <a:t>De bedbezetting is in het weekend lager dan doordeweeks; formatie daarop aanpassen komt neer op 5-5-4. In de oudbouw geen aanpassing, alleen toewerken naar de nieuwbouw: motiveren en dubbel opleiden.</a:t>
                      </a:r>
                    </a:p>
                  </a:txBody>
                  <a:tcPr marL="91440" marR="91440" marT="36576" marB="36576" anchor="ctr">
                    <a:solidFill>
                      <a:srgbClr val="F6F9FD"/>
                    </a:solidFill>
                    <a:lnL w="0">
                      <a:noFill/>
                    </a:lnL>
                    <a:lnR w="0">
                      <a:noFill/>
                    </a:lnR>
                    <a:lnT w="0">
                      <a:noFill/>
                    </a:lnT>
                    <a:lnB w="6350" cap="flat">
                      <a:solidFill>
                        <a:srgbClr val="E2E9F1"/>
                      </a:solidFill>
                    </a:lnB>
                  </a:tcPr>
                </a:tc>
              </a:tr>
              <a:tr h="518160">
                <a:tc>
                  <a:txBody>
                    <a:bodyPr wrap="square"/>
                    <a:lstStyle/>
                    <a:p>
                      <a:pPr algn="ctr">
                        <a:spcAft>
                          <a:spcPts val="200"/>
                        </a:spcAft>
                      </a:pPr>
                      <a:r>
                        <a:rPr sz="1200" b="1">
                          <a:solidFill>
                            <a:srgbClr val="1F6FB2"/>
                          </a:solidFill>
                          <a:latin typeface="Calibri"/>
                        </a:rPr>
                        <a:t>5</a:t>
                      </a:r>
                    </a:p>
                  </a:txBody>
                  <a:tcPr marL="91440" marR="91440" marT="36576" marB="36576" anchor="ctr">
                    <a:solidFill>
                      <a:srgbClr val="FFFFFF"/>
                    </a:solidFill>
                    <a:lnL w="0">
                      <a:noFill/>
                    </a:lnL>
                    <a:lnR w="0">
                      <a:noFill/>
                    </a:lnR>
                    <a:lnT w="0">
                      <a:noFill/>
                    </a:lnT>
                    <a:lnB w="6350" cap="flat">
                      <a:solidFill>
                        <a:srgbClr val="E2E9F1"/>
                      </a:solidFill>
                    </a:lnB>
                  </a:tcPr>
                </a:tc>
                <a:tc>
                  <a:txBody>
                    <a:bodyPr wrap="square"/>
                    <a:lstStyle/>
                    <a:p>
                      <a:pPr algn="l">
                        <a:spcAft>
                          <a:spcPts val="200"/>
                        </a:spcAft>
                      </a:pPr>
                      <a:r>
                        <a:rPr sz="1200" b="0">
                          <a:solidFill>
                            <a:srgbClr val="55677C"/>
                          </a:solidFill>
                          <a:latin typeface="Calibri"/>
                        </a:rPr>
                        <a:t>Voor de ICU houden we de landelijke norm aan, maar daar zit bij ons ook recovery in. Welke normering hanteren we? (Geparkeerd voor later.)</a:t>
                      </a:r>
                    </a:p>
                  </a:txBody>
                  <a:tcPr marL="91440" marR="91440" marT="36576" marB="36576" anchor="ctr">
                    <a:solidFill>
                      <a:srgbClr val="FFFFFF"/>
                    </a:solidFill>
                    <a:lnL w="0">
                      <a:noFill/>
                    </a:lnL>
                    <a:lnR w="0">
                      <a:noFill/>
                    </a:lnR>
                    <a:lnT w="0">
                      <a:noFill/>
                    </a:lnT>
                    <a:lnB w="6350" cap="flat">
                      <a:solidFill>
                        <a:srgbClr val="E2E9F1"/>
                      </a:solidFill>
                    </a:lnB>
                  </a:tcPr>
                </a:tc>
              </a:tr>
              <a:tr h="332232">
                <a:tc>
                  <a:txBody>
                    <a:bodyPr wrap="square"/>
                    <a:lstStyle/>
                    <a:p>
                      <a:pPr algn="ctr">
                        <a:spcAft>
                          <a:spcPts val="200"/>
                        </a:spcAft>
                      </a:pPr>
                      <a:r>
                        <a:rPr sz="1200" b="1">
                          <a:solidFill>
                            <a:srgbClr val="1F6FB2"/>
                          </a:solidFill>
                          <a:latin typeface="Calibri"/>
                        </a:rPr>
                        <a:t>6</a:t>
                      </a:r>
                    </a:p>
                  </a:txBody>
                  <a:tcPr marL="91440" marR="91440" marT="36576" marB="36576" anchor="ctr">
                    <a:solidFill>
                      <a:srgbClr val="F6F9FD"/>
                    </a:solidFill>
                    <a:lnL w="0">
                      <a:noFill/>
                    </a:lnL>
                    <a:lnR w="0">
                      <a:noFill/>
                    </a:lnR>
                    <a:lnT w="0">
                      <a:noFill/>
                    </a:lnT>
                    <a:lnB w="6350" cap="flat">
                      <a:solidFill>
                        <a:srgbClr val="E2E9F1"/>
                      </a:solidFill>
                    </a:lnB>
                  </a:tcPr>
                </a:tc>
                <a:tc>
                  <a:txBody>
                    <a:bodyPr wrap="square"/>
                    <a:lstStyle/>
                    <a:p>
                      <a:pPr algn="l">
                        <a:spcAft>
                          <a:spcPts val="200"/>
                        </a:spcAft>
                      </a:pPr>
                      <a:r>
                        <a:rPr sz="1200" b="0">
                          <a:solidFill>
                            <a:srgbClr val="55677C"/>
                          </a:solidFill>
                          <a:latin typeface="Calibri"/>
                        </a:rPr>
                        <a:t>Wat is het uitgangspunt voor de AO-dienst? Bij drukte inzet in de zorg; negen van de tien keer blijf je buiten de zorg.</a:t>
                      </a:r>
                    </a:p>
                  </a:txBody>
                  <a:tcPr marL="91440" marR="91440" marT="36576" marB="36576" anchor="ctr">
                    <a:solidFill>
                      <a:srgbClr val="F6F9FD"/>
                    </a:solidFill>
                    <a:lnL w="0">
                      <a:noFill/>
                    </a:lnL>
                    <a:lnR w="0">
                      <a:noFill/>
                    </a:lnR>
                    <a:lnT w="0">
                      <a:noFill/>
                    </a:lnT>
                    <a:lnB w="6350" cap="flat">
                      <a:solidFill>
                        <a:srgbClr val="E2E9F1"/>
                      </a:solidFill>
                    </a:lnB>
                  </a:tcPr>
                </a:tc>
              </a:tr>
              <a:tr h="518160">
                <a:tc>
                  <a:txBody>
                    <a:bodyPr wrap="square"/>
                    <a:lstStyle/>
                    <a:p>
                      <a:pPr algn="ctr">
                        <a:spcAft>
                          <a:spcPts val="200"/>
                        </a:spcAft>
                      </a:pPr>
                      <a:r>
                        <a:rPr sz="1200" b="1">
                          <a:solidFill>
                            <a:srgbClr val="1F6FB2"/>
                          </a:solidFill>
                          <a:latin typeface="Calibri"/>
                        </a:rPr>
                        <a:t>7</a:t>
                      </a:r>
                    </a:p>
                  </a:txBody>
                  <a:tcPr marL="91440" marR="91440" marT="36576" marB="36576" anchor="ctr">
                    <a:solidFill>
                      <a:srgbClr val="FFFFFF"/>
                    </a:solidFill>
                    <a:lnL w="0">
                      <a:noFill/>
                    </a:lnL>
                    <a:lnR w="0">
                      <a:noFill/>
                    </a:lnR>
                    <a:lnT w="0">
                      <a:noFill/>
                    </a:lnT>
                    <a:lnB w="6350" cap="flat">
                      <a:solidFill>
                        <a:srgbClr val="E2E9F1"/>
                      </a:solidFill>
                    </a:lnB>
                  </a:tcPr>
                </a:tc>
                <a:tc>
                  <a:txBody>
                    <a:bodyPr wrap="square"/>
                    <a:lstStyle/>
                    <a:p>
                      <a:pPr algn="l">
                        <a:spcAft>
                          <a:spcPts val="200"/>
                        </a:spcAft>
                      </a:pPr>
                      <a:r>
                        <a:rPr sz="1200" b="0">
                          <a:solidFill>
                            <a:srgbClr val="55677C"/>
                          </a:solidFill>
                          <a:latin typeface="Calibri"/>
                        </a:rPr>
                        <a:t>Per september start de regieverpleegkundige. Wat betekent dat voor de personele inzet en de indirecte uren, en staat die functie binnen of buiten de zorg?</a:t>
                      </a:r>
                    </a:p>
                  </a:txBody>
                  <a:tcPr marL="91440" marR="91440" marT="36576" marB="36576" anchor="ctr">
                    <a:solidFill>
                      <a:srgbClr val="FFFFFF"/>
                    </a:solidFill>
                    <a:lnL w="0">
                      <a:noFill/>
                    </a:lnL>
                    <a:lnR w="0">
                      <a:noFill/>
                    </a:lnR>
                    <a:lnT w="0">
                      <a:noFill/>
                    </a:lnT>
                    <a:lnB w="6350" cap="flat">
                      <a:solidFill>
                        <a:srgbClr val="E2E9F1"/>
                      </a:solidFill>
                    </a:lnB>
                  </a:tcPr>
                </a:tc>
              </a:tr>
              <a:tr h="332232">
                <a:tc>
                  <a:txBody>
                    <a:bodyPr wrap="square"/>
                    <a:lstStyle/>
                    <a:p>
                      <a:pPr algn="ctr">
                        <a:spcAft>
                          <a:spcPts val="200"/>
                        </a:spcAft>
                      </a:pPr>
                      <a:r>
                        <a:rPr sz="1200" b="1">
                          <a:solidFill>
                            <a:srgbClr val="1F6FB2"/>
                          </a:solidFill>
                          <a:latin typeface="Calibri"/>
                        </a:rPr>
                        <a:t>8</a:t>
                      </a:r>
                    </a:p>
                  </a:txBody>
                  <a:tcPr marL="91440" marR="91440" marT="36576" marB="36576" anchor="ctr">
                    <a:solidFill>
                      <a:srgbClr val="F6F9FD"/>
                    </a:solidFill>
                    <a:lnL w="0">
                      <a:noFill/>
                    </a:lnL>
                    <a:lnR w="0">
                      <a:noFill/>
                    </a:lnR>
                    <a:lnT w="0">
                      <a:noFill/>
                    </a:lnT>
                    <a:lnB w="6350" cap="flat">
                      <a:solidFill>
                        <a:srgbClr val="E2E9F1"/>
                      </a:solidFill>
                    </a:lnB>
                  </a:tcPr>
                </a:tc>
                <a:tc>
                  <a:txBody>
                    <a:bodyPr wrap="square"/>
                    <a:lstStyle/>
                    <a:p>
                      <a:pPr algn="l">
                        <a:spcAft>
                          <a:spcPts val="200"/>
                        </a:spcAft>
                      </a:pPr>
                      <a:r>
                        <a:rPr sz="1200" b="0">
                          <a:solidFill>
                            <a:srgbClr val="55677C"/>
                          </a:solidFill>
                          <a:latin typeface="Calibri"/>
                        </a:rPr>
                        <a:t>Verhuisperiode: welke extra diensten zijn er nodig ten opzichte van de oudbouw, en op welke locatie worden die ingezet?</a:t>
                      </a:r>
                    </a:p>
                  </a:txBody>
                  <a:tcPr marL="91440" marR="91440" marT="36576" marB="36576" anchor="ctr">
                    <a:solidFill>
                      <a:srgbClr val="F6F9FD"/>
                    </a:solidFill>
                    <a:lnL w="0">
                      <a:noFill/>
                    </a:lnL>
                    <a:lnR w="0">
                      <a:noFill/>
                    </a:lnR>
                    <a:lnT w="0">
                      <a:noFill/>
                    </a:lnT>
                    <a:lnB w="6350" cap="flat">
                      <a:solidFill>
                        <a:srgbClr val="E2E9F1"/>
                      </a:solidFill>
                    </a:lnB>
                  </a:tcPr>
                </a:tc>
              </a:tr>
            </a:tbl>
          </a:graphicData>
        </a:graphic>
      </p:graphicFrame>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FFFFFF"/>
              </a:gs>
              <a:gs pos="100000">
                <a:srgbClr val="F1F6FC"/>
              </a:gs>
            </a:gsLst>
            <a:lin scaled="0" ang="189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640080" y="566928"/>
            <a:ext cx="10911535" cy="219456"/>
          </a:xfrm>
          <a:prstGeom prst="rect">
            <a:avLst/>
          </a:prstGeom>
          <a:noFill/>
        </p:spPr>
        <p:txBody>
          <a:bodyPr wrap="square" lIns="0" rIns="0" tIns="0" bIns="0" anchor="t">
            <a:spAutoFit/>
          </a:bodyPr>
          <a:lstStyle/>
          <a:p>
            <a:pPr algn="l">
              <a:lnSpc>
                <a:spcPct val="120000"/>
              </a:lnSpc>
              <a:spcAft>
                <a:spcPts val="0"/>
              </a:spcAft>
            </a:pPr>
            <a:r>
              <a:rPr sz="1050" b="1" spc="220">
                <a:solidFill>
                  <a:srgbClr val="0E9A87"/>
                </a:solidFill>
                <a:latin typeface="Calibri"/>
              </a:rPr>
              <a:t>DEEL 04  ·  VRAGEN</a:t>
            </a:r>
          </a:p>
        </p:txBody>
      </p:sp>
      <p:sp>
        <p:nvSpPr>
          <p:cNvPr id="4" name="TextBox 3"/>
          <p:cNvSpPr txBox="1"/>
          <p:nvPr/>
        </p:nvSpPr>
        <p:spPr>
          <a:xfrm>
            <a:off x="640080" y="859536"/>
            <a:ext cx="10911535" cy="566928"/>
          </a:xfrm>
          <a:prstGeom prst="rect">
            <a:avLst/>
          </a:prstGeom>
          <a:noFill/>
        </p:spPr>
        <p:txBody>
          <a:bodyPr wrap="square" lIns="0" rIns="0" tIns="0" bIns="0" anchor="t">
            <a:spAutoFit/>
          </a:bodyPr>
          <a:lstStyle/>
          <a:p>
            <a:pPr algn="l">
              <a:lnSpc>
                <a:spcPct val="120000"/>
              </a:lnSpc>
              <a:spcAft>
                <a:spcPts val="0"/>
              </a:spcAft>
            </a:pPr>
            <a:r>
              <a:rPr sz="3400" b="1">
                <a:solidFill>
                  <a:srgbClr val="0D1B2A"/>
                </a:solidFill>
                <a:latin typeface="Calibri"/>
              </a:rPr>
              <a:t>Nieuwbouw, deel 1</a:t>
            </a:r>
          </a:p>
        </p:txBody>
      </p:sp>
      <p:sp>
        <p:nvSpPr>
          <p:cNvPr id="5" name="TextBox 4"/>
          <p:cNvSpPr txBox="1"/>
          <p:nvPr/>
        </p:nvSpPr>
        <p:spPr>
          <a:xfrm>
            <a:off x="640080" y="1335024"/>
            <a:ext cx="8510997" cy="274320"/>
          </a:xfrm>
          <a:prstGeom prst="rect">
            <a:avLst/>
          </a:prstGeom>
          <a:noFill/>
        </p:spPr>
        <p:txBody>
          <a:bodyPr wrap="square" lIns="0" rIns="0" tIns="0" bIns="0" anchor="t">
            <a:spAutoFit/>
          </a:bodyPr>
          <a:lstStyle/>
          <a:p>
            <a:pPr algn="l">
              <a:lnSpc>
                <a:spcPct val="120000"/>
              </a:lnSpc>
              <a:spcAft>
                <a:spcPts val="0"/>
              </a:spcAft>
            </a:pPr>
            <a:r>
              <a:rPr sz="1300" b="0">
                <a:solidFill>
                  <a:srgbClr val="55677C"/>
                </a:solidFill>
                <a:latin typeface="Calibri"/>
              </a:rPr>
              <a:t>Personele inzet, norm en afkapmomenten</a:t>
            </a:r>
          </a:p>
        </p:txBody>
      </p:sp>
      <p:cxnSp>
        <p:nvCxnSpPr>
          <p:cNvPr id="6" name="Connector 5"/>
          <p:cNvCxnSpPr/>
          <p:nvPr/>
        </p:nvCxnSpPr>
        <p:spPr>
          <a:xfrm>
            <a:off x="640080" y="1609344"/>
            <a:ext cx="10911535" cy="0"/>
          </a:xfrm>
          <a:prstGeom prst="line">
            <a:avLst/>
          </a:prstGeom>
          <a:ln w="12700">
            <a:solidFill>
              <a:srgbClr val="E2E9F1"/>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640080" y="6291072"/>
            <a:ext cx="10911535" cy="0"/>
          </a:xfrm>
          <a:prstGeom prst="line">
            <a:avLst/>
          </a:prstGeom>
          <a:ln w="9525">
            <a:solidFill>
              <a:srgbClr val="E2E9F1"/>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40080" y="6382512"/>
            <a:ext cx="5486400" cy="237744"/>
          </a:xfrm>
          <a:prstGeom prst="rect">
            <a:avLst/>
          </a:prstGeom>
          <a:noFill/>
        </p:spPr>
        <p:txBody>
          <a:bodyPr wrap="square" lIns="0" rIns="0" tIns="0" bIns="0" anchor="t">
            <a:spAutoFit/>
          </a:bodyPr>
          <a:lstStyle/>
          <a:p>
            <a:pPr algn="l">
              <a:lnSpc>
                <a:spcPct val="120000"/>
              </a:lnSpc>
              <a:spcAft>
                <a:spcPts val="0"/>
              </a:spcAft>
            </a:pPr>
            <a:r>
              <a:rPr sz="900" b="0" spc="80">
                <a:solidFill>
                  <a:srgbClr val="8B9AAA"/>
                </a:solidFill>
                <a:latin typeface="Calibri"/>
              </a:rPr>
              <a:t>Acute poort en Hotfloor</a:t>
            </a:r>
          </a:p>
        </p:txBody>
      </p:sp>
      <p:sp>
        <p:nvSpPr>
          <p:cNvPr id="9" name="TextBox 8"/>
          <p:cNvSpPr txBox="1"/>
          <p:nvPr/>
        </p:nvSpPr>
        <p:spPr>
          <a:xfrm>
            <a:off x="10637215" y="6382512"/>
            <a:ext cx="914400" cy="237744"/>
          </a:xfrm>
          <a:prstGeom prst="rect">
            <a:avLst/>
          </a:prstGeom>
          <a:noFill/>
        </p:spPr>
        <p:txBody>
          <a:bodyPr wrap="square" lIns="0" rIns="0" tIns="0" bIns="0" anchor="t">
            <a:spAutoFit/>
          </a:bodyPr>
          <a:lstStyle/>
          <a:p>
            <a:pPr algn="r">
              <a:lnSpc>
                <a:spcPct val="120000"/>
              </a:lnSpc>
              <a:spcAft>
                <a:spcPts val="0"/>
              </a:spcAft>
            </a:pPr>
            <a:r>
              <a:rPr sz="950" b="1">
                <a:solidFill>
                  <a:srgbClr val="0E9A87"/>
                </a:solidFill>
                <a:latin typeface="Calibri"/>
              </a:rPr>
              <a:t>22</a:t>
            </a:r>
          </a:p>
        </p:txBody>
      </p:sp>
      <p:graphicFrame>
        <p:nvGraphicFramePr>
          <p:cNvPr id="10" name="Table 9"/>
          <p:cNvGraphicFramePr>
            <a:graphicFrameLocks noGrp="1"/>
          </p:cNvGraphicFramePr>
          <p:nvPr/>
        </p:nvGraphicFramePr>
        <p:xfrm>
          <a:off x="640080" y="1700784"/>
          <a:ext cx="10911535" cy="3066288"/>
        </p:xfrm>
        <a:graphic>
          <a:graphicData uri="http://schemas.openxmlformats.org/drawingml/2006/table">
            <a:tbl>
              <a:tblPr>
                <a:tableStyleId>{5C22544A-7EE6-4342-B048-85BDC9FD1C3A}</a:tableStyleId>
              </a:tblPr>
              <a:tblGrid>
                <a:gridCol w="548640"/>
                <a:gridCol w="10362895"/>
              </a:tblGrid>
              <a:tr h="329184">
                <a:tc>
                  <a:txBody>
                    <a:bodyPr wrap="square"/>
                    <a:lstStyle/>
                    <a:p>
                      <a:pPr algn="ctr">
                        <a:spcAft>
                          <a:spcPts val="200"/>
                        </a:spcAft>
                      </a:pPr>
                      <a:r>
                        <a:rPr sz="950" b="1">
                          <a:solidFill>
                            <a:srgbClr val="0E9A87"/>
                          </a:solidFill>
                          <a:latin typeface="Calibri"/>
                        </a:rPr>
                        <a:t>#</a:t>
                      </a:r>
                    </a:p>
                  </a:txBody>
                  <a:tcPr marL="91440" marR="91440" marT="36576" marB="36576" anchor="ctr">
                    <a:solidFill>
                      <a:srgbClr val="FFFFFF"/>
                    </a:solidFill>
                    <a:lnL w="0">
                      <a:noFill/>
                    </a:lnL>
                    <a:lnR w="0">
                      <a:noFill/>
                    </a:lnR>
                    <a:lnT w="0">
                      <a:noFill/>
                    </a:lnT>
                    <a:lnB w="6350" cap="flat">
                      <a:solidFill>
                        <a:srgbClr val="E2E9F1"/>
                      </a:solidFill>
                    </a:lnB>
                  </a:tcPr>
                </a:tc>
                <a:tc>
                  <a:txBody>
                    <a:bodyPr wrap="square"/>
                    <a:lstStyle/>
                    <a:p>
                      <a:pPr algn="l">
                        <a:spcAft>
                          <a:spcPts val="200"/>
                        </a:spcAft>
                      </a:pPr>
                      <a:r>
                        <a:rPr sz="950" b="1">
                          <a:solidFill>
                            <a:srgbClr val="0E9A87"/>
                          </a:solidFill>
                          <a:latin typeface="Calibri"/>
                        </a:rPr>
                        <a:t>VRAAG OF KNELPUNT</a:t>
                      </a:r>
                    </a:p>
                  </a:txBody>
                  <a:tcPr marL="91440" marR="91440" marT="36576" marB="36576" anchor="ctr">
                    <a:solidFill>
                      <a:srgbClr val="FFFFFF"/>
                    </a:solidFill>
                    <a:lnL w="0">
                      <a:noFill/>
                    </a:lnL>
                    <a:lnR w="0">
                      <a:noFill/>
                    </a:lnR>
                    <a:lnT w="0">
                      <a:noFill/>
                    </a:lnT>
                    <a:lnB w="6350" cap="flat">
                      <a:solidFill>
                        <a:srgbClr val="E2E9F1"/>
                      </a:solidFill>
                    </a:lnB>
                  </a:tcPr>
                </a:tc>
              </a:tr>
              <a:tr h="332232">
                <a:tc>
                  <a:txBody>
                    <a:bodyPr wrap="square"/>
                    <a:lstStyle/>
                    <a:p>
                      <a:pPr algn="ctr">
                        <a:spcAft>
                          <a:spcPts val="200"/>
                        </a:spcAft>
                      </a:pPr>
                      <a:r>
                        <a:rPr sz="1200" b="1">
                          <a:solidFill>
                            <a:srgbClr val="0E9A87"/>
                          </a:solidFill>
                          <a:latin typeface="Calibri"/>
                        </a:rPr>
                        <a:t>1</a:t>
                      </a:r>
                    </a:p>
                  </a:txBody>
                  <a:tcPr marL="91440" marR="91440" marT="36576" marB="36576" anchor="ctr">
                    <a:solidFill>
                      <a:srgbClr val="FFFFFF"/>
                    </a:solidFill>
                    <a:lnL w="0">
                      <a:noFill/>
                    </a:lnL>
                    <a:lnR w="0">
                      <a:noFill/>
                    </a:lnR>
                    <a:lnT w="0">
                      <a:noFill/>
                    </a:lnT>
                    <a:lnB w="6350" cap="flat">
                      <a:solidFill>
                        <a:srgbClr val="E2E9F1"/>
                      </a:solidFill>
                    </a:lnB>
                  </a:tcPr>
                </a:tc>
                <a:tc>
                  <a:txBody>
                    <a:bodyPr wrap="square"/>
                    <a:lstStyle/>
                    <a:p>
                      <a:pPr algn="l">
                        <a:spcAft>
                          <a:spcPts val="200"/>
                        </a:spcAft>
                      </a:pPr>
                      <a:r>
                        <a:rPr sz="1200" b="0">
                          <a:solidFill>
                            <a:srgbClr val="55677C"/>
                          </a:solidFill>
                          <a:latin typeface="Calibri"/>
                        </a:rPr>
                        <a:t>Waar komt de personele inzet op de EHH vandaan: van de SEH of van de ICU/CCU?</a:t>
                      </a:r>
                    </a:p>
                  </a:txBody>
                  <a:tcPr marL="91440" marR="91440" marT="36576" marB="36576" anchor="ctr">
                    <a:solidFill>
                      <a:srgbClr val="FFFFFF"/>
                    </a:solidFill>
                    <a:lnL w="0">
                      <a:noFill/>
                    </a:lnL>
                    <a:lnR w="0">
                      <a:noFill/>
                    </a:lnR>
                    <a:lnT w="0">
                      <a:noFill/>
                    </a:lnT>
                    <a:lnB w="6350" cap="flat">
                      <a:solidFill>
                        <a:srgbClr val="E2E9F1"/>
                      </a:solidFill>
                    </a:lnB>
                  </a:tcPr>
                </a:tc>
              </a:tr>
              <a:tr h="704088">
                <a:tc>
                  <a:txBody>
                    <a:bodyPr wrap="square"/>
                    <a:lstStyle/>
                    <a:p>
                      <a:pPr algn="ctr">
                        <a:spcAft>
                          <a:spcPts val="200"/>
                        </a:spcAft>
                      </a:pPr>
                      <a:r>
                        <a:rPr sz="1200" b="1">
                          <a:solidFill>
                            <a:srgbClr val="0E9A87"/>
                          </a:solidFill>
                          <a:latin typeface="Calibri"/>
                        </a:rPr>
                        <a:t>2</a:t>
                      </a:r>
                    </a:p>
                  </a:txBody>
                  <a:tcPr marL="91440" marR="91440" marT="36576" marB="36576" anchor="ctr">
                    <a:solidFill>
                      <a:srgbClr val="F6F9FD"/>
                    </a:solidFill>
                    <a:lnL w="0">
                      <a:noFill/>
                    </a:lnL>
                    <a:lnR w="0">
                      <a:noFill/>
                    </a:lnR>
                    <a:lnT w="0">
                      <a:noFill/>
                    </a:lnT>
                    <a:lnB w="6350" cap="flat">
                      <a:solidFill>
                        <a:srgbClr val="E2E9F1"/>
                      </a:solidFill>
                    </a:lnB>
                  </a:tcPr>
                </a:tc>
                <a:tc>
                  <a:txBody>
                    <a:bodyPr wrap="square"/>
                    <a:lstStyle/>
                    <a:p>
                      <a:pPr algn="l">
                        <a:spcAft>
                          <a:spcPts val="200"/>
                        </a:spcAft>
                      </a:pPr>
                      <a:r>
                        <a:rPr sz="1200" b="0">
                          <a:solidFill>
                            <a:srgbClr val="55677C"/>
                          </a:solidFill>
                          <a:latin typeface="Calibri"/>
                        </a:rPr>
                        <a:t>Dat wordt bepaald door het afkapmoment van de acute cardiologiepatiënt van SEH naar EHH/CCU. In de berekeningen is uitgegaan van inzet vanaf de CCU en een afkapmoment op 2 uur; nu wordt gekeken naar scenario's op 4, 6 en 24 uur waarbij de EHH-bedden bij de SEH zijn meegenomen.</a:t>
                      </a:r>
                    </a:p>
                  </a:txBody>
                  <a:tcPr marL="91440" marR="91440" marT="36576" marB="36576" anchor="ctr">
                    <a:solidFill>
                      <a:srgbClr val="F6F9FD"/>
                    </a:solidFill>
                    <a:lnL w="0">
                      <a:noFill/>
                    </a:lnL>
                    <a:lnR w="0">
                      <a:noFill/>
                    </a:lnR>
                    <a:lnT w="0">
                      <a:noFill/>
                    </a:lnT>
                    <a:lnB w="6350" cap="flat">
                      <a:solidFill>
                        <a:srgbClr val="E2E9F1"/>
                      </a:solidFill>
                    </a:lnB>
                  </a:tcPr>
                </a:tc>
              </a:tr>
              <a:tr h="332232">
                <a:tc>
                  <a:txBody>
                    <a:bodyPr wrap="square"/>
                    <a:lstStyle/>
                    <a:p>
                      <a:pPr algn="ctr">
                        <a:spcAft>
                          <a:spcPts val="200"/>
                        </a:spcAft>
                      </a:pPr>
                      <a:r>
                        <a:rPr sz="1200" b="1">
                          <a:solidFill>
                            <a:srgbClr val="0E9A87"/>
                          </a:solidFill>
                          <a:latin typeface="Calibri"/>
                        </a:rPr>
                        <a:t>3</a:t>
                      </a:r>
                    </a:p>
                  </a:txBody>
                  <a:tcPr marL="91440" marR="91440" marT="36576" marB="36576" anchor="ctr">
                    <a:solidFill>
                      <a:srgbClr val="FFFFFF"/>
                    </a:solidFill>
                    <a:lnL w="0">
                      <a:noFill/>
                    </a:lnL>
                    <a:lnR w="0">
                      <a:noFill/>
                    </a:lnR>
                    <a:lnT w="0">
                      <a:noFill/>
                    </a:lnT>
                    <a:lnB w="6350" cap="flat">
                      <a:solidFill>
                        <a:srgbClr val="E2E9F1"/>
                      </a:solidFill>
                    </a:lnB>
                  </a:tcPr>
                </a:tc>
                <a:tc>
                  <a:txBody>
                    <a:bodyPr wrap="square"/>
                    <a:lstStyle/>
                    <a:p>
                      <a:pPr algn="l">
                        <a:spcAft>
                          <a:spcPts val="200"/>
                        </a:spcAft>
                      </a:pPr>
                      <a:r>
                        <a:rPr sz="1200" b="0">
                          <a:solidFill>
                            <a:srgbClr val="55677C"/>
                          </a:solidFill>
                          <a:latin typeface="Calibri"/>
                        </a:rPr>
                        <a:t>Doet Remco een uitspraak over de verpleegkundige norm, of houden we de huidige normen aan en leggen we die aan hem voor?</a:t>
                      </a:r>
                    </a:p>
                  </a:txBody>
                  <a:tcPr marL="91440" marR="91440" marT="36576" marB="36576" anchor="ctr">
                    <a:solidFill>
                      <a:srgbClr val="FFFFFF"/>
                    </a:solidFill>
                    <a:lnL w="0">
                      <a:noFill/>
                    </a:lnL>
                    <a:lnR w="0">
                      <a:noFill/>
                    </a:lnR>
                    <a:lnT w="0">
                      <a:noFill/>
                    </a:lnT>
                    <a:lnB w="6350" cap="flat">
                      <a:solidFill>
                        <a:srgbClr val="E2E9F1"/>
                      </a:solidFill>
                    </a:lnB>
                  </a:tcPr>
                </a:tc>
              </a:tr>
              <a:tr h="518160">
                <a:tc>
                  <a:txBody>
                    <a:bodyPr wrap="square"/>
                    <a:lstStyle/>
                    <a:p>
                      <a:pPr algn="ctr">
                        <a:spcAft>
                          <a:spcPts val="200"/>
                        </a:spcAft>
                      </a:pPr>
                      <a:r>
                        <a:rPr sz="1200" b="1">
                          <a:solidFill>
                            <a:srgbClr val="0E9A87"/>
                          </a:solidFill>
                          <a:latin typeface="Calibri"/>
                        </a:rPr>
                        <a:t>4</a:t>
                      </a:r>
                    </a:p>
                  </a:txBody>
                  <a:tcPr marL="91440" marR="91440" marT="36576" marB="36576" anchor="ctr">
                    <a:solidFill>
                      <a:srgbClr val="F6F9FD"/>
                    </a:solidFill>
                    <a:lnL w="0">
                      <a:noFill/>
                    </a:lnL>
                    <a:lnR w="0">
                      <a:noFill/>
                    </a:lnR>
                    <a:lnT w="0">
                      <a:noFill/>
                    </a:lnT>
                    <a:lnB w="6350" cap="flat">
                      <a:solidFill>
                        <a:srgbClr val="E2E9F1"/>
                      </a:solidFill>
                    </a:lnB>
                  </a:tcPr>
                </a:tc>
                <a:tc>
                  <a:txBody>
                    <a:bodyPr wrap="square"/>
                    <a:lstStyle/>
                    <a:p>
                      <a:pPr algn="l">
                        <a:spcAft>
                          <a:spcPts val="200"/>
                        </a:spcAft>
                      </a:pPr>
                      <a:r>
                        <a:rPr sz="1200" b="0">
                          <a:solidFill>
                            <a:srgbClr val="55677C"/>
                          </a:solidFill>
                          <a:latin typeface="Calibri"/>
                        </a:rPr>
                        <a:t>In de nieuwbouw wordt de scope (CCU) anders ingericht. Hoe verwerken we dat in de personele inzet? Nu is er een extra dienst overdag en extra belasting in de late en de nachtdienst.</a:t>
                      </a:r>
                    </a:p>
                  </a:txBody>
                  <a:tcPr marL="91440" marR="91440" marT="36576" marB="36576" anchor="ctr">
                    <a:solidFill>
                      <a:srgbClr val="F6F9FD"/>
                    </a:solidFill>
                    <a:lnL w="0">
                      <a:noFill/>
                    </a:lnL>
                    <a:lnR w="0">
                      <a:noFill/>
                    </a:lnR>
                    <a:lnT w="0">
                      <a:noFill/>
                    </a:lnT>
                    <a:lnB w="6350" cap="flat">
                      <a:solidFill>
                        <a:srgbClr val="E2E9F1"/>
                      </a:solidFill>
                    </a:lnB>
                  </a:tcPr>
                </a:tc>
              </a:tr>
              <a:tr h="332232">
                <a:tc>
                  <a:txBody>
                    <a:bodyPr wrap="square"/>
                    <a:lstStyle/>
                    <a:p>
                      <a:pPr algn="ctr">
                        <a:spcAft>
                          <a:spcPts val="200"/>
                        </a:spcAft>
                      </a:pPr>
                      <a:r>
                        <a:rPr sz="1200" b="1">
                          <a:solidFill>
                            <a:srgbClr val="0E9A87"/>
                          </a:solidFill>
                          <a:latin typeface="Calibri"/>
                        </a:rPr>
                        <a:t>5</a:t>
                      </a:r>
                    </a:p>
                  </a:txBody>
                  <a:tcPr marL="91440" marR="91440" marT="36576" marB="36576" anchor="ctr">
                    <a:solidFill>
                      <a:srgbClr val="FFFFFF"/>
                    </a:solidFill>
                    <a:lnL w="0">
                      <a:noFill/>
                    </a:lnL>
                    <a:lnR w="0">
                      <a:noFill/>
                    </a:lnR>
                    <a:lnT w="0">
                      <a:noFill/>
                    </a:lnT>
                    <a:lnB w="6350" cap="flat">
                      <a:solidFill>
                        <a:srgbClr val="E2E9F1"/>
                      </a:solidFill>
                    </a:lnB>
                  </a:tcPr>
                </a:tc>
                <a:tc>
                  <a:txBody>
                    <a:bodyPr wrap="square"/>
                    <a:lstStyle/>
                    <a:p>
                      <a:pPr algn="l">
                        <a:spcAft>
                          <a:spcPts val="200"/>
                        </a:spcAft>
                      </a:pPr>
                      <a:r>
                        <a:rPr sz="1200" b="0">
                          <a:solidFill>
                            <a:srgbClr val="55677C"/>
                          </a:solidFill>
                          <a:latin typeface="Calibri"/>
                        </a:rPr>
                        <a:t>De ICU heeft een normenkader waarbij maximaal 10% afgeweken mag worden van dedicated inzet van ICU-verpleegkundigen.</a:t>
                      </a:r>
                    </a:p>
                  </a:txBody>
                  <a:tcPr marL="91440" marR="91440" marT="36576" marB="36576" anchor="ctr">
                    <a:solidFill>
                      <a:srgbClr val="FFFFFF"/>
                    </a:solidFill>
                    <a:lnL w="0">
                      <a:noFill/>
                    </a:lnL>
                    <a:lnR w="0">
                      <a:noFill/>
                    </a:lnR>
                    <a:lnT w="0">
                      <a:noFill/>
                    </a:lnT>
                    <a:lnB w="6350" cap="flat">
                      <a:solidFill>
                        <a:srgbClr val="E2E9F1"/>
                      </a:solidFill>
                    </a:lnB>
                  </a:tcPr>
                </a:tc>
              </a:tr>
              <a:tr h="518160">
                <a:tc>
                  <a:txBody>
                    <a:bodyPr wrap="square"/>
                    <a:lstStyle/>
                    <a:p>
                      <a:pPr algn="ctr">
                        <a:spcAft>
                          <a:spcPts val="200"/>
                        </a:spcAft>
                      </a:pPr>
                      <a:r>
                        <a:rPr sz="1200" b="1">
                          <a:solidFill>
                            <a:srgbClr val="0E9A87"/>
                          </a:solidFill>
                          <a:latin typeface="Calibri"/>
                        </a:rPr>
                        <a:t>6</a:t>
                      </a:r>
                    </a:p>
                  </a:txBody>
                  <a:tcPr marL="91440" marR="91440" marT="36576" marB="36576" anchor="ctr">
                    <a:solidFill>
                      <a:srgbClr val="F6F9FD"/>
                    </a:solidFill>
                    <a:lnL w="0">
                      <a:noFill/>
                    </a:lnL>
                    <a:lnR w="0">
                      <a:noFill/>
                    </a:lnR>
                    <a:lnT w="0">
                      <a:noFill/>
                    </a:lnT>
                    <a:lnB w="6350" cap="flat">
                      <a:solidFill>
                        <a:srgbClr val="E2E9F1"/>
                      </a:solidFill>
                    </a:lnB>
                  </a:tcPr>
                </a:tc>
                <a:tc>
                  <a:txBody>
                    <a:bodyPr wrap="square"/>
                    <a:lstStyle/>
                    <a:p>
                      <a:pPr algn="l">
                        <a:spcAft>
                          <a:spcPts val="200"/>
                        </a:spcAft>
                      </a:pPr>
                      <a:r>
                        <a:rPr sz="1200" b="0">
                          <a:solidFill>
                            <a:srgbClr val="55677C"/>
                          </a:solidFill>
                          <a:latin typeface="Calibri"/>
                        </a:rPr>
                        <a:t>Is er al nagedacht over de personele inzet op de SEH? Kunnen we het patroon opplussen op basis van de extra bedden, en van hoeveel bedden gaan we uit?</a:t>
                      </a:r>
                    </a:p>
                  </a:txBody>
                  <a:tcPr marL="91440" marR="91440" marT="36576" marB="36576" anchor="ctr">
                    <a:solidFill>
                      <a:srgbClr val="F6F9FD"/>
                    </a:solidFill>
                    <a:lnL w="0">
                      <a:noFill/>
                    </a:lnL>
                    <a:lnR w="0">
                      <a:noFill/>
                    </a:lnR>
                    <a:lnT w="0">
                      <a:noFill/>
                    </a:lnT>
                    <a:lnB w="6350" cap="flat">
                      <a:solidFill>
                        <a:srgbClr val="E2E9F1"/>
                      </a:solidFill>
                    </a:lnB>
                  </a:tcPr>
                </a:tc>
              </a:tr>
            </a:tbl>
          </a:graphicData>
        </a:graphic>
      </p:graphicFrame>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FFFFFF"/>
              </a:gs>
              <a:gs pos="100000">
                <a:srgbClr val="F1F6FC"/>
              </a:gs>
            </a:gsLst>
            <a:lin scaled="0" ang="189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640080" y="566928"/>
            <a:ext cx="10911535" cy="219456"/>
          </a:xfrm>
          <a:prstGeom prst="rect">
            <a:avLst/>
          </a:prstGeom>
          <a:noFill/>
        </p:spPr>
        <p:txBody>
          <a:bodyPr wrap="square" lIns="0" rIns="0" tIns="0" bIns="0" anchor="t">
            <a:spAutoFit/>
          </a:bodyPr>
          <a:lstStyle/>
          <a:p>
            <a:pPr algn="l">
              <a:lnSpc>
                <a:spcPct val="120000"/>
              </a:lnSpc>
              <a:spcAft>
                <a:spcPts val="0"/>
              </a:spcAft>
            </a:pPr>
            <a:r>
              <a:rPr sz="1050" b="1" spc="220">
                <a:solidFill>
                  <a:srgbClr val="0E9A87"/>
                </a:solidFill>
                <a:latin typeface="Calibri"/>
              </a:rPr>
              <a:t>DEEL 04  ·  VRAGEN</a:t>
            </a:r>
          </a:p>
        </p:txBody>
      </p:sp>
      <p:sp>
        <p:nvSpPr>
          <p:cNvPr id="4" name="TextBox 3"/>
          <p:cNvSpPr txBox="1"/>
          <p:nvPr/>
        </p:nvSpPr>
        <p:spPr>
          <a:xfrm>
            <a:off x="640080" y="859536"/>
            <a:ext cx="10911535" cy="566928"/>
          </a:xfrm>
          <a:prstGeom prst="rect">
            <a:avLst/>
          </a:prstGeom>
          <a:noFill/>
        </p:spPr>
        <p:txBody>
          <a:bodyPr wrap="square" lIns="0" rIns="0" tIns="0" bIns="0" anchor="t">
            <a:spAutoFit/>
          </a:bodyPr>
          <a:lstStyle/>
          <a:p>
            <a:pPr algn="l">
              <a:lnSpc>
                <a:spcPct val="120000"/>
              </a:lnSpc>
              <a:spcAft>
                <a:spcPts val="0"/>
              </a:spcAft>
            </a:pPr>
            <a:r>
              <a:rPr sz="3400" b="1">
                <a:solidFill>
                  <a:srgbClr val="0D1B2A"/>
                </a:solidFill>
                <a:latin typeface="Calibri"/>
              </a:rPr>
              <a:t>Nieuwbouw, deel 2</a:t>
            </a:r>
          </a:p>
        </p:txBody>
      </p:sp>
      <p:sp>
        <p:nvSpPr>
          <p:cNvPr id="5" name="TextBox 4"/>
          <p:cNvSpPr txBox="1"/>
          <p:nvPr/>
        </p:nvSpPr>
        <p:spPr>
          <a:xfrm>
            <a:off x="640080" y="1335024"/>
            <a:ext cx="8510997" cy="274320"/>
          </a:xfrm>
          <a:prstGeom prst="rect">
            <a:avLst/>
          </a:prstGeom>
          <a:noFill/>
        </p:spPr>
        <p:txBody>
          <a:bodyPr wrap="square" lIns="0" rIns="0" tIns="0" bIns="0" anchor="t">
            <a:spAutoFit/>
          </a:bodyPr>
          <a:lstStyle/>
          <a:p>
            <a:pPr algn="l">
              <a:lnSpc>
                <a:spcPct val="120000"/>
              </a:lnSpc>
              <a:spcAft>
                <a:spcPts val="0"/>
              </a:spcAft>
            </a:pPr>
            <a:r>
              <a:rPr sz="1300" b="0">
                <a:solidFill>
                  <a:srgbClr val="55677C"/>
                </a:solidFill>
                <a:latin typeface="Calibri"/>
              </a:rPr>
              <a:t>Indirecte uren, opleiden en poules</a:t>
            </a:r>
          </a:p>
        </p:txBody>
      </p:sp>
      <p:cxnSp>
        <p:nvCxnSpPr>
          <p:cNvPr id="6" name="Connector 5"/>
          <p:cNvCxnSpPr/>
          <p:nvPr/>
        </p:nvCxnSpPr>
        <p:spPr>
          <a:xfrm>
            <a:off x="640080" y="1609344"/>
            <a:ext cx="10911535" cy="0"/>
          </a:xfrm>
          <a:prstGeom prst="line">
            <a:avLst/>
          </a:prstGeom>
          <a:ln w="12700">
            <a:solidFill>
              <a:srgbClr val="E2E9F1"/>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640080" y="6291072"/>
            <a:ext cx="10911535" cy="0"/>
          </a:xfrm>
          <a:prstGeom prst="line">
            <a:avLst/>
          </a:prstGeom>
          <a:ln w="9525">
            <a:solidFill>
              <a:srgbClr val="E2E9F1"/>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40080" y="6382512"/>
            <a:ext cx="5486400" cy="237744"/>
          </a:xfrm>
          <a:prstGeom prst="rect">
            <a:avLst/>
          </a:prstGeom>
          <a:noFill/>
        </p:spPr>
        <p:txBody>
          <a:bodyPr wrap="square" lIns="0" rIns="0" tIns="0" bIns="0" anchor="t">
            <a:spAutoFit/>
          </a:bodyPr>
          <a:lstStyle/>
          <a:p>
            <a:pPr algn="l">
              <a:lnSpc>
                <a:spcPct val="120000"/>
              </a:lnSpc>
              <a:spcAft>
                <a:spcPts val="0"/>
              </a:spcAft>
            </a:pPr>
            <a:r>
              <a:rPr sz="900" b="0" spc="80">
                <a:solidFill>
                  <a:srgbClr val="8B9AAA"/>
                </a:solidFill>
                <a:latin typeface="Calibri"/>
              </a:rPr>
              <a:t>Acute poort en Hotfloor</a:t>
            </a:r>
          </a:p>
        </p:txBody>
      </p:sp>
      <p:sp>
        <p:nvSpPr>
          <p:cNvPr id="9" name="TextBox 8"/>
          <p:cNvSpPr txBox="1"/>
          <p:nvPr/>
        </p:nvSpPr>
        <p:spPr>
          <a:xfrm>
            <a:off x="10637215" y="6382512"/>
            <a:ext cx="914400" cy="237744"/>
          </a:xfrm>
          <a:prstGeom prst="rect">
            <a:avLst/>
          </a:prstGeom>
          <a:noFill/>
        </p:spPr>
        <p:txBody>
          <a:bodyPr wrap="square" lIns="0" rIns="0" tIns="0" bIns="0" anchor="t">
            <a:spAutoFit/>
          </a:bodyPr>
          <a:lstStyle/>
          <a:p>
            <a:pPr algn="r">
              <a:lnSpc>
                <a:spcPct val="120000"/>
              </a:lnSpc>
              <a:spcAft>
                <a:spcPts val="0"/>
              </a:spcAft>
            </a:pPr>
            <a:r>
              <a:rPr sz="950" b="1">
                <a:solidFill>
                  <a:srgbClr val="0E9A87"/>
                </a:solidFill>
                <a:latin typeface="Calibri"/>
              </a:rPr>
              <a:t>23</a:t>
            </a:r>
          </a:p>
        </p:txBody>
      </p:sp>
      <p:graphicFrame>
        <p:nvGraphicFramePr>
          <p:cNvPr id="10" name="Table 9"/>
          <p:cNvGraphicFramePr>
            <a:graphicFrameLocks noGrp="1"/>
          </p:cNvGraphicFramePr>
          <p:nvPr/>
        </p:nvGraphicFramePr>
        <p:xfrm>
          <a:off x="640080" y="1700784"/>
          <a:ext cx="10911535" cy="2508504"/>
        </p:xfrm>
        <a:graphic>
          <a:graphicData uri="http://schemas.openxmlformats.org/drawingml/2006/table">
            <a:tbl>
              <a:tblPr>
                <a:tableStyleId>{5C22544A-7EE6-4342-B048-85BDC9FD1C3A}</a:tableStyleId>
              </a:tblPr>
              <a:tblGrid>
                <a:gridCol w="548640"/>
                <a:gridCol w="10362895"/>
              </a:tblGrid>
              <a:tr h="329184">
                <a:tc>
                  <a:txBody>
                    <a:bodyPr wrap="square"/>
                    <a:lstStyle/>
                    <a:p>
                      <a:pPr algn="ctr">
                        <a:spcAft>
                          <a:spcPts val="200"/>
                        </a:spcAft>
                      </a:pPr>
                      <a:r>
                        <a:rPr sz="950" b="1">
                          <a:solidFill>
                            <a:srgbClr val="0E9A87"/>
                          </a:solidFill>
                          <a:latin typeface="Calibri"/>
                        </a:rPr>
                        <a:t>#</a:t>
                      </a:r>
                    </a:p>
                  </a:txBody>
                  <a:tcPr marL="91440" marR="91440" marT="36576" marB="36576" anchor="ctr">
                    <a:solidFill>
                      <a:srgbClr val="FFFFFF"/>
                    </a:solidFill>
                    <a:lnL w="0">
                      <a:noFill/>
                    </a:lnL>
                    <a:lnR w="0">
                      <a:noFill/>
                    </a:lnR>
                    <a:lnT w="0">
                      <a:noFill/>
                    </a:lnT>
                    <a:lnB w="6350" cap="flat">
                      <a:solidFill>
                        <a:srgbClr val="E2E9F1"/>
                      </a:solidFill>
                    </a:lnB>
                  </a:tcPr>
                </a:tc>
                <a:tc>
                  <a:txBody>
                    <a:bodyPr wrap="square"/>
                    <a:lstStyle/>
                    <a:p>
                      <a:pPr algn="l">
                        <a:spcAft>
                          <a:spcPts val="200"/>
                        </a:spcAft>
                      </a:pPr>
                      <a:r>
                        <a:rPr sz="950" b="1">
                          <a:solidFill>
                            <a:srgbClr val="0E9A87"/>
                          </a:solidFill>
                          <a:latin typeface="Calibri"/>
                        </a:rPr>
                        <a:t>VRAAG OF KNELPUNT</a:t>
                      </a:r>
                    </a:p>
                  </a:txBody>
                  <a:tcPr marL="91440" marR="91440" marT="36576" marB="36576" anchor="ctr">
                    <a:solidFill>
                      <a:srgbClr val="FFFFFF"/>
                    </a:solidFill>
                    <a:lnL w="0">
                      <a:noFill/>
                    </a:lnL>
                    <a:lnR w="0">
                      <a:noFill/>
                    </a:lnR>
                    <a:lnT w="0">
                      <a:noFill/>
                    </a:lnT>
                    <a:lnB w="6350" cap="flat">
                      <a:solidFill>
                        <a:srgbClr val="E2E9F1"/>
                      </a:solidFill>
                    </a:lnB>
                  </a:tcPr>
                </a:tc>
              </a:tr>
              <a:tr h="518160">
                <a:tc>
                  <a:txBody>
                    <a:bodyPr wrap="square"/>
                    <a:lstStyle/>
                    <a:p>
                      <a:pPr algn="ctr">
                        <a:spcAft>
                          <a:spcPts val="200"/>
                        </a:spcAft>
                      </a:pPr>
                      <a:r>
                        <a:rPr sz="1200" b="1">
                          <a:solidFill>
                            <a:srgbClr val="0E9A87"/>
                          </a:solidFill>
                          <a:latin typeface="Calibri"/>
                        </a:rPr>
                        <a:t>1</a:t>
                      </a:r>
                    </a:p>
                  </a:txBody>
                  <a:tcPr marL="91440" marR="91440" marT="36576" marB="36576" anchor="ctr">
                    <a:solidFill>
                      <a:srgbClr val="FFFFFF"/>
                    </a:solidFill>
                    <a:lnL w="0">
                      <a:noFill/>
                    </a:lnL>
                    <a:lnR w="0">
                      <a:noFill/>
                    </a:lnR>
                    <a:lnT w="0">
                      <a:noFill/>
                    </a:lnT>
                    <a:lnB w="6350" cap="flat">
                      <a:solidFill>
                        <a:srgbClr val="E2E9F1"/>
                      </a:solidFill>
                    </a:lnB>
                  </a:tcPr>
                </a:tc>
                <a:tc>
                  <a:txBody>
                    <a:bodyPr wrap="square"/>
                    <a:lstStyle/>
                    <a:p>
                      <a:pPr algn="l">
                        <a:spcAft>
                          <a:spcPts val="200"/>
                        </a:spcAft>
                      </a:pPr>
                      <a:r>
                        <a:rPr sz="1200" b="0">
                          <a:solidFill>
                            <a:srgbClr val="55677C"/>
                          </a:solidFill>
                          <a:latin typeface="Calibri"/>
                        </a:rPr>
                        <a:t>Indirecte uren: de oude begroting loopt sterk uiteen. Wat houden we aan, en verlaagt de regieverpleegkundige dit per september?</a:t>
                      </a:r>
                    </a:p>
                  </a:txBody>
                  <a:tcPr marL="91440" marR="91440" marT="36576" marB="36576" anchor="ctr">
                    <a:solidFill>
                      <a:srgbClr val="FFFFFF"/>
                    </a:solidFill>
                    <a:lnL w="0">
                      <a:noFill/>
                    </a:lnL>
                    <a:lnR w="0">
                      <a:noFill/>
                    </a:lnR>
                    <a:lnT w="0">
                      <a:noFill/>
                    </a:lnT>
                    <a:lnB w="6350" cap="flat">
                      <a:solidFill>
                        <a:srgbClr val="E2E9F1"/>
                      </a:solidFill>
                    </a:lnB>
                  </a:tcPr>
                </a:tc>
              </a:tr>
              <a:tr h="332232">
                <a:tc>
                  <a:txBody>
                    <a:bodyPr wrap="square"/>
                    <a:lstStyle/>
                    <a:p>
                      <a:pPr algn="ctr">
                        <a:spcAft>
                          <a:spcPts val="200"/>
                        </a:spcAft>
                      </a:pPr>
                      <a:r>
                        <a:rPr sz="1200" b="1">
                          <a:solidFill>
                            <a:srgbClr val="0E9A87"/>
                          </a:solidFill>
                          <a:latin typeface="Calibri"/>
                        </a:rPr>
                        <a:t>2</a:t>
                      </a:r>
                    </a:p>
                  </a:txBody>
                  <a:tcPr marL="91440" marR="91440" marT="36576" marB="36576" anchor="ctr">
                    <a:solidFill>
                      <a:srgbClr val="F6F9FD"/>
                    </a:solidFill>
                    <a:lnL w="0">
                      <a:noFill/>
                    </a:lnL>
                    <a:lnR w="0">
                      <a:noFill/>
                    </a:lnR>
                    <a:lnT w="0">
                      <a:noFill/>
                    </a:lnT>
                    <a:lnB w="6350" cap="flat">
                      <a:solidFill>
                        <a:srgbClr val="E2E9F1"/>
                      </a:solidFill>
                    </a:lnB>
                  </a:tcPr>
                </a:tc>
                <a:tc>
                  <a:txBody>
                    <a:bodyPr wrap="square"/>
                    <a:lstStyle/>
                    <a:p>
                      <a:pPr algn="l">
                        <a:spcAft>
                          <a:spcPts val="200"/>
                        </a:spcAft>
                      </a:pPr>
                      <a:r>
                        <a:rPr sz="1200" b="0">
                          <a:solidFill>
                            <a:srgbClr val="55677C"/>
                          </a:solidFill>
                          <a:latin typeface="Calibri"/>
                        </a:rPr>
                        <a:t>Hoe richten we de inzet van de regieverpleegkundige in de nieuwbouw in?</a:t>
                      </a:r>
                    </a:p>
                  </a:txBody>
                  <a:tcPr marL="91440" marR="91440" marT="36576" marB="36576" anchor="ctr">
                    <a:solidFill>
                      <a:srgbClr val="F6F9FD"/>
                    </a:solidFill>
                    <a:lnL w="0">
                      <a:noFill/>
                    </a:lnL>
                    <a:lnR w="0">
                      <a:noFill/>
                    </a:lnR>
                    <a:lnT w="0">
                      <a:noFill/>
                    </a:lnT>
                    <a:lnB w="6350" cap="flat">
                      <a:solidFill>
                        <a:srgbClr val="E2E9F1"/>
                      </a:solidFill>
                    </a:lnB>
                  </a:tcPr>
                </a:tc>
              </a:tr>
              <a:tr h="332232">
                <a:tc>
                  <a:txBody>
                    <a:bodyPr wrap="square"/>
                    <a:lstStyle/>
                    <a:p>
                      <a:pPr algn="ctr">
                        <a:spcAft>
                          <a:spcPts val="200"/>
                        </a:spcAft>
                      </a:pPr>
                      <a:r>
                        <a:rPr sz="1200" b="1">
                          <a:solidFill>
                            <a:srgbClr val="0E9A87"/>
                          </a:solidFill>
                          <a:latin typeface="Calibri"/>
                        </a:rPr>
                        <a:t>3</a:t>
                      </a:r>
                    </a:p>
                  </a:txBody>
                  <a:tcPr marL="91440" marR="91440" marT="36576" marB="36576" anchor="ctr">
                    <a:solidFill>
                      <a:srgbClr val="FFFFFF"/>
                    </a:solidFill>
                    <a:lnL w="0">
                      <a:noFill/>
                    </a:lnL>
                    <a:lnR w="0">
                      <a:noFill/>
                    </a:lnR>
                    <a:lnT w="0">
                      <a:noFill/>
                    </a:lnT>
                    <a:lnB w="6350" cap="flat">
                      <a:solidFill>
                        <a:srgbClr val="E2E9F1"/>
                      </a:solidFill>
                    </a:lnB>
                  </a:tcPr>
                </a:tc>
                <a:tc>
                  <a:txBody>
                    <a:bodyPr wrap="square"/>
                    <a:lstStyle/>
                    <a:p>
                      <a:pPr algn="l">
                        <a:spcAft>
                          <a:spcPts val="200"/>
                        </a:spcAft>
                      </a:pPr>
                      <a:r>
                        <a:rPr sz="1200" b="0">
                          <a:solidFill>
                            <a:srgbClr val="55677C"/>
                          </a:solidFill>
                          <a:latin typeface="Calibri"/>
                        </a:rPr>
                        <a:t>Komt de kinderverpleegkundige dedicated op de SEH, of op afroep?</a:t>
                      </a:r>
                    </a:p>
                  </a:txBody>
                  <a:tcPr marL="91440" marR="91440" marT="36576" marB="36576" anchor="ctr">
                    <a:solidFill>
                      <a:srgbClr val="FFFFFF"/>
                    </a:solidFill>
                    <a:lnL w="0">
                      <a:noFill/>
                    </a:lnL>
                    <a:lnR w="0">
                      <a:noFill/>
                    </a:lnR>
                    <a:lnT w="0">
                      <a:noFill/>
                    </a:lnT>
                    <a:lnB w="6350" cap="flat">
                      <a:solidFill>
                        <a:srgbClr val="E2E9F1"/>
                      </a:solidFill>
                    </a:lnB>
                  </a:tcPr>
                </a:tc>
              </a:tr>
              <a:tr h="332232">
                <a:tc>
                  <a:txBody>
                    <a:bodyPr wrap="square"/>
                    <a:lstStyle/>
                    <a:p>
                      <a:pPr algn="ctr">
                        <a:spcAft>
                          <a:spcPts val="200"/>
                        </a:spcAft>
                      </a:pPr>
                      <a:r>
                        <a:rPr sz="1200" b="1">
                          <a:solidFill>
                            <a:srgbClr val="0E9A87"/>
                          </a:solidFill>
                          <a:latin typeface="Calibri"/>
                        </a:rPr>
                        <a:t>4</a:t>
                      </a:r>
                    </a:p>
                  </a:txBody>
                  <a:tcPr marL="91440" marR="91440" marT="36576" marB="36576" anchor="ctr">
                    <a:solidFill>
                      <a:srgbClr val="F6F9FD"/>
                    </a:solidFill>
                    <a:lnL w="0">
                      <a:noFill/>
                    </a:lnL>
                    <a:lnR w="0">
                      <a:noFill/>
                    </a:lnR>
                    <a:lnT w="0">
                      <a:noFill/>
                    </a:lnT>
                    <a:lnB w="6350" cap="flat">
                      <a:solidFill>
                        <a:srgbClr val="E2E9F1"/>
                      </a:solidFill>
                    </a:lnB>
                  </a:tcPr>
                </a:tc>
                <a:tc>
                  <a:txBody>
                    <a:bodyPr wrap="square"/>
                    <a:lstStyle/>
                    <a:p>
                      <a:pPr algn="l">
                        <a:spcAft>
                          <a:spcPts val="200"/>
                        </a:spcAft>
                      </a:pPr>
                      <a:r>
                        <a:rPr sz="1200" b="0">
                          <a:solidFill>
                            <a:srgbClr val="55677C"/>
                          </a:solidFill>
                          <a:latin typeface="Calibri"/>
                        </a:rPr>
                        <a:t>Hoe staat het met de EPA's? Zijn er vereisten voor SEH-verpleegkundigen, en zijn er verplichte EPA's voor ICU en CCU?</a:t>
                      </a:r>
                    </a:p>
                  </a:txBody>
                  <a:tcPr marL="91440" marR="91440" marT="36576" marB="36576" anchor="ctr">
                    <a:solidFill>
                      <a:srgbClr val="F6F9FD"/>
                    </a:solidFill>
                    <a:lnL w="0">
                      <a:noFill/>
                    </a:lnL>
                    <a:lnR w="0">
                      <a:noFill/>
                    </a:lnR>
                    <a:lnT w="0">
                      <a:noFill/>
                    </a:lnT>
                    <a:lnB w="6350" cap="flat">
                      <a:solidFill>
                        <a:srgbClr val="E2E9F1"/>
                      </a:solidFill>
                    </a:lnB>
                  </a:tcPr>
                </a:tc>
              </a:tr>
              <a:tr h="332232">
                <a:tc>
                  <a:txBody>
                    <a:bodyPr wrap="square"/>
                    <a:lstStyle/>
                    <a:p>
                      <a:pPr algn="ctr">
                        <a:spcAft>
                          <a:spcPts val="200"/>
                        </a:spcAft>
                      </a:pPr>
                      <a:r>
                        <a:rPr sz="1200" b="1">
                          <a:solidFill>
                            <a:srgbClr val="0E9A87"/>
                          </a:solidFill>
                          <a:latin typeface="Calibri"/>
                        </a:rPr>
                        <a:t>5</a:t>
                      </a:r>
                    </a:p>
                  </a:txBody>
                  <a:tcPr marL="91440" marR="91440" marT="36576" marB="36576" anchor="ctr">
                    <a:solidFill>
                      <a:srgbClr val="FFFFFF"/>
                    </a:solidFill>
                    <a:lnL w="0">
                      <a:noFill/>
                    </a:lnL>
                    <a:lnR w="0">
                      <a:noFill/>
                    </a:lnR>
                    <a:lnT w="0">
                      <a:noFill/>
                    </a:lnT>
                    <a:lnB w="6350" cap="flat">
                      <a:solidFill>
                        <a:srgbClr val="E2E9F1"/>
                      </a:solidFill>
                    </a:lnB>
                  </a:tcPr>
                </a:tc>
                <a:tc>
                  <a:txBody>
                    <a:bodyPr wrap="square"/>
                    <a:lstStyle/>
                    <a:p>
                      <a:pPr algn="l">
                        <a:spcAft>
                          <a:spcPts val="200"/>
                        </a:spcAft>
                      </a:pPr>
                      <a:r>
                        <a:rPr sz="1200" b="0">
                          <a:solidFill>
                            <a:srgbClr val="55677C"/>
                          </a:solidFill>
                          <a:latin typeface="Calibri"/>
                        </a:rPr>
                        <a:t>Als die EPA's er zijn, wat betekent dat dan in de praktijk?</a:t>
                      </a:r>
                    </a:p>
                  </a:txBody>
                  <a:tcPr marL="91440" marR="91440" marT="36576" marB="36576" anchor="ctr">
                    <a:solidFill>
                      <a:srgbClr val="FFFFFF"/>
                    </a:solidFill>
                    <a:lnL w="0">
                      <a:noFill/>
                    </a:lnL>
                    <a:lnR w="0">
                      <a:noFill/>
                    </a:lnR>
                    <a:lnT w="0">
                      <a:noFill/>
                    </a:lnT>
                    <a:lnB w="6350" cap="flat">
                      <a:solidFill>
                        <a:srgbClr val="E2E9F1"/>
                      </a:solidFill>
                    </a:lnB>
                  </a:tcPr>
                </a:tc>
              </a:tr>
              <a:tr h="332232">
                <a:tc>
                  <a:txBody>
                    <a:bodyPr wrap="square"/>
                    <a:lstStyle/>
                    <a:p>
                      <a:pPr algn="ctr">
                        <a:spcAft>
                          <a:spcPts val="200"/>
                        </a:spcAft>
                      </a:pPr>
                      <a:r>
                        <a:rPr sz="1200" b="1">
                          <a:solidFill>
                            <a:srgbClr val="0E9A87"/>
                          </a:solidFill>
                          <a:latin typeface="Calibri"/>
                        </a:rPr>
                        <a:t>6</a:t>
                      </a:r>
                    </a:p>
                  </a:txBody>
                  <a:tcPr marL="91440" marR="91440" marT="36576" marB="36576" anchor="ctr">
                    <a:solidFill>
                      <a:srgbClr val="F6F9FD"/>
                    </a:solidFill>
                    <a:lnL w="0">
                      <a:noFill/>
                    </a:lnL>
                    <a:lnR w="0">
                      <a:noFill/>
                    </a:lnR>
                    <a:lnT w="0">
                      <a:noFill/>
                    </a:lnT>
                    <a:lnB w="6350" cap="flat">
                      <a:solidFill>
                        <a:srgbClr val="E2E9F1"/>
                      </a:solidFill>
                    </a:lnB>
                  </a:tcPr>
                </a:tc>
                <a:tc>
                  <a:txBody>
                    <a:bodyPr wrap="square"/>
                    <a:lstStyle/>
                    <a:p>
                      <a:pPr algn="l">
                        <a:spcAft>
                          <a:spcPts val="200"/>
                        </a:spcAft>
                      </a:pPr>
                      <a:r>
                        <a:rPr sz="1200" b="0">
                          <a:solidFill>
                            <a:srgbClr val="55677C"/>
                          </a:solidFill>
                          <a:latin typeface="Calibri"/>
                        </a:rPr>
                        <a:t>Zetten we voor de nieuwbouw nog in op een acute poule voor CCU/ICU en CCU/SEH? Nu is dat alleen ICU/SEH.</a:t>
                      </a:r>
                    </a:p>
                  </a:txBody>
                  <a:tcPr marL="91440" marR="91440" marT="36576" marB="36576" anchor="ctr">
                    <a:solidFill>
                      <a:srgbClr val="F6F9FD"/>
                    </a:solidFill>
                    <a:lnL w="0">
                      <a:noFill/>
                    </a:lnL>
                    <a:lnR w="0">
                      <a:noFill/>
                    </a:lnR>
                    <a:lnT w="0">
                      <a:noFill/>
                    </a:lnT>
                    <a:lnB w="6350" cap="flat">
                      <a:solidFill>
                        <a:srgbClr val="E2E9F1"/>
                      </a:solidFill>
                    </a:lnB>
                  </a:tcPr>
                </a:tc>
              </a:tr>
            </a:tbl>
          </a:graphicData>
        </a:graphic>
      </p:graphicFrame>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FFFFFF"/>
              </a:gs>
              <a:gs pos="100000">
                <a:srgbClr val="F1F6FC"/>
              </a:gs>
            </a:gsLst>
            <a:lin scaled="0" ang="189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640080" y="566928"/>
            <a:ext cx="10911535" cy="219456"/>
          </a:xfrm>
          <a:prstGeom prst="rect">
            <a:avLst/>
          </a:prstGeom>
          <a:noFill/>
        </p:spPr>
        <p:txBody>
          <a:bodyPr wrap="square" lIns="0" rIns="0" tIns="0" bIns="0" anchor="t">
            <a:spAutoFit/>
          </a:bodyPr>
          <a:lstStyle/>
          <a:p>
            <a:pPr algn="l">
              <a:lnSpc>
                <a:spcPct val="120000"/>
              </a:lnSpc>
              <a:spcAft>
                <a:spcPts val="0"/>
              </a:spcAft>
            </a:pPr>
            <a:r>
              <a:rPr sz="1050" b="1" spc="220">
                <a:solidFill>
                  <a:srgbClr val="C4392D"/>
                </a:solidFill>
                <a:latin typeface="Calibri"/>
              </a:rPr>
              <a:t>DEEL 04  ·  KNELPUNTEN</a:t>
            </a:r>
          </a:p>
        </p:txBody>
      </p:sp>
      <p:sp>
        <p:nvSpPr>
          <p:cNvPr id="4" name="TextBox 3"/>
          <p:cNvSpPr txBox="1"/>
          <p:nvPr/>
        </p:nvSpPr>
        <p:spPr>
          <a:xfrm>
            <a:off x="640080" y="859536"/>
            <a:ext cx="10911535" cy="566928"/>
          </a:xfrm>
          <a:prstGeom prst="rect">
            <a:avLst/>
          </a:prstGeom>
          <a:noFill/>
        </p:spPr>
        <p:txBody>
          <a:bodyPr wrap="square" lIns="0" rIns="0" tIns="0" bIns="0" anchor="t">
            <a:spAutoFit/>
          </a:bodyPr>
          <a:lstStyle/>
          <a:p>
            <a:pPr algn="l">
              <a:lnSpc>
                <a:spcPct val="120000"/>
              </a:lnSpc>
              <a:spcAft>
                <a:spcPts val="0"/>
              </a:spcAft>
            </a:pPr>
            <a:r>
              <a:rPr sz="3400" b="1">
                <a:solidFill>
                  <a:srgbClr val="0D1B2A"/>
                </a:solidFill>
                <a:latin typeface="Calibri"/>
              </a:rPr>
              <a:t>Wat er nu in de weg zit</a:t>
            </a:r>
          </a:p>
        </p:txBody>
      </p:sp>
      <p:sp>
        <p:nvSpPr>
          <p:cNvPr id="5" name="TextBox 4"/>
          <p:cNvSpPr txBox="1"/>
          <p:nvPr/>
        </p:nvSpPr>
        <p:spPr>
          <a:xfrm>
            <a:off x="640080" y="1335024"/>
            <a:ext cx="8510997" cy="274320"/>
          </a:xfrm>
          <a:prstGeom prst="rect">
            <a:avLst/>
          </a:prstGeom>
          <a:noFill/>
        </p:spPr>
        <p:txBody>
          <a:bodyPr wrap="square" lIns="0" rIns="0" tIns="0" bIns="0" anchor="t">
            <a:spAutoFit/>
          </a:bodyPr>
          <a:lstStyle/>
          <a:p>
            <a:pPr algn="l">
              <a:lnSpc>
                <a:spcPct val="120000"/>
              </a:lnSpc>
              <a:spcAft>
                <a:spcPts val="0"/>
              </a:spcAft>
            </a:pPr>
            <a:r>
              <a:rPr sz="1300" b="0">
                <a:solidFill>
                  <a:srgbClr val="55677C"/>
                </a:solidFill>
                <a:latin typeface="Calibri"/>
              </a:rPr>
              <a:t>Negen punten uit de sessie</a:t>
            </a:r>
          </a:p>
        </p:txBody>
      </p:sp>
      <p:cxnSp>
        <p:nvCxnSpPr>
          <p:cNvPr id="6" name="Connector 5"/>
          <p:cNvCxnSpPr/>
          <p:nvPr/>
        </p:nvCxnSpPr>
        <p:spPr>
          <a:xfrm>
            <a:off x="640080" y="1609344"/>
            <a:ext cx="10911535" cy="0"/>
          </a:xfrm>
          <a:prstGeom prst="line">
            <a:avLst/>
          </a:prstGeom>
          <a:ln w="12700">
            <a:solidFill>
              <a:srgbClr val="E2E9F1"/>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640080" y="6291072"/>
            <a:ext cx="10911535" cy="0"/>
          </a:xfrm>
          <a:prstGeom prst="line">
            <a:avLst/>
          </a:prstGeom>
          <a:ln w="9525">
            <a:solidFill>
              <a:srgbClr val="E2E9F1"/>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40080" y="6382512"/>
            <a:ext cx="5486400" cy="237744"/>
          </a:xfrm>
          <a:prstGeom prst="rect">
            <a:avLst/>
          </a:prstGeom>
          <a:noFill/>
        </p:spPr>
        <p:txBody>
          <a:bodyPr wrap="square" lIns="0" rIns="0" tIns="0" bIns="0" anchor="t">
            <a:spAutoFit/>
          </a:bodyPr>
          <a:lstStyle/>
          <a:p>
            <a:pPr algn="l">
              <a:lnSpc>
                <a:spcPct val="120000"/>
              </a:lnSpc>
              <a:spcAft>
                <a:spcPts val="0"/>
              </a:spcAft>
            </a:pPr>
            <a:r>
              <a:rPr sz="900" b="0" spc="80">
                <a:solidFill>
                  <a:srgbClr val="8B9AAA"/>
                </a:solidFill>
                <a:latin typeface="Calibri"/>
              </a:rPr>
              <a:t>Acute poort en Hotfloor</a:t>
            </a:r>
          </a:p>
        </p:txBody>
      </p:sp>
      <p:sp>
        <p:nvSpPr>
          <p:cNvPr id="9" name="TextBox 8"/>
          <p:cNvSpPr txBox="1"/>
          <p:nvPr/>
        </p:nvSpPr>
        <p:spPr>
          <a:xfrm>
            <a:off x="10637215" y="6382512"/>
            <a:ext cx="914400" cy="237744"/>
          </a:xfrm>
          <a:prstGeom prst="rect">
            <a:avLst/>
          </a:prstGeom>
          <a:noFill/>
        </p:spPr>
        <p:txBody>
          <a:bodyPr wrap="square" lIns="0" rIns="0" tIns="0" bIns="0" anchor="t">
            <a:spAutoFit/>
          </a:bodyPr>
          <a:lstStyle/>
          <a:p>
            <a:pPr algn="r">
              <a:lnSpc>
                <a:spcPct val="120000"/>
              </a:lnSpc>
              <a:spcAft>
                <a:spcPts val="0"/>
              </a:spcAft>
            </a:pPr>
            <a:r>
              <a:rPr sz="950" b="1">
                <a:solidFill>
                  <a:srgbClr val="0E9A87"/>
                </a:solidFill>
                <a:latin typeface="Calibri"/>
              </a:rPr>
              <a:t>24</a:t>
            </a:r>
          </a:p>
        </p:txBody>
      </p:sp>
      <p:graphicFrame>
        <p:nvGraphicFramePr>
          <p:cNvPr id="10" name="Table 9"/>
          <p:cNvGraphicFramePr>
            <a:graphicFrameLocks noGrp="1"/>
          </p:cNvGraphicFramePr>
          <p:nvPr/>
        </p:nvGraphicFramePr>
        <p:xfrm>
          <a:off x="640080" y="1700784"/>
          <a:ext cx="10911535" cy="3505200"/>
        </p:xfrm>
        <a:graphic>
          <a:graphicData uri="http://schemas.openxmlformats.org/drawingml/2006/table">
            <a:tbl>
              <a:tblPr>
                <a:tableStyleId>{5C22544A-7EE6-4342-B048-85BDC9FD1C3A}</a:tableStyleId>
              </a:tblPr>
              <a:tblGrid>
                <a:gridCol w="548640"/>
                <a:gridCol w="10362895"/>
              </a:tblGrid>
              <a:tr h="329184">
                <a:tc>
                  <a:txBody>
                    <a:bodyPr wrap="square"/>
                    <a:lstStyle/>
                    <a:p>
                      <a:pPr algn="ctr">
                        <a:spcAft>
                          <a:spcPts val="200"/>
                        </a:spcAft>
                      </a:pPr>
                      <a:r>
                        <a:rPr sz="950" b="1">
                          <a:solidFill>
                            <a:srgbClr val="C4392D"/>
                          </a:solidFill>
                          <a:latin typeface="Calibri"/>
                        </a:rPr>
                        <a:t>#</a:t>
                      </a:r>
                    </a:p>
                  </a:txBody>
                  <a:tcPr marL="91440" marR="91440" marT="36576" marB="36576" anchor="ctr">
                    <a:solidFill>
                      <a:srgbClr val="FFFFFF"/>
                    </a:solidFill>
                    <a:lnL w="0">
                      <a:noFill/>
                    </a:lnL>
                    <a:lnR w="0">
                      <a:noFill/>
                    </a:lnR>
                    <a:lnT w="0">
                      <a:noFill/>
                    </a:lnT>
                    <a:lnB w="6350" cap="flat">
                      <a:solidFill>
                        <a:srgbClr val="E2E9F1"/>
                      </a:solidFill>
                    </a:lnB>
                  </a:tcPr>
                </a:tc>
                <a:tc>
                  <a:txBody>
                    <a:bodyPr wrap="square"/>
                    <a:lstStyle/>
                    <a:p>
                      <a:pPr algn="l">
                        <a:spcAft>
                          <a:spcPts val="200"/>
                        </a:spcAft>
                      </a:pPr>
                      <a:r>
                        <a:rPr sz="950" b="1">
                          <a:solidFill>
                            <a:srgbClr val="C4392D"/>
                          </a:solidFill>
                          <a:latin typeface="Calibri"/>
                        </a:rPr>
                        <a:t>VRAAG OF KNELPUNT</a:t>
                      </a:r>
                    </a:p>
                  </a:txBody>
                  <a:tcPr marL="91440" marR="91440" marT="36576" marB="36576" anchor="ctr">
                    <a:solidFill>
                      <a:srgbClr val="FFFFFF"/>
                    </a:solidFill>
                    <a:lnL w="0">
                      <a:noFill/>
                    </a:lnL>
                    <a:lnR w="0">
                      <a:noFill/>
                    </a:lnR>
                    <a:lnT w="0">
                      <a:noFill/>
                    </a:lnT>
                    <a:lnB w="6350" cap="flat">
                      <a:solidFill>
                        <a:srgbClr val="E2E9F1"/>
                      </a:solidFill>
                    </a:lnB>
                  </a:tcPr>
                </a:tc>
              </a:tr>
              <a:tr h="332232">
                <a:tc>
                  <a:txBody>
                    <a:bodyPr wrap="square"/>
                    <a:lstStyle/>
                    <a:p>
                      <a:pPr algn="ctr">
                        <a:spcAft>
                          <a:spcPts val="200"/>
                        </a:spcAft>
                      </a:pPr>
                      <a:r>
                        <a:rPr sz="1200" b="1">
                          <a:solidFill>
                            <a:srgbClr val="C4392D"/>
                          </a:solidFill>
                          <a:latin typeface="Calibri"/>
                        </a:rPr>
                        <a:t>1</a:t>
                      </a:r>
                    </a:p>
                  </a:txBody>
                  <a:tcPr marL="91440" marR="91440" marT="36576" marB="36576" anchor="ctr">
                    <a:solidFill>
                      <a:srgbClr val="FFFFFF"/>
                    </a:solidFill>
                    <a:lnL w="0">
                      <a:noFill/>
                    </a:lnL>
                    <a:lnR w="0">
                      <a:noFill/>
                    </a:lnR>
                    <a:lnT w="0">
                      <a:noFill/>
                    </a:lnT>
                    <a:lnB w="6350" cap="flat">
                      <a:solidFill>
                        <a:srgbClr val="E2E9F1"/>
                      </a:solidFill>
                    </a:lnB>
                  </a:tcPr>
                </a:tc>
                <a:tc>
                  <a:txBody>
                    <a:bodyPr wrap="square"/>
                    <a:lstStyle/>
                    <a:p>
                      <a:pPr algn="l">
                        <a:spcAft>
                          <a:spcPts val="200"/>
                        </a:spcAft>
                      </a:pPr>
                      <a:r>
                        <a:rPr sz="1200" b="0">
                          <a:solidFill>
                            <a:srgbClr val="55677C"/>
                          </a:solidFill>
                          <a:latin typeface="Calibri"/>
                        </a:rPr>
                        <a:t>Verpleegkundige norm: aanbodgericht werken in plaats van vraaggestuurd.</a:t>
                      </a:r>
                    </a:p>
                  </a:txBody>
                  <a:tcPr marL="91440" marR="91440" marT="36576" marB="36576" anchor="ctr">
                    <a:solidFill>
                      <a:srgbClr val="FFFFFF"/>
                    </a:solidFill>
                    <a:lnL w="0">
                      <a:noFill/>
                    </a:lnL>
                    <a:lnR w="0">
                      <a:noFill/>
                    </a:lnR>
                    <a:lnT w="0">
                      <a:noFill/>
                    </a:lnT>
                    <a:lnB w="6350" cap="flat">
                      <a:solidFill>
                        <a:srgbClr val="E2E9F1"/>
                      </a:solidFill>
                    </a:lnB>
                  </a:tcPr>
                </a:tc>
              </a:tr>
              <a:tr h="332232">
                <a:tc>
                  <a:txBody>
                    <a:bodyPr wrap="square"/>
                    <a:lstStyle/>
                    <a:p>
                      <a:pPr algn="ctr">
                        <a:spcAft>
                          <a:spcPts val="200"/>
                        </a:spcAft>
                      </a:pPr>
                      <a:r>
                        <a:rPr sz="1200" b="1">
                          <a:solidFill>
                            <a:srgbClr val="C4392D"/>
                          </a:solidFill>
                          <a:latin typeface="Calibri"/>
                        </a:rPr>
                        <a:t>2</a:t>
                      </a:r>
                    </a:p>
                  </a:txBody>
                  <a:tcPr marL="91440" marR="91440" marT="36576" marB="36576" anchor="ctr">
                    <a:solidFill>
                      <a:srgbClr val="F6F9FD"/>
                    </a:solidFill>
                    <a:lnL w="0">
                      <a:noFill/>
                    </a:lnL>
                    <a:lnR w="0">
                      <a:noFill/>
                    </a:lnR>
                    <a:lnT w="0">
                      <a:noFill/>
                    </a:lnT>
                    <a:lnB w="6350" cap="flat">
                      <a:solidFill>
                        <a:srgbClr val="E2E9F1"/>
                      </a:solidFill>
                    </a:lnB>
                  </a:tcPr>
                </a:tc>
                <a:tc>
                  <a:txBody>
                    <a:bodyPr wrap="square"/>
                    <a:lstStyle/>
                    <a:p>
                      <a:pPr algn="l">
                        <a:spcAft>
                          <a:spcPts val="200"/>
                        </a:spcAft>
                      </a:pPr>
                      <a:r>
                        <a:rPr sz="1200" b="0">
                          <a:solidFill>
                            <a:srgbClr val="55677C"/>
                          </a:solidFill>
                          <a:latin typeface="Calibri"/>
                        </a:rPr>
                        <a:t>SEH-artsen: de inzet is verhoogd maar de begroting is niet aangepast.</a:t>
                      </a:r>
                    </a:p>
                  </a:txBody>
                  <a:tcPr marL="91440" marR="91440" marT="36576" marB="36576" anchor="ctr">
                    <a:solidFill>
                      <a:srgbClr val="F6F9FD"/>
                    </a:solidFill>
                    <a:lnL w="0">
                      <a:noFill/>
                    </a:lnL>
                    <a:lnR w="0">
                      <a:noFill/>
                    </a:lnR>
                    <a:lnT w="0">
                      <a:noFill/>
                    </a:lnT>
                    <a:lnB w="6350" cap="flat">
                      <a:solidFill>
                        <a:srgbClr val="E2E9F1"/>
                      </a:solidFill>
                    </a:lnB>
                  </a:tcPr>
                </a:tc>
              </a:tr>
              <a:tr h="332232">
                <a:tc>
                  <a:txBody>
                    <a:bodyPr wrap="square"/>
                    <a:lstStyle/>
                    <a:p>
                      <a:pPr algn="ctr">
                        <a:spcAft>
                          <a:spcPts val="200"/>
                        </a:spcAft>
                      </a:pPr>
                      <a:r>
                        <a:rPr sz="1200" b="1">
                          <a:solidFill>
                            <a:srgbClr val="C4392D"/>
                          </a:solidFill>
                          <a:latin typeface="Calibri"/>
                        </a:rPr>
                        <a:t>3</a:t>
                      </a:r>
                    </a:p>
                  </a:txBody>
                  <a:tcPr marL="91440" marR="91440" marT="36576" marB="36576" anchor="ctr">
                    <a:solidFill>
                      <a:srgbClr val="FFFFFF"/>
                    </a:solidFill>
                    <a:lnL w="0">
                      <a:noFill/>
                    </a:lnL>
                    <a:lnR w="0">
                      <a:noFill/>
                    </a:lnR>
                    <a:lnT w="0">
                      <a:noFill/>
                    </a:lnT>
                    <a:lnB w="6350" cap="flat">
                      <a:solidFill>
                        <a:srgbClr val="E2E9F1"/>
                      </a:solidFill>
                    </a:lnB>
                  </a:tcPr>
                </a:tc>
                <a:tc>
                  <a:txBody>
                    <a:bodyPr wrap="square"/>
                    <a:lstStyle/>
                    <a:p>
                      <a:pPr algn="l">
                        <a:spcAft>
                          <a:spcPts val="200"/>
                        </a:spcAft>
                      </a:pPr>
                      <a:r>
                        <a:rPr sz="1200" b="0">
                          <a:solidFill>
                            <a:srgbClr val="55677C"/>
                          </a:solidFill>
                          <a:latin typeface="Calibri"/>
                        </a:rPr>
                        <a:t>Acute poort: wat komt waar, en wat kunnen wij doorrekenen?</a:t>
                      </a:r>
                    </a:p>
                  </a:txBody>
                  <a:tcPr marL="91440" marR="91440" marT="36576" marB="36576" anchor="ctr">
                    <a:solidFill>
                      <a:srgbClr val="FFFFFF"/>
                    </a:solidFill>
                    <a:lnL w="0">
                      <a:noFill/>
                    </a:lnL>
                    <a:lnR w="0">
                      <a:noFill/>
                    </a:lnR>
                    <a:lnT w="0">
                      <a:noFill/>
                    </a:lnT>
                    <a:lnB w="6350" cap="flat">
                      <a:solidFill>
                        <a:srgbClr val="E2E9F1"/>
                      </a:solidFill>
                    </a:lnB>
                  </a:tcPr>
                </a:tc>
              </a:tr>
              <a:tr h="332232">
                <a:tc>
                  <a:txBody>
                    <a:bodyPr wrap="square"/>
                    <a:lstStyle/>
                    <a:p>
                      <a:pPr algn="ctr">
                        <a:spcAft>
                          <a:spcPts val="200"/>
                        </a:spcAft>
                      </a:pPr>
                      <a:r>
                        <a:rPr sz="1200" b="1">
                          <a:solidFill>
                            <a:srgbClr val="C4392D"/>
                          </a:solidFill>
                          <a:latin typeface="Calibri"/>
                        </a:rPr>
                        <a:t>4</a:t>
                      </a:r>
                    </a:p>
                  </a:txBody>
                  <a:tcPr marL="91440" marR="91440" marT="36576" marB="36576" anchor="ctr">
                    <a:solidFill>
                      <a:srgbClr val="F6F9FD"/>
                    </a:solidFill>
                    <a:lnL w="0">
                      <a:noFill/>
                    </a:lnL>
                    <a:lnR w="0">
                      <a:noFill/>
                    </a:lnR>
                    <a:lnT w="0">
                      <a:noFill/>
                    </a:lnT>
                    <a:lnB w="6350" cap="flat">
                      <a:solidFill>
                        <a:srgbClr val="E2E9F1"/>
                      </a:solidFill>
                    </a:lnB>
                  </a:tcPr>
                </a:tc>
                <a:tc>
                  <a:txBody>
                    <a:bodyPr wrap="square"/>
                    <a:lstStyle/>
                    <a:p>
                      <a:pPr algn="l">
                        <a:spcAft>
                          <a:spcPts val="200"/>
                        </a:spcAft>
                      </a:pPr>
                      <a:r>
                        <a:rPr sz="1200" b="0">
                          <a:solidFill>
                            <a:srgbClr val="55677C"/>
                          </a:solidFill>
                          <a:latin typeface="Calibri"/>
                        </a:rPr>
                        <a:t>ICU en CCU wijken structureel af van het jaarplan BIC.</a:t>
                      </a:r>
                    </a:p>
                  </a:txBody>
                  <a:tcPr marL="91440" marR="91440" marT="36576" marB="36576" anchor="ctr">
                    <a:solidFill>
                      <a:srgbClr val="F6F9FD"/>
                    </a:solidFill>
                    <a:lnL w="0">
                      <a:noFill/>
                    </a:lnL>
                    <a:lnR w="0">
                      <a:noFill/>
                    </a:lnR>
                    <a:lnT w="0">
                      <a:noFill/>
                    </a:lnT>
                    <a:lnB w="6350" cap="flat">
                      <a:solidFill>
                        <a:srgbClr val="E2E9F1"/>
                      </a:solidFill>
                    </a:lnB>
                  </a:tcPr>
                </a:tc>
              </a:tr>
              <a:tr h="332232">
                <a:tc>
                  <a:txBody>
                    <a:bodyPr wrap="square"/>
                    <a:lstStyle/>
                    <a:p>
                      <a:pPr algn="ctr">
                        <a:spcAft>
                          <a:spcPts val="200"/>
                        </a:spcAft>
                      </a:pPr>
                      <a:r>
                        <a:rPr sz="1200" b="1">
                          <a:solidFill>
                            <a:srgbClr val="C4392D"/>
                          </a:solidFill>
                          <a:latin typeface="Calibri"/>
                        </a:rPr>
                        <a:t>5</a:t>
                      </a:r>
                    </a:p>
                  </a:txBody>
                  <a:tcPr marL="91440" marR="91440" marT="36576" marB="36576" anchor="ctr">
                    <a:solidFill>
                      <a:srgbClr val="FFFFFF"/>
                    </a:solidFill>
                    <a:lnL w="0">
                      <a:noFill/>
                    </a:lnL>
                    <a:lnR w="0">
                      <a:noFill/>
                    </a:lnR>
                    <a:lnT w="0">
                      <a:noFill/>
                    </a:lnT>
                    <a:lnB w="6350" cap="flat">
                      <a:solidFill>
                        <a:srgbClr val="E2E9F1"/>
                      </a:solidFill>
                    </a:lnB>
                  </a:tcPr>
                </a:tc>
                <a:tc>
                  <a:txBody>
                    <a:bodyPr wrap="square"/>
                    <a:lstStyle/>
                    <a:p>
                      <a:pPr algn="l">
                        <a:spcAft>
                          <a:spcPts val="200"/>
                        </a:spcAft>
                      </a:pPr>
                      <a:r>
                        <a:rPr sz="1200" b="0">
                          <a:solidFill>
                            <a:srgbClr val="55677C"/>
                          </a:solidFill>
                          <a:latin typeface="Calibri"/>
                        </a:rPr>
                        <a:t>De personele planning loopt niet volledig via CPP, met name rond de acute poule.</a:t>
                      </a:r>
                    </a:p>
                  </a:txBody>
                  <a:tcPr marL="91440" marR="91440" marT="36576" marB="36576" anchor="ctr">
                    <a:solidFill>
                      <a:srgbClr val="FFFFFF"/>
                    </a:solidFill>
                    <a:lnL w="0">
                      <a:noFill/>
                    </a:lnL>
                    <a:lnR w="0">
                      <a:noFill/>
                    </a:lnR>
                    <a:lnT w="0">
                      <a:noFill/>
                    </a:lnT>
                    <a:lnB w="6350" cap="flat">
                      <a:solidFill>
                        <a:srgbClr val="E2E9F1"/>
                      </a:solidFill>
                    </a:lnB>
                  </a:tcPr>
                </a:tc>
              </a:tr>
              <a:tr h="332232">
                <a:tc>
                  <a:txBody>
                    <a:bodyPr wrap="square"/>
                    <a:lstStyle/>
                    <a:p>
                      <a:pPr algn="ctr">
                        <a:spcAft>
                          <a:spcPts val="200"/>
                        </a:spcAft>
                      </a:pPr>
                      <a:r>
                        <a:rPr sz="1200" b="1">
                          <a:solidFill>
                            <a:srgbClr val="C4392D"/>
                          </a:solidFill>
                          <a:latin typeface="Calibri"/>
                        </a:rPr>
                        <a:t>6</a:t>
                      </a:r>
                    </a:p>
                  </a:txBody>
                  <a:tcPr marL="91440" marR="91440" marT="36576" marB="36576" anchor="ctr">
                    <a:solidFill>
                      <a:srgbClr val="F6F9FD"/>
                    </a:solidFill>
                    <a:lnL w="0">
                      <a:noFill/>
                    </a:lnL>
                    <a:lnR w="0">
                      <a:noFill/>
                    </a:lnR>
                    <a:lnT w="0">
                      <a:noFill/>
                    </a:lnT>
                    <a:lnB w="6350" cap="flat">
                      <a:solidFill>
                        <a:srgbClr val="E2E9F1"/>
                      </a:solidFill>
                    </a:lnB>
                  </a:tcPr>
                </a:tc>
                <a:tc>
                  <a:txBody>
                    <a:bodyPr wrap="square"/>
                    <a:lstStyle/>
                    <a:p>
                      <a:pPr algn="l">
                        <a:spcAft>
                          <a:spcPts val="200"/>
                        </a:spcAft>
                      </a:pPr>
                      <a:r>
                        <a:rPr sz="1200" b="0">
                          <a:solidFill>
                            <a:srgbClr val="55677C"/>
                          </a:solidFill>
                          <a:latin typeface="Calibri"/>
                        </a:rPr>
                        <a:t>Indirecte uren.</a:t>
                      </a:r>
                    </a:p>
                  </a:txBody>
                  <a:tcPr marL="91440" marR="91440" marT="36576" marB="36576" anchor="ctr">
                    <a:solidFill>
                      <a:srgbClr val="F6F9FD"/>
                    </a:solidFill>
                    <a:lnL w="0">
                      <a:noFill/>
                    </a:lnL>
                    <a:lnR w="0">
                      <a:noFill/>
                    </a:lnR>
                    <a:lnT w="0">
                      <a:noFill/>
                    </a:lnT>
                    <a:lnB w="6350" cap="flat">
                      <a:solidFill>
                        <a:srgbClr val="E2E9F1"/>
                      </a:solidFill>
                    </a:lnB>
                  </a:tcPr>
                </a:tc>
              </a:tr>
              <a:tr h="332232">
                <a:tc>
                  <a:txBody>
                    <a:bodyPr wrap="square"/>
                    <a:lstStyle/>
                    <a:p>
                      <a:pPr algn="ctr">
                        <a:spcAft>
                          <a:spcPts val="200"/>
                        </a:spcAft>
                      </a:pPr>
                      <a:r>
                        <a:rPr sz="1200" b="1">
                          <a:solidFill>
                            <a:srgbClr val="C4392D"/>
                          </a:solidFill>
                          <a:latin typeface="Calibri"/>
                        </a:rPr>
                        <a:t>7</a:t>
                      </a:r>
                    </a:p>
                  </a:txBody>
                  <a:tcPr marL="91440" marR="91440" marT="36576" marB="36576" anchor="ctr">
                    <a:solidFill>
                      <a:srgbClr val="FFFFFF"/>
                    </a:solidFill>
                    <a:lnL w="0">
                      <a:noFill/>
                    </a:lnL>
                    <a:lnR w="0">
                      <a:noFill/>
                    </a:lnR>
                    <a:lnT w="0">
                      <a:noFill/>
                    </a:lnT>
                    <a:lnB w="6350" cap="flat">
                      <a:solidFill>
                        <a:srgbClr val="E2E9F1"/>
                      </a:solidFill>
                    </a:lnB>
                  </a:tcPr>
                </a:tc>
                <a:tc>
                  <a:txBody>
                    <a:bodyPr wrap="square"/>
                    <a:lstStyle/>
                    <a:p>
                      <a:pPr algn="l">
                        <a:spcAft>
                          <a:spcPts val="200"/>
                        </a:spcAft>
                      </a:pPr>
                      <a:r>
                        <a:rPr sz="1200" b="0">
                          <a:solidFill>
                            <a:srgbClr val="55677C"/>
                          </a:solidFill>
                          <a:latin typeface="Calibri"/>
                        </a:rPr>
                        <a:t>Uitgangspunten en kaders ontbreken.</a:t>
                      </a:r>
                    </a:p>
                  </a:txBody>
                  <a:tcPr marL="91440" marR="91440" marT="36576" marB="36576" anchor="ctr">
                    <a:solidFill>
                      <a:srgbClr val="FFFFFF"/>
                    </a:solidFill>
                    <a:lnL w="0">
                      <a:noFill/>
                    </a:lnL>
                    <a:lnR w="0">
                      <a:noFill/>
                    </a:lnR>
                    <a:lnT w="0">
                      <a:noFill/>
                    </a:lnT>
                    <a:lnB w="6350" cap="flat">
                      <a:solidFill>
                        <a:srgbClr val="E2E9F1"/>
                      </a:solidFill>
                    </a:lnB>
                  </a:tcPr>
                </a:tc>
              </a:tr>
              <a:tr h="518160">
                <a:tc>
                  <a:txBody>
                    <a:bodyPr wrap="square"/>
                    <a:lstStyle/>
                    <a:p>
                      <a:pPr algn="ctr">
                        <a:spcAft>
                          <a:spcPts val="200"/>
                        </a:spcAft>
                      </a:pPr>
                      <a:r>
                        <a:rPr sz="1200" b="1">
                          <a:solidFill>
                            <a:srgbClr val="C4392D"/>
                          </a:solidFill>
                          <a:latin typeface="Calibri"/>
                        </a:rPr>
                        <a:t>8</a:t>
                      </a:r>
                    </a:p>
                  </a:txBody>
                  <a:tcPr marL="91440" marR="91440" marT="36576" marB="36576" anchor="ctr">
                    <a:solidFill>
                      <a:srgbClr val="F6F9FD"/>
                    </a:solidFill>
                    <a:lnL w="0">
                      <a:noFill/>
                    </a:lnL>
                    <a:lnR w="0">
                      <a:noFill/>
                    </a:lnR>
                    <a:lnT w="0">
                      <a:noFill/>
                    </a:lnT>
                    <a:lnB w="6350" cap="flat">
                      <a:solidFill>
                        <a:srgbClr val="E2E9F1"/>
                      </a:solidFill>
                    </a:lnB>
                  </a:tcPr>
                </a:tc>
                <a:tc>
                  <a:txBody>
                    <a:bodyPr wrap="square"/>
                    <a:lstStyle/>
                    <a:p>
                      <a:pPr algn="l">
                        <a:spcAft>
                          <a:spcPts val="200"/>
                        </a:spcAft>
                      </a:pPr>
                      <a:r>
                        <a:rPr sz="1200" b="0">
                          <a:solidFill>
                            <a:srgbClr val="55677C"/>
                          </a:solidFill>
                          <a:latin typeface="Calibri"/>
                        </a:rPr>
                        <a:t>Vakantiegoedkeuringen niet integraal en te ruim vrijgegeven, met name bij de CCU. Actie: samen met Remco een vakantiegoedkeuring opstellen; hij noemde 20 tot 25%.</a:t>
                      </a:r>
                    </a:p>
                  </a:txBody>
                  <a:tcPr marL="91440" marR="91440" marT="36576" marB="36576" anchor="ctr">
                    <a:solidFill>
                      <a:srgbClr val="F6F9FD"/>
                    </a:solidFill>
                    <a:lnL w="0">
                      <a:noFill/>
                    </a:lnL>
                    <a:lnR w="0">
                      <a:noFill/>
                    </a:lnR>
                    <a:lnT w="0">
                      <a:noFill/>
                    </a:lnT>
                    <a:lnB w="6350" cap="flat">
                      <a:solidFill>
                        <a:srgbClr val="E2E9F1"/>
                      </a:solidFill>
                    </a:lnB>
                  </a:tcPr>
                </a:tc>
              </a:tr>
              <a:tr h="332232">
                <a:tc>
                  <a:txBody>
                    <a:bodyPr wrap="square"/>
                    <a:lstStyle/>
                    <a:p>
                      <a:pPr algn="ctr">
                        <a:spcAft>
                          <a:spcPts val="200"/>
                        </a:spcAft>
                      </a:pPr>
                      <a:r>
                        <a:rPr sz="1200" b="1">
                          <a:solidFill>
                            <a:srgbClr val="C4392D"/>
                          </a:solidFill>
                          <a:latin typeface="Calibri"/>
                        </a:rPr>
                        <a:t>9</a:t>
                      </a:r>
                    </a:p>
                  </a:txBody>
                  <a:tcPr marL="91440" marR="91440" marT="36576" marB="36576" anchor="ctr">
                    <a:solidFill>
                      <a:srgbClr val="FFFFFF"/>
                    </a:solidFill>
                    <a:lnL w="0">
                      <a:noFill/>
                    </a:lnL>
                    <a:lnR w="0">
                      <a:noFill/>
                    </a:lnR>
                    <a:lnT w="0">
                      <a:noFill/>
                    </a:lnT>
                    <a:lnB w="6350" cap="flat">
                      <a:solidFill>
                        <a:srgbClr val="E2E9F1"/>
                      </a:solidFill>
                    </a:lnB>
                  </a:tcPr>
                </a:tc>
                <a:tc>
                  <a:txBody>
                    <a:bodyPr wrap="square"/>
                    <a:lstStyle/>
                    <a:p>
                      <a:pPr algn="l">
                        <a:spcAft>
                          <a:spcPts val="200"/>
                        </a:spcAft>
                      </a:pPr>
                      <a:r>
                        <a:rPr sz="1200" b="0">
                          <a:solidFill>
                            <a:srgbClr val="55677C"/>
                          </a:solidFill>
                          <a:latin typeface="Calibri"/>
                        </a:rPr>
                        <a:t>Slapers op de SEH. Kanttekening bij de JDT: je kunt vol liggen waardoor de druk hoog is, terwijl de JDT-score dat niet laat zien.</a:t>
                      </a:r>
                    </a:p>
                  </a:txBody>
                  <a:tcPr marL="91440" marR="91440" marT="36576" marB="36576" anchor="ctr">
                    <a:solidFill>
                      <a:srgbClr val="FFFFFF"/>
                    </a:solidFill>
                    <a:lnL w="0">
                      <a:noFill/>
                    </a:lnL>
                    <a:lnR w="0">
                      <a:noFill/>
                    </a:lnR>
                    <a:lnT w="0">
                      <a:noFill/>
                    </a:lnT>
                    <a:lnB w="6350" cap="flat">
                      <a:solidFill>
                        <a:srgbClr val="E2E9F1"/>
                      </a:solidFill>
                    </a:lnB>
                  </a:tcPr>
                </a:tc>
              </a:tr>
            </a:tbl>
          </a:graphicData>
        </a:graphic>
      </p:graphicFrame>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FFFFFF"/>
              </a:gs>
              <a:gs pos="100000">
                <a:srgbClr val="F1F6FC"/>
              </a:gs>
            </a:gsLst>
            <a:lin scaled="0" ang="189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640080" y="566928"/>
            <a:ext cx="10911535" cy="219456"/>
          </a:xfrm>
          <a:prstGeom prst="rect">
            <a:avLst/>
          </a:prstGeom>
          <a:noFill/>
        </p:spPr>
        <p:txBody>
          <a:bodyPr wrap="square" lIns="0" rIns="0" tIns="0" bIns="0" anchor="t">
            <a:spAutoFit/>
          </a:bodyPr>
          <a:lstStyle/>
          <a:p>
            <a:pPr algn="l">
              <a:lnSpc>
                <a:spcPct val="120000"/>
              </a:lnSpc>
              <a:spcAft>
                <a:spcPts val="0"/>
              </a:spcAft>
            </a:pPr>
            <a:r>
              <a:rPr sz="1050" b="1" spc="220">
                <a:solidFill>
                  <a:srgbClr val="6B4BA8"/>
                </a:solidFill>
                <a:latin typeface="Calibri"/>
              </a:rPr>
              <a:t>DEEL 04  ·  VERVOLG</a:t>
            </a:r>
          </a:p>
        </p:txBody>
      </p:sp>
      <p:sp>
        <p:nvSpPr>
          <p:cNvPr id="4" name="TextBox 3"/>
          <p:cNvSpPr txBox="1"/>
          <p:nvPr/>
        </p:nvSpPr>
        <p:spPr>
          <a:xfrm>
            <a:off x="640080" y="859536"/>
            <a:ext cx="10911535" cy="566928"/>
          </a:xfrm>
          <a:prstGeom prst="rect">
            <a:avLst/>
          </a:prstGeom>
          <a:noFill/>
        </p:spPr>
        <p:txBody>
          <a:bodyPr wrap="square" lIns="0" rIns="0" tIns="0" bIns="0" anchor="t">
            <a:spAutoFit/>
          </a:bodyPr>
          <a:lstStyle/>
          <a:p>
            <a:pPr algn="l">
              <a:lnSpc>
                <a:spcPct val="120000"/>
              </a:lnSpc>
              <a:spcAft>
                <a:spcPts val="0"/>
              </a:spcAft>
            </a:pPr>
            <a:r>
              <a:rPr sz="3400" b="1">
                <a:solidFill>
                  <a:srgbClr val="0D1B2A"/>
                </a:solidFill>
                <a:latin typeface="Calibri"/>
              </a:rPr>
              <a:t>Simulatie, aantekeningen en Remco</a:t>
            </a:r>
          </a:p>
        </p:txBody>
      </p:sp>
      <p:sp>
        <p:nvSpPr>
          <p:cNvPr id="5" name="TextBox 4"/>
          <p:cNvSpPr txBox="1"/>
          <p:nvPr/>
        </p:nvSpPr>
        <p:spPr>
          <a:xfrm>
            <a:off x="640080" y="1335024"/>
            <a:ext cx="8510997" cy="274320"/>
          </a:xfrm>
          <a:prstGeom prst="rect">
            <a:avLst/>
          </a:prstGeom>
          <a:noFill/>
        </p:spPr>
        <p:txBody>
          <a:bodyPr wrap="square" lIns="0" rIns="0" tIns="0" bIns="0" anchor="t">
            <a:spAutoFit/>
          </a:bodyPr>
          <a:lstStyle/>
          <a:p>
            <a:pPr algn="l">
              <a:lnSpc>
                <a:spcPct val="120000"/>
              </a:lnSpc>
              <a:spcAft>
                <a:spcPts val="0"/>
              </a:spcAft>
            </a:pPr>
            <a:r>
              <a:rPr sz="1300" b="0">
                <a:solidFill>
                  <a:srgbClr val="55677C"/>
                </a:solidFill>
                <a:latin typeface="Calibri"/>
              </a:rPr>
              <a:t>Wat er nog uitgezocht en gevraagd moet worden</a:t>
            </a:r>
          </a:p>
        </p:txBody>
      </p:sp>
      <p:cxnSp>
        <p:nvCxnSpPr>
          <p:cNvPr id="6" name="Connector 5"/>
          <p:cNvCxnSpPr/>
          <p:nvPr/>
        </p:nvCxnSpPr>
        <p:spPr>
          <a:xfrm>
            <a:off x="640080" y="1609344"/>
            <a:ext cx="10911535" cy="0"/>
          </a:xfrm>
          <a:prstGeom prst="line">
            <a:avLst/>
          </a:prstGeom>
          <a:ln w="12700">
            <a:solidFill>
              <a:srgbClr val="E2E9F1"/>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640080" y="6291072"/>
            <a:ext cx="10911535" cy="0"/>
          </a:xfrm>
          <a:prstGeom prst="line">
            <a:avLst/>
          </a:prstGeom>
          <a:ln w="9525">
            <a:solidFill>
              <a:srgbClr val="E2E9F1"/>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40080" y="6382512"/>
            <a:ext cx="5486400" cy="237744"/>
          </a:xfrm>
          <a:prstGeom prst="rect">
            <a:avLst/>
          </a:prstGeom>
          <a:noFill/>
        </p:spPr>
        <p:txBody>
          <a:bodyPr wrap="square" lIns="0" rIns="0" tIns="0" bIns="0" anchor="t">
            <a:spAutoFit/>
          </a:bodyPr>
          <a:lstStyle/>
          <a:p>
            <a:pPr algn="l">
              <a:lnSpc>
                <a:spcPct val="120000"/>
              </a:lnSpc>
              <a:spcAft>
                <a:spcPts val="0"/>
              </a:spcAft>
            </a:pPr>
            <a:r>
              <a:rPr sz="900" b="0" spc="80">
                <a:solidFill>
                  <a:srgbClr val="8B9AAA"/>
                </a:solidFill>
                <a:latin typeface="Calibri"/>
              </a:rPr>
              <a:t>Acute poort en Hotfloor</a:t>
            </a:r>
          </a:p>
        </p:txBody>
      </p:sp>
      <p:sp>
        <p:nvSpPr>
          <p:cNvPr id="9" name="TextBox 8"/>
          <p:cNvSpPr txBox="1"/>
          <p:nvPr/>
        </p:nvSpPr>
        <p:spPr>
          <a:xfrm>
            <a:off x="10637215" y="6382512"/>
            <a:ext cx="914400" cy="237744"/>
          </a:xfrm>
          <a:prstGeom prst="rect">
            <a:avLst/>
          </a:prstGeom>
          <a:noFill/>
        </p:spPr>
        <p:txBody>
          <a:bodyPr wrap="square" lIns="0" rIns="0" tIns="0" bIns="0" anchor="t">
            <a:spAutoFit/>
          </a:bodyPr>
          <a:lstStyle/>
          <a:p>
            <a:pPr algn="r">
              <a:lnSpc>
                <a:spcPct val="120000"/>
              </a:lnSpc>
              <a:spcAft>
                <a:spcPts val="0"/>
              </a:spcAft>
            </a:pPr>
            <a:r>
              <a:rPr sz="950" b="1">
                <a:solidFill>
                  <a:srgbClr val="0E9A87"/>
                </a:solidFill>
                <a:latin typeface="Calibri"/>
              </a:rPr>
              <a:t>25</a:t>
            </a:r>
          </a:p>
        </p:txBody>
      </p:sp>
      <p:graphicFrame>
        <p:nvGraphicFramePr>
          <p:cNvPr id="10" name="Table 9"/>
          <p:cNvGraphicFramePr>
            <a:graphicFrameLocks noGrp="1"/>
          </p:cNvGraphicFramePr>
          <p:nvPr/>
        </p:nvGraphicFramePr>
        <p:xfrm>
          <a:off x="640080" y="1700784"/>
          <a:ext cx="10911535" cy="4023360"/>
        </p:xfrm>
        <a:graphic>
          <a:graphicData uri="http://schemas.openxmlformats.org/drawingml/2006/table">
            <a:tbl>
              <a:tblPr>
                <a:tableStyleId>{5C22544A-7EE6-4342-B048-85BDC9FD1C3A}</a:tableStyleId>
              </a:tblPr>
              <a:tblGrid>
                <a:gridCol w="548640"/>
                <a:gridCol w="10362895"/>
              </a:tblGrid>
              <a:tr h="329184">
                <a:tc>
                  <a:txBody>
                    <a:bodyPr wrap="square"/>
                    <a:lstStyle/>
                    <a:p>
                      <a:pPr algn="ctr">
                        <a:spcAft>
                          <a:spcPts val="200"/>
                        </a:spcAft>
                      </a:pPr>
                      <a:r>
                        <a:rPr sz="950" b="1">
                          <a:solidFill>
                            <a:srgbClr val="6B4BA8"/>
                          </a:solidFill>
                          <a:latin typeface="Calibri"/>
                        </a:rPr>
                        <a:t>#</a:t>
                      </a:r>
                    </a:p>
                  </a:txBody>
                  <a:tcPr marL="91440" marR="91440" marT="36576" marB="36576" anchor="ctr">
                    <a:solidFill>
                      <a:srgbClr val="FFFFFF"/>
                    </a:solidFill>
                    <a:lnL w="0">
                      <a:noFill/>
                    </a:lnL>
                    <a:lnR w="0">
                      <a:noFill/>
                    </a:lnR>
                    <a:lnT w="0">
                      <a:noFill/>
                    </a:lnT>
                    <a:lnB w="6350" cap="flat">
                      <a:solidFill>
                        <a:srgbClr val="E2E9F1"/>
                      </a:solidFill>
                    </a:lnB>
                  </a:tcPr>
                </a:tc>
                <a:tc>
                  <a:txBody>
                    <a:bodyPr wrap="square"/>
                    <a:lstStyle/>
                    <a:p>
                      <a:pPr algn="l">
                        <a:spcAft>
                          <a:spcPts val="200"/>
                        </a:spcAft>
                      </a:pPr>
                      <a:r>
                        <a:rPr sz="950" b="1">
                          <a:solidFill>
                            <a:srgbClr val="6B4BA8"/>
                          </a:solidFill>
                          <a:latin typeface="Calibri"/>
                        </a:rPr>
                        <a:t>VRAAG OF KNELPUNT</a:t>
                      </a:r>
                    </a:p>
                  </a:txBody>
                  <a:tcPr marL="91440" marR="91440" marT="36576" marB="36576" anchor="ctr">
                    <a:solidFill>
                      <a:srgbClr val="FFFFFF"/>
                    </a:solidFill>
                    <a:lnL w="0">
                      <a:noFill/>
                    </a:lnL>
                    <a:lnR w="0">
                      <a:noFill/>
                    </a:lnR>
                    <a:lnT w="0">
                      <a:noFill/>
                    </a:lnT>
                    <a:lnB w="6350" cap="flat">
                      <a:solidFill>
                        <a:srgbClr val="E2E9F1"/>
                      </a:solidFill>
                    </a:lnB>
                  </a:tcPr>
                </a:tc>
              </a:tr>
              <a:tr h="332232">
                <a:tc>
                  <a:txBody>
                    <a:bodyPr wrap="square"/>
                    <a:lstStyle/>
                    <a:p>
                      <a:pPr algn="ctr">
                        <a:spcAft>
                          <a:spcPts val="200"/>
                        </a:spcAft>
                      </a:pPr>
                      <a:r>
                        <a:rPr sz="1200" b="1">
                          <a:solidFill>
                            <a:srgbClr val="6B4BA8"/>
                          </a:solidFill>
                          <a:latin typeface="Calibri"/>
                        </a:rPr>
                        <a:t>1</a:t>
                      </a:r>
                    </a:p>
                  </a:txBody>
                  <a:tcPr marL="91440" marR="91440" marT="36576" marB="36576" anchor="ctr">
                    <a:solidFill>
                      <a:srgbClr val="FFFFFF"/>
                    </a:solidFill>
                    <a:lnL w="0">
                      <a:noFill/>
                    </a:lnL>
                    <a:lnR w="0">
                      <a:noFill/>
                    </a:lnR>
                    <a:lnT w="0">
                      <a:noFill/>
                    </a:lnT>
                    <a:lnB w="6350" cap="flat">
                      <a:solidFill>
                        <a:srgbClr val="E2E9F1"/>
                      </a:solidFill>
                    </a:lnB>
                  </a:tcPr>
                </a:tc>
                <a:tc>
                  <a:txBody>
                    <a:bodyPr wrap="square"/>
                    <a:lstStyle/>
                    <a:p>
                      <a:pPr algn="l">
                        <a:spcAft>
                          <a:spcPts val="200"/>
                        </a:spcAft>
                      </a:pPr>
                      <a:r>
                        <a:rPr sz="1200" b="0">
                          <a:solidFill>
                            <a:srgbClr val="55677C"/>
                          </a:solidFill>
                          <a:latin typeface="Calibri"/>
                        </a:rPr>
                        <a:t>Simulatie nieuwbouw: volledige ICU-data.</a:t>
                      </a:r>
                    </a:p>
                  </a:txBody>
                  <a:tcPr marL="91440" marR="91440" marT="36576" marB="36576" anchor="ctr">
                    <a:solidFill>
                      <a:srgbClr val="FFFFFF"/>
                    </a:solidFill>
                    <a:lnL w="0">
                      <a:noFill/>
                    </a:lnL>
                    <a:lnR w="0">
                      <a:noFill/>
                    </a:lnR>
                    <a:lnT w="0">
                      <a:noFill/>
                    </a:lnT>
                    <a:lnB w="6350" cap="flat">
                      <a:solidFill>
                        <a:srgbClr val="E2E9F1"/>
                      </a:solidFill>
                    </a:lnB>
                  </a:tcPr>
                </a:tc>
              </a:tr>
              <a:tr h="332232">
                <a:tc>
                  <a:txBody>
                    <a:bodyPr wrap="square"/>
                    <a:lstStyle/>
                    <a:p>
                      <a:pPr algn="ctr">
                        <a:spcAft>
                          <a:spcPts val="200"/>
                        </a:spcAft>
                      </a:pPr>
                      <a:r>
                        <a:rPr sz="1200" b="1">
                          <a:solidFill>
                            <a:srgbClr val="6B4BA8"/>
                          </a:solidFill>
                          <a:latin typeface="Calibri"/>
                        </a:rPr>
                        <a:t>2</a:t>
                      </a:r>
                    </a:p>
                  </a:txBody>
                  <a:tcPr marL="91440" marR="91440" marT="36576" marB="36576" anchor="ctr">
                    <a:solidFill>
                      <a:srgbClr val="F6F9FD"/>
                    </a:solidFill>
                    <a:lnL w="0">
                      <a:noFill/>
                    </a:lnL>
                    <a:lnR w="0">
                      <a:noFill/>
                    </a:lnR>
                    <a:lnT w="0">
                      <a:noFill/>
                    </a:lnT>
                    <a:lnB w="6350" cap="flat">
                      <a:solidFill>
                        <a:srgbClr val="E2E9F1"/>
                      </a:solidFill>
                    </a:lnB>
                  </a:tcPr>
                </a:tc>
                <a:tc>
                  <a:txBody>
                    <a:bodyPr wrap="square"/>
                    <a:lstStyle/>
                    <a:p>
                      <a:pPr algn="l">
                        <a:spcAft>
                          <a:spcPts val="200"/>
                        </a:spcAft>
                      </a:pPr>
                      <a:r>
                        <a:rPr sz="1200" b="0">
                          <a:solidFill>
                            <a:srgbClr val="55677C"/>
                          </a:solidFill>
                          <a:latin typeface="Calibri"/>
                        </a:rPr>
                        <a:t>Simulatie nieuwbouw: CCU-data exclusief de eerste 2 uur van CCU-patiënten die naar de SEH gaan.</a:t>
                      </a:r>
                    </a:p>
                  </a:txBody>
                  <a:tcPr marL="91440" marR="91440" marT="36576" marB="36576" anchor="ctr">
                    <a:solidFill>
                      <a:srgbClr val="F6F9FD"/>
                    </a:solidFill>
                    <a:lnL w="0">
                      <a:noFill/>
                    </a:lnL>
                    <a:lnR w="0">
                      <a:noFill/>
                    </a:lnR>
                    <a:lnT w="0">
                      <a:noFill/>
                    </a:lnT>
                    <a:lnB w="6350" cap="flat">
                      <a:solidFill>
                        <a:srgbClr val="E2E9F1"/>
                      </a:solidFill>
                    </a:lnB>
                  </a:tcPr>
                </a:tc>
              </a:tr>
              <a:tr h="332232">
                <a:tc>
                  <a:txBody>
                    <a:bodyPr wrap="square"/>
                    <a:lstStyle/>
                    <a:p>
                      <a:pPr algn="ctr">
                        <a:spcAft>
                          <a:spcPts val="200"/>
                        </a:spcAft>
                      </a:pPr>
                      <a:r>
                        <a:rPr sz="1200" b="1">
                          <a:solidFill>
                            <a:srgbClr val="6B4BA8"/>
                          </a:solidFill>
                          <a:latin typeface="Calibri"/>
                        </a:rPr>
                        <a:t>3</a:t>
                      </a:r>
                    </a:p>
                  </a:txBody>
                  <a:tcPr marL="91440" marR="91440" marT="36576" marB="36576" anchor="ctr">
                    <a:solidFill>
                      <a:srgbClr val="FFFFFF"/>
                    </a:solidFill>
                    <a:lnL w="0">
                      <a:noFill/>
                    </a:lnL>
                    <a:lnR w="0">
                      <a:noFill/>
                    </a:lnR>
                    <a:lnT w="0">
                      <a:noFill/>
                    </a:lnT>
                    <a:lnB w="6350" cap="flat">
                      <a:solidFill>
                        <a:srgbClr val="E2E9F1"/>
                      </a:solidFill>
                    </a:lnB>
                  </a:tcPr>
                </a:tc>
                <a:tc>
                  <a:txBody>
                    <a:bodyPr wrap="square"/>
                    <a:lstStyle/>
                    <a:p>
                      <a:pPr algn="l">
                        <a:spcAft>
                          <a:spcPts val="200"/>
                        </a:spcAft>
                      </a:pPr>
                      <a:r>
                        <a:rPr sz="1200" b="0">
                          <a:solidFill>
                            <a:srgbClr val="55677C"/>
                          </a:solidFill>
                          <a:latin typeface="Calibri"/>
                        </a:rPr>
                        <a:t>Op hoeveel bedden komen we op dagniveau uit, en zijn er seizoenspatronen? Hoe is de verdeling ICU/CCU voor het personeel?</a:t>
                      </a:r>
                    </a:p>
                  </a:txBody>
                  <a:tcPr marL="91440" marR="91440" marT="36576" marB="36576" anchor="ctr">
                    <a:solidFill>
                      <a:srgbClr val="FFFFFF"/>
                    </a:solidFill>
                    <a:lnL w="0">
                      <a:noFill/>
                    </a:lnL>
                    <a:lnR w="0">
                      <a:noFill/>
                    </a:lnR>
                    <a:lnT w="0">
                      <a:noFill/>
                    </a:lnT>
                    <a:lnB w="6350" cap="flat">
                      <a:solidFill>
                        <a:srgbClr val="E2E9F1"/>
                      </a:solidFill>
                    </a:lnB>
                  </a:tcPr>
                </a:tc>
              </a:tr>
              <a:tr h="332232">
                <a:tc>
                  <a:txBody>
                    <a:bodyPr wrap="square"/>
                    <a:lstStyle/>
                    <a:p>
                      <a:pPr algn="ctr">
                        <a:spcAft>
                          <a:spcPts val="200"/>
                        </a:spcAft>
                      </a:pPr>
                      <a:r>
                        <a:rPr sz="1200" b="1">
                          <a:solidFill>
                            <a:srgbClr val="6B4BA8"/>
                          </a:solidFill>
                          <a:latin typeface="Calibri"/>
                        </a:rPr>
                        <a:t>4</a:t>
                      </a:r>
                    </a:p>
                  </a:txBody>
                  <a:tcPr marL="91440" marR="91440" marT="36576" marB="36576" anchor="ctr">
                    <a:solidFill>
                      <a:srgbClr val="F6F9FD"/>
                    </a:solidFill>
                    <a:lnL w="0">
                      <a:noFill/>
                    </a:lnL>
                    <a:lnR w="0">
                      <a:noFill/>
                    </a:lnR>
                    <a:lnT w="0">
                      <a:noFill/>
                    </a:lnT>
                    <a:lnB w="6350" cap="flat">
                      <a:solidFill>
                        <a:srgbClr val="E2E9F1"/>
                      </a:solidFill>
                    </a:lnB>
                  </a:tcPr>
                </a:tc>
                <a:tc>
                  <a:txBody>
                    <a:bodyPr wrap="square"/>
                    <a:lstStyle/>
                    <a:p>
                      <a:pPr algn="l">
                        <a:spcAft>
                          <a:spcPts val="200"/>
                        </a:spcAft>
                      </a:pPr>
                      <a:r>
                        <a:rPr sz="1200" b="0">
                          <a:solidFill>
                            <a:srgbClr val="55677C"/>
                          </a:solidFill>
                          <a:latin typeface="Calibri"/>
                        </a:rPr>
                        <a:t>Versneld jaarplan CCU, en het document van Daniek: huidig, transitie, nieuwbouw.</a:t>
                      </a:r>
                    </a:p>
                  </a:txBody>
                  <a:tcPr marL="91440" marR="91440" marT="36576" marB="36576" anchor="ctr">
                    <a:solidFill>
                      <a:srgbClr val="F6F9FD"/>
                    </a:solidFill>
                    <a:lnL w="0">
                      <a:noFill/>
                    </a:lnL>
                    <a:lnR w="0">
                      <a:noFill/>
                    </a:lnR>
                    <a:lnT w="0">
                      <a:noFill/>
                    </a:lnT>
                    <a:lnB w="6350" cap="flat">
                      <a:solidFill>
                        <a:srgbClr val="E2E9F1"/>
                      </a:solidFill>
                    </a:lnB>
                  </a:tcPr>
                </a:tc>
              </a:tr>
              <a:tr h="518160">
                <a:tc>
                  <a:txBody>
                    <a:bodyPr wrap="square"/>
                    <a:lstStyle/>
                    <a:p>
                      <a:pPr algn="ctr">
                        <a:spcAft>
                          <a:spcPts val="200"/>
                        </a:spcAft>
                      </a:pPr>
                      <a:r>
                        <a:rPr sz="1200" b="1">
                          <a:solidFill>
                            <a:srgbClr val="6B4BA8"/>
                          </a:solidFill>
                          <a:latin typeface="Calibri"/>
                        </a:rPr>
                        <a:t>5</a:t>
                      </a:r>
                    </a:p>
                  </a:txBody>
                  <a:tcPr marL="91440" marR="91440" marT="36576" marB="36576" anchor="ctr">
                    <a:solidFill>
                      <a:srgbClr val="FFFFFF"/>
                    </a:solidFill>
                    <a:lnL w="0">
                      <a:noFill/>
                    </a:lnL>
                    <a:lnR w="0">
                      <a:noFill/>
                    </a:lnR>
                    <a:lnT w="0">
                      <a:noFill/>
                    </a:lnT>
                    <a:lnB w="6350" cap="flat">
                      <a:solidFill>
                        <a:srgbClr val="E2E9F1"/>
                      </a:solidFill>
                    </a:lnB>
                  </a:tcPr>
                </a:tc>
                <a:tc>
                  <a:txBody>
                    <a:bodyPr wrap="square"/>
                    <a:lstStyle/>
                    <a:p>
                      <a:pPr algn="l">
                        <a:spcAft>
                          <a:spcPts val="200"/>
                        </a:spcAft>
                      </a:pPr>
                      <a:r>
                        <a:rPr sz="1200" b="0">
                          <a:solidFill>
                            <a:srgbClr val="55677C"/>
                          </a:solidFill>
                          <a:latin typeface="Calibri"/>
                        </a:rPr>
                        <a:t>Aftrap jaarplannen Acuut 2027: we kijken nu naar de verpleegkundige inzet; voor de SEH-artsen is eerder al iets gedaan. Wat is de wens?</a:t>
                      </a:r>
                    </a:p>
                  </a:txBody>
                  <a:tcPr marL="91440" marR="91440" marT="36576" marB="36576" anchor="ctr">
                    <a:solidFill>
                      <a:srgbClr val="FFFFFF"/>
                    </a:solidFill>
                    <a:lnL w="0">
                      <a:noFill/>
                    </a:lnL>
                    <a:lnR w="0">
                      <a:noFill/>
                    </a:lnR>
                    <a:lnT w="0">
                      <a:noFill/>
                    </a:lnT>
                    <a:lnB w="6350" cap="flat">
                      <a:solidFill>
                        <a:srgbClr val="E2E9F1"/>
                      </a:solidFill>
                    </a:lnB>
                  </a:tcPr>
                </a:tc>
              </a:tr>
              <a:tr h="518160">
                <a:tc>
                  <a:txBody>
                    <a:bodyPr wrap="square"/>
                    <a:lstStyle/>
                    <a:p>
                      <a:pPr algn="ctr">
                        <a:spcAft>
                          <a:spcPts val="200"/>
                        </a:spcAft>
                      </a:pPr>
                      <a:r>
                        <a:rPr sz="1200" b="1">
                          <a:solidFill>
                            <a:srgbClr val="6B4BA8"/>
                          </a:solidFill>
                          <a:latin typeface="Calibri"/>
                        </a:rPr>
                        <a:t>6</a:t>
                      </a:r>
                    </a:p>
                  </a:txBody>
                  <a:tcPr marL="91440" marR="91440" marT="36576" marB="36576" anchor="ctr">
                    <a:solidFill>
                      <a:srgbClr val="F6F9FD"/>
                    </a:solidFill>
                    <a:lnL w="0">
                      <a:noFill/>
                    </a:lnL>
                    <a:lnR w="0">
                      <a:noFill/>
                    </a:lnR>
                    <a:lnT w="0">
                      <a:noFill/>
                    </a:lnT>
                    <a:lnB w="6350" cap="flat">
                      <a:solidFill>
                        <a:srgbClr val="E2E9F1"/>
                      </a:solidFill>
                    </a:lnB>
                  </a:tcPr>
                </a:tc>
                <a:tc>
                  <a:txBody>
                    <a:bodyPr wrap="square"/>
                    <a:lstStyle/>
                    <a:p>
                      <a:pPr algn="l">
                        <a:spcAft>
                          <a:spcPts val="200"/>
                        </a:spcAft>
                      </a:pPr>
                      <a:r>
                        <a:rPr sz="1200" b="0">
                          <a:solidFill>
                            <a:srgbClr val="55677C"/>
                          </a:solidFill>
                          <a:latin typeface="Calibri"/>
                        </a:rPr>
                        <a:t>Integratie van afdelingen per nu: ICU en CCU, waarbij de SEH nog even buiten beschouwing blijft. Inzet van de ICU op de CCU gebeurt nog niet; andersom wel, maar alleen ad hoc.</a:t>
                      </a:r>
                    </a:p>
                  </a:txBody>
                  <a:tcPr marL="91440" marR="91440" marT="36576" marB="36576" anchor="ctr">
                    <a:solidFill>
                      <a:srgbClr val="F6F9FD"/>
                    </a:solidFill>
                    <a:lnL w="0">
                      <a:noFill/>
                    </a:lnL>
                    <a:lnR w="0">
                      <a:noFill/>
                    </a:lnR>
                    <a:lnT w="0">
                      <a:noFill/>
                    </a:lnT>
                    <a:lnB w="6350" cap="flat">
                      <a:solidFill>
                        <a:srgbClr val="E2E9F1"/>
                      </a:solidFill>
                    </a:lnB>
                  </a:tcPr>
                </a:tc>
              </a:tr>
              <a:tr h="332232">
                <a:tc>
                  <a:txBody>
                    <a:bodyPr wrap="square"/>
                    <a:lstStyle/>
                    <a:p>
                      <a:pPr algn="ctr">
                        <a:spcAft>
                          <a:spcPts val="200"/>
                        </a:spcAft>
                      </a:pPr>
                      <a:r>
                        <a:rPr sz="1200" b="1">
                          <a:solidFill>
                            <a:srgbClr val="6B4BA8"/>
                          </a:solidFill>
                          <a:latin typeface="Calibri"/>
                        </a:rPr>
                        <a:t>7</a:t>
                      </a:r>
                    </a:p>
                  </a:txBody>
                  <a:tcPr marL="91440" marR="91440" marT="36576" marB="36576" anchor="ctr">
                    <a:solidFill>
                      <a:srgbClr val="FFFFFF"/>
                    </a:solidFill>
                    <a:lnL w="0">
                      <a:noFill/>
                    </a:lnL>
                    <a:lnR w="0">
                      <a:noFill/>
                    </a:lnR>
                    <a:lnT w="0">
                      <a:noFill/>
                    </a:lnT>
                    <a:lnB w="6350" cap="flat">
                      <a:solidFill>
                        <a:srgbClr val="E2E9F1"/>
                      </a:solidFill>
                    </a:lnB>
                  </a:tcPr>
                </a:tc>
                <a:tc>
                  <a:txBody>
                    <a:bodyPr wrap="square"/>
                    <a:lstStyle/>
                    <a:p>
                      <a:pPr algn="l">
                        <a:spcAft>
                          <a:spcPts val="200"/>
                        </a:spcAft>
                      </a:pPr>
                      <a:r>
                        <a:rPr sz="1200" b="0">
                          <a:solidFill>
                            <a:srgbClr val="55677C"/>
                          </a:solidFill>
                          <a:latin typeface="Calibri"/>
                        </a:rPr>
                        <a:t>Naar Remco: hoort de EHH bij het personeel van de ICU/CCU of bij de SEH?</a:t>
                      </a:r>
                    </a:p>
                  </a:txBody>
                  <a:tcPr marL="91440" marR="91440" marT="36576" marB="36576" anchor="ctr">
                    <a:solidFill>
                      <a:srgbClr val="FFFFFF"/>
                    </a:solidFill>
                    <a:lnL w="0">
                      <a:noFill/>
                    </a:lnL>
                    <a:lnR w="0">
                      <a:noFill/>
                    </a:lnR>
                    <a:lnT w="0">
                      <a:noFill/>
                    </a:lnT>
                    <a:lnB w="6350" cap="flat">
                      <a:solidFill>
                        <a:srgbClr val="E2E9F1"/>
                      </a:solidFill>
                    </a:lnB>
                  </a:tcPr>
                </a:tc>
              </a:tr>
              <a:tr h="332232">
                <a:tc>
                  <a:txBody>
                    <a:bodyPr wrap="square"/>
                    <a:lstStyle/>
                    <a:p>
                      <a:pPr algn="ctr">
                        <a:spcAft>
                          <a:spcPts val="200"/>
                        </a:spcAft>
                      </a:pPr>
                      <a:r>
                        <a:rPr sz="1200" b="1">
                          <a:solidFill>
                            <a:srgbClr val="6B4BA8"/>
                          </a:solidFill>
                          <a:latin typeface="Calibri"/>
                        </a:rPr>
                        <a:t>8</a:t>
                      </a:r>
                    </a:p>
                  </a:txBody>
                  <a:tcPr marL="91440" marR="91440" marT="36576" marB="36576" anchor="ctr">
                    <a:solidFill>
                      <a:srgbClr val="F6F9FD"/>
                    </a:solidFill>
                    <a:lnL w="0">
                      <a:noFill/>
                    </a:lnL>
                    <a:lnR w="0">
                      <a:noFill/>
                    </a:lnR>
                    <a:lnT w="0">
                      <a:noFill/>
                    </a:lnT>
                    <a:lnB w="6350" cap="flat">
                      <a:solidFill>
                        <a:srgbClr val="E2E9F1"/>
                      </a:solidFill>
                    </a:lnB>
                  </a:tcPr>
                </a:tc>
                <a:tc>
                  <a:txBody>
                    <a:bodyPr wrap="square"/>
                    <a:lstStyle/>
                    <a:p>
                      <a:pPr algn="l">
                        <a:spcAft>
                          <a:spcPts val="200"/>
                        </a:spcAft>
                      </a:pPr>
                      <a:r>
                        <a:rPr sz="1200" b="0">
                          <a:solidFill>
                            <a:srgbClr val="55677C"/>
                          </a:solidFill>
                          <a:latin typeface="Calibri"/>
                        </a:rPr>
                        <a:t>Naar Remco: waar is de opvang van de acute cardiologiepatiënt, op de SEH of op de EHH?</a:t>
                      </a:r>
                    </a:p>
                  </a:txBody>
                  <a:tcPr marL="91440" marR="91440" marT="36576" marB="36576" anchor="ctr">
                    <a:solidFill>
                      <a:srgbClr val="F6F9FD"/>
                    </a:solidFill>
                    <a:lnL w="0">
                      <a:noFill/>
                    </a:lnL>
                    <a:lnR w="0">
                      <a:noFill/>
                    </a:lnR>
                    <a:lnT w="0">
                      <a:noFill/>
                    </a:lnT>
                    <a:lnB w="6350" cap="flat">
                      <a:solidFill>
                        <a:srgbClr val="E2E9F1"/>
                      </a:solidFill>
                    </a:lnB>
                  </a:tcPr>
                </a:tc>
              </a:tr>
              <a:tr h="332232">
                <a:tc>
                  <a:txBody>
                    <a:bodyPr wrap="square"/>
                    <a:lstStyle/>
                    <a:p>
                      <a:pPr algn="ctr">
                        <a:spcAft>
                          <a:spcPts val="200"/>
                        </a:spcAft>
                      </a:pPr>
                      <a:r>
                        <a:rPr sz="1200" b="1">
                          <a:solidFill>
                            <a:srgbClr val="6B4BA8"/>
                          </a:solidFill>
                          <a:latin typeface="Calibri"/>
                        </a:rPr>
                        <a:t>9</a:t>
                      </a:r>
                    </a:p>
                  </a:txBody>
                  <a:tcPr marL="91440" marR="91440" marT="36576" marB="36576" anchor="ctr">
                    <a:solidFill>
                      <a:srgbClr val="FFFFFF"/>
                    </a:solidFill>
                    <a:lnL w="0">
                      <a:noFill/>
                    </a:lnL>
                    <a:lnR w="0">
                      <a:noFill/>
                    </a:lnR>
                    <a:lnT w="0">
                      <a:noFill/>
                    </a:lnT>
                    <a:lnB w="6350" cap="flat">
                      <a:solidFill>
                        <a:srgbClr val="E2E9F1"/>
                      </a:solidFill>
                    </a:lnB>
                  </a:tcPr>
                </a:tc>
                <a:tc>
                  <a:txBody>
                    <a:bodyPr wrap="square"/>
                    <a:lstStyle/>
                    <a:p>
                      <a:pPr algn="l">
                        <a:spcAft>
                          <a:spcPts val="200"/>
                        </a:spcAft>
                      </a:pPr>
                      <a:r>
                        <a:rPr sz="1200" b="0">
                          <a:solidFill>
                            <a:srgbClr val="55677C"/>
                          </a:solidFill>
                          <a:latin typeface="Calibri"/>
                        </a:rPr>
                        <a:t>Naar Remco: hoe lang blijft een patiënt op de SEH voordat die naar de EHH gaat?</a:t>
                      </a:r>
                    </a:p>
                  </a:txBody>
                  <a:tcPr marL="91440" marR="91440" marT="36576" marB="36576" anchor="ctr">
                    <a:solidFill>
                      <a:srgbClr val="FFFFFF"/>
                    </a:solidFill>
                    <a:lnL w="0">
                      <a:noFill/>
                    </a:lnL>
                    <a:lnR w="0">
                      <a:noFill/>
                    </a:lnR>
                    <a:lnT w="0">
                      <a:noFill/>
                    </a:lnT>
                    <a:lnB w="6350" cap="flat">
                      <a:solidFill>
                        <a:srgbClr val="E2E9F1"/>
                      </a:solidFill>
                    </a:lnB>
                  </a:tcPr>
                </a:tc>
              </a:tr>
              <a:tr h="332232">
                <a:tc>
                  <a:txBody>
                    <a:bodyPr wrap="square"/>
                    <a:lstStyle/>
                    <a:p>
                      <a:pPr algn="ctr">
                        <a:spcAft>
                          <a:spcPts val="200"/>
                        </a:spcAft>
                      </a:pPr>
                      <a:r>
                        <a:rPr sz="1200" b="1">
                          <a:solidFill>
                            <a:srgbClr val="6B4BA8"/>
                          </a:solidFill>
                          <a:latin typeface="Calibri"/>
                        </a:rPr>
                        <a:t>10</a:t>
                      </a:r>
                    </a:p>
                  </a:txBody>
                  <a:tcPr marL="91440" marR="91440" marT="36576" marB="36576" anchor="ctr">
                    <a:solidFill>
                      <a:srgbClr val="F6F9FD"/>
                    </a:solidFill>
                    <a:lnL w="0">
                      <a:noFill/>
                    </a:lnL>
                    <a:lnR w="0">
                      <a:noFill/>
                    </a:lnR>
                    <a:lnT w="0">
                      <a:noFill/>
                    </a:lnT>
                    <a:lnB w="6350" cap="flat">
                      <a:solidFill>
                        <a:srgbClr val="E2E9F1"/>
                      </a:solidFill>
                    </a:lnB>
                  </a:tcPr>
                </a:tc>
                <a:tc>
                  <a:txBody>
                    <a:bodyPr wrap="square"/>
                    <a:lstStyle/>
                    <a:p>
                      <a:pPr algn="l">
                        <a:spcAft>
                          <a:spcPts val="200"/>
                        </a:spcAft>
                      </a:pPr>
                      <a:r>
                        <a:rPr sz="1200" b="0">
                          <a:solidFill>
                            <a:srgbClr val="55677C"/>
                          </a:solidFill>
                          <a:latin typeface="Calibri"/>
                        </a:rPr>
                        <a:t>Masterplan Acuut: wat ontbreekt er nog voor de transitie? Voorstel: een jaarplan opstellen en dat naast het huidige plan leggen.</a:t>
                      </a:r>
                    </a:p>
                  </a:txBody>
                  <a:tcPr marL="91440" marR="91440" marT="36576" marB="36576" anchor="ctr">
                    <a:solidFill>
                      <a:srgbClr val="F6F9FD"/>
                    </a:solidFill>
                    <a:lnL w="0">
                      <a:noFill/>
                    </a:lnL>
                    <a:lnR w="0">
                      <a:noFill/>
                    </a:lnR>
                    <a:lnT w="0">
                      <a:noFill/>
                    </a:lnT>
                    <a:lnB w="6350" cap="flat">
                      <a:solidFill>
                        <a:srgbClr val="E2E9F1"/>
                      </a:solidFill>
                    </a:lnB>
                  </a:tcPr>
                </a:tc>
              </a:tr>
            </a:tbl>
          </a:graphicData>
        </a:graphic>
      </p:graphicFrame>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FFFFFF"/>
              </a:gs>
              <a:gs pos="100000">
                <a:srgbClr val="F1F6FC"/>
              </a:gs>
            </a:gsLst>
            <a:lin scaled="0" ang="189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640080" y="566928"/>
            <a:ext cx="10911535" cy="219456"/>
          </a:xfrm>
          <a:prstGeom prst="rect">
            <a:avLst/>
          </a:prstGeom>
          <a:noFill/>
        </p:spPr>
        <p:txBody>
          <a:bodyPr wrap="square" lIns="0" rIns="0" tIns="0" bIns="0" anchor="t">
            <a:spAutoFit/>
          </a:bodyPr>
          <a:lstStyle/>
          <a:p>
            <a:pPr algn="l">
              <a:lnSpc>
                <a:spcPct val="120000"/>
              </a:lnSpc>
              <a:spcAft>
                <a:spcPts val="0"/>
              </a:spcAft>
            </a:pPr>
            <a:r>
              <a:rPr sz="1050" b="1" spc="220">
                <a:solidFill>
                  <a:srgbClr val="C4392D"/>
                </a:solidFill>
                <a:latin typeface="Calibri"/>
              </a:rPr>
              <a:t>DEEL 04  ·  WAT MOET ER BESLOTEN WORDEN</a:t>
            </a:r>
          </a:p>
        </p:txBody>
      </p:sp>
      <p:sp>
        <p:nvSpPr>
          <p:cNvPr id="4" name="TextBox 3"/>
          <p:cNvSpPr txBox="1"/>
          <p:nvPr/>
        </p:nvSpPr>
        <p:spPr>
          <a:xfrm>
            <a:off x="640080" y="859536"/>
            <a:ext cx="10911535" cy="566928"/>
          </a:xfrm>
          <a:prstGeom prst="rect">
            <a:avLst/>
          </a:prstGeom>
          <a:noFill/>
        </p:spPr>
        <p:txBody>
          <a:bodyPr wrap="square" lIns="0" rIns="0" tIns="0" bIns="0" anchor="t">
            <a:spAutoFit/>
          </a:bodyPr>
          <a:lstStyle/>
          <a:p>
            <a:pPr algn="l">
              <a:lnSpc>
                <a:spcPct val="120000"/>
              </a:lnSpc>
              <a:spcAft>
                <a:spcPts val="0"/>
              </a:spcAft>
            </a:pPr>
            <a:r>
              <a:rPr sz="3400" b="1">
                <a:solidFill>
                  <a:srgbClr val="0D1B2A"/>
                </a:solidFill>
                <a:latin typeface="Calibri"/>
              </a:rPr>
              <a:t>Zes besluiten waar de rest op wacht</a:t>
            </a:r>
          </a:p>
        </p:txBody>
      </p:sp>
      <p:sp>
        <p:nvSpPr>
          <p:cNvPr id="5" name="TextBox 4"/>
          <p:cNvSpPr txBox="1"/>
          <p:nvPr/>
        </p:nvSpPr>
        <p:spPr>
          <a:xfrm>
            <a:off x="640080" y="1335024"/>
            <a:ext cx="8510997" cy="274320"/>
          </a:xfrm>
          <a:prstGeom prst="rect">
            <a:avLst/>
          </a:prstGeom>
          <a:noFill/>
        </p:spPr>
        <p:txBody>
          <a:bodyPr wrap="square" lIns="0" rIns="0" tIns="0" bIns="0" anchor="t">
            <a:spAutoFit/>
          </a:bodyPr>
          <a:lstStyle/>
          <a:p>
            <a:pPr algn="l">
              <a:lnSpc>
                <a:spcPct val="120000"/>
              </a:lnSpc>
              <a:spcAft>
                <a:spcPts val="0"/>
              </a:spcAft>
            </a:pPr>
            <a:r>
              <a:rPr sz="1300" b="0">
                <a:solidFill>
                  <a:srgbClr val="55677C"/>
                </a:solidFill>
                <a:latin typeface="Calibri"/>
              </a:rPr>
              <a:t>Drie ervan blokkeren de onderbouwing van de personele inzet</a:t>
            </a:r>
          </a:p>
        </p:txBody>
      </p:sp>
      <p:cxnSp>
        <p:nvCxnSpPr>
          <p:cNvPr id="6" name="Connector 5"/>
          <p:cNvCxnSpPr/>
          <p:nvPr/>
        </p:nvCxnSpPr>
        <p:spPr>
          <a:xfrm>
            <a:off x="640080" y="1609344"/>
            <a:ext cx="10911535" cy="0"/>
          </a:xfrm>
          <a:prstGeom prst="line">
            <a:avLst/>
          </a:prstGeom>
          <a:ln w="12700">
            <a:solidFill>
              <a:srgbClr val="E2E9F1"/>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640080" y="6291072"/>
            <a:ext cx="10911535" cy="0"/>
          </a:xfrm>
          <a:prstGeom prst="line">
            <a:avLst/>
          </a:prstGeom>
          <a:ln w="9525">
            <a:solidFill>
              <a:srgbClr val="E2E9F1"/>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40080" y="6382512"/>
            <a:ext cx="5486400" cy="237744"/>
          </a:xfrm>
          <a:prstGeom prst="rect">
            <a:avLst/>
          </a:prstGeom>
          <a:noFill/>
        </p:spPr>
        <p:txBody>
          <a:bodyPr wrap="square" lIns="0" rIns="0" tIns="0" bIns="0" anchor="t">
            <a:spAutoFit/>
          </a:bodyPr>
          <a:lstStyle/>
          <a:p>
            <a:pPr algn="l">
              <a:lnSpc>
                <a:spcPct val="120000"/>
              </a:lnSpc>
              <a:spcAft>
                <a:spcPts val="0"/>
              </a:spcAft>
            </a:pPr>
            <a:r>
              <a:rPr sz="900" b="0" spc="80">
                <a:solidFill>
                  <a:srgbClr val="8B9AAA"/>
                </a:solidFill>
                <a:latin typeface="Calibri"/>
              </a:rPr>
              <a:t>Acute poort en Hotfloor</a:t>
            </a:r>
          </a:p>
        </p:txBody>
      </p:sp>
      <p:sp>
        <p:nvSpPr>
          <p:cNvPr id="9" name="TextBox 8"/>
          <p:cNvSpPr txBox="1"/>
          <p:nvPr/>
        </p:nvSpPr>
        <p:spPr>
          <a:xfrm>
            <a:off x="10637215" y="6382512"/>
            <a:ext cx="914400" cy="237744"/>
          </a:xfrm>
          <a:prstGeom prst="rect">
            <a:avLst/>
          </a:prstGeom>
          <a:noFill/>
        </p:spPr>
        <p:txBody>
          <a:bodyPr wrap="square" lIns="0" rIns="0" tIns="0" bIns="0" anchor="t">
            <a:spAutoFit/>
          </a:bodyPr>
          <a:lstStyle/>
          <a:p>
            <a:pPr algn="r">
              <a:lnSpc>
                <a:spcPct val="120000"/>
              </a:lnSpc>
              <a:spcAft>
                <a:spcPts val="0"/>
              </a:spcAft>
            </a:pPr>
            <a:r>
              <a:rPr sz="950" b="1">
                <a:solidFill>
                  <a:srgbClr val="0E9A87"/>
                </a:solidFill>
                <a:latin typeface="Calibri"/>
              </a:rPr>
              <a:t>26</a:t>
            </a:r>
          </a:p>
        </p:txBody>
      </p:sp>
      <p:sp>
        <p:nvSpPr>
          <p:cNvPr id="10" name="Rounded Rectangle 9"/>
          <p:cNvSpPr/>
          <p:nvPr/>
        </p:nvSpPr>
        <p:spPr>
          <a:xfrm>
            <a:off x="640080" y="1755648"/>
            <a:ext cx="10911535" cy="585216"/>
          </a:xfrm>
          <a:prstGeom prst="roundRect">
            <a:avLst>
              <a:gd name="adj" fmla="val 3000"/>
            </a:avLst>
          </a:prstGeom>
          <a:solidFill>
            <a:srgbClr val="FFFFFF"/>
          </a:solidFill>
          <a:ln w="12700">
            <a:solidFill>
              <a:srgbClr val="E2E9F1"/>
            </a:solidFill>
          </a:ln>
          <a:effectLst>
            <a:outerShdw blurRad="70000" dist="22000" dir="5400000" rotWithShape="0">
              <a:srgbClr val="1B3A5C">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ounded Rectangle 10"/>
          <p:cNvSpPr/>
          <p:nvPr/>
        </p:nvSpPr>
        <p:spPr>
          <a:xfrm>
            <a:off x="640080" y="1755648"/>
            <a:ext cx="45720" cy="585216"/>
          </a:xfrm>
          <a:prstGeom prst="roundRect">
            <a:avLst>
              <a:gd name="adj" fmla="val 50000"/>
            </a:avLst>
          </a:prstGeom>
          <a:solidFill>
            <a:srgbClr val="C439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Oval 11"/>
          <p:cNvSpPr/>
          <p:nvPr/>
        </p:nvSpPr>
        <p:spPr>
          <a:xfrm>
            <a:off x="850392" y="1856232"/>
            <a:ext cx="384048" cy="384048"/>
          </a:xfrm>
          <a:prstGeom prst="ellipse">
            <a:avLst/>
          </a:prstGeom>
          <a:solidFill>
            <a:srgbClr val="C4392D">
              <a:alpha val="10000"/>
            </a:srgbClr>
          </a:solidFill>
          <a:ln w="15875">
            <a:solidFill>
              <a:srgbClr val="C4392D"/>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C4392D"/>
                </a:solidFill>
                <a:latin typeface="Calibri"/>
              </a:rPr>
              <a:t>1</a:t>
            </a:r>
          </a:p>
        </p:txBody>
      </p:sp>
      <p:sp>
        <p:nvSpPr>
          <p:cNvPr id="13" name="TextBox 12"/>
          <p:cNvSpPr txBox="1"/>
          <p:nvPr/>
        </p:nvSpPr>
        <p:spPr>
          <a:xfrm>
            <a:off x="1371600" y="1801368"/>
            <a:ext cx="5852160" cy="493776"/>
          </a:xfrm>
          <a:prstGeom prst="rect">
            <a:avLst/>
          </a:prstGeom>
          <a:noFill/>
        </p:spPr>
        <p:txBody>
          <a:bodyPr wrap="square" lIns="0" rIns="0" tIns="0" bIns="0" anchor="ctr">
            <a:spAutoFit/>
          </a:bodyPr>
          <a:lstStyle/>
          <a:p>
            <a:pPr algn="l">
              <a:lnSpc>
                <a:spcPct val="120000"/>
              </a:lnSpc>
              <a:spcAft>
                <a:spcPts val="100"/>
              </a:spcAft>
            </a:pPr>
            <a:r>
              <a:rPr sz="1350" b="1">
                <a:solidFill>
                  <a:srgbClr val="0D1B2A"/>
                </a:solidFill>
                <a:latin typeface="Calibri"/>
              </a:rPr>
              <a:t>Waar valt de EHH onder?</a:t>
            </a:r>
          </a:p>
          <a:p>
            <a:pPr algn="l">
              <a:lnSpc>
                <a:spcPct val="120000"/>
              </a:lnSpc>
              <a:spcAft>
                <a:spcPts val="0"/>
              </a:spcAft>
            </a:pPr>
            <a:r>
              <a:rPr sz="1000" b="0">
                <a:solidFill>
                  <a:srgbClr val="8B9AAA"/>
                </a:solidFill>
                <a:latin typeface="Calibri"/>
              </a:rPr>
              <a:t>blokkeert beide analyses en de personele inzet</a:t>
            </a:r>
          </a:p>
        </p:txBody>
      </p:sp>
      <p:sp>
        <p:nvSpPr>
          <p:cNvPr id="14" name="TextBox 13"/>
          <p:cNvSpPr txBox="1"/>
          <p:nvPr/>
        </p:nvSpPr>
        <p:spPr>
          <a:xfrm>
            <a:off x="7315200" y="1801368"/>
            <a:ext cx="1920240" cy="493776"/>
          </a:xfrm>
          <a:prstGeom prst="rect">
            <a:avLst/>
          </a:prstGeom>
          <a:noFill/>
        </p:spPr>
        <p:txBody>
          <a:bodyPr wrap="square" lIns="0" rIns="0" tIns="0" bIns="0" anchor="ctr">
            <a:spAutoFit/>
          </a:bodyPr>
          <a:lstStyle/>
          <a:p>
            <a:pPr algn="l">
              <a:lnSpc>
                <a:spcPct val="120000"/>
              </a:lnSpc>
              <a:spcAft>
                <a:spcPts val="0"/>
              </a:spcAft>
            </a:pPr>
            <a:r>
              <a:rPr sz="1050" b="0">
                <a:solidFill>
                  <a:srgbClr val="55677C"/>
                </a:solidFill>
                <a:latin typeface="Calibri"/>
              </a:rPr>
              <a:t>acute poort of Hotfloor</a:t>
            </a:r>
          </a:p>
        </p:txBody>
      </p:sp>
      <p:sp>
        <p:nvSpPr>
          <p:cNvPr id="15" name="Rounded Rectangle 14"/>
          <p:cNvSpPr/>
          <p:nvPr/>
        </p:nvSpPr>
        <p:spPr>
          <a:xfrm>
            <a:off x="9326880" y="1901952"/>
            <a:ext cx="1225296" cy="292608"/>
          </a:xfrm>
          <a:prstGeom prst="roundRect">
            <a:avLst>
              <a:gd name="adj" fmla="val 50000"/>
            </a:avLst>
          </a:prstGeom>
          <a:solidFill>
            <a:srgbClr val="C4392D">
              <a:alpha val="11000"/>
            </a:srgbClr>
          </a:solidFill>
          <a:ln w="12700">
            <a:solidFill>
              <a:srgbClr val="DA9894"/>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ctr"/>
            <a:r>
              <a:rPr sz="1000" b="1">
                <a:solidFill>
                  <a:srgbClr val="C4392D"/>
                </a:solidFill>
                <a:latin typeface="Calibri"/>
              </a:rPr>
              <a:t>blokkerend</a:t>
            </a:r>
          </a:p>
        </p:txBody>
      </p:sp>
      <p:sp>
        <p:nvSpPr>
          <p:cNvPr id="16" name="TextBox 15"/>
          <p:cNvSpPr txBox="1"/>
          <p:nvPr/>
        </p:nvSpPr>
        <p:spPr>
          <a:xfrm>
            <a:off x="10362895" y="1801368"/>
            <a:ext cx="1133856" cy="493776"/>
          </a:xfrm>
          <a:prstGeom prst="rect">
            <a:avLst/>
          </a:prstGeom>
          <a:noFill/>
        </p:spPr>
        <p:txBody>
          <a:bodyPr wrap="square" lIns="0" rIns="0" tIns="0" bIns="0" anchor="ctr">
            <a:spAutoFit/>
          </a:bodyPr>
          <a:lstStyle/>
          <a:p>
            <a:pPr algn="r">
              <a:lnSpc>
                <a:spcPct val="120000"/>
              </a:lnSpc>
              <a:spcAft>
                <a:spcPts val="0"/>
              </a:spcAft>
            </a:pPr>
            <a:r>
              <a:rPr sz="1000" b="0">
                <a:solidFill>
                  <a:srgbClr val="8B9AAA"/>
                </a:solidFill>
                <a:latin typeface="Calibri"/>
              </a:rPr>
              <a:t>dia 17</a:t>
            </a:r>
          </a:p>
        </p:txBody>
      </p:sp>
      <p:sp>
        <p:nvSpPr>
          <p:cNvPr id="17" name="Rounded Rectangle 16"/>
          <p:cNvSpPr/>
          <p:nvPr/>
        </p:nvSpPr>
        <p:spPr>
          <a:xfrm>
            <a:off x="640080" y="2450592"/>
            <a:ext cx="10911535" cy="585216"/>
          </a:xfrm>
          <a:prstGeom prst="roundRect">
            <a:avLst>
              <a:gd name="adj" fmla="val 3000"/>
            </a:avLst>
          </a:prstGeom>
          <a:solidFill>
            <a:srgbClr val="FFFFFF"/>
          </a:solidFill>
          <a:ln w="12700">
            <a:solidFill>
              <a:srgbClr val="E2E9F1"/>
            </a:solidFill>
          </a:ln>
          <a:effectLst>
            <a:outerShdw blurRad="70000" dist="22000" dir="5400000" rotWithShape="0">
              <a:srgbClr val="1B3A5C">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ounded Rectangle 17"/>
          <p:cNvSpPr/>
          <p:nvPr/>
        </p:nvSpPr>
        <p:spPr>
          <a:xfrm>
            <a:off x="640080" y="2450592"/>
            <a:ext cx="45720" cy="585216"/>
          </a:xfrm>
          <a:prstGeom prst="roundRect">
            <a:avLst>
              <a:gd name="adj" fmla="val 50000"/>
            </a:avLst>
          </a:prstGeom>
          <a:solidFill>
            <a:srgbClr val="C439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850392" y="2551176"/>
            <a:ext cx="384048" cy="384048"/>
          </a:xfrm>
          <a:prstGeom prst="ellipse">
            <a:avLst/>
          </a:prstGeom>
          <a:solidFill>
            <a:srgbClr val="C4392D">
              <a:alpha val="10000"/>
            </a:srgbClr>
          </a:solidFill>
          <a:ln w="15875">
            <a:solidFill>
              <a:srgbClr val="C4392D"/>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C4392D"/>
                </a:solidFill>
                <a:latin typeface="Calibri"/>
              </a:rPr>
              <a:t>2</a:t>
            </a:r>
          </a:p>
        </p:txBody>
      </p:sp>
      <p:sp>
        <p:nvSpPr>
          <p:cNvPr id="20" name="TextBox 19"/>
          <p:cNvSpPr txBox="1"/>
          <p:nvPr/>
        </p:nvSpPr>
        <p:spPr>
          <a:xfrm>
            <a:off x="1371600" y="2496312"/>
            <a:ext cx="5852160" cy="493776"/>
          </a:xfrm>
          <a:prstGeom prst="rect">
            <a:avLst/>
          </a:prstGeom>
          <a:noFill/>
        </p:spPr>
        <p:txBody>
          <a:bodyPr wrap="square" lIns="0" rIns="0" tIns="0" bIns="0" anchor="ctr">
            <a:spAutoFit/>
          </a:bodyPr>
          <a:lstStyle/>
          <a:p>
            <a:pPr algn="l">
              <a:lnSpc>
                <a:spcPct val="120000"/>
              </a:lnSpc>
              <a:spcAft>
                <a:spcPts val="100"/>
              </a:spcAft>
            </a:pPr>
            <a:r>
              <a:rPr sz="1350" b="1">
                <a:solidFill>
                  <a:srgbClr val="0D1B2A"/>
                </a:solidFill>
                <a:latin typeface="Calibri"/>
              </a:rPr>
              <a:t>Hoeveel plekken krijgt de acute poort?</a:t>
            </a:r>
          </a:p>
          <a:p>
            <a:pPr algn="l">
              <a:lnSpc>
                <a:spcPct val="120000"/>
              </a:lnSpc>
              <a:spcAft>
                <a:spcPts val="0"/>
              </a:spcAft>
            </a:pPr>
            <a:r>
              <a:rPr sz="1000" b="0">
                <a:solidFill>
                  <a:srgbClr val="8B9AAA"/>
                </a:solidFill>
                <a:latin typeface="Calibri"/>
              </a:rPr>
              <a:t>de analyse zegt nu: drie stromen passen niet achter een poort</a:t>
            </a:r>
          </a:p>
        </p:txBody>
      </p:sp>
      <p:sp>
        <p:nvSpPr>
          <p:cNvPr id="21" name="TextBox 20"/>
          <p:cNvSpPr txBox="1"/>
          <p:nvPr/>
        </p:nvSpPr>
        <p:spPr>
          <a:xfrm>
            <a:off x="7315200" y="2496312"/>
            <a:ext cx="1920240" cy="493776"/>
          </a:xfrm>
          <a:prstGeom prst="rect">
            <a:avLst/>
          </a:prstGeom>
          <a:noFill/>
        </p:spPr>
        <p:txBody>
          <a:bodyPr wrap="square" lIns="0" rIns="0" tIns="0" bIns="0" anchor="ctr">
            <a:spAutoFit/>
          </a:bodyPr>
          <a:lstStyle/>
          <a:p>
            <a:pPr algn="l">
              <a:lnSpc>
                <a:spcPct val="120000"/>
              </a:lnSpc>
              <a:spcAft>
                <a:spcPts val="0"/>
              </a:spcAft>
            </a:pPr>
            <a:r>
              <a:rPr sz="1050" b="0">
                <a:solidFill>
                  <a:srgbClr val="55677C"/>
                </a:solidFill>
                <a:latin typeface="Calibri"/>
              </a:rPr>
              <a:t>kind, EHH en SEH samen</a:t>
            </a:r>
          </a:p>
        </p:txBody>
      </p:sp>
      <p:sp>
        <p:nvSpPr>
          <p:cNvPr id="22" name="Rounded Rectangle 21"/>
          <p:cNvSpPr/>
          <p:nvPr/>
        </p:nvSpPr>
        <p:spPr>
          <a:xfrm>
            <a:off x="9326880" y="2596896"/>
            <a:ext cx="1225296" cy="292608"/>
          </a:xfrm>
          <a:prstGeom prst="roundRect">
            <a:avLst>
              <a:gd name="adj" fmla="val 50000"/>
            </a:avLst>
          </a:prstGeom>
          <a:solidFill>
            <a:srgbClr val="C4392D">
              <a:alpha val="11000"/>
            </a:srgbClr>
          </a:solidFill>
          <a:ln w="12700">
            <a:solidFill>
              <a:srgbClr val="DA9894"/>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ctr"/>
            <a:r>
              <a:rPr sz="1000" b="1">
                <a:solidFill>
                  <a:srgbClr val="C4392D"/>
                </a:solidFill>
                <a:latin typeface="Calibri"/>
              </a:rPr>
              <a:t>blokkerend</a:t>
            </a:r>
          </a:p>
        </p:txBody>
      </p:sp>
      <p:sp>
        <p:nvSpPr>
          <p:cNvPr id="23" name="TextBox 22"/>
          <p:cNvSpPr txBox="1"/>
          <p:nvPr/>
        </p:nvSpPr>
        <p:spPr>
          <a:xfrm>
            <a:off x="10362895" y="2496312"/>
            <a:ext cx="1133856" cy="493776"/>
          </a:xfrm>
          <a:prstGeom prst="rect">
            <a:avLst/>
          </a:prstGeom>
          <a:noFill/>
        </p:spPr>
        <p:txBody>
          <a:bodyPr wrap="square" lIns="0" rIns="0" tIns="0" bIns="0" anchor="ctr">
            <a:spAutoFit/>
          </a:bodyPr>
          <a:lstStyle/>
          <a:p>
            <a:pPr algn="r">
              <a:lnSpc>
                <a:spcPct val="120000"/>
              </a:lnSpc>
              <a:spcAft>
                <a:spcPts val="0"/>
              </a:spcAft>
            </a:pPr>
            <a:r>
              <a:rPr sz="1000" b="0">
                <a:solidFill>
                  <a:srgbClr val="8B9AAA"/>
                </a:solidFill>
                <a:latin typeface="Calibri"/>
              </a:rPr>
              <a:t>dia 15</a:t>
            </a:r>
          </a:p>
        </p:txBody>
      </p:sp>
      <p:sp>
        <p:nvSpPr>
          <p:cNvPr id="24" name="Rounded Rectangle 23"/>
          <p:cNvSpPr/>
          <p:nvPr/>
        </p:nvSpPr>
        <p:spPr>
          <a:xfrm>
            <a:off x="640080" y="3145536"/>
            <a:ext cx="10911535" cy="585216"/>
          </a:xfrm>
          <a:prstGeom prst="roundRect">
            <a:avLst>
              <a:gd name="adj" fmla="val 3000"/>
            </a:avLst>
          </a:prstGeom>
          <a:solidFill>
            <a:srgbClr val="FFFFFF"/>
          </a:solidFill>
          <a:ln w="12700">
            <a:solidFill>
              <a:srgbClr val="E2E9F1"/>
            </a:solidFill>
          </a:ln>
          <a:effectLst>
            <a:outerShdw blurRad="70000" dist="22000" dir="5400000" rotWithShape="0">
              <a:srgbClr val="1B3A5C">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640080" y="3145536"/>
            <a:ext cx="45720" cy="585216"/>
          </a:xfrm>
          <a:prstGeom prst="roundRect">
            <a:avLst>
              <a:gd name="adj" fmla="val 50000"/>
            </a:avLst>
          </a:prstGeom>
          <a:solidFill>
            <a:srgbClr val="C439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850392" y="3246120"/>
            <a:ext cx="384048" cy="384048"/>
          </a:xfrm>
          <a:prstGeom prst="ellipse">
            <a:avLst/>
          </a:prstGeom>
          <a:solidFill>
            <a:srgbClr val="C4392D">
              <a:alpha val="10000"/>
            </a:srgbClr>
          </a:solidFill>
          <a:ln w="15875">
            <a:solidFill>
              <a:srgbClr val="C4392D"/>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C4392D"/>
                </a:solidFill>
                <a:latin typeface="Calibri"/>
              </a:rPr>
              <a:t>3</a:t>
            </a:r>
          </a:p>
        </p:txBody>
      </p:sp>
      <p:sp>
        <p:nvSpPr>
          <p:cNvPr id="27" name="TextBox 26"/>
          <p:cNvSpPr txBox="1"/>
          <p:nvPr/>
        </p:nvSpPr>
        <p:spPr>
          <a:xfrm>
            <a:off x="1371600" y="3191256"/>
            <a:ext cx="5852160" cy="493776"/>
          </a:xfrm>
          <a:prstGeom prst="rect">
            <a:avLst/>
          </a:prstGeom>
          <a:noFill/>
        </p:spPr>
        <p:txBody>
          <a:bodyPr wrap="square" lIns="0" rIns="0" tIns="0" bIns="0" anchor="ctr">
            <a:spAutoFit/>
          </a:bodyPr>
          <a:lstStyle/>
          <a:p>
            <a:pPr algn="l">
              <a:lnSpc>
                <a:spcPct val="120000"/>
              </a:lnSpc>
              <a:spcAft>
                <a:spcPts val="100"/>
              </a:spcAft>
            </a:pPr>
            <a:r>
              <a:rPr sz="1350" b="1">
                <a:solidFill>
                  <a:srgbClr val="0D1B2A"/>
                </a:solidFill>
                <a:latin typeface="Calibri"/>
              </a:rPr>
              <a:t>Wie stelt de norm verpleegkundigen vast?</a:t>
            </a:r>
          </a:p>
          <a:p>
            <a:pPr algn="l">
              <a:lnSpc>
                <a:spcPct val="120000"/>
              </a:lnSpc>
              <a:spcAft>
                <a:spcPts val="0"/>
              </a:spcAft>
            </a:pPr>
            <a:r>
              <a:rPr sz="1000" b="0">
                <a:solidFill>
                  <a:srgbClr val="8B9AAA"/>
                </a:solidFill>
                <a:latin typeface="Calibri"/>
              </a:rPr>
              <a:t>geen enkele afdeling heeft een vastgestelde norm</a:t>
            </a:r>
          </a:p>
        </p:txBody>
      </p:sp>
      <p:sp>
        <p:nvSpPr>
          <p:cNvPr id="28" name="TextBox 27"/>
          <p:cNvSpPr txBox="1"/>
          <p:nvPr/>
        </p:nvSpPr>
        <p:spPr>
          <a:xfrm>
            <a:off x="7315200" y="3191256"/>
            <a:ext cx="1920240" cy="493776"/>
          </a:xfrm>
          <a:prstGeom prst="rect">
            <a:avLst/>
          </a:prstGeom>
          <a:noFill/>
        </p:spPr>
        <p:txBody>
          <a:bodyPr wrap="square" lIns="0" rIns="0" tIns="0" bIns="0" anchor="ctr">
            <a:spAutoFit/>
          </a:bodyPr>
          <a:lstStyle/>
          <a:p>
            <a:pPr algn="l">
              <a:lnSpc>
                <a:spcPct val="120000"/>
              </a:lnSpc>
              <a:spcAft>
                <a:spcPts val="0"/>
              </a:spcAft>
            </a:pPr>
            <a:r>
              <a:rPr sz="1050" b="0">
                <a:solidFill>
                  <a:srgbClr val="55677C"/>
                </a:solidFill>
                <a:latin typeface="Calibri"/>
              </a:rPr>
              <a:t>Remco, of wij met een voorstel</a:t>
            </a:r>
          </a:p>
        </p:txBody>
      </p:sp>
      <p:sp>
        <p:nvSpPr>
          <p:cNvPr id="29" name="Rounded Rectangle 28"/>
          <p:cNvSpPr/>
          <p:nvPr/>
        </p:nvSpPr>
        <p:spPr>
          <a:xfrm>
            <a:off x="9326880" y="3291840"/>
            <a:ext cx="1225296" cy="292608"/>
          </a:xfrm>
          <a:prstGeom prst="roundRect">
            <a:avLst>
              <a:gd name="adj" fmla="val 50000"/>
            </a:avLst>
          </a:prstGeom>
          <a:solidFill>
            <a:srgbClr val="C4392D">
              <a:alpha val="11000"/>
            </a:srgbClr>
          </a:solidFill>
          <a:ln w="12700">
            <a:solidFill>
              <a:srgbClr val="DA9894"/>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ctr"/>
            <a:r>
              <a:rPr sz="1000" b="1">
                <a:solidFill>
                  <a:srgbClr val="C4392D"/>
                </a:solidFill>
                <a:latin typeface="Calibri"/>
              </a:rPr>
              <a:t>blokkerend</a:t>
            </a:r>
          </a:p>
        </p:txBody>
      </p:sp>
      <p:sp>
        <p:nvSpPr>
          <p:cNvPr id="30" name="TextBox 29"/>
          <p:cNvSpPr txBox="1"/>
          <p:nvPr/>
        </p:nvSpPr>
        <p:spPr>
          <a:xfrm>
            <a:off x="10362895" y="3191256"/>
            <a:ext cx="1133856" cy="493776"/>
          </a:xfrm>
          <a:prstGeom prst="rect">
            <a:avLst/>
          </a:prstGeom>
          <a:noFill/>
        </p:spPr>
        <p:txBody>
          <a:bodyPr wrap="square" lIns="0" rIns="0" tIns="0" bIns="0" anchor="ctr">
            <a:spAutoFit/>
          </a:bodyPr>
          <a:lstStyle/>
          <a:p>
            <a:pPr algn="r">
              <a:lnSpc>
                <a:spcPct val="120000"/>
              </a:lnSpc>
              <a:spcAft>
                <a:spcPts val="0"/>
              </a:spcAft>
            </a:pPr>
            <a:r>
              <a:rPr sz="1000" b="0">
                <a:solidFill>
                  <a:srgbClr val="8B9AAA"/>
                </a:solidFill>
                <a:latin typeface="Calibri"/>
              </a:rPr>
              <a:t>dia 3 en 7</a:t>
            </a:r>
          </a:p>
        </p:txBody>
      </p:sp>
      <p:sp>
        <p:nvSpPr>
          <p:cNvPr id="31" name="Rounded Rectangle 30"/>
          <p:cNvSpPr/>
          <p:nvPr/>
        </p:nvSpPr>
        <p:spPr>
          <a:xfrm>
            <a:off x="640080" y="3840480"/>
            <a:ext cx="10911535" cy="585216"/>
          </a:xfrm>
          <a:prstGeom prst="roundRect">
            <a:avLst>
              <a:gd name="adj" fmla="val 3000"/>
            </a:avLst>
          </a:prstGeom>
          <a:solidFill>
            <a:srgbClr val="FFFFFF"/>
          </a:solidFill>
          <a:ln w="12700">
            <a:solidFill>
              <a:srgbClr val="E2E9F1"/>
            </a:solidFill>
          </a:ln>
          <a:effectLst>
            <a:outerShdw blurRad="70000" dist="22000" dir="5400000" rotWithShape="0">
              <a:srgbClr val="1B3A5C">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ounded Rectangle 31"/>
          <p:cNvSpPr/>
          <p:nvPr/>
        </p:nvSpPr>
        <p:spPr>
          <a:xfrm>
            <a:off x="640080" y="3840480"/>
            <a:ext cx="45720" cy="585216"/>
          </a:xfrm>
          <a:prstGeom prst="roundRect">
            <a:avLst>
              <a:gd name="adj" fmla="val 50000"/>
            </a:avLst>
          </a:prstGeom>
          <a:solidFill>
            <a:srgbClr val="C87E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850392" y="3941064"/>
            <a:ext cx="384048" cy="384048"/>
          </a:xfrm>
          <a:prstGeom prst="ellipse">
            <a:avLst/>
          </a:prstGeom>
          <a:solidFill>
            <a:srgbClr val="C87E12">
              <a:alpha val="10000"/>
            </a:srgbClr>
          </a:solidFill>
          <a:ln w="15875">
            <a:solidFill>
              <a:srgbClr val="C87E12"/>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C87E12"/>
                </a:solidFill>
                <a:latin typeface="Calibri"/>
              </a:rPr>
              <a:t>4</a:t>
            </a:r>
          </a:p>
        </p:txBody>
      </p:sp>
      <p:sp>
        <p:nvSpPr>
          <p:cNvPr id="34" name="TextBox 33"/>
          <p:cNvSpPr txBox="1"/>
          <p:nvPr/>
        </p:nvSpPr>
        <p:spPr>
          <a:xfrm>
            <a:off x="1371600" y="3886200"/>
            <a:ext cx="5852160" cy="493776"/>
          </a:xfrm>
          <a:prstGeom prst="rect">
            <a:avLst/>
          </a:prstGeom>
          <a:noFill/>
        </p:spPr>
        <p:txBody>
          <a:bodyPr wrap="square" lIns="0" rIns="0" tIns="0" bIns="0" anchor="ctr">
            <a:spAutoFit/>
          </a:bodyPr>
          <a:lstStyle/>
          <a:p>
            <a:pPr algn="l">
              <a:lnSpc>
                <a:spcPct val="120000"/>
              </a:lnSpc>
              <a:spcAft>
                <a:spcPts val="100"/>
              </a:spcAft>
            </a:pPr>
            <a:r>
              <a:rPr sz="1350" b="1">
                <a:solidFill>
                  <a:srgbClr val="0D1B2A"/>
                </a:solidFill>
                <a:latin typeface="Calibri"/>
              </a:rPr>
              <a:t>Welk scenario kiezen we?</a:t>
            </a:r>
          </a:p>
          <a:p>
            <a:pPr algn="l">
              <a:lnSpc>
                <a:spcPct val="120000"/>
              </a:lnSpc>
              <a:spcAft>
                <a:spcPts val="0"/>
              </a:spcAft>
            </a:pPr>
            <a:r>
              <a:rPr sz="1000" b="0">
                <a:solidFill>
                  <a:srgbClr val="8B9AAA"/>
                </a:solidFill>
                <a:latin typeface="Calibri"/>
              </a:rPr>
              <a:t>de keuze gebeurt op basis van BIC-data; tot die tijd staat het rooster stil</a:t>
            </a:r>
          </a:p>
        </p:txBody>
      </p:sp>
      <p:sp>
        <p:nvSpPr>
          <p:cNvPr id="35" name="TextBox 34"/>
          <p:cNvSpPr txBox="1"/>
          <p:nvPr/>
        </p:nvSpPr>
        <p:spPr>
          <a:xfrm>
            <a:off x="7315200" y="3886200"/>
            <a:ext cx="1920240" cy="493776"/>
          </a:xfrm>
          <a:prstGeom prst="rect">
            <a:avLst/>
          </a:prstGeom>
          <a:noFill/>
        </p:spPr>
        <p:txBody>
          <a:bodyPr wrap="square" lIns="0" rIns="0" tIns="0" bIns="0" anchor="ctr">
            <a:spAutoFit/>
          </a:bodyPr>
          <a:lstStyle/>
          <a:p>
            <a:pPr algn="l">
              <a:lnSpc>
                <a:spcPct val="120000"/>
              </a:lnSpc>
              <a:spcAft>
                <a:spcPts val="0"/>
              </a:spcAft>
            </a:pPr>
            <a:r>
              <a:rPr sz="1050" b="0">
                <a:solidFill>
                  <a:srgbClr val="55677C"/>
                </a:solidFill>
                <a:latin typeface="Calibri"/>
              </a:rPr>
              <a:t>vijf varianten liggen er</a:t>
            </a:r>
          </a:p>
        </p:txBody>
      </p:sp>
      <p:sp>
        <p:nvSpPr>
          <p:cNvPr id="36" name="Rounded Rectangle 35"/>
          <p:cNvSpPr/>
          <p:nvPr/>
        </p:nvSpPr>
        <p:spPr>
          <a:xfrm>
            <a:off x="9326880" y="3986784"/>
            <a:ext cx="1225296" cy="292608"/>
          </a:xfrm>
          <a:prstGeom prst="roundRect">
            <a:avLst>
              <a:gd name="adj" fmla="val 50000"/>
            </a:avLst>
          </a:prstGeom>
          <a:solidFill>
            <a:srgbClr val="C87E12">
              <a:alpha val="11000"/>
            </a:srgbClr>
          </a:solidFill>
          <a:ln w="12700">
            <a:solidFill>
              <a:srgbClr val="DCBA87"/>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ctr"/>
            <a:r>
              <a:rPr sz="1000" b="1">
                <a:solidFill>
                  <a:srgbClr val="C87E12"/>
                </a:solidFill>
                <a:latin typeface="Calibri"/>
              </a:rPr>
              <a:t>urgent</a:t>
            </a:r>
          </a:p>
        </p:txBody>
      </p:sp>
      <p:sp>
        <p:nvSpPr>
          <p:cNvPr id="37" name="TextBox 36"/>
          <p:cNvSpPr txBox="1"/>
          <p:nvPr/>
        </p:nvSpPr>
        <p:spPr>
          <a:xfrm>
            <a:off x="10362895" y="3886200"/>
            <a:ext cx="1133856" cy="493776"/>
          </a:xfrm>
          <a:prstGeom prst="rect">
            <a:avLst/>
          </a:prstGeom>
          <a:noFill/>
        </p:spPr>
        <p:txBody>
          <a:bodyPr wrap="square" lIns="0" rIns="0" tIns="0" bIns="0" anchor="ctr">
            <a:spAutoFit/>
          </a:bodyPr>
          <a:lstStyle/>
          <a:p>
            <a:pPr algn="r">
              <a:lnSpc>
                <a:spcPct val="120000"/>
              </a:lnSpc>
              <a:spcAft>
                <a:spcPts val="0"/>
              </a:spcAft>
            </a:pPr>
            <a:r>
              <a:rPr sz="1000" b="0">
                <a:solidFill>
                  <a:srgbClr val="8B9AAA"/>
                </a:solidFill>
                <a:latin typeface="Calibri"/>
              </a:rPr>
              <a:t>dia 12</a:t>
            </a:r>
          </a:p>
        </p:txBody>
      </p:sp>
      <p:sp>
        <p:nvSpPr>
          <p:cNvPr id="38" name="Rounded Rectangle 37"/>
          <p:cNvSpPr/>
          <p:nvPr/>
        </p:nvSpPr>
        <p:spPr>
          <a:xfrm>
            <a:off x="640080" y="4535424"/>
            <a:ext cx="10911535" cy="585216"/>
          </a:xfrm>
          <a:prstGeom prst="roundRect">
            <a:avLst>
              <a:gd name="adj" fmla="val 3000"/>
            </a:avLst>
          </a:prstGeom>
          <a:solidFill>
            <a:srgbClr val="FFFFFF"/>
          </a:solidFill>
          <a:ln w="12700">
            <a:solidFill>
              <a:srgbClr val="E2E9F1"/>
            </a:solidFill>
          </a:ln>
          <a:effectLst>
            <a:outerShdw blurRad="70000" dist="22000" dir="5400000" rotWithShape="0">
              <a:srgbClr val="1B3A5C">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Rounded Rectangle 38"/>
          <p:cNvSpPr/>
          <p:nvPr/>
        </p:nvSpPr>
        <p:spPr>
          <a:xfrm>
            <a:off x="640080" y="4535424"/>
            <a:ext cx="45720" cy="585216"/>
          </a:xfrm>
          <a:prstGeom prst="roundRect">
            <a:avLst>
              <a:gd name="adj" fmla="val 50000"/>
            </a:avLst>
          </a:prstGeom>
          <a:solidFill>
            <a:srgbClr val="C87E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Oval 39"/>
          <p:cNvSpPr/>
          <p:nvPr/>
        </p:nvSpPr>
        <p:spPr>
          <a:xfrm>
            <a:off x="850392" y="4636008"/>
            <a:ext cx="384048" cy="384048"/>
          </a:xfrm>
          <a:prstGeom prst="ellipse">
            <a:avLst/>
          </a:prstGeom>
          <a:solidFill>
            <a:srgbClr val="C87E12">
              <a:alpha val="10000"/>
            </a:srgbClr>
          </a:solidFill>
          <a:ln w="15875">
            <a:solidFill>
              <a:srgbClr val="C87E12"/>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C87E12"/>
                </a:solidFill>
                <a:latin typeface="Calibri"/>
              </a:rPr>
              <a:t>5</a:t>
            </a:r>
          </a:p>
        </p:txBody>
      </p:sp>
      <p:sp>
        <p:nvSpPr>
          <p:cNvPr id="41" name="TextBox 40"/>
          <p:cNvSpPr txBox="1"/>
          <p:nvPr/>
        </p:nvSpPr>
        <p:spPr>
          <a:xfrm>
            <a:off x="1371600" y="4581144"/>
            <a:ext cx="5852160" cy="493776"/>
          </a:xfrm>
          <a:prstGeom prst="rect">
            <a:avLst/>
          </a:prstGeom>
          <a:noFill/>
        </p:spPr>
        <p:txBody>
          <a:bodyPr wrap="square" lIns="0" rIns="0" tIns="0" bIns="0" anchor="ctr">
            <a:spAutoFit/>
          </a:bodyPr>
          <a:lstStyle/>
          <a:p>
            <a:pPr algn="l">
              <a:lnSpc>
                <a:spcPct val="120000"/>
              </a:lnSpc>
              <a:spcAft>
                <a:spcPts val="100"/>
              </a:spcAft>
            </a:pPr>
            <a:r>
              <a:rPr sz="1350" b="1">
                <a:solidFill>
                  <a:srgbClr val="0D1B2A"/>
                </a:solidFill>
                <a:latin typeface="Calibri"/>
              </a:rPr>
              <a:t>Wat is de weigerkans bij 16 bedden?</a:t>
            </a:r>
          </a:p>
          <a:p>
            <a:pPr algn="l">
              <a:lnSpc>
                <a:spcPct val="120000"/>
              </a:lnSpc>
              <a:spcAft>
                <a:spcPts val="0"/>
              </a:spcAft>
            </a:pPr>
            <a:r>
              <a:rPr sz="1000" b="0">
                <a:solidFill>
                  <a:srgbClr val="8B9AAA"/>
                </a:solidFill>
                <a:latin typeface="Calibri"/>
              </a:rPr>
              <a:t>de Hotfloor past wel, maar het risico is niet becijferd</a:t>
            </a:r>
          </a:p>
        </p:txBody>
      </p:sp>
      <p:sp>
        <p:nvSpPr>
          <p:cNvPr id="42" name="TextBox 41"/>
          <p:cNvSpPr txBox="1"/>
          <p:nvPr/>
        </p:nvSpPr>
        <p:spPr>
          <a:xfrm>
            <a:off x="7315200" y="4581144"/>
            <a:ext cx="1920240" cy="493776"/>
          </a:xfrm>
          <a:prstGeom prst="rect">
            <a:avLst/>
          </a:prstGeom>
          <a:noFill/>
        </p:spPr>
        <p:txBody>
          <a:bodyPr wrap="square" lIns="0" rIns="0" tIns="0" bIns="0" anchor="ctr">
            <a:spAutoFit/>
          </a:bodyPr>
          <a:lstStyle/>
          <a:p>
            <a:pPr algn="l">
              <a:lnSpc>
                <a:spcPct val="120000"/>
              </a:lnSpc>
              <a:spcAft>
                <a:spcPts val="0"/>
              </a:spcAft>
            </a:pPr>
            <a:r>
              <a:rPr sz="1050" b="0">
                <a:solidFill>
                  <a:srgbClr val="55677C"/>
                </a:solidFill>
                <a:latin typeface="Calibri"/>
              </a:rPr>
              <a:t>Hotfloor</a:t>
            </a:r>
          </a:p>
        </p:txBody>
      </p:sp>
      <p:sp>
        <p:nvSpPr>
          <p:cNvPr id="43" name="Rounded Rectangle 42"/>
          <p:cNvSpPr/>
          <p:nvPr/>
        </p:nvSpPr>
        <p:spPr>
          <a:xfrm>
            <a:off x="9326880" y="4681728"/>
            <a:ext cx="1225296" cy="292608"/>
          </a:xfrm>
          <a:prstGeom prst="roundRect">
            <a:avLst>
              <a:gd name="adj" fmla="val 50000"/>
            </a:avLst>
          </a:prstGeom>
          <a:solidFill>
            <a:srgbClr val="C87E12">
              <a:alpha val="11000"/>
            </a:srgbClr>
          </a:solidFill>
          <a:ln w="12700">
            <a:solidFill>
              <a:srgbClr val="DCBA87"/>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ctr"/>
            <a:r>
              <a:rPr sz="1000" b="1">
                <a:solidFill>
                  <a:srgbClr val="C87E12"/>
                </a:solidFill>
                <a:latin typeface="Calibri"/>
              </a:rPr>
              <a:t>urgent</a:t>
            </a:r>
          </a:p>
        </p:txBody>
      </p:sp>
      <p:sp>
        <p:nvSpPr>
          <p:cNvPr id="44" name="TextBox 43"/>
          <p:cNvSpPr txBox="1"/>
          <p:nvPr/>
        </p:nvSpPr>
        <p:spPr>
          <a:xfrm>
            <a:off x="10362895" y="4581144"/>
            <a:ext cx="1133856" cy="493776"/>
          </a:xfrm>
          <a:prstGeom prst="rect">
            <a:avLst/>
          </a:prstGeom>
          <a:noFill/>
        </p:spPr>
        <p:txBody>
          <a:bodyPr wrap="square" lIns="0" rIns="0" tIns="0" bIns="0" anchor="ctr">
            <a:spAutoFit/>
          </a:bodyPr>
          <a:lstStyle/>
          <a:p>
            <a:pPr algn="r">
              <a:lnSpc>
                <a:spcPct val="120000"/>
              </a:lnSpc>
              <a:spcAft>
                <a:spcPts val="0"/>
              </a:spcAft>
            </a:pPr>
            <a:r>
              <a:rPr sz="1000" b="0">
                <a:solidFill>
                  <a:srgbClr val="8B9AAA"/>
                </a:solidFill>
                <a:latin typeface="Calibri"/>
              </a:rPr>
              <a:t>dia 15</a:t>
            </a:r>
          </a:p>
        </p:txBody>
      </p:sp>
      <p:sp>
        <p:nvSpPr>
          <p:cNvPr id="45" name="Rounded Rectangle 44"/>
          <p:cNvSpPr/>
          <p:nvPr/>
        </p:nvSpPr>
        <p:spPr>
          <a:xfrm>
            <a:off x="640080" y="5230368"/>
            <a:ext cx="10911535" cy="585216"/>
          </a:xfrm>
          <a:prstGeom prst="roundRect">
            <a:avLst>
              <a:gd name="adj" fmla="val 3000"/>
            </a:avLst>
          </a:prstGeom>
          <a:solidFill>
            <a:srgbClr val="FFFFFF"/>
          </a:solidFill>
          <a:ln w="12700">
            <a:solidFill>
              <a:srgbClr val="E2E9F1"/>
            </a:solidFill>
          </a:ln>
          <a:effectLst>
            <a:outerShdw blurRad="70000" dist="22000" dir="5400000" rotWithShape="0">
              <a:srgbClr val="1B3A5C">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Rounded Rectangle 45"/>
          <p:cNvSpPr/>
          <p:nvPr/>
        </p:nvSpPr>
        <p:spPr>
          <a:xfrm>
            <a:off x="640080" y="5230368"/>
            <a:ext cx="45720" cy="585216"/>
          </a:xfrm>
          <a:prstGeom prst="roundRect">
            <a:avLst>
              <a:gd name="adj" fmla="val 50000"/>
            </a:avLst>
          </a:prstGeom>
          <a:solidFill>
            <a:srgbClr val="C87E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Oval 46"/>
          <p:cNvSpPr/>
          <p:nvPr/>
        </p:nvSpPr>
        <p:spPr>
          <a:xfrm>
            <a:off x="850392" y="5330952"/>
            <a:ext cx="384048" cy="384048"/>
          </a:xfrm>
          <a:prstGeom prst="ellipse">
            <a:avLst/>
          </a:prstGeom>
          <a:solidFill>
            <a:srgbClr val="C87E12">
              <a:alpha val="10000"/>
            </a:srgbClr>
          </a:solidFill>
          <a:ln w="15875">
            <a:solidFill>
              <a:srgbClr val="C87E12"/>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C87E12"/>
                </a:solidFill>
                <a:latin typeface="Calibri"/>
              </a:rPr>
              <a:t>6</a:t>
            </a:r>
          </a:p>
        </p:txBody>
      </p:sp>
      <p:sp>
        <p:nvSpPr>
          <p:cNvPr id="48" name="TextBox 47"/>
          <p:cNvSpPr txBox="1"/>
          <p:nvPr/>
        </p:nvSpPr>
        <p:spPr>
          <a:xfrm>
            <a:off x="1371600" y="5276088"/>
            <a:ext cx="5852160" cy="493776"/>
          </a:xfrm>
          <a:prstGeom prst="rect">
            <a:avLst/>
          </a:prstGeom>
          <a:noFill/>
        </p:spPr>
        <p:txBody>
          <a:bodyPr wrap="square" lIns="0" rIns="0" tIns="0" bIns="0" anchor="ctr">
            <a:spAutoFit/>
          </a:bodyPr>
          <a:lstStyle/>
          <a:p>
            <a:pPr algn="l">
              <a:lnSpc>
                <a:spcPct val="120000"/>
              </a:lnSpc>
              <a:spcAft>
                <a:spcPts val="100"/>
              </a:spcAft>
            </a:pPr>
            <a:r>
              <a:rPr sz="1350" b="1">
                <a:solidFill>
                  <a:srgbClr val="0D1B2A"/>
                </a:solidFill>
                <a:latin typeface="Calibri"/>
              </a:rPr>
              <a:t>Wat doen we met de knelpunten?</a:t>
            </a:r>
          </a:p>
          <a:p>
            <a:pPr algn="l">
              <a:lnSpc>
                <a:spcPct val="120000"/>
              </a:lnSpc>
              <a:spcAft>
                <a:spcPts val="0"/>
              </a:spcAft>
            </a:pPr>
            <a:r>
              <a:rPr sz="1000" b="0">
                <a:solidFill>
                  <a:srgbClr val="8B9AAA"/>
                </a:solidFill>
                <a:latin typeface="Calibri"/>
              </a:rPr>
              <a:t>de analyses zijn gedeeld, de vervolgacties zijn niet belegd</a:t>
            </a:r>
          </a:p>
        </p:txBody>
      </p:sp>
      <p:sp>
        <p:nvSpPr>
          <p:cNvPr id="49" name="TextBox 48"/>
          <p:cNvSpPr txBox="1"/>
          <p:nvPr/>
        </p:nvSpPr>
        <p:spPr>
          <a:xfrm>
            <a:off x="7315200" y="5276088"/>
            <a:ext cx="1920240" cy="493776"/>
          </a:xfrm>
          <a:prstGeom prst="rect">
            <a:avLst/>
          </a:prstGeom>
          <a:noFill/>
        </p:spPr>
        <p:txBody>
          <a:bodyPr wrap="square" lIns="0" rIns="0" tIns="0" bIns="0" anchor="ctr">
            <a:spAutoFit/>
          </a:bodyPr>
          <a:lstStyle/>
          <a:p>
            <a:pPr algn="l">
              <a:lnSpc>
                <a:spcPct val="120000"/>
              </a:lnSpc>
              <a:spcAft>
                <a:spcPts val="0"/>
              </a:spcAft>
            </a:pPr>
            <a:r>
              <a:rPr sz="1050" b="0">
                <a:solidFill>
                  <a:srgbClr val="55677C"/>
                </a:solidFill>
                <a:latin typeface="Calibri"/>
              </a:rPr>
              <a:t>uit beide analyses</a:t>
            </a:r>
          </a:p>
        </p:txBody>
      </p:sp>
      <p:sp>
        <p:nvSpPr>
          <p:cNvPr id="50" name="Rounded Rectangle 49"/>
          <p:cNvSpPr/>
          <p:nvPr/>
        </p:nvSpPr>
        <p:spPr>
          <a:xfrm>
            <a:off x="9326880" y="5376672"/>
            <a:ext cx="1225296" cy="292608"/>
          </a:xfrm>
          <a:prstGeom prst="roundRect">
            <a:avLst>
              <a:gd name="adj" fmla="val 50000"/>
            </a:avLst>
          </a:prstGeom>
          <a:solidFill>
            <a:srgbClr val="C87E12">
              <a:alpha val="11000"/>
            </a:srgbClr>
          </a:solidFill>
          <a:ln w="12700">
            <a:solidFill>
              <a:srgbClr val="DCBA87"/>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ctr"/>
            <a:r>
              <a:rPr sz="1000" b="1">
                <a:solidFill>
                  <a:srgbClr val="C87E12"/>
                </a:solidFill>
                <a:latin typeface="Calibri"/>
              </a:rPr>
              <a:t>urgent</a:t>
            </a:r>
          </a:p>
        </p:txBody>
      </p:sp>
      <p:sp>
        <p:nvSpPr>
          <p:cNvPr id="51" name="TextBox 50"/>
          <p:cNvSpPr txBox="1"/>
          <p:nvPr/>
        </p:nvSpPr>
        <p:spPr>
          <a:xfrm>
            <a:off x="10362895" y="5276088"/>
            <a:ext cx="1133856" cy="493776"/>
          </a:xfrm>
          <a:prstGeom prst="rect">
            <a:avLst/>
          </a:prstGeom>
          <a:noFill/>
        </p:spPr>
        <p:txBody>
          <a:bodyPr wrap="square" lIns="0" rIns="0" tIns="0" bIns="0" anchor="ctr">
            <a:spAutoFit/>
          </a:bodyPr>
          <a:lstStyle/>
          <a:p>
            <a:pPr algn="r">
              <a:lnSpc>
                <a:spcPct val="120000"/>
              </a:lnSpc>
              <a:spcAft>
                <a:spcPts val="0"/>
              </a:spcAft>
            </a:pPr>
            <a:r>
              <a:rPr sz="1000" b="0">
                <a:solidFill>
                  <a:srgbClr val="8B9AAA"/>
                </a:solidFill>
                <a:latin typeface="Calibri"/>
              </a:rPr>
              <a:t>dia 15 en 24</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FFFFFF"/>
              </a:gs>
              <a:gs pos="100000">
                <a:srgbClr val="F1F6FC"/>
              </a:gs>
            </a:gsLst>
            <a:lin scaled="0" ang="189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640080" y="1371600"/>
            <a:ext cx="7315200" cy="219456"/>
          </a:xfrm>
          <a:prstGeom prst="rect">
            <a:avLst/>
          </a:prstGeom>
          <a:noFill/>
        </p:spPr>
        <p:txBody>
          <a:bodyPr wrap="square" lIns="0" rIns="0" tIns="0" bIns="0" anchor="t">
            <a:spAutoFit/>
          </a:bodyPr>
          <a:lstStyle/>
          <a:p>
            <a:pPr algn="l">
              <a:lnSpc>
                <a:spcPct val="120000"/>
              </a:lnSpc>
              <a:spcAft>
                <a:spcPts val="0"/>
              </a:spcAft>
            </a:pPr>
            <a:r>
              <a:rPr sz="1100" b="1" spc="220">
                <a:solidFill>
                  <a:srgbClr val="0E9A87"/>
                </a:solidFill>
                <a:latin typeface="Calibri"/>
              </a:rPr>
              <a:t>WAAR HET OP NEERKOMT</a:t>
            </a:r>
          </a:p>
        </p:txBody>
      </p:sp>
      <p:sp>
        <p:nvSpPr>
          <p:cNvPr id="4" name="TextBox 3"/>
          <p:cNvSpPr txBox="1"/>
          <p:nvPr/>
        </p:nvSpPr>
        <p:spPr>
          <a:xfrm>
            <a:off x="640080" y="1700784"/>
            <a:ext cx="7863840" cy="914400"/>
          </a:xfrm>
          <a:prstGeom prst="rect">
            <a:avLst/>
          </a:prstGeom>
          <a:noFill/>
        </p:spPr>
        <p:txBody>
          <a:bodyPr wrap="square" lIns="0" rIns="0" tIns="0" bIns="0" anchor="t">
            <a:spAutoFit/>
          </a:bodyPr>
          <a:lstStyle/>
          <a:p>
            <a:pPr algn="l">
              <a:lnSpc>
                <a:spcPct val="120000"/>
              </a:lnSpc>
              <a:spcAft>
                <a:spcPts val="0"/>
              </a:spcAft>
            </a:pPr>
            <a:r>
              <a:rPr sz="4600" b="1">
                <a:solidFill>
                  <a:srgbClr val="0D1B2A"/>
                </a:solidFill>
                <a:latin typeface="Calibri"/>
              </a:rPr>
              <a:t>Drie dingen</a:t>
            </a:r>
          </a:p>
        </p:txBody>
      </p:sp>
      <p:cxnSp>
        <p:nvCxnSpPr>
          <p:cNvPr id="5" name="Connector 4"/>
          <p:cNvCxnSpPr/>
          <p:nvPr/>
        </p:nvCxnSpPr>
        <p:spPr>
          <a:xfrm>
            <a:off x="640080" y="2743200"/>
            <a:ext cx="2377440" cy="0"/>
          </a:xfrm>
          <a:prstGeom prst="line">
            <a:avLst/>
          </a:prstGeom>
          <a:ln w="25400">
            <a:solidFill>
              <a:srgbClr val="0E9A87"/>
            </a:solidFill>
          </a:ln>
        </p:spPr>
        <p:style>
          <a:lnRef idx="2">
            <a:schemeClr val="accent1"/>
          </a:lnRef>
          <a:fillRef idx="0">
            <a:schemeClr val="accent1"/>
          </a:fillRef>
          <a:effectRef idx="1">
            <a:schemeClr val="accent1"/>
          </a:effectRef>
          <a:fontRef idx="minor">
            <a:schemeClr val="tx1"/>
          </a:fontRef>
        </p:style>
      </p:cxnSp>
      <p:sp>
        <p:nvSpPr>
          <p:cNvPr id="6" name="Oval 5"/>
          <p:cNvSpPr/>
          <p:nvPr/>
        </p:nvSpPr>
        <p:spPr>
          <a:xfrm>
            <a:off x="640080" y="3054096"/>
            <a:ext cx="475488" cy="475488"/>
          </a:xfrm>
          <a:prstGeom prst="ellipse">
            <a:avLst/>
          </a:prstGeom>
          <a:solidFill>
            <a:srgbClr val="0E9A87">
              <a:alpha val="10000"/>
            </a:srgbClr>
          </a:solidFill>
          <a:ln w="15875">
            <a:solidFill>
              <a:srgbClr val="0E9A87"/>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768" b="1">
                <a:solidFill>
                  <a:srgbClr val="0E9A87"/>
                </a:solidFill>
                <a:latin typeface="Calibri"/>
              </a:rPr>
              <a:t/>
            </a:r>
          </a:p>
        </p:txBody>
      </p:sp>
      <p:sp>
        <p:nvSpPr>
          <p:cNvPr id="7" name="Oval 6"/>
          <p:cNvSpPr/>
          <p:nvPr/>
        </p:nvSpPr>
        <p:spPr>
          <a:xfrm>
            <a:off x="804672" y="3218687"/>
            <a:ext cx="146304" cy="146304"/>
          </a:xfrm>
          <a:prstGeom prst="ellipse">
            <a:avLst/>
          </a:prstGeom>
          <a:solidFill>
            <a:srgbClr val="0E9A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298448" y="3054096"/>
            <a:ext cx="8778240" cy="292608"/>
          </a:xfrm>
          <a:prstGeom prst="rect">
            <a:avLst/>
          </a:prstGeom>
          <a:noFill/>
        </p:spPr>
        <p:txBody>
          <a:bodyPr wrap="square" lIns="0" rIns="0" tIns="0" bIns="0" anchor="t">
            <a:spAutoFit/>
          </a:bodyPr>
          <a:lstStyle/>
          <a:p>
            <a:pPr algn="l">
              <a:lnSpc>
                <a:spcPct val="120000"/>
              </a:lnSpc>
              <a:spcAft>
                <a:spcPts val="0"/>
              </a:spcAft>
            </a:pPr>
            <a:r>
              <a:rPr sz="1700" b="1">
                <a:solidFill>
                  <a:srgbClr val="0E9A87"/>
                </a:solidFill>
                <a:latin typeface="Calibri"/>
              </a:rPr>
              <a:t>Fysiek eerst</a:t>
            </a:r>
          </a:p>
        </p:txBody>
      </p:sp>
      <p:sp>
        <p:nvSpPr>
          <p:cNvPr id="9" name="TextBox 8"/>
          <p:cNvSpPr txBox="1"/>
          <p:nvPr/>
        </p:nvSpPr>
        <p:spPr>
          <a:xfrm>
            <a:off x="1298448" y="3383279"/>
            <a:ext cx="8412480" cy="457200"/>
          </a:xfrm>
          <a:prstGeom prst="rect">
            <a:avLst/>
          </a:prstGeom>
          <a:noFill/>
        </p:spPr>
        <p:txBody>
          <a:bodyPr wrap="square" lIns="0" rIns="0" tIns="0" bIns="0" anchor="t">
            <a:spAutoFit/>
          </a:bodyPr>
          <a:lstStyle/>
          <a:p>
            <a:pPr algn="l">
              <a:lnSpc>
                <a:spcPct val="125000"/>
              </a:lnSpc>
              <a:spcAft>
                <a:spcPts val="0"/>
              </a:spcAft>
            </a:pPr>
            <a:r>
              <a:rPr sz="1250" b="0">
                <a:solidFill>
                  <a:srgbClr val="55677C"/>
                </a:solidFill>
                <a:latin typeface="Calibri"/>
              </a:rPr>
              <a:t>Wat en waar. De personele inzet volgt daaruit; andersom werkt het niet.</a:t>
            </a:r>
          </a:p>
        </p:txBody>
      </p:sp>
      <p:sp>
        <p:nvSpPr>
          <p:cNvPr id="10" name="Oval 9"/>
          <p:cNvSpPr/>
          <p:nvPr/>
        </p:nvSpPr>
        <p:spPr>
          <a:xfrm>
            <a:off x="640080" y="4096511"/>
            <a:ext cx="475488" cy="475488"/>
          </a:xfrm>
          <a:prstGeom prst="ellipse">
            <a:avLst/>
          </a:prstGeom>
          <a:solidFill>
            <a:srgbClr val="C4392D">
              <a:alpha val="10000"/>
            </a:srgbClr>
          </a:solidFill>
          <a:ln w="15875">
            <a:solidFill>
              <a:srgbClr val="C4392D"/>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768" b="1">
                <a:solidFill>
                  <a:srgbClr val="C4392D"/>
                </a:solidFill>
                <a:latin typeface="Calibri"/>
              </a:rPr>
              <a:t/>
            </a:r>
          </a:p>
        </p:txBody>
      </p:sp>
      <p:sp>
        <p:nvSpPr>
          <p:cNvPr id="11" name="Oval 10"/>
          <p:cNvSpPr/>
          <p:nvPr/>
        </p:nvSpPr>
        <p:spPr>
          <a:xfrm>
            <a:off x="804672" y="4261103"/>
            <a:ext cx="146304" cy="146304"/>
          </a:xfrm>
          <a:prstGeom prst="ellipse">
            <a:avLst/>
          </a:prstGeom>
          <a:solidFill>
            <a:srgbClr val="C439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298448" y="4096511"/>
            <a:ext cx="8778240" cy="292608"/>
          </a:xfrm>
          <a:prstGeom prst="rect">
            <a:avLst/>
          </a:prstGeom>
          <a:noFill/>
        </p:spPr>
        <p:txBody>
          <a:bodyPr wrap="square" lIns="0" rIns="0" tIns="0" bIns="0" anchor="t">
            <a:spAutoFit/>
          </a:bodyPr>
          <a:lstStyle/>
          <a:p>
            <a:pPr algn="l">
              <a:lnSpc>
                <a:spcPct val="120000"/>
              </a:lnSpc>
              <a:spcAft>
                <a:spcPts val="0"/>
              </a:spcAft>
            </a:pPr>
            <a:r>
              <a:rPr sz="1700" b="1">
                <a:solidFill>
                  <a:srgbClr val="C4392D"/>
                </a:solidFill>
                <a:latin typeface="Calibri"/>
              </a:rPr>
              <a:t>Drie besluiten blokkeren</a:t>
            </a:r>
          </a:p>
        </p:txBody>
      </p:sp>
      <p:sp>
        <p:nvSpPr>
          <p:cNvPr id="13" name="TextBox 12"/>
          <p:cNvSpPr txBox="1"/>
          <p:nvPr/>
        </p:nvSpPr>
        <p:spPr>
          <a:xfrm>
            <a:off x="1298448" y="4425696"/>
            <a:ext cx="8412480" cy="457200"/>
          </a:xfrm>
          <a:prstGeom prst="rect">
            <a:avLst/>
          </a:prstGeom>
          <a:noFill/>
        </p:spPr>
        <p:txBody>
          <a:bodyPr wrap="square" lIns="0" rIns="0" tIns="0" bIns="0" anchor="t">
            <a:spAutoFit/>
          </a:bodyPr>
          <a:lstStyle/>
          <a:p>
            <a:pPr algn="l">
              <a:lnSpc>
                <a:spcPct val="125000"/>
              </a:lnSpc>
              <a:spcAft>
                <a:spcPts val="0"/>
              </a:spcAft>
            </a:pPr>
            <a:r>
              <a:rPr sz="1250" b="0">
                <a:solidFill>
                  <a:srgbClr val="55677C"/>
                </a:solidFill>
                <a:latin typeface="Calibri"/>
              </a:rPr>
              <a:t>De EHH-vraag, het aantal plekken op de acute poort en de norm verpleegkundigen.</a:t>
            </a:r>
          </a:p>
        </p:txBody>
      </p:sp>
      <p:sp>
        <p:nvSpPr>
          <p:cNvPr id="14" name="Oval 13"/>
          <p:cNvSpPr/>
          <p:nvPr/>
        </p:nvSpPr>
        <p:spPr>
          <a:xfrm>
            <a:off x="640080" y="5138927"/>
            <a:ext cx="475488" cy="475488"/>
          </a:xfrm>
          <a:prstGeom prst="ellipse">
            <a:avLst/>
          </a:prstGeom>
          <a:solidFill>
            <a:srgbClr val="C87E12">
              <a:alpha val="10000"/>
            </a:srgbClr>
          </a:solidFill>
          <a:ln w="15875">
            <a:solidFill>
              <a:srgbClr val="C87E12"/>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768" b="1">
                <a:solidFill>
                  <a:srgbClr val="C87E12"/>
                </a:solidFill>
                <a:latin typeface="Calibri"/>
              </a:rPr>
              <a:t/>
            </a:r>
          </a:p>
        </p:txBody>
      </p:sp>
      <p:sp>
        <p:nvSpPr>
          <p:cNvPr id="15" name="Oval 14"/>
          <p:cNvSpPr/>
          <p:nvPr/>
        </p:nvSpPr>
        <p:spPr>
          <a:xfrm>
            <a:off x="804672" y="5303519"/>
            <a:ext cx="146304" cy="146304"/>
          </a:xfrm>
          <a:prstGeom prst="ellipse">
            <a:avLst/>
          </a:prstGeom>
          <a:solidFill>
            <a:srgbClr val="C87E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298448" y="5138927"/>
            <a:ext cx="8778240" cy="292608"/>
          </a:xfrm>
          <a:prstGeom prst="rect">
            <a:avLst/>
          </a:prstGeom>
          <a:noFill/>
        </p:spPr>
        <p:txBody>
          <a:bodyPr wrap="square" lIns="0" rIns="0" tIns="0" bIns="0" anchor="t">
            <a:spAutoFit/>
          </a:bodyPr>
          <a:lstStyle/>
          <a:p>
            <a:pPr algn="l">
              <a:lnSpc>
                <a:spcPct val="120000"/>
              </a:lnSpc>
              <a:spcAft>
                <a:spcPts val="0"/>
              </a:spcAft>
            </a:pPr>
            <a:r>
              <a:rPr sz="1700" b="1">
                <a:solidFill>
                  <a:srgbClr val="C87E12"/>
                </a:solidFill>
                <a:latin typeface="Calibri"/>
              </a:rPr>
              <a:t>Nu apart, straks samen</a:t>
            </a:r>
          </a:p>
        </p:txBody>
      </p:sp>
      <p:sp>
        <p:nvSpPr>
          <p:cNvPr id="17" name="TextBox 16"/>
          <p:cNvSpPr txBox="1"/>
          <p:nvPr/>
        </p:nvSpPr>
        <p:spPr>
          <a:xfrm>
            <a:off x="1298448" y="5468112"/>
            <a:ext cx="8412480" cy="457200"/>
          </a:xfrm>
          <a:prstGeom prst="rect">
            <a:avLst/>
          </a:prstGeom>
          <a:noFill/>
        </p:spPr>
        <p:txBody>
          <a:bodyPr wrap="square" lIns="0" rIns="0" tIns="0" bIns="0" anchor="t">
            <a:spAutoFit/>
          </a:bodyPr>
          <a:lstStyle/>
          <a:p>
            <a:pPr algn="l">
              <a:lnSpc>
                <a:spcPct val="125000"/>
              </a:lnSpc>
              <a:spcAft>
                <a:spcPts val="0"/>
              </a:spcAft>
            </a:pPr>
            <a:r>
              <a:rPr sz="1250" b="0">
                <a:solidFill>
                  <a:srgbClr val="55677C"/>
                </a:solidFill>
                <a:latin typeface="Calibri"/>
              </a:rPr>
              <a:t>De huidige berekeningen gelden per afdeling. Bij samenvoeging moet opnieuw geteld worden.</a:t>
            </a:r>
          </a:p>
        </p:txBody>
      </p:sp>
      <p:sp>
        <p:nvSpPr>
          <p:cNvPr id="18" name="Freeform 17"/>
          <p:cNvSpPr/>
          <p:nvPr/>
        </p:nvSpPr>
        <p:spPr>
          <a:xfrm>
            <a:off x="0" y="5980176"/>
            <a:ext cx="12191695" cy="566928"/>
          </a:xfrm>
          <a:custGeom>
            <a:avLst/>
            <a:gdLst/>
            <a:ahLst/>
            <a:cxnLst/>
            <a:rect l="l" t="t" r="r" b="b"/>
            <a:pathLst>
              <a:path w="12191695" h="566928">
                <a:moveTo>
                  <a:pt x="0" y="365760"/>
                </a:moveTo>
                <a:lnTo>
                  <a:pt x="914377" y="365760"/>
                </a:lnTo>
                <a:lnTo>
                  <a:pt x="1097252" y="307238"/>
                </a:lnTo>
                <a:lnTo>
                  <a:pt x="1280127" y="402336"/>
                </a:lnTo>
                <a:lnTo>
                  <a:pt x="1523961" y="0"/>
                </a:lnTo>
                <a:lnTo>
                  <a:pt x="1767795" y="566928"/>
                </a:lnTo>
                <a:lnTo>
                  <a:pt x="2011629" y="365760"/>
                </a:lnTo>
                <a:lnTo>
                  <a:pt x="3047923" y="365760"/>
                </a:lnTo>
                <a:lnTo>
                  <a:pt x="3047923" y="365760"/>
                </a:lnTo>
                <a:lnTo>
                  <a:pt x="3962300" y="365760"/>
                </a:lnTo>
                <a:lnTo>
                  <a:pt x="4145176" y="307238"/>
                </a:lnTo>
                <a:lnTo>
                  <a:pt x="4328051" y="402336"/>
                </a:lnTo>
                <a:lnTo>
                  <a:pt x="4571885" y="0"/>
                </a:lnTo>
                <a:lnTo>
                  <a:pt x="4815719" y="566928"/>
                </a:lnTo>
                <a:lnTo>
                  <a:pt x="5059553" y="365760"/>
                </a:lnTo>
                <a:lnTo>
                  <a:pt x="6095847" y="365760"/>
                </a:lnTo>
                <a:lnTo>
                  <a:pt x="6095847" y="365760"/>
                </a:lnTo>
                <a:lnTo>
                  <a:pt x="7010224" y="365760"/>
                </a:lnTo>
                <a:lnTo>
                  <a:pt x="7193100" y="307238"/>
                </a:lnTo>
                <a:lnTo>
                  <a:pt x="7375975" y="402336"/>
                </a:lnTo>
                <a:lnTo>
                  <a:pt x="7619809" y="0"/>
                </a:lnTo>
                <a:lnTo>
                  <a:pt x="7863643" y="566928"/>
                </a:lnTo>
                <a:lnTo>
                  <a:pt x="8107477" y="365760"/>
                </a:lnTo>
                <a:lnTo>
                  <a:pt x="9143771" y="365760"/>
                </a:lnTo>
                <a:lnTo>
                  <a:pt x="9143771" y="365760"/>
                </a:lnTo>
                <a:lnTo>
                  <a:pt x="10058148" y="365760"/>
                </a:lnTo>
                <a:lnTo>
                  <a:pt x="10241023" y="307238"/>
                </a:lnTo>
                <a:lnTo>
                  <a:pt x="10423899" y="402336"/>
                </a:lnTo>
                <a:lnTo>
                  <a:pt x="10667733" y="0"/>
                </a:lnTo>
                <a:lnTo>
                  <a:pt x="10911567" y="566928"/>
                </a:lnTo>
                <a:lnTo>
                  <a:pt x="11155401" y="365760"/>
                </a:lnTo>
                <a:lnTo>
                  <a:pt x="12191695" y="365760"/>
                </a:lnTo>
              </a:path>
            </a:pathLst>
          </a:custGeom>
          <a:noFill/>
          <a:ln w="19050">
            <a:solidFill>
              <a:srgbClr val="0E9A87">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