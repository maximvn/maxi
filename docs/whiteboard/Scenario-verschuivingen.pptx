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F1F6FC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91153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1" spc="220">
                <a:solidFill>
                  <a:srgbClr val="1F6FB2"/>
                </a:solidFill>
                <a:latin typeface="Calibri"/>
              </a:rPr>
              <a:t>DEEL 03  ·  WAT VERANDERT 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91153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3400" b="1">
                <a:solidFill>
                  <a:srgbClr val="0D1B2A"/>
                </a:solidFill>
                <a:latin typeface="Calibri"/>
              </a:rPr>
              <a:t>Wat er per scenario verschuift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35024"/>
            <a:ext cx="851099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>
                <a:solidFill>
                  <a:srgbClr val="55677C"/>
                </a:solidFill>
                <a:latin typeface="Calibri"/>
              </a:rPr>
              <a:t>Oranje is het onderdeel dat van afdeling wisselt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40080" y="1609344"/>
            <a:ext cx="10911535" cy="0"/>
          </a:xfrm>
          <a:prstGeom prst="line">
            <a:avLst/>
          </a:prstGeom>
          <a:ln w="12700">
            <a:solidFill>
              <a:srgbClr val="E2E9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640080" y="6291072"/>
            <a:ext cx="10911535" cy="0"/>
          </a:xfrm>
          <a:prstGeom prst="line">
            <a:avLst/>
          </a:prstGeom>
          <a:ln w="9525">
            <a:solidFill>
              <a:srgbClr val="E2E9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40080" y="6382512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 spc="80">
                <a:solidFill>
                  <a:srgbClr val="8B9AAA"/>
                </a:solidFill>
                <a:latin typeface="Calibri"/>
              </a:rPr>
              <a:t>Acute poort en Hotfloor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37215" y="6382512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950" b="1">
                <a:solidFill>
                  <a:srgbClr val="0E9A87"/>
                </a:solidFill>
                <a:latin typeface="Calibri"/>
              </a:rPr>
              <a:t>13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700784"/>
            <a:ext cx="5272887" cy="1883664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9F1"/>
            </a:solidFill>
          </a:ln>
          <a:effectLst>
            <a:outerShdw blurRad="70000" dist="22000" dir="5400000" rotWithShape="0">
              <a:srgbClr val="1B3A5C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841247" y="1865376"/>
            <a:ext cx="402336" cy="402336"/>
          </a:xfrm>
          <a:prstGeom prst="ellipse">
            <a:avLst/>
          </a:prstGeom>
          <a:solidFill>
            <a:srgbClr val="1F6FB2">
              <a:alpha val="10000"/>
            </a:srgbClr>
          </a:solidFill>
          <a:ln w="15875">
            <a:solidFill>
              <a:srgbClr val="1F6F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1F6FB2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1865376"/>
            <a:ext cx="4267047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1">
                <a:solidFill>
                  <a:srgbClr val="0D1B2A"/>
                </a:solidFill>
                <a:latin typeface="Calibri"/>
              </a:rPr>
              <a:t>EHH naar de SEH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2304288"/>
            <a:ext cx="17830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800" b="1" spc="120">
                <a:solidFill>
                  <a:srgbClr val="8B9AAA"/>
                </a:solidFill>
                <a:latin typeface="Calibri"/>
              </a:rPr>
              <a:t>NU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18407" y="2304288"/>
            <a:ext cx="17830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800" b="1" spc="120">
                <a:solidFill>
                  <a:srgbClr val="8B9AAA"/>
                </a:solidFill>
                <a:latin typeface="Calibri"/>
              </a:rPr>
              <a:t>STRAKS</a:t>
            </a:r>
          </a:p>
        </p:txBody>
      </p:sp>
      <p:sp>
        <p:nvSpPr>
          <p:cNvPr id="15" name="Oval 14"/>
          <p:cNvSpPr/>
          <p:nvPr/>
        </p:nvSpPr>
        <p:spPr>
          <a:xfrm>
            <a:off x="1223010" y="2523744"/>
            <a:ext cx="548640" cy="548640"/>
          </a:xfrm>
          <a:prstGeom prst="ellipse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1223010" y="2523744"/>
            <a:ext cx="548640" cy="548640"/>
          </a:xfrm>
          <a:prstGeom prst="ellipse">
            <a:avLst/>
          </a:prstGeom>
          <a:noFill/>
          <a:ln w="419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84097" y="3118103"/>
            <a:ext cx="142646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4000"/>
              </a:lnSpc>
              <a:spcAft>
                <a:spcPts val="100"/>
              </a:spcAft>
            </a:pPr>
            <a:r>
              <a:rPr sz="850" b="1">
                <a:solidFill>
                  <a:srgbClr val="0D1B2A"/>
                </a:solidFill>
                <a:latin typeface="Calibri"/>
              </a:rPr>
              <a:t>SEH</a:t>
            </a:r>
          </a:p>
        </p:txBody>
      </p:sp>
      <p:sp>
        <p:nvSpPr>
          <p:cNvPr id="18" name="Freeform 17"/>
          <p:cNvSpPr/>
          <p:nvPr/>
        </p:nvSpPr>
        <p:spPr>
          <a:xfrm>
            <a:off x="2388870" y="2523744"/>
            <a:ext cx="274319" cy="411480"/>
          </a:xfrm>
          <a:custGeom>
            <a:avLst/>
            <a:gdLst/>
            <a:ahLst/>
            <a:cxnLst/>
            <a:rect l="l" t="t" r="r" b="b"/>
            <a:pathLst>
              <a:path w="274319" h="411480">
                <a:moveTo>
                  <a:pt x="0" y="0"/>
                </a:moveTo>
                <a:lnTo>
                  <a:pt x="14356" y="375"/>
                </a:lnTo>
                <a:lnTo>
                  <a:pt x="28674" y="1502"/>
                </a:lnTo>
                <a:lnTo>
                  <a:pt x="42913" y="3377"/>
                </a:lnTo>
                <a:lnTo>
                  <a:pt x="57034" y="5994"/>
                </a:lnTo>
                <a:lnTo>
                  <a:pt x="70999" y="9347"/>
                </a:lnTo>
                <a:lnTo>
                  <a:pt x="84769" y="13426"/>
                </a:lnTo>
                <a:lnTo>
                  <a:pt x="98307" y="18220"/>
                </a:lnTo>
                <a:lnTo>
                  <a:pt x="111575" y="23716"/>
                </a:lnTo>
                <a:lnTo>
                  <a:pt x="124538" y="29899"/>
                </a:lnTo>
                <a:lnTo>
                  <a:pt x="137159" y="36751"/>
                </a:lnTo>
                <a:lnTo>
                  <a:pt x="149405" y="44255"/>
                </a:lnTo>
                <a:lnTo>
                  <a:pt x="161241" y="52390"/>
                </a:lnTo>
                <a:lnTo>
                  <a:pt x="172635" y="61133"/>
                </a:lnTo>
                <a:lnTo>
                  <a:pt x="183555" y="70460"/>
                </a:lnTo>
                <a:lnTo>
                  <a:pt x="193973" y="80346"/>
                </a:lnTo>
                <a:lnTo>
                  <a:pt x="203859" y="90764"/>
                </a:lnTo>
                <a:lnTo>
                  <a:pt x="213186" y="101684"/>
                </a:lnTo>
                <a:lnTo>
                  <a:pt x="221929" y="113078"/>
                </a:lnTo>
                <a:lnTo>
                  <a:pt x="230064" y="124914"/>
                </a:lnTo>
                <a:lnTo>
                  <a:pt x="237568" y="137160"/>
                </a:lnTo>
                <a:lnTo>
                  <a:pt x="244420" y="149781"/>
                </a:lnTo>
                <a:lnTo>
                  <a:pt x="250603" y="162744"/>
                </a:lnTo>
                <a:lnTo>
                  <a:pt x="256099" y="176012"/>
                </a:lnTo>
                <a:lnTo>
                  <a:pt x="260893" y="189550"/>
                </a:lnTo>
                <a:lnTo>
                  <a:pt x="264972" y="203320"/>
                </a:lnTo>
                <a:lnTo>
                  <a:pt x="268325" y="217285"/>
                </a:lnTo>
                <a:lnTo>
                  <a:pt x="270942" y="231406"/>
                </a:lnTo>
                <a:lnTo>
                  <a:pt x="272817" y="245645"/>
                </a:lnTo>
                <a:lnTo>
                  <a:pt x="273944" y="259963"/>
                </a:lnTo>
                <a:lnTo>
                  <a:pt x="274319" y="274320"/>
                </a:lnTo>
                <a:lnTo>
                  <a:pt x="273944" y="288676"/>
                </a:lnTo>
                <a:lnTo>
                  <a:pt x="272817" y="302994"/>
                </a:lnTo>
                <a:lnTo>
                  <a:pt x="270942" y="317233"/>
                </a:lnTo>
                <a:lnTo>
                  <a:pt x="268325" y="331354"/>
                </a:lnTo>
                <a:lnTo>
                  <a:pt x="264972" y="345319"/>
                </a:lnTo>
                <a:lnTo>
                  <a:pt x="260893" y="359089"/>
                </a:lnTo>
                <a:lnTo>
                  <a:pt x="256099" y="372627"/>
                </a:lnTo>
                <a:lnTo>
                  <a:pt x="250603" y="385895"/>
                </a:lnTo>
                <a:lnTo>
                  <a:pt x="244420" y="398858"/>
                </a:lnTo>
                <a:lnTo>
                  <a:pt x="237568" y="411480"/>
                </a:lnTo>
                <a:lnTo>
                  <a:pt x="0" y="274320"/>
                </a:lnTo>
                <a:close/>
              </a:path>
            </a:pathLst>
          </a:custGeom>
          <a:solidFill>
            <a:srgbClr val="0E9A87"/>
          </a:solidFill>
          <a:ln w="2286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2151301" y="2798064"/>
            <a:ext cx="475137" cy="274320"/>
          </a:xfrm>
          <a:custGeom>
            <a:avLst/>
            <a:gdLst/>
            <a:ahLst/>
            <a:cxnLst/>
            <a:rect l="l" t="t" r="r" b="b"/>
            <a:pathLst>
              <a:path w="475137" h="274320">
                <a:moveTo>
                  <a:pt x="475137" y="137160"/>
                </a:moveTo>
                <a:lnTo>
                  <a:pt x="467633" y="149405"/>
                </a:lnTo>
                <a:lnTo>
                  <a:pt x="459498" y="161241"/>
                </a:lnTo>
                <a:lnTo>
                  <a:pt x="450755" y="172635"/>
                </a:lnTo>
                <a:lnTo>
                  <a:pt x="441428" y="183555"/>
                </a:lnTo>
                <a:lnTo>
                  <a:pt x="431542" y="193973"/>
                </a:lnTo>
                <a:lnTo>
                  <a:pt x="421124" y="203859"/>
                </a:lnTo>
                <a:lnTo>
                  <a:pt x="410204" y="213186"/>
                </a:lnTo>
                <a:lnTo>
                  <a:pt x="398810" y="221929"/>
                </a:lnTo>
                <a:lnTo>
                  <a:pt x="386974" y="230064"/>
                </a:lnTo>
                <a:lnTo>
                  <a:pt x="374728" y="237568"/>
                </a:lnTo>
                <a:lnTo>
                  <a:pt x="362107" y="244420"/>
                </a:lnTo>
                <a:lnTo>
                  <a:pt x="349144" y="250603"/>
                </a:lnTo>
                <a:lnTo>
                  <a:pt x="335876" y="256099"/>
                </a:lnTo>
                <a:lnTo>
                  <a:pt x="322338" y="260893"/>
                </a:lnTo>
                <a:lnTo>
                  <a:pt x="308568" y="264972"/>
                </a:lnTo>
                <a:lnTo>
                  <a:pt x="294603" y="268325"/>
                </a:lnTo>
                <a:lnTo>
                  <a:pt x="280482" y="270942"/>
                </a:lnTo>
                <a:lnTo>
                  <a:pt x="266243" y="272817"/>
                </a:lnTo>
                <a:lnTo>
                  <a:pt x="251925" y="273944"/>
                </a:lnTo>
                <a:lnTo>
                  <a:pt x="237569" y="274320"/>
                </a:lnTo>
                <a:lnTo>
                  <a:pt x="223212" y="273944"/>
                </a:lnTo>
                <a:lnTo>
                  <a:pt x="208894" y="272817"/>
                </a:lnTo>
                <a:lnTo>
                  <a:pt x="194655" y="270942"/>
                </a:lnTo>
                <a:lnTo>
                  <a:pt x="180534" y="268325"/>
                </a:lnTo>
                <a:lnTo>
                  <a:pt x="166569" y="264972"/>
                </a:lnTo>
                <a:lnTo>
                  <a:pt x="152799" y="260893"/>
                </a:lnTo>
                <a:lnTo>
                  <a:pt x="139261" y="256099"/>
                </a:lnTo>
                <a:lnTo>
                  <a:pt x="125993" y="250603"/>
                </a:lnTo>
                <a:lnTo>
                  <a:pt x="113030" y="244420"/>
                </a:lnTo>
                <a:lnTo>
                  <a:pt x="100409" y="237568"/>
                </a:lnTo>
                <a:lnTo>
                  <a:pt x="88163" y="230064"/>
                </a:lnTo>
                <a:lnTo>
                  <a:pt x="76327" y="221929"/>
                </a:lnTo>
                <a:lnTo>
                  <a:pt x="64933" y="213186"/>
                </a:lnTo>
                <a:lnTo>
                  <a:pt x="54013" y="203859"/>
                </a:lnTo>
                <a:lnTo>
                  <a:pt x="43595" y="193973"/>
                </a:lnTo>
                <a:lnTo>
                  <a:pt x="33709" y="183555"/>
                </a:lnTo>
                <a:lnTo>
                  <a:pt x="24382" y="172635"/>
                </a:lnTo>
                <a:lnTo>
                  <a:pt x="15639" y="161241"/>
                </a:lnTo>
                <a:lnTo>
                  <a:pt x="7504" y="149405"/>
                </a:lnTo>
                <a:lnTo>
                  <a:pt x="0" y="137160"/>
                </a:lnTo>
                <a:lnTo>
                  <a:pt x="237569" y="0"/>
                </a:lnTo>
                <a:close/>
              </a:path>
            </a:pathLst>
          </a:custGeom>
          <a:solidFill>
            <a:srgbClr val="0E746B"/>
          </a:solidFill>
          <a:ln w="2286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reeform 19"/>
          <p:cNvSpPr/>
          <p:nvPr/>
        </p:nvSpPr>
        <p:spPr>
          <a:xfrm>
            <a:off x="2114550" y="2523744"/>
            <a:ext cx="274320" cy="411480"/>
          </a:xfrm>
          <a:custGeom>
            <a:avLst/>
            <a:gdLst/>
            <a:ahLst/>
            <a:cxnLst/>
            <a:rect l="l" t="t" r="r" b="b"/>
            <a:pathLst>
              <a:path w="274320" h="411480">
                <a:moveTo>
                  <a:pt x="36751" y="411480"/>
                </a:moveTo>
                <a:lnTo>
                  <a:pt x="29899" y="398858"/>
                </a:lnTo>
                <a:lnTo>
                  <a:pt x="23716" y="385895"/>
                </a:lnTo>
                <a:lnTo>
                  <a:pt x="18220" y="372627"/>
                </a:lnTo>
                <a:lnTo>
                  <a:pt x="13426" y="359089"/>
                </a:lnTo>
                <a:lnTo>
                  <a:pt x="9347" y="345319"/>
                </a:lnTo>
                <a:lnTo>
                  <a:pt x="5994" y="331354"/>
                </a:lnTo>
                <a:lnTo>
                  <a:pt x="3377" y="317233"/>
                </a:lnTo>
                <a:lnTo>
                  <a:pt x="1502" y="302994"/>
                </a:lnTo>
                <a:lnTo>
                  <a:pt x="375" y="288676"/>
                </a:lnTo>
                <a:lnTo>
                  <a:pt x="0" y="274320"/>
                </a:lnTo>
                <a:lnTo>
                  <a:pt x="375" y="259963"/>
                </a:lnTo>
                <a:lnTo>
                  <a:pt x="1502" y="245645"/>
                </a:lnTo>
                <a:lnTo>
                  <a:pt x="3377" y="231406"/>
                </a:lnTo>
                <a:lnTo>
                  <a:pt x="5994" y="217285"/>
                </a:lnTo>
                <a:lnTo>
                  <a:pt x="9347" y="203320"/>
                </a:lnTo>
                <a:lnTo>
                  <a:pt x="13426" y="189550"/>
                </a:lnTo>
                <a:lnTo>
                  <a:pt x="18220" y="176012"/>
                </a:lnTo>
                <a:lnTo>
                  <a:pt x="23716" y="162744"/>
                </a:lnTo>
                <a:lnTo>
                  <a:pt x="29899" y="149781"/>
                </a:lnTo>
                <a:lnTo>
                  <a:pt x="36751" y="137160"/>
                </a:lnTo>
                <a:lnTo>
                  <a:pt x="44255" y="124914"/>
                </a:lnTo>
                <a:lnTo>
                  <a:pt x="52390" y="113078"/>
                </a:lnTo>
                <a:lnTo>
                  <a:pt x="61133" y="101684"/>
                </a:lnTo>
                <a:lnTo>
                  <a:pt x="70460" y="90764"/>
                </a:lnTo>
                <a:lnTo>
                  <a:pt x="80346" y="80346"/>
                </a:lnTo>
                <a:lnTo>
                  <a:pt x="90764" y="70460"/>
                </a:lnTo>
                <a:lnTo>
                  <a:pt x="101684" y="61133"/>
                </a:lnTo>
                <a:lnTo>
                  <a:pt x="113078" y="52390"/>
                </a:lnTo>
                <a:lnTo>
                  <a:pt x="124914" y="44255"/>
                </a:lnTo>
                <a:lnTo>
                  <a:pt x="137159" y="36751"/>
                </a:lnTo>
                <a:lnTo>
                  <a:pt x="149781" y="29899"/>
                </a:lnTo>
                <a:lnTo>
                  <a:pt x="162744" y="23716"/>
                </a:lnTo>
                <a:lnTo>
                  <a:pt x="176012" y="18220"/>
                </a:lnTo>
                <a:lnTo>
                  <a:pt x="189550" y="13426"/>
                </a:lnTo>
                <a:lnTo>
                  <a:pt x="203320" y="9347"/>
                </a:lnTo>
                <a:lnTo>
                  <a:pt x="217285" y="5994"/>
                </a:lnTo>
                <a:lnTo>
                  <a:pt x="231406" y="3377"/>
                </a:lnTo>
                <a:lnTo>
                  <a:pt x="245645" y="1502"/>
                </a:lnTo>
                <a:lnTo>
                  <a:pt x="259963" y="375"/>
                </a:lnTo>
                <a:lnTo>
                  <a:pt x="274320" y="0"/>
                </a:lnTo>
                <a:lnTo>
                  <a:pt x="274320" y="274320"/>
                </a:lnTo>
                <a:close/>
              </a:path>
            </a:pathLst>
          </a:custGeom>
          <a:solidFill>
            <a:srgbClr val="C87E12"/>
          </a:solidFill>
          <a:ln w="2286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114550" y="2523744"/>
            <a:ext cx="548640" cy="548640"/>
          </a:xfrm>
          <a:prstGeom prst="ellipse">
            <a:avLst/>
          </a:prstGeom>
          <a:noFill/>
          <a:ln w="419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675637" y="3118103"/>
            <a:ext cx="142646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4000"/>
              </a:lnSpc>
              <a:spcAft>
                <a:spcPts val="100"/>
              </a:spcAft>
            </a:pPr>
            <a:r>
              <a:rPr sz="850" b="1">
                <a:solidFill>
                  <a:srgbClr val="0D1B2A"/>
                </a:solidFill>
                <a:latin typeface="Calibri"/>
              </a:rPr>
              <a:t>CCU / SCU / EHH</a:t>
            </a:r>
          </a:p>
        </p:txBody>
      </p:sp>
      <p:sp>
        <p:nvSpPr>
          <p:cNvPr id="23" name="Freeform 22"/>
          <p:cNvSpPr/>
          <p:nvPr/>
        </p:nvSpPr>
        <p:spPr>
          <a:xfrm>
            <a:off x="4164177" y="2523744"/>
            <a:ext cx="274320" cy="548640"/>
          </a:xfrm>
          <a:custGeom>
            <a:avLst/>
            <a:gdLst/>
            <a:ahLst/>
            <a:cxnLst/>
            <a:rect l="l" t="t" r="r" b="b"/>
            <a:pathLst>
              <a:path w="274320" h="548640">
                <a:moveTo>
                  <a:pt x="0" y="0"/>
                </a:moveTo>
                <a:lnTo>
                  <a:pt x="21523" y="845"/>
                </a:lnTo>
                <a:lnTo>
                  <a:pt x="42913" y="3377"/>
                </a:lnTo>
                <a:lnTo>
                  <a:pt x="64039" y="7579"/>
                </a:lnTo>
                <a:lnTo>
                  <a:pt x="84770" y="13426"/>
                </a:lnTo>
                <a:lnTo>
                  <a:pt x="104978" y="20881"/>
                </a:lnTo>
                <a:lnTo>
                  <a:pt x="124539" y="29899"/>
                </a:lnTo>
                <a:lnTo>
                  <a:pt x="143332" y="40423"/>
                </a:lnTo>
                <a:lnTo>
                  <a:pt x="161241" y="52390"/>
                </a:lnTo>
                <a:lnTo>
                  <a:pt x="178157" y="65725"/>
                </a:lnTo>
                <a:lnTo>
                  <a:pt x="193974" y="80346"/>
                </a:lnTo>
                <a:lnTo>
                  <a:pt x="208595" y="96163"/>
                </a:lnTo>
                <a:lnTo>
                  <a:pt x="221930" y="113078"/>
                </a:lnTo>
                <a:lnTo>
                  <a:pt x="233896" y="130988"/>
                </a:lnTo>
                <a:lnTo>
                  <a:pt x="244421" y="149781"/>
                </a:lnTo>
                <a:lnTo>
                  <a:pt x="253439" y="169342"/>
                </a:lnTo>
                <a:lnTo>
                  <a:pt x="260894" y="189550"/>
                </a:lnTo>
                <a:lnTo>
                  <a:pt x="266741" y="210281"/>
                </a:lnTo>
                <a:lnTo>
                  <a:pt x="270943" y="231406"/>
                </a:lnTo>
                <a:lnTo>
                  <a:pt x="273474" y="252797"/>
                </a:lnTo>
                <a:lnTo>
                  <a:pt x="274320" y="274320"/>
                </a:lnTo>
                <a:lnTo>
                  <a:pt x="273474" y="295842"/>
                </a:lnTo>
                <a:lnTo>
                  <a:pt x="270943" y="317233"/>
                </a:lnTo>
                <a:lnTo>
                  <a:pt x="266741" y="338358"/>
                </a:lnTo>
                <a:lnTo>
                  <a:pt x="260894" y="359089"/>
                </a:lnTo>
                <a:lnTo>
                  <a:pt x="253439" y="379297"/>
                </a:lnTo>
                <a:lnTo>
                  <a:pt x="244421" y="398858"/>
                </a:lnTo>
                <a:lnTo>
                  <a:pt x="233896" y="417651"/>
                </a:lnTo>
                <a:lnTo>
                  <a:pt x="221930" y="435561"/>
                </a:lnTo>
                <a:lnTo>
                  <a:pt x="208595" y="452476"/>
                </a:lnTo>
                <a:lnTo>
                  <a:pt x="193974" y="468293"/>
                </a:lnTo>
                <a:lnTo>
                  <a:pt x="178157" y="482914"/>
                </a:lnTo>
                <a:lnTo>
                  <a:pt x="161241" y="496249"/>
                </a:lnTo>
                <a:lnTo>
                  <a:pt x="143332" y="508216"/>
                </a:lnTo>
                <a:lnTo>
                  <a:pt x="124539" y="518740"/>
                </a:lnTo>
                <a:lnTo>
                  <a:pt x="104978" y="527758"/>
                </a:lnTo>
                <a:lnTo>
                  <a:pt x="84770" y="535213"/>
                </a:lnTo>
                <a:lnTo>
                  <a:pt x="64039" y="541060"/>
                </a:lnTo>
                <a:lnTo>
                  <a:pt x="42913" y="545262"/>
                </a:lnTo>
                <a:lnTo>
                  <a:pt x="21523" y="547794"/>
                </a:lnTo>
                <a:lnTo>
                  <a:pt x="0" y="548640"/>
                </a:lnTo>
                <a:lnTo>
                  <a:pt x="0" y="274320"/>
                </a:lnTo>
                <a:close/>
              </a:path>
            </a:pathLst>
          </a:custGeom>
          <a:solidFill>
            <a:srgbClr val="1F6FB2"/>
          </a:solidFill>
          <a:ln w="2286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Freeform 23"/>
          <p:cNvSpPr/>
          <p:nvPr/>
        </p:nvSpPr>
        <p:spPr>
          <a:xfrm>
            <a:off x="3889857" y="2523744"/>
            <a:ext cx="274320" cy="548640"/>
          </a:xfrm>
          <a:custGeom>
            <a:avLst/>
            <a:gdLst/>
            <a:ahLst/>
            <a:cxnLst/>
            <a:rect l="l" t="t" r="r" b="b"/>
            <a:pathLst>
              <a:path w="274320" h="548640">
                <a:moveTo>
                  <a:pt x="274320" y="548640"/>
                </a:moveTo>
                <a:lnTo>
                  <a:pt x="252797" y="547794"/>
                </a:lnTo>
                <a:lnTo>
                  <a:pt x="231407" y="545262"/>
                </a:lnTo>
                <a:lnTo>
                  <a:pt x="210281" y="541060"/>
                </a:lnTo>
                <a:lnTo>
                  <a:pt x="189551" y="535213"/>
                </a:lnTo>
                <a:lnTo>
                  <a:pt x="169342" y="527758"/>
                </a:lnTo>
                <a:lnTo>
                  <a:pt x="149781" y="518740"/>
                </a:lnTo>
                <a:lnTo>
                  <a:pt x="130988" y="508216"/>
                </a:lnTo>
                <a:lnTo>
                  <a:pt x="113079" y="496249"/>
                </a:lnTo>
                <a:lnTo>
                  <a:pt x="96164" y="482914"/>
                </a:lnTo>
                <a:lnTo>
                  <a:pt x="80347" y="468293"/>
                </a:lnTo>
                <a:lnTo>
                  <a:pt x="65726" y="452476"/>
                </a:lnTo>
                <a:lnTo>
                  <a:pt x="52391" y="435561"/>
                </a:lnTo>
                <a:lnTo>
                  <a:pt x="40424" y="417651"/>
                </a:lnTo>
                <a:lnTo>
                  <a:pt x="29899" y="398858"/>
                </a:lnTo>
                <a:lnTo>
                  <a:pt x="20881" y="379297"/>
                </a:lnTo>
                <a:lnTo>
                  <a:pt x="13426" y="359089"/>
                </a:lnTo>
                <a:lnTo>
                  <a:pt x="7580" y="338358"/>
                </a:lnTo>
                <a:lnTo>
                  <a:pt x="3377" y="317233"/>
                </a:lnTo>
                <a:lnTo>
                  <a:pt x="846" y="295842"/>
                </a:lnTo>
                <a:lnTo>
                  <a:pt x="0" y="274320"/>
                </a:lnTo>
                <a:lnTo>
                  <a:pt x="846" y="252797"/>
                </a:lnTo>
                <a:lnTo>
                  <a:pt x="3377" y="231406"/>
                </a:lnTo>
                <a:lnTo>
                  <a:pt x="7580" y="210281"/>
                </a:lnTo>
                <a:lnTo>
                  <a:pt x="13426" y="189550"/>
                </a:lnTo>
                <a:lnTo>
                  <a:pt x="20881" y="169342"/>
                </a:lnTo>
                <a:lnTo>
                  <a:pt x="29899" y="149781"/>
                </a:lnTo>
                <a:lnTo>
                  <a:pt x="40424" y="130988"/>
                </a:lnTo>
                <a:lnTo>
                  <a:pt x="52391" y="113078"/>
                </a:lnTo>
                <a:lnTo>
                  <a:pt x="65726" y="96163"/>
                </a:lnTo>
                <a:lnTo>
                  <a:pt x="80347" y="80346"/>
                </a:lnTo>
                <a:lnTo>
                  <a:pt x="96164" y="65725"/>
                </a:lnTo>
                <a:lnTo>
                  <a:pt x="113079" y="52390"/>
                </a:lnTo>
                <a:lnTo>
                  <a:pt x="130988" y="40423"/>
                </a:lnTo>
                <a:lnTo>
                  <a:pt x="149781" y="29899"/>
                </a:lnTo>
                <a:lnTo>
                  <a:pt x="169342" y="20881"/>
                </a:lnTo>
                <a:lnTo>
                  <a:pt x="189551" y="13426"/>
                </a:lnTo>
                <a:lnTo>
                  <a:pt x="210281" y="7579"/>
                </a:lnTo>
                <a:lnTo>
                  <a:pt x="231407" y="3377"/>
                </a:lnTo>
                <a:lnTo>
                  <a:pt x="252797" y="845"/>
                </a:lnTo>
                <a:lnTo>
                  <a:pt x="274320" y="0"/>
                </a:lnTo>
                <a:lnTo>
                  <a:pt x="274320" y="274320"/>
                </a:lnTo>
                <a:close/>
              </a:path>
            </a:pathLst>
          </a:custGeom>
          <a:solidFill>
            <a:srgbClr val="C87E12"/>
          </a:solidFill>
          <a:ln w="2286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889857" y="2523744"/>
            <a:ext cx="548640" cy="548640"/>
          </a:xfrm>
          <a:prstGeom prst="ellipse">
            <a:avLst/>
          </a:prstGeom>
          <a:noFill/>
          <a:ln w="419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3450945" y="3118103"/>
            <a:ext cx="142646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4000"/>
              </a:lnSpc>
              <a:spcAft>
                <a:spcPts val="100"/>
              </a:spcAft>
            </a:pPr>
            <a:r>
              <a:rPr sz="850" b="1">
                <a:solidFill>
                  <a:srgbClr val="0D1B2A"/>
                </a:solidFill>
                <a:latin typeface="Calibri"/>
              </a:rPr>
              <a:t>SEH + EHH</a:t>
            </a:r>
          </a:p>
        </p:txBody>
      </p:sp>
      <p:sp>
        <p:nvSpPr>
          <p:cNvPr id="27" name="Freeform 26"/>
          <p:cNvSpPr/>
          <p:nvPr/>
        </p:nvSpPr>
        <p:spPr>
          <a:xfrm>
            <a:off x="5055717" y="2523744"/>
            <a:ext cx="274320" cy="548640"/>
          </a:xfrm>
          <a:custGeom>
            <a:avLst/>
            <a:gdLst/>
            <a:ahLst/>
            <a:cxnLst/>
            <a:rect l="l" t="t" r="r" b="b"/>
            <a:pathLst>
              <a:path w="274320" h="548640">
                <a:moveTo>
                  <a:pt x="0" y="0"/>
                </a:moveTo>
                <a:lnTo>
                  <a:pt x="21523" y="845"/>
                </a:lnTo>
                <a:lnTo>
                  <a:pt x="42913" y="3377"/>
                </a:lnTo>
                <a:lnTo>
                  <a:pt x="64039" y="7579"/>
                </a:lnTo>
                <a:lnTo>
                  <a:pt x="84770" y="13426"/>
                </a:lnTo>
                <a:lnTo>
                  <a:pt x="104978" y="20881"/>
                </a:lnTo>
                <a:lnTo>
                  <a:pt x="124539" y="29899"/>
                </a:lnTo>
                <a:lnTo>
                  <a:pt x="143332" y="40423"/>
                </a:lnTo>
                <a:lnTo>
                  <a:pt x="161241" y="52390"/>
                </a:lnTo>
                <a:lnTo>
                  <a:pt x="178157" y="65725"/>
                </a:lnTo>
                <a:lnTo>
                  <a:pt x="193974" y="80346"/>
                </a:lnTo>
                <a:lnTo>
                  <a:pt x="208595" y="96163"/>
                </a:lnTo>
                <a:lnTo>
                  <a:pt x="221930" y="113078"/>
                </a:lnTo>
                <a:lnTo>
                  <a:pt x="233896" y="130988"/>
                </a:lnTo>
                <a:lnTo>
                  <a:pt x="244421" y="149781"/>
                </a:lnTo>
                <a:lnTo>
                  <a:pt x="253439" y="169342"/>
                </a:lnTo>
                <a:lnTo>
                  <a:pt x="260894" y="189550"/>
                </a:lnTo>
                <a:lnTo>
                  <a:pt x="266741" y="210281"/>
                </a:lnTo>
                <a:lnTo>
                  <a:pt x="270943" y="231406"/>
                </a:lnTo>
                <a:lnTo>
                  <a:pt x="273474" y="252797"/>
                </a:lnTo>
                <a:lnTo>
                  <a:pt x="274320" y="274320"/>
                </a:lnTo>
                <a:lnTo>
                  <a:pt x="273474" y="295842"/>
                </a:lnTo>
                <a:lnTo>
                  <a:pt x="270943" y="317233"/>
                </a:lnTo>
                <a:lnTo>
                  <a:pt x="266741" y="338358"/>
                </a:lnTo>
                <a:lnTo>
                  <a:pt x="260894" y="359089"/>
                </a:lnTo>
                <a:lnTo>
                  <a:pt x="253439" y="379297"/>
                </a:lnTo>
                <a:lnTo>
                  <a:pt x="244421" y="398858"/>
                </a:lnTo>
                <a:lnTo>
                  <a:pt x="233896" y="417651"/>
                </a:lnTo>
                <a:lnTo>
                  <a:pt x="221930" y="435561"/>
                </a:lnTo>
                <a:lnTo>
                  <a:pt x="208595" y="452476"/>
                </a:lnTo>
                <a:lnTo>
                  <a:pt x="193974" y="468293"/>
                </a:lnTo>
                <a:lnTo>
                  <a:pt x="178157" y="482914"/>
                </a:lnTo>
                <a:lnTo>
                  <a:pt x="161241" y="496249"/>
                </a:lnTo>
                <a:lnTo>
                  <a:pt x="143332" y="508216"/>
                </a:lnTo>
                <a:lnTo>
                  <a:pt x="124539" y="518740"/>
                </a:lnTo>
                <a:lnTo>
                  <a:pt x="104978" y="527758"/>
                </a:lnTo>
                <a:lnTo>
                  <a:pt x="84770" y="535213"/>
                </a:lnTo>
                <a:lnTo>
                  <a:pt x="64039" y="541060"/>
                </a:lnTo>
                <a:lnTo>
                  <a:pt x="42913" y="545262"/>
                </a:lnTo>
                <a:lnTo>
                  <a:pt x="21523" y="547794"/>
                </a:lnTo>
                <a:lnTo>
                  <a:pt x="0" y="548640"/>
                </a:lnTo>
                <a:lnTo>
                  <a:pt x="0" y="274320"/>
                </a:lnTo>
                <a:close/>
              </a:path>
            </a:pathLst>
          </a:custGeom>
          <a:solidFill>
            <a:srgbClr val="0E9A87"/>
          </a:solidFill>
          <a:ln w="2286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4781397" y="2523744"/>
            <a:ext cx="274320" cy="548640"/>
          </a:xfrm>
          <a:custGeom>
            <a:avLst/>
            <a:gdLst/>
            <a:ahLst/>
            <a:cxnLst/>
            <a:rect l="l" t="t" r="r" b="b"/>
            <a:pathLst>
              <a:path w="274320" h="548640">
                <a:moveTo>
                  <a:pt x="274320" y="548640"/>
                </a:moveTo>
                <a:lnTo>
                  <a:pt x="252797" y="547794"/>
                </a:lnTo>
                <a:lnTo>
                  <a:pt x="231407" y="545262"/>
                </a:lnTo>
                <a:lnTo>
                  <a:pt x="210281" y="541060"/>
                </a:lnTo>
                <a:lnTo>
                  <a:pt x="189551" y="535213"/>
                </a:lnTo>
                <a:lnTo>
                  <a:pt x="169342" y="527758"/>
                </a:lnTo>
                <a:lnTo>
                  <a:pt x="149781" y="518740"/>
                </a:lnTo>
                <a:lnTo>
                  <a:pt x="130988" y="508216"/>
                </a:lnTo>
                <a:lnTo>
                  <a:pt x="113079" y="496249"/>
                </a:lnTo>
                <a:lnTo>
                  <a:pt x="96164" y="482914"/>
                </a:lnTo>
                <a:lnTo>
                  <a:pt x="80347" y="468293"/>
                </a:lnTo>
                <a:lnTo>
                  <a:pt x="65726" y="452476"/>
                </a:lnTo>
                <a:lnTo>
                  <a:pt x="52391" y="435561"/>
                </a:lnTo>
                <a:lnTo>
                  <a:pt x="40424" y="417651"/>
                </a:lnTo>
                <a:lnTo>
                  <a:pt x="29899" y="398858"/>
                </a:lnTo>
                <a:lnTo>
                  <a:pt x="20881" y="379297"/>
                </a:lnTo>
                <a:lnTo>
                  <a:pt x="13426" y="359089"/>
                </a:lnTo>
                <a:lnTo>
                  <a:pt x="7580" y="338358"/>
                </a:lnTo>
                <a:lnTo>
                  <a:pt x="3377" y="317233"/>
                </a:lnTo>
                <a:lnTo>
                  <a:pt x="846" y="295842"/>
                </a:lnTo>
                <a:lnTo>
                  <a:pt x="0" y="274320"/>
                </a:lnTo>
                <a:lnTo>
                  <a:pt x="846" y="252797"/>
                </a:lnTo>
                <a:lnTo>
                  <a:pt x="3377" y="231406"/>
                </a:lnTo>
                <a:lnTo>
                  <a:pt x="7580" y="210281"/>
                </a:lnTo>
                <a:lnTo>
                  <a:pt x="13426" y="189550"/>
                </a:lnTo>
                <a:lnTo>
                  <a:pt x="20881" y="169342"/>
                </a:lnTo>
                <a:lnTo>
                  <a:pt x="29899" y="149781"/>
                </a:lnTo>
                <a:lnTo>
                  <a:pt x="40424" y="130988"/>
                </a:lnTo>
                <a:lnTo>
                  <a:pt x="52391" y="113078"/>
                </a:lnTo>
                <a:lnTo>
                  <a:pt x="65726" y="96163"/>
                </a:lnTo>
                <a:lnTo>
                  <a:pt x="80347" y="80346"/>
                </a:lnTo>
                <a:lnTo>
                  <a:pt x="96164" y="65725"/>
                </a:lnTo>
                <a:lnTo>
                  <a:pt x="113079" y="52390"/>
                </a:lnTo>
                <a:lnTo>
                  <a:pt x="130988" y="40423"/>
                </a:lnTo>
                <a:lnTo>
                  <a:pt x="149781" y="29899"/>
                </a:lnTo>
                <a:lnTo>
                  <a:pt x="169342" y="20881"/>
                </a:lnTo>
                <a:lnTo>
                  <a:pt x="189551" y="13426"/>
                </a:lnTo>
                <a:lnTo>
                  <a:pt x="210281" y="7579"/>
                </a:lnTo>
                <a:lnTo>
                  <a:pt x="231407" y="3377"/>
                </a:lnTo>
                <a:lnTo>
                  <a:pt x="252797" y="845"/>
                </a:lnTo>
                <a:lnTo>
                  <a:pt x="274320" y="0"/>
                </a:lnTo>
                <a:lnTo>
                  <a:pt x="274320" y="274320"/>
                </a:lnTo>
                <a:close/>
              </a:path>
            </a:pathLst>
          </a:custGeom>
          <a:solidFill>
            <a:srgbClr val="0E746B"/>
          </a:solidFill>
          <a:ln w="2286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781397" y="2523744"/>
            <a:ext cx="548640" cy="548640"/>
          </a:xfrm>
          <a:prstGeom prst="ellipse">
            <a:avLst/>
          </a:prstGeom>
          <a:noFill/>
          <a:ln w="419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4342485" y="3118103"/>
            <a:ext cx="142646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4000"/>
              </a:lnSpc>
              <a:spcAft>
                <a:spcPts val="100"/>
              </a:spcAft>
            </a:pPr>
            <a:r>
              <a:rPr sz="850" b="1">
                <a:solidFill>
                  <a:srgbClr val="0D1B2A"/>
                </a:solidFill>
                <a:latin typeface="Calibri"/>
              </a:rPr>
              <a:t>CCU / SCU</a:t>
            </a:r>
          </a:p>
        </p:txBody>
      </p:sp>
      <p:sp>
        <p:nvSpPr>
          <p:cNvPr id="31" name="Freeform 30"/>
          <p:cNvSpPr/>
          <p:nvPr/>
        </p:nvSpPr>
        <p:spPr>
          <a:xfrm>
            <a:off x="2699765" y="2798064"/>
            <a:ext cx="1153516" cy="0"/>
          </a:xfrm>
          <a:custGeom>
            <a:avLst/>
            <a:gdLst/>
            <a:ahLst/>
            <a:cxnLst/>
            <a:rect l="l" t="t" r="r" b="b"/>
            <a:pathLst>
              <a:path w="1153516" h="0">
                <a:moveTo>
                  <a:pt x="0" y="0"/>
                </a:moveTo>
                <a:lnTo>
                  <a:pt x="26217" y="0"/>
                </a:lnTo>
                <a:lnTo>
                  <a:pt x="52433" y="0"/>
                </a:lnTo>
                <a:lnTo>
                  <a:pt x="78649" y="0"/>
                </a:lnTo>
                <a:lnTo>
                  <a:pt x="104866" y="0"/>
                </a:lnTo>
                <a:lnTo>
                  <a:pt x="131082" y="0"/>
                </a:lnTo>
                <a:lnTo>
                  <a:pt x="157298" y="0"/>
                </a:lnTo>
                <a:lnTo>
                  <a:pt x="183514" y="0"/>
                </a:lnTo>
                <a:lnTo>
                  <a:pt x="209731" y="0"/>
                </a:lnTo>
                <a:lnTo>
                  <a:pt x="235947" y="0"/>
                </a:lnTo>
                <a:lnTo>
                  <a:pt x="262163" y="0"/>
                </a:lnTo>
                <a:lnTo>
                  <a:pt x="288379" y="0"/>
                </a:lnTo>
                <a:lnTo>
                  <a:pt x="314596" y="0"/>
                </a:lnTo>
                <a:lnTo>
                  <a:pt x="340812" y="0"/>
                </a:lnTo>
                <a:lnTo>
                  <a:pt x="367028" y="0"/>
                </a:lnTo>
                <a:lnTo>
                  <a:pt x="393244" y="0"/>
                </a:lnTo>
                <a:lnTo>
                  <a:pt x="419461" y="0"/>
                </a:lnTo>
                <a:lnTo>
                  <a:pt x="445677" y="0"/>
                </a:lnTo>
                <a:lnTo>
                  <a:pt x="471893" y="0"/>
                </a:lnTo>
                <a:lnTo>
                  <a:pt x="498110" y="0"/>
                </a:lnTo>
                <a:lnTo>
                  <a:pt x="524326" y="0"/>
                </a:lnTo>
                <a:lnTo>
                  <a:pt x="550542" y="0"/>
                </a:lnTo>
                <a:lnTo>
                  <a:pt x="576758" y="0"/>
                </a:lnTo>
                <a:lnTo>
                  <a:pt x="602975" y="0"/>
                </a:lnTo>
                <a:lnTo>
                  <a:pt x="629191" y="0"/>
                </a:lnTo>
                <a:lnTo>
                  <a:pt x="655407" y="0"/>
                </a:lnTo>
                <a:lnTo>
                  <a:pt x="681623" y="0"/>
                </a:lnTo>
                <a:lnTo>
                  <a:pt x="707840" y="0"/>
                </a:lnTo>
                <a:lnTo>
                  <a:pt x="734056" y="0"/>
                </a:lnTo>
                <a:lnTo>
                  <a:pt x="760272" y="0"/>
                </a:lnTo>
                <a:lnTo>
                  <a:pt x="786488" y="0"/>
                </a:lnTo>
                <a:lnTo>
                  <a:pt x="812705" y="0"/>
                </a:lnTo>
                <a:lnTo>
                  <a:pt x="838921" y="0"/>
                </a:lnTo>
                <a:lnTo>
                  <a:pt x="865137" y="0"/>
                </a:lnTo>
                <a:lnTo>
                  <a:pt x="891353" y="0"/>
                </a:lnTo>
                <a:lnTo>
                  <a:pt x="917570" y="0"/>
                </a:lnTo>
                <a:lnTo>
                  <a:pt x="943786" y="0"/>
                </a:lnTo>
                <a:lnTo>
                  <a:pt x="970002" y="0"/>
                </a:lnTo>
                <a:lnTo>
                  <a:pt x="996219" y="0"/>
                </a:lnTo>
                <a:lnTo>
                  <a:pt x="1022435" y="0"/>
                </a:lnTo>
                <a:lnTo>
                  <a:pt x="1048651" y="0"/>
                </a:lnTo>
                <a:lnTo>
                  <a:pt x="1074867" y="0"/>
                </a:lnTo>
                <a:lnTo>
                  <a:pt x="1101084" y="0"/>
                </a:lnTo>
                <a:lnTo>
                  <a:pt x="1127300" y="0"/>
                </a:lnTo>
                <a:lnTo>
                  <a:pt x="1153516" y="0"/>
                </a:lnTo>
              </a:path>
            </a:pathLst>
          </a:custGeom>
          <a:noFill/>
          <a:ln w="44450">
            <a:solidFill>
              <a:srgbClr val="C87E12">
                <a:alpha val="8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644901" y="2743200"/>
            <a:ext cx="109728" cy="109728"/>
          </a:xfrm>
          <a:prstGeom prst="ellipse">
            <a:avLst/>
          </a:prstGeom>
          <a:solidFill>
            <a:srgbClr val="C87E12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Oval 32"/>
          <p:cNvSpPr/>
          <p:nvPr/>
        </p:nvSpPr>
        <p:spPr>
          <a:xfrm>
            <a:off x="3798417" y="2743200"/>
            <a:ext cx="109728" cy="109728"/>
          </a:xfrm>
          <a:prstGeom prst="ellipse">
            <a:avLst/>
          </a:prstGeom>
          <a:solidFill>
            <a:srgbClr val="C87E12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ounded Rectangle 33"/>
          <p:cNvSpPr/>
          <p:nvPr/>
        </p:nvSpPr>
        <p:spPr>
          <a:xfrm>
            <a:off x="6278727" y="1700784"/>
            <a:ext cx="5272887" cy="1883664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9F1"/>
            </a:solidFill>
          </a:ln>
          <a:effectLst>
            <a:outerShdw blurRad="70000" dist="22000" dir="5400000" rotWithShape="0">
              <a:srgbClr val="1B3A5C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Oval 34"/>
          <p:cNvSpPr/>
          <p:nvPr/>
        </p:nvSpPr>
        <p:spPr>
          <a:xfrm>
            <a:off x="6479895" y="1865376"/>
            <a:ext cx="402336" cy="402336"/>
          </a:xfrm>
          <a:prstGeom prst="ellipse">
            <a:avLst/>
          </a:prstGeom>
          <a:solidFill>
            <a:srgbClr val="1F6FB2">
              <a:alpha val="10000"/>
            </a:srgbClr>
          </a:solidFill>
          <a:ln w="15875">
            <a:solidFill>
              <a:srgbClr val="1F6F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1F6FB2"/>
                </a:solidFill>
                <a:latin typeface="Calibri"/>
              </a:rPr>
              <a:t>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91959" y="1865376"/>
            <a:ext cx="4267047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1">
                <a:solidFill>
                  <a:srgbClr val="0D1B2A"/>
                </a:solidFill>
                <a:latin typeface="Calibri"/>
              </a:rPr>
              <a:t>ICU en SCU samen op de ICU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90207" y="2304288"/>
            <a:ext cx="17830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800" b="1" spc="120">
                <a:solidFill>
                  <a:srgbClr val="8B9AAA"/>
                </a:solidFill>
                <a:latin typeface="Calibri"/>
              </a:rPr>
              <a:t>NU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57055" y="2304288"/>
            <a:ext cx="17830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800" b="1" spc="120">
                <a:solidFill>
                  <a:srgbClr val="8B9AAA"/>
                </a:solidFill>
                <a:latin typeface="Calibri"/>
              </a:rPr>
              <a:t>STRAKS</a:t>
            </a:r>
          </a:p>
        </p:txBody>
      </p:sp>
      <p:sp>
        <p:nvSpPr>
          <p:cNvPr id="39" name="Oval 38"/>
          <p:cNvSpPr/>
          <p:nvPr/>
        </p:nvSpPr>
        <p:spPr>
          <a:xfrm>
            <a:off x="6861657" y="2523744"/>
            <a:ext cx="548640" cy="548640"/>
          </a:xfrm>
          <a:prstGeom prst="ellipse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Oval 39"/>
          <p:cNvSpPr/>
          <p:nvPr/>
        </p:nvSpPr>
        <p:spPr>
          <a:xfrm>
            <a:off x="6861657" y="2523744"/>
            <a:ext cx="548640" cy="548640"/>
          </a:xfrm>
          <a:prstGeom prst="ellipse">
            <a:avLst/>
          </a:prstGeom>
          <a:noFill/>
          <a:ln w="419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6422745" y="3118103"/>
            <a:ext cx="142646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4000"/>
              </a:lnSpc>
              <a:spcAft>
                <a:spcPts val="100"/>
              </a:spcAft>
            </a:pPr>
            <a:r>
              <a:rPr sz="850" b="1">
                <a:solidFill>
                  <a:srgbClr val="0D1B2A"/>
                </a:solidFill>
                <a:latin typeface="Calibri"/>
              </a:rPr>
              <a:t>ICU</a:t>
            </a:r>
          </a:p>
        </p:txBody>
      </p:sp>
      <p:sp>
        <p:nvSpPr>
          <p:cNvPr id="42" name="Freeform 41"/>
          <p:cNvSpPr/>
          <p:nvPr/>
        </p:nvSpPr>
        <p:spPr>
          <a:xfrm>
            <a:off x="8027517" y="2523744"/>
            <a:ext cx="274320" cy="411480"/>
          </a:xfrm>
          <a:custGeom>
            <a:avLst/>
            <a:gdLst/>
            <a:ahLst/>
            <a:cxnLst/>
            <a:rect l="l" t="t" r="r" b="b"/>
            <a:pathLst>
              <a:path w="274320" h="411480">
                <a:moveTo>
                  <a:pt x="0" y="0"/>
                </a:moveTo>
                <a:lnTo>
                  <a:pt x="14357" y="375"/>
                </a:lnTo>
                <a:lnTo>
                  <a:pt x="28674" y="1502"/>
                </a:lnTo>
                <a:lnTo>
                  <a:pt x="42913" y="3377"/>
                </a:lnTo>
                <a:lnTo>
                  <a:pt x="57034" y="5994"/>
                </a:lnTo>
                <a:lnTo>
                  <a:pt x="70999" y="9347"/>
                </a:lnTo>
                <a:lnTo>
                  <a:pt x="84770" y="13426"/>
                </a:lnTo>
                <a:lnTo>
                  <a:pt x="98308" y="18220"/>
                </a:lnTo>
                <a:lnTo>
                  <a:pt x="111576" y="23716"/>
                </a:lnTo>
                <a:lnTo>
                  <a:pt x="124539" y="29899"/>
                </a:lnTo>
                <a:lnTo>
                  <a:pt x="137160" y="36751"/>
                </a:lnTo>
                <a:lnTo>
                  <a:pt x="149405" y="44255"/>
                </a:lnTo>
                <a:lnTo>
                  <a:pt x="161241" y="52390"/>
                </a:lnTo>
                <a:lnTo>
                  <a:pt x="172635" y="61133"/>
                </a:lnTo>
                <a:lnTo>
                  <a:pt x="183556" y="70460"/>
                </a:lnTo>
                <a:lnTo>
                  <a:pt x="193974" y="80346"/>
                </a:lnTo>
                <a:lnTo>
                  <a:pt x="203860" y="90764"/>
                </a:lnTo>
                <a:lnTo>
                  <a:pt x="213187" y="101684"/>
                </a:lnTo>
                <a:lnTo>
                  <a:pt x="221930" y="113078"/>
                </a:lnTo>
                <a:lnTo>
                  <a:pt x="230064" y="124914"/>
                </a:lnTo>
                <a:lnTo>
                  <a:pt x="237568" y="137160"/>
                </a:lnTo>
                <a:lnTo>
                  <a:pt x="244421" y="149781"/>
                </a:lnTo>
                <a:lnTo>
                  <a:pt x="250604" y="162744"/>
                </a:lnTo>
                <a:lnTo>
                  <a:pt x="256100" y="176012"/>
                </a:lnTo>
                <a:lnTo>
                  <a:pt x="260894" y="189550"/>
                </a:lnTo>
                <a:lnTo>
                  <a:pt x="264973" y="203320"/>
                </a:lnTo>
                <a:lnTo>
                  <a:pt x="268326" y="217285"/>
                </a:lnTo>
                <a:lnTo>
                  <a:pt x="270943" y="231406"/>
                </a:lnTo>
                <a:lnTo>
                  <a:pt x="272817" y="245645"/>
                </a:lnTo>
                <a:lnTo>
                  <a:pt x="273944" y="259963"/>
                </a:lnTo>
                <a:lnTo>
                  <a:pt x="274320" y="274320"/>
                </a:lnTo>
                <a:lnTo>
                  <a:pt x="273944" y="288676"/>
                </a:lnTo>
                <a:lnTo>
                  <a:pt x="272817" y="302994"/>
                </a:lnTo>
                <a:lnTo>
                  <a:pt x="270943" y="317233"/>
                </a:lnTo>
                <a:lnTo>
                  <a:pt x="268326" y="331354"/>
                </a:lnTo>
                <a:lnTo>
                  <a:pt x="264973" y="345319"/>
                </a:lnTo>
                <a:lnTo>
                  <a:pt x="260894" y="359089"/>
                </a:lnTo>
                <a:lnTo>
                  <a:pt x="256100" y="372627"/>
                </a:lnTo>
                <a:lnTo>
                  <a:pt x="250604" y="385895"/>
                </a:lnTo>
                <a:lnTo>
                  <a:pt x="244421" y="398858"/>
                </a:lnTo>
                <a:lnTo>
                  <a:pt x="237568" y="411480"/>
                </a:lnTo>
                <a:lnTo>
                  <a:pt x="0" y="274320"/>
                </a:lnTo>
                <a:close/>
              </a:path>
            </a:pathLst>
          </a:custGeom>
          <a:solidFill>
            <a:srgbClr val="0E9A87"/>
          </a:solidFill>
          <a:ln w="2286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Freeform 42"/>
          <p:cNvSpPr/>
          <p:nvPr/>
        </p:nvSpPr>
        <p:spPr>
          <a:xfrm>
            <a:off x="7789949" y="2798064"/>
            <a:ext cx="475136" cy="274320"/>
          </a:xfrm>
          <a:custGeom>
            <a:avLst/>
            <a:gdLst/>
            <a:ahLst/>
            <a:cxnLst/>
            <a:rect l="l" t="t" r="r" b="b"/>
            <a:pathLst>
              <a:path w="475136" h="274320">
                <a:moveTo>
                  <a:pt x="475136" y="137160"/>
                </a:moveTo>
                <a:lnTo>
                  <a:pt x="467632" y="149405"/>
                </a:lnTo>
                <a:lnTo>
                  <a:pt x="459498" y="161241"/>
                </a:lnTo>
                <a:lnTo>
                  <a:pt x="450755" y="172635"/>
                </a:lnTo>
                <a:lnTo>
                  <a:pt x="441428" y="183555"/>
                </a:lnTo>
                <a:lnTo>
                  <a:pt x="431542" y="193973"/>
                </a:lnTo>
                <a:lnTo>
                  <a:pt x="421124" y="203859"/>
                </a:lnTo>
                <a:lnTo>
                  <a:pt x="410203" y="213186"/>
                </a:lnTo>
                <a:lnTo>
                  <a:pt x="398809" y="221929"/>
                </a:lnTo>
                <a:lnTo>
                  <a:pt x="386973" y="230064"/>
                </a:lnTo>
                <a:lnTo>
                  <a:pt x="374728" y="237568"/>
                </a:lnTo>
                <a:lnTo>
                  <a:pt x="362107" y="244420"/>
                </a:lnTo>
                <a:lnTo>
                  <a:pt x="349144" y="250603"/>
                </a:lnTo>
                <a:lnTo>
                  <a:pt x="335876" y="256099"/>
                </a:lnTo>
                <a:lnTo>
                  <a:pt x="322338" y="260893"/>
                </a:lnTo>
                <a:lnTo>
                  <a:pt x="308567" y="264972"/>
                </a:lnTo>
                <a:lnTo>
                  <a:pt x="294602" y="268325"/>
                </a:lnTo>
                <a:lnTo>
                  <a:pt x="280481" y="270942"/>
                </a:lnTo>
                <a:lnTo>
                  <a:pt x="266242" y="272817"/>
                </a:lnTo>
                <a:lnTo>
                  <a:pt x="251925" y="273944"/>
                </a:lnTo>
                <a:lnTo>
                  <a:pt x="237568" y="274320"/>
                </a:lnTo>
                <a:lnTo>
                  <a:pt x="223211" y="273944"/>
                </a:lnTo>
                <a:lnTo>
                  <a:pt x="208894" y="272817"/>
                </a:lnTo>
                <a:lnTo>
                  <a:pt x="194655" y="270942"/>
                </a:lnTo>
                <a:lnTo>
                  <a:pt x="180534" y="268325"/>
                </a:lnTo>
                <a:lnTo>
                  <a:pt x="166569" y="264972"/>
                </a:lnTo>
                <a:lnTo>
                  <a:pt x="152799" y="260893"/>
                </a:lnTo>
                <a:lnTo>
                  <a:pt x="139261" y="256099"/>
                </a:lnTo>
                <a:lnTo>
                  <a:pt x="125992" y="250603"/>
                </a:lnTo>
                <a:lnTo>
                  <a:pt x="113029" y="244420"/>
                </a:lnTo>
                <a:lnTo>
                  <a:pt x="100408" y="237568"/>
                </a:lnTo>
                <a:lnTo>
                  <a:pt x="88163" y="230064"/>
                </a:lnTo>
                <a:lnTo>
                  <a:pt x="76327" y="221929"/>
                </a:lnTo>
                <a:lnTo>
                  <a:pt x="64933" y="213186"/>
                </a:lnTo>
                <a:lnTo>
                  <a:pt x="54012" y="203859"/>
                </a:lnTo>
                <a:lnTo>
                  <a:pt x="43595" y="193973"/>
                </a:lnTo>
                <a:lnTo>
                  <a:pt x="33709" y="183555"/>
                </a:lnTo>
                <a:lnTo>
                  <a:pt x="24381" y="172635"/>
                </a:lnTo>
                <a:lnTo>
                  <a:pt x="15639" y="161241"/>
                </a:lnTo>
                <a:lnTo>
                  <a:pt x="7504" y="149405"/>
                </a:lnTo>
                <a:lnTo>
                  <a:pt x="0" y="137160"/>
                </a:lnTo>
                <a:lnTo>
                  <a:pt x="237568" y="0"/>
                </a:lnTo>
                <a:close/>
              </a:path>
            </a:pathLst>
          </a:custGeom>
          <a:solidFill>
            <a:srgbClr val="C87E12"/>
          </a:solidFill>
          <a:ln w="2286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Freeform 43"/>
          <p:cNvSpPr/>
          <p:nvPr/>
        </p:nvSpPr>
        <p:spPr>
          <a:xfrm>
            <a:off x="7753197" y="2523744"/>
            <a:ext cx="274320" cy="411480"/>
          </a:xfrm>
          <a:custGeom>
            <a:avLst/>
            <a:gdLst/>
            <a:ahLst/>
            <a:cxnLst/>
            <a:rect l="l" t="t" r="r" b="b"/>
            <a:pathLst>
              <a:path w="274320" h="411480">
                <a:moveTo>
                  <a:pt x="36752" y="411480"/>
                </a:moveTo>
                <a:lnTo>
                  <a:pt x="29899" y="398858"/>
                </a:lnTo>
                <a:lnTo>
                  <a:pt x="23716" y="385895"/>
                </a:lnTo>
                <a:lnTo>
                  <a:pt x="18220" y="372627"/>
                </a:lnTo>
                <a:lnTo>
                  <a:pt x="13426" y="359089"/>
                </a:lnTo>
                <a:lnTo>
                  <a:pt x="9347" y="345319"/>
                </a:lnTo>
                <a:lnTo>
                  <a:pt x="5995" y="331354"/>
                </a:lnTo>
                <a:lnTo>
                  <a:pt x="3377" y="317233"/>
                </a:lnTo>
                <a:lnTo>
                  <a:pt x="1503" y="302994"/>
                </a:lnTo>
                <a:lnTo>
                  <a:pt x="376" y="288676"/>
                </a:lnTo>
                <a:lnTo>
                  <a:pt x="0" y="274320"/>
                </a:lnTo>
                <a:lnTo>
                  <a:pt x="376" y="259963"/>
                </a:lnTo>
                <a:lnTo>
                  <a:pt x="1503" y="245645"/>
                </a:lnTo>
                <a:lnTo>
                  <a:pt x="3377" y="231406"/>
                </a:lnTo>
                <a:lnTo>
                  <a:pt x="5995" y="217285"/>
                </a:lnTo>
                <a:lnTo>
                  <a:pt x="9347" y="203320"/>
                </a:lnTo>
                <a:lnTo>
                  <a:pt x="13426" y="189550"/>
                </a:lnTo>
                <a:lnTo>
                  <a:pt x="18220" y="176012"/>
                </a:lnTo>
                <a:lnTo>
                  <a:pt x="23716" y="162744"/>
                </a:lnTo>
                <a:lnTo>
                  <a:pt x="29899" y="149781"/>
                </a:lnTo>
                <a:lnTo>
                  <a:pt x="36752" y="137160"/>
                </a:lnTo>
                <a:lnTo>
                  <a:pt x="44256" y="124914"/>
                </a:lnTo>
                <a:lnTo>
                  <a:pt x="52391" y="113078"/>
                </a:lnTo>
                <a:lnTo>
                  <a:pt x="61133" y="101684"/>
                </a:lnTo>
                <a:lnTo>
                  <a:pt x="70461" y="90764"/>
                </a:lnTo>
                <a:lnTo>
                  <a:pt x="80347" y="80346"/>
                </a:lnTo>
                <a:lnTo>
                  <a:pt x="90764" y="70460"/>
                </a:lnTo>
                <a:lnTo>
                  <a:pt x="101685" y="61133"/>
                </a:lnTo>
                <a:lnTo>
                  <a:pt x="113079" y="52390"/>
                </a:lnTo>
                <a:lnTo>
                  <a:pt x="124915" y="44255"/>
                </a:lnTo>
                <a:lnTo>
                  <a:pt x="137160" y="36751"/>
                </a:lnTo>
                <a:lnTo>
                  <a:pt x="149781" y="29899"/>
                </a:lnTo>
                <a:lnTo>
                  <a:pt x="162744" y="23716"/>
                </a:lnTo>
                <a:lnTo>
                  <a:pt x="176013" y="18220"/>
                </a:lnTo>
                <a:lnTo>
                  <a:pt x="189551" y="13426"/>
                </a:lnTo>
                <a:lnTo>
                  <a:pt x="203321" y="9347"/>
                </a:lnTo>
                <a:lnTo>
                  <a:pt x="217286" y="5994"/>
                </a:lnTo>
                <a:lnTo>
                  <a:pt x="231407" y="3377"/>
                </a:lnTo>
                <a:lnTo>
                  <a:pt x="245646" y="1502"/>
                </a:lnTo>
                <a:lnTo>
                  <a:pt x="259963" y="375"/>
                </a:lnTo>
                <a:lnTo>
                  <a:pt x="274320" y="0"/>
                </a:lnTo>
                <a:lnTo>
                  <a:pt x="274320" y="274320"/>
                </a:lnTo>
                <a:close/>
              </a:path>
            </a:pathLst>
          </a:custGeom>
          <a:solidFill>
            <a:srgbClr val="123A63"/>
          </a:solidFill>
          <a:ln w="2286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7753197" y="2523744"/>
            <a:ext cx="548640" cy="548640"/>
          </a:xfrm>
          <a:prstGeom prst="ellipse">
            <a:avLst/>
          </a:prstGeom>
          <a:noFill/>
          <a:ln w="419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7314285" y="3118103"/>
            <a:ext cx="142646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4000"/>
              </a:lnSpc>
              <a:spcAft>
                <a:spcPts val="100"/>
              </a:spcAft>
            </a:pPr>
            <a:r>
              <a:rPr sz="850" b="1">
                <a:solidFill>
                  <a:srgbClr val="0D1B2A"/>
                </a:solidFill>
                <a:latin typeface="Calibri"/>
              </a:rPr>
              <a:t>CCU / SCU / EHH</a:t>
            </a:r>
          </a:p>
        </p:txBody>
      </p:sp>
      <p:sp>
        <p:nvSpPr>
          <p:cNvPr id="47" name="Freeform 46"/>
          <p:cNvSpPr/>
          <p:nvPr/>
        </p:nvSpPr>
        <p:spPr>
          <a:xfrm>
            <a:off x="9802825" y="2523744"/>
            <a:ext cx="274320" cy="548640"/>
          </a:xfrm>
          <a:custGeom>
            <a:avLst/>
            <a:gdLst/>
            <a:ahLst/>
            <a:cxnLst/>
            <a:rect l="l" t="t" r="r" b="b"/>
            <a:pathLst>
              <a:path w="274320" h="548640">
                <a:moveTo>
                  <a:pt x="0" y="0"/>
                </a:moveTo>
                <a:lnTo>
                  <a:pt x="21523" y="845"/>
                </a:lnTo>
                <a:lnTo>
                  <a:pt x="42913" y="3377"/>
                </a:lnTo>
                <a:lnTo>
                  <a:pt x="64038" y="7579"/>
                </a:lnTo>
                <a:lnTo>
                  <a:pt x="84769" y="13426"/>
                </a:lnTo>
                <a:lnTo>
                  <a:pt x="104977" y="20881"/>
                </a:lnTo>
                <a:lnTo>
                  <a:pt x="124538" y="29899"/>
                </a:lnTo>
                <a:lnTo>
                  <a:pt x="143332" y="40423"/>
                </a:lnTo>
                <a:lnTo>
                  <a:pt x="161241" y="52390"/>
                </a:lnTo>
                <a:lnTo>
                  <a:pt x="178156" y="65725"/>
                </a:lnTo>
                <a:lnTo>
                  <a:pt x="193973" y="80346"/>
                </a:lnTo>
                <a:lnTo>
                  <a:pt x="208594" y="96163"/>
                </a:lnTo>
                <a:lnTo>
                  <a:pt x="221929" y="113078"/>
                </a:lnTo>
                <a:lnTo>
                  <a:pt x="233896" y="130988"/>
                </a:lnTo>
                <a:lnTo>
                  <a:pt x="244421" y="149781"/>
                </a:lnTo>
                <a:lnTo>
                  <a:pt x="253438" y="169342"/>
                </a:lnTo>
                <a:lnTo>
                  <a:pt x="260894" y="189550"/>
                </a:lnTo>
                <a:lnTo>
                  <a:pt x="266740" y="210281"/>
                </a:lnTo>
                <a:lnTo>
                  <a:pt x="270942" y="231406"/>
                </a:lnTo>
                <a:lnTo>
                  <a:pt x="273474" y="252797"/>
                </a:lnTo>
                <a:lnTo>
                  <a:pt x="274320" y="274320"/>
                </a:lnTo>
                <a:lnTo>
                  <a:pt x="273474" y="295842"/>
                </a:lnTo>
                <a:lnTo>
                  <a:pt x="270942" y="317233"/>
                </a:lnTo>
                <a:lnTo>
                  <a:pt x="266740" y="338358"/>
                </a:lnTo>
                <a:lnTo>
                  <a:pt x="260894" y="359089"/>
                </a:lnTo>
                <a:lnTo>
                  <a:pt x="253438" y="379297"/>
                </a:lnTo>
                <a:lnTo>
                  <a:pt x="244421" y="398858"/>
                </a:lnTo>
                <a:lnTo>
                  <a:pt x="233896" y="417651"/>
                </a:lnTo>
                <a:lnTo>
                  <a:pt x="221929" y="435561"/>
                </a:lnTo>
                <a:lnTo>
                  <a:pt x="208594" y="452476"/>
                </a:lnTo>
                <a:lnTo>
                  <a:pt x="193973" y="468293"/>
                </a:lnTo>
                <a:lnTo>
                  <a:pt x="178156" y="482914"/>
                </a:lnTo>
                <a:lnTo>
                  <a:pt x="161241" y="496249"/>
                </a:lnTo>
                <a:lnTo>
                  <a:pt x="143332" y="508216"/>
                </a:lnTo>
                <a:lnTo>
                  <a:pt x="124538" y="518740"/>
                </a:lnTo>
                <a:lnTo>
                  <a:pt x="104977" y="527758"/>
                </a:lnTo>
                <a:lnTo>
                  <a:pt x="84769" y="535213"/>
                </a:lnTo>
                <a:lnTo>
                  <a:pt x="64038" y="541060"/>
                </a:lnTo>
                <a:lnTo>
                  <a:pt x="42913" y="545262"/>
                </a:lnTo>
                <a:lnTo>
                  <a:pt x="21523" y="547794"/>
                </a:lnTo>
                <a:lnTo>
                  <a:pt x="0" y="548640"/>
                </a:lnTo>
                <a:lnTo>
                  <a:pt x="0" y="274320"/>
                </a:lnTo>
                <a:close/>
              </a:path>
            </a:pathLst>
          </a:custGeom>
          <a:solidFill>
            <a:srgbClr val="1F6FB2"/>
          </a:solidFill>
          <a:ln w="2286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Freeform 47"/>
          <p:cNvSpPr/>
          <p:nvPr/>
        </p:nvSpPr>
        <p:spPr>
          <a:xfrm>
            <a:off x="9528505" y="2523744"/>
            <a:ext cx="274320" cy="548640"/>
          </a:xfrm>
          <a:custGeom>
            <a:avLst/>
            <a:gdLst/>
            <a:ahLst/>
            <a:cxnLst/>
            <a:rect l="l" t="t" r="r" b="b"/>
            <a:pathLst>
              <a:path w="274320" h="548640">
                <a:moveTo>
                  <a:pt x="274320" y="548640"/>
                </a:moveTo>
                <a:lnTo>
                  <a:pt x="252797" y="547794"/>
                </a:lnTo>
                <a:lnTo>
                  <a:pt x="231407" y="545262"/>
                </a:lnTo>
                <a:lnTo>
                  <a:pt x="210281" y="541060"/>
                </a:lnTo>
                <a:lnTo>
                  <a:pt x="189550" y="535213"/>
                </a:lnTo>
                <a:lnTo>
                  <a:pt x="169342" y="527758"/>
                </a:lnTo>
                <a:lnTo>
                  <a:pt x="149781" y="518740"/>
                </a:lnTo>
                <a:lnTo>
                  <a:pt x="130988" y="508216"/>
                </a:lnTo>
                <a:lnTo>
                  <a:pt x="113078" y="496249"/>
                </a:lnTo>
                <a:lnTo>
                  <a:pt x="96163" y="482914"/>
                </a:lnTo>
                <a:lnTo>
                  <a:pt x="80346" y="468293"/>
                </a:lnTo>
                <a:lnTo>
                  <a:pt x="65725" y="452476"/>
                </a:lnTo>
                <a:lnTo>
                  <a:pt x="52390" y="435561"/>
                </a:lnTo>
                <a:lnTo>
                  <a:pt x="40423" y="417651"/>
                </a:lnTo>
                <a:lnTo>
                  <a:pt x="29899" y="398858"/>
                </a:lnTo>
                <a:lnTo>
                  <a:pt x="20881" y="379297"/>
                </a:lnTo>
                <a:lnTo>
                  <a:pt x="13426" y="359089"/>
                </a:lnTo>
                <a:lnTo>
                  <a:pt x="7579" y="338358"/>
                </a:lnTo>
                <a:lnTo>
                  <a:pt x="3377" y="317233"/>
                </a:lnTo>
                <a:lnTo>
                  <a:pt x="845" y="295842"/>
                </a:lnTo>
                <a:lnTo>
                  <a:pt x="0" y="274320"/>
                </a:lnTo>
                <a:lnTo>
                  <a:pt x="845" y="252797"/>
                </a:lnTo>
                <a:lnTo>
                  <a:pt x="3377" y="231406"/>
                </a:lnTo>
                <a:lnTo>
                  <a:pt x="7579" y="210281"/>
                </a:lnTo>
                <a:lnTo>
                  <a:pt x="13426" y="189550"/>
                </a:lnTo>
                <a:lnTo>
                  <a:pt x="20881" y="169342"/>
                </a:lnTo>
                <a:lnTo>
                  <a:pt x="29899" y="149781"/>
                </a:lnTo>
                <a:lnTo>
                  <a:pt x="40423" y="130988"/>
                </a:lnTo>
                <a:lnTo>
                  <a:pt x="52390" y="113078"/>
                </a:lnTo>
                <a:lnTo>
                  <a:pt x="65725" y="96163"/>
                </a:lnTo>
                <a:lnTo>
                  <a:pt x="80346" y="80346"/>
                </a:lnTo>
                <a:lnTo>
                  <a:pt x="96163" y="65725"/>
                </a:lnTo>
                <a:lnTo>
                  <a:pt x="113078" y="52390"/>
                </a:lnTo>
                <a:lnTo>
                  <a:pt x="130988" y="40423"/>
                </a:lnTo>
                <a:lnTo>
                  <a:pt x="149781" y="29899"/>
                </a:lnTo>
                <a:lnTo>
                  <a:pt x="169342" y="20881"/>
                </a:lnTo>
                <a:lnTo>
                  <a:pt x="189550" y="13426"/>
                </a:lnTo>
                <a:lnTo>
                  <a:pt x="210281" y="7579"/>
                </a:lnTo>
                <a:lnTo>
                  <a:pt x="231407" y="3377"/>
                </a:lnTo>
                <a:lnTo>
                  <a:pt x="252797" y="845"/>
                </a:lnTo>
                <a:lnTo>
                  <a:pt x="274320" y="0"/>
                </a:lnTo>
                <a:lnTo>
                  <a:pt x="274320" y="274320"/>
                </a:lnTo>
                <a:close/>
              </a:path>
            </a:pathLst>
          </a:custGeom>
          <a:solidFill>
            <a:srgbClr val="C87E12"/>
          </a:solidFill>
          <a:ln w="2286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9528505" y="2523744"/>
            <a:ext cx="548640" cy="548640"/>
          </a:xfrm>
          <a:prstGeom prst="ellipse">
            <a:avLst/>
          </a:prstGeom>
          <a:noFill/>
          <a:ln w="419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9089593" y="3118103"/>
            <a:ext cx="142646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4000"/>
              </a:lnSpc>
              <a:spcAft>
                <a:spcPts val="100"/>
              </a:spcAft>
            </a:pPr>
            <a:r>
              <a:rPr sz="850" b="1">
                <a:solidFill>
                  <a:srgbClr val="0D1B2A"/>
                </a:solidFill>
                <a:latin typeface="Calibri"/>
              </a:rPr>
              <a:t>ICU + SCU</a:t>
            </a:r>
          </a:p>
        </p:txBody>
      </p:sp>
      <p:sp>
        <p:nvSpPr>
          <p:cNvPr id="51" name="Freeform 50"/>
          <p:cNvSpPr/>
          <p:nvPr/>
        </p:nvSpPr>
        <p:spPr>
          <a:xfrm>
            <a:off x="10694365" y="2523744"/>
            <a:ext cx="274320" cy="548640"/>
          </a:xfrm>
          <a:custGeom>
            <a:avLst/>
            <a:gdLst/>
            <a:ahLst/>
            <a:cxnLst/>
            <a:rect l="l" t="t" r="r" b="b"/>
            <a:pathLst>
              <a:path w="274320" h="548640">
                <a:moveTo>
                  <a:pt x="0" y="0"/>
                </a:moveTo>
                <a:lnTo>
                  <a:pt x="21523" y="845"/>
                </a:lnTo>
                <a:lnTo>
                  <a:pt x="42913" y="3377"/>
                </a:lnTo>
                <a:lnTo>
                  <a:pt x="64038" y="7579"/>
                </a:lnTo>
                <a:lnTo>
                  <a:pt x="84769" y="13426"/>
                </a:lnTo>
                <a:lnTo>
                  <a:pt x="104977" y="20881"/>
                </a:lnTo>
                <a:lnTo>
                  <a:pt x="124538" y="29899"/>
                </a:lnTo>
                <a:lnTo>
                  <a:pt x="143332" y="40423"/>
                </a:lnTo>
                <a:lnTo>
                  <a:pt x="161241" y="52390"/>
                </a:lnTo>
                <a:lnTo>
                  <a:pt x="178156" y="65725"/>
                </a:lnTo>
                <a:lnTo>
                  <a:pt x="193973" y="80346"/>
                </a:lnTo>
                <a:lnTo>
                  <a:pt x="208594" y="96163"/>
                </a:lnTo>
                <a:lnTo>
                  <a:pt x="221929" y="113078"/>
                </a:lnTo>
                <a:lnTo>
                  <a:pt x="233896" y="130988"/>
                </a:lnTo>
                <a:lnTo>
                  <a:pt x="244421" y="149781"/>
                </a:lnTo>
                <a:lnTo>
                  <a:pt x="253438" y="169342"/>
                </a:lnTo>
                <a:lnTo>
                  <a:pt x="260894" y="189550"/>
                </a:lnTo>
                <a:lnTo>
                  <a:pt x="266740" y="210281"/>
                </a:lnTo>
                <a:lnTo>
                  <a:pt x="270942" y="231406"/>
                </a:lnTo>
                <a:lnTo>
                  <a:pt x="273474" y="252797"/>
                </a:lnTo>
                <a:lnTo>
                  <a:pt x="274320" y="274320"/>
                </a:lnTo>
                <a:lnTo>
                  <a:pt x="273474" y="295842"/>
                </a:lnTo>
                <a:lnTo>
                  <a:pt x="270942" y="317233"/>
                </a:lnTo>
                <a:lnTo>
                  <a:pt x="266740" y="338358"/>
                </a:lnTo>
                <a:lnTo>
                  <a:pt x="260894" y="359089"/>
                </a:lnTo>
                <a:lnTo>
                  <a:pt x="253438" y="379297"/>
                </a:lnTo>
                <a:lnTo>
                  <a:pt x="244421" y="398858"/>
                </a:lnTo>
                <a:lnTo>
                  <a:pt x="233896" y="417651"/>
                </a:lnTo>
                <a:lnTo>
                  <a:pt x="221929" y="435561"/>
                </a:lnTo>
                <a:lnTo>
                  <a:pt x="208594" y="452476"/>
                </a:lnTo>
                <a:lnTo>
                  <a:pt x="193973" y="468293"/>
                </a:lnTo>
                <a:lnTo>
                  <a:pt x="178156" y="482914"/>
                </a:lnTo>
                <a:lnTo>
                  <a:pt x="161241" y="496249"/>
                </a:lnTo>
                <a:lnTo>
                  <a:pt x="143332" y="508216"/>
                </a:lnTo>
                <a:lnTo>
                  <a:pt x="124538" y="518740"/>
                </a:lnTo>
                <a:lnTo>
                  <a:pt x="104977" y="527758"/>
                </a:lnTo>
                <a:lnTo>
                  <a:pt x="84769" y="535213"/>
                </a:lnTo>
                <a:lnTo>
                  <a:pt x="64038" y="541060"/>
                </a:lnTo>
                <a:lnTo>
                  <a:pt x="42913" y="545262"/>
                </a:lnTo>
                <a:lnTo>
                  <a:pt x="21523" y="547794"/>
                </a:lnTo>
                <a:lnTo>
                  <a:pt x="0" y="548640"/>
                </a:lnTo>
                <a:lnTo>
                  <a:pt x="0" y="274320"/>
                </a:lnTo>
                <a:close/>
              </a:path>
            </a:pathLst>
          </a:custGeom>
          <a:solidFill>
            <a:srgbClr val="0E9A87"/>
          </a:solidFill>
          <a:ln w="2286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Freeform 51"/>
          <p:cNvSpPr/>
          <p:nvPr/>
        </p:nvSpPr>
        <p:spPr>
          <a:xfrm>
            <a:off x="10420045" y="2523744"/>
            <a:ext cx="274320" cy="548640"/>
          </a:xfrm>
          <a:custGeom>
            <a:avLst/>
            <a:gdLst/>
            <a:ahLst/>
            <a:cxnLst/>
            <a:rect l="l" t="t" r="r" b="b"/>
            <a:pathLst>
              <a:path w="274320" h="548640">
                <a:moveTo>
                  <a:pt x="274320" y="548640"/>
                </a:moveTo>
                <a:lnTo>
                  <a:pt x="252797" y="547794"/>
                </a:lnTo>
                <a:lnTo>
                  <a:pt x="231407" y="545262"/>
                </a:lnTo>
                <a:lnTo>
                  <a:pt x="210281" y="541060"/>
                </a:lnTo>
                <a:lnTo>
                  <a:pt x="189550" y="535213"/>
                </a:lnTo>
                <a:lnTo>
                  <a:pt x="169342" y="527758"/>
                </a:lnTo>
                <a:lnTo>
                  <a:pt x="149781" y="518740"/>
                </a:lnTo>
                <a:lnTo>
                  <a:pt x="130988" y="508216"/>
                </a:lnTo>
                <a:lnTo>
                  <a:pt x="113078" y="496249"/>
                </a:lnTo>
                <a:lnTo>
                  <a:pt x="96163" y="482914"/>
                </a:lnTo>
                <a:lnTo>
                  <a:pt x="80346" y="468293"/>
                </a:lnTo>
                <a:lnTo>
                  <a:pt x="65725" y="452476"/>
                </a:lnTo>
                <a:lnTo>
                  <a:pt x="52390" y="435561"/>
                </a:lnTo>
                <a:lnTo>
                  <a:pt x="40423" y="417651"/>
                </a:lnTo>
                <a:lnTo>
                  <a:pt x="29899" y="398858"/>
                </a:lnTo>
                <a:lnTo>
                  <a:pt x="20881" y="379297"/>
                </a:lnTo>
                <a:lnTo>
                  <a:pt x="13426" y="359089"/>
                </a:lnTo>
                <a:lnTo>
                  <a:pt x="7579" y="338358"/>
                </a:lnTo>
                <a:lnTo>
                  <a:pt x="3377" y="317233"/>
                </a:lnTo>
                <a:lnTo>
                  <a:pt x="845" y="295842"/>
                </a:lnTo>
                <a:lnTo>
                  <a:pt x="0" y="274320"/>
                </a:lnTo>
                <a:lnTo>
                  <a:pt x="845" y="252797"/>
                </a:lnTo>
                <a:lnTo>
                  <a:pt x="3377" y="231406"/>
                </a:lnTo>
                <a:lnTo>
                  <a:pt x="7579" y="210281"/>
                </a:lnTo>
                <a:lnTo>
                  <a:pt x="13426" y="189550"/>
                </a:lnTo>
                <a:lnTo>
                  <a:pt x="20881" y="169342"/>
                </a:lnTo>
                <a:lnTo>
                  <a:pt x="29899" y="149781"/>
                </a:lnTo>
                <a:lnTo>
                  <a:pt x="40423" y="130988"/>
                </a:lnTo>
                <a:lnTo>
                  <a:pt x="52390" y="113078"/>
                </a:lnTo>
                <a:lnTo>
                  <a:pt x="65725" y="96163"/>
                </a:lnTo>
                <a:lnTo>
                  <a:pt x="80346" y="80346"/>
                </a:lnTo>
                <a:lnTo>
                  <a:pt x="96163" y="65725"/>
                </a:lnTo>
                <a:lnTo>
                  <a:pt x="113078" y="52390"/>
                </a:lnTo>
                <a:lnTo>
                  <a:pt x="130988" y="40423"/>
                </a:lnTo>
                <a:lnTo>
                  <a:pt x="149781" y="29899"/>
                </a:lnTo>
                <a:lnTo>
                  <a:pt x="169342" y="20881"/>
                </a:lnTo>
                <a:lnTo>
                  <a:pt x="189550" y="13426"/>
                </a:lnTo>
                <a:lnTo>
                  <a:pt x="210281" y="7579"/>
                </a:lnTo>
                <a:lnTo>
                  <a:pt x="231407" y="3377"/>
                </a:lnTo>
                <a:lnTo>
                  <a:pt x="252797" y="845"/>
                </a:lnTo>
                <a:lnTo>
                  <a:pt x="274320" y="0"/>
                </a:lnTo>
                <a:lnTo>
                  <a:pt x="274320" y="274320"/>
                </a:lnTo>
                <a:close/>
              </a:path>
            </a:pathLst>
          </a:custGeom>
          <a:solidFill>
            <a:srgbClr val="123A63"/>
          </a:solidFill>
          <a:ln w="2286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0420045" y="2523744"/>
            <a:ext cx="548640" cy="548640"/>
          </a:xfrm>
          <a:prstGeom prst="ellipse">
            <a:avLst/>
          </a:prstGeom>
          <a:noFill/>
          <a:ln w="419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9981133" y="3118103"/>
            <a:ext cx="142646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4000"/>
              </a:lnSpc>
              <a:spcAft>
                <a:spcPts val="100"/>
              </a:spcAft>
            </a:pPr>
            <a:r>
              <a:rPr sz="850" b="1">
                <a:solidFill>
                  <a:srgbClr val="0D1B2A"/>
                </a:solidFill>
                <a:latin typeface="Calibri"/>
              </a:rPr>
              <a:t>CCU / EHH</a:t>
            </a:r>
          </a:p>
        </p:txBody>
      </p:sp>
      <p:sp>
        <p:nvSpPr>
          <p:cNvPr id="55" name="Freeform 54"/>
          <p:cNvSpPr/>
          <p:nvPr/>
        </p:nvSpPr>
        <p:spPr>
          <a:xfrm>
            <a:off x="8338413" y="2798064"/>
            <a:ext cx="1153516" cy="0"/>
          </a:xfrm>
          <a:custGeom>
            <a:avLst/>
            <a:gdLst/>
            <a:ahLst/>
            <a:cxnLst/>
            <a:rect l="l" t="t" r="r" b="b"/>
            <a:pathLst>
              <a:path w="1153516" h="0">
                <a:moveTo>
                  <a:pt x="0" y="0"/>
                </a:moveTo>
                <a:lnTo>
                  <a:pt x="26216" y="0"/>
                </a:lnTo>
                <a:lnTo>
                  <a:pt x="52433" y="0"/>
                </a:lnTo>
                <a:lnTo>
                  <a:pt x="78649" y="0"/>
                </a:lnTo>
                <a:lnTo>
                  <a:pt x="104865" y="0"/>
                </a:lnTo>
                <a:lnTo>
                  <a:pt x="131081" y="0"/>
                </a:lnTo>
                <a:lnTo>
                  <a:pt x="157298" y="0"/>
                </a:lnTo>
                <a:lnTo>
                  <a:pt x="183514" y="0"/>
                </a:lnTo>
                <a:lnTo>
                  <a:pt x="209730" y="0"/>
                </a:lnTo>
                <a:lnTo>
                  <a:pt x="235946" y="0"/>
                </a:lnTo>
                <a:lnTo>
                  <a:pt x="262163" y="0"/>
                </a:lnTo>
                <a:lnTo>
                  <a:pt x="288379" y="0"/>
                </a:lnTo>
                <a:lnTo>
                  <a:pt x="314595" y="0"/>
                </a:lnTo>
                <a:lnTo>
                  <a:pt x="340812" y="0"/>
                </a:lnTo>
                <a:lnTo>
                  <a:pt x="367028" y="0"/>
                </a:lnTo>
                <a:lnTo>
                  <a:pt x="393244" y="0"/>
                </a:lnTo>
                <a:lnTo>
                  <a:pt x="419460" y="0"/>
                </a:lnTo>
                <a:lnTo>
                  <a:pt x="445677" y="0"/>
                </a:lnTo>
                <a:lnTo>
                  <a:pt x="471893" y="0"/>
                </a:lnTo>
                <a:lnTo>
                  <a:pt x="498109" y="0"/>
                </a:lnTo>
                <a:lnTo>
                  <a:pt x="524325" y="0"/>
                </a:lnTo>
                <a:lnTo>
                  <a:pt x="550542" y="0"/>
                </a:lnTo>
                <a:lnTo>
                  <a:pt x="576758" y="0"/>
                </a:lnTo>
                <a:lnTo>
                  <a:pt x="602974" y="0"/>
                </a:lnTo>
                <a:lnTo>
                  <a:pt x="629190" y="0"/>
                </a:lnTo>
                <a:lnTo>
                  <a:pt x="655407" y="0"/>
                </a:lnTo>
                <a:lnTo>
                  <a:pt x="681623" y="0"/>
                </a:lnTo>
                <a:lnTo>
                  <a:pt x="707839" y="0"/>
                </a:lnTo>
                <a:lnTo>
                  <a:pt x="734055" y="0"/>
                </a:lnTo>
                <a:lnTo>
                  <a:pt x="760272" y="0"/>
                </a:lnTo>
                <a:lnTo>
                  <a:pt x="786488" y="0"/>
                </a:lnTo>
                <a:lnTo>
                  <a:pt x="812704" y="0"/>
                </a:lnTo>
                <a:lnTo>
                  <a:pt x="838921" y="0"/>
                </a:lnTo>
                <a:lnTo>
                  <a:pt x="865137" y="0"/>
                </a:lnTo>
                <a:lnTo>
                  <a:pt x="891353" y="0"/>
                </a:lnTo>
                <a:lnTo>
                  <a:pt x="917569" y="0"/>
                </a:lnTo>
                <a:lnTo>
                  <a:pt x="943786" y="0"/>
                </a:lnTo>
                <a:lnTo>
                  <a:pt x="970002" y="0"/>
                </a:lnTo>
                <a:lnTo>
                  <a:pt x="996218" y="0"/>
                </a:lnTo>
                <a:lnTo>
                  <a:pt x="1022434" y="0"/>
                </a:lnTo>
                <a:lnTo>
                  <a:pt x="1048651" y="0"/>
                </a:lnTo>
                <a:lnTo>
                  <a:pt x="1074867" y="0"/>
                </a:lnTo>
                <a:lnTo>
                  <a:pt x="1101083" y="0"/>
                </a:lnTo>
                <a:lnTo>
                  <a:pt x="1127299" y="0"/>
                </a:lnTo>
                <a:lnTo>
                  <a:pt x="1153516" y="0"/>
                </a:lnTo>
              </a:path>
            </a:pathLst>
          </a:custGeom>
          <a:noFill/>
          <a:ln w="44450">
            <a:solidFill>
              <a:srgbClr val="C87E12">
                <a:alpha val="8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8283549" y="2743200"/>
            <a:ext cx="109728" cy="109728"/>
          </a:xfrm>
          <a:prstGeom prst="ellipse">
            <a:avLst/>
          </a:prstGeom>
          <a:solidFill>
            <a:srgbClr val="C87E12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Oval 56"/>
          <p:cNvSpPr/>
          <p:nvPr/>
        </p:nvSpPr>
        <p:spPr>
          <a:xfrm>
            <a:off x="9437065" y="2743200"/>
            <a:ext cx="109728" cy="109728"/>
          </a:xfrm>
          <a:prstGeom prst="ellipse">
            <a:avLst/>
          </a:prstGeom>
          <a:solidFill>
            <a:srgbClr val="C87E12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Rounded Rectangle 57"/>
          <p:cNvSpPr/>
          <p:nvPr/>
        </p:nvSpPr>
        <p:spPr>
          <a:xfrm>
            <a:off x="640080" y="3767328"/>
            <a:ext cx="5272887" cy="1883664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9F1"/>
            </a:solidFill>
          </a:ln>
          <a:effectLst>
            <a:outerShdw blurRad="70000" dist="22000" dir="5400000" rotWithShape="0">
              <a:srgbClr val="1B3A5C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Oval 58"/>
          <p:cNvSpPr/>
          <p:nvPr/>
        </p:nvSpPr>
        <p:spPr>
          <a:xfrm>
            <a:off x="841247" y="3931920"/>
            <a:ext cx="402336" cy="402336"/>
          </a:xfrm>
          <a:prstGeom prst="ellipse">
            <a:avLst/>
          </a:prstGeom>
          <a:solidFill>
            <a:srgbClr val="1F6FB2">
              <a:alpha val="10000"/>
            </a:srgbClr>
          </a:solidFill>
          <a:ln w="15875">
            <a:solidFill>
              <a:srgbClr val="1F6F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1F6FB2"/>
                </a:solidFill>
                <a:latin typeface="Calibri"/>
              </a:rPr>
              <a:t>3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353312" y="3931920"/>
            <a:ext cx="4267047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1">
                <a:solidFill>
                  <a:srgbClr val="0D1B2A"/>
                </a:solidFill>
                <a:latin typeface="Calibri"/>
              </a:rPr>
              <a:t>Recovery van de ICU naar CCU / SCU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1560" y="4370832"/>
            <a:ext cx="17830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800" b="1" spc="120">
                <a:solidFill>
                  <a:srgbClr val="8B9AAA"/>
                </a:solidFill>
                <a:latin typeface="Calibri"/>
              </a:rPr>
              <a:t>NU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718407" y="4370832"/>
            <a:ext cx="17830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800" b="1" spc="120">
                <a:solidFill>
                  <a:srgbClr val="8B9AAA"/>
                </a:solidFill>
                <a:latin typeface="Calibri"/>
              </a:rPr>
              <a:t>STRAKS</a:t>
            </a:r>
          </a:p>
        </p:txBody>
      </p:sp>
      <p:sp>
        <p:nvSpPr>
          <p:cNvPr id="63" name="Freeform 62"/>
          <p:cNvSpPr/>
          <p:nvPr/>
        </p:nvSpPr>
        <p:spPr>
          <a:xfrm>
            <a:off x="1497330" y="4590288"/>
            <a:ext cx="274320" cy="548640"/>
          </a:xfrm>
          <a:custGeom>
            <a:avLst/>
            <a:gdLst/>
            <a:ahLst/>
            <a:cxnLst/>
            <a:rect l="l" t="t" r="r" b="b"/>
            <a:pathLst>
              <a:path w="274320" h="548640">
                <a:moveTo>
                  <a:pt x="0" y="0"/>
                </a:moveTo>
                <a:lnTo>
                  <a:pt x="21522" y="845"/>
                </a:lnTo>
                <a:lnTo>
                  <a:pt x="42913" y="3377"/>
                </a:lnTo>
                <a:lnTo>
                  <a:pt x="64038" y="7579"/>
                </a:lnTo>
                <a:lnTo>
                  <a:pt x="84769" y="13426"/>
                </a:lnTo>
                <a:lnTo>
                  <a:pt x="104977" y="20881"/>
                </a:lnTo>
                <a:lnTo>
                  <a:pt x="124538" y="29899"/>
                </a:lnTo>
                <a:lnTo>
                  <a:pt x="143331" y="40423"/>
                </a:lnTo>
                <a:lnTo>
                  <a:pt x="161241" y="52390"/>
                </a:lnTo>
                <a:lnTo>
                  <a:pt x="178156" y="65725"/>
                </a:lnTo>
                <a:lnTo>
                  <a:pt x="193973" y="80346"/>
                </a:lnTo>
                <a:lnTo>
                  <a:pt x="208594" y="96163"/>
                </a:lnTo>
                <a:lnTo>
                  <a:pt x="221929" y="113078"/>
                </a:lnTo>
                <a:lnTo>
                  <a:pt x="233896" y="130988"/>
                </a:lnTo>
                <a:lnTo>
                  <a:pt x="244420" y="149781"/>
                </a:lnTo>
                <a:lnTo>
                  <a:pt x="253438" y="169342"/>
                </a:lnTo>
                <a:lnTo>
                  <a:pt x="260893" y="189550"/>
                </a:lnTo>
                <a:lnTo>
                  <a:pt x="266740" y="210281"/>
                </a:lnTo>
                <a:lnTo>
                  <a:pt x="270942" y="231406"/>
                </a:lnTo>
                <a:lnTo>
                  <a:pt x="273474" y="252797"/>
                </a:lnTo>
                <a:lnTo>
                  <a:pt x="274320" y="274320"/>
                </a:lnTo>
                <a:lnTo>
                  <a:pt x="273474" y="295842"/>
                </a:lnTo>
                <a:lnTo>
                  <a:pt x="270942" y="317233"/>
                </a:lnTo>
                <a:lnTo>
                  <a:pt x="266740" y="338358"/>
                </a:lnTo>
                <a:lnTo>
                  <a:pt x="260893" y="359089"/>
                </a:lnTo>
                <a:lnTo>
                  <a:pt x="253438" y="379297"/>
                </a:lnTo>
                <a:lnTo>
                  <a:pt x="244420" y="398858"/>
                </a:lnTo>
                <a:lnTo>
                  <a:pt x="233896" y="417651"/>
                </a:lnTo>
                <a:lnTo>
                  <a:pt x="221929" y="435561"/>
                </a:lnTo>
                <a:lnTo>
                  <a:pt x="208594" y="452476"/>
                </a:lnTo>
                <a:lnTo>
                  <a:pt x="193973" y="468293"/>
                </a:lnTo>
                <a:lnTo>
                  <a:pt x="178156" y="482914"/>
                </a:lnTo>
                <a:lnTo>
                  <a:pt x="161241" y="496249"/>
                </a:lnTo>
                <a:lnTo>
                  <a:pt x="143331" y="508216"/>
                </a:lnTo>
                <a:lnTo>
                  <a:pt x="124538" y="518740"/>
                </a:lnTo>
                <a:lnTo>
                  <a:pt x="104977" y="527758"/>
                </a:lnTo>
                <a:lnTo>
                  <a:pt x="84769" y="535213"/>
                </a:lnTo>
                <a:lnTo>
                  <a:pt x="64038" y="541060"/>
                </a:lnTo>
                <a:lnTo>
                  <a:pt x="42913" y="545262"/>
                </a:lnTo>
                <a:lnTo>
                  <a:pt x="21522" y="547794"/>
                </a:lnTo>
                <a:lnTo>
                  <a:pt x="0" y="548640"/>
                </a:lnTo>
                <a:lnTo>
                  <a:pt x="0" y="274320"/>
                </a:lnTo>
                <a:close/>
              </a:path>
            </a:pathLst>
          </a:custGeom>
          <a:solidFill>
            <a:srgbClr val="0E9A87"/>
          </a:solidFill>
          <a:ln w="2286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Freeform 63"/>
          <p:cNvSpPr/>
          <p:nvPr/>
        </p:nvSpPr>
        <p:spPr>
          <a:xfrm>
            <a:off x="1223010" y="4590288"/>
            <a:ext cx="274320" cy="548640"/>
          </a:xfrm>
          <a:custGeom>
            <a:avLst/>
            <a:gdLst/>
            <a:ahLst/>
            <a:cxnLst/>
            <a:rect l="l" t="t" r="r" b="b"/>
            <a:pathLst>
              <a:path w="274320" h="548640">
                <a:moveTo>
                  <a:pt x="274320" y="548640"/>
                </a:moveTo>
                <a:lnTo>
                  <a:pt x="252797" y="547794"/>
                </a:lnTo>
                <a:lnTo>
                  <a:pt x="231406" y="545262"/>
                </a:lnTo>
                <a:lnTo>
                  <a:pt x="210281" y="541060"/>
                </a:lnTo>
                <a:lnTo>
                  <a:pt x="189550" y="535213"/>
                </a:lnTo>
                <a:lnTo>
                  <a:pt x="169342" y="527758"/>
                </a:lnTo>
                <a:lnTo>
                  <a:pt x="149781" y="518740"/>
                </a:lnTo>
                <a:lnTo>
                  <a:pt x="130988" y="508216"/>
                </a:lnTo>
                <a:lnTo>
                  <a:pt x="113078" y="496249"/>
                </a:lnTo>
                <a:lnTo>
                  <a:pt x="96163" y="482914"/>
                </a:lnTo>
                <a:lnTo>
                  <a:pt x="80346" y="468293"/>
                </a:lnTo>
                <a:lnTo>
                  <a:pt x="65725" y="452476"/>
                </a:lnTo>
                <a:lnTo>
                  <a:pt x="52390" y="435561"/>
                </a:lnTo>
                <a:lnTo>
                  <a:pt x="40423" y="417651"/>
                </a:lnTo>
                <a:lnTo>
                  <a:pt x="29899" y="398858"/>
                </a:lnTo>
                <a:lnTo>
                  <a:pt x="20881" y="379297"/>
                </a:lnTo>
                <a:lnTo>
                  <a:pt x="13426" y="359089"/>
                </a:lnTo>
                <a:lnTo>
                  <a:pt x="7579" y="338358"/>
                </a:lnTo>
                <a:lnTo>
                  <a:pt x="3377" y="317233"/>
                </a:lnTo>
                <a:lnTo>
                  <a:pt x="845" y="295842"/>
                </a:lnTo>
                <a:lnTo>
                  <a:pt x="0" y="274320"/>
                </a:lnTo>
                <a:lnTo>
                  <a:pt x="845" y="252797"/>
                </a:lnTo>
                <a:lnTo>
                  <a:pt x="3377" y="231406"/>
                </a:lnTo>
                <a:lnTo>
                  <a:pt x="7579" y="210281"/>
                </a:lnTo>
                <a:lnTo>
                  <a:pt x="13426" y="189550"/>
                </a:lnTo>
                <a:lnTo>
                  <a:pt x="20881" y="169342"/>
                </a:lnTo>
                <a:lnTo>
                  <a:pt x="29899" y="149781"/>
                </a:lnTo>
                <a:lnTo>
                  <a:pt x="40423" y="130988"/>
                </a:lnTo>
                <a:lnTo>
                  <a:pt x="52390" y="113078"/>
                </a:lnTo>
                <a:lnTo>
                  <a:pt x="65725" y="96163"/>
                </a:lnTo>
                <a:lnTo>
                  <a:pt x="80346" y="80346"/>
                </a:lnTo>
                <a:lnTo>
                  <a:pt x="96163" y="65725"/>
                </a:lnTo>
                <a:lnTo>
                  <a:pt x="113078" y="52390"/>
                </a:lnTo>
                <a:lnTo>
                  <a:pt x="130988" y="40423"/>
                </a:lnTo>
                <a:lnTo>
                  <a:pt x="149781" y="29899"/>
                </a:lnTo>
                <a:lnTo>
                  <a:pt x="169342" y="20881"/>
                </a:lnTo>
                <a:lnTo>
                  <a:pt x="189550" y="13426"/>
                </a:lnTo>
                <a:lnTo>
                  <a:pt x="210281" y="7579"/>
                </a:lnTo>
                <a:lnTo>
                  <a:pt x="231406" y="3377"/>
                </a:lnTo>
                <a:lnTo>
                  <a:pt x="252797" y="845"/>
                </a:lnTo>
                <a:lnTo>
                  <a:pt x="274320" y="0"/>
                </a:lnTo>
                <a:lnTo>
                  <a:pt x="274320" y="274320"/>
                </a:lnTo>
                <a:close/>
              </a:path>
            </a:pathLst>
          </a:custGeom>
          <a:solidFill>
            <a:srgbClr val="0E746B"/>
          </a:solidFill>
          <a:ln w="2286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1223010" y="4590288"/>
            <a:ext cx="548640" cy="548640"/>
          </a:xfrm>
          <a:prstGeom prst="ellipse">
            <a:avLst/>
          </a:prstGeom>
          <a:noFill/>
          <a:ln w="419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6" name="TextBox 65"/>
          <p:cNvSpPr txBox="1"/>
          <p:nvPr/>
        </p:nvSpPr>
        <p:spPr>
          <a:xfrm>
            <a:off x="784097" y="5184648"/>
            <a:ext cx="142646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4000"/>
              </a:lnSpc>
              <a:spcAft>
                <a:spcPts val="100"/>
              </a:spcAft>
            </a:pPr>
            <a:r>
              <a:rPr sz="850" b="1">
                <a:solidFill>
                  <a:srgbClr val="0D1B2A"/>
                </a:solidFill>
                <a:latin typeface="Calibri"/>
              </a:rPr>
              <a:t>CCU / SCU</a:t>
            </a:r>
          </a:p>
        </p:txBody>
      </p:sp>
      <p:sp>
        <p:nvSpPr>
          <p:cNvPr id="67" name="Freeform 66"/>
          <p:cNvSpPr/>
          <p:nvPr/>
        </p:nvSpPr>
        <p:spPr>
          <a:xfrm>
            <a:off x="2151301" y="4590288"/>
            <a:ext cx="511888" cy="548640"/>
          </a:xfrm>
          <a:custGeom>
            <a:avLst/>
            <a:gdLst/>
            <a:ahLst/>
            <a:cxnLst/>
            <a:rect l="l" t="t" r="r" b="b"/>
            <a:pathLst>
              <a:path w="511888" h="548640">
                <a:moveTo>
                  <a:pt x="237569" y="0"/>
                </a:moveTo>
                <a:lnTo>
                  <a:pt x="266243" y="1502"/>
                </a:lnTo>
                <a:lnTo>
                  <a:pt x="294603" y="5994"/>
                </a:lnTo>
                <a:lnTo>
                  <a:pt x="322338" y="13426"/>
                </a:lnTo>
                <a:lnTo>
                  <a:pt x="349144" y="23716"/>
                </a:lnTo>
                <a:lnTo>
                  <a:pt x="374728" y="36751"/>
                </a:lnTo>
                <a:lnTo>
                  <a:pt x="398810" y="52390"/>
                </a:lnTo>
                <a:lnTo>
                  <a:pt x="421124" y="70460"/>
                </a:lnTo>
                <a:lnTo>
                  <a:pt x="441428" y="90764"/>
                </a:lnTo>
                <a:lnTo>
                  <a:pt x="459498" y="113078"/>
                </a:lnTo>
                <a:lnTo>
                  <a:pt x="475137" y="137160"/>
                </a:lnTo>
                <a:lnTo>
                  <a:pt x="488172" y="162744"/>
                </a:lnTo>
                <a:lnTo>
                  <a:pt x="498462" y="189550"/>
                </a:lnTo>
                <a:lnTo>
                  <a:pt x="505894" y="217285"/>
                </a:lnTo>
                <a:lnTo>
                  <a:pt x="510386" y="245645"/>
                </a:lnTo>
                <a:lnTo>
                  <a:pt x="511888" y="274320"/>
                </a:lnTo>
                <a:lnTo>
                  <a:pt x="510386" y="302994"/>
                </a:lnTo>
                <a:lnTo>
                  <a:pt x="505894" y="331354"/>
                </a:lnTo>
                <a:lnTo>
                  <a:pt x="498462" y="359089"/>
                </a:lnTo>
                <a:lnTo>
                  <a:pt x="488172" y="385895"/>
                </a:lnTo>
                <a:lnTo>
                  <a:pt x="475137" y="411480"/>
                </a:lnTo>
                <a:lnTo>
                  <a:pt x="459498" y="435561"/>
                </a:lnTo>
                <a:lnTo>
                  <a:pt x="441428" y="457875"/>
                </a:lnTo>
                <a:lnTo>
                  <a:pt x="421124" y="478179"/>
                </a:lnTo>
                <a:lnTo>
                  <a:pt x="398810" y="496249"/>
                </a:lnTo>
                <a:lnTo>
                  <a:pt x="374728" y="511888"/>
                </a:lnTo>
                <a:lnTo>
                  <a:pt x="349144" y="524923"/>
                </a:lnTo>
                <a:lnTo>
                  <a:pt x="322338" y="535213"/>
                </a:lnTo>
                <a:lnTo>
                  <a:pt x="294603" y="542645"/>
                </a:lnTo>
                <a:lnTo>
                  <a:pt x="266243" y="547137"/>
                </a:lnTo>
                <a:lnTo>
                  <a:pt x="237569" y="548640"/>
                </a:lnTo>
                <a:lnTo>
                  <a:pt x="208894" y="547137"/>
                </a:lnTo>
                <a:lnTo>
                  <a:pt x="180534" y="542645"/>
                </a:lnTo>
                <a:lnTo>
                  <a:pt x="152799" y="535213"/>
                </a:lnTo>
                <a:lnTo>
                  <a:pt x="125993" y="524923"/>
                </a:lnTo>
                <a:lnTo>
                  <a:pt x="100409" y="511888"/>
                </a:lnTo>
                <a:lnTo>
                  <a:pt x="76327" y="496249"/>
                </a:lnTo>
                <a:lnTo>
                  <a:pt x="54013" y="478179"/>
                </a:lnTo>
                <a:lnTo>
                  <a:pt x="33709" y="457875"/>
                </a:lnTo>
                <a:lnTo>
                  <a:pt x="15639" y="435561"/>
                </a:lnTo>
                <a:lnTo>
                  <a:pt x="0" y="411480"/>
                </a:lnTo>
                <a:lnTo>
                  <a:pt x="237569" y="274320"/>
                </a:lnTo>
                <a:close/>
              </a:path>
            </a:pathLst>
          </a:custGeom>
          <a:solidFill>
            <a:srgbClr val="1F6FB2"/>
          </a:solidFill>
          <a:ln w="2286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Freeform 67"/>
          <p:cNvSpPr/>
          <p:nvPr/>
        </p:nvSpPr>
        <p:spPr>
          <a:xfrm>
            <a:off x="2114550" y="4590288"/>
            <a:ext cx="274320" cy="411480"/>
          </a:xfrm>
          <a:custGeom>
            <a:avLst/>
            <a:gdLst/>
            <a:ahLst/>
            <a:cxnLst/>
            <a:rect l="l" t="t" r="r" b="b"/>
            <a:pathLst>
              <a:path w="274320" h="411480">
                <a:moveTo>
                  <a:pt x="36751" y="411480"/>
                </a:moveTo>
                <a:lnTo>
                  <a:pt x="29899" y="398858"/>
                </a:lnTo>
                <a:lnTo>
                  <a:pt x="23716" y="385895"/>
                </a:lnTo>
                <a:lnTo>
                  <a:pt x="18220" y="372627"/>
                </a:lnTo>
                <a:lnTo>
                  <a:pt x="13426" y="359089"/>
                </a:lnTo>
                <a:lnTo>
                  <a:pt x="9347" y="345319"/>
                </a:lnTo>
                <a:lnTo>
                  <a:pt x="5994" y="331354"/>
                </a:lnTo>
                <a:lnTo>
                  <a:pt x="3377" y="317233"/>
                </a:lnTo>
                <a:lnTo>
                  <a:pt x="1502" y="302994"/>
                </a:lnTo>
                <a:lnTo>
                  <a:pt x="375" y="288676"/>
                </a:lnTo>
                <a:lnTo>
                  <a:pt x="0" y="274320"/>
                </a:lnTo>
                <a:lnTo>
                  <a:pt x="375" y="259963"/>
                </a:lnTo>
                <a:lnTo>
                  <a:pt x="1502" y="245645"/>
                </a:lnTo>
                <a:lnTo>
                  <a:pt x="3377" y="231406"/>
                </a:lnTo>
                <a:lnTo>
                  <a:pt x="5994" y="217285"/>
                </a:lnTo>
                <a:lnTo>
                  <a:pt x="9347" y="203320"/>
                </a:lnTo>
                <a:lnTo>
                  <a:pt x="13426" y="189550"/>
                </a:lnTo>
                <a:lnTo>
                  <a:pt x="18220" y="176012"/>
                </a:lnTo>
                <a:lnTo>
                  <a:pt x="23716" y="162744"/>
                </a:lnTo>
                <a:lnTo>
                  <a:pt x="29899" y="149781"/>
                </a:lnTo>
                <a:lnTo>
                  <a:pt x="36751" y="137160"/>
                </a:lnTo>
                <a:lnTo>
                  <a:pt x="44255" y="124914"/>
                </a:lnTo>
                <a:lnTo>
                  <a:pt x="52390" y="113078"/>
                </a:lnTo>
                <a:lnTo>
                  <a:pt x="61133" y="101684"/>
                </a:lnTo>
                <a:lnTo>
                  <a:pt x="70460" y="90764"/>
                </a:lnTo>
                <a:lnTo>
                  <a:pt x="80346" y="80346"/>
                </a:lnTo>
                <a:lnTo>
                  <a:pt x="90764" y="70460"/>
                </a:lnTo>
                <a:lnTo>
                  <a:pt x="101684" y="61133"/>
                </a:lnTo>
                <a:lnTo>
                  <a:pt x="113078" y="52390"/>
                </a:lnTo>
                <a:lnTo>
                  <a:pt x="124914" y="44255"/>
                </a:lnTo>
                <a:lnTo>
                  <a:pt x="137159" y="36751"/>
                </a:lnTo>
                <a:lnTo>
                  <a:pt x="149781" y="29899"/>
                </a:lnTo>
                <a:lnTo>
                  <a:pt x="162744" y="23716"/>
                </a:lnTo>
                <a:lnTo>
                  <a:pt x="176012" y="18220"/>
                </a:lnTo>
                <a:lnTo>
                  <a:pt x="189550" y="13426"/>
                </a:lnTo>
                <a:lnTo>
                  <a:pt x="203320" y="9347"/>
                </a:lnTo>
                <a:lnTo>
                  <a:pt x="217285" y="5994"/>
                </a:lnTo>
                <a:lnTo>
                  <a:pt x="231406" y="3377"/>
                </a:lnTo>
                <a:lnTo>
                  <a:pt x="245645" y="1502"/>
                </a:lnTo>
                <a:lnTo>
                  <a:pt x="259963" y="375"/>
                </a:lnTo>
                <a:lnTo>
                  <a:pt x="274320" y="0"/>
                </a:lnTo>
                <a:lnTo>
                  <a:pt x="274320" y="274320"/>
                </a:lnTo>
                <a:close/>
              </a:path>
            </a:pathLst>
          </a:custGeom>
          <a:solidFill>
            <a:srgbClr val="C87E12"/>
          </a:solidFill>
          <a:ln w="2286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2114550" y="4590288"/>
            <a:ext cx="548640" cy="548640"/>
          </a:xfrm>
          <a:prstGeom prst="ellipse">
            <a:avLst/>
          </a:prstGeom>
          <a:noFill/>
          <a:ln w="419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0" name="TextBox 69"/>
          <p:cNvSpPr txBox="1"/>
          <p:nvPr/>
        </p:nvSpPr>
        <p:spPr>
          <a:xfrm>
            <a:off x="1675637" y="5184648"/>
            <a:ext cx="142646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4000"/>
              </a:lnSpc>
              <a:spcAft>
                <a:spcPts val="100"/>
              </a:spcAft>
            </a:pPr>
            <a:r>
              <a:rPr sz="850" b="1">
                <a:solidFill>
                  <a:srgbClr val="0D1B2A"/>
                </a:solidFill>
                <a:latin typeface="Calibri"/>
              </a:rPr>
              <a:t>ICU met recovery</a:t>
            </a:r>
          </a:p>
        </p:txBody>
      </p:sp>
      <p:sp>
        <p:nvSpPr>
          <p:cNvPr id="71" name="Freeform 70"/>
          <p:cNvSpPr/>
          <p:nvPr/>
        </p:nvSpPr>
        <p:spPr>
          <a:xfrm>
            <a:off x="4164177" y="4590288"/>
            <a:ext cx="274320" cy="411480"/>
          </a:xfrm>
          <a:custGeom>
            <a:avLst/>
            <a:gdLst/>
            <a:ahLst/>
            <a:cxnLst/>
            <a:rect l="l" t="t" r="r" b="b"/>
            <a:pathLst>
              <a:path w="274320" h="411480">
                <a:moveTo>
                  <a:pt x="0" y="0"/>
                </a:moveTo>
                <a:lnTo>
                  <a:pt x="14357" y="375"/>
                </a:lnTo>
                <a:lnTo>
                  <a:pt x="28674" y="1502"/>
                </a:lnTo>
                <a:lnTo>
                  <a:pt x="42913" y="3377"/>
                </a:lnTo>
                <a:lnTo>
                  <a:pt x="57034" y="5994"/>
                </a:lnTo>
                <a:lnTo>
                  <a:pt x="70999" y="9347"/>
                </a:lnTo>
                <a:lnTo>
                  <a:pt x="84770" y="13426"/>
                </a:lnTo>
                <a:lnTo>
                  <a:pt x="98308" y="18220"/>
                </a:lnTo>
                <a:lnTo>
                  <a:pt x="111576" y="23716"/>
                </a:lnTo>
                <a:lnTo>
                  <a:pt x="124539" y="29899"/>
                </a:lnTo>
                <a:lnTo>
                  <a:pt x="137160" y="36751"/>
                </a:lnTo>
                <a:lnTo>
                  <a:pt x="149405" y="44255"/>
                </a:lnTo>
                <a:lnTo>
                  <a:pt x="161241" y="52390"/>
                </a:lnTo>
                <a:lnTo>
                  <a:pt x="172635" y="61133"/>
                </a:lnTo>
                <a:lnTo>
                  <a:pt x="183556" y="70460"/>
                </a:lnTo>
                <a:lnTo>
                  <a:pt x="193974" y="80346"/>
                </a:lnTo>
                <a:lnTo>
                  <a:pt x="203860" y="90764"/>
                </a:lnTo>
                <a:lnTo>
                  <a:pt x="213187" y="101684"/>
                </a:lnTo>
                <a:lnTo>
                  <a:pt x="221930" y="113078"/>
                </a:lnTo>
                <a:lnTo>
                  <a:pt x="230064" y="124914"/>
                </a:lnTo>
                <a:lnTo>
                  <a:pt x="237568" y="137160"/>
                </a:lnTo>
                <a:lnTo>
                  <a:pt x="244421" y="149781"/>
                </a:lnTo>
                <a:lnTo>
                  <a:pt x="250604" y="162744"/>
                </a:lnTo>
                <a:lnTo>
                  <a:pt x="256100" y="176012"/>
                </a:lnTo>
                <a:lnTo>
                  <a:pt x="260894" y="189550"/>
                </a:lnTo>
                <a:lnTo>
                  <a:pt x="264973" y="203320"/>
                </a:lnTo>
                <a:lnTo>
                  <a:pt x="268326" y="217285"/>
                </a:lnTo>
                <a:lnTo>
                  <a:pt x="270943" y="231406"/>
                </a:lnTo>
                <a:lnTo>
                  <a:pt x="272817" y="245645"/>
                </a:lnTo>
                <a:lnTo>
                  <a:pt x="273944" y="259963"/>
                </a:lnTo>
                <a:lnTo>
                  <a:pt x="274320" y="274320"/>
                </a:lnTo>
                <a:lnTo>
                  <a:pt x="273944" y="288676"/>
                </a:lnTo>
                <a:lnTo>
                  <a:pt x="272817" y="302994"/>
                </a:lnTo>
                <a:lnTo>
                  <a:pt x="270943" y="317233"/>
                </a:lnTo>
                <a:lnTo>
                  <a:pt x="268326" y="331354"/>
                </a:lnTo>
                <a:lnTo>
                  <a:pt x="264973" y="345319"/>
                </a:lnTo>
                <a:lnTo>
                  <a:pt x="260894" y="359089"/>
                </a:lnTo>
                <a:lnTo>
                  <a:pt x="256100" y="372627"/>
                </a:lnTo>
                <a:lnTo>
                  <a:pt x="250604" y="385895"/>
                </a:lnTo>
                <a:lnTo>
                  <a:pt x="244421" y="398858"/>
                </a:lnTo>
                <a:lnTo>
                  <a:pt x="237568" y="411480"/>
                </a:lnTo>
                <a:lnTo>
                  <a:pt x="0" y="274320"/>
                </a:lnTo>
                <a:close/>
              </a:path>
            </a:pathLst>
          </a:custGeom>
          <a:solidFill>
            <a:srgbClr val="0E9A87"/>
          </a:solidFill>
          <a:ln w="2286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Freeform 71"/>
          <p:cNvSpPr/>
          <p:nvPr/>
        </p:nvSpPr>
        <p:spPr>
          <a:xfrm>
            <a:off x="3926609" y="4864608"/>
            <a:ext cx="475136" cy="274320"/>
          </a:xfrm>
          <a:custGeom>
            <a:avLst/>
            <a:gdLst/>
            <a:ahLst/>
            <a:cxnLst/>
            <a:rect l="l" t="t" r="r" b="b"/>
            <a:pathLst>
              <a:path w="475136" h="274320">
                <a:moveTo>
                  <a:pt x="475136" y="137160"/>
                </a:moveTo>
                <a:lnTo>
                  <a:pt x="467632" y="149405"/>
                </a:lnTo>
                <a:lnTo>
                  <a:pt x="459498" y="161241"/>
                </a:lnTo>
                <a:lnTo>
                  <a:pt x="450755" y="172635"/>
                </a:lnTo>
                <a:lnTo>
                  <a:pt x="441428" y="183555"/>
                </a:lnTo>
                <a:lnTo>
                  <a:pt x="431542" y="193973"/>
                </a:lnTo>
                <a:lnTo>
                  <a:pt x="421124" y="203859"/>
                </a:lnTo>
                <a:lnTo>
                  <a:pt x="410203" y="213186"/>
                </a:lnTo>
                <a:lnTo>
                  <a:pt x="398809" y="221929"/>
                </a:lnTo>
                <a:lnTo>
                  <a:pt x="386973" y="230064"/>
                </a:lnTo>
                <a:lnTo>
                  <a:pt x="374728" y="237568"/>
                </a:lnTo>
                <a:lnTo>
                  <a:pt x="362107" y="244420"/>
                </a:lnTo>
                <a:lnTo>
                  <a:pt x="349144" y="250603"/>
                </a:lnTo>
                <a:lnTo>
                  <a:pt x="335876" y="256099"/>
                </a:lnTo>
                <a:lnTo>
                  <a:pt x="322338" y="260893"/>
                </a:lnTo>
                <a:lnTo>
                  <a:pt x="308567" y="264972"/>
                </a:lnTo>
                <a:lnTo>
                  <a:pt x="294602" y="268325"/>
                </a:lnTo>
                <a:lnTo>
                  <a:pt x="280481" y="270942"/>
                </a:lnTo>
                <a:lnTo>
                  <a:pt x="266242" y="272817"/>
                </a:lnTo>
                <a:lnTo>
                  <a:pt x="251925" y="273944"/>
                </a:lnTo>
                <a:lnTo>
                  <a:pt x="237568" y="274320"/>
                </a:lnTo>
                <a:lnTo>
                  <a:pt x="223211" y="273944"/>
                </a:lnTo>
                <a:lnTo>
                  <a:pt x="208894" y="272817"/>
                </a:lnTo>
                <a:lnTo>
                  <a:pt x="194655" y="270942"/>
                </a:lnTo>
                <a:lnTo>
                  <a:pt x="180534" y="268325"/>
                </a:lnTo>
                <a:lnTo>
                  <a:pt x="166569" y="264972"/>
                </a:lnTo>
                <a:lnTo>
                  <a:pt x="152799" y="260893"/>
                </a:lnTo>
                <a:lnTo>
                  <a:pt x="139261" y="256099"/>
                </a:lnTo>
                <a:lnTo>
                  <a:pt x="125992" y="250603"/>
                </a:lnTo>
                <a:lnTo>
                  <a:pt x="113029" y="244420"/>
                </a:lnTo>
                <a:lnTo>
                  <a:pt x="100408" y="237568"/>
                </a:lnTo>
                <a:lnTo>
                  <a:pt x="88163" y="230064"/>
                </a:lnTo>
                <a:lnTo>
                  <a:pt x="76327" y="221929"/>
                </a:lnTo>
                <a:lnTo>
                  <a:pt x="64933" y="213186"/>
                </a:lnTo>
                <a:lnTo>
                  <a:pt x="54012" y="203859"/>
                </a:lnTo>
                <a:lnTo>
                  <a:pt x="43595" y="193973"/>
                </a:lnTo>
                <a:lnTo>
                  <a:pt x="33709" y="183555"/>
                </a:lnTo>
                <a:lnTo>
                  <a:pt x="24381" y="172635"/>
                </a:lnTo>
                <a:lnTo>
                  <a:pt x="15639" y="161241"/>
                </a:lnTo>
                <a:lnTo>
                  <a:pt x="7504" y="149405"/>
                </a:lnTo>
                <a:lnTo>
                  <a:pt x="0" y="137160"/>
                </a:lnTo>
                <a:lnTo>
                  <a:pt x="237568" y="0"/>
                </a:lnTo>
                <a:close/>
              </a:path>
            </a:pathLst>
          </a:custGeom>
          <a:solidFill>
            <a:srgbClr val="0E746B"/>
          </a:solidFill>
          <a:ln w="2286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Freeform 72"/>
          <p:cNvSpPr/>
          <p:nvPr/>
        </p:nvSpPr>
        <p:spPr>
          <a:xfrm>
            <a:off x="3889857" y="4590288"/>
            <a:ext cx="274320" cy="411480"/>
          </a:xfrm>
          <a:custGeom>
            <a:avLst/>
            <a:gdLst/>
            <a:ahLst/>
            <a:cxnLst/>
            <a:rect l="l" t="t" r="r" b="b"/>
            <a:pathLst>
              <a:path w="274320" h="411480">
                <a:moveTo>
                  <a:pt x="36752" y="411480"/>
                </a:moveTo>
                <a:lnTo>
                  <a:pt x="29899" y="398858"/>
                </a:lnTo>
                <a:lnTo>
                  <a:pt x="23716" y="385895"/>
                </a:lnTo>
                <a:lnTo>
                  <a:pt x="18220" y="372627"/>
                </a:lnTo>
                <a:lnTo>
                  <a:pt x="13426" y="359089"/>
                </a:lnTo>
                <a:lnTo>
                  <a:pt x="9347" y="345319"/>
                </a:lnTo>
                <a:lnTo>
                  <a:pt x="5995" y="331354"/>
                </a:lnTo>
                <a:lnTo>
                  <a:pt x="3377" y="317233"/>
                </a:lnTo>
                <a:lnTo>
                  <a:pt x="1503" y="302994"/>
                </a:lnTo>
                <a:lnTo>
                  <a:pt x="376" y="288676"/>
                </a:lnTo>
                <a:lnTo>
                  <a:pt x="0" y="274320"/>
                </a:lnTo>
                <a:lnTo>
                  <a:pt x="376" y="259963"/>
                </a:lnTo>
                <a:lnTo>
                  <a:pt x="1503" y="245645"/>
                </a:lnTo>
                <a:lnTo>
                  <a:pt x="3377" y="231406"/>
                </a:lnTo>
                <a:lnTo>
                  <a:pt x="5995" y="217285"/>
                </a:lnTo>
                <a:lnTo>
                  <a:pt x="9347" y="203320"/>
                </a:lnTo>
                <a:lnTo>
                  <a:pt x="13426" y="189550"/>
                </a:lnTo>
                <a:lnTo>
                  <a:pt x="18220" y="176012"/>
                </a:lnTo>
                <a:lnTo>
                  <a:pt x="23716" y="162744"/>
                </a:lnTo>
                <a:lnTo>
                  <a:pt x="29899" y="149781"/>
                </a:lnTo>
                <a:lnTo>
                  <a:pt x="36752" y="137160"/>
                </a:lnTo>
                <a:lnTo>
                  <a:pt x="44256" y="124914"/>
                </a:lnTo>
                <a:lnTo>
                  <a:pt x="52391" y="113078"/>
                </a:lnTo>
                <a:lnTo>
                  <a:pt x="61133" y="101684"/>
                </a:lnTo>
                <a:lnTo>
                  <a:pt x="70461" y="90764"/>
                </a:lnTo>
                <a:lnTo>
                  <a:pt x="80347" y="80346"/>
                </a:lnTo>
                <a:lnTo>
                  <a:pt x="90764" y="70460"/>
                </a:lnTo>
                <a:lnTo>
                  <a:pt x="101685" y="61133"/>
                </a:lnTo>
                <a:lnTo>
                  <a:pt x="113079" y="52390"/>
                </a:lnTo>
                <a:lnTo>
                  <a:pt x="124915" y="44255"/>
                </a:lnTo>
                <a:lnTo>
                  <a:pt x="137160" y="36751"/>
                </a:lnTo>
                <a:lnTo>
                  <a:pt x="149781" y="29899"/>
                </a:lnTo>
                <a:lnTo>
                  <a:pt x="162744" y="23716"/>
                </a:lnTo>
                <a:lnTo>
                  <a:pt x="176013" y="18220"/>
                </a:lnTo>
                <a:lnTo>
                  <a:pt x="189551" y="13426"/>
                </a:lnTo>
                <a:lnTo>
                  <a:pt x="203321" y="9347"/>
                </a:lnTo>
                <a:lnTo>
                  <a:pt x="217286" y="5994"/>
                </a:lnTo>
                <a:lnTo>
                  <a:pt x="231407" y="3377"/>
                </a:lnTo>
                <a:lnTo>
                  <a:pt x="245646" y="1502"/>
                </a:lnTo>
                <a:lnTo>
                  <a:pt x="259963" y="375"/>
                </a:lnTo>
                <a:lnTo>
                  <a:pt x="274320" y="0"/>
                </a:lnTo>
                <a:lnTo>
                  <a:pt x="274320" y="274320"/>
                </a:lnTo>
                <a:close/>
              </a:path>
            </a:pathLst>
          </a:custGeom>
          <a:solidFill>
            <a:srgbClr val="C87E12"/>
          </a:solidFill>
          <a:ln w="2286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3889857" y="4590288"/>
            <a:ext cx="548640" cy="548640"/>
          </a:xfrm>
          <a:prstGeom prst="ellipse">
            <a:avLst/>
          </a:prstGeom>
          <a:noFill/>
          <a:ln w="419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5" name="TextBox 74"/>
          <p:cNvSpPr txBox="1"/>
          <p:nvPr/>
        </p:nvSpPr>
        <p:spPr>
          <a:xfrm>
            <a:off x="3450945" y="5184648"/>
            <a:ext cx="142646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4000"/>
              </a:lnSpc>
              <a:spcAft>
                <a:spcPts val="100"/>
              </a:spcAft>
            </a:pPr>
            <a:r>
              <a:rPr sz="850" b="1">
                <a:solidFill>
                  <a:srgbClr val="0D1B2A"/>
                </a:solidFill>
                <a:latin typeface="Calibri"/>
              </a:rPr>
              <a:t>CCU / SCU + recovery</a:t>
            </a:r>
          </a:p>
        </p:txBody>
      </p:sp>
      <p:sp>
        <p:nvSpPr>
          <p:cNvPr id="76" name="Oval 75"/>
          <p:cNvSpPr/>
          <p:nvPr/>
        </p:nvSpPr>
        <p:spPr>
          <a:xfrm>
            <a:off x="4781397" y="4590288"/>
            <a:ext cx="548640" cy="548640"/>
          </a:xfrm>
          <a:prstGeom prst="ellipse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7" name="Oval 76"/>
          <p:cNvSpPr/>
          <p:nvPr/>
        </p:nvSpPr>
        <p:spPr>
          <a:xfrm>
            <a:off x="4781397" y="4590288"/>
            <a:ext cx="548640" cy="548640"/>
          </a:xfrm>
          <a:prstGeom prst="ellipse">
            <a:avLst/>
          </a:prstGeom>
          <a:noFill/>
          <a:ln w="419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8" name="TextBox 77"/>
          <p:cNvSpPr txBox="1"/>
          <p:nvPr/>
        </p:nvSpPr>
        <p:spPr>
          <a:xfrm>
            <a:off x="4342485" y="5184648"/>
            <a:ext cx="142646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4000"/>
              </a:lnSpc>
              <a:spcAft>
                <a:spcPts val="100"/>
              </a:spcAft>
            </a:pPr>
            <a:r>
              <a:rPr sz="850" b="1">
                <a:solidFill>
                  <a:srgbClr val="0D1B2A"/>
                </a:solidFill>
                <a:latin typeface="Calibri"/>
              </a:rPr>
              <a:t>ICU</a:t>
            </a:r>
          </a:p>
        </p:txBody>
      </p:sp>
      <p:sp>
        <p:nvSpPr>
          <p:cNvPr id="79" name="Freeform 78"/>
          <p:cNvSpPr/>
          <p:nvPr/>
        </p:nvSpPr>
        <p:spPr>
          <a:xfrm>
            <a:off x="2699765" y="4864608"/>
            <a:ext cx="1153516" cy="0"/>
          </a:xfrm>
          <a:custGeom>
            <a:avLst/>
            <a:gdLst/>
            <a:ahLst/>
            <a:cxnLst/>
            <a:rect l="l" t="t" r="r" b="b"/>
            <a:pathLst>
              <a:path w="1153516" h="0">
                <a:moveTo>
                  <a:pt x="0" y="0"/>
                </a:moveTo>
                <a:lnTo>
                  <a:pt x="26217" y="0"/>
                </a:lnTo>
                <a:lnTo>
                  <a:pt x="52433" y="0"/>
                </a:lnTo>
                <a:lnTo>
                  <a:pt x="78649" y="0"/>
                </a:lnTo>
                <a:lnTo>
                  <a:pt x="104866" y="0"/>
                </a:lnTo>
                <a:lnTo>
                  <a:pt x="131082" y="0"/>
                </a:lnTo>
                <a:lnTo>
                  <a:pt x="157298" y="0"/>
                </a:lnTo>
                <a:lnTo>
                  <a:pt x="183514" y="0"/>
                </a:lnTo>
                <a:lnTo>
                  <a:pt x="209731" y="0"/>
                </a:lnTo>
                <a:lnTo>
                  <a:pt x="235947" y="0"/>
                </a:lnTo>
                <a:lnTo>
                  <a:pt x="262163" y="0"/>
                </a:lnTo>
                <a:lnTo>
                  <a:pt x="288379" y="0"/>
                </a:lnTo>
                <a:lnTo>
                  <a:pt x="314596" y="0"/>
                </a:lnTo>
                <a:lnTo>
                  <a:pt x="340812" y="0"/>
                </a:lnTo>
                <a:lnTo>
                  <a:pt x="367028" y="0"/>
                </a:lnTo>
                <a:lnTo>
                  <a:pt x="393244" y="0"/>
                </a:lnTo>
                <a:lnTo>
                  <a:pt x="419461" y="0"/>
                </a:lnTo>
                <a:lnTo>
                  <a:pt x="445677" y="0"/>
                </a:lnTo>
                <a:lnTo>
                  <a:pt x="471893" y="0"/>
                </a:lnTo>
                <a:lnTo>
                  <a:pt x="498110" y="0"/>
                </a:lnTo>
                <a:lnTo>
                  <a:pt x="524326" y="0"/>
                </a:lnTo>
                <a:lnTo>
                  <a:pt x="550542" y="0"/>
                </a:lnTo>
                <a:lnTo>
                  <a:pt x="576758" y="0"/>
                </a:lnTo>
                <a:lnTo>
                  <a:pt x="602975" y="0"/>
                </a:lnTo>
                <a:lnTo>
                  <a:pt x="629191" y="0"/>
                </a:lnTo>
                <a:lnTo>
                  <a:pt x="655407" y="0"/>
                </a:lnTo>
                <a:lnTo>
                  <a:pt x="681623" y="0"/>
                </a:lnTo>
                <a:lnTo>
                  <a:pt x="707840" y="0"/>
                </a:lnTo>
                <a:lnTo>
                  <a:pt x="734056" y="0"/>
                </a:lnTo>
                <a:lnTo>
                  <a:pt x="760272" y="0"/>
                </a:lnTo>
                <a:lnTo>
                  <a:pt x="786488" y="0"/>
                </a:lnTo>
                <a:lnTo>
                  <a:pt x="812705" y="0"/>
                </a:lnTo>
                <a:lnTo>
                  <a:pt x="838921" y="0"/>
                </a:lnTo>
                <a:lnTo>
                  <a:pt x="865137" y="0"/>
                </a:lnTo>
                <a:lnTo>
                  <a:pt x="891353" y="0"/>
                </a:lnTo>
                <a:lnTo>
                  <a:pt x="917570" y="0"/>
                </a:lnTo>
                <a:lnTo>
                  <a:pt x="943786" y="0"/>
                </a:lnTo>
                <a:lnTo>
                  <a:pt x="970002" y="0"/>
                </a:lnTo>
                <a:lnTo>
                  <a:pt x="996219" y="0"/>
                </a:lnTo>
                <a:lnTo>
                  <a:pt x="1022435" y="0"/>
                </a:lnTo>
                <a:lnTo>
                  <a:pt x="1048651" y="0"/>
                </a:lnTo>
                <a:lnTo>
                  <a:pt x="1074867" y="0"/>
                </a:lnTo>
                <a:lnTo>
                  <a:pt x="1101084" y="0"/>
                </a:lnTo>
                <a:lnTo>
                  <a:pt x="1127300" y="0"/>
                </a:lnTo>
                <a:lnTo>
                  <a:pt x="1153516" y="0"/>
                </a:lnTo>
              </a:path>
            </a:pathLst>
          </a:custGeom>
          <a:noFill/>
          <a:ln w="44450">
            <a:solidFill>
              <a:srgbClr val="C87E12">
                <a:alpha val="8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2644901" y="4809744"/>
            <a:ext cx="109728" cy="109728"/>
          </a:xfrm>
          <a:prstGeom prst="ellipse">
            <a:avLst/>
          </a:prstGeom>
          <a:solidFill>
            <a:srgbClr val="C87E12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1" name="Oval 80"/>
          <p:cNvSpPr/>
          <p:nvPr/>
        </p:nvSpPr>
        <p:spPr>
          <a:xfrm>
            <a:off x="3798417" y="4809744"/>
            <a:ext cx="109728" cy="109728"/>
          </a:xfrm>
          <a:prstGeom prst="ellipse">
            <a:avLst/>
          </a:prstGeom>
          <a:solidFill>
            <a:srgbClr val="C87E12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2" name="Rounded Rectangle 81"/>
          <p:cNvSpPr/>
          <p:nvPr/>
        </p:nvSpPr>
        <p:spPr>
          <a:xfrm>
            <a:off x="6278727" y="3767328"/>
            <a:ext cx="5272887" cy="1883664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9F1"/>
            </a:solidFill>
          </a:ln>
          <a:effectLst>
            <a:outerShdw blurRad="70000" dist="22000" dir="5400000" rotWithShape="0">
              <a:srgbClr val="1B3A5C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3" name="Oval 82"/>
          <p:cNvSpPr/>
          <p:nvPr/>
        </p:nvSpPr>
        <p:spPr>
          <a:xfrm>
            <a:off x="6479895" y="3931920"/>
            <a:ext cx="402336" cy="402336"/>
          </a:xfrm>
          <a:prstGeom prst="ellipse">
            <a:avLst/>
          </a:prstGeom>
          <a:solidFill>
            <a:srgbClr val="1F6FB2">
              <a:alpha val="10000"/>
            </a:srgbClr>
          </a:solidFill>
          <a:ln w="15875">
            <a:solidFill>
              <a:srgbClr val="1F6F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1F6FB2"/>
                </a:solidFill>
                <a:latin typeface="Calibri"/>
              </a:rPr>
              <a:t>4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991959" y="3931920"/>
            <a:ext cx="4267047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1">
                <a:solidFill>
                  <a:srgbClr val="0D1B2A"/>
                </a:solidFill>
                <a:latin typeface="Calibri"/>
              </a:rPr>
              <a:t>Cardioversies van de CCU verplaatsen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690207" y="4370832"/>
            <a:ext cx="17830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800" b="1" spc="120">
                <a:solidFill>
                  <a:srgbClr val="8B9AAA"/>
                </a:solidFill>
                <a:latin typeface="Calibri"/>
              </a:rPr>
              <a:t>NU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9357055" y="4370832"/>
            <a:ext cx="17830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800" b="1" spc="120">
                <a:solidFill>
                  <a:srgbClr val="8B9AAA"/>
                </a:solidFill>
                <a:latin typeface="Calibri"/>
              </a:rPr>
              <a:t>STRAKS</a:t>
            </a:r>
          </a:p>
        </p:txBody>
      </p:sp>
      <p:sp>
        <p:nvSpPr>
          <p:cNvPr id="87" name="Freeform 86"/>
          <p:cNvSpPr/>
          <p:nvPr/>
        </p:nvSpPr>
        <p:spPr>
          <a:xfrm>
            <a:off x="7344179" y="4590288"/>
            <a:ext cx="511888" cy="548640"/>
          </a:xfrm>
          <a:custGeom>
            <a:avLst/>
            <a:gdLst/>
            <a:ahLst/>
            <a:cxnLst/>
            <a:rect l="l" t="t" r="r" b="b"/>
            <a:pathLst>
              <a:path w="511888" h="548640">
                <a:moveTo>
                  <a:pt x="237568" y="0"/>
                </a:moveTo>
                <a:lnTo>
                  <a:pt x="266242" y="1502"/>
                </a:lnTo>
                <a:lnTo>
                  <a:pt x="294602" y="5994"/>
                </a:lnTo>
                <a:lnTo>
                  <a:pt x="322338" y="13426"/>
                </a:lnTo>
                <a:lnTo>
                  <a:pt x="349144" y="23716"/>
                </a:lnTo>
                <a:lnTo>
                  <a:pt x="374728" y="36751"/>
                </a:lnTo>
                <a:lnTo>
                  <a:pt x="398809" y="52390"/>
                </a:lnTo>
                <a:lnTo>
                  <a:pt x="421124" y="70460"/>
                </a:lnTo>
                <a:lnTo>
                  <a:pt x="441428" y="90764"/>
                </a:lnTo>
                <a:lnTo>
                  <a:pt x="459498" y="113078"/>
                </a:lnTo>
                <a:lnTo>
                  <a:pt x="475136" y="137160"/>
                </a:lnTo>
                <a:lnTo>
                  <a:pt x="488172" y="162744"/>
                </a:lnTo>
                <a:lnTo>
                  <a:pt x="498462" y="189550"/>
                </a:lnTo>
                <a:lnTo>
                  <a:pt x="505894" y="217285"/>
                </a:lnTo>
                <a:lnTo>
                  <a:pt x="510385" y="245645"/>
                </a:lnTo>
                <a:lnTo>
                  <a:pt x="511888" y="274320"/>
                </a:lnTo>
                <a:lnTo>
                  <a:pt x="510385" y="302994"/>
                </a:lnTo>
                <a:lnTo>
                  <a:pt x="505894" y="331354"/>
                </a:lnTo>
                <a:lnTo>
                  <a:pt x="498462" y="359089"/>
                </a:lnTo>
                <a:lnTo>
                  <a:pt x="488172" y="385895"/>
                </a:lnTo>
                <a:lnTo>
                  <a:pt x="475136" y="411480"/>
                </a:lnTo>
                <a:lnTo>
                  <a:pt x="459498" y="435561"/>
                </a:lnTo>
                <a:lnTo>
                  <a:pt x="441428" y="457875"/>
                </a:lnTo>
                <a:lnTo>
                  <a:pt x="421124" y="478179"/>
                </a:lnTo>
                <a:lnTo>
                  <a:pt x="398809" y="496249"/>
                </a:lnTo>
                <a:lnTo>
                  <a:pt x="374728" y="511888"/>
                </a:lnTo>
                <a:lnTo>
                  <a:pt x="349144" y="524923"/>
                </a:lnTo>
                <a:lnTo>
                  <a:pt x="322338" y="535213"/>
                </a:lnTo>
                <a:lnTo>
                  <a:pt x="294602" y="542645"/>
                </a:lnTo>
                <a:lnTo>
                  <a:pt x="266242" y="547137"/>
                </a:lnTo>
                <a:lnTo>
                  <a:pt x="237568" y="548640"/>
                </a:lnTo>
                <a:lnTo>
                  <a:pt x="208894" y="547137"/>
                </a:lnTo>
                <a:lnTo>
                  <a:pt x="180534" y="542645"/>
                </a:lnTo>
                <a:lnTo>
                  <a:pt x="152799" y="535213"/>
                </a:lnTo>
                <a:lnTo>
                  <a:pt x="125992" y="524923"/>
                </a:lnTo>
                <a:lnTo>
                  <a:pt x="100408" y="511888"/>
                </a:lnTo>
                <a:lnTo>
                  <a:pt x="76327" y="496249"/>
                </a:lnTo>
                <a:lnTo>
                  <a:pt x="54012" y="478179"/>
                </a:lnTo>
                <a:lnTo>
                  <a:pt x="33709" y="457875"/>
                </a:lnTo>
                <a:lnTo>
                  <a:pt x="15639" y="435561"/>
                </a:lnTo>
                <a:lnTo>
                  <a:pt x="0" y="411480"/>
                </a:lnTo>
                <a:lnTo>
                  <a:pt x="237568" y="274320"/>
                </a:lnTo>
                <a:close/>
              </a:path>
            </a:pathLst>
          </a:custGeom>
          <a:solidFill>
            <a:srgbClr val="0E9A87"/>
          </a:solidFill>
          <a:ln w="2286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Freeform 87"/>
          <p:cNvSpPr/>
          <p:nvPr/>
        </p:nvSpPr>
        <p:spPr>
          <a:xfrm>
            <a:off x="7307427" y="4590288"/>
            <a:ext cx="274320" cy="411480"/>
          </a:xfrm>
          <a:custGeom>
            <a:avLst/>
            <a:gdLst/>
            <a:ahLst/>
            <a:cxnLst/>
            <a:rect l="l" t="t" r="r" b="b"/>
            <a:pathLst>
              <a:path w="274320" h="411480">
                <a:moveTo>
                  <a:pt x="36752" y="411480"/>
                </a:moveTo>
                <a:lnTo>
                  <a:pt x="29899" y="398858"/>
                </a:lnTo>
                <a:lnTo>
                  <a:pt x="23716" y="385895"/>
                </a:lnTo>
                <a:lnTo>
                  <a:pt x="18220" y="372627"/>
                </a:lnTo>
                <a:lnTo>
                  <a:pt x="13426" y="359089"/>
                </a:lnTo>
                <a:lnTo>
                  <a:pt x="9347" y="345319"/>
                </a:lnTo>
                <a:lnTo>
                  <a:pt x="5995" y="331354"/>
                </a:lnTo>
                <a:lnTo>
                  <a:pt x="3377" y="317233"/>
                </a:lnTo>
                <a:lnTo>
                  <a:pt x="1503" y="302994"/>
                </a:lnTo>
                <a:lnTo>
                  <a:pt x="376" y="288676"/>
                </a:lnTo>
                <a:lnTo>
                  <a:pt x="0" y="274320"/>
                </a:lnTo>
                <a:lnTo>
                  <a:pt x="376" y="259963"/>
                </a:lnTo>
                <a:lnTo>
                  <a:pt x="1503" y="245645"/>
                </a:lnTo>
                <a:lnTo>
                  <a:pt x="3377" y="231406"/>
                </a:lnTo>
                <a:lnTo>
                  <a:pt x="5995" y="217285"/>
                </a:lnTo>
                <a:lnTo>
                  <a:pt x="9347" y="203320"/>
                </a:lnTo>
                <a:lnTo>
                  <a:pt x="13426" y="189550"/>
                </a:lnTo>
                <a:lnTo>
                  <a:pt x="18220" y="176012"/>
                </a:lnTo>
                <a:lnTo>
                  <a:pt x="23716" y="162744"/>
                </a:lnTo>
                <a:lnTo>
                  <a:pt x="29899" y="149781"/>
                </a:lnTo>
                <a:lnTo>
                  <a:pt x="36752" y="137160"/>
                </a:lnTo>
                <a:lnTo>
                  <a:pt x="44256" y="124914"/>
                </a:lnTo>
                <a:lnTo>
                  <a:pt x="52391" y="113078"/>
                </a:lnTo>
                <a:lnTo>
                  <a:pt x="61133" y="101684"/>
                </a:lnTo>
                <a:lnTo>
                  <a:pt x="70461" y="90764"/>
                </a:lnTo>
                <a:lnTo>
                  <a:pt x="80347" y="80346"/>
                </a:lnTo>
                <a:lnTo>
                  <a:pt x="90764" y="70460"/>
                </a:lnTo>
                <a:lnTo>
                  <a:pt x="101685" y="61133"/>
                </a:lnTo>
                <a:lnTo>
                  <a:pt x="113079" y="52390"/>
                </a:lnTo>
                <a:lnTo>
                  <a:pt x="124915" y="44255"/>
                </a:lnTo>
                <a:lnTo>
                  <a:pt x="137160" y="36751"/>
                </a:lnTo>
                <a:lnTo>
                  <a:pt x="149781" y="29899"/>
                </a:lnTo>
                <a:lnTo>
                  <a:pt x="162744" y="23716"/>
                </a:lnTo>
                <a:lnTo>
                  <a:pt x="176013" y="18220"/>
                </a:lnTo>
                <a:lnTo>
                  <a:pt x="189551" y="13426"/>
                </a:lnTo>
                <a:lnTo>
                  <a:pt x="203321" y="9347"/>
                </a:lnTo>
                <a:lnTo>
                  <a:pt x="217286" y="5994"/>
                </a:lnTo>
                <a:lnTo>
                  <a:pt x="231407" y="3377"/>
                </a:lnTo>
                <a:lnTo>
                  <a:pt x="245646" y="1502"/>
                </a:lnTo>
                <a:lnTo>
                  <a:pt x="259963" y="375"/>
                </a:lnTo>
                <a:lnTo>
                  <a:pt x="274320" y="0"/>
                </a:lnTo>
                <a:lnTo>
                  <a:pt x="274320" y="274320"/>
                </a:lnTo>
                <a:close/>
              </a:path>
            </a:pathLst>
          </a:custGeom>
          <a:solidFill>
            <a:srgbClr val="C87E12"/>
          </a:solidFill>
          <a:ln w="2286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7307427" y="4590288"/>
            <a:ext cx="548640" cy="548640"/>
          </a:xfrm>
          <a:prstGeom prst="ellipse">
            <a:avLst/>
          </a:prstGeom>
          <a:noFill/>
          <a:ln w="419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" name="TextBox 89"/>
          <p:cNvSpPr txBox="1"/>
          <p:nvPr/>
        </p:nvSpPr>
        <p:spPr>
          <a:xfrm>
            <a:off x="6868515" y="5184648"/>
            <a:ext cx="142646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4000"/>
              </a:lnSpc>
              <a:spcAft>
                <a:spcPts val="100"/>
              </a:spcAft>
            </a:pPr>
            <a:r>
              <a:rPr sz="850" b="1">
                <a:solidFill>
                  <a:srgbClr val="0D1B2A"/>
                </a:solidFill>
                <a:latin typeface="Calibri"/>
              </a:rPr>
              <a:t>CCU met cardioversie</a:t>
            </a:r>
          </a:p>
        </p:txBody>
      </p:sp>
      <p:sp>
        <p:nvSpPr>
          <p:cNvPr id="91" name="Oval 90"/>
          <p:cNvSpPr/>
          <p:nvPr/>
        </p:nvSpPr>
        <p:spPr>
          <a:xfrm>
            <a:off x="9528505" y="4590288"/>
            <a:ext cx="548640" cy="548640"/>
          </a:xfrm>
          <a:prstGeom prst="ellipse">
            <a:avLst/>
          </a:prstGeom>
          <a:solidFill>
            <a:srgbClr val="C87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" name="Oval 91"/>
          <p:cNvSpPr/>
          <p:nvPr/>
        </p:nvSpPr>
        <p:spPr>
          <a:xfrm>
            <a:off x="9528505" y="4590288"/>
            <a:ext cx="548640" cy="548640"/>
          </a:xfrm>
          <a:prstGeom prst="ellipse">
            <a:avLst/>
          </a:prstGeom>
          <a:noFill/>
          <a:ln w="419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3" name="TextBox 92"/>
          <p:cNvSpPr txBox="1"/>
          <p:nvPr/>
        </p:nvSpPr>
        <p:spPr>
          <a:xfrm>
            <a:off x="9089593" y="5184648"/>
            <a:ext cx="142646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4000"/>
              </a:lnSpc>
              <a:spcAft>
                <a:spcPts val="100"/>
              </a:spcAft>
            </a:pPr>
            <a:r>
              <a:rPr sz="850" b="1">
                <a:solidFill>
                  <a:srgbClr val="0D1B2A"/>
                </a:solidFill>
                <a:latin typeface="Calibri"/>
              </a:rPr>
              <a:t>cardioversie</a:t>
            </a:r>
          </a:p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750" b="0">
                <a:solidFill>
                  <a:srgbClr val="C87E12"/>
                </a:solidFill>
                <a:latin typeface="Calibri"/>
              </a:rPr>
              <a:t>waarheen nog te bepalen</a:t>
            </a:r>
          </a:p>
        </p:txBody>
      </p:sp>
      <p:sp>
        <p:nvSpPr>
          <p:cNvPr id="94" name="Oval 93"/>
          <p:cNvSpPr/>
          <p:nvPr/>
        </p:nvSpPr>
        <p:spPr>
          <a:xfrm>
            <a:off x="10420045" y="4590288"/>
            <a:ext cx="548640" cy="548640"/>
          </a:xfrm>
          <a:prstGeom prst="ellipse">
            <a:avLst/>
          </a:prstGeom>
          <a:solidFill>
            <a:srgbClr val="0E9A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5" name="Oval 94"/>
          <p:cNvSpPr/>
          <p:nvPr/>
        </p:nvSpPr>
        <p:spPr>
          <a:xfrm>
            <a:off x="10420045" y="4590288"/>
            <a:ext cx="548640" cy="548640"/>
          </a:xfrm>
          <a:prstGeom prst="ellipse">
            <a:avLst/>
          </a:prstGeom>
          <a:noFill/>
          <a:ln w="4191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6" name="TextBox 95"/>
          <p:cNvSpPr txBox="1"/>
          <p:nvPr/>
        </p:nvSpPr>
        <p:spPr>
          <a:xfrm>
            <a:off x="9981133" y="5184648"/>
            <a:ext cx="142646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4000"/>
              </a:lnSpc>
              <a:spcAft>
                <a:spcPts val="100"/>
              </a:spcAft>
            </a:pPr>
            <a:r>
              <a:rPr sz="850" b="1">
                <a:solidFill>
                  <a:srgbClr val="0D1B2A"/>
                </a:solidFill>
                <a:latin typeface="Calibri"/>
              </a:rPr>
              <a:t>CCU</a:t>
            </a:r>
          </a:p>
        </p:txBody>
      </p:sp>
      <p:sp>
        <p:nvSpPr>
          <p:cNvPr id="97" name="Freeform 96"/>
          <p:cNvSpPr/>
          <p:nvPr/>
        </p:nvSpPr>
        <p:spPr>
          <a:xfrm>
            <a:off x="7892643" y="4864608"/>
            <a:ext cx="1599286" cy="0"/>
          </a:xfrm>
          <a:custGeom>
            <a:avLst/>
            <a:gdLst/>
            <a:ahLst/>
            <a:cxnLst/>
            <a:rect l="l" t="t" r="r" b="b"/>
            <a:pathLst>
              <a:path w="1599286" h="0">
                <a:moveTo>
                  <a:pt x="0" y="0"/>
                </a:moveTo>
                <a:lnTo>
                  <a:pt x="36348" y="0"/>
                </a:lnTo>
                <a:lnTo>
                  <a:pt x="72695" y="0"/>
                </a:lnTo>
                <a:lnTo>
                  <a:pt x="109042" y="0"/>
                </a:lnTo>
                <a:lnTo>
                  <a:pt x="145390" y="0"/>
                </a:lnTo>
                <a:lnTo>
                  <a:pt x="181737" y="0"/>
                </a:lnTo>
                <a:lnTo>
                  <a:pt x="218085" y="0"/>
                </a:lnTo>
                <a:lnTo>
                  <a:pt x="254432" y="0"/>
                </a:lnTo>
                <a:lnTo>
                  <a:pt x="290779" y="0"/>
                </a:lnTo>
                <a:lnTo>
                  <a:pt x="327127" y="0"/>
                </a:lnTo>
                <a:lnTo>
                  <a:pt x="363474" y="0"/>
                </a:lnTo>
                <a:lnTo>
                  <a:pt x="399822" y="0"/>
                </a:lnTo>
                <a:lnTo>
                  <a:pt x="436169" y="0"/>
                </a:lnTo>
                <a:lnTo>
                  <a:pt x="472516" y="0"/>
                </a:lnTo>
                <a:lnTo>
                  <a:pt x="508864" y="0"/>
                </a:lnTo>
                <a:lnTo>
                  <a:pt x="545211" y="0"/>
                </a:lnTo>
                <a:lnTo>
                  <a:pt x="581559" y="0"/>
                </a:lnTo>
                <a:lnTo>
                  <a:pt x="617906" y="0"/>
                </a:lnTo>
                <a:lnTo>
                  <a:pt x="654253" y="0"/>
                </a:lnTo>
                <a:lnTo>
                  <a:pt x="690601" y="0"/>
                </a:lnTo>
                <a:lnTo>
                  <a:pt x="726948" y="0"/>
                </a:lnTo>
                <a:lnTo>
                  <a:pt x="763296" y="0"/>
                </a:lnTo>
                <a:lnTo>
                  <a:pt x="799643" y="0"/>
                </a:lnTo>
                <a:lnTo>
                  <a:pt x="835990" y="0"/>
                </a:lnTo>
                <a:lnTo>
                  <a:pt x="872338" y="0"/>
                </a:lnTo>
                <a:lnTo>
                  <a:pt x="908685" y="0"/>
                </a:lnTo>
                <a:lnTo>
                  <a:pt x="945033" y="0"/>
                </a:lnTo>
                <a:lnTo>
                  <a:pt x="981380" y="0"/>
                </a:lnTo>
                <a:lnTo>
                  <a:pt x="1017727" y="0"/>
                </a:lnTo>
                <a:lnTo>
                  <a:pt x="1054075" y="0"/>
                </a:lnTo>
                <a:lnTo>
                  <a:pt x="1090422" y="0"/>
                </a:lnTo>
                <a:lnTo>
                  <a:pt x="1126770" y="0"/>
                </a:lnTo>
                <a:lnTo>
                  <a:pt x="1163117" y="0"/>
                </a:lnTo>
                <a:lnTo>
                  <a:pt x="1199464" y="0"/>
                </a:lnTo>
                <a:lnTo>
                  <a:pt x="1235812" y="0"/>
                </a:lnTo>
                <a:lnTo>
                  <a:pt x="1272159" y="0"/>
                </a:lnTo>
                <a:lnTo>
                  <a:pt x="1308507" y="0"/>
                </a:lnTo>
                <a:lnTo>
                  <a:pt x="1344854" y="0"/>
                </a:lnTo>
                <a:lnTo>
                  <a:pt x="1381201" y="0"/>
                </a:lnTo>
                <a:lnTo>
                  <a:pt x="1417549" y="0"/>
                </a:lnTo>
                <a:lnTo>
                  <a:pt x="1453896" y="0"/>
                </a:lnTo>
                <a:lnTo>
                  <a:pt x="1490244" y="0"/>
                </a:lnTo>
                <a:lnTo>
                  <a:pt x="1526591" y="0"/>
                </a:lnTo>
                <a:lnTo>
                  <a:pt x="1562938" y="0"/>
                </a:lnTo>
                <a:lnTo>
                  <a:pt x="1599286" y="0"/>
                </a:lnTo>
              </a:path>
            </a:pathLst>
          </a:custGeom>
          <a:noFill/>
          <a:ln w="44450">
            <a:solidFill>
              <a:srgbClr val="C87E12">
                <a:alpha val="8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7837779" y="4809744"/>
            <a:ext cx="109728" cy="109728"/>
          </a:xfrm>
          <a:prstGeom prst="ellipse">
            <a:avLst/>
          </a:prstGeom>
          <a:solidFill>
            <a:srgbClr val="C87E12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9" name="Oval 98"/>
          <p:cNvSpPr/>
          <p:nvPr/>
        </p:nvSpPr>
        <p:spPr>
          <a:xfrm>
            <a:off x="9437065" y="4809744"/>
            <a:ext cx="109728" cy="109728"/>
          </a:xfrm>
          <a:prstGeom prst="ellipse">
            <a:avLst/>
          </a:prstGeom>
          <a:solidFill>
            <a:srgbClr val="C87E12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0" name="Rounded Rectangle 99"/>
          <p:cNvSpPr/>
          <p:nvPr/>
        </p:nvSpPr>
        <p:spPr>
          <a:xfrm>
            <a:off x="640080" y="5852160"/>
            <a:ext cx="10911535" cy="402336"/>
          </a:xfrm>
          <a:prstGeom prst="roundRect">
            <a:avLst>
              <a:gd name="adj" fmla="val 3000"/>
            </a:avLst>
          </a:prstGeom>
          <a:solidFill>
            <a:srgbClr val="F6F9FD"/>
          </a:solidFill>
          <a:ln w="12700">
            <a:solidFill>
              <a:srgbClr val="E2E9F1"/>
            </a:solidFill>
          </a:ln>
          <a:effectLst>
            <a:outerShdw blurRad="70000" dist="22000" dir="5400000" rotWithShape="0">
              <a:srgbClr val="1B3A5C">
                <a:alpha val="9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1" name="Oval 100"/>
          <p:cNvSpPr/>
          <p:nvPr/>
        </p:nvSpPr>
        <p:spPr>
          <a:xfrm>
            <a:off x="868679" y="5897880"/>
            <a:ext cx="310896" cy="310896"/>
          </a:xfrm>
          <a:prstGeom prst="ellipse">
            <a:avLst/>
          </a:prstGeom>
          <a:solidFill>
            <a:srgbClr val="8B9AAA">
              <a:alpha val="10000"/>
            </a:srgbClr>
          </a:solidFill>
          <a:ln w="15875">
            <a:solidFill>
              <a:srgbClr val="8B9A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50" b="1">
                <a:solidFill>
                  <a:srgbClr val="8B9AAA"/>
                </a:solidFill>
                <a:latin typeface="Calibri"/>
              </a:rPr>
              <a:t>5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316736" y="5870448"/>
            <a:ext cx="9905695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55677C"/>
                </a:solidFill>
                <a:latin typeface="Calibri"/>
              </a:rPr>
              <a:t>Huidige situatie handhaven — ICU, CCU/SCU/EHH en SEH blijven apart. Er verschuift niets; dit is het referentiescenario.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