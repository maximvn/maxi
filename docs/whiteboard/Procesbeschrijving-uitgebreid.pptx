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6FC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148132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spc="220">
                <a:solidFill>
                  <a:srgbClr val="0E9A87"/>
                </a:solidFill>
                <a:latin typeface="Calibri"/>
              </a:rPr>
              <a:t>ACUUT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73936"/>
            <a:ext cx="8778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0D1B2A"/>
                </a:solidFill>
                <a:latin typeface="Calibri"/>
              </a:rPr>
              <a:t>Procesbeschrijving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0E9A87"/>
                </a:solidFill>
                <a:latin typeface="Calibri"/>
              </a:rPr>
              <a:t>strategisch capaciteitsjaarplan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3767328"/>
            <a:ext cx="3108959" cy="0"/>
          </a:xfrm>
          <a:prstGeom prst="line">
            <a:avLst/>
          </a:prstGeom>
          <a:ln w="25400">
            <a:solidFill>
              <a:srgbClr val="0E9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395020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55677C"/>
                </a:solidFill>
                <a:latin typeface="Calibri"/>
              </a:rPr>
              <a:t>Van beddencapaciteit via personele formatie naar de financiële begroting</a:t>
            </a:r>
          </a:p>
        </p:txBody>
      </p:sp>
      <p:sp>
        <p:nvSpPr>
          <p:cNvPr id="7" name="Pentagon 6"/>
          <p:cNvSpPr/>
          <p:nvPr/>
        </p:nvSpPr>
        <p:spPr>
          <a:xfrm>
            <a:off x="640080" y="4754880"/>
            <a:ext cx="3734714" cy="548640"/>
          </a:xfrm>
          <a:prstGeom prst="homePlate">
            <a:avLst/>
          </a:prstGeom>
          <a:solidFill>
            <a:srgbClr val="0E9A87">
              <a:alpha val="14000"/>
            </a:srgbClr>
          </a:solidFill>
          <a:ln w="19050">
            <a:solidFill>
              <a:srgbClr val="74C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4773168"/>
            <a:ext cx="3167786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E9A87"/>
                </a:solidFill>
                <a:latin typeface="Calibri"/>
              </a:rPr>
              <a:t>Beddencapaciteit</a:t>
            </a:r>
          </a:p>
        </p:txBody>
      </p:sp>
      <p:sp>
        <p:nvSpPr>
          <p:cNvPr id="9" name="Chevron 8"/>
          <p:cNvSpPr/>
          <p:nvPr/>
        </p:nvSpPr>
        <p:spPr>
          <a:xfrm>
            <a:off x="4228490" y="4754880"/>
            <a:ext cx="3734714" cy="54864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E2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39386" y="4773168"/>
            <a:ext cx="3167786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8B9AAA"/>
                </a:solidFill>
                <a:latin typeface="Calibri"/>
              </a:rPr>
              <a:t>Personele formatie</a:t>
            </a:r>
          </a:p>
        </p:txBody>
      </p:sp>
      <p:sp>
        <p:nvSpPr>
          <p:cNvPr id="11" name="Chevron 10"/>
          <p:cNvSpPr/>
          <p:nvPr/>
        </p:nvSpPr>
        <p:spPr>
          <a:xfrm>
            <a:off x="7816900" y="4754880"/>
            <a:ext cx="3734714" cy="54864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E2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27796" y="4773168"/>
            <a:ext cx="3167786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8B9AAA"/>
                </a:solidFill>
                <a:latin typeface="Calibri"/>
              </a:rPr>
              <a:t>Financiële begroting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31536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spc="120">
                <a:solidFill>
                  <a:srgbClr val="8B9AAA"/>
                </a:solidFill>
                <a:latin typeface="Calibri"/>
              </a:rPr>
              <a:t>vier processen en een rekenvoorbeeld</a:t>
            </a:r>
          </a:p>
        </p:txBody>
      </p:sp>
      <p:sp>
        <p:nvSpPr>
          <p:cNvPr id="14" name="Freeform 13"/>
          <p:cNvSpPr/>
          <p:nvPr/>
        </p:nvSpPr>
        <p:spPr>
          <a:xfrm>
            <a:off x="0" y="5943600"/>
            <a:ext cx="12191695" cy="595274"/>
          </a:xfrm>
          <a:custGeom>
            <a:avLst/>
            <a:gdLst/>
            <a:ahLst/>
            <a:cxnLst/>
            <a:rect l="l" t="t" r="r" b="b"/>
            <a:pathLst>
              <a:path w="12191695" h="595274">
                <a:moveTo>
                  <a:pt x="0" y="384048"/>
                </a:moveTo>
                <a:lnTo>
                  <a:pt x="914377" y="384048"/>
                </a:lnTo>
                <a:lnTo>
                  <a:pt x="1097252" y="322600"/>
                </a:lnTo>
                <a:lnTo>
                  <a:pt x="1280127" y="422452"/>
                </a:lnTo>
                <a:lnTo>
                  <a:pt x="1523961" y="0"/>
                </a:lnTo>
                <a:lnTo>
                  <a:pt x="1767795" y="595274"/>
                </a:lnTo>
                <a:lnTo>
                  <a:pt x="2011629" y="384048"/>
                </a:lnTo>
                <a:lnTo>
                  <a:pt x="3047923" y="384048"/>
                </a:lnTo>
                <a:lnTo>
                  <a:pt x="3047923" y="384048"/>
                </a:lnTo>
                <a:lnTo>
                  <a:pt x="3962300" y="384048"/>
                </a:lnTo>
                <a:lnTo>
                  <a:pt x="4145176" y="322600"/>
                </a:lnTo>
                <a:lnTo>
                  <a:pt x="4328051" y="422452"/>
                </a:lnTo>
                <a:lnTo>
                  <a:pt x="4571885" y="0"/>
                </a:lnTo>
                <a:lnTo>
                  <a:pt x="4815719" y="595274"/>
                </a:lnTo>
                <a:lnTo>
                  <a:pt x="5059553" y="384048"/>
                </a:lnTo>
                <a:lnTo>
                  <a:pt x="6095847" y="384048"/>
                </a:lnTo>
                <a:lnTo>
                  <a:pt x="6095847" y="384048"/>
                </a:lnTo>
                <a:lnTo>
                  <a:pt x="7010224" y="384048"/>
                </a:lnTo>
                <a:lnTo>
                  <a:pt x="7193100" y="322600"/>
                </a:lnTo>
                <a:lnTo>
                  <a:pt x="7375975" y="422452"/>
                </a:lnTo>
                <a:lnTo>
                  <a:pt x="7619809" y="0"/>
                </a:lnTo>
                <a:lnTo>
                  <a:pt x="7863643" y="595274"/>
                </a:lnTo>
                <a:lnTo>
                  <a:pt x="8107477" y="384048"/>
                </a:lnTo>
                <a:lnTo>
                  <a:pt x="9143771" y="384048"/>
                </a:lnTo>
                <a:lnTo>
                  <a:pt x="9143771" y="384048"/>
                </a:lnTo>
                <a:lnTo>
                  <a:pt x="10058148" y="384048"/>
                </a:lnTo>
                <a:lnTo>
                  <a:pt x="10241023" y="322600"/>
                </a:lnTo>
                <a:lnTo>
                  <a:pt x="10423899" y="422452"/>
                </a:lnTo>
                <a:lnTo>
                  <a:pt x="10667733" y="0"/>
                </a:lnTo>
                <a:lnTo>
                  <a:pt x="10911567" y="595274"/>
                </a:lnTo>
                <a:lnTo>
                  <a:pt x="11155401" y="384048"/>
                </a:lnTo>
                <a:lnTo>
                  <a:pt x="12191695" y="384048"/>
                </a:lnTo>
              </a:path>
            </a:pathLst>
          </a:custGeom>
          <a:noFill/>
          <a:ln w="19050">
            <a:solidFill>
              <a:srgbClr val="0E9A87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6FC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 spc="220">
                <a:solidFill>
                  <a:srgbClr val="0E9A87"/>
                </a:solidFill>
                <a:latin typeface="Calibri"/>
              </a:rPr>
              <a:t>PROCESBESCHRIJVING  ·  STRATEGISCH CAPACITEITSJAARPLAN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1">
                <a:solidFill>
                  <a:srgbClr val="0D1B2A"/>
                </a:solidFill>
                <a:latin typeface="Calibri"/>
              </a:rPr>
              <a:t>Proces bepaling capaciteit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85109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5677C"/>
                </a:solidFill>
                <a:latin typeface="Calibri"/>
              </a:rPr>
              <a:t>Bedden en ruimtes voor het komende jaar - acht stappen van data-analyse naar een definitief advies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9344"/>
            <a:ext cx="10911535" cy="0"/>
          </a:xfrm>
          <a:prstGeom prst="line">
            <a:avLst/>
          </a:prstGeom>
          <a:ln w="12700">
            <a:solidFill>
              <a:srgbClr val="E2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0080" y="6291072"/>
            <a:ext cx="10911535" cy="0"/>
          </a:xfrm>
          <a:prstGeom prst="line">
            <a:avLst/>
          </a:prstGeom>
          <a:ln w="9525">
            <a:solidFill>
              <a:srgbClr val="E2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80">
                <a:solidFill>
                  <a:srgbClr val="8B9AAA"/>
                </a:solidFill>
                <a:latin typeface="Calibri"/>
              </a:rPr>
              <a:t>Acuut 2026 - strategisch capaciteitsjaarplan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1">
                <a:solidFill>
                  <a:srgbClr val="0E9A87"/>
                </a:solidFill>
                <a:latin typeface="Calibri"/>
              </a:rPr>
              <a:t>02</a:t>
            </a:r>
          </a:p>
        </p:txBody>
      </p:sp>
      <p:sp>
        <p:nvSpPr>
          <p:cNvPr id="10" name="Pentagon 9"/>
          <p:cNvSpPr/>
          <p:nvPr/>
        </p:nvSpPr>
        <p:spPr>
          <a:xfrm>
            <a:off x="640080" y="1700784"/>
            <a:ext cx="3734714" cy="512064"/>
          </a:xfrm>
          <a:prstGeom prst="homePlate">
            <a:avLst/>
          </a:prstGeom>
          <a:solidFill>
            <a:srgbClr val="0E9A87">
              <a:alpha val="14000"/>
            </a:srgbClr>
          </a:solidFill>
          <a:ln w="19050">
            <a:solidFill>
              <a:srgbClr val="74C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1719072"/>
            <a:ext cx="316778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E9A87"/>
                </a:solidFill>
                <a:latin typeface="Calibri"/>
              </a:rPr>
              <a:t>Beddencapaciteit</a:t>
            </a:r>
          </a:p>
        </p:txBody>
      </p:sp>
      <p:sp>
        <p:nvSpPr>
          <p:cNvPr id="12" name="Chevron 11"/>
          <p:cNvSpPr/>
          <p:nvPr/>
        </p:nvSpPr>
        <p:spPr>
          <a:xfrm>
            <a:off x="4228490" y="1700784"/>
            <a:ext cx="3734714" cy="51206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E2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39386" y="1719072"/>
            <a:ext cx="316778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8B9AAA"/>
                </a:solidFill>
                <a:latin typeface="Calibri"/>
              </a:rPr>
              <a:t>Personele formatie</a:t>
            </a:r>
          </a:p>
        </p:txBody>
      </p:sp>
      <p:sp>
        <p:nvSpPr>
          <p:cNvPr id="14" name="Chevron 13"/>
          <p:cNvSpPr/>
          <p:nvPr/>
        </p:nvSpPr>
        <p:spPr>
          <a:xfrm>
            <a:off x="7816900" y="1700784"/>
            <a:ext cx="3734714" cy="51206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E2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27796" y="1719072"/>
            <a:ext cx="316778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8B9AAA"/>
                </a:solidFill>
                <a:latin typeface="Calibri"/>
              </a:rPr>
              <a:t>Financiële begroting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450592"/>
            <a:ext cx="2590723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22959" y="2578608"/>
            <a:ext cx="402336" cy="402336"/>
          </a:xfrm>
          <a:prstGeom prst="ellipse">
            <a:avLst/>
          </a:prstGeom>
          <a:solidFill>
            <a:srgbClr val="0E9A87">
              <a:alpha val="10000"/>
            </a:srgbClr>
          </a:solidFill>
          <a:ln w="15875">
            <a:solidFill>
              <a:srgbClr val="0E9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9A87"/>
                </a:solidFill>
                <a:latin typeface="Calibr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035808"/>
            <a:ext cx="222496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Data-analyse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493008"/>
            <a:ext cx="2224963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55677C"/>
                </a:solidFill>
                <a:latin typeface="Calibri"/>
              </a:rPr>
              <a:t>instroom, patiëntaanwezigheid, ligduur en meer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244519" y="2706624"/>
            <a:ext cx="155448" cy="155448"/>
          </a:xfrm>
          <a:prstGeom prst="rightArrow">
            <a:avLst/>
          </a:prstGeom>
          <a:solidFill>
            <a:srgbClr val="0E9A8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13683" y="2450592"/>
            <a:ext cx="2590723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3596563" y="2578608"/>
            <a:ext cx="402336" cy="402336"/>
          </a:xfrm>
          <a:prstGeom prst="ellipse">
            <a:avLst/>
          </a:prstGeom>
          <a:solidFill>
            <a:srgbClr val="0E9A87">
              <a:alpha val="10000"/>
            </a:srgbClr>
          </a:solidFill>
          <a:ln w="15875">
            <a:solidFill>
              <a:srgbClr val="0E9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9A87"/>
                </a:solidFill>
                <a:latin typeface="Calibr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6563" y="3035808"/>
            <a:ext cx="222496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Rekenmodel opstellen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6563" y="3493008"/>
            <a:ext cx="2224963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>
                <a:solidFill>
                  <a:srgbClr val="55677C"/>
                </a:solidFill>
                <a:latin typeface="Calibri"/>
              </a:rPr>
              <a:t>voor komend jaar, met daarin de resultaten van de analyse op basis van de zorgvraag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018123" y="2706624"/>
            <a:ext cx="155448" cy="155448"/>
          </a:xfrm>
          <a:prstGeom prst="rightArrow">
            <a:avLst/>
          </a:prstGeom>
          <a:solidFill>
            <a:srgbClr val="0E9A8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7287" y="2450592"/>
            <a:ext cx="2590723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370167" y="2578608"/>
            <a:ext cx="402336" cy="402336"/>
          </a:xfrm>
          <a:prstGeom prst="ellipse">
            <a:avLst/>
          </a:prstGeom>
          <a:solidFill>
            <a:srgbClr val="0E9A87">
              <a:alpha val="10000"/>
            </a:srgbClr>
          </a:solidFill>
          <a:ln w="15875">
            <a:solidFill>
              <a:srgbClr val="0E9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9A87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3035808"/>
            <a:ext cx="222496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Bespreken met zorgmanager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167" y="3493008"/>
            <a:ext cx="2224963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55677C"/>
                </a:solidFill>
                <a:latin typeface="Calibri"/>
              </a:rPr>
              <a:t>de resultaten uit de analyse en het rekenmodel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791727" y="2706624"/>
            <a:ext cx="155448" cy="155448"/>
          </a:xfrm>
          <a:prstGeom prst="rightArrow">
            <a:avLst/>
          </a:prstGeom>
          <a:solidFill>
            <a:srgbClr val="0E9A8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60891" y="2450592"/>
            <a:ext cx="2590723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143771" y="2578608"/>
            <a:ext cx="402336" cy="402336"/>
          </a:xfrm>
          <a:prstGeom prst="ellipse">
            <a:avLst/>
          </a:prstGeom>
          <a:solidFill>
            <a:srgbClr val="0E9A87">
              <a:alpha val="10000"/>
            </a:srgbClr>
          </a:solidFill>
          <a:ln w="15875">
            <a:solidFill>
              <a:srgbClr val="0E9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9A87"/>
                </a:solidFill>
                <a:latin typeface="Calibr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3771" y="3035808"/>
            <a:ext cx="222496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Uitgangspunten ophalen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3771" y="3493008"/>
            <a:ext cx="2224963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55677C"/>
                </a:solidFill>
                <a:latin typeface="Calibri"/>
              </a:rPr>
              <a:t>uitgangspunten en input vanuit de zorgmanager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087368"/>
            <a:ext cx="2590723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22959" y="4215384"/>
            <a:ext cx="402336" cy="402336"/>
          </a:xfrm>
          <a:prstGeom prst="ellipse">
            <a:avLst/>
          </a:prstGeom>
          <a:solidFill>
            <a:srgbClr val="0E9A87">
              <a:alpha val="10000"/>
            </a:srgbClr>
          </a:solidFill>
          <a:ln w="15875">
            <a:solidFill>
              <a:srgbClr val="0E9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9A87"/>
                </a:solidFill>
                <a:latin typeface="Calibr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4672584"/>
            <a:ext cx="222496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Uitgangspunten verwerken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" y="5129784"/>
            <a:ext cx="2224963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55677C"/>
                </a:solidFill>
                <a:latin typeface="Calibri"/>
              </a:rPr>
              <a:t>input van de zorgmanager in het rekenmodel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3244519" y="4343400"/>
            <a:ext cx="155448" cy="155448"/>
          </a:xfrm>
          <a:prstGeom prst="rightArrow">
            <a:avLst/>
          </a:prstGeom>
          <a:solidFill>
            <a:srgbClr val="0E9A8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413683" y="4087368"/>
            <a:ext cx="2590723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3596563" y="4215384"/>
            <a:ext cx="402336" cy="402336"/>
          </a:xfrm>
          <a:prstGeom prst="ellipse">
            <a:avLst/>
          </a:prstGeom>
          <a:solidFill>
            <a:srgbClr val="0E9A87">
              <a:alpha val="10000"/>
            </a:srgbClr>
          </a:solidFill>
          <a:ln w="15875">
            <a:solidFill>
              <a:srgbClr val="0E9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9A87"/>
                </a:solidFill>
                <a:latin typeface="Calibri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6563" y="4672584"/>
            <a:ext cx="222496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Conceptplan bespreken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6563" y="5129784"/>
            <a:ext cx="2224963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55677C"/>
                </a:solidFill>
                <a:latin typeface="Calibri"/>
              </a:rPr>
              <a:t>met de teammanagers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6018123" y="4343400"/>
            <a:ext cx="155448" cy="155448"/>
          </a:xfrm>
          <a:prstGeom prst="rightArrow">
            <a:avLst/>
          </a:prstGeom>
          <a:solidFill>
            <a:srgbClr val="0E9A8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87287" y="4087368"/>
            <a:ext cx="2590723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6370167" y="4215384"/>
            <a:ext cx="402336" cy="402336"/>
          </a:xfrm>
          <a:prstGeom prst="ellipse">
            <a:avLst/>
          </a:prstGeom>
          <a:solidFill>
            <a:srgbClr val="0E9A87">
              <a:alpha val="10000"/>
            </a:srgbClr>
          </a:solidFill>
          <a:ln w="15875">
            <a:solidFill>
              <a:srgbClr val="0E9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E9A87"/>
                </a:solidFill>
                <a:latin typeface="Calibri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0167" y="4672584"/>
            <a:ext cx="222496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Input teammanagers verwerken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0167" y="5129784"/>
            <a:ext cx="2224963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55677C"/>
                </a:solidFill>
                <a:latin typeface="Calibri"/>
              </a:rPr>
              <a:t>in het conceptplan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791727" y="4343400"/>
            <a:ext cx="155448" cy="155448"/>
          </a:xfrm>
          <a:prstGeom prst="rightArrow">
            <a:avLst/>
          </a:prstGeom>
          <a:solidFill>
            <a:srgbClr val="0E9A8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960891" y="4087368"/>
            <a:ext cx="2590723" cy="1417320"/>
          </a:xfrm>
          <a:prstGeom prst="roundRect">
            <a:avLst>
              <a:gd name="adj" fmla="val 3000"/>
            </a:avLst>
          </a:prstGeom>
          <a:solidFill>
            <a:srgbClr val="DAE7F4"/>
          </a:solidFill>
          <a:ln w="15875">
            <a:solidFill>
              <a:srgbClr val="A1C3E0"/>
            </a:solidFill>
          </a:ln>
          <a:effectLst>
            <a:outerShdw blurRad="60000" dist="18000" dir="5400000" rotWithShape="0">
              <a:srgbClr val="1B3A5C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9143771" y="4215384"/>
            <a:ext cx="402336" cy="402336"/>
          </a:xfrm>
          <a:prstGeom prst="ellipse">
            <a:avLst/>
          </a:prstGeom>
          <a:solidFill>
            <a:srgbClr val="1F6FB2">
              <a:alpha val="10000"/>
            </a:srgbClr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1F6FB2"/>
                </a:solidFill>
                <a:latin typeface="Calibri"/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3771" y="4672584"/>
            <a:ext cx="222496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Definitief advies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3771" y="5129784"/>
            <a:ext cx="2224963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55677C"/>
                </a:solidFill>
                <a:latin typeface="Calibri"/>
              </a:rPr>
              <a:t>met daarin het aantal benodigde bedden per week</a:t>
            </a:r>
          </a:p>
        </p:txBody>
      </p:sp>
      <p:sp>
        <p:nvSpPr>
          <p:cNvPr id="54" name="Freeform 53"/>
          <p:cNvSpPr/>
          <p:nvPr/>
        </p:nvSpPr>
        <p:spPr>
          <a:xfrm>
            <a:off x="1935441" y="3867912"/>
            <a:ext cx="8320812" cy="219456"/>
          </a:xfrm>
          <a:custGeom>
            <a:avLst/>
            <a:gdLst/>
            <a:ahLst/>
            <a:cxnLst/>
            <a:rect l="l" t="t" r="r" b="b"/>
            <a:pathLst>
              <a:path w="8320812" h="219456">
                <a:moveTo>
                  <a:pt x="8320812" y="0"/>
                </a:moveTo>
                <a:lnTo>
                  <a:pt x="8320812" y="109728"/>
                </a:lnTo>
                <a:lnTo>
                  <a:pt x="0" y="109728"/>
                </a:lnTo>
                <a:lnTo>
                  <a:pt x="0" y="219456"/>
                </a:lnTo>
              </a:path>
            </a:pathLst>
          </a:custGeom>
          <a:noFill/>
          <a:ln w="15875">
            <a:solidFill>
              <a:srgbClr val="69B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0080" y="5614416"/>
            <a:ext cx="10911535" cy="566928"/>
          </a:xfrm>
          <a:prstGeom prst="roundRect">
            <a:avLst>
              <a:gd name="adj" fmla="val 3000"/>
            </a:avLst>
          </a:prstGeom>
          <a:solidFill>
            <a:srgbClr val="DCE8F5"/>
          </a:solidFill>
          <a:ln w="15875">
            <a:solidFill>
              <a:srgbClr val="A1C3E0"/>
            </a:solidFill>
          </a:ln>
          <a:effectLst>
            <a:outerShdw blurRad="60000" dist="18000" dir="5400000" rotWithShape="0">
              <a:srgbClr val="1B3A5C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640080" y="5614416"/>
            <a:ext cx="50292" cy="566928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69264" y="5696712"/>
            <a:ext cx="999713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00" b="1" spc="180">
                <a:solidFill>
                  <a:srgbClr val="1F6FB2"/>
                </a:solidFill>
                <a:latin typeface="Calibri"/>
              </a:rPr>
              <a:t>UITKOMST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D1B2A"/>
                </a:solidFill>
                <a:latin typeface="Calibri"/>
              </a:rPr>
              <a:t>Het definitieve advies bevat het aantal benodigde bedden per week — het uitgangspunt voor de personele formatie.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6FC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 spc="220">
                <a:solidFill>
                  <a:srgbClr val="1F6FB2"/>
                </a:solidFill>
                <a:latin typeface="Calibri"/>
              </a:rPr>
              <a:t>PROCESBESCHRIJVING  ·  STRATEGISCH CAPACITEITSJAARPLAN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1">
                <a:solidFill>
                  <a:srgbClr val="0D1B2A"/>
                </a:solidFill>
                <a:latin typeface="Calibri"/>
              </a:rPr>
              <a:t>Proces bepaling personele formatie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85109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5677C"/>
                </a:solidFill>
                <a:latin typeface="Calibri"/>
              </a:rPr>
              <a:t>Van het vastgestelde aantal bedden naar een fte-berekening per afdeling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9344"/>
            <a:ext cx="10911535" cy="0"/>
          </a:xfrm>
          <a:prstGeom prst="line">
            <a:avLst/>
          </a:prstGeom>
          <a:ln w="12700">
            <a:solidFill>
              <a:srgbClr val="E2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0080" y="6291072"/>
            <a:ext cx="10911535" cy="0"/>
          </a:xfrm>
          <a:prstGeom prst="line">
            <a:avLst/>
          </a:prstGeom>
          <a:ln w="9525">
            <a:solidFill>
              <a:srgbClr val="E2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80">
                <a:solidFill>
                  <a:srgbClr val="8B9AAA"/>
                </a:solidFill>
                <a:latin typeface="Calibri"/>
              </a:rPr>
              <a:t>Acuut 2026 - strategisch capaciteitsjaarplan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1">
                <a:solidFill>
                  <a:srgbClr val="0E9A87"/>
                </a:solidFill>
                <a:latin typeface="Calibri"/>
              </a:rPr>
              <a:t>03</a:t>
            </a:r>
          </a:p>
        </p:txBody>
      </p:sp>
      <p:sp>
        <p:nvSpPr>
          <p:cNvPr id="10" name="Pentagon 9"/>
          <p:cNvSpPr/>
          <p:nvPr/>
        </p:nvSpPr>
        <p:spPr>
          <a:xfrm>
            <a:off x="640080" y="1700784"/>
            <a:ext cx="3734714" cy="512064"/>
          </a:xfrm>
          <a:prstGeom prst="homePlate">
            <a:avLst/>
          </a:prstGeom>
          <a:solidFill>
            <a:srgbClr val="FFFFFF"/>
          </a:solidFill>
          <a:ln w="12700">
            <a:solidFill>
              <a:srgbClr val="E2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1719072"/>
            <a:ext cx="316778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8B9AAA"/>
                </a:solidFill>
                <a:latin typeface="Calibri"/>
              </a:rPr>
              <a:t>Beddencapaciteit</a:t>
            </a:r>
          </a:p>
        </p:txBody>
      </p:sp>
      <p:sp>
        <p:nvSpPr>
          <p:cNvPr id="12" name="Chevron 11"/>
          <p:cNvSpPr/>
          <p:nvPr/>
        </p:nvSpPr>
        <p:spPr>
          <a:xfrm>
            <a:off x="4228490" y="1700784"/>
            <a:ext cx="3734714" cy="512064"/>
          </a:xfrm>
          <a:prstGeom prst="chevron">
            <a:avLst/>
          </a:prstGeom>
          <a:solidFill>
            <a:srgbClr val="1F6FB2">
              <a:alpha val="14000"/>
            </a:srgbClr>
          </a:solidFill>
          <a:ln w="19050">
            <a:solidFill>
              <a:srgbClr val="7EA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39386" y="1719072"/>
            <a:ext cx="316778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1F6FB2"/>
                </a:solidFill>
                <a:latin typeface="Calibri"/>
              </a:rPr>
              <a:t>Personele formatie</a:t>
            </a:r>
          </a:p>
        </p:txBody>
      </p:sp>
      <p:sp>
        <p:nvSpPr>
          <p:cNvPr id="14" name="Chevron 13"/>
          <p:cNvSpPr/>
          <p:nvPr/>
        </p:nvSpPr>
        <p:spPr>
          <a:xfrm>
            <a:off x="7816900" y="1700784"/>
            <a:ext cx="3734714" cy="51206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E2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27796" y="1719072"/>
            <a:ext cx="316778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8B9AAA"/>
                </a:solidFill>
                <a:latin typeface="Calibri"/>
              </a:rPr>
              <a:t>Financiële begroting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432304"/>
            <a:ext cx="10911535" cy="457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13816" y="2468880"/>
            <a:ext cx="384048" cy="384048"/>
          </a:xfrm>
          <a:prstGeom prst="ellipse">
            <a:avLst/>
          </a:prstGeom>
          <a:solidFill>
            <a:srgbClr val="1F6FB2">
              <a:alpha val="10000"/>
            </a:srgbClr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1F6FB2"/>
                </a:solidFill>
                <a:latin typeface="Calibr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24688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Vastgesteld uitgangspunt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2468880"/>
            <a:ext cx="6376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5677C"/>
                </a:solidFill>
                <a:latin typeface="Calibri"/>
              </a:rPr>
              <a:t>het aantal benodigde bedden per afdeling, per week en per dag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962656"/>
            <a:ext cx="10911535" cy="457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13816" y="2999232"/>
            <a:ext cx="384048" cy="384048"/>
          </a:xfrm>
          <a:prstGeom prst="ellipse">
            <a:avLst/>
          </a:prstGeom>
          <a:solidFill>
            <a:srgbClr val="1F6FB2">
              <a:alpha val="10000"/>
            </a:srgbClr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1F6FB2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2999232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Verpleegkundige normering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2999232"/>
            <a:ext cx="6376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5677C"/>
                </a:solidFill>
                <a:latin typeface="Calibri"/>
              </a:rPr>
              <a:t>dag, laat en nacht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493008"/>
            <a:ext cx="10911535" cy="457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13816" y="3529584"/>
            <a:ext cx="384048" cy="384048"/>
          </a:xfrm>
          <a:prstGeom prst="ellipse">
            <a:avLst/>
          </a:prstGeom>
          <a:solidFill>
            <a:srgbClr val="1F6FB2">
              <a:alpha val="10000"/>
            </a:srgbClr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1F6FB2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6736" y="3529584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Roostersleutels opstellen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3529584"/>
            <a:ext cx="6376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5677C"/>
                </a:solidFill>
                <a:latin typeface="Calibri"/>
              </a:rPr>
              <a:t>vertaling van de norm naar diensten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023360"/>
            <a:ext cx="10911535" cy="457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13816" y="4059936"/>
            <a:ext cx="384048" cy="384048"/>
          </a:xfrm>
          <a:prstGeom prst="ellipse">
            <a:avLst/>
          </a:prstGeom>
          <a:solidFill>
            <a:srgbClr val="1F6FB2">
              <a:alpha val="10000"/>
            </a:srgbClr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1F6FB2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" y="4059936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FTE directe uren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4059936"/>
            <a:ext cx="354147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5677C"/>
                </a:solidFill>
                <a:latin typeface="Calibri"/>
              </a:rPr>
              <a:t>berekening per week per afdeling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97519" y="4096512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C87E12">
              <a:alpha val="11000"/>
            </a:srgbClr>
          </a:solidFill>
          <a:ln w="12700">
            <a:solidFill>
              <a:srgbClr val="DCB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C87E12"/>
                </a:solidFill>
                <a:latin typeface="Calibri"/>
              </a:rPr>
              <a:t>input voor urenoverzichten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553712"/>
            <a:ext cx="10911535" cy="457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13816" y="4590288"/>
            <a:ext cx="384048" cy="384048"/>
          </a:xfrm>
          <a:prstGeom prst="ellipse">
            <a:avLst/>
          </a:prstGeom>
          <a:solidFill>
            <a:srgbClr val="1F6FB2">
              <a:alpha val="10000"/>
            </a:srgbClr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1F6FB2"/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459028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Indirecte uren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36592" y="4590288"/>
            <a:ext cx="6376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5677C"/>
                </a:solidFill>
                <a:latin typeface="Calibri"/>
              </a:rPr>
              <a:t>inventariseren en vaststellen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084064"/>
            <a:ext cx="10911535" cy="457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13816" y="5120640"/>
            <a:ext cx="384048" cy="384048"/>
          </a:xfrm>
          <a:prstGeom prst="ellipse">
            <a:avLst/>
          </a:prstGeom>
          <a:solidFill>
            <a:srgbClr val="1F6FB2">
              <a:alpha val="10000"/>
            </a:srgbClr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1F6FB2"/>
                </a:solidFill>
                <a:latin typeface="Calibr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6736" y="512064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FTE-berekening per afdeling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36592" y="5120640"/>
            <a:ext cx="354147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5677C"/>
                </a:solidFill>
                <a:latin typeface="Calibri"/>
              </a:rPr>
              <a:t>op basis van directe en indirecte uren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97519" y="5157216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C87E12">
              <a:alpha val="11000"/>
            </a:srgbClr>
          </a:solidFill>
          <a:ln w="12700">
            <a:solidFill>
              <a:srgbClr val="DCB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950" b="1">
                <a:solidFill>
                  <a:srgbClr val="C87E12"/>
                </a:solidFill>
                <a:latin typeface="Calibri"/>
              </a:rPr>
              <a:t>input voor begroting P&amp;C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614416"/>
            <a:ext cx="10911535" cy="457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813816" y="5650992"/>
            <a:ext cx="384048" cy="384048"/>
          </a:xfrm>
          <a:prstGeom prst="ellipse">
            <a:avLst/>
          </a:prstGeom>
          <a:solidFill>
            <a:srgbClr val="1F6FB2">
              <a:alpha val="10000"/>
            </a:srgbClr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1F6FB2"/>
                </a:solidFill>
                <a:latin typeface="Calibri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16736" y="5650992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Urenoverzichten opstellen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36592" y="5650992"/>
            <a:ext cx="6376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5677C"/>
                </a:solidFill>
                <a:latin typeface="Calibri"/>
              </a:rPr>
              <a:t>per afdeling, ten behoeve van de planning door CPP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6FC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 spc="220">
                <a:solidFill>
                  <a:srgbClr val="6B4BA8"/>
                </a:solidFill>
                <a:latin typeface="Calibri"/>
              </a:rPr>
              <a:t>PROCESBESCHRIJVING  ·  STRATEGISCH CAPACITEITSJAARPLAN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1">
                <a:solidFill>
                  <a:srgbClr val="0D1B2A"/>
                </a:solidFill>
                <a:latin typeface="Calibri"/>
              </a:rPr>
              <a:t>Proces personele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85109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5677C"/>
                </a:solidFill>
                <a:latin typeface="Calibri"/>
              </a:rPr>
              <a:t>De input is bekend, het proces zelf is nog niet uitgeschreven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9344"/>
            <a:ext cx="10911535" cy="0"/>
          </a:xfrm>
          <a:prstGeom prst="line">
            <a:avLst/>
          </a:prstGeom>
          <a:ln w="12700">
            <a:solidFill>
              <a:srgbClr val="E2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0080" y="6291072"/>
            <a:ext cx="10911535" cy="0"/>
          </a:xfrm>
          <a:prstGeom prst="line">
            <a:avLst/>
          </a:prstGeom>
          <a:ln w="9525">
            <a:solidFill>
              <a:srgbClr val="E2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80">
                <a:solidFill>
                  <a:srgbClr val="8B9AAA"/>
                </a:solidFill>
                <a:latin typeface="Calibri"/>
              </a:rPr>
              <a:t>Acuut 2026 - strategisch capaciteitsjaarplan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1">
                <a:solidFill>
                  <a:srgbClr val="0E9A87"/>
                </a:solidFill>
                <a:latin typeface="Calibri"/>
              </a:rPr>
              <a:t>04</a:t>
            </a:r>
          </a:p>
        </p:txBody>
      </p:sp>
      <p:sp>
        <p:nvSpPr>
          <p:cNvPr id="10" name="Pentagon 9"/>
          <p:cNvSpPr/>
          <p:nvPr/>
        </p:nvSpPr>
        <p:spPr>
          <a:xfrm>
            <a:off x="640080" y="1700784"/>
            <a:ext cx="3734714" cy="603504"/>
          </a:xfrm>
          <a:prstGeom prst="homePlate">
            <a:avLst/>
          </a:prstGeom>
          <a:solidFill>
            <a:srgbClr val="6B4BA8">
              <a:alpha val="14000"/>
            </a:srgbClr>
          </a:solidFill>
          <a:ln w="19050">
            <a:solidFill>
              <a:srgbClr val="A79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1719072"/>
            <a:ext cx="316778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6B4BA8"/>
                </a:solidFill>
                <a:latin typeface="Calibri"/>
              </a:rPr>
              <a:t>Capaciteit</a:t>
            </a:r>
          </a:p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6B4BA8"/>
                </a:solidFill>
                <a:latin typeface="Calibri"/>
              </a:rPr>
              <a:t>sessies, modaliteiten en meer</a:t>
            </a:r>
          </a:p>
        </p:txBody>
      </p:sp>
      <p:sp>
        <p:nvSpPr>
          <p:cNvPr id="12" name="Chevron 11"/>
          <p:cNvSpPr/>
          <p:nvPr/>
        </p:nvSpPr>
        <p:spPr>
          <a:xfrm>
            <a:off x="4228490" y="1700784"/>
            <a:ext cx="3734714" cy="60350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E2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39386" y="1719072"/>
            <a:ext cx="316778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8B9AAA"/>
                </a:solidFill>
                <a:latin typeface="Calibri"/>
              </a:rPr>
              <a:t>Personele formatie</a:t>
            </a:r>
          </a:p>
        </p:txBody>
      </p:sp>
      <p:sp>
        <p:nvSpPr>
          <p:cNvPr id="14" name="Chevron 13"/>
          <p:cNvSpPr/>
          <p:nvPr/>
        </p:nvSpPr>
        <p:spPr>
          <a:xfrm>
            <a:off x="7816900" y="1700784"/>
            <a:ext cx="3734714" cy="60350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E2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27796" y="1719072"/>
            <a:ext cx="316778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8B9AAA"/>
                </a:solidFill>
                <a:latin typeface="Calibri"/>
              </a:rPr>
              <a:t>Financiële begroting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43230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spc="220">
                <a:solidFill>
                  <a:srgbClr val="6B4BA8"/>
                </a:solidFill>
                <a:latin typeface="Calibri"/>
              </a:rPr>
              <a:t>WAT ER ALS INPUT LIGT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88336"/>
            <a:ext cx="3478682" cy="914400"/>
          </a:xfrm>
          <a:prstGeom prst="roundRect">
            <a:avLst>
              <a:gd name="adj" fmla="val 3000"/>
            </a:avLst>
          </a:prstGeom>
          <a:solidFill>
            <a:srgbClr val="E1E1F2"/>
          </a:solidFill>
          <a:ln w="15875">
            <a:solidFill>
              <a:srgbClr val="BEB5DC"/>
            </a:solidFill>
          </a:ln>
          <a:effectLst>
            <a:outerShdw blurRad="60000" dist="18000" dir="5400000" rotWithShape="0">
              <a:srgbClr val="1B3A5C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77824" y="2779776"/>
            <a:ext cx="300319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6B4BA8"/>
                </a:solidFill>
                <a:latin typeface="Calibri"/>
              </a:rPr>
              <a:t>Vastgestelde FTE-berekening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77C"/>
                </a:solidFill>
                <a:latin typeface="Calibri"/>
              </a:rPr>
              <a:t>inclusief roostersleutel, indirecte uren en meer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6506" y="2688336"/>
            <a:ext cx="3478682" cy="914400"/>
          </a:xfrm>
          <a:prstGeom prst="roundRect">
            <a:avLst>
              <a:gd name="adj" fmla="val 3000"/>
            </a:avLst>
          </a:prstGeom>
          <a:solidFill>
            <a:srgbClr val="E1E1F2"/>
          </a:solidFill>
          <a:ln w="15875">
            <a:solidFill>
              <a:srgbClr val="BEB5DC"/>
            </a:solidFill>
          </a:ln>
          <a:effectLst>
            <a:outerShdw blurRad="60000" dist="18000" dir="5400000" rotWithShape="0">
              <a:srgbClr val="1B3A5C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94250" y="2779776"/>
            <a:ext cx="300319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6B4BA8"/>
                </a:solidFill>
                <a:latin typeface="Calibri"/>
              </a:rPr>
              <a:t>Urenoverzicht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77C"/>
                </a:solidFill>
                <a:latin typeface="Calibri"/>
              </a:rPr>
              <a:t>per afdeling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2932" y="2688336"/>
            <a:ext cx="3478682" cy="914400"/>
          </a:xfrm>
          <a:prstGeom prst="roundRect">
            <a:avLst>
              <a:gd name="adj" fmla="val 3000"/>
            </a:avLst>
          </a:prstGeom>
          <a:solidFill>
            <a:srgbClr val="E1E1F2"/>
          </a:solidFill>
          <a:ln w="15875">
            <a:solidFill>
              <a:srgbClr val="BEB5DC"/>
            </a:solidFill>
          </a:ln>
          <a:effectLst>
            <a:outerShdw blurRad="60000" dist="18000" dir="5400000" rotWithShape="0">
              <a:srgbClr val="1B3A5C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10676" y="2779776"/>
            <a:ext cx="300319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6B4BA8"/>
                </a:solidFill>
                <a:latin typeface="Calibri"/>
              </a:rPr>
              <a:t>Opbouw Ortec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77C"/>
                </a:solidFill>
                <a:latin typeface="Calibri"/>
              </a:rPr>
              <a:t>de vertaling naar het planningssysteem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6732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spc="220">
                <a:solidFill>
                  <a:srgbClr val="8B9AAA"/>
                </a:solidFill>
                <a:latin typeface="Calibri"/>
              </a:rPr>
              <a:t>HET PROCES PERSONELE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023360"/>
            <a:ext cx="10911535" cy="11338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4400" y="4133088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0D1B2A"/>
                </a:solidFill>
                <a:latin typeface="Calibri"/>
              </a:rPr>
              <a:t>Personele planning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498848"/>
            <a:ext cx="160522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" y="4535424"/>
            <a:ext cx="16052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C6D6E6"/>
                </a:solidFill>
                <a:latin typeface="Calibri"/>
              </a:rPr>
              <a:t>?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524201" y="4654296"/>
            <a:ext cx="137160" cy="137160"/>
          </a:xfrm>
          <a:prstGeom prst="rightArrow">
            <a:avLst/>
          </a:prstGeom>
          <a:solidFill>
            <a:srgbClr val="C6D6E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665933" y="4498848"/>
            <a:ext cx="160522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665933" y="4535424"/>
            <a:ext cx="16052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C6D6E6"/>
                </a:solidFill>
                <a:latin typeface="Calibri"/>
              </a:rPr>
              <a:t>?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275734" y="4654296"/>
            <a:ext cx="137160" cy="137160"/>
          </a:xfrm>
          <a:prstGeom prst="rightArrow">
            <a:avLst/>
          </a:prstGeom>
          <a:solidFill>
            <a:srgbClr val="C6D6E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417466" y="4498848"/>
            <a:ext cx="160522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417466" y="4535424"/>
            <a:ext cx="16052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C6D6E6"/>
                </a:solidFill>
                <a:latin typeface="Calibri"/>
              </a:rPr>
              <a:t>?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027267" y="4654296"/>
            <a:ext cx="137160" cy="137160"/>
          </a:xfrm>
          <a:prstGeom prst="rightArrow">
            <a:avLst/>
          </a:prstGeom>
          <a:solidFill>
            <a:srgbClr val="C6D6E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68999" y="4498848"/>
            <a:ext cx="160522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168999" y="4535424"/>
            <a:ext cx="16052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C6D6E6"/>
                </a:solidFill>
                <a:latin typeface="Calibri"/>
              </a:rPr>
              <a:t>?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778800" y="4654296"/>
            <a:ext cx="137160" cy="137160"/>
          </a:xfrm>
          <a:prstGeom prst="rightArrow">
            <a:avLst/>
          </a:prstGeom>
          <a:solidFill>
            <a:srgbClr val="C6D6E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20532" y="4498848"/>
            <a:ext cx="160522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920532" y="4535424"/>
            <a:ext cx="16052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C6D6E6"/>
                </a:solidFill>
                <a:latin typeface="Calibri"/>
              </a:rPr>
              <a:t>?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530334" y="4654296"/>
            <a:ext cx="137160" cy="137160"/>
          </a:xfrm>
          <a:prstGeom prst="rightArrow">
            <a:avLst/>
          </a:prstGeom>
          <a:solidFill>
            <a:srgbClr val="C6D6E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72065" y="4498848"/>
            <a:ext cx="160522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672065" y="4535424"/>
            <a:ext cx="16052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C6D6E6"/>
                </a:solidFill>
                <a:latin typeface="Calibri"/>
              </a:rPr>
              <a:t>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303520"/>
            <a:ext cx="10911535" cy="804672"/>
          </a:xfrm>
          <a:prstGeom prst="roundRect">
            <a:avLst>
              <a:gd name="adj" fmla="val 3000"/>
            </a:avLst>
          </a:prstGeom>
          <a:solidFill>
            <a:srgbClr val="EDEAE5"/>
          </a:solidFill>
          <a:ln w="15875">
            <a:solidFill>
              <a:srgbClr val="E1C8A3"/>
            </a:solidFill>
          </a:ln>
          <a:effectLst>
            <a:outerShdw blurRad="60000" dist="18000" dir="5400000" rotWithShape="0">
              <a:srgbClr val="1B3A5C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640080" y="5303520"/>
            <a:ext cx="50292" cy="804672"/>
          </a:xfrm>
          <a:prstGeom prst="roundRect">
            <a:avLst>
              <a:gd name="adj" fmla="val 50000"/>
            </a:avLst>
          </a:prstGeom>
          <a:solidFill>
            <a:srgbClr val="C87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69264" y="5385816"/>
            <a:ext cx="999713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 spc="180">
                <a:solidFill>
                  <a:srgbClr val="C87E12"/>
                </a:solidFill>
                <a:latin typeface="Calibri"/>
              </a:rPr>
              <a:t>WAT HIER NOG ONTBREEKT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In de bronpresentatie staan onder 'personele planning' zes stappen nog leeg. De input is bekend, maar hoe die input via Ortec tot een rooster komt, is nog niet beschreven.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6FC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 spc="220">
                <a:solidFill>
                  <a:srgbClr val="0E9A87"/>
                </a:solidFill>
                <a:latin typeface="Calibri"/>
              </a:rPr>
              <a:t>PROCESBESCHRIJVING  ·  STRATEGISCH CAPACITEITSJAARPLAN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1">
                <a:solidFill>
                  <a:srgbClr val="0D1B2A"/>
                </a:solidFill>
                <a:latin typeface="Calibri"/>
              </a:rPr>
              <a:t>Formatieberekening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85109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5677C"/>
                </a:solidFill>
                <a:latin typeface="Calibri"/>
              </a:rPr>
              <a:t>Voorbeeld radiologie - van bruto arbeidsduur naar een fte-match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9344"/>
            <a:ext cx="10911535" cy="0"/>
          </a:xfrm>
          <a:prstGeom prst="line">
            <a:avLst/>
          </a:prstGeom>
          <a:ln w="12700">
            <a:solidFill>
              <a:srgbClr val="E2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0080" y="6291072"/>
            <a:ext cx="10911535" cy="0"/>
          </a:xfrm>
          <a:prstGeom prst="line">
            <a:avLst/>
          </a:prstGeom>
          <a:ln w="9525">
            <a:solidFill>
              <a:srgbClr val="E2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80">
                <a:solidFill>
                  <a:srgbClr val="8B9AAA"/>
                </a:solidFill>
                <a:latin typeface="Calibri"/>
              </a:rPr>
              <a:t>Acuut 2026 - strategisch capaciteitsjaarplan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1">
                <a:solidFill>
                  <a:srgbClr val="0E9A87"/>
                </a:solidFill>
                <a:latin typeface="Calibr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00784"/>
            <a:ext cx="2021372" cy="1005840"/>
          </a:xfrm>
          <a:prstGeom prst="roundRect">
            <a:avLst>
              <a:gd name="adj" fmla="val 3000"/>
            </a:avLst>
          </a:prstGeom>
          <a:solidFill>
            <a:srgbClr val="D6EBEE"/>
          </a:solidFill>
          <a:ln w="15875">
            <a:solidFill>
              <a:srgbClr val="9BD3D0"/>
            </a:solidFill>
          </a:ln>
          <a:effectLst>
            <a:outerShdw blurRad="60000" dist="18000" dir="5400000" rotWithShape="0">
              <a:srgbClr val="1B3A5C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1810512"/>
            <a:ext cx="16556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E9A87"/>
                </a:solidFill>
                <a:latin typeface="Calibri"/>
              </a:rPr>
              <a:t>Bruto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24127" y="2194560"/>
            <a:ext cx="1253277" cy="0"/>
          </a:xfrm>
          <a:prstGeom prst="line">
            <a:avLst/>
          </a:prstGeom>
          <a:ln w="12700">
            <a:solidFill>
              <a:srgbClr val="80C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59" y="2267712"/>
            <a:ext cx="16556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55677C"/>
                </a:solidFill>
                <a:latin typeface="Calibri"/>
              </a:rPr>
              <a:t>input vanuit HR en F&amp;C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84312" y="2121408"/>
            <a:ext cx="155448" cy="155448"/>
          </a:xfrm>
          <a:prstGeom prst="rightArrow">
            <a:avLst/>
          </a:prstGeom>
          <a:solidFill>
            <a:srgbClr val="0E9A8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62620" y="1700784"/>
            <a:ext cx="2021372" cy="1005840"/>
          </a:xfrm>
          <a:prstGeom prst="roundRect">
            <a:avLst>
              <a:gd name="adj" fmla="val 3000"/>
            </a:avLst>
          </a:prstGeom>
          <a:solidFill>
            <a:srgbClr val="ECE8E0"/>
          </a:solidFill>
          <a:ln w="15875">
            <a:solidFill>
              <a:srgbClr val="E1C8A3"/>
            </a:solidFill>
          </a:ln>
          <a:effectLst>
            <a:outerShdw blurRad="60000" dist="18000" dir="5400000" rotWithShape="0">
              <a:srgbClr val="1B3A5C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045500" y="1810512"/>
            <a:ext cx="16556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C87E12"/>
                </a:solidFill>
                <a:latin typeface="Calibri"/>
              </a:rPr>
              <a:t>Afwezigheid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46668" y="2194560"/>
            <a:ext cx="1253277" cy="0"/>
          </a:xfrm>
          <a:prstGeom prst="line">
            <a:avLst/>
          </a:prstGeom>
          <a:ln w="12700">
            <a:solidFill>
              <a:srgbClr val="DCBA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45500" y="2267712"/>
            <a:ext cx="16556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55677C"/>
                </a:solidFill>
                <a:latin typeface="Calibri"/>
              </a:rPr>
              <a:t>input vanuit HR en F&amp;C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06853" y="2121408"/>
            <a:ext cx="155448" cy="155448"/>
          </a:xfrm>
          <a:prstGeom prst="rightArrow">
            <a:avLst/>
          </a:prstGeom>
          <a:solidFill>
            <a:srgbClr val="C87E1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85161" y="1700784"/>
            <a:ext cx="2021372" cy="1005840"/>
          </a:xfrm>
          <a:prstGeom prst="roundRect">
            <a:avLst>
              <a:gd name="adj" fmla="val 3000"/>
            </a:avLst>
          </a:prstGeom>
          <a:solidFill>
            <a:srgbClr val="D8E6F3"/>
          </a:solidFill>
          <a:ln w="15875">
            <a:solidFill>
              <a:srgbClr val="A1C3E0"/>
            </a:solidFill>
          </a:ln>
          <a:effectLst>
            <a:outerShdw blurRad="60000" dist="18000" dir="5400000" rotWithShape="0">
              <a:srgbClr val="1B3A5C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68041" y="1810512"/>
            <a:ext cx="16556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1F6FB2"/>
                </a:solidFill>
                <a:latin typeface="Calibri"/>
              </a:rPr>
              <a:t>Netto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69209" y="2194560"/>
            <a:ext cx="1253276" cy="0"/>
          </a:xfrm>
          <a:prstGeom prst="line">
            <a:avLst/>
          </a:prstGeom>
          <a:ln w="12700">
            <a:solidFill>
              <a:srgbClr val="88B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8041" y="2267712"/>
            <a:ext cx="16556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55677C"/>
                </a:solidFill>
                <a:latin typeface="Calibri"/>
              </a:rPr>
              <a:t>bruto min afwezigheid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29393" y="2121408"/>
            <a:ext cx="155448" cy="155448"/>
          </a:xfrm>
          <a:prstGeom prst="rightArrow">
            <a:avLst/>
          </a:prstGeom>
          <a:solidFill>
            <a:srgbClr val="1F6FB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07701" y="1700784"/>
            <a:ext cx="2021372" cy="1005840"/>
          </a:xfrm>
          <a:prstGeom prst="roundRect">
            <a:avLst>
              <a:gd name="adj" fmla="val 3000"/>
            </a:avLst>
          </a:prstGeom>
          <a:solidFill>
            <a:srgbClr val="E1E1F2"/>
          </a:solidFill>
          <a:ln w="15875">
            <a:solidFill>
              <a:srgbClr val="BEB5DC"/>
            </a:solidFill>
          </a:ln>
          <a:effectLst>
            <a:outerShdw blurRad="60000" dist="18000" dir="5400000" rotWithShape="0">
              <a:srgbClr val="1B3A5C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490581" y="1810512"/>
            <a:ext cx="16556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6B4BA8"/>
                </a:solidFill>
                <a:latin typeface="Calibri"/>
              </a:rPr>
              <a:t>Benodigd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91749" y="2194560"/>
            <a:ext cx="1253277" cy="0"/>
          </a:xfrm>
          <a:prstGeom prst="line">
            <a:avLst/>
          </a:prstGeom>
          <a:ln w="12700">
            <a:solidFill>
              <a:srgbClr val="AE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90581" y="2267712"/>
            <a:ext cx="16556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55677C"/>
                </a:solidFill>
                <a:latin typeface="Calibri"/>
              </a:rPr>
              <a:t>input vanuit BIC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351934" y="2121408"/>
            <a:ext cx="155448" cy="155448"/>
          </a:xfrm>
          <a:prstGeom prst="rightArrow">
            <a:avLst/>
          </a:prstGeom>
          <a:solidFill>
            <a:srgbClr val="6B4BA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30242" y="1700784"/>
            <a:ext cx="2021372" cy="1005840"/>
          </a:xfrm>
          <a:prstGeom prst="roundRect">
            <a:avLst>
              <a:gd name="adj" fmla="val 3000"/>
            </a:avLst>
          </a:prstGeom>
          <a:solidFill>
            <a:srgbClr val="ECDFE3"/>
          </a:solidFill>
          <a:ln w="15875">
            <a:solidFill>
              <a:srgbClr val="E0AEAD"/>
            </a:solidFill>
          </a:ln>
          <a:effectLst>
            <a:outerShdw blurRad="60000" dist="18000" dir="5400000" rotWithShape="0">
              <a:srgbClr val="1B3A5C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713122" y="1810512"/>
            <a:ext cx="16556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C4392D"/>
                </a:solidFill>
                <a:latin typeface="Calibri"/>
              </a:rPr>
              <a:t>Resultaat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14290" y="2194560"/>
            <a:ext cx="1253277" cy="0"/>
          </a:xfrm>
          <a:prstGeom prst="line">
            <a:avLst/>
          </a:prstGeom>
          <a:ln w="12700">
            <a:solidFill>
              <a:srgbClr val="DA98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713122" y="2267712"/>
            <a:ext cx="16556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55677C"/>
                </a:solidFill>
                <a:latin typeface="Calibri"/>
              </a:rPr>
              <a:t>input voor de financiële begroting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2944368"/>
            <a:ext cx="5623560" cy="2907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14400" y="312724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0D1B2A"/>
                </a:solidFill>
                <a:latin typeface="Calibri"/>
              </a:rPr>
              <a:t>Rekenvoorbeeld per fte, per jaar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419856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77C"/>
                </a:solidFill>
                <a:latin typeface="Calibri"/>
              </a:rPr>
              <a:t>voltijd 36,0 uur per week  ·  52,17 weken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896112" y="3694176"/>
          <a:ext cx="5111496" cy="1225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1097280"/>
                <a:gridCol w="905256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850" b="1">
                          <a:solidFill>
                            <a:srgbClr val="0E9A87"/>
                          </a:solidFill>
                          <a:latin typeface="Calibri"/>
                        </a:rPr>
                        <a:t>ONDERDEEL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2E9F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>
                          <a:solidFill>
                            <a:srgbClr val="0E9A87"/>
                          </a:solidFill>
                          <a:latin typeface="Calibri"/>
                        </a:rPr>
                        <a:t>UREN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2E9F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>
                          <a:solidFill>
                            <a:srgbClr val="0E9A87"/>
                          </a:solidFill>
                          <a:latin typeface="Calibri"/>
                        </a:rPr>
                        <a:t>AANDEEL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2E9F1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0D1B2A"/>
                          </a:solidFill>
                          <a:latin typeface="Calibri"/>
                        </a:rPr>
                        <a:t>Bruto arbeidsduur conform cao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2E9F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0D1B2A"/>
                          </a:solidFill>
                          <a:latin typeface="Calibri"/>
                        </a:rPr>
                        <a:t>1.878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2E9F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55677C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2E9F1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C87E12"/>
                          </a:solidFill>
                          <a:latin typeface="Calibri"/>
                        </a:rPr>
                        <a:t>Af: totale afwezigheid</a:t>
                      </a:r>
                    </a:p>
                  </a:txBody>
                  <a:tcPr marL="91440" marR="91440" marT="36576" marB="36576" anchor="ctr">
                    <a:solidFill>
                      <a:srgbClr val="F6F9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2E9F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87E12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91440" marR="91440" marT="36576" marB="36576" anchor="ctr">
                    <a:solidFill>
                      <a:srgbClr val="F6F9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2E9F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C87E12"/>
                          </a:solidFill>
                          <a:latin typeface="Calibri"/>
                        </a:rPr>
                        <a:t>15,9%</a:t>
                      </a:r>
                    </a:p>
                  </a:txBody>
                  <a:tcPr marL="91440" marR="91440" marT="36576" marB="36576" anchor="ctr">
                    <a:solidFill>
                      <a:srgbClr val="F6F9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2E9F1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1F6FB2"/>
                          </a:solidFill>
                          <a:latin typeface="Calibri"/>
                        </a:rPr>
                        <a:t>Netto inzetbaarheid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2E9F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1F6FB2"/>
                          </a:solidFill>
                          <a:latin typeface="Calibri"/>
                        </a:rPr>
                        <a:t>1.579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2E9F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1F6FB2"/>
                          </a:solidFill>
                          <a:latin typeface="Calibri"/>
                        </a:rPr>
                        <a:t>84,1%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2E9F1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38" name="Connector 37"/>
          <p:cNvCxnSpPr/>
          <p:nvPr/>
        </p:nvCxnSpPr>
        <p:spPr>
          <a:xfrm>
            <a:off x="896112" y="4974336"/>
            <a:ext cx="5111496" cy="0"/>
          </a:xfrm>
          <a:prstGeom prst="line">
            <a:avLst/>
          </a:prstGeom>
          <a:ln w="12700">
            <a:solidFill>
              <a:srgbClr val="E2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5047488"/>
            <a:ext cx="5074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1" spc="140">
                <a:solidFill>
                  <a:srgbClr val="8B9AAA"/>
                </a:solidFill>
                <a:latin typeface="Calibri"/>
              </a:rPr>
              <a:t>WAARUIT DE AFWEZIGHEID IS OPGEBOUWD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112" y="5285232"/>
            <a:ext cx="949147" cy="457200"/>
          </a:xfrm>
          <a:prstGeom prst="roundRect">
            <a:avLst>
              <a:gd name="adj" fmla="val 14000"/>
            </a:avLst>
          </a:prstGeom>
          <a:solidFill>
            <a:srgbClr val="C87E12">
              <a:alpha val="8000"/>
            </a:srgbClr>
          </a:solidFill>
          <a:ln w="12700">
            <a:solidFill>
              <a:srgbClr val="DFC0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96112" y="5312664"/>
            <a:ext cx="9491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C87E12"/>
                </a:solidFill>
                <a:latin typeface="Calibri"/>
              </a:rPr>
              <a:t>144,0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5532120"/>
            <a:ext cx="9491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55677C"/>
                </a:solidFill>
                <a:latin typeface="Calibri"/>
              </a:rPr>
              <a:t>vakantie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36699" y="5285232"/>
            <a:ext cx="949147" cy="457200"/>
          </a:xfrm>
          <a:prstGeom prst="roundRect">
            <a:avLst>
              <a:gd name="adj" fmla="val 14000"/>
            </a:avLst>
          </a:prstGeom>
          <a:solidFill>
            <a:srgbClr val="C87E12">
              <a:alpha val="8000"/>
            </a:srgbClr>
          </a:solidFill>
          <a:ln w="12700">
            <a:solidFill>
              <a:srgbClr val="DFC0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936699" y="5312664"/>
            <a:ext cx="9491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C87E12"/>
                </a:solidFill>
                <a:latin typeface="Calibri"/>
              </a:rPr>
              <a:t>75,1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36699" y="5532120"/>
            <a:ext cx="9491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55677C"/>
                </a:solidFill>
                <a:latin typeface="Calibri"/>
              </a:rPr>
              <a:t>ziek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77286" y="5285232"/>
            <a:ext cx="949147" cy="457200"/>
          </a:xfrm>
          <a:prstGeom prst="roundRect">
            <a:avLst>
              <a:gd name="adj" fmla="val 14000"/>
            </a:avLst>
          </a:prstGeom>
          <a:solidFill>
            <a:srgbClr val="C87E12">
              <a:alpha val="8000"/>
            </a:srgbClr>
          </a:solidFill>
          <a:ln w="12700">
            <a:solidFill>
              <a:srgbClr val="DFC0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2977286" y="5312664"/>
            <a:ext cx="9491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C87E12"/>
                </a:solidFill>
                <a:latin typeface="Calibri"/>
              </a:rPr>
              <a:t>8,0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7286" y="5532120"/>
            <a:ext cx="9491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55677C"/>
                </a:solidFill>
                <a:latin typeface="Calibri"/>
              </a:rPr>
              <a:t>bijzonder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17873" y="5285232"/>
            <a:ext cx="949147" cy="457200"/>
          </a:xfrm>
          <a:prstGeom prst="roundRect">
            <a:avLst>
              <a:gd name="adj" fmla="val 14000"/>
            </a:avLst>
          </a:prstGeom>
          <a:solidFill>
            <a:srgbClr val="C87E12">
              <a:alpha val="8000"/>
            </a:srgbClr>
          </a:solidFill>
          <a:ln w="12700">
            <a:solidFill>
              <a:srgbClr val="DFC0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017873" y="5312664"/>
            <a:ext cx="9491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C87E12"/>
                </a:solidFill>
                <a:latin typeface="Calibri"/>
              </a:rPr>
              <a:t>22,0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17873" y="5532120"/>
            <a:ext cx="9491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55677C"/>
                </a:solidFill>
                <a:latin typeface="Calibri"/>
              </a:rPr>
              <a:t>PLB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58460" y="5285232"/>
            <a:ext cx="949147" cy="457200"/>
          </a:xfrm>
          <a:prstGeom prst="roundRect">
            <a:avLst>
              <a:gd name="adj" fmla="val 14000"/>
            </a:avLst>
          </a:prstGeom>
          <a:solidFill>
            <a:srgbClr val="C87E12">
              <a:alpha val="8000"/>
            </a:srgbClr>
          </a:solidFill>
          <a:ln w="12700">
            <a:solidFill>
              <a:srgbClr val="DFC0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058460" y="5312664"/>
            <a:ext cx="9491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C87E12"/>
                </a:solidFill>
                <a:latin typeface="Calibri"/>
              </a:rPr>
              <a:t>50,4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58460" y="5532120"/>
            <a:ext cx="9491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55677C"/>
                </a:solidFill>
                <a:latin typeface="Calibri"/>
              </a:rPr>
              <a:t>feestdagen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74536" y="2944368"/>
            <a:ext cx="4977079" cy="13350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848856" y="3108960"/>
            <a:ext cx="4428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6B4BA8"/>
                </a:solidFill>
                <a:latin typeface="Calibri"/>
              </a:rPr>
              <a:t>Benodigde uren bestaan uit</a:t>
            </a:r>
          </a:p>
        </p:txBody>
      </p:sp>
      <p:sp>
        <p:nvSpPr>
          <p:cNvPr id="57" name="Oval 56"/>
          <p:cNvSpPr/>
          <p:nvPr/>
        </p:nvSpPr>
        <p:spPr>
          <a:xfrm>
            <a:off x="6858000" y="3483864"/>
            <a:ext cx="91440" cy="91440"/>
          </a:xfrm>
          <a:prstGeom prst="ellipse">
            <a:avLst/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86600" y="3419856"/>
            <a:ext cx="4190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5677C"/>
                </a:solidFill>
                <a:latin typeface="Calibri"/>
              </a:rPr>
              <a:t>indirecte uren per afdeling</a:t>
            </a:r>
          </a:p>
        </p:txBody>
      </p:sp>
      <p:sp>
        <p:nvSpPr>
          <p:cNvPr id="59" name="Oval 58"/>
          <p:cNvSpPr/>
          <p:nvPr/>
        </p:nvSpPr>
        <p:spPr>
          <a:xfrm>
            <a:off x="6858000" y="3685032"/>
            <a:ext cx="91440" cy="91440"/>
          </a:xfrm>
          <a:prstGeom prst="ellipse">
            <a:avLst/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86600" y="3621024"/>
            <a:ext cx="4190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5677C"/>
                </a:solidFill>
                <a:latin typeface="Calibri"/>
              </a:rPr>
              <a:t>directe uren op basis van roostersleutel of sessierooster</a:t>
            </a:r>
          </a:p>
        </p:txBody>
      </p:sp>
      <p:sp>
        <p:nvSpPr>
          <p:cNvPr id="61" name="Oval 60"/>
          <p:cNvSpPr/>
          <p:nvPr/>
        </p:nvSpPr>
        <p:spPr>
          <a:xfrm>
            <a:off x="6858000" y="3886200"/>
            <a:ext cx="91440" cy="91440"/>
          </a:xfrm>
          <a:prstGeom prst="ellipse">
            <a:avLst/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86600" y="3822192"/>
            <a:ext cx="4190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5677C"/>
                </a:solidFill>
                <a:latin typeface="Calibri"/>
              </a:rPr>
              <a:t>spoedmodaliteiten</a:t>
            </a:r>
          </a:p>
        </p:txBody>
      </p:sp>
      <p:sp>
        <p:nvSpPr>
          <p:cNvPr id="63" name="Oval 62"/>
          <p:cNvSpPr/>
          <p:nvPr/>
        </p:nvSpPr>
        <p:spPr>
          <a:xfrm>
            <a:off x="6858000" y="4087368"/>
            <a:ext cx="91440" cy="91440"/>
          </a:xfrm>
          <a:prstGeom prst="ellipse">
            <a:avLst/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86600" y="4023360"/>
            <a:ext cx="4190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5677C"/>
                </a:solidFill>
                <a:latin typeface="Calibri"/>
              </a:rPr>
              <a:t>bereikbaarheidsdiensten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574536" y="4407408"/>
            <a:ext cx="4977079" cy="14447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6848856" y="4572000"/>
            <a:ext cx="4428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87E12"/>
                </a:solidFill>
                <a:latin typeface="Calibri"/>
              </a:rPr>
              <a:t>Overige afwijkingen</a:t>
            </a:r>
          </a:p>
        </p:txBody>
      </p:sp>
      <p:sp>
        <p:nvSpPr>
          <p:cNvPr id="67" name="Oval 66"/>
          <p:cNvSpPr/>
          <p:nvPr/>
        </p:nvSpPr>
        <p:spPr>
          <a:xfrm>
            <a:off x="6858000" y="4910328"/>
            <a:ext cx="91440" cy="91440"/>
          </a:xfrm>
          <a:prstGeom prst="ellipse">
            <a:avLst/>
          </a:prstGeom>
          <a:solidFill>
            <a:srgbClr val="C87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86600" y="4846320"/>
            <a:ext cx="4190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5677C"/>
                </a:solidFill>
                <a:latin typeface="Calibri"/>
              </a:rPr>
              <a:t>zwangerschapsverlof</a:t>
            </a:r>
          </a:p>
        </p:txBody>
      </p:sp>
      <p:sp>
        <p:nvSpPr>
          <p:cNvPr id="69" name="Oval 68"/>
          <p:cNvSpPr/>
          <p:nvPr/>
        </p:nvSpPr>
        <p:spPr>
          <a:xfrm>
            <a:off x="6858000" y="5111496"/>
            <a:ext cx="91440" cy="91440"/>
          </a:xfrm>
          <a:prstGeom prst="ellipse">
            <a:avLst/>
          </a:prstGeom>
          <a:solidFill>
            <a:srgbClr val="C87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86600" y="5047488"/>
            <a:ext cx="4190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5677C"/>
                </a:solidFill>
                <a:latin typeface="Calibri"/>
              </a:rPr>
              <a:t>ouderschapsverlof</a:t>
            </a:r>
          </a:p>
        </p:txBody>
      </p:sp>
      <p:sp>
        <p:nvSpPr>
          <p:cNvPr id="71" name="Oval 70"/>
          <p:cNvSpPr/>
          <p:nvPr/>
        </p:nvSpPr>
        <p:spPr>
          <a:xfrm>
            <a:off x="6858000" y="5312664"/>
            <a:ext cx="91440" cy="91440"/>
          </a:xfrm>
          <a:prstGeom prst="ellipse">
            <a:avLst/>
          </a:prstGeom>
          <a:solidFill>
            <a:srgbClr val="C87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86600" y="5248656"/>
            <a:ext cx="4190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5677C"/>
                </a:solidFill>
                <a:latin typeface="Calibri"/>
              </a:rPr>
              <a:t>ziekteverzuim boven de 4 procent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48856" y="5468112"/>
            <a:ext cx="44284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8B9AAA"/>
                </a:solidFill>
                <a:latin typeface="Calibri"/>
              </a:rPr>
              <a:t>komen bovenop de begrote afwezigheid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0080" y="5907024"/>
            <a:ext cx="10911535" cy="365760"/>
          </a:xfrm>
          <a:prstGeom prst="roundRect">
            <a:avLst>
              <a:gd name="adj" fmla="val 3000"/>
            </a:avLst>
          </a:prstGeom>
          <a:solidFill>
            <a:srgbClr val="ECE3E7"/>
          </a:solidFill>
          <a:ln w="15875">
            <a:solidFill>
              <a:srgbClr val="E0AEAD"/>
            </a:solidFill>
          </a:ln>
          <a:effectLst>
            <a:outerShdw blurRad="60000" dist="18000" dir="5400000" rotWithShape="0">
              <a:srgbClr val="1B3A5C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640080" y="5907024"/>
            <a:ext cx="50292" cy="365760"/>
          </a:xfrm>
          <a:prstGeom prst="roundRect">
            <a:avLst>
              <a:gd name="adj" fmla="val 50000"/>
            </a:avLst>
          </a:prstGeom>
          <a:solidFill>
            <a:srgbClr val="C43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950976" y="5934456"/>
            <a:ext cx="1028974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D1B2A"/>
                </a:solidFill>
                <a:latin typeface="Calibri"/>
              </a:rPr>
              <a:t>Personeelsformatie: de benodigde capaciteit in uren afgezet tegen de bruto beschikbare formatie — het verschil is de fte-(mis)match.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6FC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 spc="220">
                <a:solidFill>
                  <a:srgbClr val="1F6FB2"/>
                </a:solidFill>
                <a:latin typeface="Calibri"/>
              </a:rPr>
              <a:t>PROCESBESCHRIJVING  ·  STRATEGISCH CAPACITEITSJAARPLAN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1">
                <a:solidFill>
                  <a:srgbClr val="0D1B2A"/>
                </a:solidFill>
                <a:latin typeface="Calibri"/>
              </a:rPr>
              <a:t>Van patiëntaanwezigheid naar capaciteit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85109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5677C"/>
                </a:solidFill>
                <a:latin typeface="Calibri"/>
              </a:rPr>
              <a:t>De keten van beddencapaciteit en verpleegkundige norm naar het urenoverzicht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9344"/>
            <a:ext cx="10911535" cy="0"/>
          </a:xfrm>
          <a:prstGeom prst="line">
            <a:avLst/>
          </a:prstGeom>
          <a:ln w="12700">
            <a:solidFill>
              <a:srgbClr val="E2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0080" y="6291072"/>
            <a:ext cx="10911535" cy="0"/>
          </a:xfrm>
          <a:prstGeom prst="line">
            <a:avLst/>
          </a:prstGeom>
          <a:ln w="9525">
            <a:solidFill>
              <a:srgbClr val="E2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80">
                <a:solidFill>
                  <a:srgbClr val="8B9AAA"/>
                </a:solidFill>
                <a:latin typeface="Calibri"/>
              </a:rPr>
              <a:t>Acuut 2026 - strategisch capaciteitsjaarplan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1">
                <a:solidFill>
                  <a:srgbClr val="0E9A87"/>
                </a:solidFill>
                <a:latin typeface="Calibri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00784"/>
            <a:ext cx="5291175" cy="841248"/>
          </a:xfrm>
          <a:prstGeom prst="roundRect">
            <a:avLst>
              <a:gd name="adj" fmla="val 3000"/>
            </a:avLst>
          </a:prstGeom>
          <a:solidFill>
            <a:srgbClr val="D6EBEE"/>
          </a:solidFill>
          <a:ln w="15875">
            <a:solidFill>
              <a:srgbClr val="9BD3D0"/>
            </a:solidFill>
          </a:ln>
          <a:effectLst>
            <a:outerShdw blurRad="60000" dist="18000" dir="5400000" rotWithShape="0">
              <a:srgbClr val="1B3A5C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6112" y="1792224"/>
            <a:ext cx="477911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0E9A87"/>
                </a:solidFill>
                <a:latin typeface="Calibri"/>
              </a:rPr>
              <a:t>Benodigde beddencapaciteit per periode van het jaar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55677C"/>
                </a:solidFill>
                <a:latin typeface="Calibri"/>
              </a:rPr>
              <a:t>op basis van data-analyse: patiënteninstroom, patiëntaanwezigheid en seizoenspatronen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0439" y="1700784"/>
            <a:ext cx="5291175" cy="841248"/>
          </a:xfrm>
          <a:prstGeom prst="roundRect">
            <a:avLst>
              <a:gd name="adj" fmla="val 3000"/>
            </a:avLst>
          </a:prstGeom>
          <a:solidFill>
            <a:srgbClr val="E1E1F2"/>
          </a:solidFill>
          <a:ln w="15875">
            <a:solidFill>
              <a:srgbClr val="BEB5DC"/>
            </a:solidFill>
          </a:ln>
          <a:effectLst>
            <a:outerShdw blurRad="60000" dist="18000" dir="5400000" rotWithShape="0">
              <a:srgbClr val="1B3A5C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16471" y="1792224"/>
            <a:ext cx="477911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6B4BA8"/>
                </a:solidFill>
                <a:latin typeface="Calibri"/>
              </a:rPr>
              <a:t>Verpleegkundige norm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>
                <a:solidFill>
                  <a:srgbClr val="55677C"/>
                </a:solidFill>
                <a:latin typeface="Calibri"/>
              </a:rPr>
              <a:t>per specialisme en per afdeling</a:t>
            </a:r>
          </a:p>
        </p:txBody>
      </p:sp>
      <p:sp>
        <p:nvSpPr>
          <p:cNvPr id="14" name="Freeform 13"/>
          <p:cNvSpPr/>
          <p:nvPr/>
        </p:nvSpPr>
        <p:spPr>
          <a:xfrm>
            <a:off x="3285667" y="2560320"/>
            <a:ext cx="2810180" cy="164592"/>
          </a:xfrm>
          <a:custGeom>
            <a:avLst/>
            <a:gdLst/>
            <a:ahLst/>
            <a:cxnLst/>
            <a:rect l="l" t="t" r="r" b="b"/>
            <a:pathLst>
              <a:path w="2810180" h="164592">
                <a:moveTo>
                  <a:pt x="0" y="0"/>
                </a:moveTo>
                <a:lnTo>
                  <a:pt x="63868" y="251"/>
                </a:lnTo>
                <a:lnTo>
                  <a:pt x="127736" y="989"/>
                </a:lnTo>
                <a:lnTo>
                  <a:pt x="191603" y="2191"/>
                </a:lnTo>
                <a:lnTo>
                  <a:pt x="255471" y="3833"/>
                </a:lnTo>
                <a:lnTo>
                  <a:pt x="319339" y="5893"/>
                </a:lnTo>
                <a:lnTo>
                  <a:pt x="383207" y="8347"/>
                </a:lnTo>
                <a:lnTo>
                  <a:pt x="447074" y="11171"/>
                </a:lnTo>
                <a:lnTo>
                  <a:pt x="510942" y="14344"/>
                </a:lnTo>
                <a:lnTo>
                  <a:pt x="574810" y="17841"/>
                </a:lnTo>
                <a:lnTo>
                  <a:pt x="638678" y="21640"/>
                </a:lnTo>
                <a:lnTo>
                  <a:pt x="702545" y="25717"/>
                </a:lnTo>
                <a:lnTo>
                  <a:pt x="766413" y="30049"/>
                </a:lnTo>
                <a:lnTo>
                  <a:pt x="830281" y="34613"/>
                </a:lnTo>
                <a:lnTo>
                  <a:pt x="894148" y="39385"/>
                </a:lnTo>
                <a:lnTo>
                  <a:pt x="958016" y="44343"/>
                </a:lnTo>
                <a:lnTo>
                  <a:pt x="1021884" y="49464"/>
                </a:lnTo>
                <a:lnTo>
                  <a:pt x="1085752" y="54723"/>
                </a:lnTo>
                <a:lnTo>
                  <a:pt x="1149619" y="60098"/>
                </a:lnTo>
                <a:lnTo>
                  <a:pt x="1213487" y="65567"/>
                </a:lnTo>
                <a:lnTo>
                  <a:pt x="1277355" y="71104"/>
                </a:lnTo>
                <a:lnTo>
                  <a:pt x="1341222" y="76688"/>
                </a:lnTo>
                <a:lnTo>
                  <a:pt x="1405090" y="82296"/>
                </a:lnTo>
                <a:lnTo>
                  <a:pt x="1468958" y="87903"/>
                </a:lnTo>
                <a:lnTo>
                  <a:pt x="1532826" y="93487"/>
                </a:lnTo>
                <a:lnTo>
                  <a:pt x="1596693" y="99024"/>
                </a:lnTo>
                <a:lnTo>
                  <a:pt x="1660561" y="104493"/>
                </a:lnTo>
                <a:lnTo>
                  <a:pt x="1724429" y="109868"/>
                </a:lnTo>
                <a:lnTo>
                  <a:pt x="1788297" y="115127"/>
                </a:lnTo>
                <a:lnTo>
                  <a:pt x="1852164" y="120248"/>
                </a:lnTo>
                <a:lnTo>
                  <a:pt x="1916032" y="125206"/>
                </a:lnTo>
                <a:lnTo>
                  <a:pt x="1979900" y="129978"/>
                </a:lnTo>
                <a:lnTo>
                  <a:pt x="2043767" y="134542"/>
                </a:lnTo>
                <a:lnTo>
                  <a:pt x="2107635" y="138874"/>
                </a:lnTo>
                <a:lnTo>
                  <a:pt x="2171503" y="142951"/>
                </a:lnTo>
                <a:lnTo>
                  <a:pt x="2235371" y="146750"/>
                </a:lnTo>
                <a:lnTo>
                  <a:pt x="2299238" y="150247"/>
                </a:lnTo>
                <a:lnTo>
                  <a:pt x="2363106" y="153420"/>
                </a:lnTo>
                <a:lnTo>
                  <a:pt x="2426974" y="156244"/>
                </a:lnTo>
                <a:lnTo>
                  <a:pt x="2490841" y="158698"/>
                </a:lnTo>
                <a:lnTo>
                  <a:pt x="2554709" y="160758"/>
                </a:lnTo>
                <a:lnTo>
                  <a:pt x="2618577" y="162400"/>
                </a:lnTo>
                <a:lnTo>
                  <a:pt x="2682445" y="163602"/>
                </a:lnTo>
                <a:lnTo>
                  <a:pt x="2746312" y="164340"/>
                </a:lnTo>
                <a:lnTo>
                  <a:pt x="2810180" y="164592"/>
                </a:lnTo>
              </a:path>
            </a:pathLst>
          </a:custGeom>
          <a:noFill/>
          <a:ln w="38100">
            <a:solidFill>
              <a:srgbClr val="0E9A87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6095847" y="2560320"/>
            <a:ext cx="2810180" cy="164592"/>
          </a:xfrm>
          <a:custGeom>
            <a:avLst/>
            <a:gdLst/>
            <a:ahLst/>
            <a:cxnLst/>
            <a:rect l="l" t="t" r="r" b="b"/>
            <a:pathLst>
              <a:path w="2810180" h="164592">
                <a:moveTo>
                  <a:pt x="2810180" y="0"/>
                </a:moveTo>
                <a:lnTo>
                  <a:pt x="2746312" y="251"/>
                </a:lnTo>
                <a:lnTo>
                  <a:pt x="2682444" y="989"/>
                </a:lnTo>
                <a:lnTo>
                  <a:pt x="2618577" y="2191"/>
                </a:lnTo>
                <a:lnTo>
                  <a:pt x="2554709" y="3833"/>
                </a:lnTo>
                <a:lnTo>
                  <a:pt x="2490841" y="5893"/>
                </a:lnTo>
                <a:lnTo>
                  <a:pt x="2426974" y="8347"/>
                </a:lnTo>
                <a:lnTo>
                  <a:pt x="2363106" y="11171"/>
                </a:lnTo>
                <a:lnTo>
                  <a:pt x="2299238" y="14344"/>
                </a:lnTo>
                <a:lnTo>
                  <a:pt x="2235370" y="17841"/>
                </a:lnTo>
                <a:lnTo>
                  <a:pt x="2171503" y="21640"/>
                </a:lnTo>
                <a:lnTo>
                  <a:pt x="2107635" y="25717"/>
                </a:lnTo>
                <a:lnTo>
                  <a:pt x="2043767" y="30049"/>
                </a:lnTo>
                <a:lnTo>
                  <a:pt x="1979900" y="34613"/>
                </a:lnTo>
                <a:lnTo>
                  <a:pt x="1916032" y="39385"/>
                </a:lnTo>
                <a:lnTo>
                  <a:pt x="1852164" y="44343"/>
                </a:lnTo>
                <a:lnTo>
                  <a:pt x="1788296" y="49464"/>
                </a:lnTo>
                <a:lnTo>
                  <a:pt x="1724429" y="54723"/>
                </a:lnTo>
                <a:lnTo>
                  <a:pt x="1660561" y="60098"/>
                </a:lnTo>
                <a:lnTo>
                  <a:pt x="1596693" y="65567"/>
                </a:lnTo>
                <a:lnTo>
                  <a:pt x="1532825" y="71104"/>
                </a:lnTo>
                <a:lnTo>
                  <a:pt x="1468958" y="76688"/>
                </a:lnTo>
                <a:lnTo>
                  <a:pt x="1405090" y="82296"/>
                </a:lnTo>
                <a:lnTo>
                  <a:pt x="1341222" y="87903"/>
                </a:lnTo>
                <a:lnTo>
                  <a:pt x="1277355" y="93487"/>
                </a:lnTo>
                <a:lnTo>
                  <a:pt x="1213487" y="99024"/>
                </a:lnTo>
                <a:lnTo>
                  <a:pt x="1149619" y="104493"/>
                </a:lnTo>
                <a:lnTo>
                  <a:pt x="1085751" y="109868"/>
                </a:lnTo>
                <a:lnTo>
                  <a:pt x="1021884" y="115127"/>
                </a:lnTo>
                <a:lnTo>
                  <a:pt x="958016" y="120248"/>
                </a:lnTo>
                <a:lnTo>
                  <a:pt x="894148" y="125206"/>
                </a:lnTo>
                <a:lnTo>
                  <a:pt x="830280" y="129978"/>
                </a:lnTo>
                <a:lnTo>
                  <a:pt x="766413" y="134542"/>
                </a:lnTo>
                <a:lnTo>
                  <a:pt x="702545" y="138874"/>
                </a:lnTo>
                <a:lnTo>
                  <a:pt x="638677" y="142951"/>
                </a:lnTo>
                <a:lnTo>
                  <a:pt x="574810" y="146750"/>
                </a:lnTo>
                <a:lnTo>
                  <a:pt x="510942" y="150247"/>
                </a:lnTo>
                <a:lnTo>
                  <a:pt x="447074" y="153420"/>
                </a:lnTo>
                <a:lnTo>
                  <a:pt x="383206" y="156244"/>
                </a:lnTo>
                <a:lnTo>
                  <a:pt x="319339" y="158698"/>
                </a:lnTo>
                <a:lnTo>
                  <a:pt x="255471" y="160758"/>
                </a:lnTo>
                <a:lnTo>
                  <a:pt x="191603" y="162400"/>
                </a:lnTo>
                <a:lnTo>
                  <a:pt x="127736" y="163602"/>
                </a:lnTo>
                <a:lnTo>
                  <a:pt x="63868" y="164340"/>
                </a:lnTo>
                <a:lnTo>
                  <a:pt x="0" y="164592"/>
                </a:lnTo>
              </a:path>
            </a:pathLst>
          </a:custGeom>
          <a:noFill/>
          <a:ln w="38100">
            <a:solidFill>
              <a:srgbClr val="6B4BA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67831" y="2596896"/>
            <a:ext cx="256032" cy="256032"/>
          </a:xfrm>
          <a:prstGeom prst="ellipse">
            <a:avLst/>
          </a:prstGeom>
          <a:solidFill>
            <a:srgbClr val="1F6FB2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1839" y="2660904"/>
            <a:ext cx="128016" cy="12801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935441" y="2724912"/>
            <a:ext cx="4160406" cy="274320"/>
          </a:xfrm>
          <a:custGeom>
            <a:avLst/>
            <a:gdLst/>
            <a:ahLst/>
            <a:cxnLst/>
            <a:rect l="l" t="t" r="r" b="b"/>
            <a:pathLst>
              <a:path w="4160406" h="274320">
                <a:moveTo>
                  <a:pt x="4160406" y="0"/>
                </a:moveTo>
                <a:lnTo>
                  <a:pt x="4160406" y="137160"/>
                </a:lnTo>
                <a:lnTo>
                  <a:pt x="0" y="137160"/>
                </a:lnTo>
                <a:lnTo>
                  <a:pt x="0" y="274320"/>
                </a:lnTo>
              </a:path>
            </a:pathLst>
          </a:custGeom>
          <a:noFill/>
          <a:ln w="15875">
            <a:solidFill>
              <a:srgbClr val="73A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2999232"/>
            <a:ext cx="2590723" cy="11338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0080" y="2999232"/>
            <a:ext cx="45720" cy="1133856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7824" y="3145536"/>
            <a:ext cx="213352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Benodigde diensten per 24 uur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3566160"/>
            <a:ext cx="2133523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55677C"/>
                </a:solidFill>
                <a:latin typeface="Calibri"/>
              </a:rPr>
              <a:t>dag  ·  laat  ·  nacht  ·  overig (OVD)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244519" y="3488436"/>
            <a:ext cx="155448" cy="155448"/>
          </a:xfrm>
          <a:prstGeom prst="rightArrow">
            <a:avLst/>
          </a:prstGeom>
          <a:solidFill>
            <a:srgbClr val="1F6FB2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13683" y="2999232"/>
            <a:ext cx="2590723" cy="11338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3413683" y="2999232"/>
            <a:ext cx="45720" cy="1133856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651427" y="3145536"/>
            <a:ext cx="213352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Roostersleutel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1427" y="3566160"/>
            <a:ext cx="2133523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55677C"/>
                </a:solidFill>
                <a:latin typeface="Calibri"/>
              </a:rPr>
              <a:t>vertaling naar diensten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018123" y="3488436"/>
            <a:ext cx="155448" cy="155448"/>
          </a:xfrm>
          <a:prstGeom prst="rightArrow">
            <a:avLst/>
          </a:prstGeom>
          <a:solidFill>
            <a:srgbClr val="1F6FB2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87287" y="2999232"/>
            <a:ext cx="2590723" cy="1133856"/>
          </a:xfrm>
          <a:prstGeom prst="roundRect">
            <a:avLst>
              <a:gd name="adj" fmla="val 3000"/>
            </a:avLst>
          </a:prstGeom>
          <a:solidFill>
            <a:srgbClr val="D6EBEE"/>
          </a:solidFill>
          <a:ln w="15875">
            <a:solidFill>
              <a:srgbClr val="9BD3D0"/>
            </a:solidFill>
          </a:ln>
          <a:effectLst>
            <a:outerShdw blurRad="60000" dist="18000" dir="5400000" rotWithShape="0">
              <a:srgbClr val="1B3A5C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6187287" y="2999232"/>
            <a:ext cx="45720" cy="1133856"/>
          </a:xfrm>
          <a:prstGeom prst="roundRect">
            <a:avLst>
              <a:gd name="adj" fmla="val 50000"/>
            </a:avLst>
          </a:prstGeom>
          <a:solidFill>
            <a:srgbClr val="0E9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25031" y="3145536"/>
            <a:ext cx="213352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FTE directe zorg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5031" y="3566160"/>
            <a:ext cx="2133523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55677C"/>
                </a:solidFill>
                <a:latin typeface="Calibri"/>
              </a:rPr>
              <a:t>de basis voor CPP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79563" y="3822192"/>
            <a:ext cx="1060704" cy="237744"/>
          </a:xfrm>
          <a:prstGeom prst="roundRect">
            <a:avLst>
              <a:gd name="adj" fmla="val 50000"/>
            </a:avLst>
          </a:prstGeom>
          <a:solidFill>
            <a:srgbClr val="0E9A87">
              <a:alpha val="11000"/>
            </a:srgbClr>
          </a:solidFill>
          <a:ln w="12700">
            <a:solidFill>
              <a:srgbClr val="80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750" b="1">
                <a:solidFill>
                  <a:srgbClr val="0E9A87"/>
                </a:solidFill>
                <a:latin typeface="Calibri"/>
              </a:rPr>
              <a:t>basis voor CPP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791727" y="3488436"/>
            <a:ext cx="155448" cy="155448"/>
          </a:xfrm>
          <a:prstGeom prst="rightArrow">
            <a:avLst/>
          </a:prstGeom>
          <a:solidFill>
            <a:srgbClr val="1F6FB2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60891" y="2999232"/>
            <a:ext cx="2590723" cy="11338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8960891" y="2999232"/>
            <a:ext cx="45720" cy="1133856"/>
          </a:xfrm>
          <a:prstGeom prst="roundRect">
            <a:avLst>
              <a:gd name="adj" fmla="val 50000"/>
            </a:avLst>
          </a:prstGeom>
          <a:solidFill>
            <a:srgbClr val="C87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98635" y="3145536"/>
            <a:ext cx="213352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Kortdurend ziekteverzuim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98635" y="3566160"/>
            <a:ext cx="2133523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55677C"/>
                </a:solidFill>
                <a:latin typeface="Calibri"/>
              </a:rPr>
              <a:t>opslag op de directe zorg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443984"/>
            <a:ext cx="2590723" cy="11338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640080" y="4443984"/>
            <a:ext cx="45720" cy="1133856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77824" y="4590288"/>
            <a:ext cx="213352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Roostersleutel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" y="5010912"/>
            <a:ext cx="2133523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55677C"/>
                </a:solidFill>
                <a:latin typeface="Calibri"/>
              </a:rPr>
              <a:t>opnieuw toegepast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3244519" y="4933188"/>
            <a:ext cx="155448" cy="155448"/>
          </a:xfrm>
          <a:prstGeom prst="rightArrow">
            <a:avLst/>
          </a:prstGeom>
          <a:solidFill>
            <a:srgbClr val="1F6FB2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413683" y="4443984"/>
            <a:ext cx="2590723" cy="11338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3413683" y="4443984"/>
            <a:ext cx="45720" cy="1133856"/>
          </a:xfrm>
          <a:prstGeom prst="roundRect">
            <a:avLst>
              <a:gd name="adj" fmla="val 50000"/>
            </a:avLst>
          </a:prstGeom>
          <a:solidFill>
            <a:srgbClr val="C87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3651427" y="4590288"/>
            <a:ext cx="213352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Overige uren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1427" y="5010912"/>
            <a:ext cx="2133523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00" b="0">
                <a:solidFill>
                  <a:srgbClr val="55677C"/>
                </a:solidFill>
                <a:latin typeface="Calibri"/>
              </a:rPr>
              <a:t>langdurig verzuim, zwangerschap, SOMZ, PLB, geboorteverlof, overig ouderschapsverlof en overige vervolgopleidingen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6018123" y="4933188"/>
            <a:ext cx="155448" cy="155448"/>
          </a:xfrm>
          <a:prstGeom prst="rightArrow">
            <a:avLst/>
          </a:prstGeom>
          <a:solidFill>
            <a:srgbClr val="1F6FB2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87287" y="4443984"/>
            <a:ext cx="2590723" cy="11338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6187287" y="4443984"/>
            <a:ext cx="45720" cy="1133856"/>
          </a:xfrm>
          <a:prstGeom prst="roundRect">
            <a:avLst>
              <a:gd name="adj" fmla="val 50000"/>
            </a:avLst>
          </a:prstGeom>
          <a:solidFill>
            <a:srgbClr val="6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425031" y="4590288"/>
            <a:ext cx="213352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Dagelijkse bedrijfsvoering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5031" y="5010912"/>
            <a:ext cx="2133523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55677C"/>
                </a:solidFill>
                <a:latin typeface="Calibri"/>
              </a:rPr>
              <a:t>wat er in de praktijk bijkomt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8791727" y="4933188"/>
            <a:ext cx="155448" cy="155448"/>
          </a:xfrm>
          <a:prstGeom prst="rightArrow">
            <a:avLst/>
          </a:prstGeom>
          <a:solidFill>
            <a:srgbClr val="1F6FB2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960891" y="4443984"/>
            <a:ext cx="2590723" cy="1133856"/>
          </a:xfrm>
          <a:prstGeom prst="roundRect">
            <a:avLst>
              <a:gd name="adj" fmla="val 3000"/>
            </a:avLst>
          </a:prstGeom>
          <a:solidFill>
            <a:srgbClr val="D6EBEE"/>
          </a:solidFill>
          <a:ln w="15875">
            <a:solidFill>
              <a:srgbClr val="9BD3D0"/>
            </a:solidFill>
          </a:ln>
          <a:effectLst>
            <a:outerShdw blurRad="60000" dist="18000" dir="5400000" rotWithShape="0">
              <a:srgbClr val="1B3A5C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8960891" y="4443984"/>
            <a:ext cx="45720" cy="1133856"/>
          </a:xfrm>
          <a:prstGeom prst="roundRect">
            <a:avLst>
              <a:gd name="adj" fmla="val 50000"/>
            </a:avLst>
          </a:prstGeom>
          <a:solidFill>
            <a:srgbClr val="0E9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198635" y="4590288"/>
            <a:ext cx="213352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0D1B2A"/>
                </a:solidFill>
                <a:latin typeface="Calibri"/>
              </a:rPr>
              <a:t>Urenoverzicht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98635" y="5010912"/>
            <a:ext cx="2133523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55677C"/>
                </a:solidFill>
                <a:latin typeface="Calibri"/>
              </a:rPr>
              <a:t>de uitkomst van de keten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53167" y="5266944"/>
            <a:ext cx="1060704" cy="237744"/>
          </a:xfrm>
          <a:prstGeom prst="roundRect">
            <a:avLst>
              <a:gd name="adj" fmla="val 50000"/>
            </a:avLst>
          </a:prstGeom>
          <a:solidFill>
            <a:srgbClr val="0E9A87">
              <a:alpha val="11000"/>
            </a:srgbClr>
          </a:solidFill>
          <a:ln w="12700">
            <a:solidFill>
              <a:srgbClr val="80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/>
          <a:lstStyle/>
          <a:p>
            <a:pPr algn="ctr"/>
            <a:r>
              <a:rPr sz="850" b="1">
                <a:solidFill>
                  <a:srgbClr val="0E9A87"/>
                </a:solidFill>
                <a:latin typeface="Calibri"/>
              </a:rPr>
              <a:t>uitkomst</a:t>
            </a:r>
          </a:p>
        </p:txBody>
      </p:sp>
      <p:sp>
        <p:nvSpPr>
          <p:cNvPr id="59" name="Freeform 58"/>
          <p:cNvSpPr/>
          <p:nvPr/>
        </p:nvSpPr>
        <p:spPr>
          <a:xfrm>
            <a:off x="1935441" y="4133088"/>
            <a:ext cx="8320812" cy="310896"/>
          </a:xfrm>
          <a:custGeom>
            <a:avLst/>
            <a:gdLst/>
            <a:ahLst/>
            <a:cxnLst/>
            <a:rect l="l" t="t" r="r" b="b"/>
            <a:pathLst>
              <a:path w="8320812" h="310896">
                <a:moveTo>
                  <a:pt x="8320812" y="0"/>
                </a:moveTo>
                <a:lnTo>
                  <a:pt x="8320812" y="155448"/>
                </a:lnTo>
                <a:lnTo>
                  <a:pt x="0" y="155448"/>
                </a:lnTo>
                <a:lnTo>
                  <a:pt x="0" y="310896"/>
                </a:lnTo>
              </a:path>
            </a:pathLst>
          </a:custGeom>
          <a:noFill/>
          <a:ln w="15875">
            <a:solidFill>
              <a:srgbClr val="73A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40080" y="5669280"/>
            <a:ext cx="10911535" cy="512064"/>
          </a:xfrm>
          <a:prstGeom prst="roundRect">
            <a:avLst>
              <a:gd name="adj" fmla="val 3000"/>
            </a:avLst>
          </a:prstGeom>
          <a:solidFill>
            <a:srgbClr val="DCE8F5"/>
          </a:solidFill>
          <a:ln w="15875">
            <a:solidFill>
              <a:srgbClr val="A1C3E0"/>
            </a:solidFill>
          </a:ln>
          <a:effectLst>
            <a:outerShdw blurRad="60000" dist="18000" dir="5400000" rotWithShape="0">
              <a:srgbClr val="1B3A5C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640080" y="5669280"/>
            <a:ext cx="50292" cy="512064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69264" y="5751576"/>
            <a:ext cx="999713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750" b="1" spc="180">
                <a:solidFill>
                  <a:srgbClr val="1F6FB2"/>
                </a:solidFill>
                <a:latin typeface="Calibri"/>
              </a:rPr>
              <a:t>HOE DEZE KETEN WERKT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0D1B2A"/>
                </a:solidFill>
                <a:latin typeface="Calibri"/>
              </a:rPr>
              <a:t>Elke stap volgt uit de vorige: verandert de beddencapaciteit of de verpleegkundige norm, dan verandert het urenoverzicht mee.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