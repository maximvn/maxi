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 bepaling capaciteit (bedden en ruimtes) voor het jaar</a:t>
            </a:r>
          </a:p>
          <a:p>
            <a:r>
              <a:t>1. Data-analyse van instroom, patiëntaanwezigheid, ligduur en meer.</a:t>
            </a:r>
          </a:p>
          <a:p>
            <a:r>
              <a:t>2. Opstellen van een rekenmodel voor het komend jaar, met daarin de resultaten van de analyse op basis van de zorgvraag.</a:t>
            </a:r>
          </a:p>
          <a:p>
            <a:r>
              <a:t>3. Bespreken van de resultaten uit de analyse en het rekenmodel met de zorgmanager.</a:t>
            </a:r>
          </a:p>
          <a:p>
            <a:r>
              <a:t>4. Uitgangspunten en input vanuit de zorgmanager.</a:t>
            </a:r>
          </a:p>
          <a:p>
            <a:r>
              <a:t>5. Verwerken van de uitgangspunten en input van de zorgmanager.</a:t>
            </a:r>
          </a:p>
          <a:p>
            <a:r>
              <a:t>6. Bespreken van het conceptplan met de teammanagers.</a:t>
            </a:r>
          </a:p>
          <a:p>
            <a:r>
              <a:t>7. Verwerken van de input van de teammanagers.</a:t>
            </a:r>
          </a:p>
          <a:p>
            <a:r>
              <a:t>8. Definitief advies met daarin het aantal benodigde bedden per week.</a:t>
            </a:r>
          </a:p>
          <a:p/>
          <a:p>
            <a:r>
              <a:t>Proces bepaling personele formatie voor komend jaar</a:t>
            </a:r>
          </a:p>
          <a:p>
            <a:r>
              <a:t>1. Vastgesteld uitgangspunt: het aantal benodigde bedden per afdeling, per week en per dag.</a:t>
            </a:r>
          </a:p>
          <a:p>
            <a:r>
              <a:t>2. Verpleegkundige normering (dag, laat, nacht).</a:t>
            </a:r>
          </a:p>
          <a:p>
            <a:r>
              <a:t>3. Roostersleutels opstellen.</a:t>
            </a:r>
          </a:p>
          <a:p>
            <a:r>
              <a:t>4. Berekening fte directe uren per week per afdeling — input voor de urenoverzichten per afdeling.</a:t>
            </a:r>
          </a:p>
          <a:p>
            <a:r>
              <a:t>5. Indirecte uren inventariseren en vaststellen.</a:t>
            </a:r>
          </a:p>
          <a:p>
            <a:r>
              <a:t>6. Fte-berekening per afdeling op basis van directe en indirecte uren — input voor de begroting van Planning &amp; Control.</a:t>
            </a:r>
          </a:p>
          <a:p>
            <a:r>
              <a:t>7. Opstellen van urenoverzichten per afdeling ten behoeve van de planning door CPP.</a:t>
            </a:r>
          </a:p>
          <a:p/>
          <a:p>
            <a:r>
              <a:t>Proces personele planning</a:t>
            </a:r>
          </a:p>
          <a:p>
            <a:r>
              <a:t>Input: de vastgestelde fte-berekening (inclusief roostersleutel en indirecte uren), het urenoverzicht en de opbouw in Ortec. De vervolgstappen staan in de bronpresentatie nog niet uitgeschreven.</a:t>
            </a:r>
          </a:p>
          <a:p/>
          <a:p>
            <a:r>
              <a:t>Van patiëntaanwezigheid naar personele capaciteit</a:t>
            </a:r>
          </a:p>
          <a:p>
            <a:r>
              <a:t>Benodigde beddencapaciteit per periode van het jaar (data-analyse: patiënteninstroom, patiëntaanwezigheid, seizoenspatronen) en de verpleegkundige norm per specialisme leiden samen tot het aantal benodigde diensten per 24 uur (dag, laat, nacht, overig/OVD). Via de roostersleutel volgt de fte directe zorg — de basis voor CPP. Daarna komen het kortdurend ziekteverzuim, opnieuw de roostersleutel, de overige uren (langdurig verzuim, zwangerschap, SOMZ, PLB, geboorteverlof, overig ouderschapsverlof, overige vervolgopleidingen) en de dagelijkse bedrijfsvoering erbij. De uitkomst is het urenoverzicht.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Formatieberekening, voorbeeld radiologie.</a:t>
            </a:r>
          </a:p>
          <a:p/>
          <a:p>
            <a:r>
              <a:t>Jaarlijkse bruto arbeidsduur conform cao: voltijd 36,0 uur per week, 52,17 weken, 1.878 bruto uren per jaar per fte.</a:t>
            </a:r>
          </a:p>
          <a:p/>
          <a:p>
            <a:r>
              <a:t>Afwezigheid volgens begroting: vakantierechten 144,0, ziekteverzuim 75,1, bijzonder verlof 8,0, PLB 22,0 en feestdagen 50,4 — samen 300 uur, oftewel 5,7 uur per week of 15,9%.</a:t>
            </a:r>
          </a:p>
          <a:p/>
          <a:p>
            <a:r>
              <a:t>Netto inzetbaarheid: 1.579 uur, oftewel 30,3 uur per week of 84,1%.</a:t>
            </a:r>
          </a:p>
          <a:p/>
          <a:p>
            <a:r>
              <a:t>Benodigde uren bestaan uit de indirecte uren per afdeling, de directe uren op basis van roostersleutel of sessierooster, de spoedmodaliteiten en de bereikbaarheidsdiensten.</a:t>
            </a:r>
          </a:p>
          <a:p/>
          <a:p>
            <a:r>
              <a:t>Personeelsformatie: benodigde capaciteit in uren, bruto benodigde formatie in fte, overige afwijkingen en bruto beschikbare formatie in fte. Het verschil is de fte-(mis)match.</a:t>
            </a:r>
          </a:p>
          <a:p/>
          <a:p>
            <a:r>
              <a:t>Overige afwijkingen komen bovenop de begrote afwezigheid: zwangerschapsverlof, ouderschapsverlof en ziekteverzuim boven de 4 procent.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FFFFFF"/>
              </a:gs>
              <a:gs pos="100000">
                <a:srgbClr val="F1F6FC"/>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566928"/>
            <a:ext cx="10911535" cy="219456"/>
          </a:xfrm>
          <a:prstGeom prst="rect">
            <a:avLst/>
          </a:prstGeom>
          <a:noFill/>
        </p:spPr>
        <p:txBody>
          <a:bodyPr wrap="square" lIns="0" rIns="0" tIns="0" bIns="0" anchor="t">
            <a:spAutoFit/>
          </a:bodyPr>
          <a:lstStyle/>
          <a:p>
            <a:pPr algn="l">
              <a:lnSpc>
                <a:spcPct val="120000"/>
              </a:lnSpc>
              <a:spcAft>
                <a:spcPts val="0"/>
              </a:spcAft>
            </a:pPr>
            <a:r>
              <a:rPr sz="1050" b="1" spc="220">
                <a:solidFill>
                  <a:srgbClr val="0E9A87"/>
                </a:solidFill>
                <a:latin typeface="Calibri"/>
              </a:rPr>
              <a:t>PROCES  ·  STRATEGISCH CAPACITEITSJAARPLAN</a:t>
            </a:r>
          </a:p>
        </p:txBody>
      </p:sp>
      <p:sp>
        <p:nvSpPr>
          <p:cNvPr id="4" name="TextBox 3"/>
          <p:cNvSpPr txBox="1"/>
          <p:nvPr/>
        </p:nvSpPr>
        <p:spPr>
          <a:xfrm>
            <a:off x="640080" y="859536"/>
            <a:ext cx="10911535" cy="566928"/>
          </a:xfrm>
          <a:prstGeom prst="rect">
            <a:avLst/>
          </a:prstGeom>
          <a:noFill/>
        </p:spPr>
        <p:txBody>
          <a:bodyPr wrap="square" lIns="0" rIns="0" tIns="0" bIns="0" anchor="t">
            <a:spAutoFit/>
          </a:bodyPr>
          <a:lstStyle/>
          <a:p>
            <a:pPr algn="l">
              <a:lnSpc>
                <a:spcPct val="120000"/>
              </a:lnSpc>
              <a:spcAft>
                <a:spcPts val="0"/>
              </a:spcAft>
            </a:pPr>
            <a:r>
              <a:rPr sz="3400" b="1">
                <a:solidFill>
                  <a:srgbClr val="0D1B2A"/>
                </a:solidFill>
                <a:latin typeface="Calibri"/>
              </a:rPr>
              <a:t>Van zorgvraag naar rooster</a:t>
            </a:r>
          </a:p>
        </p:txBody>
      </p:sp>
      <p:sp>
        <p:nvSpPr>
          <p:cNvPr id="5" name="TextBox 4"/>
          <p:cNvSpPr txBox="1"/>
          <p:nvPr/>
        </p:nvSpPr>
        <p:spPr>
          <a:xfrm>
            <a:off x="640080" y="1335024"/>
            <a:ext cx="8510997" cy="274320"/>
          </a:xfrm>
          <a:prstGeom prst="rect">
            <a:avLst/>
          </a:prstGeom>
          <a:noFill/>
        </p:spPr>
        <p:txBody>
          <a:bodyPr wrap="square" lIns="0" rIns="0" tIns="0" bIns="0" anchor="t">
            <a:spAutoFit/>
          </a:bodyPr>
          <a:lstStyle/>
          <a:p>
            <a:pPr algn="l">
              <a:lnSpc>
                <a:spcPct val="120000"/>
              </a:lnSpc>
              <a:spcAft>
                <a:spcPts val="0"/>
              </a:spcAft>
            </a:pPr>
            <a:r>
              <a:rPr sz="1300" b="0">
                <a:solidFill>
                  <a:srgbClr val="55677C"/>
                </a:solidFill>
                <a:latin typeface="Calibri"/>
              </a:rPr>
              <a:t>Vier stappen — elke stap levert de input voor de volgende</a:t>
            </a:r>
          </a:p>
        </p:txBody>
      </p:sp>
      <p:cxnSp>
        <p:nvCxnSpPr>
          <p:cNvPr id="6" name="Connector 5"/>
          <p:cNvCxnSpPr/>
          <p:nvPr/>
        </p:nvCxnSpPr>
        <p:spPr>
          <a:xfrm>
            <a:off x="640080" y="1609344"/>
            <a:ext cx="10911535" cy="0"/>
          </a:xfrm>
          <a:prstGeom prst="line">
            <a:avLst/>
          </a:prstGeom>
          <a:ln w="12700">
            <a:solidFill>
              <a:srgbClr val="E2E9F1"/>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640080" y="1700784"/>
            <a:ext cx="2535859" cy="3785615"/>
          </a:xfrm>
          <a:prstGeom prst="roundRect">
            <a:avLst>
              <a:gd name="adj" fmla="val 3000"/>
            </a:avLst>
          </a:prstGeom>
          <a:solidFill>
            <a:srgbClr val="FFFFFF"/>
          </a:solidFill>
          <a:ln w="12700">
            <a:solidFill>
              <a:srgbClr val="E2E9F1"/>
            </a:solidFill>
          </a:ln>
          <a:effectLst>
            <a:outerShdw blurRad="70000" dist="22000" dir="5400000" rotWithShape="0">
              <a:srgbClr val="1B3A5C">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640080" y="1700784"/>
            <a:ext cx="2535859" cy="50292"/>
          </a:xfrm>
          <a:prstGeom prst="roundRect">
            <a:avLst>
              <a:gd name="adj" fmla="val 50000"/>
            </a:avLst>
          </a:prstGeom>
          <a:solidFill>
            <a:srgbClr val="0E9A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32103" y="1947672"/>
            <a:ext cx="457200" cy="457200"/>
          </a:xfrm>
          <a:prstGeom prst="ellipse">
            <a:avLst/>
          </a:prstGeom>
          <a:solidFill>
            <a:srgbClr val="0E9A87">
              <a:alpha val="10000"/>
            </a:srgbClr>
          </a:solidFill>
          <a:ln w="15875">
            <a:solidFill>
              <a:srgbClr val="0E9A87"/>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E9A87"/>
                </a:solidFill>
                <a:latin typeface="Calibri"/>
              </a:rPr>
              <a:t>01</a:t>
            </a:r>
          </a:p>
        </p:txBody>
      </p:sp>
      <p:sp>
        <p:nvSpPr>
          <p:cNvPr id="10" name="TextBox 9"/>
          <p:cNvSpPr txBox="1"/>
          <p:nvPr/>
        </p:nvSpPr>
        <p:spPr>
          <a:xfrm>
            <a:off x="877824" y="2523744"/>
            <a:ext cx="2060371" cy="548640"/>
          </a:xfrm>
          <a:prstGeom prst="rect">
            <a:avLst/>
          </a:prstGeom>
          <a:noFill/>
        </p:spPr>
        <p:txBody>
          <a:bodyPr wrap="square" lIns="0" rIns="0" tIns="0" bIns="0" anchor="t">
            <a:spAutoFit/>
          </a:bodyPr>
          <a:lstStyle/>
          <a:p>
            <a:pPr algn="l">
              <a:lnSpc>
                <a:spcPct val="114000"/>
              </a:lnSpc>
              <a:spcAft>
                <a:spcPts val="0"/>
              </a:spcAft>
            </a:pPr>
            <a:r>
              <a:rPr sz="1550" b="1">
                <a:solidFill>
                  <a:srgbClr val="0D1B2A"/>
                </a:solidFill>
                <a:latin typeface="Calibri"/>
              </a:rPr>
              <a:t>Beddencapaciteit</a:t>
            </a:r>
          </a:p>
        </p:txBody>
      </p:sp>
      <p:sp>
        <p:nvSpPr>
          <p:cNvPr id="11" name="Rounded Rectangle 10"/>
          <p:cNvSpPr/>
          <p:nvPr/>
        </p:nvSpPr>
        <p:spPr>
          <a:xfrm>
            <a:off x="877824" y="3108960"/>
            <a:ext cx="2060371" cy="292608"/>
          </a:xfrm>
          <a:prstGeom prst="roundRect">
            <a:avLst>
              <a:gd name="adj" fmla="val 50000"/>
            </a:avLst>
          </a:prstGeom>
          <a:solidFill>
            <a:srgbClr val="0E9A87">
              <a:alpha val="11000"/>
            </a:srgbClr>
          </a:solidFill>
          <a:ln w="12700">
            <a:solidFill>
              <a:srgbClr val="80C8C2"/>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r>
              <a:rPr sz="1000" b="1">
                <a:solidFill>
                  <a:srgbClr val="0E9A87"/>
                </a:solidFill>
                <a:latin typeface="Calibri"/>
              </a:rPr>
              <a:t>bedden per week</a:t>
            </a:r>
          </a:p>
        </p:txBody>
      </p:sp>
      <p:cxnSp>
        <p:nvCxnSpPr>
          <p:cNvPr id="12" name="Connector 11"/>
          <p:cNvCxnSpPr/>
          <p:nvPr/>
        </p:nvCxnSpPr>
        <p:spPr>
          <a:xfrm>
            <a:off x="877824" y="3566160"/>
            <a:ext cx="2060371" cy="0"/>
          </a:xfrm>
          <a:prstGeom prst="line">
            <a:avLst/>
          </a:prstGeom>
          <a:ln w="12700">
            <a:solidFill>
              <a:srgbClr val="E2E9F1"/>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909828" y="3771900"/>
            <a:ext cx="82296" cy="82296"/>
          </a:xfrm>
          <a:prstGeom prst="ellipse">
            <a:avLst/>
          </a:prstGeom>
          <a:solidFill>
            <a:srgbClr val="0E9A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33856" y="3712464"/>
            <a:ext cx="1804339" cy="364743"/>
          </a:xfrm>
          <a:prstGeom prst="rect">
            <a:avLst/>
          </a:prstGeom>
          <a:noFill/>
        </p:spPr>
        <p:txBody>
          <a:bodyPr wrap="square" lIns="0" rIns="0" tIns="0" bIns="0" anchor="t">
            <a:spAutoFit/>
          </a:bodyPr>
          <a:lstStyle/>
          <a:p>
            <a:pPr algn="l">
              <a:lnSpc>
                <a:spcPct val="120000"/>
              </a:lnSpc>
              <a:spcAft>
                <a:spcPts val="0"/>
              </a:spcAft>
            </a:pPr>
            <a:r>
              <a:rPr sz="1000" b="0">
                <a:solidFill>
                  <a:srgbClr val="55677C"/>
                </a:solidFill>
                <a:latin typeface="Calibri"/>
              </a:rPr>
              <a:t>data-analyse: instroom, aanwezigheid, ligduur</a:t>
            </a:r>
          </a:p>
        </p:txBody>
      </p:sp>
      <p:sp>
        <p:nvSpPr>
          <p:cNvPr id="15" name="Oval 14"/>
          <p:cNvSpPr/>
          <p:nvPr/>
        </p:nvSpPr>
        <p:spPr>
          <a:xfrm>
            <a:off x="909828" y="4129024"/>
            <a:ext cx="82296" cy="82296"/>
          </a:xfrm>
          <a:prstGeom prst="ellipse">
            <a:avLst/>
          </a:prstGeom>
          <a:solidFill>
            <a:srgbClr val="0E9A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33856" y="4069588"/>
            <a:ext cx="1804339" cy="364743"/>
          </a:xfrm>
          <a:prstGeom prst="rect">
            <a:avLst/>
          </a:prstGeom>
          <a:noFill/>
        </p:spPr>
        <p:txBody>
          <a:bodyPr wrap="square" lIns="0" rIns="0" tIns="0" bIns="0" anchor="t">
            <a:spAutoFit/>
          </a:bodyPr>
          <a:lstStyle/>
          <a:p>
            <a:pPr algn="l">
              <a:lnSpc>
                <a:spcPct val="120000"/>
              </a:lnSpc>
              <a:spcAft>
                <a:spcPts val="0"/>
              </a:spcAft>
            </a:pPr>
            <a:r>
              <a:rPr sz="1000" b="0">
                <a:solidFill>
                  <a:srgbClr val="55677C"/>
                </a:solidFill>
                <a:latin typeface="Calibri"/>
              </a:rPr>
              <a:t>rekenmodel op basis van de zorgvraag</a:t>
            </a:r>
          </a:p>
        </p:txBody>
      </p:sp>
      <p:sp>
        <p:nvSpPr>
          <p:cNvPr id="17" name="Oval 16"/>
          <p:cNvSpPr/>
          <p:nvPr/>
        </p:nvSpPr>
        <p:spPr>
          <a:xfrm>
            <a:off x="909828" y="4486148"/>
            <a:ext cx="82296" cy="82296"/>
          </a:xfrm>
          <a:prstGeom prst="ellipse">
            <a:avLst/>
          </a:prstGeom>
          <a:solidFill>
            <a:srgbClr val="0E9A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33856" y="4426712"/>
            <a:ext cx="1804339" cy="519684"/>
          </a:xfrm>
          <a:prstGeom prst="rect">
            <a:avLst/>
          </a:prstGeom>
          <a:noFill/>
        </p:spPr>
        <p:txBody>
          <a:bodyPr wrap="square" lIns="0" rIns="0" tIns="0" bIns="0" anchor="t">
            <a:spAutoFit/>
          </a:bodyPr>
          <a:lstStyle/>
          <a:p>
            <a:pPr algn="l">
              <a:lnSpc>
                <a:spcPct val="120000"/>
              </a:lnSpc>
              <a:spcAft>
                <a:spcPts val="0"/>
              </a:spcAft>
            </a:pPr>
            <a:r>
              <a:rPr sz="1000" b="0">
                <a:solidFill>
                  <a:srgbClr val="55677C"/>
                </a:solidFill>
                <a:latin typeface="Calibri"/>
              </a:rPr>
              <a:t>afstemmen met zorgmanager en teammanagers</a:t>
            </a:r>
          </a:p>
        </p:txBody>
      </p:sp>
      <p:sp>
        <p:nvSpPr>
          <p:cNvPr id="19" name="Oval 18"/>
          <p:cNvSpPr/>
          <p:nvPr/>
        </p:nvSpPr>
        <p:spPr>
          <a:xfrm>
            <a:off x="909828" y="4998212"/>
            <a:ext cx="82296" cy="82296"/>
          </a:xfrm>
          <a:prstGeom prst="ellipse">
            <a:avLst/>
          </a:prstGeom>
          <a:solidFill>
            <a:srgbClr val="0E9A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33856" y="4938776"/>
            <a:ext cx="1804339" cy="364743"/>
          </a:xfrm>
          <a:prstGeom prst="rect">
            <a:avLst/>
          </a:prstGeom>
          <a:noFill/>
        </p:spPr>
        <p:txBody>
          <a:bodyPr wrap="square" lIns="0" rIns="0" tIns="0" bIns="0" anchor="t">
            <a:spAutoFit/>
          </a:bodyPr>
          <a:lstStyle/>
          <a:p>
            <a:pPr algn="l">
              <a:lnSpc>
                <a:spcPct val="120000"/>
              </a:lnSpc>
              <a:spcAft>
                <a:spcPts val="0"/>
              </a:spcAft>
            </a:pPr>
            <a:r>
              <a:rPr sz="1000" b="0">
                <a:solidFill>
                  <a:srgbClr val="55677C"/>
                </a:solidFill>
                <a:latin typeface="Calibri"/>
              </a:rPr>
              <a:t>definitief advies per afdeling</a:t>
            </a:r>
          </a:p>
        </p:txBody>
      </p:sp>
      <p:sp>
        <p:nvSpPr>
          <p:cNvPr id="21" name="Right Arrow 20"/>
          <p:cNvSpPr/>
          <p:nvPr/>
        </p:nvSpPr>
        <p:spPr>
          <a:xfrm>
            <a:off x="3217087" y="2084832"/>
            <a:ext cx="173736" cy="173736"/>
          </a:xfrm>
          <a:prstGeom prst="rightArrow">
            <a:avLst/>
          </a:prstGeom>
          <a:solidFill>
            <a:srgbClr val="0E9A87">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431971" y="1700784"/>
            <a:ext cx="2535859" cy="3785615"/>
          </a:xfrm>
          <a:prstGeom prst="roundRect">
            <a:avLst>
              <a:gd name="adj" fmla="val 3000"/>
            </a:avLst>
          </a:prstGeom>
          <a:solidFill>
            <a:srgbClr val="FFFFFF"/>
          </a:solidFill>
          <a:ln w="12700">
            <a:solidFill>
              <a:srgbClr val="E2E9F1"/>
            </a:solidFill>
          </a:ln>
          <a:effectLst>
            <a:outerShdw blurRad="70000" dist="22000" dir="5400000" rotWithShape="0">
              <a:srgbClr val="1B3A5C">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ounded Rectangle 22"/>
          <p:cNvSpPr/>
          <p:nvPr/>
        </p:nvSpPr>
        <p:spPr>
          <a:xfrm>
            <a:off x="3431971" y="1700784"/>
            <a:ext cx="2535859" cy="50292"/>
          </a:xfrm>
          <a:prstGeom prst="roundRect">
            <a:avLst>
              <a:gd name="adj" fmla="val 50000"/>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3623995" y="1947672"/>
            <a:ext cx="457200" cy="457200"/>
          </a:xfrm>
          <a:prstGeom prst="ellipse">
            <a:avLst/>
          </a:prstGeom>
          <a:solidFill>
            <a:srgbClr val="1F6FB2">
              <a:alpha val="10000"/>
            </a:srgbClr>
          </a:solidFill>
          <a:ln w="15875">
            <a:solidFill>
              <a:srgbClr val="1F6FB2"/>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1F6FB2"/>
                </a:solidFill>
                <a:latin typeface="Calibri"/>
              </a:rPr>
              <a:t>02</a:t>
            </a:r>
          </a:p>
        </p:txBody>
      </p:sp>
      <p:sp>
        <p:nvSpPr>
          <p:cNvPr id="25" name="TextBox 24"/>
          <p:cNvSpPr txBox="1"/>
          <p:nvPr/>
        </p:nvSpPr>
        <p:spPr>
          <a:xfrm>
            <a:off x="3669715" y="2523744"/>
            <a:ext cx="2060371" cy="548640"/>
          </a:xfrm>
          <a:prstGeom prst="rect">
            <a:avLst/>
          </a:prstGeom>
          <a:noFill/>
        </p:spPr>
        <p:txBody>
          <a:bodyPr wrap="square" lIns="0" rIns="0" tIns="0" bIns="0" anchor="t">
            <a:spAutoFit/>
          </a:bodyPr>
          <a:lstStyle/>
          <a:p>
            <a:pPr algn="l">
              <a:lnSpc>
                <a:spcPct val="114000"/>
              </a:lnSpc>
              <a:spcAft>
                <a:spcPts val="0"/>
              </a:spcAft>
            </a:pPr>
            <a:r>
              <a:rPr sz="1550" b="1">
                <a:solidFill>
                  <a:srgbClr val="0D1B2A"/>
                </a:solidFill>
                <a:latin typeface="Calibri"/>
              </a:rPr>
              <a:t>Personele formatie</a:t>
            </a:r>
          </a:p>
        </p:txBody>
      </p:sp>
      <p:sp>
        <p:nvSpPr>
          <p:cNvPr id="26" name="Rounded Rectangle 25"/>
          <p:cNvSpPr/>
          <p:nvPr/>
        </p:nvSpPr>
        <p:spPr>
          <a:xfrm>
            <a:off x="3669715" y="3108960"/>
            <a:ext cx="2060371" cy="292608"/>
          </a:xfrm>
          <a:prstGeom prst="roundRect">
            <a:avLst>
              <a:gd name="adj" fmla="val 50000"/>
            </a:avLst>
          </a:prstGeom>
          <a:solidFill>
            <a:srgbClr val="1F6FB2">
              <a:alpha val="11000"/>
            </a:srgbClr>
          </a:solidFill>
          <a:ln w="12700">
            <a:solidFill>
              <a:srgbClr val="88B2D7"/>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r>
              <a:rPr sz="1000" b="1">
                <a:solidFill>
                  <a:srgbClr val="1F6FB2"/>
                </a:solidFill>
                <a:latin typeface="Calibri"/>
              </a:rPr>
              <a:t>fte per afdeling</a:t>
            </a:r>
          </a:p>
        </p:txBody>
      </p:sp>
      <p:cxnSp>
        <p:nvCxnSpPr>
          <p:cNvPr id="27" name="Connector 26"/>
          <p:cNvCxnSpPr/>
          <p:nvPr/>
        </p:nvCxnSpPr>
        <p:spPr>
          <a:xfrm>
            <a:off x="3669715" y="3566160"/>
            <a:ext cx="2060372" cy="0"/>
          </a:xfrm>
          <a:prstGeom prst="line">
            <a:avLst/>
          </a:prstGeom>
          <a:ln w="12700">
            <a:solidFill>
              <a:srgbClr val="E2E9F1"/>
            </a:solidFill>
          </a:ln>
        </p:spPr>
        <p:style>
          <a:lnRef idx="2">
            <a:schemeClr val="accent1"/>
          </a:lnRef>
          <a:fillRef idx="0">
            <a:schemeClr val="accent1"/>
          </a:fillRef>
          <a:effectRef idx="1">
            <a:schemeClr val="accent1"/>
          </a:effectRef>
          <a:fontRef idx="minor">
            <a:schemeClr val="tx1"/>
          </a:fontRef>
        </p:style>
      </p:cxnSp>
      <p:sp>
        <p:nvSpPr>
          <p:cNvPr id="28" name="Oval 27"/>
          <p:cNvSpPr/>
          <p:nvPr/>
        </p:nvSpPr>
        <p:spPr>
          <a:xfrm>
            <a:off x="3701719" y="3771900"/>
            <a:ext cx="82296" cy="82296"/>
          </a:xfrm>
          <a:prstGeom prst="ellipse">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925747" y="3712464"/>
            <a:ext cx="1804339" cy="364743"/>
          </a:xfrm>
          <a:prstGeom prst="rect">
            <a:avLst/>
          </a:prstGeom>
          <a:noFill/>
        </p:spPr>
        <p:txBody>
          <a:bodyPr wrap="square" lIns="0" rIns="0" tIns="0" bIns="0" anchor="t">
            <a:spAutoFit/>
          </a:bodyPr>
          <a:lstStyle/>
          <a:p>
            <a:pPr algn="l">
              <a:lnSpc>
                <a:spcPct val="120000"/>
              </a:lnSpc>
              <a:spcAft>
                <a:spcPts val="0"/>
              </a:spcAft>
            </a:pPr>
            <a:r>
              <a:rPr sz="1000" b="0">
                <a:solidFill>
                  <a:srgbClr val="55677C"/>
                </a:solidFill>
                <a:latin typeface="Calibri"/>
              </a:rPr>
              <a:t>verpleegkundige norm: dag, laat, nacht</a:t>
            </a:r>
          </a:p>
        </p:txBody>
      </p:sp>
      <p:sp>
        <p:nvSpPr>
          <p:cNvPr id="30" name="Oval 29"/>
          <p:cNvSpPr/>
          <p:nvPr/>
        </p:nvSpPr>
        <p:spPr>
          <a:xfrm>
            <a:off x="3701719" y="4232317"/>
            <a:ext cx="82296" cy="82296"/>
          </a:xfrm>
          <a:prstGeom prst="ellipse">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925747" y="4172881"/>
            <a:ext cx="1804339" cy="209803"/>
          </a:xfrm>
          <a:prstGeom prst="rect">
            <a:avLst/>
          </a:prstGeom>
          <a:noFill/>
        </p:spPr>
        <p:txBody>
          <a:bodyPr wrap="square" lIns="0" rIns="0" tIns="0" bIns="0" anchor="t">
            <a:spAutoFit/>
          </a:bodyPr>
          <a:lstStyle/>
          <a:p>
            <a:pPr algn="l">
              <a:lnSpc>
                <a:spcPct val="120000"/>
              </a:lnSpc>
              <a:spcAft>
                <a:spcPts val="0"/>
              </a:spcAft>
            </a:pPr>
            <a:r>
              <a:rPr sz="1000" b="0">
                <a:solidFill>
                  <a:srgbClr val="55677C"/>
                </a:solidFill>
                <a:latin typeface="Calibri"/>
              </a:rPr>
              <a:t>roostersleutels opstellen</a:t>
            </a:r>
          </a:p>
        </p:txBody>
      </p:sp>
      <p:sp>
        <p:nvSpPr>
          <p:cNvPr id="32" name="Oval 31"/>
          <p:cNvSpPr/>
          <p:nvPr/>
        </p:nvSpPr>
        <p:spPr>
          <a:xfrm>
            <a:off x="3701719" y="4537794"/>
            <a:ext cx="82296" cy="82296"/>
          </a:xfrm>
          <a:prstGeom prst="ellipse">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925747" y="4478358"/>
            <a:ext cx="1804339" cy="364743"/>
          </a:xfrm>
          <a:prstGeom prst="rect">
            <a:avLst/>
          </a:prstGeom>
          <a:noFill/>
        </p:spPr>
        <p:txBody>
          <a:bodyPr wrap="square" lIns="0" rIns="0" tIns="0" bIns="0" anchor="t">
            <a:spAutoFit/>
          </a:bodyPr>
          <a:lstStyle/>
          <a:p>
            <a:pPr algn="l">
              <a:lnSpc>
                <a:spcPct val="120000"/>
              </a:lnSpc>
              <a:spcAft>
                <a:spcPts val="0"/>
              </a:spcAft>
            </a:pPr>
            <a:r>
              <a:rPr sz="1000" b="0">
                <a:solidFill>
                  <a:srgbClr val="55677C"/>
                </a:solidFill>
                <a:latin typeface="Calibri"/>
              </a:rPr>
              <a:t>directe uren, daarna de indirecte uren</a:t>
            </a:r>
          </a:p>
        </p:txBody>
      </p:sp>
      <p:sp>
        <p:nvSpPr>
          <p:cNvPr id="34" name="Oval 33"/>
          <p:cNvSpPr/>
          <p:nvPr/>
        </p:nvSpPr>
        <p:spPr>
          <a:xfrm>
            <a:off x="3701719" y="4998212"/>
            <a:ext cx="82296" cy="82296"/>
          </a:xfrm>
          <a:prstGeom prst="ellipse">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925747" y="4938776"/>
            <a:ext cx="1804339" cy="364743"/>
          </a:xfrm>
          <a:prstGeom prst="rect">
            <a:avLst/>
          </a:prstGeom>
          <a:noFill/>
        </p:spPr>
        <p:txBody>
          <a:bodyPr wrap="square" lIns="0" rIns="0" tIns="0" bIns="0" anchor="t">
            <a:spAutoFit/>
          </a:bodyPr>
          <a:lstStyle/>
          <a:p>
            <a:pPr algn="l">
              <a:lnSpc>
                <a:spcPct val="120000"/>
              </a:lnSpc>
              <a:spcAft>
                <a:spcPts val="0"/>
              </a:spcAft>
            </a:pPr>
            <a:r>
              <a:rPr sz="1000" b="0">
                <a:solidFill>
                  <a:srgbClr val="55677C"/>
                </a:solidFill>
                <a:latin typeface="Calibri"/>
              </a:rPr>
              <a:t>fte-berekening per afdeling</a:t>
            </a:r>
          </a:p>
        </p:txBody>
      </p:sp>
      <p:sp>
        <p:nvSpPr>
          <p:cNvPr id="36" name="Right Arrow 35"/>
          <p:cNvSpPr/>
          <p:nvPr/>
        </p:nvSpPr>
        <p:spPr>
          <a:xfrm>
            <a:off x="6008979" y="2084832"/>
            <a:ext cx="173736" cy="173736"/>
          </a:xfrm>
          <a:prstGeom prst="rightArrow">
            <a:avLst/>
          </a:prstGeom>
          <a:solidFill>
            <a:srgbClr val="1F6FB2">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6223863" y="1700784"/>
            <a:ext cx="2535859" cy="3785615"/>
          </a:xfrm>
          <a:prstGeom prst="roundRect">
            <a:avLst>
              <a:gd name="adj" fmla="val 3000"/>
            </a:avLst>
          </a:prstGeom>
          <a:solidFill>
            <a:srgbClr val="FFFFFF"/>
          </a:solidFill>
          <a:ln w="12700">
            <a:solidFill>
              <a:srgbClr val="E2E9F1"/>
            </a:solidFill>
          </a:ln>
          <a:effectLst>
            <a:outerShdw blurRad="70000" dist="22000" dir="5400000" rotWithShape="0">
              <a:srgbClr val="1B3A5C">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ounded Rectangle 37"/>
          <p:cNvSpPr/>
          <p:nvPr/>
        </p:nvSpPr>
        <p:spPr>
          <a:xfrm>
            <a:off x="6223863" y="1700784"/>
            <a:ext cx="2535859" cy="50292"/>
          </a:xfrm>
          <a:prstGeom prst="roundRect">
            <a:avLst>
              <a:gd name="adj" fmla="val 50000"/>
            </a:avLst>
          </a:prstGeom>
          <a:solidFill>
            <a:srgbClr val="6B4B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6415887" y="1947672"/>
            <a:ext cx="457200" cy="457200"/>
          </a:xfrm>
          <a:prstGeom prst="ellipse">
            <a:avLst/>
          </a:prstGeom>
          <a:solidFill>
            <a:srgbClr val="6B4BA8">
              <a:alpha val="10000"/>
            </a:srgbClr>
          </a:solidFill>
          <a:ln w="15875">
            <a:solidFill>
              <a:srgbClr val="6B4BA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6B4BA8"/>
                </a:solidFill>
                <a:latin typeface="Calibri"/>
              </a:rPr>
              <a:t>03</a:t>
            </a:r>
          </a:p>
        </p:txBody>
      </p:sp>
      <p:sp>
        <p:nvSpPr>
          <p:cNvPr id="40" name="TextBox 39"/>
          <p:cNvSpPr txBox="1"/>
          <p:nvPr/>
        </p:nvSpPr>
        <p:spPr>
          <a:xfrm>
            <a:off x="6461607" y="2523744"/>
            <a:ext cx="2060371" cy="548640"/>
          </a:xfrm>
          <a:prstGeom prst="rect">
            <a:avLst/>
          </a:prstGeom>
          <a:noFill/>
        </p:spPr>
        <p:txBody>
          <a:bodyPr wrap="square" lIns="0" rIns="0" tIns="0" bIns="0" anchor="t">
            <a:spAutoFit/>
          </a:bodyPr>
          <a:lstStyle/>
          <a:p>
            <a:pPr algn="l">
              <a:lnSpc>
                <a:spcPct val="114000"/>
              </a:lnSpc>
              <a:spcAft>
                <a:spcPts val="0"/>
              </a:spcAft>
            </a:pPr>
            <a:r>
              <a:rPr sz="1550" b="1">
                <a:solidFill>
                  <a:srgbClr val="0D1B2A"/>
                </a:solidFill>
                <a:latin typeface="Calibri"/>
              </a:rPr>
              <a:t>Personele planning</a:t>
            </a:r>
          </a:p>
        </p:txBody>
      </p:sp>
      <p:sp>
        <p:nvSpPr>
          <p:cNvPr id="41" name="Rounded Rectangle 40"/>
          <p:cNvSpPr/>
          <p:nvPr/>
        </p:nvSpPr>
        <p:spPr>
          <a:xfrm>
            <a:off x="6461607" y="3108960"/>
            <a:ext cx="2060371" cy="292608"/>
          </a:xfrm>
          <a:prstGeom prst="roundRect">
            <a:avLst>
              <a:gd name="adj" fmla="val 50000"/>
            </a:avLst>
          </a:prstGeom>
          <a:solidFill>
            <a:srgbClr val="6B4BA8">
              <a:alpha val="11000"/>
            </a:srgbClr>
          </a:solidFill>
          <a:ln w="12700">
            <a:solidFill>
              <a:srgbClr val="AEA0D2"/>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r>
              <a:rPr sz="1000" b="1">
                <a:solidFill>
                  <a:srgbClr val="6B4BA8"/>
                </a:solidFill>
                <a:latin typeface="Calibri"/>
              </a:rPr>
              <a:t>het rooster</a:t>
            </a:r>
          </a:p>
        </p:txBody>
      </p:sp>
      <p:cxnSp>
        <p:nvCxnSpPr>
          <p:cNvPr id="42" name="Connector 41"/>
          <p:cNvCxnSpPr/>
          <p:nvPr/>
        </p:nvCxnSpPr>
        <p:spPr>
          <a:xfrm>
            <a:off x="6461607" y="3566160"/>
            <a:ext cx="2060372" cy="0"/>
          </a:xfrm>
          <a:prstGeom prst="line">
            <a:avLst/>
          </a:prstGeom>
          <a:ln w="12700">
            <a:solidFill>
              <a:srgbClr val="E2E9F1"/>
            </a:solidFill>
          </a:ln>
        </p:spPr>
        <p:style>
          <a:lnRef idx="2">
            <a:schemeClr val="accent1"/>
          </a:lnRef>
          <a:fillRef idx="0">
            <a:schemeClr val="accent1"/>
          </a:fillRef>
          <a:effectRef idx="1">
            <a:schemeClr val="accent1"/>
          </a:effectRef>
          <a:fontRef idx="minor">
            <a:schemeClr val="tx1"/>
          </a:fontRef>
        </p:style>
      </p:cxnSp>
      <p:sp>
        <p:nvSpPr>
          <p:cNvPr id="43" name="Oval 42"/>
          <p:cNvSpPr/>
          <p:nvPr/>
        </p:nvSpPr>
        <p:spPr>
          <a:xfrm>
            <a:off x="6493611" y="3771900"/>
            <a:ext cx="82296" cy="82296"/>
          </a:xfrm>
          <a:prstGeom prst="ellipse">
            <a:avLst/>
          </a:prstGeom>
          <a:solidFill>
            <a:srgbClr val="6B4B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717639" y="3712464"/>
            <a:ext cx="1804339" cy="209803"/>
          </a:xfrm>
          <a:prstGeom prst="rect">
            <a:avLst/>
          </a:prstGeom>
          <a:noFill/>
        </p:spPr>
        <p:txBody>
          <a:bodyPr wrap="square" lIns="0" rIns="0" tIns="0" bIns="0" anchor="t">
            <a:spAutoFit/>
          </a:bodyPr>
          <a:lstStyle/>
          <a:p>
            <a:pPr algn="l">
              <a:lnSpc>
                <a:spcPct val="120000"/>
              </a:lnSpc>
              <a:spcAft>
                <a:spcPts val="0"/>
              </a:spcAft>
            </a:pPr>
            <a:r>
              <a:rPr sz="1000" b="0">
                <a:solidFill>
                  <a:srgbClr val="55677C"/>
                </a:solidFill>
                <a:latin typeface="Calibri"/>
              </a:rPr>
              <a:t>urenoverzicht per afdeling</a:t>
            </a:r>
          </a:p>
        </p:txBody>
      </p:sp>
      <p:sp>
        <p:nvSpPr>
          <p:cNvPr id="45" name="Oval 44"/>
          <p:cNvSpPr/>
          <p:nvPr/>
        </p:nvSpPr>
        <p:spPr>
          <a:xfrm>
            <a:off x="6493611" y="4180670"/>
            <a:ext cx="82296" cy="82296"/>
          </a:xfrm>
          <a:prstGeom prst="ellipse">
            <a:avLst/>
          </a:prstGeom>
          <a:solidFill>
            <a:srgbClr val="6B4B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717639" y="4121234"/>
            <a:ext cx="1804339" cy="209803"/>
          </a:xfrm>
          <a:prstGeom prst="rect">
            <a:avLst/>
          </a:prstGeom>
          <a:noFill/>
        </p:spPr>
        <p:txBody>
          <a:bodyPr wrap="square" lIns="0" rIns="0" tIns="0" bIns="0" anchor="t">
            <a:spAutoFit/>
          </a:bodyPr>
          <a:lstStyle/>
          <a:p>
            <a:pPr algn="l">
              <a:lnSpc>
                <a:spcPct val="120000"/>
              </a:lnSpc>
              <a:spcAft>
                <a:spcPts val="0"/>
              </a:spcAft>
            </a:pPr>
            <a:r>
              <a:rPr sz="1000" b="0">
                <a:solidFill>
                  <a:srgbClr val="55677C"/>
                </a:solidFill>
                <a:latin typeface="Calibri"/>
              </a:rPr>
              <a:t>opbouw in Ortec</a:t>
            </a:r>
          </a:p>
        </p:txBody>
      </p:sp>
      <p:sp>
        <p:nvSpPr>
          <p:cNvPr id="47" name="Oval 46"/>
          <p:cNvSpPr/>
          <p:nvPr/>
        </p:nvSpPr>
        <p:spPr>
          <a:xfrm>
            <a:off x="6493611" y="4589441"/>
            <a:ext cx="82296" cy="82296"/>
          </a:xfrm>
          <a:prstGeom prst="ellipse">
            <a:avLst/>
          </a:prstGeom>
          <a:solidFill>
            <a:srgbClr val="6B4B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717639" y="4530005"/>
            <a:ext cx="1804339" cy="209803"/>
          </a:xfrm>
          <a:prstGeom prst="rect">
            <a:avLst/>
          </a:prstGeom>
          <a:noFill/>
        </p:spPr>
        <p:txBody>
          <a:bodyPr wrap="square" lIns="0" rIns="0" tIns="0" bIns="0" anchor="t">
            <a:spAutoFit/>
          </a:bodyPr>
          <a:lstStyle/>
          <a:p>
            <a:pPr algn="l">
              <a:lnSpc>
                <a:spcPct val="120000"/>
              </a:lnSpc>
              <a:spcAft>
                <a:spcPts val="0"/>
              </a:spcAft>
            </a:pPr>
            <a:r>
              <a:rPr sz="1000" b="0">
                <a:solidFill>
                  <a:srgbClr val="55677C"/>
                </a:solidFill>
                <a:latin typeface="Calibri"/>
              </a:rPr>
              <a:t>planning door CPP</a:t>
            </a:r>
          </a:p>
        </p:txBody>
      </p:sp>
      <p:sp>
        <p:nvSpPr>
          <p:cNvPr id="49" name="Oval 48"/>
          <p:cNvSpPr/>
          <p:nvPr/>
        </p:nvSpPr>
        <p:spPr>
          <a:xfrm>
            <a:off x="6493611" y="4998211"/>
            <a:ext cx="82296" cy="82296"/>
          </a:xfrm>
          <a:prstGeom prst="ellipse">
            <a:avLst/>
          </a:prstGeom>
          <a:solidFill>
            <a:srgbClr val="C87E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717639" y="4938775"/>
            <a:ext cx="1804339" cy="364743"/>
          </a:xfrm>
          <a:prstGeom prst="rect">
            <a:avLst/>
          </a:prstGeom>
          <a:noFill/>
        </p:spPr>
        <p:txBody>
          <a:bodyPr wrap="square" lIns="0" rIns="0" tIns="0" bIns="0" anchor="t">
            <a:spAutoFit/>
          </a:bodyPr>
          <a:lstStyle/>
          <a:p>
            <a:pPr algn="l">
              <a:lnSpc>
                <a:spcPct val="120000"/>
              </a:lnSpc>
              <a:spcAft>
                <a:spcPts val="0"/>
              </a:spcAft>
            </a:pPr>
            <a:r>
              <a:rPr sz="1000" b="0">
                <a:solidFill>
                  <a:srgbClr val="C87E12"/>
                </a:solidFill>
                <a:latin typeface="Calibri"/>
              </a:rPr>
              <a:t>verdere stappen nog niet uitgeschreven</a:t>
            </a:r>
          </a:p>
        </p:txBody>
      </p:sp>
      <p:sp>
        <p:nvSpPr>
          <p:cNvPr id="51" name="Right Arrow 50"/>
          <p:cNvSpPr/>
          <p:nvPr/>
        </p:nvSpPr>
        <p:spPr>
          <a:xfrm>
            <a:off x="8800871" y="2084832"/>
            <a:ext cx="173736" cy="173736"/>
          </a:xfrm>
          <a:prstGeom prst="rightArrow">
            <a:avLst/>
          </a:prstGeom>
          <a:solidFill>
            <a:srgbClr val="6B4BA8">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ounded Rectangle 51"/>
          <p:cNvSpPr/>
          <p:nvPr/>
        </p:nvSpPr>
        <p:spPr>
          <a:xfrm>
            <a:off x="9015755" y="1700784"/>
            <a:ext cx="2535859" cy="3785615"/>
          </a:xfrm>
          <a:prstGeom prst="roundRect">
            <a:avLst>
              <a:gd name="adj" fmla="val 3000"/>
            </a:avLst>
          </a:prstGeom>
          <a:solidFill>
            <a:srgbClr val="FFFFFF"/>
          </a:solidFill>
          <a:ln w="12700">
            <a:solidFill>
              <a:srgbClr val="E2E9F1"/>
            </a:solidFill>
          </a:ln>
          <a:effectLst>
            <a:outerShdw blurRad="70000" dist="22000" dir="5400000" rotWithShape="0">
              <a:srgbClr val="1B3A5C">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Rounded Rectangle 52"/>
          <p:cNvSpPr/>
          <p:nvPr/>
        </p:nvSpPr>
        <p:spPr>
          <a:xfrm>
            <a:off x="9015755" y="1700784"/>
            <a:ext cx="2535859" cy="50292"/>
          </a:xfrm>
          <a:prstGeom prst="roundRect">
            <a:avLst>
              <a:gd name="adj" fmla="val 50000"/>
            </a:avLst>
          </a:prstGeom>
          <a:solidFill>
            <a:srgbClr val="C87E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Oval 53"/>
          <p:cNvSpPr/>
          <p:nvPr/>
        </p:nvSpPr>
        <p:spPr>
          <a:xfrm>
            <a:off x="9207779" y="1947672"/>
            <a:ext cx="457200" cy="457200"/>
          </a:xfrm>
          <a:prstGeom prst="ellipse">
            <a:avLst/>
          </a:prstGeom>
          <a:solidFill>
            <a:srgbClr val="C87E12">
              <a:alpha val="10000"/>
            </a:srgbClr>
          </a:solidFill>
          <a:ln w="15875">
            <a:solidFill>
              <a:srgbClr val="C87E12"/>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C87E12"/>
                </a:solidFill>
                <a:latin typeface="Calibri"/>
              </a:rPr>
              <a:t>04</a:t>
            </a:r>
          </a:p>
        </p:txBody>
      </p:sp>
      <p:sp>
        <p:nvSpPr>
          <p:cNvPr id="55" name="TextBox 54"/>
          <p:cNvSpPr txBox="1"/>
          <p:nvPr/>
        </p:nvSpPr>
        <p:spPr>
          <a:xfrm>
            <a:off x="9253499" y="2523744"/>
            <a:ext cx="2060371" cy="548640"/>
          </a:xfrm>
          <a:prstGeom prst="rect">
            <a:avLst/>
          </a:prstGeom>
          <a:noFill/>
        </p:spPr>
        <p:txBody>
          <a:bodyPr wrap="square" lIns="0" rIns="0" tIns="0" bIns="0" anchor="t">
            <a:spAutoFit/>
          </a:bodyPr>
          <a:lstStyle/>
          <a:p>
            <a:pPr algn="l">
              <a:lnSpc>
                <a:spcPct val="114000"/>
              </a:lnSpc>
              <a:spcAft>
                <a:spcPts val="0"/>
              </a:spcAft>
            </a:pPr>
            <a:r>
              <a:rPr sz="1550" b="1">
                <a:solidFill>
                  <a:srgbClr val="0D1B2A"/>
                </a:solidFill>
                <a:latin typeface="Calibri"/>
              </a:rPr>
              <a:t>Financiële begroting</a:t>
            </a:r>
          </a:p>
        </p:txBody>
      </p:sp>
      <p:sp>
        <p:nvSpPr>
          <p:cNvPr id="56" name="Rounded Rectangle 55"/>
          <p:cNvSpPr/>
          <p:nvPr/>
        </p:nvSpPr>
        <p:spPr>
          <a:xfrm>
            <a:off x="9253499" y="3108960"/>
            <a:ext cx="2060371" cy="292608"/>
          </a:xfrm>
          <a:prstGeom prst="roundRect">
            <a:avLst>
              <a:gd name="adj" fmla="val 50000"/>
            </a:avLst>
          </a:prstGeom>
          <a:solidFill>
            <a:srgbClr val="C87E12">
              <a:alpha val="11000"/>
            </a:srgbClr>
          </a:solidFill>
          <a:ln w="12700">
            <a:solidFill>
              <a:srgbClr val="DCBA87"/>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r>
              <a:rPr sz="1000" b="1">
                <a:solidFill>
                  <a:srgbClr val="C87E12"/>
                </a:solidFill>
                <a:latin typeface="Calibri"/>
              </a:rPr>
              <a:t>fte-(mis)match</a:t>
            </a:r>
          </a:p>
        </p:txBody>
      </p:sp>
      <p:cxnSp>
        <p:nvCxnSpPr>
          <p:cNvPr id="57" name="Connector 56"/>
          <p:cNvCxnSpPr/>
          <p:nvPr/>
        </p:nvCxnSpPr>
        <p:spPr>
          <a:xfrm>
            <a:off x="9253499" y="3566160"/>
            <a:ext cx="2060372" cy="0"/>
          </a:xfrm>
          <a:prstGeom prst="line">
            <a:avLst/>
          </a:prstGeom>
          <a:ln w="12700">
            <a:solidFill>
              <a:srgbClr val="E2E9F1"/>
            </a:solidFill>
          </a:ln>
        </p:spPr>
        <p:style>
          <a:lnRef idx="2">
            <a:schemeClr val="accent1"/>
          </a:lnRef>
          <a:fillRef idx="0">
            <a:schemeClr val="accent1"/>
          </a:fillRef>
          <a:effectRef idx="1">
            <a:schemeClr val="accent1"/>
          </a:effectRef>
          <a:fontRef idx="minor">
            <a:schemeClr val="tx1"/>
          </a:fontRef>
        </p:style>
      </p:cxnSp>
      <p:sp>
        <p:nvSpPr>
          <p:cNvPr id="58" name="Oval 57"/>
          <p:cNvSpPr/>
          <p:nvPr/>
        </p:nvSpPr>
        <p:spPr>
          <a:xfrm>
            <a:off x="9285503" y="3771900"/>
            <a:ext cx="82296" cy="82296"/>
          </a:xfrm>
          <a:prstGeom prst="ellipse">
            <a:avLst/>
          </a:prstGeom>
          <a:solidFill>
            <a:srgbClr val="C87E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9509531" y="3712464"/>
            <a:ext cx="1804339" cy="364743"/>
          </a:xfrm>
          <a:prstGeom prst="rect">
            <a:avLst/>
          </a:prstGeom>
          <a:noFill/>
        </p:spPr>
        <p:txBody>
          <a:bodyPr wrap="square" lIns="0" rIns="0" tIns="0" bIns="0" anchor="t">
            <a:spAutoFit/>
          </a:bodyPr>
          <a:lstStyle/>
          <a:p>
            <a:pPr algn="l">
              <a:lnSpc>
                <a:spcPct val="120000"/>
              </a:lnSpc>
              <a:spcAft>
                <a:spcPts val="0"/>
              </a:spcAft>
            </a:pPr>
            <a:r>
              <a:rPr sz="1000" b="0">
                <a:solidFill>
                  <a:srgbClr val="55677C"/>
                </a:solidFill>
                <a:latin typeface="Calibri"/>
              </a:rPr>
              <a:t>bruto arbeidsduur volgens de cao</a:t>
            </a:r>
          </a:p>
        </p:txBody>
      </p:sp>
      <p:sp>
        <p:nvSpPr>
          <p:cNvPr id="60" name="Oval 59"/>
          <p:cNvSpPr/>
          <p:nvPr/>
        </p:nvSpPr>
        <p:spPr>
          <a:xfrm>
            <a:off x="9285503" y="4232317"/>
            <a:ext cx="82296" cy="82296"/>
          </a:xfrm>
          <a:prstGeom prst="ellipse">
            <a:avLst/>
          </a:prstGeom>
          <a:solidFill>
            <a:srgbClr val="C87E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9509531" y="4172881"/>
            <a:ext cx="1804339" cy="364743"/>
          </a:xfrm>
          <a:prstGeom prst="rect">
            <a:avLst/>
          </a:prstGeom>
          <a:noFill/>
        </p:spPr>
        <p:txBody>
          <a:bodyPr wrap="square" lIns="0" rIns="0" tIns="0" bIns="0" anchor="t">
            <a:spAutoFit/>
          </a:bodyPr>
          <a:lstStyle/>
          <a:p>
            <a:pPr algn="l">
              <a:lnSpc>
                <a:spcPct val="120000"/>
              </a:lnSpc>
              <a:spcAft>
                <a:spcPts val="0"/>
              </a:spcAft>
            </a:pPr>
            <a:r>
              <a:rPr sz="1000" b="0">
                <a:solidFill>
                  <a:srgbClr val="55677C"/>
                </a:solidFill>
                <a:latin typeface="Calibri"/>
              </a:rPr>
              <a:t>afwezigheid eraf: netto inzetbaarheid</a:t>
            </a:r>
          </a:p>
        </p:txBody>
      </p:sp>
      <p:sp>
        <p:nvSpPr>
          <p:cNvPr id="62" name="Oval 61"/>
          <p:cNvSpPr/>
          <p:nvPr/>
        </p:nvSpPr>
        <p:spPr>
          <a:xfrm>
            <a:off x="9285503" y="4692734"/>
            <a:ext cx="82296" cy="82296"/>
          </a:xfrm>
          <a:prstGeom prst="ellipse">
            <a:avLst/>
          </a:prstGeom>
          <a:solidFill>
            <a:srgbClr val="C87E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9509531" y="4633298"/>
            <a:ext cx="1804339" cy="209803"/>
          </a:xfrm>
          <a:prstGeom prst="rect">
            <a:avLst/>
          </a:prstGeom>
          <a:noFill/>
        </p:spPr>
        <p:txBody>
          <a:bodyPr wrap="square" lIns="0" rIns="0" tIns="0" bIns="0" anchor="t">
            <a:spAutoFit/>
          </a:bodyPr>
          <a:lstStyle/>
          <a:p>
            <a:pPr algn="l">
              <a:lnSpc>
                <a:spcPct val="120000"/>
              </a:lnSpc>
              <a:spcAft>
                <a:spcPts val="0"/>
              </a:spcAft>
            </a:pPr>
            <a:r>
              <a:rPr sz="1000" b="0">
                <a:solidFill>
                  <a:srgbClr val="55677C"/>
                </a:solidFill>
                <a:latin typeface="Calibri"/>
              </a:rPr>
              <a:t>benodigde uren vanuit BIC</a:t>
            </a:r>
          </a:p>
        </p:txBody>
      </p:sp>
      <p:sp>
        <p:nvSpPr>
          <p:cNvPr id="64" name="Oval 63"/>
          <p:cNvSpPr/>
          <p:nvPr/>
        </p:nvSpPr>
        <p:spPr>
          <a:xfrm>
            <a:off x="9285503" y="4998212"/>
            <a:ext cx="82296" cy="82296"/>
          </a:xfrm>
          <a:prstGeom prst="ellipse">
            <a:avLst/>
          </a:prstGeom>
          <a:solidFill>
            <a:srgbClr val="C87E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509531" y="4938776"/>
            <a:ext cx="1804339" cy="364743"/>
          </a:xfrm>
          <a:prstGeom prst="rect">
            <a:avLst/>
          </a:prstGeom>
          <a:noFill/>
        </p:spPr>
        <p:txBody>
          <a:bodyPr wrap="square" lIns="0" rIns="0" tIns="0" bIns="0" anchor="t">
            <a:spAutoFit/>
          </a:bodyPr>
          <a:lstStyle/>
          <a:p>
            <a:pPr algn="l">
              <a:lnSpc>
                <a:spcPct val="120000"/>
              </a:lnSpc>
              <a:spcAft>
                <a:spcPts val="0"/>
              </a:spcAft>
            </a:pPr>
            <a:r>
              <a:rPr sz="1000" b="0">
                <a:solidFill>
                  <a:srgbClr val="55677C"/>
                </a:solidFill>
                <a:latin typeface="Calibri"/>
              </a:rPr>
              <a:t>beschikbaar naast benodigd</a:t>
            </a:r>
          </a:p>
        </p:txBody>
      </p:sp>
      <p:sp>
        <p:nvSpPr>
          <p:cNvPr id="66" name="Rounded Rectangle 65"/>
          <p:cNvSpPr/>
          <p:nvPr/>
        </p:nvSpPr>
        <p:spPr>
          <a:xfrm>
            <a:off x="640080" y="5632704"/>
            <a:ext cx="10911535" cy="566928"/>
          </a:xfrm>
          <a:prstGeom prst="roundRect">
            <a:avLst>
              <a:gd name="adj" fmla="val 3000"/>
            </a:avLst>
          </a:prstGeom>
          <a:solidFill>
            <a:srgbClr val="EDEAE5"/>
          </a:solidFill>
          <a:ln w="15875">
            <a:solidFill>
              <a:srgbClr val="E1C8A3"/>
            </a:solidFill>
          </a:ln>
          <a:effectLst>
            <a:outerShdw blurRad="60000" dist="18000" dir="5400000" rotWithShape="0">
              <a:srgbClr val="1B3A5C">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Rounded Rectangle 66"/>
          <p:cNvSpPr/>
          <p:nvPr/>
        </p:nvSpPr>
        <p:spPr>
          <a:xfrm>
            <a:off x="640080" y="5632704"/>
            <a:ext cx="50292" cy="566928"/>
          </a:xfrm>
          <a:prstGeom prst="roundRect">
            <a:avLst>
              <a:gd name="adj" fmla="val 50000"/>
            </a:avLst>
          </a:prstGeom>
          <a:solidFill>
            <a:srgbClr val="C87E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TextBox 67"/>
          <p:cNvSpPr txBox="1"/>
          <p:nvPr/>
        </p:nvSpPr>
        <p:spPr>
          <a:xfrm>
            <a:off x="969264" y="5715000"/>
            <a:ext cx="9997135" cy="402336"/>
          </a:xfrm>
          <a:prstGeom prst="rect">
            <a:avLst/>
          </a:prstGeom>
          <a:noFill/>
        </p:spPr>
        <p:txBody>
          <a:bodyPr wrap="square" lIns="0" rIns="0" tIns="0" bIns="0" anchor="ctr">
            <a:spAutoFit/>
          </a:bodyPr>
          <a:lstStyle/>
          <a:p>
            <a:pPr algn="l">
              <a:lnSpc>
                <a:spcPct val="120000"/>
              </a:lnSpc>
              <a:spcAft>
                <a:spcPts val="300"/>
              </a:spcAft>
            </a:pPr>
            <a:r>
              <a:rPr sz="700" b="1" spc="180">
                <a:solidFill>
                  <a:srgbClr val="C87E12"/>
                </a:solidFill>
                <a:latin typeface="Calibri"/>
              </a:rPr>
              <a:t>WAAR HET NU STOKT</a:t>
            </a:r>
          </a:p>
          <a:p>
            <a:pPr algn="l">
              <a:lnSpc>
                <a:spcPct val="120000"/>
              </a:lnSpc>
              <a:spcAft>
                <a:spcPts val="0"/>
              </a:spcAft>
            </a:pPr>
            <a:r>
              <a:rPr sz="850" b="1">
                <a:solidFill>
                  <a:srgbClr val="0D1B2A"/>
                </a:solidFill>
                <a:latin typeface="Calibri"/>
              </a:rPr>
              <a:t>Stap 02 kan niet af: de verpleegkundige norm ligt alleen op de ICU vast en de indirecte uren zijn niet vastgesteld. Zonder die twee staat ook stap 03 stil.</a:t>
            </a:r>
          </a:p>
        </p:txBody>
      </p:sp>
      <p:cxnSp>
        <p:nvCxnSpPr>
          <p:cNvPr id="69" name="Connector 68"/>
          <p:cNvCxnSpPr/>
          <p:nvPr/>
        </p:nvCxnSpPr>
        <p:spPr>
          <a:xfrm>
            <a:off x="640080" y="6291072"/>
            <a:ext cx="10911535" cy="0"/>
          </a:xfrm>
          <a:prstGeom prst="line">
            <a:avLst/>
          </a:prstGeom>
          <a:ln w="9525">
            <a:solidFill>
              <a:srgbClr val="E2E9F1"/>
            </a:solidFill>
          </a:ln>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640080" y="6382512"/>
            <a:ext cx="5486400" cy="237744"/>
          </a:xfrm>
          <a:prstGeom prst="rect">
            <a:avLst/>
          </a:prstGeom>
          <a:noFill/>
        </p:spPr>
        <p:txBody>
          <a:bodyPr wrap="square" lIns="0" rIns="0" tIns="0" bIns="0" anchor="t">
            <a:spAutoFit/>
          </a:bodyPr>
          <a:lstStyle/>
          <a:p>
            <a:pPr algn="l">
              <a:lnSpc>
                <a:spcPct val="120000"/>
              </a:lnSpc>
              <a:spcAft>
                <a:spcPts val="0"/>
              </a:spcAft>
            </a:pPr>
            <a:r>
              <a:rPr sz="900" b="0" spc="80">
                <a:solidFill>
                  <a:srgbClr val="8B9AAA"/>
                </a:solidFill>
                <a:latin typeface="Calibri"/>
              </a:rPr>
              <a:t>Acute poort en Hotfloor</a:t>
            </a:r>
          </a:p>
        </p:txBody>
      </p:sp>
      <p:sp>
        <p:nvSpPr>
          <p:cNvPr id="71" name="TextBox 70"/>
          <p:cNvSpPr txBox="1"/>
          <p:nvPr/>
        </p:nvSpPr>
        <p:spPr>
          <a:xfrm>
            <a:off x="10637215" y="6382512"/>
            <a:ext cx="914400" cy="237744"/>
          </a:xfrm>
          <a:prstGeom prst="rect">
            <a:avLst/>
          </a:prstGeom>
          <a:noFill/>
        </p:spPr>
        <p:txBody>
          <a:bodyPr wrap="square" lIns="0" rIns="0" tIns="0" bIns="0" anchor="t">
            <a:spAutoFit/>
          </a:bodyPr>
          <a:lstStyle/>
          <a:p>
            <a:pPr algn="r">
              <a:lnSpc>
                <a:spcPct val="120000"/>
              </a:lnSpc>
              <a:spcAft>
                <a:spcPts val="0"/>
              </a:spcAft>
            </a:pPr>
            <a:r>
              <a:rPr sz="950" b="1">
                <a:solidFill>
                  <a:srgbClr val="0E9A87"/>
                </a:solidFill>
                <a:latin typeface="Calibri"/>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FFFFFF"/>
              </a:gs>
              <a:gs pos="100000">
                <a:srgbClr val="F1F6FC"/>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566928"/>
            <a:ext cx="10911535" cy="219456"/>
          </a:xfrm>
          <a:prstGeom prst="rect">
            <a:avLst/>
          </a:prstGeom>
          <a:noFill/>
        </p:spPr>
        <p:txBody>
          <a:bodyPr wrap="square" lIns="0" rIns="0" tIns="0" bIns="0" anchor="t">
            <a:spAutoFit/>
          </a:bodyPr>
          <a:lstStyle/>
          <a:p>
            <a:pPr algn="l">
              <a:lnSpc>
                <a:spcPct val="120000"/>
              </a:lnSpc>
              <a:spcAft>
                <a:spcPts val="0"/>
              </a:spcAft>
            </a:pPr>
            <a:r>
              <a:rPr sz="1050" b="1" spc="220">
                <a:solidFill>
                  <a:srgbClr val="1F6FB2"/>
                </a:solidFill>
                <a:latin typeface="Calibri"/>
              </a:rPr>
              <a:t>PROCES  ·  STRATEGISCH CAPACITEITSJAARPLAN</a:t>
            </a:r>
          </a:p>
        </p:txBody>
      </p:sp>
      <p:sp>
        <p:nvSpPr>
          <p:cNvPr id="4" name="TextBox 3"/>
          <p:cNvSpPr txBox="1"/>
          <p:nvPr/>
        </p:nvSpPr>
        <p:spPr>
          <a:xfrm>
            <a:off x="640080" y="859536"/>
            <a:ext cx="10911535" cy="566928"/>
          </a:xfrm>
          <a:prstGeom prst="rect">
            <a:avLst/>
          </a:prstGeom>
          <a:noFill/>
        </p:spPr>
        <p:txBody>
          <a:bodyPr wrap="square" lIns="0" rIns="0" tIns="0" bIns="0" anchor="t">
            <a:spAutoFit/>
          </a:bodyPr>
          <a:lstStyle/>
          <a:p>
            <a:pPr algn="l">
              <a:lnSpc>
                <a:spcPct val="120000"/>
              </a:lnSpc>
              <a:spcAft>
                <a:spcPts val="0"/>
              </a:spcAft>
            </a:pPr>
            <a:r>
              <a:rPr sz="3400" b="1">
                <a:solidFill>
                  <a:srgbClr val="0D1B2A"/>
                </a:solidFill>
                <a:latin typeface="Calibri"/>
              </a:rPr>
              <a:t>Formatieberekening</a:t>
            </a:r>
          </a:p>
        </p:txBody>
      </p:sp>
      <p:sp>
        <p:nvSpPr>
          <p:cNvPr id="5" name="TextBox 4"/>
          <p:cNvSpPr txBox="1"/>
          <p:nvPr/>
        </p:nvSpPr>
        <p:spPr>
          <a:xfrm>
            <a:off x="640080" y="1335024"/>
            <a:ext cx="8510997" cy="274320"/>
          </a:xfrm>
          <a:prstGeom prst="rect">
            <a:avLst/>
          </a:prstGeom>
          <a:noFill/>
        </p:spPr>
        <p:txBody>
          <a:bodyPr wrap="square" lIns="0" rIns="0" tIns="0" bIns="0" anchor="t">
            <a:spAutoFit/>
          </a:bodyPr>
          <a:lstStyle/>
          <a:p>
            <a:pPr algn="l">
              <a:lnSpc>
                <a:spcPct val="120000"/>
              </a:lnSpc>
              <a:spcAft>
                <a:spcPts val="0"/>
              </a:spcAft>
            </a:pPr>
            <a:r>
              <a:rPr sz="1300" b="0">
                <a:solidFill>
                  <a:srgbClr val="55677C"/>
                </a:solidFill>
                <a:latin typeface="Calibri"/>
              </a:rPr>
              <a:t>Voorbeeld radiologie — van bruto arbeidsduur naar de fte-(mis)match</a:t>
            </a:r>
          </a:p>
        </p:txBody>
      </p:sp>
      <p:cxnSp>
        <p:nvCxnSpPr>
          <p:cNvPr id="6" name="Connector 5"/>
          <p:cNvCxnSpPr/>
          <p:nvPr/>
        </p:nvCxnSpPr>
        <p:spPr>
          <a:xfrm>
            <a:off x="640080" y="1609344"/>
            <a:ext cx="10911535" cy="0"/>
          </a:xfrm>
          <a:prstGeom prst="line">
            <a:avLst/>
          </a:prstGeom>
          <a:ln w="12700">
            <a:solidFill>
              <a:srgbClr val="E2E9F1"/>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640080" y="1700784"/>
            <a:ext cx="2021372" cy="932688"/>
          </a:xfrm>
          <a:prstGeom prst="roundRect">
            <a:avLst>
              <a:gd name="adj" fmla="val 3000"/>
            </a:avLst>
          </a:prstGeom>
          <a:solidFill>
            <a:srgbClr val="D6EBEE"/>
          </a:solidFill>
          <a:ln w="15875">
            <a:solidFill>
              <a:srgbClr val="9BD3D0"/>
            </a:solidFill>
          </a:ln>
          <a:effectLst>
            <a:outerShdw blurRad="60000" dist="18000" dir="5400000" rotWithShape="0">
              <a:srgbClr val="1B3A5C">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04671" y="1828800"/>
            <a:ext cx="1692188" cy="310896"/>
          </a:xfrm>
          <a:prstGeom prst="rect">
            <a:avLst/>
          </a:prstGeom>
          <a:noFill/>
        </p:spPr>
        <p:txBody>
          <a:bodyPr wrap="square" lIns="0" rIns="0" tIns="0" bIns="0" anchor="t">
            <a:spAutoFit/>
          </a:bodyPr>
          <a:lstStyle/>
          <a:p>
            <a:pPr algn="ctr">
              <a:lnSpc>
                <a:spcPct val="120000"/>
              </a:lnSpc>
              <a:spcAft>
                <a:spcPts val="0"/>
              </a:spcAft>
            </a:pPr>
            <a:r>
              <a:rPr sz="1650" b="1">
                <a:solidFill>
                  <a:srgbClr val="0E9A87"/>
                </a:solidFill>
                <a:latin typeface="Calibri"/>
              </a:rPr>
              <a:t>Bruto</a:t>
            </a:r>
          </a:p>
        </p:txBody>
      </p:sp>
      <p:sp>
        <p:nvSpPr>
          <p:cNvPr id="9" name="TextBox 8"/>
          <p:cNvSpPr txBox="1"/>
          <p:nvPr/>
        </p:nvSpPr>
        <p:spPr>
          <a:xfrm>
            <a:off x="804671" y="2212848"/>
            <a:ext cx="1692188" cy="310896"/>
          </a:xfrm>
          <a:prstGeom prst="rect">
            <a:avLst/>
          </a:prstGeom>
          <a:noFill/>
        </p:spPr>
        <p:txBody>
          <a:bodyPr wrap="square" lIns="0" rIns="0" tIns="0" bIns="0" anchor="t">
            <a:spAutoFit/>
          </a:bodyPr>
          <a:lstStyle/>
          <a:p>
            <a:pPr algn="ctr">
              <a:lnSpc>
                <a:spcPct val="116000"/>
              </a:lnSpc>
              <a:spcAft>
                <a:spcPts val="0"/>
              </a:spcAft>
            </a:pPr>
            <a:r>
              <a:rPr sz="950" b="0">
                <a:solidFill>
                  <a:srgbClr val="55677C"/>
                </a:solidFill>
                <a:latin typeface="Calibri"/>
              </a:rPr>
              <a:t>vanuit HR en F&amp;C</a:t>
            </a:r>
          </a:p>
        </p:txBody>
      </p:sp>
      <p:sp>
        <p:nvSpPr>
          <p:cNvPr id="10" name="Right Arrow 9"/>
          <p:cNvSpPr/>
          <p:nvPr/>
        </p:nvSpPr>
        <p:spPr>
          <a:xfrm>
            <a:off x="2684312" y="2084832"/>
            <a:ext cx="155448" cy="155448"/>
          </a:xfrm>
          <a:prstGeom prst="rightArrow">
            <a:avLst/>
          </a:prstGeom>
          <a:solidFill>
            <a:srgbClr val="0E9A87">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862620" y="1700784"/>
            <a:ext cx="2021372" cy="932688"/>
          </a:xfrm>
          <a:prstGeom prst="roundRect">
            <a:avLst>
              <a:gd name="adj" fmla="val 3000"/>
            </a:avLst>
          </a:prstGeom>
          <a:solidFill>
            <a:srgbClr val="ECE8E0"/>
          </a:solidFill>
          <a:ln w="15875">
            <a:solidFill>
              <a:srgbClr val="E1C8A3"/>
            </a:solidFill>
          </a:ln>
          <a:effectLst>
            <a:outerShdw blurRad="60000" dist="18000" dir="5400000" rotWithShape="0">
              <a:srgbClr val="1B3A5C">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3027212" y="1828800"/>
            <a:ext cx="1692188" cy="310896"/>
          </a:xfrm>
          <a:prstGeom prst="rect">
            <a:avLst/>
          </a:prstGeom>
          <a:noFill/>
        </p:spPr>
        <p:txBody>
          <a:bodyPr wrap="square" lIns="0" rIns="0" tIns="0" bIns="0" anchor="t">
            <a:spAutoFit/>
          </a:bodyPr>
          <a:lstStyle/>
          <a:p>
            <a:pPr algn="ctr">
              <a:lnSpc>
                <a:spcPct val="120000"/>
              </a:lnSpc>
              <a:spcAft>
                <a:spcPts val="0"/>
              </a:spcAft>
            </a:pPr>
            <a:r>
              <a:rPr sz="1650" b="1">
                <a:solidFill>
                  <a:srgbClr val="C87E12"/>
                </a:solidFill>
                <a:latin typeface="Calibri"/>
              </a:rPr>
              <a:t>Afwezigheid</a:t>
            </a:r>
          </a:p>
        </p:txBody>
      </p:sp>
      <p:sp>
        <p:nvSpPr>
          <p:cNvPr id="13" name="TextBox 12"/>
          <p:cNvSpPr txBox="1"/>
          <p:nvPr/>
        </p:nvSpPr>
        <p:spPr>
          <a:xfrm>
            <a:off x="3027212" y="2212848"/>
            <a:ext cx="1692188" cy="310896"/>
          </a:xfrm>
          <a:prstGeom prst="rect">
            <a:avLst/>
          </a:prstGeom>
          <a:noFill/>
        </p:spPr>
        <p:txBody>
          <a:bodyPr wrap="square" lIns="0" rIns="0" tIns="0" bIns="0" anchor="t">
            <a:spAutoFit/>
          </a:bodyPr>
          <a:lstStyle/>
          <a:p>
            <a:pPr algn="ctr">
              <a:lnSpc>
                <a:spcPct val="116000"/>
              </a:lnSpc>
              <a:spcAft>
                <a:spcPts val="0"/>
              </a:spcAft>
            </a:pPr>
            <a:r>
              <a:rPr sz="950" b="0">
                <a:solidFill>
                  <a:srgbClr val="55677C"/>
                </a:solidFill>
                <a:latin typeface="Calibri"/>
              </a:rPr>
              <a:t>vanuit HR en F&amp;C</a:t>
            </a:r>
          </a:p>
        </p:txBody>
      </p:sp>
      <p:sp>
        <p:nvSpPr>
          <p:cNvPr id="14" name="Right Arrow 13"/>
          <p:cNvSpPr/>
          <p:nvPr/>
        </p:nvSpPr>
        <p:spPr>
          <a:xfrm>
            <a:off x="4906853" y="2084832"/>
            <a:ext cx="155448" cy="155448"/>
          </a:xfrm>
          <a:prstGeom prst="rightArrow">
            <a:avLst/>
          </a:prstGeom>
          <a:solidFill>
            <a:srgbClr val="C87E12">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085161" y="1700784"/>
            <a:ext cx="2021372" cy="932688"/>
          </a:xfrm>
          <a:prstGeom prst="roundRect">
            <a:avLst>
              <a:gd name="adj" fmla="val 3000"/>
            </a:avLst>
          </a:prstGeom>
          <a:solidFill>
            <a:srgbClr val="D8E6F3"/>
          </a:solidFill>
          <a:ln w="15875">
            <a:solidFill>
              <a:srgbClr val="A1C3E0"/>
            </a:solidFill>
          </a:ln>
          <a:effectLst>
            <a:outerShdw blurRad="60000" dist="18000" dir="5400000" rotWithShape="0">
              <a:srgbClr val="1B3A5C">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249753" y="1828800"/>
            <a:ext cx="1692188" cy="310896"/>
          </a:xfrm>
          <a:prstGeom prst="rect">
            <a:avLst/>
          </a:prstGeom>
          <a:noFill/>
        </p:spPr>
        <p:txBody>
          <a:bodyPr wrap="square" lIns="0" rIns="0" tIns="0" bIns="0" anchor="t">
            <a:spAutoFit/>
          </a:bodyPr>
          <a:lstStyle/>
          <a:p>
            <a:pPr algn="ctr">
              <a:lnSpc>
                <a:spcPct val="120000"/>
              </a:lnSpc>
              <a:spcAft>
                <a:spcPts val="0"/>
              </a:spcAft>
            </a:pPr>
            <a:r>
              <a:rPr sz="1650" b="1">
                <a:solidFill>
                  <a:srgbClr val="1F6FB2"/>
                </a:solidFill>
                <a:latin typeface="Calibri"/>
              </a:rPr>
              <a:t>Netto</a:t>
            </a:r>
          </a:p>
        </p:txBody>
      </p:sp>
      <p:sp>
        <p:nvSpPr>
          <p:cNvPr id="17" name="TextBox 16"/>
          <p:cNvSpPr txBox="1"/>
          <p:nvPr/>
        </p:nvSpPr>
        <p:spPr>
          <a:xfrm>
            <a:off x="5249753" y="2212848"/>
            <a:ext cx="1692188" cy="310896"/>
          </a:xfrm>
          <a:prstGeom prst="rect">
            <a:avLst/>
          </a:prstGeom>
          <a:noFill/>
        </p:spPr>
        <p:txBody>
          <a:bodyPr wrap="square" lIns="0" rIns="0" tIns="0" bIns="0" anchor="t">
            <a:spAutoFit/>
          </a:bodyPr>
          <a:lstStyle/>
          <a:p>
            <a:pPr algn="ctr">
              <a:lnSpc>
                <a:spcPct val="116000"/>
              </a:lnSpc>
              <a:spcAft>
                <a:spcPts val="0"/>
              </a:spcAft>
            </a:pPr>
            <a:r>
              <a:rPr sz="950" b="0">
                <a:solidFill>
                  <a:srgbClr val="55677C"/>
                </a:solidFill>
                <a:latin typeface="Calibri"/>
              </a:rPr>
              <a:t>bruto min afwezigheid</a:t>
            </a:r>
          </a:p>
        </p:txBody>
      </p:sp>
      <p:sp>
        <p:nvSpPr>
          <p:cNvPr id="18" name="Right Arrow 17"/>
          <p:cNvSpPr/>
          <p:nvPr/>
        </p:nvSpPr>
        <p:spPr>
          <a:xfrm>
            <a:off x="7129393" y="2084832"/>
            <a:ext cx="155448" cy="155448"/>
          </a:xfrm>
          <a:prstGeom prst="rightArrow">
            <a:avLst/>
          </a:prstGeom>
          <a:solidFill>
            <a:srgbClr val="1F6FB2">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307701" y="1700784"/>
            <a:ext cx="2021372" cy="932688"/>
          </a:xfrm>
          <a:prstGeom prst="roundRect">
            <a:avLst>
              <a:gd name="adj" fmla="val 3000"/>
            </a:avLst>
          </a:prstGeom>
          <a:solidFill>
            <a:srgbClr val="E1E1F2"/>
          </a:solidFill>
          <a:ln w="15875">
            <a:solidFill>
              <a:srgbClr val="BEB5DC"/>
            </a:solidFill>
          </a:ln>
          <a:effectLst>
            <a:outerShdw blurRad="60000" dist="18000" dir="5400000" rotWithShape="0">
              <a:srgbClr val="1B3A5C">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472293" y="1828800"/>
            <a:ext cx="1692188" cy="310896"/>
          </a:xfrm>
          <a:prstGeom prst="rect">
            <a:avLst/>
          </a:prstGeom>
          <a:noFill/>
        </p:spPr>
        <p:txBody>
          <a:bodyPr wrap="square" lIns="0" rIns="0" tIns="0" bIns="0" anchor="t">
            <a:spAutoFit/>
          </a:bodyPr>
          <a:lstStyle/>
          <a:p>
            <a:pPr algn="ctr">
              <a:lnSpc>
                <a:spcPct val="120000"/>
              </a:lnSpc>
              <a:spcAft>
                <a:spcPts val="0"/>
              </a:spcAft>
            </a:pPr>
            <a:r>
              <a:rPr sz="1650" b="1">
                <a:solidFill>
                  <a:srgbClr val="6B4BA8"/>
                </a:solidFill>
                <a:latin typeface="Calibri"/>
              </a:rPr>
              <a:t>Benodigd</a:t>
            </a:r>
          </a:p>
        </p:txBody>
      </p:sp>
      <p:sp>
        <p:nvSpPr>
          <p:cNvPr id="21" name="TextBox 20"/>
          <p:cNvSpPr txBox="1"/>
          <p:nvPr/>
        </p:nvSpPr>
        <p:spPr>
          <a:xfrm>
            <a:off x="7472293" y="2212848"/>
            <a:ext cx="1692188" cy="310896"/>
          </a:xfrm>
          <a:prstGeom prst="rect">
            <a:avLst/>
          </a:prstGeom>
          <a:noFill/>
        </p:spPr>
        <p:txBody>
          <a:bodyPr wrap="square" lIns="0" rIns="0" tIns="0" bIns="0" anchor="t">
            <a:spAutoFit/>
          </a:bodyPr>
          <a:lstStyle/>
          <a:p>
            <a:pPr algn="ctr">
              <a:lnSpc>
                <a:spcPct val="116000"/>
              </a:lnSpc>
              <a:spcAft>
                <a:spcPts val="0"/>
              </a:spcAft>
            </a:pPr>
            <a:r>
              <a:rPr sz="950" b="0">
                <a:solidFill>
                  <a:srgbClr val="55677C"/>
                </a:solidFill>
                <a:latin typeface="Calibri"/>
              </a:rPr>
              <a:t>vanuit BIC</a:t>
            </a:r>
          </a:p>
        </p:txBody>
      </p:sp>
      <p:sp>
        <p:nvSpPr>
          <p:cNvPr id="22" name="Right Arrow 21"/>
          <p:cNvSpPr/>
          <p:nvPr/>
        </p:nvSpPr>
        <p:spPr>
          <a:xfrm>
            <a:off x="9351934" y="2084832"/>
            <a:ext cx="155448" cy="155448"/>
          </a:xfrm>
          <a:prstGeom prst="rightArrow">
            <a:avLst/>
          </a:prstGeom>
          <a:solidFill>
            <a:srgbClr val="6B4BA8">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530242" y="1700784"/>
            <a:ext cx="2021372" cy="932688"/>
          </a:xfrm>
          <a:prstGeom prst="roundRect">
            <a:avLst>
              <a:gd name="adj" fmla="val 3000"/>
            </a:avLst>
          </a:prstGeom>
          <a:solidFill>
            <a:srgbClr val="ECDFE3"/>
          </a:solidFill>
          <a:ln w="15875">
            <a:solidFill>
              <a:srgbClr val="E0AEAD"/>
            </a:solidFill>
          </a:ln>
          <a:effectLst>
            <a:outerShdw blurRad="60000" dist="18000" dir="5400000" rotWithShape="0">
              <a:srgbClr val="1B3A5C">
                <a:alpha val="7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9694834" y="1828800"/>
            <a:ext cx="1692188" cy="310896"/>
          </a:xfrm>
          <a:prstGeom prst="rect">
            <a:avLst/>
          </a:prstGeom>
          <a:noFill/>
        </p:spPr>
        <p:txBody>
          <a:bodyPr wrap="square" lIns="0" rIns="0" tIns="0" bIns="0" anchor="t">
            <a:spAutoFit/>
          </a:bodyPr>
          <a:lstStyle/>
          <a:p>
            <a:pPr algn="ctr">
              <a:lnSpc>
                <a:spcPct val="120000"/>
              </a:lnSpc>
              <a:spcAft>
                <a:spcPts val="0"/>
              </a:spcAft>
            </a:pPr>
            <a:r>
              <a:rPr sz="1650" b="1">
                <a:solidFill>
                  <a:srgbClr val="C4392D"/>
                </a:solidFill>
                <a:latin typeface="Calibri"/>
              </a:rPr>
              <a:t>Resultaat</a:t>
            </a:r>
          </a:p>
        </p:txBody>
      </p:sp>
      <p:sp>
        <p:nvSpPr>
          <p:cNvPr id="25" name="TextBox 24"/>
          <p:cNvSpPr txBox="1"/>
          <p:nvPr/>
        </p:nvSpPr>
        <p:spPr>
          <a:xfrm>
            <a:off x="9694834" y="2212848"/>
            <a:ext cx="1692188" cy="310896"/>
          </a:xfrm>
          <a:prstGeom prst="rect">
            <a:avLst/>
          </a:prstGeom>
          <a:noFill/>
        </p:spPr>
        <p:txBody>
          <a:bodyPr wrap="square" lIns="0" rIns="0" tIns="0" bIns="0" anchor="t">
            <a:spAutoFit/>
          </a:bodyPr>
          <a:lstStyle/>
          <a:p>
            <a:pPr algn="ctr">
              <a:lnSpc>
                <a:spcPct val="116000"/>
              </a:lnSpc>
              <a:spcAft>
                <a:spcPts val="0"/>
              </a:spcAft>
            </a:pPr>
            <a:r>
              <a:rPr sz="950" b="0">
                <a:solidFill>
                  <a:srgbClr val="55677C"/>
                </a:solidFill>
                <a:latin typeface="Calibri"/>
              </a:rPr>
              <a:t>naar de begroting</a:t>
            </a:r>
          </a:p>
        </p:txBody>
      </p:sp>
      <p:sp>
        <p:nvSpPr>
          <p:cNvPr id="26" name="Rounded Rectangle 25"/>
          <p:cNvSpPr/>
          <p:nvPr/>
        </p:nvSpPr>
        <p:spPr>
          <a:xfrm>
            <a:off x="640080" y="2907792"/>
            <a:ext cx="3454298" cy="1700784"/>
          </a:xfrm>
          <a:prstGeom prst="roundRect">
            <a:avLst>
              <a:gd name="adj" fmla="val 3000"/>
            </a:avLst>
          </a:prstGeom>
          <a:solidFill>
            <a:srgbClr val="FFFFFF"/>
          </a:solidFill>
          <a:ln w="12700">
            <a:solidFill>
              <a:srgbClr val="E2E9F1"/>
            </a:solidFill>
          </a:ln>
          <a:effectLst>
            <a:outerShdw blurRad="70000" dist="22000" dir="5400000" rotWithShape="0">
              <a:srgbClr val="1B3A5C">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ounded Rectangle 26"/>
          <p:cNvSpPr/>
          <p:nvPr/>
        </p:nvSpPr>
        <p:spPr>
          <a:xfrm>
            <a:off x="640080" y="2907792"/>
            <a:ext cx="3454298" cy="50292"/>
          </a:xfrm>
          <a:prstGeom prst="roundRect">
            <a:avLst>
              <a:gd name="adj" fmla="val 50000"/>
            </a:avLst>
          </a:prstGeom>
          <a:solidFill>
            <a:srgbClr val="0E9A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914400" y="3127248"/>
            <a:ext cx="2905658" cy="694944"/>
          </a:xfrm>
          <a:prstGeom prst="rect">
            <a:avLst/>
          </a:prstGeom>
          <a:noFill/>
        </p:spPr>
        <p:txBody>
          <a:bodyPr wrap="square" lIns="0" rIns="0" tIns="0" bIns="0" anchor="t">
            <a:spAutoFit/>
          </a:bodyPr>
          <a:lstStyle/>
          <a:p>
            <a:pPr algn="l">
              <a:lnSpc>
                <a:spcPct val="120000"/>
              </a:lnSpc>
              <a:spcAft>
                <a:spcPts val="0"/>
              </a:spcAft>
            </a:pPr>
            <a:r>
              <a:rPr sz="4200" b="1">
                <a:solidFill>
                  <a:srgbClr val="0E9A87"/>
                </a:solidFill>
                <a:latin typeface="Calibri"/>
              </a:rPr>
              <a:t>1.878</a:t>
            </a:r>
          </a:p>
        </p:txBody>
      </p:sp>
      <p:sp>
        <p:nvSpPr>
          <p:cNvPr id="29" name="TextBox 28"/>
          <p:cNvSpPr txBox="1"/>
          <p:nvPr/>
        </p:nvSpPr>
        <p:spPr>
          <a:xfrm>
            <a:off x="914400" y="3822191"/>
            <a:ext cx="2905658" cy="237744"/>
          </a:xfrm>
          <a:prstGeom prst="rect">
            <a:avLst/>
          </a:prstGeom>
          <a:noFill/>
        </p:spPr>
        <p:txBody>
          <a:bodyPr wrap="square" lIns="0" rIns="0" tIns="0" bIns="0" anchor="t">
            <a:spAutoFit/>
          </a:bodyPr>
          <a:lstStyle/>
          <a:p>
            <a:pPr algn="l">
              <a:lnSpc>
                <a:spcPct val="120000"/>
              </a:lnSpc>
              <a:spcAft>
                <a:spcPts val="0"/>
              </a:spcAft>
            </a:pPr>
            <a:r>
              <a:rPr sz="950" b="1" spc="120">
                <a:solidFill>
                  <a:srgbClr val="8B9AAA"/>
                </a:solidFill>
                <a:latin typeface="Calibri"/>
              </a:rPr>
              <a:t>BRUTO UREN PER FTE</a:t>
            </a:r>
          </a:p>
        </p:txBody>
      </p:sp>
      <p:sp>
        <p:nvSpPr>
          <p:cNvPr id="30" name="TextBox 29"/>
          <p:cNvSpPr txBox="1"/>
          <p:nvPr/>
        </p:nvSpPr>
        <p:spPr>
          <a:xfrm>
            <a:off x="914400" y="4096512"/>
            <a:ext cx="2905658" cy="420624"/>
          </a:xfrm>
          <a:prstGeom prst="rect">
            <a:avLst/>
          </a:prstGeom>
          <a:noFill/>
        </p:spPr>
        <p:txBody>
          <a:bodyPr wrap="square" lIns="0" rIns="0" tIns="0" bIns="0" anchor="t">
            <a:spAutoFit/>
          </a:bodyPr>
          <a:lstStyle/>
          <a:p>
            <a:pPr algn="l">
              <a:lnSpc>
                <a:spcPct val="120000"/>
              </a:lnSpc>
              <a:spcAft>
                <a:spcPts val="0"/>
              </a:spcAft>
            </a:pPr>
            <a:r>
              <a:rPr sz="1000" b="0">
                <a:solidFill>
                  <a:srgbClr val="55677C"/>
                </a:solidFill>
                <a:latin typeface="Calibri"/>
              </a:rPr>
              <a:t>36,0 uur per week · 52,17 weken</a:t>
            </a:r>
          </a:p>
        </p:txBody>
      </p:sp>
      <p:sp>
        <p:nvSpPr>
          <p:cNvPr id="31" name="Rounded Rectangle 30"/>
          <p:cNvSpPr/>
          <p:nvPr/>
        </p:nvSpPr>
        <p:spPr>
          <a:xfrm>
            <a:off x="4368698" y="2907792"/>
            <a:ext cx="3454298" cy="1700784"/>
          </a:xfrm>
          <a:prstGeom prst="roundRect">
            <a:avLst>
              <a:gd name="adj" fmla="val 3000"/>
            </a:avLst>
          </a:prstGeom>
          <a:solidFill>
            <a:srgbClr val="FFFFFF"/>
          </a:solidFill>
          <a:ln w="12700">
            <a:solidFill>
              <a:srgbClr val="E2E9F1"/>
            </a:solidFill>
          </a:ln>
          <a:effectLst>
            <a:outerShdw blurRad="70000" dist="22000" dir="5400000" rotWithShape="0">
              <a:srgbClr val="1B3A5C">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ounded Rectangle 31"/>
          <p:cNvSpPr/>
          <p:nvPr/>
        </p:nvSpPr>
        <p:spPr>
          <a:xfrm>
            <a:off x="4368698" y="2907792"/>
            <a:ext cx="3454298" cy="50292"/>
          </a:xfrm>
          <a:prstGeom prst="roundRect">
            <a:avLst>
              <a:gd name="adj" fmla="val 50000"/>
            </a:avLst>
          </a:prstGeom>
          <a:solidFill>
            <a:srgbClr val="C87E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4643018" y="3127248"/>
            <a:ext cx="2905658" cy="694944"/>
          </a:xfrm>
          <a:prstGeom prst="rect">
            <a:avLst/>
          </a:prstGeom>
          <a:noFill/>
        </p:spPr>
        <p:txBody>
          <a:bodyPr wrap="square" lIns="0" rIns="0" tIns="0" bIns="0" anchor="t">
            <a:spAutoFit/>
          </a:bodyPr>
          <a:lstStyle/>
          <a:p>
            <a:pPr algn="l">
              <a:lnSpc>
                <a:spcPct val="120000"/>
              </a:lnSpc>
              <a:spcAft>
                <a:spcPts val="0"/>
              </a:spcAft>
            </a:pPr>
            <a:r>
              <a:rPr sz="4200" b="1">
                <a:solidFill>
                  <a:srgbClr val="C87E12"/>
                </a:solidFill>
                <a:latin typeface="Calibri"/>
              </a:rPr>
              <a:t>300</a:t>
            </a:r>
          </a:p>
        </p:txBody>
      </p:sp>
      <p:sp>
        <p:nvSpPr>
          <p:cNvPr id="34" name="TextBox 33"/>
          <p:cNvSpPr txBox="1"/>
          <p:nvPr/>
        </p:nvSpPr>
        <p:spPr>
          <a:xfrm>
            <a:off x="4643018" y="3822191"/>
            <a:ext cx="2905658" cy="237744"/>
          </a:xfrm>
          <a:prstGeom prst="rect">
            <a:avLst/>
          </a:prstGeom>
          <a:noFill/>
        </p:spPr>
        <p:txBody>
          <a:bodyPr wrap="square" lIns="0" rIns="0" tIns="0" bIns="0" anchor="t">
            <a:spAutoFit/>
          </a:bodyPr>
          <a:lstStyle/>
          <a:p>
            <a:pPr algn="l">
              <a:lnSpc>
                <a:spcPct val="120000"/>
              </a:lnSpc>
              <a:spcAft>
                <a:spcPts val="0"/>
              </a:spcAft>
            </a:pPr>
            <a:r>
              <a:rPr sz="950" b="1" spc="120">
                <a:solidFill>
                  <a:srgbClr val="8B9AAA"/>
                </a:solidFill>
                <a:latin typeface="Calibri"/>
              </a:rPr>
              <a:t>UREN AFWEZIGHEID  ·  15,9%</a:t>
            </a:r>
          </a:p>
        </p:txBody>
      </p:sp>
      <p:sp>
        <p:nvSpPr>
          <p:cNvPr id="35" name="TextBox 34"/>
          <p:cNvSpPr txBox="1"/>
          <p:nvPr/>
        </p:nvSpPr>
        <p:spPr>
          <a:xfrm>
            <a:off x="4643018" y="4096512"/>
            <a:ext cx="2905658" cy="420624"/>
          </a:xfrm>
          <a:prstGeom prst="rect">
            <a:avLst/>
          </a:prstGeom>
          <a:noFill/>
        </p:spPr>
        <p:txBody>
          <a:bodyPr wrap="square" lIns="0" rIns="0" tIns="0" bIns="0" anchor="t">
            <a:spAutoFit/>
          </a:bodyPr>
          <a:lstStyle/>
          <a:p>
            <a:pPr algn="l">
              <a:lnSpc>
                <a:spcPct val="120000"/>
              </a:lnSpc>
              <a:spcAft>
                <a:spcPts val="0"/>
              </a:spcAft>
            </a:pPr>
            <a:r>
              <a:rPr sz="1000" b="0">
                <a:solidFill>
                  <a:srgbClr val="55677C"/>
                </a:solidFill>
                <a:latin typeface="Calibri"/>
              </a:rPr>
              <a:t>vakantie 144,0 · ziek 75,1 · bijzonder 8,0 · PLB 22,0 · feestdagen 50,4</a:t>
            </a:r>
          </a:p>
        </p:txBody>
      </p:sp>
      <p:sp>
        <p:nvSpPr>
          <p:cNvPr id="36" name="Rounded Rectangle 35"/>
          <p:cNvSpPr/>
          <p:nvPr/>
        </p:nvSpPr>
        <p:spPr>
          <a:xfrm>
            <a:off x="8097316" y="2907792"/>
            <a:ext cx="3454298" cy="1700784"/>
          </a:xfrm>
          <a:prstGeom prst="roundRect">
            <a:avLst>
              <a:gd name="adj" fmla="val 3000"/>
            </a:avLst>
          </a:prstGeom>
          <a:solidFill>
            <a:srgbClr val="FFFFFF"/>
          </a:solidFill>
          <a:ln w="12700">
            <a:solidFill>
              <a:srgbClr val="E2E9F1"/>
            </a:solidFill>
          </a:ln>
          <a:effectLst>
            <a:outerShdw blurRad="70000" dist="22000" dir="5400000" rotWithShape="0">
              <a:srgbClr val="1B3A5C">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ounded Rectangle 36"/>
          <p:cNvSpPr/>
          <p:nvPr/>
        </p:nvSpPr>
        <p:spPr>
          <a:xfrm>
            <a:off x="8097316" y="2907792"/>
            <a:ext cx="3454298" cy="50292"/>
          </a:xfrm>
          <a:prstGeom prst="roundRect">
            <a:avLst>
              <a:gd name="adj" fmla="val 50000"/>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8371636" y="3127248"/>
            <a:ext cx="2905658" cy="694944"/>
          </a:xfrm>
          <a:prstGeom prst="rect">
            <a:avLst/>
          </a:prstGeom>
          <a:noFill/>
        </p:spPr>
        <p:txBody>
          <a:bodyPr wrap="square" lIns="0" rIns="0" tIns="0" bIns="0" anchor="t">
            <a:spAutoFit/>
          </a:bodyPr>
          <a:lstStyle/>
          <a:p>
            <a:pPr algn="l">
              <a:lnSpc>
                <a:spcPct val="120000"/>
              </a:lnSpc>
              <a:spcAft>
                <a:spcPts val="0"/>
              </a:spcAft>
            </a:pPr>
            <a:r>
              <a:rPr sz="4200" b="1">
                <a:solidFill>
                  <a:srgbClr val="1F6FB2"/>
                </a:solidFill>
                <a:latin typeface="Calibri"/>
              </a:rPr>
              <a:t>1.579</a:t>
            </a:r>
          </a:p>
        </p:txBody>
      </p:sp>
      <p:sp>
        <p:nvSpPr>
          <p:cNvPr id="39" name="TextBox 38"/>
          <p:cNvSpPr txBox="1"/>
          <p:nvPr/>
        </p:nvSpPr>
        <p:spPr>
          <a:xfrm>
            <a:off x="8371636" y="3822191"/>
            <a:ext cx="2905658" cy="237744"/>
          </a:xfrm>
          <a:prstGeom prst="rect">
            <a:avLst/>
          </a:prstGeom>
          <a:noFill/>
        </p:spPr>
        <p:txBody>
          <a:bodyPr wrap="square" lIns="0" rIns="0" tIns="0" bIns="0" anchor="t">
            <a:spAutoFit/>
          </a:bodyPr>
          <a:lstStyle/>
          <a:p>
            <a:pPr algn="l">
              <a:lnSpc>
                <a:spcPct val="120000"/>
              </a:lnSpc>
              <a:spcAft>
                <a:spcPts val="0"/>
              </a:spcAft>
            </a:pPr>
            <a:r>
              <a:rPr sz="950" b="1" spc="120">
                <a:solidFill>
                  <a:srgbClr val="8B9AAA"/>
                </a:solidFill>
                <a:latin typeface="Calibri"/>
              </a:rPr>
              <a:t>NETTO INZETBAAR  ·  84,1%</a:t>
            </a:r>
          </a:p>
        </p:txBody>
      </p:sp>
      <p:sp>
        <p:nvSpPr>
          <p:cNvPr id="40" name="TextBox 39"/>
          <p:cNvSpPr txBox="1"/>
          <p:nvPr/>
        </p:nvSpPr>
        <p:spPr>
          <a:xfrm>
            <a:off x="8371636" y="4096512"/>
            <a:ext cx="2905658" cy="420624"/>
          </a:xfrm>
          <a:prstGeom prst="rect">
            <a:avLst/>
          </a:prstGeom>
          <a:noFill/>
        </p:spPr>
        <p:txBody>
          <a:bodyPr wrap="square" lIns="0" rIns="0" tIns="0" bIns="0" anchor="t">
            <a:spAutoFit/>
          </a:bodyPr>
          <a:lstStyle/>
          <a:p>
            <a:pPr algn="l">
              <a:lnSpc>
                <a:spcPct val="120000"/>
              </a:lnSpc>
              <a:spcAft>
                <a:spcPts val="0"/>
              </a:spcAft>
            </a:pPr>
            <a:r>
              <a:rPr sz="1000" b="0">
                <a:solidFill>
                  <a:srgbClr val="55677C"/>
                </a:solidFill>
                <a:latin typeface="Calibri"/>
              </a:rPr>
              <a:t>30,3 uur per week</a:t>
            </a:r>
          </a:p>
        </p:txBody>
      </p:sp>
      <p:sp>
        <p:nvSpPr>
          <p:cNvPr id="41" name="Rounded Rectangle 40"/>
          <p:cNvSpPr/>
          <p:nvPr/>
        </p:nvSpPr>
        <p:spPr>
          <a:xfrm>
            <a:off x="640080" y="4773168"/>
            <a:ext cx="5291175" cy="1060704"/>
          </a:xfrm>
          <a:prstGeom prst="roundRect">
            <a:avLst>
              <a:gd name="adj" fmla="val 3000"/>
            </a:avLst>
          </a:prstGeom>
          <a:solidFill>
            <a:srgbClr val="FFFFFF"/>
          </a:solidFill>
          <a:ln w="12700">
            <a:solidFill>
              <a:srgbClr val="E2E9F1"/>
            </a:solidFill>
          </a:ln>
          <a:effectLst>
            <a:outerShdw blurRad="70000" dist="22000" dir="5400000" rotWithShape="0">
              <a:srgbClr val="1B3A5C">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914400" y="4919472"/>
            <a:ext cx="4742535" cy="256032"/>
          </a:xfrm>
          <a:prstGeom prst="rect">
            <a:avLst/>
          </a:prstGeom>
          <a:noFill/>
        </p:spPr>
        <p:txBody>
          <a:bodyPr wrap="square" lIns="0" rIns="0" tIns="0" bIns="0" anchor="t">
            <a:spAutoFit/>
          </a:bodyPr>
          <a:lstStyle/>
          <a:p>
            <a:pPr algn="l">
              <a:lnSpc>
                <a:spcPct val="120000"/>
              </a:lnSpc>
              <a:spcAft>
                <a:spcPts val="0"/>
              </a:spcAft>
            </a:pPr>
            <a:r>
              <a:rPr sz="1250" b="1">
                <a:solidFill>
                  <a:srgbClr val="6B4BA8"/>
                </a:solidFill>
                <a:latin typeface="Calibri"/>
              </a:rPr>
              <a:t>Benodigde uren bestaan uit</a:t>
            </a:r>
          </a:p>
        </p:txBody>
      </p:sp>
      <p:sp>
        <p:nvSpPr>
          <p:cNvPr id="43" name="Oval 42"/>
          <p:cNvSpPr/>
          <p:nvPr/>
        </p:nvSpPr>
        <p:spPr>
          <a:xfrm>
            <a:off x="928116" y="5298948"/>
            <a:ext cx="82296" cy="82296"/>
          </a:xfrm>
          <a:prstGeom prst="ellipse">
            <a:avLst/>
          </a:prstGeom>
          <a:solidFill>
            <a:srgbClr val="6B4B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152144" y="5230368"/>
            <a:ext cx="4504791" cy="219456"/>
          </a:xfrm>
          <a:prstGeom prst="rect">
            <a:avLst/>
          </a:prstGeom>
          <a:noFill/>
        </p:spPr>
        <p:txBody>
          <a:bodyPr wrap="square" lIns="0" rIns="0" tIns="0" bIns="0" anchor="t">
            <a:spAutoFit/>
          </a:bodyPr>
          <a:lstStyle/>
          <a:p>
            <a:pPr algn="l">
              <a:lnSpc>
                <a:spcPct val="114000"/>
              </a:lnSpc>
              <a:spcAft>
                <a:spcPts val="0"/>
              </a:spcAft>
            </a:pPr>
            <a:r>
              <a:rPr sz="950" b="0">
                <a:solidFill>
                  <a:srgbClr val="55677C"/>
                </a:solidFill>
                <a:latin typeface="Calibri"/>
              </a:rPr>
              <a:t>indirecte uren per afdeling</a:t>
            </a:r>
          </a:p>
        </p:txBody>
      </p:sp>
      <p:sp>
        <p:nvSpPr>
          <p:cNvPr id="45" name="Oval 44"/>
          <p:cNvSpPr/>
          <p:nvPr/>
        </p:nvSpPr>
        <p:spPr>
          <a:xfrm>
            <a:off x="928116" y="5490972"/>
            <a:ext cx="82296" cy="82296"/>
          </a:xfrm>
          <a:prstGeom prst="ellipse">
            <a:avLst/>
          </a:prstGeom>
          <a:solidFill>
            <a:srgbClr val="6B4B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152144" y="5422392"/>
            <a:ext cx="4504791" cy="219456"/>
          </a:xfrm>
          <a:prstGeom prst="rect">
            <a:avLst/>
          </a:prstGeom>
          <a:noFill/>
        </p:spPr>
        <p:txBody>
          <a:bodyPr wrap="square" lIns="0" rIns="0" tIns="0" bIns="0" anchor="t">
            <a:spAutoFit/>
          </a:bodyPr>
          <a:lstStyle/>
          <a:p>
            <a:pPr algn="l">
              <a:lnSpc>
                <a:spcPct val="114000"/>
              </a:lnSpc>
              <a:spcAft>
                <a:spcPts val="0"/>
              </a:spcAft>
            </a:pPr>
            <a:r>
              <a:rPr sz="950" b="0">
                <a:solidFill>
                  <a:srgbClr val="55677C"/>
                </a:solidFill>
                <a:latin typeface="Calibri"/>
              </a:rPr>
              <a:t>directe uren o.b.v. roostersleutel of sessierooster</a:t>
            </a:r>
          </a:p>
        </p:txBody>
      </p:sp>
      <p:sp>
        <p:nvSpPr>
          <p:cNvPr id="47" name="Oval 46"/>
          <p:cNvSpPr/>
          <p:nvPr/>
        </p:nvSpPr>
        <p:spPr>
          <a:xfrm>
            <a:off x="928116" y="5682996"/>
            <a:ext cx="82296" cy="82296"/>
          </a:xfrm>
          <a:prstGeom prst="ellipse">
            <a:avLst/>
          </a:prstGeom>
          <a:solidFill>
            <a:srgbClr val="6B4B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152144" y="5614416"/>
            <a:ext cx="4504791" cy="219456"/>
          </a:xfrm>
          <a:prstGeom prst="rect">
            <a:avLst/>
          </a:prstGeom>
          <a:noFill/>
        </p:spPr>
        <p:txBody>
          <a:bodyPr wrap="square" lIns="0" rIns="0" tIns="0" bIns="0" anchor="t">
            <a:spAutoFit/>
          </a:bodyPr>
          <a:lstStyle/>
          <a:p>
            <a:pPr algn="l">
              <a:lnSpc>
                <a:spcPct val="114000"/>
              </a:lnSpc>
              <a:spcAft>
                <a:spcPts val="0"/>
              </a:spcAft>
            </a:pPr>
            <a:r>
              <a:rPr sz="950" b="0">
                <a:solidFill>
                  <a:srgbClr val="55677C"/>
                </a:solidFill>
                <a:latin typeface="Calibri"/>
              </a:rPr>
              <a:t>spoedmodaliteiten en bereikbaarheidsdiensten</a:t>
            </a:r>
          </a:p>
        </p:txBody>
      </p:sp>
      <p:sp>
        <p:nvSpPr>
          <p:cNvPr id="49" name="Rounded Rectangle 48"/>
          <p:cNvSpPr/>
          <p:nvPr/>
        </p:nvSpPr>
        <p:spPr>
          <a:xfrm>
            <a:off x="6260439" y="4773168"/>
            <a:ext cx="5291175" cy="1060704"/>
          </a:xfrm>
          <a:prstGeom prst="roundRect">
            <a:avLst>
              <a:gd name="adj" fmla="val 3000"/>
            </a:avLst>
          </a:prstGeom>
          <a:solidFill>
            <a:srgbClr val="FFFFFF"/>
          </a:solidFill>
          <a:ln w="12700">
            <a:solidFill>
              <a:srgbClr val="E2E9F1"/>
            </a:solidFill>
          </a:ln>
          <a:effectLst>
            <a:outerShdw blurRad="70000" dist="22000" dir="5400000" rotWithShape="0">
              <a:srgbClr val="1B3A5C">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6534759" y="4919472"/>
            <a:ext cx="4742535" cy="256032"/>
          </a:xfrm>
          <a:prstGeom prst="rect">
            <a:avLst/>
          </a:prstGeom>
          <a:noFill/>
        </p:spPr>
        <p:txBody>
          <a:bodyPr wrap="square" lIns="0" rIns="0" tIns="0" bIns="0" anchor="t">
            <a:spAutoFit/>
          </a:bodyPr>
          <a:lstStyle/>
          <a:p>
            <a:pPr algn="l">
              <a:lnSpc>
                <a:spcPct val="120000"/>
              </a:lnSpc>
              <a:spcAft>
                <a:spcPts val="0"/>
              </a:spcAft>
            </a:pPr>
            <a:r>
              <a:rPr sz="1250" b="1">
                <a:solidFill>
                  <a:srgbClr val="C87E12"/>
                </a:solidFill>
                <a:latin typeface="Calibri"/>
              </a:rPr>
              <a:t>Overige afwijkingen komen er bovenop</a:t>
            </a:r>
          </a:p>
        </p:txBody>
      </p:sp>
      <p:sp>
        <p:nvSpPr>
          <p:cNvPr id="51" name="Oval 50"/>
          <p:cNvSpPr/>
          <p:nvPr/>
        </p:nvSpPr>
        <p:spPr>
          <a:xfrm>
            <a:off x="6548475" y="5298948"/>
            <a:ext cx="82296" cy="82296"/>
          </a:xfrm>
          <a:prstGeom prst="ellipse">
            <a:avLst/>
          </a:prstGeom>
          <a:solidFill>
            <a:srgbClr val="C87E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772503" y="5230368"/>
            <a:ext cx="4504791" cy="219456"/>
          </a:xfrm>
          <a:prstGeom prst="rect">
            <a:avLst/>
          </a:prstGeom>
          <a:noFill/>
        </p:spPr>
        <p:txBody>
          <a:bodyPr wrap="square" lIns="0" rIns="0" tIns="0" bIns="0" anchor="t">
            <a:spAutoFit/>
          </a:bodyPr>
          <a:lstStyle/>
          <a:p>
            <a:pPr algn="l">
              <a:lnSpc>
                <a:spcPct val="114000"/>
              </a:lnSpc>
              <a:spcAft>
                <a:spcPts val="0"/>
              </a:spcAft>
            </a:pPr>
            <a:r>
              <a:rPr sz="950" b="0">
                <a:solidFill>
                  <a:srgbClr val="55677C"/>
                </a:solidFill>
                <a:latin typeface="Calibri"/>
              </a:rPr>
              <a:t>zwangerschapsverlof</a:t>
            </a:r>
          </a:p>
        </p:txBody>
      </p:sp>
      <p:sp>
        <p:nvSpPr>
          <p:cNvPr id="53" name="Oval 52"/>
          <p:cNvSpPr/>
          <p:nvPr/>
        </p:nvSpPr>
        <p:spPr>
          <a:xfrm>
            <a:off x="6548475" y="5490972"/>
            <a:ext cx="82296" cy="82296"/>
          </a:xfrm>
          <a:prstGeom prst="ellipse">
            <a:avLst/>
          </a:prstGeom>
          <a:solidFill>
            <a:srgbClr val="C87E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772503" y="5422392"/>
            <a:ext cx="4504791" cy="219456"/>
          </a:xfrm>
          <a:prstGeom prst="rect">
            <a:avLst/>
          </a:prstGeom>
          <a:noFill/>
        </p:spPr>
        <p:txBody>
          <a:bodyPr wrap="square" lIns="0" rIns="0" tIns="0" bIns="0" anchor="t">
            <a:spAutoFit/>
          </a:bodyPr>
          <a:lstStyle/>
          <a:p>
            <a:pPr algn="l">
              <a:lnSpc>
                <a:spcPct val="114000"/>
              </a:lnSpc>
              <a:spcAft>
                <a:spcPts val="0"/>
              </a:spcAft>
            </a:pPr>
            <a:r>
              <a:rPr sz="950" b="0">
                <a:solidFill>
                  <a:srgbClr val="55677C"/>
                </a:solidFill>
                <a:latin typeface="Calibri"/>
              </a:rPr>
              <a:t>ouderschapsverlof</a:t>
            </a:r>
          </a:p>
        </p:txBody>
      </p:sp>
      <p:sp>
        <p:nvSpPr>
          <p:cNvPr id="55" name="Oval 54"/>
          <p:cNvSpPr/>
          <p:nvPr/>
        </p:nvSpPr>
        <p:spPr>
          <a:xfrm>
            <a:off x="6548475" y="5682996"/>
            <a:ext cx="82296" cy="82296"/>
          </a:xfrm>
          <a:prstGeom prst="ellipse">
            <a:avLst/>
          </a:prstGeom>
          <a:solidFill>
            <a:srgbClr val="C87E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772503" y="5614416"/>
            <a:ext cx="4504791" cy="219456"/>
          </a:xfrm>
          <a:prstGeom prst="rect">
            <a:avLst/>
          </a:prstGeom>
          <a:noFill/>
        </p:spPr>
        <p:txBody>
          <a:bodyPr wrap="square" lIns="0" rIns="0" tIns="0" bIns="0" anchor="t">
            <a:spAutoFit/>
          </a:bodyPr>
          <a:lstStyle/>
          <a:p>
            <a:pPr algn="l">
              <a:lnSpc>
                <a:spcPct val="114000"/>
              </a:lnSpc>
              <a:spcAft>
                <a:spcPts val="0"/>
              </a:spcAft>
            </a:pPr>
            <a:r>
              <a:rPr sz="950" b="0">
                <a:solidFill>
                  <a:srgbClr val="55677C"/>
                </a:solidFill>
                <a:latin typeface="Calibri"/>
              </a:rPr>
              <a:t>ziekteverzuim boven de 4 procent</a:t>
            </a:r>
          </a:p>
        </p:txBody>
      </p:sp>
      <p:cxnSp>
        <p:nvCxnSpPr>
          <p:cNvPr id="57" name="Connector 56"/>
          <p:cNvCxnSpPr/>
          <p:nvPr/>
        </p:nvCxnSpPr>
        <p:spPr>
          <a:xfrm>
            <a:off x="640080" y="6291072"/>
            <a:ext cx="10911535" cy="0"/>
          </a:xfrm>
          <a:prstGeom prst="line">
            <a:avLst/>
          </a:prstGeom>
          <a:ln w="9525">
            <a:solidFill>
              <a:srgbClr val="E2E9F1"/>
            </a:solidFill>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640080" y="6382512"/>
            <a:ext cx="5486400" cy="237744"/>
          </a:xfrm>
          <a:prstGeom prst="rect">
            <a:avLst/>
          </a:prstGeom>
          <a:noFill/>
        </p:spPr>
        <p:txBody>
          <a:bodyPr wrap="square" lIns="0" rIns="0" tIns="0" bIns="0" anchor="t">
            <a:spAutoFit/>
          </a:bodyPr>
          <a:lstStyle/>
          <a:p>
            <a:pPr algn="l">
              <a:lnSpc>
                <a:spcPct val="120000"/>
              </a:lnSpc>
              <a:spcAft>
                <a:spcPts val="0"/>
              </a:spcAft>
            </a:pPr>
            <a:r>
              <a:rPr sz="900" b="0" spc="80">
                <a:solidFill>
                  <a:srgbClr val="8B9AAA"/>
                </a:solidFill>
                <a:latin typeface="Calibri"/>
              </a:rPr>
              <a:t>Acute poort en Hotfloor</a:t>
            </a:r>
          </a:p>
        </p:txBody>
      </p:sp>
      <p:sp>
        <p:nvSpPr>
          <p:cNvPr id="59" name="TextBox 58"/>
          <p:cNvSpPr txBox="1"/>
          <p:nvPr/>
        </p:nvSpPr>
        <p:spPr>
          <a:xfrm>
            <a:off x="10637215" y="6382512"/>
            <a:ext cx="914400" cy="237744"/>
          </a:xfrm>
          <a:prstGeom prst="rect">
            <a:avLst/>
          </a:prstGeom>
          <a:noFill/>
        </p:spPr>
        <p:txBody>
          <a:bodyPr wrap="square" lIns="0" rIns="0" tIns="0" bIns="0" anchor="t">
            <a:spAutoFit/>
          </a:bodyPr>
          <a:lstStyle/>
          <a:p>
            <a:pPr algn="r">
              <a:lnSpc>
                <a:spcPct val="120000"/>
              </a:lnSpc>
              <a:spcAft>
                <a:spcPts val="0"/>
              </a:spcAft>
            </a:pPr>
            <a:r>
              <a:rPr sz="950" b="1">
                <a:solidFill>
                  <a:srgbClr val="0E9A87"/>
                </a:solidFill>
                <a:latin typeface="Calibri"/>
              </a:rPr>
              <a:t>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