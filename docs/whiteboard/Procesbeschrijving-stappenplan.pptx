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Proces bepaling capaciteit (bedden en ruimtes) voor het jaar</a:t>
            </a:r>
          </a:p>
          <a:p>
            <a:r>
              <a:t>1. Data-analyse van instroom, patiëntaanwezigheid, ligduur en meer.</a:t>
            </a:r>
          </a:p>
          <a:p>
            <a:r>
              <a:t>2. Opstellen van een rekenmodel voor het komend jaar, met daarin de resultaten van de analyse op basis van de zorgvraag.</a:t>
            </a:r>
          </a:p>
          <a:p>
            <a:r>
              <a:t>3. Bespreken van de resultaten uit de analyse en het rekenmodel met de zorgmanager.</a:t>
            </a:r>
          </a:p>
          <a:p>
            <a:r>
              <a:t>4. Uitgangspunten en input vanuit de zorgmanager.</a:t>
            </a:r>
          </a:p>
          <a:p>
            <a:r>
              <a:t>5. Verwerken van de uitgangspunten en input van de zorgmanager.</a:t>
            </a:r>
          </a:p>
          <a:p>
            <a:r>
              <a:t>6. Bespreken van het conceptplan met de teammanagers.</a:t>
            </a:r>
          </a:p>
          <a:p>
            <a:r>
              <a:t>7. Verwerken van de input van de teammanagers.</a:t>
            </a:r>
          </a:p>
          <a:p>
            <a:r>
              <a:t>8. Definitief advies met daarin het aantal benodigde bedden per week.</a:t>
            </a:r>
          </a:p>
          <a:p/>
          <a:p>
            <a:r>
              <a:t>Proces bepaling personele formatie voor komend jaar</a:t>
            </a:r>
          </a:p>
          <a:p>
            <a:r>
              <a:t>1. Vastgesteld uitgangspunt: het aantal benodigde bedden per afdeling, per week en per dag.</a:t>
            </a:r>
          </a:p>
          <a:p>
            <a:r>
              <a:t>2. Verpleegkundige normering (dag, laat, nacht).</a:t>
            </a:r>
          </a:p>
          <a:p>
            <a:r>
              <a:t>3. Roostersleutels opstellen.</a:t>
            </a:r>
          </a:p>
          <a:p>
            <a:r>
              <a:t>4. Berekening fte directe uren per week per afdeling — input voor de urenoverzichten per afdeling.</a:t>
            </a:r>
          </a:p>
          <a:p>
            <a:r>
              <a:t>5. Indirecte uren inventariseren en vaststellen.</a:t>
            </a:r>
          </a:p>
          <a:p>
            <a:r>
              <a:t>6. Fte-berekening per afdeling op basis van directe en indirecte uren — input voor de begroting van Planning &amp; Control.</a:t>
            </a:r>
          </a:p>
          <a:p>
            <a:r>
              <a:t>7. Opstellen van urenoverzichten per afdeling ten behoeve van de planning door CPP.</a:t>
            </a:r>
          </a:p>
          <a:p/>
          <a:p>
            <a:r>
              <a:t>Proces personele planning</a:t>
            </a:r>
          </a:p>
          <a:p>
            <a:r>
              <a:t>Input: de vastgestelde fte-berekening (inclusief roostersleutel en indirecte uren), het urenoverzicht en de opbouw in Ortec. De vervolgstappen staan in de bronpresentatie nog niet uitgeschreven.</a:t>
            </a:r>
          </a:p>
          <a:p/>
          <a:p>
            <a:r>
              <a:t>Van patiëntaanwezigheid naar personele capaciteit</a:t>
            </a:r>
          </a:p>
          <a:p>
            <a:r>
              <a:t>Benodigde beddencapaciteit per periode van het jaar (data-analyse: patiënteninstroom, patiëntaanwezigheid, seizoenspatronen) en de verpleegkundige norm per specialisme leiden samen tot het aantal benodigde diensten per 24 uur (dag, laat, nacht, overig/OVD). Via de roostersleutel volgt de fte directe zorg — de basis voor CPP. Daarna komen het kortdurend ziekteverzuim, opnieuw de roostersleutel, de overige uren (langdurig verzuim, zwangerschap, SOMZ, PLB, geboorteverlof, overig ouderschapsverlof, overige vervolgopleidingen) en de dagelijkse bedrijfsvoering erbij. De uitkomst is het urenoverzicht.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Formatieberekening, voorbeeld radiologie — deel 1: van bruto naar netto. De blokken komen uit het rekenblad dat wij hiervoor gebruiken.</a:t>
            </a:r>
          </a:p>
          <a:p/>
          <a:p>
            <a:r>
              <a:t>Jaarlijkse bruto arbeidsduur conform cao: voltijd 36,0 uur per week, 52,17 weken, 1.878 bruto uren per jaar per fte.</a:t>
            </a:r>
          </a:p>
          <a:p/>
          <a:p>
            <a:r>
              <a:t>Afwezigheid volgens begroting, per fte: vakantierechten 144,0 (2,8 u/wk, 7,7%), ziek 75,1 (1,4 u/wk, 4,0%), bijzonder verlof 8,0 (0,2 u/wk, 0,4%), PLB 22,0 (0,4 u/wk, 1,2%) en feestdagen 50,4 (1,0 u/wk, 2,7%). Totaal 300 uur, 5,7 u/wk, 15,9%. Per medewerker komt daar scholing en werkoverleg bij.</a:t>
            </a:r>
          </a:p>
          <a:p/>
          <a:p>
            <a:r>
              <a:t>Netto inzetbaarheid: 1.579 uur, 30,3 uur per week, 84,1%.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Formatieberekening, voorbeeld radiologie — deel 2: van benodigd naar resultaat.</a:t>
            </a:r>
          </a:p>
          <a:p/>
          <a:p>
            <a:r>
              <a:t>Benodigde uren: de indirecte uren per afdeling, de directe uren op basis van de roostersleutel (sessies op basis van het sessierooster, bij radiologie uitgesplitst naar Bucky, CT, MRI, echo, angio, doorlichting, vacuümbioptie, mammografie en vaatdiagnostiek), de spoedmodaliteiten en de bereikbaarheidsdiensten. Samen geven die de benodigde capaciteit in uren.</a:t>
            </a:r>
          </a:p>
          <a:p/>
          <a:p>
            <a:r>
              <a:t>Personeelsformatie: benodigde capaciteit in uren, bruto benodigde formatie in fte, overige afwijkingen, bruto benodigde formatie inclusief overige afwijkingen, en de bruto beschikbare formatie in fte. Het verschil tussen benodigd en beschikbaar is de fte-(mis)match.</a:t>
            </a:r>
          </a:p>
          <a:p/>
          <a:p>
            <a:r>
              <a:t>Overige afwijkingen komen bovenop de begrote afwezigheid: zwangerschapsverlof, ouderschapsverlof en ziekteverzuim boven de 4 procent.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0E9A87"/>
                </a:solidFill>
                <a:latin typeface="Calibri"/>
              </a:rPr>
              <a:t>PROCES  ·  STRATEGISCH CAPACITEITSJAARPLAN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Van zorgvraag naar rooster</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Vier stappen — wat de ene stap oplevert, is de invoer van de volgende</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004021" y="2157984"/>
            <a:ext cx="8183652" cy="0"/>
          </a:xfrm>
          <a:prstGeom prst="line">
            <a:avLst/>
          </a:prstGeom>
          <a:ln w="15875">
            <a:solidFill>
              <a:srgbClr val="C6D6E6"/>
            </a:solidFill>
          </a:ln>
        </p:spPr>
        <p:style>
          <a:lnRef idx="2">
            <a:schemeClr val="accent1"/>
          </a:lnRef>
          <a:fillRef idx="0">
            <a:schemeClr val="accent1"/>
          </a:fillRef>
          <a:effectRef idx="1">
            <a:schemeClr val="accent1"/>
          </a:effectRef>
          <a:fontRef idx="minor">
            <a:schemeClr val="tx1"/>
          </a:fontRef>
        </p:style>
      </p:cxnSp>
      <p:sp>
        <p:nvSpPr>
          <p:cNvPr id="8" name="Right Arrow 7"/>
          <p:cNvSpPr/>
          <p:nvPr/>
        </p:nvSpPr>
        <p:spPr>
          <a:xfrm>
            <a:off x="3276523" y="2066544"/>
            <a:ext cx="182880" cy="182880"/>
          </a:xfrm>
          <a:prstGeom prst="rightArrow">
            <a:avLst/>
          </a:prstGeom>
          <a:solidFill>
            <a:srgbClr val="0E9A87">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501101" y="1655064"/>
            <a:ext cx="1005840" cy="1005840"/>
          </a:xfrm>
          <a:prstGeom prst="roundRect">
            <a:avLst>
              <a:gd name="adj" fmla="val 50000"/>
            </a:avLst>
          </a:prstGeom>
          <a:solidFill>
            <a:srgbClr val="D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1619973" y="1773936"/>
            <a:ext cx="768096" cy="768096"/>
          </a:xfrm>
          <a:prstGeom prst="roundRect">
            <a:avLst>
              <a:gd name="adj" fmla="val 50000"/>
            </a:avLst>
          </a:prstGeom>
          <a:solidFill>
            <a:srgbClr val="FFFFFF"/>
          </a:solidFill>
          <a:ln w="25400">
            <a:solidFill>
              <a:srgbClr val="0E9A87"/>
            </a:solidFill>
          </a:ln>
          <a:effectLst>
            <a:outerShdw blurRad="50000" dist="14000" dir="5400000" rotWithShape="0">
              <a:srgbClr val="1B3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619973" y="1956816"/>
            <a:ext cx="768096" cy="402336"/>
          </a:xfrm>
          <a:prstGeom prst="rect">
            <a:avLst/>
          </a:prstGeom>
          <a:noFill/>
        </p:spPr>
        <p:txBody>
          <a:bodyPr wrap="square" lIns="0" rIns="0" tIns="0" bIns="0" anchor="ctr">
            <a:spAutoFit/>
          </a:bodyPr>
          <a:lstStyle/>
          <a:p>
            <a:pPr algn="ctr">
              <a:lnSpc>
                <a:spcPct val="120000"/>
              </a:lnSpc>
              <a:spcAft>
                <a:spcPts val="0"/>
              </a:spcAft>
            </a:pPr>
            <a:r>
              <a:rPr sz="2000" b="1">
                <a:solidFill>
                  <a:srgbClr val="0E9A87"/>
                </a:solidFill>
                <a:latin typeface="Calibri"/>
              </a:rPr>
              <a:t>01</a:t>
            </a:r>
          </a:p>
        </p:txBody>
      </p:sp>
      <p:sp>
        <p:nvSpPr>
          <p:cNvPr id="12" name="TextBox 11"/>
          <p:cNvSpPr txBox="1"/>
          <p:nvPr/>
        </p:nvSpPr>
        <p:spPr>
          <a:xfrm>
            <a:off x="758952" y="2724912"/>
            <a:ext cx="2490139" cy="402336"/>
          </a:xfrm>
          <a:prstGeom prst="rect">
            <a:avLst/>
          </a:prstGeom>
          <a:noFill/>
        </p:spPr>
        <p:txBody>
          <a:bodyPr wrap="square" lIns="0" rIns="0" tIns="0" bIns="0" anchor="t">
            <a:spAutoFit/>
          </a:bodyPr>
          <a:lstStyle/>
          <a:p>
            <a:pPr algn="ctr">
              <a:lnSpc>
                <a:spcPct val="114000"/>
              </a:lnSpc>
              <a:spcAft>
                <a:spcPts val="0"/>
              </a:spcAft>
            </a:pPr>
            <a:r>
              <a:rPr sz="1600" b="1">
                <a:solidFill>
                  <a:srgbClr val="0D1B2A"/>
                </a:solidFill>
                <a:latin typeface="Calibri"/>
              </a:rPr>
              <a:t>Beddencapaciteit</a:t>
            </a:r>
          </a:p>
        </p:txBody>
      </p:sp>
      <p:sp>
        <p:nvSpPr>
          <p:cNvPr id="13" name="Rounded Rectangle 12"/>
          <p:cNvSpPr/>
          <p:nvPr/>
        </p:nvSpPr>
        <p:spPr>
          <a:xfrm>
            <a:off x="758952" y="3163824"/>
            <a:ext cx="2490139" cy="2304288"/>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758952" y="3163824"/>
            <a:ext cx="2490139" cy="50292"/>
          </a:xfrm>
          <a:prstGeom prst="roundRect">
            <a:avLst>
              <a:gd name="adj" fmla="val 5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41832" y="3346704"/>
            <a:ext cx="274320" cy="347472"/>
          </a:xfrm>
          <a:prstGeom prst="rect">
            <a:avLst/>
          </a:prstGeom>
          <a:noFill/>
        </p:spPr>
        <p:txBody>
          <a:bodyPr wrap="square" lIns="0" rIns="0" tIns="0" bIns="0" anchor="ctr">
            <a:spAutoFit/>
          </a:bodyPr>
          <a:lstStyle/>
          <a:p>
            <a:pPr algn="l">
              <a:lnSpc>
                <a:spcPct val="120000"/>
              </a:lnSpc>
              <a:spcAft>
                <a:spcPts val="0"/>
              </a:spcAft>
            </a:pPr>
            <a:r>
              <a:rPr sz="850" b="1">
                <a:solidFill>
                  <a:srgbClr val="4AB3A5"/>
                </a:solidFill>
                <a:latin typeface="Calibri"/>
              </a:rPr>
              <a:t>01</a:t>
            </a:r>
          </a:p>
        </p:txBody>
      </p:sp>
      <p:sp>
        <p:nvSpPr>
          <p:cNvPr id="16" name="TextBox 15"/>
          <p:cNvSpPr txBox="1"/>
          <p:nvPr/>
        </p:nvSpPr>
        <p:spPr>
          <a:xfrm>
            <a:off x="1234440" y="3346704"/>
            <a:ext cx="1831771" cy="347472"/>
          </a:xfrm>
          <a:prstGeom prst="rect">
            <a:avLst/>
          </a:prstGeom>
          <a:noFill/>
        </p:spPr>
        <p:txBody>
          <a:bodyPr wrap="square" lIns="0" rIns="0" tIns="0" bIns="0" anchor="ctr">
            <a:spAutoFit/>
          </a:bodyPr>
          <a:lstStyle/>
          <a:p>
            <a:pPr algn="l">
              <a:lnSpc>
                <a:spcPct val="118000"/>
              </a:lnSpc>
              <a:spcAft>
                <a:spcPts val="0"/>
              </a:spcAft>
            </a:pPr>
            <a:r>
              <a:rPr sz="1000" b="0">
                <a:solidFill>
                  <a:srgbClr val="0D1B2A"/>
                </a:solidFill>
                <a:latin typeface="Calibri"/>
              </a:rPr>
              <a:t>data-analyse: instroom, aanwezigheid, ligduur</a:t>
            </a:r>
          </a:p>
        </p:txBody>
      </p:sp>
      <p:cxnSp>
        <p:nvCxnSpPr>
          <p:cNvPr id="17" name="Connector 16"/>
          <p:cNvCxnSpPr/>
          <p:nvPr/>
        </p:nvCxnSpPr>
        <p:spPr>
          <a:xfrm>
            <a:off x="941832" y="3730752"/>
            <a:ext cx="2124379"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941832" y="3767328"/>
            <a:ext cx="274320" cy="347472"/>
          </a:xfrm>
          <a:prstGeom prst="rect">
            <a:avLst/>
          </a:prstGeom>
          <a:noFill/>
        </p:spPr>
        <p:txBody>
          <a:bodyPr wrap="square" lIns="0" rIns="0" tIns="0" bIns="0" anchor="ctr">
            <a:spAutoFit/>
          </a:bodyPr>
          <a:lstStyle/>
          <a:p>
            <a:pPr algn="l">
              <a:lnSpc>
                <a:spcPct val="120000"/>
              </a:lnSpc>
              <a:spcAft>
                <a:spcPts val="0"/>
              </a:spcAft>
            </a:pPr>
            <a:r>
              <a:rPr sz="850" b="1">
                <a:solidFill>
                  <a:srgbClr val="4AB3A5"/>
                </a:solidFill>
                <a:latin typeface="Calibri"/>
              </a:rPr>
              <a:t>02</a:t>
            </a:r>
          </a:p>
        </p:txBody>
      </p:sp>
      <p:sp>
        <p:nvSpPr>
          <p:cNvPr id="19" name="TextBox 18"/>
          <p:cNvSpPr txBox="1"/>
          <p:nvPr/>
        </p:nvSpPr>
        <p:spPr>
          <a:xfrm>
            <a:off x="1234440" y="3767328"/>
            <a:ext cx="1831771" cy="347472"/>
          </a:xfrm>
          <a:prstGeom prst="rect">
            <a:avLst/>
          </a:prstGeom>
          <a:noFill/>
        </p:spPr>
        <p:txBody>
          <a:bodyPr wrap="square" lIns="0" rIns="0" tIns="0" bIns="0" anchor="ctr">
            <a:spAutoFit/>
          </a:bodyPr>
          <a:lstStyle/>
          <a:p>
            <a:pPr algn="l">
              <a:lnSpc>
                <a:spcPct val="118000"/>
              </a:lnSpc>
              <a:spcAft>
                <a:spcPts val="0"/>
              </a:spcAft>
            </a:pPr>
            <a:r>
              <a:rPr sz="1000" b="0">
                <a:solidFill>
                  <a:srgbClr val="0D1B2A"/>
                </a:solidFill>
                <a:latin typeface="Calibri"/>
              </a:rPr>
              <a:t>rekenmodel op basis van de zorgvraag</a:t>
            </a:r>
          </a:p>
        </p:txBody>
      </p:sp>
      <p:cxnSp>
        <p:nvCxnSpPr>
          <p:cNvPr id="20" name="Connector 19"/>
          <p:cNvCxnSpPr/>
          <p:nvPr/>
        </p:nvCxnSpPr>
        <p:spPr>
          <a:xfrm>
            <a:off x="941832" y="4151376"/>
            <a:ext cx="2124379"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941832" y="4187952"/>
            <a:ext cx="274320" cy="347472"/>
          </a:xfrm>
          <a:prstGeom prst="rect">
            <a:avLst/>
          </a:prstGeom>
          <a:noFill/>
        </p:spPr>
        <p:txBody>
          <a:bodyPr wrap="square" lIns="0" rIns="0" tIns="0" bIns="0" anchor="ctr">
            <a:spAutoFit/>
          </a:bodyPr>
          <a:lstStyle/>
          <a:p>
            <a:pPr algn="l">
              <a:lnSpc>
                <a:spcPct val="120000"/>
              </a:lnSpc>
              <a:spcAft>
                <a:spcPts val="0"/>
              </a:spcAft>
            </a:pPr>
            <a:r>
              <a:rPr sz="850" b="1">
                <a:solidFill>
                  <a:srgbClr val="4AB3A5"/>
                </a:solidFill>
                <a:latin typeface="Calibri"/>
              </a:rPr>
              <a:t>03</a:t>
            </a:r>
          </a:p>
        </p:txBody>
      </p:sp>
      <p:sp>
        <p:nvSpPr>
          <p:cNvPr id="22" name="TextBox 21"/>
          <p:cNvSpPr txBox="1"/>
          <p:nvPr/>
        </p:nvSpPr>
        <p:spPr>
          <a:xfrm>
            <a:off x="1234440" y="4187952"/>
            <a:ext cx="1831771" cy="347472"/>
          </a:xfrm>
          <a:prstGeom prst="rect">
            <a:avLst/>
          </a:prstGeom>
          <a:noFill/>
        </p:spPr>
        <p:txBody>
          <a:bodyPr wrap="square" lIns="0" rIns="0" tIns="0" bIns="0" anchor="ctr">
            <a:spAutoFit/>
          </a:bodyPr>
          <a:lstStyle/>
          <a:p>
            <a:pPr algn="l">
              <a:lnSpc>
                <a:spcPct val="118000"/>
              </a:lnSpc>
              <a:spcAft>
                <a:spcPts val="0"/>
              </a:spcAft>
            </a:pPr>
            <a:r>
              <a:rPr sz="900" b="0">
                <a:solidFill>
                  <a:srgbClr val="0D1B2A"/>
                </a:solidFill>
                <a:latin typeface="Calibri"/>
              </a:rPr>
              <a:t>afstemmen met zorgmanager en teammanagers</a:t>
            </a:r>
          </a:p>
        </p:txBody>
      </p:sp>
      <p:cxnSp>
        <p:nvCxnSpPr>
          <p:cNvPr id="23" name="Connector 22"/>
          <p:cNvCxnSpPr/>
          <p:nvPr/>
        </p:nvCxnSpPr>
        <p:spPr>
          <a:xfrm>
            <a:off x="941832" y="4572000"/>
            <a:ext cx="2124379"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41832" y="4608576"/>
            <a:ext cx="274320" cy="347472"/>
          </a:xfrm>
          <a:prstGeom prst="rect">
            <a:avLst/>
          </a:prstGeom>
          <a:noFill/>
        </p:spPr>
        <p:txBody>
          <a:bodyPr wrap="square" lIns="0" rIns="0" tIns="0" bIns="0" anchor="ctr">
            <a:spAutoFit/>
          </a:bodyPr>
          <a:lstStyle/>
          <a:p>
            <a:pPr algn="l">
              <a:lnSpc>
                <a:spcPct val="120000"/>
              </a:lnSpc>
              <a:spcAft>
                <a:spcPts val="0"/>
              </a:spcAft>
            </a:pPr>
            <a:r>
              <a:rPr sz="850" b="1">
                <a:solidFill>
                  <a:srgbClr val="4AB3A5"/>
                </a:solidFill>
                <a:latin typeface="Calibri"/>
              </a:rPr>
              <a:t>04</a:t>
            </a:r>
          </a:p>
        </p:txBody>
      </p:sp>
      <p:sp>
        <p:nvSpPr>
          <p:cNvPr id="25" name="TextBox 24"/>
          <p:cNvSpPr txBox="1"/>
          <p:nvPr/>
        </p:nvSpPr>
        <p:spPr>
          <a:xfrm>
            <a:off x="1234440" y="4608576"/>
            <a:ext cx="1831771" cy="347472"/>
          </a:xfrm>
          <a:prstGeom prst="rect">
            <a:avLst/>
          </a:prstGeom>
          <a:noFill/>
        </p:spPr>
        <p:txBody>
          <a:bodyPr wrap="square" lIns="0" rIns="0" tIns="0" bIns="0" anchor="ctr">
            <a:spAutoFit/>
          </a:bodyPr>
          <a:lstStyle/>
          <a:p>
            <a:pPr algn="l">
              <a:lnSpc>
                <a:spcPct val="118000"/>
              </a:lnSpc>
              <a:spcAft>
                <a:spcPts val="0"/>
              </a:spcAft>
            </a:pPr>
            <a:r>
              <a:rPr sz="1000" b="0">
                <a:solidFill>
                  <a:srgbClr val="0D1B2A"/>
                </a:solidFill>
                <a:latin typeface="Calibri"/>
              </a:rPr>
              <a:t>definitief advies per afdeling</a:t>
            </a:r>
          </a:p>
        </p:txBody>
      </p:sp>
      <p:sp>
        <p:nvSpPr>
          <p:cNvPr id="26" name="Rounded Rectangle 25"/>
          <p:cNvSpPr/>
          <p:nvPr/>
        </p:nvSpPr>
        <p:spPr>
          <a:xfrm>
            <a:off x="768096" y="4956048"/>
            <a:ext cx="2471851" cy="502920"/>
          </a:xfrm>
          <a:prstGeom prst="roundRect">
            <a:avLst>
              <a:gd name="adj" fmla="val 3000"/>
            </a:avLst>
          </a:prstGeom>
          <a:solidFill>
            <a:srgbClr val="D8E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41832" y="5001768"/>
            <a:ext cx="2124379" cy="182880"/>
          </a:xfrm>
          <a:prstGeom prst="rect">
            <a:avLst/>
          </a:prstGeom>
          <a:noFill/>
        </p:spPr>
        <p:txBody>
          <a:bodyPr wrap="square" lIns="0" rIns="0" tIns="0" bIns="0" anchor="t">
            <a:spAutoFit/>
          </a:bodyPr>
          <a:lstStyle/>
          <a:p>
            <a:pPr algn="l">
              <a:lnSpc>
                <a:spcPct val="120000"/>
              </a:lnSpc>
              <a:spcAft>
                <a:spcPts val="0"/>
              </a:spcAft>
            </a:pPr>
            <a:r>
              <a:rPr sz="750" b="1" spc="140">
                <a:solidFill>
                  <a:srgbClr val="8B9AAA"/>
                </a:solidFill>
                <a:latin typeface="Calibri"/>
              </a:rPr>
              <a:t>LEVERT OP</a:t>
            </a:r>
          </a:p>
        </p:txBody>
      </p:sp>
      <p:sp>
        <p:nvSpPr>
          <p:cNvPr id="28" name="TextBox 27"/>
          <p:cNvSpPr txBox="1"/>
          <p:nvPr/>
        </p:nvSpPr>
        <p:spPr>
          <a:xfrm>
            <a:off x="941832" y="5175504"/>
            <a:ext cx="2124379" cy="237744"/>
          </a:xfrm>
          <a:prstGeom prst="rect">
            <a:avLst/>
          </a:prstGeom>
          <a:noFill/>
        </p:spPr>
        <p:txBody>
          <a:bodyPr wrap="square" lIns="0" rIns="0" tIns="0" bIns="0" anchor="t">
            <a:spAutoFit/>
          </a:bodyPr>
          <a:lstStyle/>
          <a:p>
            <a:pPr algn="l">
              <a:lnSpc>
                <a:spcPct val="120000"/>
              </a:lnSpc>
              <a:spcAft>
                <a:spcPts val="0"/>
              </a:spcAft>
            </a:pPr>
            <a:r>
              <a:rPr sz="1150" b="1">
                <a:solidFill>
                  <a:srgbClr val="0E9A87"/>
                </a:solidFill>
                <a:latin typeface="Calibri"/>
              </a:rPr>
              <a:t>bedden per week</a:t>
            </a:r>
          </a:p>
        </p:txBody>
      </p:sp>
      <p:sp>
        <p:nvSpPr>
          <p:cNvPr id="29" name="Right Arrow 28"/>
          <p:cNvSpPr/>
          <p:nvPr/>
        </p:nvSpPr>
        <p:spPr>
          <a:xfrm>
            <a:off x="6004407" y="2066544"/>
            <a:ext cx="182880" cy="182880"/>
          </a:xfrm>
          <a:prstGeom prst="rightArrow">
            <a:avLst/>
          </a:prstGeom>
          <a:solidFill>
            <a:srgbClr val="1F6FB2">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4228985" y="1655064"/>
            <a:ext cx="1005840" cy="1005840"/>
          </a:xfrm>
          <a:prstGeom prst="roundRect">
            <a:avLst>
              <a:gd name="adj" fmla="val 50000"/>
            </a:avLst>
          </a:prstGeom>
          <a:solidFill>
            <a:srgbClr val="DCE8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4347857" y="1773936"/>
            <a:ext cx="768096" cy="768096"/>
          </a:xfrm>
          <a:prstGeom prst="roundRect">
            <a:avLst>
              <a:gd name="adj" fmla="val 50000"/>
            </a:avLst>
          </a:prstGeom>
          <a:solidFill>
            <a:srgbClr val="FFFFFF"/>
          </a:solidFill>
          <a:ln w="25400">
            <a:solidFill>
              <a:srgbClr val="1F6FB2"/>
            </a:solidFill>
          </a:ln>
          <a:effectLst>
            <a:outerShdw blurRad="50000" dist="14000" dir="5400000" rotWithShape="0">
              <a:srgbClr val="1B3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4347857" y="1956816"/>
            <a:ext cx="768096" cy="402336"/>
          </a:xfrm>
          <a:prstGeom prst="rect">
            <a:avLst/>
          </a:prstGeom>
          <a:noFill/>
        </p:spPr>
        <p:txBody>
          <a:bodyPr wrap="square" lIns="0" rIns="0" tIns="0" bIns="0" anchor="ctr">
            <a:spAutoFit/>
          </a:bodyPr>
          <a:lstStyle/>
          <a:p>
            <a:pPr algn="ctr">
              <a:lnSpc>
                <a:spcPct val="120000"/>
              </a:lnSpc>
              <a:spcAft>
                <a:spcPts val="0"/>
              </a:spcAft>
            </a:pPr>
            <a:r>
              <a:rPr sz="2000" b="1">
                <a:solidFill>
                  <a:srgbClr val="1F6FB2"/>
                </a:solidFill>
                <a:latin typeface="Calibri"/>
              </a:rPr>
              <a:t>02</a:t>
            </a:r>
          </a:p>
        </p:txBody>
      </p:sp>
      <p:sp>
        <p:nvSpPr>
          <p:cNvPr id="33" name="TextBox 32"/>
          <p:cNvSpPr txBox="1"/>
          <p:nvPr/>
        </p:nvSpPr>
        <p:spPr>
          <a:xfrm>
            <a:off x="3486835" y="2724912"/>
            <a:ext cx="2490139" cy="402336"/>
          </a:xfrm>
          <a:prstGeom prst="rect">
            <a:avLst/>
          </a:prstGeom>
          <a:noFill/>
        </p:spPr>
        <p:txBody>
          <a:bodyPr wrap="square" lIns="0" rIns="0" tIns="0" bIns="0" anchor="t">
            <a:spAutoFit/>
          </a:bodyPr>
          <a:lstStyle/>
          <a:p>
            <a:pPr algn="ctr">
              <a:lnSpc>
                <a:spcPct val="114000"/>
              </a:lnSpc>
              <a:spcAft>
                <a:spcPts val="0"/>
              </a:spcAft>
            </a:pPr>
            <a:r>
              <a:rPr sz="1600" b="1">
                <a:solidFill>
                  <a:srgbClr val="0D1B2A"/>
                </a:solidFill>
                <a:latin typeface="Calibri"/>
              </a:rPr>
              <a:t>Personele formatie</a:t>
            </a:r>
          </a:p>
        </p:txBody>
      </p:sp>
      <p:sp>
        <p:nvSpPr>
          <p:cNvPr id="34" name="Rounded Rectangle 33"/>
          <p:cNvSpPr/>
          <p:nvPr/>
        </p:nvSpPr>
        <p:spPr>
          <a:xfrm>
            <a:off x="3486835" y="3163824"/>
            <a:ext cx="2490139" cy="2304288"/>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ounded Rectangle 34"/>
          <p:cNvSpPr/>
          <p:nvPr/>
        </p:nvSpPr>
        <p:spPr>
          <a:xfrm>
            <a:off x="3486835" y="3163824"/>
            <a:ext cx="2490139" cy="50292"/>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3669715" y="3346704"/>
            <a:ext cx="274320" cy="347472"/>
          </a:xfrm>
          <a:prstGeom prst="rect">
            <a:avLst/>
          </a:prstGeom>
          <a:noFill/>
        </p:spPr>
        <p:txBody>
          <a:bodyPr wrap="square" lIns="0" rIns="0" tIns="0" bIns="0" anchor="ctr">
            <a:spAutoFit/>
          </a:bodyPr>
          <a:lstStyle/>
          <a:p>
            <a:pPr algn="l">
              <a:lnSpc>
                <a:spcPct val="120000"/>
              </a:lnSpc>
              <a:spcAft>
                <a:spcPts val="0"/>
              </a:spcAft>
            </a:pPr>
            <a:r>
              <a:rPr sz="850" b="1">
                <a:solidFill>
                  <a:srgbClr val="5793C5"/>
                </a:solidFill>
                <a:latin typeface="Calibri"/>
              </a:rPr>
              <a:t>01</a:t>
            </a:r>
          </a:p>
        </p:txBody>
      </p:sp>
      <p:sp>
        <p:nvSpPr>
          <p:cNvPr id="37" name="TextBox 36"/>
          <p:cNvSpPr txBox="1"/>
          <p:nvPr/>
        </p:nvSpPr>
        <p:spPr>
          <a:xfrm>
            <a:off x="3962323" y="3346704"/>
            <a:ext cx="1831771" cy="347472"/>
          </a:xfrm>
          <a:prstGeom prst="rect">
            <a:avLst/>
          </a:prstGeom>
          <a:noFill/>
        </p:spPr>
        <p:txBody>
          <a:bodyPr wrap="square" lIns="0" rIns="0" tIns="0" bIns="0" anchor="ctr">
            <a:spAutoFit/>
          </a:bodyPr>
          <a:lstStyle/>
          <a:p>
            <a:pPr algn="l">
              <a:lnSpc>
                <a:spcPct val="118000"/>
              </a:lnSpc>
              <a:spcAft>
                <a:spcPts val="0"/>
              </a:spcAft>
            </a:pPr>
            <a:r>
              <a:rPr sz="1000" b="0">
                <a:solidFill>
                  <a:srgbClr val="0D1B2A"/>
                </a:solidFill>
                <a:latin typeface="Calibri"/>
              </a:rPr>
              <a:t>verpleegkundige norm: dag, laat, nacht</a:t>
            </a:r>
          </a:p>
        </p:txBody>
      </p:sp>
      <p:cxnSp>
        <p:nvCxnSpPr>
          <p:cNvPr id="38" name="Connector 37"/>
          <p:cNvCxnSpPr/>
          <p:nvPr/>
        </p:nvCxnSpPr>
        <p:spPr>
          <a:xfrm>
            <a:off x="3669715" y="3730752"/>
            <a:ext cx="2124380"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669715" y="3767328"/>
            <a:ext cx="274320" cy="347472"/>
          </a:xfrm>
          <a:prstGeom prst="rect">
            <a:avLst/>
          </a:prstGeom>
          <a:noFill/>
        </p:spPr>
        <p:txBody>
          <a:bodyPr wrap="square" lIns="0" rIns="0" tIns="0" bIns="0" anchor="ctr">
            <a:spAutoFit/>
          </a:bodyPr>
          <a:lstStyle/>
          <a:p>
            <a:pPr algn="l">
              <a:lnSpc>
                <a:spcPct val="120000"/>
              </a:lnSpc>
              <a:spcAft>
                <a:spcPts val="0"/>
              </a:spcAft>
            </a:pPr>
            <a:r>
              <a:rPr sz="850" b="1">
                <a:solidFill>
                  <a:srgbClr val="5793C5"/>
                </a:solidFill>
                <a:latin typeface="Calibri"/>
              </a:rPr>
              <a:t>02</a:t>
            </a:r>
          </a:p>
        </p:txBody>
      </p:sp>
      <p:sp>
        <p:nvSpPr>
          <p:cNvPr id="40" name="TextBox 39"/>
          <p:cNvSpPr txBox="1"/>
          <p:nvPr/>
        </p:nvSpPr>
        <p:spPr>
          <a:xfrm>
            <a:off x="3962323" y="3767328"/>
            <a:ext cx="1831771" cy="347472"/>
          </a:xfrm>
          <a:prstGeom prst="rect">
            <a:avLst/>
          </a:prstGeom>
          <a:noFill/>
        </p:spPr>
        <p:txBody>
          <a:bodyPr wrap="square" lIns="0" rIns="0" tIns="0" bIns="0" anchor="ctr">
            <a:spAutoFit/>
          </a:bodyPr>
          <a:lstStyle/>
          <a:p>
            <a:pPr algn="l">
              <a:lnSpc>
                <a:spcPct val="118000"/>
              </a:lnSpc>
              <a:spcAft>
                <a:spcPts val="0"/>
              </a:spcAft>
            </a:pPr>
            <a:r>
              <a:rPr sz="1000" b="0">
                <a:solidFill>
                  <a:srgbClr val="0D1B2A"/>
                </a:solidFill>
                <a:latin typeface="Calibri"/>
              </a:rPr>
              <a:t>roostersleutels opstellen</a:t>
            </a:r>
          </a:p>
        </p:txBody>
      </p:sp>
      <p:cxnSp>
        <p:nvCxnSpPr>
          <p:cNvPr id="41" name="Connector 40"/>
          <p:cNvCxnSpPr/>
          <p:nvPr/>
        </p:nvCxnSpPr>
        <p:spPr>
          <a:xfrm>
            <a:off x="3669715" y="4151376"/>
            <a:ext cx="2124380"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669715" y="4187952"/>
            <a:ext cx="274320" cy="347472"/>
          </a:xfrm>
          <a:prstGeom prst="rect">
            <a:avLst/>
          </a:prstGeom>
          <a:noFill/>
        </p:spPr>
        <p:txBody>
          <a:bodyPr wrap="square" lIns="0" rIns="0" tIns="0" bIns="0" anchor="ctr">
            <a:spAutoFit/>
          </a:bodyPr>
          <a:lstStyle/>
          <a:p>
            <a:pPr algn="l">
              <a:lnSpc>
                <a:spcPct val="120000"/>
              </a:lnSpc>
              <a:spcAft>
                <a:spcPts val="0"/>
              </a:spcAft>
            </a:pPr>
            <a:r>
              <a:rPr sz="850" b="1">
                <a:solidFill>
                  <a:srgbClr val="5793C5"/>
                </a:solidFill>
                <a:latin typeface="Calibri"/>
              </a:rPr>
              <a:t>03</a:t>
            </a:r>
          </a:p>
        </p:txBody>
      </p:sp>
      <p:sp>
        <p:nvSpPr>
          <p:cNvPr id="43" name="TextBox 42"/>
          <p:cNvSpPr txBox="1"/>
          <p:nvPr/>
        </p:nvSpPr>
        <p:spPr>
          <a:xfrm>
            <a:off x="3962323" y="4187952"/>
            <a:ext cx="1831771" cy="347472"/>
          </a:xfrm>
          <a:prstGeom prst="rect">
            <a:avLst/>
          </a:prstGeom>
          <a:noFill/>
        </p:spPr>
        <p:txBody>
          <a:bodyPr wrap="square" lIns="0" rIns="0" tIns="0" bIns="0" anchor="ctr">
            <a:spAutoFit/>
          </a:bodyPr>
          <a:lstStyle/>
          <a:p>
            <a:pPr algn="l">
              <a:lnSpc>
                <a:spcPct val="118000"/>
              </a:lnSpc>
              <a:spcAft>
                <a:spcPts val="0"/>
              </a:spcAft>
            </a:pPr>
            <a:r>
              <a:rPr sz="1000" b="0">
                <a:solidFill>
                  <a:srgbClr val="0D1B2A"/>
                </a:solidFill>
                <a:latin typeface="Calibri"/>
              </a:rPr>
              <a:t>directe uren, daarna de indirecte uren</a:t>
            </a:r>
          </a:p>
        </p:txBody>
      </p:sp>
      <p:cxnSp>
        <p:nvCxnSpPr>
          <p:cNvPr id="44" name="Connector 43"/>
          <p:cNvCxnSpPr/>
          <p:nvPr/>
        </p:nvCxnSpPr>
        <p:spPr>
          <a:xfrm>
            <a:off x="3669715" y="4572000"/>
            <a:ext cx="2124380"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3669715" y="4608576"/>
            <a:ext cx="274320" cy="347472"/>
          </a:xfrm>
          <a:prstGeom prst="rect">
            <a:avLst/>
          </a:prstGeom>
          <a:noFill/>
        </p:spPr>
        <p:txBody>
          <a:bodyPr wrap="square" lIns="0" rIns="0" tIns="0" bIns="0" anchor="ctr">
            <a:spAutoFit/>
          </a:bodyPr>
          <a:lstStyle/>
          <a:p>
            <a:pPr algn="l">
              <a:lnSpc>
                <a:spcPct val="120000"/>
              </a:lnSpc>
              <a:spcAft>
                <a:spcPts val="0"/>
              </a:spcAft>
            </a:pPr>
            <a:r>
              <a:rPr sz="850" b="1">
                <a:solidFill>
                  <a:srgbClr val="5793C5"/>
                </a:solidFill>
                <a:latin typeface="Calibri"/>
              </a:rPr>
              <a:t>04</a:t>
            </a:r>
          </a:p>
        </p:txBody>
      </p:sp>
      <p:sp>
        <p:nvSpPr>
          <p:cNvPr id="46" name="TextBox 45"/>
          <p:cNvSpPr txBox="1"/>
          <p:nvPr/>
        </p:nvSpPr>
        <p:spPr>
          <a:xfrm>
            <a:off x="3962323" y="4608576"/>
            <a:ext cx="1831771" cy="347472"/>
          </a:xfrm>
          <a:prstGeom prst="rect">
            <a:avLst/>
          </a:prstGeom>
          <a:noFill/>
        </p:spPr>
        <p:txBody>
          <a:bodyPr wrap="square" lIns="0" rIns="0" tIns="0" bIns="0" anchor="ctr">
            <a:spAutoFit/>
          </a:bodyPr>
          <a:lstStyle/>
          <a:p>
            <a:pPr algn="l">
              <a:lnSpc>
                <a:spcPct val="118000"/>
              </a:lnSpc>
              <a:spcAft>
                <a:spcPts val="0"/>
              </a:spcAft>
            </a:pPr>
            <a:r>
              <a:rPr sz="1000" b="0">
                <a:solidFill>
                  <a:srgbClr val="0D1B2A"/>
                </a:solidFill>
                <a:latin typeface="Calibri"/>
              </a:rPr>
              <a:t>fte-berekening per afdeling</a:t>
            </a:r>
          </a:p>
        </p:txBody>
      </p:sp>
      <p:sp>
        <p:nvSpPr>
          <p:cNvPr id="47" name="Rounded Rectangle 46"/>
          <p:cNvSpPr/>
          <p:nvPr/>
        </p:nvSpPr>
        <p:spPr>
          <a:xfrm>
            <a:off x="3495979" y="4956048"/>
            <a:ext cx="2471851" cy="502920"/>
          </a:xfrm>
          <a:prstGeom prst="roundRect">
            <a:avLst>
              <a:gd name="adj" fmla="val 3000"/>
            </a:avLst>
          </a:prstGeom>
          <a:solidFill>
            <a:srgbClr val="DAE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3669715" y="5001768"/>
            <a:ext cx="2124379" cy="182880"/>
          </a:xfrm>
          <a:prstGeom prst="rect">
            <a:avLst/>
          </a:prstGeom>
          <a:noFill/>
        </p:spPr>
        <p:txBody>
          <a:bodyPr wrap="square" lIns="0" rIns="0" tIns="0" bIns="0" anchor="t">
            <a:spAutoFit/>
          </a:bodyPr>
          <a:lstStyle/>
          <a:p>
            <a:pPr algn="l">
              <a:lnSpc>
                <a:spcPct val="120000"/>
              </a:lnSpc>
              <a:spcAft>
                <a:spcPts val="0"/>
              </a:spcAft>
            </a:pPr>
            <a:r>
              <a:rPr sz="750" b="1" spc="140">
                <a:solidFill>
                  <a:srgbClr val="8B9AAA"/>
                </a:solidFill>
                <a:latin typeface="Calibri"/>
              </a:rPr>
              <a:t>LEVERT OP</a:t>
            </a:r>
          </a:p>
        </p:txBody>
      </p:sp>
      <p:sp>
        <p:nvSpPr>
          <p:cNvPr id="49" name="TextBox 48"/>
          <p:cNvSpPr txBox="1"/>
          <p:nvPr/>
        </p:nvSpPr>
        <p:spPr>
          <a:xfrm>
            <a:off x="3669715" y="5175504"/>
            <a:ext cx="2124379" cy="237744"/>
          </a:xfrm>
          <a:prstGeom prst="rect">
            <a:avLst/>
          </a:prstGeom>
          <a:noFill/>
        </p:spPr>
        <p:txBody>
          <a:bodyPr wrap="square" lIns="0" rIns="0" tIns="0" bIns="0" anchor="t">
            <a:spAutoFit/>
          </a:bodyPr>
          <a:lstStyle/>
          <a:p>
            <a:pPr algn="l">
              <a:lnSpc>
                <a:spcPct val="120000"/>
              </a:lnSpc>
              <a:spcAft>
                <a:spcPts val="0"/>
              </a:spcAft>
            </a:pPr>
            <a:r>
              <a:rPr sz="1150" b="1">
                <a:solidFill>
                  <a:srgbClr val="1F6FB2"/>
                </a:solidFill>
                <a:latin typeface="Calibri"/>
              </a:rPr>
              <a:t>fte per afdeling</a:t>
            </a:r>
          </a:p>
        </p:txBody>
      </p:sp>
      <p:sp>
        <p:nvSpPr>
          <p:cNvPr id="50" name="Right Arrow 49"/>
          <p:cNvSpPr/>
          <p:nvPr/>
        </p:nvSpPr>
        <p:spPr>
          <a:xfrm>
            <a:off x="8732291" y="2066544"/>
            <a:ext cx="182880" cy="182880"/>
          </a:xfrm>
          <a:prstGeom prst="rightArrow">
            <a:avLst/>
          </a:prstGeom>
          <a:solidFill>
            <a:srgbClr val="6B4BA8">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6956869" y="1655064"/>
            <a:ext cx="1005840" cy="1005840"/>
          </a:xfrm>
          <a:prstGeom prst="roundRect">
            <a:avLst>
              <a:gd name="adj" fmla="val 50000"/>
            </a:avLst>
          </a:prstGeom>
          <a:solidFill>
            <a:srgbClr val="E4E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p:cNvSpPr/>
          <p:nvPr/>
        </p:nvSpPr>
        <p:spPr>
          <a:xfrm>
            <a:off x="7075741" y="1773936"/>
            <a:ext cx="768096" cy="768096"/>
          </a:xfrm>
          <a:prstGeom prst="roundRect">
            <a:avLst>
              <a:gd name="adj" fmla="val 50000"/>
            </a:avLst>
          </a:prstGeom>
          <a:solidFill>
            <a:srgbClr val="FFFFFF"/>
          </a:solidFill>
          <a:ln w="25400">
            <a:solidFill>
              <a:srgbClr val="6B4BA8"/>
            </a:solidFill>
          </a:ln>
          <a:effectLst>
            <a:outerShdw blurRad="50000" dist="14000" dir="5400000" rotWithShape="0">
              <a:srgbClr val="1B3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7075741" y="1956816"/>
            <a:ext cx="768096" cy="402336"/>
          </a:xfrm>
          <a:prstGeom prst="rect">
            <a:avLst/>
          </a:prstGeom>
          <a:noFill/>
        </p:spPr>
        <p:txBody>
          <a:bodyPr wrap="square" lIns="0" rIns="0" tIns="0" bIns="0" anchor="ctr">
            <a:spAutoFit/>
          </a:bodyPr>
          <a:lstStyle/>
          <a:p>
            <a:pPr algn="ctr">
              <a:lnSpc>
                <a:spcPct val="120000"/>
              </a:lnSpc>
              <a:spcAft>
                <a:spcPts val="0"/>
              </a:spcAft>
            </a:pPr>
            <a:r>
              <a:rPr sz="2000" b="1">
                <a:solidFill>
                  <a:srgbClr val="6B4BA8"/>
                </a:solidFill>
                <a:latin typeface="Calibri"/>
              </a:rPr>
              <a:t>03</a:t>
            </a:r>
          </a:p>
        </p:txBody>
      </p:sp>
      <p:sp>
        <p:nvSpPr>
          <p:cNvPr id="54" name="TextBox 53"/>
          <p:cNvSpPr txBox="1"/>
          <p:nvPr/>
        </p:nvSpPr>
        <p:spPr>
          <a:xfrm>
            <a:off x="6214719" y="2724912"/>
            <a:ext cx="2490139" cy="402336"/>
          </a:xfrm>
          <a:prstGeom prst="rect">
            <a:avLst/>
          </a:prstGeom>
          <a:noFill/>
        </p:spPr>
        <p:txBody>
          <a:bodyPr wrap="square" lIns="0" rIns="0" tIns="0" bIns="0" anchor="t">
            <a:spAutoFit/>
          </a:bodyPr>
          <a:lstStyle/>
          <a:p>
            <a:pPr algn="ctr">
              <a:lnSpc>
                <a:spcPct val="114000"/>
              </a:lnSpc>
              <a:spcAft>
                <a:spcPts val="0"/>
              </a:spcAft>
            </a:pPr>
            <a:r>
              <a:rPr sz="1600" b="1">
                <a:solidFill>
                  <a:srgbClr val="0D1B2A"/>
                </a:solidFill>
                <a:latin typeface="Calibri"/>
              </a:rPr>
              <a:t>Personele planning</a:t>
            </a:r>
          </a:p>
        </p:txBody>
      </p:sp>
      <p:sp>
        <p:nvSpPr>
          <p:cNvPr id="55" name="Rounded Rectangle 54"/>
          <p:cNvSpPr/>
          <p:nvPr/>
        </p:nvSpPr>
        <p:spPr>
          <a:xfrm>
            <a:off x="6214719" y="3163824"/>
            <a:ext cx="2490139" cy="2304288"/>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p:cNvSpPr/>
          <p:nvPr/>
        </p:nvSpPr>
        <p:spPr>
          <a:xfrm>
            <a:off x="6214719" y="3163824"/>
            <a:ext cx="2490139" cy="50292"/>
          </a:xfrm>
          <a:prstGeom prst="roundRect">
            <a:avLst>
              <a:gd name="adj" fmla="val 50000"/>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397599" y="3346704"/>
            <a:ext cx="274320" cy="347472"/>
          </a:xfrm>
          <a:prstGeom prst="rect">
            <a:avLst/>
          </a:prstGeom>
          <a:noFill/>
        </p:spPr>
        <p:txBody>
          <a:bodyPr wrap="square" lIns="0" rIns="0" tIns="0" bIns="0" anchor="ctr">
            <a:spAutoFit/>
          </a:bodyPr>
          <a:lstStyle/>
          <a:p>
            <a:pPr algn="l">
              <a:lnSpc>
                <a:spcPct val="120000"/>
              </a:lnSpc>
              <a:spcAft>
                <a:spcPts val="0"/>
              </a:spcAft>
            </a:pPr>
            <a:r>
              <a:rPr sz="850" b="1">
                <a:solidFill>
                  <a:srgbClr val="9078BE"/>
                </a:solidFill>
                <a:latin typeface="Calibri"/>
              </a:rPr>
              <a:t>01</a:t>
            </a:r>
          </a:p>
        </p:txBody>
      </p:sp>
      <p:sp>
        <p:nvSpPr>
          <p:cNvPr id="58" name="TextBox 57"/>
          <p:cNvSpPr txBox="1"/>
          <p:nvPr/>
        </p:nvSpPr>
        <p:spPr>
          <a:xfrm>
            <a:off x="6690207" y="3346704"/>
            <a:ext cx="1831771" cy="347472"/>
          </a:xfrm>
          <a:prstGeom prst="rect">
            <a:avLst/>
          </a:prstGeom>
          <a:noFill/>
        </p:spPr>
        <p:txBody>
          <a:bodyPr wrap="square" lIns="0" rIns="0" tIns="0" bIns="0" anchor="ctr">
            <a:spAutoFit/>
          </a:bodyPr>
          <a:lstStyle/>
          <a:p>
            <a:pPr algn="l">
              <a:lnSpc>
                <a:spcPct val="118000"/>
              </a:lnSpc>
              <a:spcAft>
                <a:spcPts val="0"/>
              </a:spcAft>
            </a:pPr>
            <a:r>
              <a:rPr sz="1000" b="0">
                <a:solidFill>
                  <a:srgbClr val="0D1B2A"/>
                </a:solidFill>
                <a:latin typeface="Calibri"/>
              </a:rPr>
              <a:t>urenoverzicht per afdeling</a:t>
            </a:r>
          </a:p>
        </p:txBody>
      </p:sp>
      <p:cxnSp>
        <p:nvCxnSpPr>
          <p:cNvPr id="59" name="Connector 58"/>
          <p:cNvCxnSpPr/>
          <p:nvPr/>
        </p:nvCxnSpPr>
        <p:spPr>
          <a:xfrm>
            <a:off x="6397599" y="3730752"/>
            <a:ext cx="2124380"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6397599" y="3767328"/>
            <a:ext cx="274320" cy="347472"/>
          </a:xfrm>
          <a:prstGeom prst="rect">
            <a:avLst/>
          </a:prstGeom>
          <a:noFill/>
        </p:spPr>
        <p:txBody>
          <a:bodyPr wrap="square" lIns="0" rIns="0" tIns="0" bIns="0" anchor="ctr">
            <a:spAutoFit/>
          </a:bodyPr>
          <a:lstStyle/>
          <a:p>
            <a:pPr algn="l">
              <a:lnSpc>
                <a:spcPct val="120000"/>
              </a:lnSpc>
              <a:spcAft>
                <a:spcPts val="0"/>
              </a:spcAft>
            </a:pPr>
            <a:r>
              <a:rPr sz="850" b="1">
                <a:solidFill>
                  <a:srgbClr val="9078BE"/>
                </a:solidFill>
                <a:latin typeface="Calibri"/>
              </a:rPr>
              <a:t>02</a:t>
            </a:r>
          </a:p>
        </p:txBody>
      </p:sp>
      <p:sp>
        <p:nvSpPr>
          <p:cNvPr id="61" name="TextBox 60"/>
          <p:cNvSpPr txBox="1"/>
          <p:nvPr/>
        </p:nvSpPr>
        <p:spPr>
          <a:xfrm>
            <a:off x="6690207" y="3767328"/>
            <a:ext cx="1831771" cy="347472"/>
          </a:xfrm>
          <a:prstGeom prst="rect">
            <a:avLst/>
          </a:prstGeom>
          <a:noFill/>
        </p:spPr>
        <p:txBody>
          <a:bodyPr wrap="square" lIns="0" rIns="0" tIns="0" bIns="0" anchor="ctr">
            <a:spAutoFit/>
          </a:bodyPr>
          <a:lstStyle/>
          <a:p>
            <a:pPr algn="l">
              <a:lnSpc>
                <a:spcPct val="118000"/>
              </a:lnSpc>
              <a:spcAft>
                <a:spcPts val="0"/>
              </a:spcAft>
            </a:pPr>
            <a:r>
              <a:rPr sz="1000" b="0">
                <a:solidFill>
                  <a:srgbClr val="0D1B2A"/>
                </a:solidFill>
                <a:latin typeface="Calibri"/>
              </a:rPr>
              <a:t>opbouw in Ortec</a:t>
            </a:r>
          </a:p>
        </p:txBody>
      </p:sp>
      <p:cxnSp>
        <p:nvCxnSpPr>
          <p:cNvPr id="62" name="Connector 61"/>
          <p:cNvCxnSpPr/>
          <p:nvPr/>
        </p:nvCxnSpPr>
        <p:spPr>
          <a:xfrm>
            <a:off x="6397599" y="4151376"/>
            <a:ext cx="2124380"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6397599" y="4187952"/>
            <a:ext cx="274320" cy="347472"/>
          </a:xfrm>
          <a:prstGeom prst="rect">
            <a:avLst/>
          </a:prstGeom>
          <a:noFill/>
        </p:spPr>
        <p:txBody>
          <a:bodyPr wrap="square" lIns="0" rIns="0" tIns="0" bIns="0" anchor="ctr">
            <a:spAutoFit/>
          </a:bodyPr>
          <a:lstStyle/>
          <a:p>
            <a:pPr algn="l">
              <a:lnSpc>
                <a:spcPct val="120000"/>
              </a:lnSpc>
              <a:spcAft>
                <a:spcPts val="0"/>
              </a:spcAft>
            </a:pPr>
            <a:r>
              <a:rPr sz="850" b="1">
                <a:solidFill>
                  <a:srgbClr val="9078BE"/>
                </a:solidFill>
                <a:latin typeface="Calibri"/>
              </a:rPr>
              <a:t>03</a:t>
            </a:r>
          </a:p>
        </p:txBody>
      </p:sp>
      <p:sp>
        <p:nvSpPr>
          <p:cNvPr id="64" name="TextBox 63"/>
          <p:cNvSpPr txBox="1"/>
          <p:nvPr/>
        </p:nvSpPr>
        <p:spPr>
          <a:xfrm>
            <a:off x="6690207" y="4187952"/>
            <a:ext cx="1831771" cy="347472"/>
          </a:xfrm>
          <a:prstGeom prst="rect">
            <a:avLst/>
          </a:prstGeom>
          <a:noFill/>
        </p:spPr>
        <p:txBody>
          <a:bodyPr wrap="square" lIns="0" rIns="0" tIns="0" bIns="0" anchor="ctr">
            <a:spAutoFit/>
          </a:bodyPr>
          <a:lstStyle/>
          <a:p>
            <a:pPr algn="l">
              <a:lnSpc>
                <a:spcPct val="118000"/>
              </a:lnSpc>
              <a:spcAft>
                <a:spcPts val="0"/>
              </a:spcAft>
            </a:pPr>
            <a:r>
              <a:rPr sz="1000" b="0">
                <a:solidFill>
                  <a:srgbClr val="0D1B2A"/>
                </a:solidFill>
                <a:latin typeface="Calibri"/>
              </a:rPr>
              <a:t>planning door CPP</a:t>
            </a:r>
          </a:p>
        </p:txBody>
      </p:sp>
      <p:cxnSp>
        <p:nvCxnSpPr>
          <p:cNvPr id="65" name="Connector 64"/>
          <p:cNvCxnSpPr/>
          <p:nvPr/>
        </p:nvCxnSpPr>
        <p:spPr>
          <a:xfrm>
            <a:off x="6397599" y="4572000"/>
            <a:ext cx="2124380"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6397599" y="4608576"/>
            <a:ext cx="274320" cy="347472"/>
          </a:xfrm>
          <a:prstGeom prst="rect">
            <a:avLst/>
          </a:prstGeom>
          <a:noFill/>
        </p:spPr>
        <p:txBody>
          <a:bodyPr wrap="square" lIns="0" rIns="0" tIns="0" bIns="0" anchor="ctr">
            <a:spAutoFit/>
          </a:bodyPr>
          <a:lstStyle/>
          <a:p>
            <a:pPr algn="l">
              <a:lnSpc>
                <a:spcPct val="120000"/>
              </a:lnSpc>
              <a:spcAft>
                <a:spcPts val="0"/>
              </a:spcAft>
            </a:pPr>
            <a:r>
              <a:rPr sz="850" b="1">
                <a:solidFill>
                  <a:srgbClr val="C87E12"/>
                </a:solidFill>
                <a:latin typeface="Calibri"/>
              </a:rPr>
              <a:t>04</a:t>
            </a:r>
          </a:p>
        </p:txBody>
      </p:sp>
      <p:sp>
        <p:nvSpPr>
          <p:cNvPr id="67" name="TextBox 66"/>
          <p:cNvSpPr txBox="1"/>
          <p:nvPr/>
        </p:nvSpPr>
        <p:spPr>
          <a:xfrm>
            <a:off x="6690207" y="4608576"/>
            <a:ext cx="1831771" cy="347472"/>
          </a:xfrm>
          <a:prstGeom prst="rect">
            <a:avLst/>
          </a:prstGeom>
          <a:noFill/>
        </p:spPr>
        <p:txBody>
          <a:bodyPr wrap="square" lIns="0" rIns="0" tIns="0" bIns="0" anchor="ctr">
            <a:spAutoFit/>
          </a:bodyPr>
          <a:lstStyle/>
          <a:p>
            <a:pPr algn="l">
              <a:lnSpc>
                <a:spcPct val="118000"/>
              </a:lnSpc>
              <a:spcAft>
                <a:spcPts val="0"/>
              </a:spcAft>
            </a:pPr>
            <a:r>
              <a:rPr sz="1000" b="0">
                <a:solidFill>
                  <a:srgbClr val="C87E12"/>
                </a:solidFill>
                <a:latin typeface="Calibri"/>
              </a:rPr>
              <a:t>verdere stappen nog niet uitgeschreven</a:t>
            </a:r>
          </a:p>
        </p:txBody>
      </p:sp>
      <p:sp>
        <p:nvSpPr>
          <p:cNvPr id="68" name="Rounded Rectangle 67"/>
          <p:cNvSpPr/>
          <p:nvPr/>
        </p:nvSpPr>
        <p:spPr>
          <a:xfrm>
            <a:off x="6223863" y="4956048"/>
            <a:ext cx="2471851" cy="502920"/>
          </a:xfrm>
          <a:prstGeom prst="roundRect">
            <a:avLst>
              <a:gd name="adj" fmla="val 3000"/>
            </a:avLst>
          </a:prstGeom>
          <a:solidFill>
            <a:srgbClr val="E2E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6397599" y="5001768"/>
            <a:ext cx="2124379" cy="182880"/>
          </a:xfrm>
          <a:prstGeom prst="rect">
            <a:avLst/>
          </a:prstGeom>
          <a:noFill/>
        </p:spPr>
        <p:txBody>
          <a:bodyPr wrap="square" lIns="0" rIns="0" tIns="0" bIns="0" anchor="t">
            <a:spAutoFit/>
          </a:bodyPr>
          <a:lstStyle/>
          <a:p>
            <a:pPr algn="l">
              <a:lnSpc>
                <a:spcPct val="120000"/>
              </a:lnSpc>
              <a:spcAft>
                <a:spcPts val="0"/>
              </a:spcAft>
            </a:pPr>
            <a:r>
              <a:rPr sz="750" b="1" spc="140">
                <a:solidFill>
                  <a:srgbClr val="8B9AAA"/>
                </a:solidFill>
                <a:latin typeface="Calibri"/>
              </a:rPr>
              <a:t>LEVERT OP</a:t>
            </a:r>
          </a:p>
        </p:txBody>
      </p:sp>
      <p:sp>
        <p:nvSpPr>
          <p:cNvPr id="70" name="TextBox 69"/>
          <p:cNvSpPr txBox="1"/>
          <p:nvPr/>
        </p:nvSpPr>
        <p:spPr>
          <a:xfrm>
            <a:off x="6397599" y="5175504"/>
            <a:ext cx="2124379" cy="237744"/>
          </a:xfrm>
          <a:prstGeom prst="rect">
            <a:avLst/>
          </a:prstGeom>
          <a:noFill/>
        </p:spPr>
        <p:txBody>
          <a:bodyPr wrap="square" lIns="0" rIns="0" tIns="0" bIns="0" anchor="t">
            <a:spAutoFit/>
          </a:bodyPr>
          <a:lstStyle/>
          <a:p>
            <a:pPr algn="l">
              <a:lnSpc>
                <a:spcPct val="120000"/>
              </a:lnSpc>
              <a:spcAft>
                <a:spcPts val="0"/>
              </a:spcAft>
            </a:pPr>
            <a:r>
              <a:rPr sz="1150" b="1">
                <a:solidFill>
                  <a:srgbClr val="6B4BA8"/>
                </a:solidFill>
                <a:latin typeface="Calibri"/>
              </a:rPr>
              <a:t>het rooster</a:t>
            </a:r>
          </a:p>
        </p:txBody>
      </p:sp>
      <p:sp>
        <p:nvSpPr>
          <p:cNvPr id="71" name="Rounded Rectangle 70"/>
          <p:cNvSpPr/>
          <p:nvPr/>
        </p:nvSpPr>
        <p:spPr>
          <a:xfrm>
            <a:off x="9684753" y="1655064"/>
            <a:ext cx="1005840" cy="1005840"/>
          </a:xfrm>
          <a:prstGeom prst="roundRect">
            <a:avLst>
              <a:gd name="adj" fmla="val 50000"/>
            </a:avLst>
          </a:prstGeom>
          <a:solidFill>
            <a:srgbClr val="EDEA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Rounded Rectangle 71"/>
          <p:cNvSpPr/>
          <p:nvPr/>
        </p:nvSpPr>
        <p:spPr>
          <a:xfrm>
            <a:off x="9803625" y="1773936"/>
            <a:ext cx="768096" cy="768096"/>
          </a:xfrm>
          <a:prstGeom prst="roundRect">
            <a:avLst>
              <a:gd name="adj" fmla="val 50000"/>
            </a:avLst>
          </a:prstGeom>
          <a:solidFill>
            <a:srgbClr val="FFFFFF"/>
          </a:solidFill>
          <a:ln w="25400">
            <a:solidFill>
              <a:srgbClr val="C87E12"/>
            </a:solidFill>
          </a:ln>
          <a:effectLst>
            <a:outerShdw blurRad="50000" dist="14000" dir="5400000" rotWithShape="0">
              <a:srgbClr val="1B3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9803625" y="1956816"/>
            <a:ext cx="768096" cy="402336"/>
          </a:xfrm>
          <a:prstGeom prst="rect">
            <a:avLst/>
          </a:prstGeom>
          <a:noFill/>
        </p:spPr>
        <p:txBody>
          <a:bodyPr wrap="square" lIns="0" rIns="0" tIns="0" bIns="0" anchor="ctr">
            <a:spAutoFit/>
          </a:bodyPr>
          <a:lstStyle/>
          <a:p>
            <a:pPr algn="ctr">
              <a:lnSpc>
                <a:spcPct val="120000"/>
              </a:lnSpc>
              <a:spcAft>
                <a:spcPts val="0"/>
              </a:spcAft>
            </a:pPr>
            <a:r>
              <a:rPr sz="2000" b="1">
                <a:solidFill>
                  <a:srgbClr val="C87E12"/>
                </a:solidFill>
                <a:latin typeface="Calibri"/>
              </a:rPr>
              <a:t>04</a:t>
            </a:r>
          </a:p>
        </p:txBody>
      </p:sp>
      <p:sp>
        <p:nvSpPr>
          <p:cNvPr id="74" name="TextBox 73"/>
          <p:cNvSpPr txBox="1"/>
          <p:nvPr/>
        </p:nvSpPr>
        <p:spPr>
          <a:xfrm>
            <a:off x="8942603" y="2724912"/>
            <a:ext cx="2490139" cy="402336"/>
          </a:xfrm>
          <a:prstGeom prst="rect">
            <a:avLst/>
          </a:prstGeom>
          <a:noFill/>
        </p:spPr>
        <p:txBody>
          <a:bodyPr wrap="square" lIns="0" rIns="0" tIns="0" bIns="0" anchor="t">
            <a:spAutoFit/>
          </a:bodyPr>
          <a:lstStyle/>
          <a:p>
            <a:pPr algn="ctr">
              <a:lnSpc>
                <a:spcPct val="114000"/>
              </a:lnSpc>
              <a:spcAft>
                <a:spcPts val="0"/>
              </a:spcAft>
            </a:pPr>
            <a:r>
              <a:rPr sz="1600" b="1">
                <a:solidFill>
                  <a:srgbClr val="0D1B2A"/>
                </a:solidFill>
                <a:latin typeface="Calibri"/>
              </a:rPr>
              <a:t>Financiële begroting</a:t>
            </a:r>
          </a:p>
        </p:txBody>
      </p:sp>
      <p:sp>
        <p:nvSpPr>
          <p:cNvPr id="75" name="Rounded Rectangle 74"/>
          <p:cNvSpPr/>
          <p:nvPr/>
        </p:nvSpPr>
        <p:spPr>
          <a:xfrm>
            <a:off x="8942603" y="3163824"/>
            <a:ext cx="2490139" cy="2304288"/>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Rounded Rectangle 75"/>
          <p:cNvSpPr/>
          <p:nvPr/>
        </p:nvSpPr>
        <p:spPr>
          <a:xfrm>
            <a:off x="8942603" y="3163824"/>
            <a:ext cx="2490139" cy="50292"/>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9125483" y="3346704"/>
            <a:ext cx="274320" cy="347472"/>
          </a:xfrm>
          <a:prstGeom prst="rect">
            <a:avLst/>
          </a:prstGeom>
          <a:noFill/>
        </p:spPr>
        <p:txBody>
          <a:bodyPr wrap="square" lIns="0" rIns="0" tIns="0" bIns="0" anchor="ctr">
            <a:spAutoFit/>
          </a:bodyPr>
          <a:lstStyle/>
          <a:p>
            <a:pPr algn="l">
              <a:lnSpc>
                <a:spcPct val="120000"/>
              </a:lnSpc>
              <a:spcAft>
                <a:spcPts val="0"/>
              </a:spcAft>
            </a:pPr>
            <a:r>
              <a:rPr sz="850" b="1">
                <a:solidFill>
                  <a:srgbClr val="D69E4D"/>
                </a:solidFill>
                <a:latin typeface="Calibri"/>
              </a:rPr>
              <a:t>01</a:t>
            </a:r>
          </a:p>
        </p:txBody>
      </p:sp>
      <p:sp>
        <p:nvSpPr>
          <p:cNvPr id="78" name="TextBox 77"/>
          <p:cNvSpPr txBox="1"/>
          <p:nvPr/>
        </p:nvSpPr>
        <p:spPr>
          <a:xfrm>
            <a:off x="9418091" y="3346704"/>
            <a:ext cx="1831771" cy="347472"/>
          </a:xfrm>
          <a:prstGeom prst="rect">
            <a:avLst/>
          </a:prstGeom>
          <a:noFill/>
        </p:spPr>
        <p:txBody>
          <a:bodyPr wrap="square" lIns="0" rIns="0" tIns="0" bIns="0" anchor="ctr">
            <a:spAutoFit/>
          </a:bodyPr>
          <a:lstStyle/>
          <a:p>
            <a:pPr algn="l">
              <a:lnSpc>
                <a:spcPct val="118000"/>
              </a:lnSpc>
              <a:spcAft>
                <a:spcPts val="0"/>
              </a:spcAft>
            </a:pPr>
            <a:r>
              <a:rPr sz="1000" b="0">
                <a:solidFill>
                  <a:srgbClr val="0D1B2A"/>
                </a:solidFill>
                <a:latin typeface="Calibri"/>
              </a:rPr>
              <a:t>bruto arbeidsduur volgens de cao</a:t>
            </a:r>
          </a:p>
        </p:txBody>
      </p:sp>
      <p:cxnSp>
        <p:nvCxnSpPr>
          <p:cNvPr id="79" name="Connector 78"/>
          <p:cNvCxnSpPr/>
          <p:nvPr/>
        </p:nvCxnSpPr>
        <p:spPr>
          <a:xfrm>
            <a:off x="9125483" y="3730752"/>
            <a:ext cx="2124380"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9125483" y="3767328"/>
            <a:ext cx="274320" cy="347472"/>
          </a:xfrm>
          <a:prstGeom prst="rect">
            <a:avLst/>
          </a:prstGeom>
          <a:noFill/>
        </p:spPr>
        <p:txBody>
          <a:bodyPr wrap="square" lIns="0" rIns="0" tIns="0" bIns="0" anchor="ctr">
            <a:spAutoFit/>
          </a:bodyPr>
          <a:lstStyle/>
          <a:p>
            <a:pPr algn="l">
              <a:lnSpc>
                <a:spcPct val="120000"/>
              </a:lnSpc>
              <a:spcAft>
                <a:spcPts val="0"/>
              </a:spcAft>
            </a:pPr>
            <a:r>
              <a:rPr sz="850" b="1">
                <a:solidFill>
                  <a:srgbClr val="D69E4D"/>
                </a:solidFill>
                <a:latin typeface="Calibri"/>
              </a:rPr>
              <a:t>02</a:t>
            </a:r>
          </a:p>
        </p:txBody>
      </p:sp>
      <p:sp>
        <p:nvSpPr>
          <p:cNvPr id="81" name="TextBox 80"/>
          <p:cNvSpPr txBox="1"/>
          <p:nvPr/>
        </p:nvSpPr>
        <p:spPr>
          <a:xfrm>
            <a:off x="9418091" y="3767328"/>
            <a:ext cx="1831771" cy="347472"/>
          </a:xfrm>
          <a:prstGeom prst="rect">
            <a:avLst/>
          </a:prstGeom>
          <a:noFill/>
        </p:spPr>
        <p:txBody>
          <a:bodyPr wrap="square" lIns="0" rIns="0" tIns="0" bIns="0" anchor="ctr">
            <a:spAutoFit/>
          </a:bodyPr>
          <a:lstStyle/>
          <a:p>
            <a:pPr algn="l">
              <a:lnSpc>
                <a:spcPct val="118000"/>
              </a:lnSpc>
              <a:spcAft>
                <a:spcPts val="0"/>
              </a:spcAft>
            </a:pPr>
            <a:r>
              <a:rPr sz="1000" b="0">
                <a:solidFill>
                  <a:srgbClr val="0D1B2A"/>
                </a:solidFill>
                <a:latin typeface="Calibri"/>
              </a:rPr>
              <a:t>afwezigheid eraf: netto inzetbaarheid</a:t>
            </a:r>
          </a:p>
        </p:txBody>
      </p:sp>
      <p:cxnSp>
        <p:nvCxnSpPr>
          <p:cNvPr id="82" name="Connector 81"/>
          <p:cNvCxnSpPr/>
          <p:nvPr/>
        </p:nvCxnSpPr>
        <p:spPr>
          <a:xfrm>
            <a:off x="9125483" y="4151376"/>
            <a:ext cx="2124380"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3" name="TextBox 82"/>
          <p:cNvSpPr txBox="1"/>
          <p:nvPr/>
        </p:nvSpPr>
        <p:spPr>
          <a:xfrm>
            <a:off x="9125483" y="4187952"/>
            <a:ext cx="274320" cy="347472"/>
          </a:xfrm>
          <a:prstGeom prst="rect">
            <a:avLst/>
          </a:prstGeom>
          <a:noFill/>
        </p:spPr>
        <p:txBody>
          <a:bodyPr wrap="square" lIns="0" rIns="0" tIns="0" bIns="0" anchor="ctr">
            <a:spAutoFit/>
          </a:bodyPr>
          <a:lstStyle/>
          <a:p>
            <a:pPr algn="l">
              <a:lnSpc>
                <a:spcPct val="120000"/>
              </a:lnSpc>
              <a:spcAft>
                <a:spcPts val="0"/>
              </a:spcAft>
            </a:pPr>
            <a:r>
              <a:rPr sz="850" b="1">
                <a:solidFill>
                  <a:srgbClr val="D69E4D"/>
                </a:solidFill>
                <a:latin typeface="Calibri"/>
              </a:rPr>
              <a:t>03</a:t>
            </a:r>
          </a:p>
        </p:txBody>
      </p:sp>
      <p:sp>
        <p:nvSpPr>
          <p:cNvPr id="84" name="TextBox 83"/>
          <p:cNvSpPr txBox="1"/>
          <p:nvPr/>
        </p:nvSpPr>
        <p:spPr>
          <a:xfrm>
            <a:off x="9418091" y="4187952"/>
            <a:ext cx="1831771" cy="347472"/>
          </a:xfrm>
          <a:prstGeom prst="rect">
            <a:avLst/>
          </a:prstGeom>
          <a:noFill/>
        </p:spPr>
        <p:txBody>
          <a:bodyPr wrap="square" lIns="0" rIns="0" tIns="0" bIns="0" anchor="ctr">
            <a:spAutoFit/>
          </a:bodyPr>
          <a:lstStyle/>
          <a:p>
            <a:pPr algn="l">
              <a:lnSpc>
                <a:spcPct val="118000"/>
              </a:lnSpc>
              <a:spcAft>
                <a:spcPts val="0"/>
              </a:spcAft>
            </a:pPr>
            <a:r>
              <a:rPr sz="1000" b="0">
                <a:solidFill>
                  <a:srgbClr val="0D1B2A"/>
                </a:solidFill>
                <a:latin typeface="Calibri"/>
              </a:rPr>
              <a:t>benodigde uren vanuit BIC</a:t>
            </a:r>
          </a:p>
        </p:txBody>
      </p:sp>
      <p:cxnSp>
        <p:nvCxnSpPr>
          <p:cNvPr id="85" name="Connector 84"/>
          <p:cNvCxnSpPr/>
          <p:nvPr/>
        </p:nvCxnSpPr>
        <p:spPr>
          <a:xfrm>
            <a:off x="9125483" y="4572000"/>
            <a:ext cx="2124380"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6" name="TextBox 85"/>
          <p:cNvSpPr txBox="1"/>
          <p:nvPr/>
        </p:nvSpPr>
        <p:spPr>
          <a:xfrm>
            <a:off x="9125483" y="4608576"/>
            <a:ext cx="274320" cy="347472"/>
          </a:xfrm>
          <a:prstGeom prst="rect">
            <a:avLst/>
          </a:prstGeom>
          <a:noFill/>
        </p:spPr>
        <p:txBody>
          <a:bodyPr wrap="square" lIns="0" rIns="0" tIns="0" bIns="0" anchor="ctr">
            <a:spAutoFit/>
          </a:bodyPr>
          <a:lstStyle/>
          <a:p>
            <a:pPr algn="l">
              <a:lnSpc>
                <a:spcPct val="120000"/>
              </a:lnSpc>
              <a:spcAft>
                <a:spcPts val="0"/>
              </a:spcAft>
            </a:pPr>
            <a:r>
              <a:rPr sz="850" b="1">
                <a:solidFill>
                  <a:srgbClr val="D69E4D"/>
                </a:solidFill>
                <a:latin typeface="Calibri"/>
              </a:rPr>
              <a:t>04</a:t>
            </a:r>
          </a:p>
        </p:txBody>
      </p:sp>
      <p:sp>
        <p:nvSpPr>
          <p:cNvPr id="87" name="TextBox 86"/>
          <p:cNvSpPr txBox="1"/>
          <p:nvPr/>
        </p:nvSpPr>
        <p:spPr>
          <a:xfrm>
            <a:off x="9418091" y="4608576"/>
            <a:ext cx="1831771" cy="347472"/>
          </a:xfrm>
          <a:prstGeom prst="rect">
            <a:avLst/>
          </a:prstGeom>
          <a:noFill/>
        </p:spPr>
        <p:txBody>
          <a:bodyPr wrap="square" lIns="0" rIns="0" tIns="0" bIns="0" anchor="ctr">
            <a:spAutoFit/>
          </a:bodyPr>
          <a:lstStyle/>
          <a:p>
            <a:pPr algn="l">
              <a:lnSpc>
                <a:spcPct val="118000"/>
              </a:lnSpc>
              <a:spcAft>
                <a:spcPts val="0"/>
              </a:spcAft>
            </a:pPr>
            <a:r>
              <a:rPr sz="1000" b="0">
                <a:solidFill>
                  <a:srgbClr val="0D1B2A"/>
                </a:solidFill>
                <a:latin typeface="Calibri"/>
              </a:rPr>
              <a:t>beschikbaar naast benodigd</a:t>
            </a:r>
          </a:p>
        </p:txBody>
      </p:sp>
      <p:sp>
        <p:nvSpPr>
          <p:cNvPr id="88" name="Rounded Rectangle 87"/>
          <p:cNvSpPr/>
          <p:nvPr/>
        </p:nvSpPr>
        <p:spPr>
          <a:xfrm>
            <a:off x="8951747" y="4956048"/>
            <a:ext cx="2471851" cy="502920"/>
          </a:xfrm>
          <a:prstGeom prst="roundRect">
            <a:avLst>
              <a:gd name="adj" fmla="val 3000"/>
            </a:avLst>
          </a:prstGeom>
          <a:solidFill>
            <a:srgbClr val="ECE9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Box 88"/>
          <p:cNvSpPr txBox="1"/>
          <p:nvPr/>
        </p:nvSpPr>
        <p:spPr>
          <a:xfrm>
            <a:off x="9125483" y="5001768"/>
            <a:ext cx="2124379" cy="182880"/>
          </a:xfrm>
          <a:prstGeom prst="rect">
            <a:avLst/>
          </a:prstGeom>
          <a:noFill/>
        </p:spPr>
        <p:txBody>
          <a:bodyPr wrap="square" lIns="0" rIns="0" tIns="0" bIns="0" anchor="t">
            <a:spAutoFit/>
          </a:bodyPr>
          <a:lstStyle/>
          <a:p>
            <a:pPr algn="l">
              <a:lnSpc>
                <a:spcPct val="120000"/>
              </a:lnSpc>
              <a:spcAft>
                <a:spcPts val="0"/>
              </a:spcAft>
            </a:pPr>
            <a:r>
              <a:rPr sz="750" b="1" spc="140">
                <a:solidFill>
                  <a:srgbClr val="8B9AAA"/>
                </a:solidFill>
                <a:latin typeface="Calibri"/>
              </a:rPr>
              <a:t>LEVERT OP</a:t>
            </a:r>
          </a:p>
        </p:txBody>
      </p:sp>
      <p:sp>
        <p:nvSpPr>
          <p:cNvPr id="90" name="TextBox 89"/>
          <p:cNvSpPr txBox="1"/>
          <p:nvPr/>
        </p:nvSpPr>
        <p:spPr>
          <a:xfrm>
            <a:off x="9125483" y="5175504"/>
            <a:ext cx="2124379" cy="237744"/>
          </a:xfrm>
          <a:prstGeom prst="rect">
            <a:avLst/>
          </a:prstGeom>
          <a:noFill/>
        </p:spPr>
        <p:txBody>
          <a:bodyPr wrap="square" lIns="0" rIns="0" tIns="0" bIns="0" anchor="t">
            <a:spAutoFit/>
          </a:bodyPr>
          <a:lstStyle/>
          <a:p>
            <a:pPr algn="l">
              <a:lnSpc>
                <a:spcPct val="120000"/>
              </a:lnSpc>
              <a:spcAft>
                <a:spcPts val="0"/>
              </a:spcAft>
            </a:pPr>
            <a:r>
              <a:rPr sz="1150" b="1">
                <a:solidFill>
                  <a:srgbClr val="C87E12"/>
                </a:solidFill>
                <a:latin typeface="Calibri"/>
              </a:rPr>
              <a:t>fte-(mis)match</a:t>
            </a:r>
          </a:p>
        </p:txBody>
      </p:sp>
      <p:sp>
        <p:nvSpPr>
          <p:cNvPr id="91" name="Rounded Rectangle 90"/>
          <p:cNvSpPr/>
          <p:nvPr/>
        </p:nvSpPr>
        <p:spPr>
          <a:xfrm>
            <a:off x="640080" y="5650992"/>
            <a:ext cx="10911535" cy="548640"/>
          </a:xfrm>
          <a:prstGeom prst="roundRect">
            <a:avLst>
              <a:gd name="adj" fmla="val 3000"/>
            </a:avLst>
          </a:prstGeom>
          <a:solidFill>
            <a:srgbClr val="EDEAE5"/>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Rounded Rectangle 91"/>
          <p:cNvSpPr/>
          <p:nvPr/>
        </p:nvSpPr>
        <p:spPr>
          <a:xfrm>
            <a:off x="640080" y="5650992"/>
            <a:ext cx="50292" cy="548640"/>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Box 92"/>
          <p:cNvSpPr txBox="1"/>
          <p:nvPr/>
        </p:nvSpPr>
        <p:spPr>
          <a:xfrm>
            <a:off x="969264" y="5733288"/>
            <a:ext cx="9997135" cy="384048"/>
          </a:xfrm>
          <a:prstGeom prst="rect">
            <a:avLst/>
          </a:prstGeom>
          <a:noFill/>
        </p:spPr>
        <p:txBody>
          <a:bodyPr wrap="square" lIns="0" rIns="0" tIns="0" bIns="0" anchor="ctr">
            <a:spAutoFit/>
          </a:bodyPr>
          <a:lstStyle/>
          <a:p>
            <a:pPr algn="l">
              <a:lnSpc>
                <a:spcPct val="120000"/>
              </a:lnSpc>
              <a:spcAft>
                <a:spcPts val="300"/>
              </a:spcAft>
            </a:pPr>
            <a:r>
              <a:rPr sz="700" b="1" spc="180">
                <a:solidFill>
                  <a:srgbClr val="C87E12"/>
                </a:solidFill>
                <a:latin typeface="Calibri"/>
              </a:rPr>
              <a:t>WAAR HET NU STOKT</a:t>
            </a:r>
          </a:p>
          <a:p>
            <a:pPr algn="l">
              <a:lnSpc>
                <a:spcPct val="120000"/>
              </a:lnSpc>
              <a:spcAft>
                <a:spcPts val="0"/>
              </a:spcAft>
            </a:pPr>
            <a:r>
              <a:rPr sz="850" b="1">
                <a:solidFill>
                  <a:srgbClr val="0D1B2A"/>
                </a:solidFill>
                <a:latin typeface="Calibri"/>
              </a:rPr>
              <a:t>Stap 02 kan niet af: de verpleegkundige norm ligt alleen op de ICU vast en de indirecte uren zijn niet vastgesteld. Zonder die twee staat ook stap 03 stil.</a:t>
            </a:r>
          </a:p>
        </p:txBody>
      </p:sp>
      <p:cxnSp>
        <p:nvCxnSpPr>
          <p:cNvPr id="94" name="Connector 93"/>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6" name="TextBox 95"/>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0E9A87"/>
                </a:solidFill>
                <a:latin typeface="Calibri"/>
              </a:rPr>
              <a:t>PROCES  ·  STRATEGISCH CAPACITEITSJAARPLAN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Formatieberekening · 1</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Voorbeeld radiologie — van bruto arbeidsduur naar netto inzetbaarheid</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pic>
        <p:nvPicPr>
          <p:cNvPr id="7" name="Picture 6" descr="1-bruto.png"/>
          <p:cNvPicPr>
            <a:picLocks noChangeAspect="1"/>
          </p:cNvPicPr>
          <p:nvPr/>
        </p:nvPicPr>
        <p:blipFill>
          <a:blip r:embed="rId2"/>
          <a:stretch>
            <a:fillRect/>
          </a:stretch>
        </p:blipFill>
        <p:spPr>
          <a:xfrm>
            <a:off x="5242255" y="1700784"/>
            <a:ext cx="6309360" cy="1217034"/>
          </a:xfrm>
          <a:prstGeom prst="rect">
            <a:avLst/>
          </a:prstGeom>
        </p:spPr>
      </p:pic>
      <p:sp>
        <p:nvSpPr>
          <p:cNvPr id="8" name="Rounded Rectangle 7"/>
          <p:cNvSpPr/>
          <p:nvPr/>
        </p:nvSpPr>
        <p:spPr>
          <a:xfrm>
            <a:off x="5205679" y="1664208"/>
            <a:ext cx="6382512" cy="1290186"/>
          </a:xfrm>
          <a:prstGeom prst="roundRect">
            <a:avLst>
              <a:gd name="adj" fmla="val 2000"/>
            </a:avLst>
          </a:prstGeom>
          <a:noFill/>
          <a:ln w="12700">
            <a:solidFill>
              <a:srgbClr val="E2E9F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640080" y="1700784"/>
            <a:ext cx="50292" cy="1217034"/>
          </a:xfrm>
          <a:prstGeom prst="roundRect">
            <a:avLst>
              <a:gd name="adj" fmla="val 5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77824" y="1737360"/>
            <a:ext cx="4053535" cy="365760"/>
          </a:xfrm>
          <a:prstGeom prst="rect">
            <a:avLst/>
          </a:prstGeom>
          <a:noFill/>
        </p:spPr>
        <p:txBody>
          <a:bodyPr wrap="square" lIns="0" rIns="0" tIns="0" bIns="0" anchor="t">
            <a:spAutoFit/>
          </a:bodyPr>
          <a:lstStyle/>
          <a:p>
            <a:pPr algn="l">
              <a:lnSpc>
                <a:spcPct val="120000"/>
              </a:lnSpc>
              <a:spcAft>
                <a:spcPts val="0"/>
              </a:spcAft>
            </a:pPr>
            <a:r>
              <a:rPr sz="1700" b="1">
                <a:solidFill>
                  <a:srgbClr val="0E9A87"/>
                </a:solidFill>
                <a:latin typeface="Calibri"/>
              </a:rPr>
              <a:t>Bruto</a:t>
            </a:r>
          </a:p>
        </p:txBody>
      </p:sp>
      <p:sp>
        <p:nvSpPr>
          <p:cNvPr id="11" name="TextBox 10"/>
          <p:cNvSpPr txBox="1"/>
          <p:nvPr/>
        </p:nvSpPr>
        <p:spPr>
          <a:xfrm>
            <a:off x="877824" y="2066544"/>
            <a:ext cx="4053535" cy="219456"/>
          </a:xfrm>
          <a:prstGeom prst="rect">
            <a:avLst/>
          </a:prstGeom>
          <a:noFill/>
        </p:spPr>
        <p:txBody>
          <a:bodyPr wrap="square" lIns="0" rIns="0" tIns="0" bIns="0" anchor="t">
            <a:spAutoFit/>
          </a:bodyPr>
          <a:lstStyle/>
          <a:p>
            <a:pPr algn="l">
              <a:lnSpc>
                <a:spcPct val="120000"/>
              </a:lnSpc>
              <a:spcAft>
                <a:spcPts val="0"/>
              </a:spcAft>
            </a:pPr>
            <a:r>
              <a:rPr sz="1000" b="0">
                <a:solidFill>
                  <a:srgbClr val="55677C"/>
                </a:solidFill>
                <a:latin typeface="Calibri"/>
              </a:rPr>
              <a:t>input vanuit HR en F&amp;C</a:t>
            </a:r>
          </a:p>
        </p:txBody>
      </p:sp>
      <p:sp>
        <p:nvSpPr>
          <p:cNvPr id="12" name="TextBox 11"/>
          <p:cNvSpPr txBox="1"/>
          <p:nvPr/>
        </p:nvSpPr>
        <p:spPr>
          <a:xfrm>
            <a:off x="2864815" y="1719072"/>
            <a:ext cx="1828800" cy="402336"/>
          </a:xfrm>
          <a:prstGeom prst="rect">
            <a:avLst/>
          </a:prstGeom>
          <a:noFill/>
        </p:spPr>
        <p:txBody>
          <a:bodyPr wrap="square" lIns="0" rIns="0" tIns="0" bIns="0" anchor="t">
            <a:spAutoFit/>
          </a:bodyPr>
          <a:lstStyle/>
          <a:p>
            <a:pPr algn="r">
              <a:lnSpc>
                <a:spcPct val="120000"/>
              </a:lnSpc>
              <a:spcAft>
                <a:spcPts val="0"/>
              </a:spcAft>
            </a:pPr>
            <a:r>
              <a:rPr sz="2600" b="1">
                <a:solidFill>
                  <a:srgbClr val="0E9A87"/>
                </a:solidFill>
                <a:latin typeface="Calibri"/>
              </a:rPr>
              <a:t>1.878</a:t>
            </a:r>
          </a:p>
        </p:txBody>
      </p:sp>
      <p:sp>
        <p:nvSpPr>
          <p:cNvPr id="13" name="TextBox 12"/>
          <p:cNvSpPr txBox="1"/>
          <p:nvPr/>
        </p:nvSpPr>
        <p:spPr>
          <a:xfrm>
            <a:off x="2864815" y="2103120"/>
            <a:ext cx="1828800" cy="201168"/>
          </a:xfrm>
          <a:prstGeom prst="rect">
            <a:avLst/>
          </a:prstGeom>
          <a:noFill/>
        </p:spPr>
        <p:txBody>
          <a:bodyPr wrap="square" lIns="0" rIns="0" tIns="0" bIns="0" anchor="t">
            <a:spAutoFit/>
          </a:bodyPr>
          <a:lstStyle/>
          <a:p>
            <a:pPr algn="r">
              <a:lnSpc>
                <a:spcPct val="120000"/>
              </a:lnSpc>
              <a:spcAft>
                <a:spcPts val="0"/>
              </a:spcAft>
            </a:pPr>
            <a:r>
              <a:rPr sz="850" b="1" spc="120">
                <a:solidFill>
                  <a:srgbClr val="8B9AAA"/>
                </a:solidFill>
                <a:latin typeface="Calibri"/>
              </a:rPr>
              <a:t>BRUTO UREN PER FTE</a:t>
            </a:r>
          </a:p>
        </p:txBody>
      </p:sp>
      <p:pic>
        <p:nvPicPr>
          <p:cNvPr id="14" name="Picture 13" descr="2-afwezigheid.png"/>
          <p:cNvPicPr>
            <a:picLocks noChangeAspect="1"/>
          </p:cNvPicPr>
          <p:nvPr/>
        </p:nvPicPr>
        <p:blipFill>
          <a:blip r:embed="rId3"/>
          <a:stretch>
            <a:fillRect/>
          </a:stretch>
        </p:blipFill>
        <p:spPr>
          <a:xfrm>
            <a:off x="5242255" y="3036690"/>
            <a:ext cx="6309360" cy="2265925"/>
          </a:xfrm>
          <a:prstGeom prst="rect">
            <a:avLst/>
          </a:prstGeom>
        </p:spPr>
      </p:pic>
      <p:sp>
        <p:nvSpPr>
          <p:cNvPr id="15" name="Rounded Rectangle 14"/>
          <p:cNvSpPr/>
          <p:nvPr/>
        </p:nvSpPr>
        <p:spPr>
          <a:xfrm>
            <a:off x="5205679" y="3000114"/>
            <a:ext cx="6382512" cy="2339077"/>
          </a:xfrm>
          <a:prstGeom prst="roundRect">
            <a:avLst>
              <a:gd name="adj" fmla="val 2000"/>
            </a:avLst>
          </a:prstGeom>
          <a:noFill/>
          <a:ln w="12700">
            <a:solidFill>
              <a:srgbClr val="E2E9F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640080" y="3036690"/>
            <a:ext cx="50292" cy="2265925"/>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77824" y="3164706"/>
            <a:ext cx="4053535" cy="365760"/>
          </a:xfrm>
          <a:prstGeom prst="rect">
            <a:avLst/>
          </a:prstGeom>
          <a:noFill/>
        </p:spPr>
        <p:txBody>
          <a:bodyPr wrap="square" lIns="0" rIns="0" tIns="0" bIns="0" anchor="t">
            <a:spAutoFit/>
          </a:bodyPr>
          <a:lstStyle/>
          <a:p>
            <a:pPr algn="l">
              <a:lnSpc>
                <a:spcPct val="120000"/>
              </a:lnSpc>
              <a:spcAft>
                <a:spcPts val="0"/>
              </a:spcAft>
            </a:pPr>
            <a:r>
              <a:rPr sz="1900" b="1">
                <a:solidFill>
                  <a:srgbClr val="C87E12"/>
                </a:solidFill>
                <a:latin typeface="Calibri"/>
              </a:rPr>
              <a:t>Afwezigheid</a:t>
            </a:r>
          </a:p>
        </p:txBody>
      </p:sp>
      <p:sp>
        <p:nvSpPr>
          <p:cNvPr id="18" name="TextBox 17"/>
          <p:cNvSpPr txBox="1"/>
          <p:nvPr/>
        </p:nvSpPr>
        <p:spPr>
          <a:xfrm>
            <a:off x="877824" y="3548754"/>
            <a:ext cx="4053535" cy="219456"/>
          </a:xfrm>
          <a:prstGeom prst="rect">
            <a:avLst/>
          </a:prstGeom>
          <a:noFill/>
        </p:spPr>
        <p:txBody>
          <a:bodyPr wrap="square" lIns="0" rIns="0" tIns="0" bIns="0" anchor="t">
            <a:spAutoFit/>
          </a:bodyPr>
          <a:lstStyle/>
          <a:p>
            <a:pPr algn="l">
              <a:lnSpc>
                <a:spcPct val="120000"/>
              </a:lnSpc>
              <a:spcAft>
                <a:spcPts val="0"/>
              </a:spcAft>
            </a:pPr>
            <a:r>
              <a:rPr sz="1000" b="0">
                <a:solidFill>
                  <a:srgbClr val="55677C"/>
                </a:solidFill>
                <a:latin typeface="Calibri"/>
              </a:rPr>
              <a:t>input vanuit HR en F&amp;C</a:t>
            </a:r>
          </a:p>
        </p:txBody>
      </p:sp>
      <p:sp>
        <p:nvSpPr>
          <p:cNvPr id="19" name="TextBox 18"/>
          <p:cNvSpPr txBox="1"/>
          <p:nvPr/>
        </p:nvSpPr>
        <p:spPr>
          <a:xfrm>
            <a:off x="877824" y="3951090"/>
            <a:ext cx="4053535" cy="548640"/>
          </a:xfrm>
          <a:prstGeom prst="rect">
            <a:avLst/>
          </a:prstGeom>
          <a:noFill/>
        </p:spPr>
        <p:txBody>
          <a:bodyPr wrap="square" lIns="0" rIns="0" tIns="0" bIns="0" anchor="t">
            <a:spAutoFit/>
          </a:bodyPr>
          <a:lstStyle/>
          <a:p>
            <a:pPr algn="l">
              <a:lnSpc>
                <a:spcPct val="120000"/>
              </a:lnSpc>
              <a:spcAft>
                <a:spcPts val="0"/>
              </a:spcAft>
            </a:pPr>
            <a:r>
              <a:rPr sz="3400" b="1">
                <a:solidFill>
                  <a:srgbClr val="C87E12"/>
                </a:solidFill>
                <a:latin typeface="Calibri"/>
              </a:rPr>
              <a:t>300</a:t>
            </a:r>
          </a:p>
        </p:txBody>
      </p:sp>
      <p:sp>
        <p:nvSpPr>
          <p:cNvPr id="20" name="TextBox 19"/>
          <p:cNvSpPr txBox="1"/>
          <p:nvPr/>
        </p:nvSpPr>
        <p:spPr>
          <a:xfrm>
            <a:off x="877824" y="4481442"/>
            <a:ext cx="4053535" cy="219456"/>
          </a:xfrm>
          <a:prstGeom prst="rect">
            <a:avLst/>
          </a:prstGeom>
          <a:noFill/>
        </p:spPr>
        <p:txBody>
          <a:bodyPr wrap="square" lIns="0" rIns="0" tIns="0" bIns="0" anchor="t">
            <a:spAutoFit/>
          </a:bodyPr>
          <a:lstStyle/>
          <a:p>
            <a:pPr algn="l">
              <a:lnSpc>
                <a:spcPct val="120000"/>
              </a:lnSpc>
              <a:spcAft>
                <a:spcPts val="0"/>
              </a:spcAft>
            </a:pPr>
            <a:r>
              <a:rPr sz="900" b="1" spc="120">
                <a:solidFill>
                  <a:srgbClr val="8B9AAA"/>
                </a:solidFill>
                <a:latin typeface="Calibri"/>
              </a:rPr>
              <a:t>UREN AFWEZIGHEID · 15,9%</a:t>
            </a:r>
          </a:p>
        </p:txBody>
      </p:sp>
      <p:sp>
        <p:nvSpPr>
          <p:cNvPr id="21" name="TextBox 20"/>
          <p:cNvSpPr txBox="1"/>
          <p:nvPr/>
        </p:nvSpPr>
        <p:spPr>
          <a:xfrm>
            <a:off x="877824" y="4737474"/>
            <a:ext cx="4053535" cy="365760"/>
          </a:xfrm>
          <a:prstGeom prst="rect">
            <a:avLst/>
          </a:prstGeom>
          <a:noFill/>
        </p:spPr>
        <p:txBody>
          <a:bodyPr wrap="square" lIns="0" rIns="0" tIns="0" bIns="0" anchor="t">
            <a:spAutoFit/>
          </a:bodyPr>
          <a:lstStyle/>
          <a:p>
            <a:pPr algn="l">
              <a:lnSpc>
                <a:spcPct val="120000"/>
              </a:lnSpc>
              <a:spcAft>
                <a:spcPts val="0"/>
              </a:spcAft>
            </a:pPr>
            <a:r>
              <a:rPr sz="1000" b="0">
                <a:solidFill>
                  <a:srgbClr val="55677C"/>
                </a:solidFill>
                <a:latin typeface="Calibri"/>
              </a:rPr>
              <a:t>vakantie, ziek, bijzonder verlof, PLB en feestdagen</a:t>
            </a:r>
          </a:p>
        </p:txBody>
      </p:sp>
      <p:pic>
        <p:nvPicPr>
          <p:cNvPr id="22" name="Picture 21" descr="3-netto.png"/>
          <p:cNvPicPr>
            <a:picLocks noChangeAspect="1"/>
          </p:cNvPicPr>
          <p:nvPr/>
        </p:nvPicPr>
        <p:blipFill>
          <a:blip r:embed="rId4"/>
          <a:stretch>
            <a:fillRect/>
          </a:stretch>
        </p:blipFill>
        <p:spPr>
          <a:xfrm>
            <a:off x="5242255" y="5421487"/>
            <a:ext cx="6309360" cy="704599"/>
          </a:xfrm>
          <a:prstGeom prst="rect">
            <a:avLst/>
          </a:prstGeom>
        </p:spPr>
      </p:pic>
      <p:sp>
        <p:nvSpPr>
          <p:cNvPr id="23" name="Rounded Rectangle 22"/>
          <p:cNvSpPr/>
          <p:nvPr/>
        </p:nvSpPr>
        <p:spPr>
          <a:xfrm>
            <a:off x="5205679" y="5384911"/>
            <a:ext cx="6382512" cy="777750"/>
          </a:xfrm>
          <a:prstGeom prst="roundRect">
            <a:avLst>
              <a:gd name="adj" fmla="val 2000"/>
            </a:avLst>
          </a:prstGeom>
          <a:noFill/>
          <a:ln w="12700">
            <a:solidFill>
              <a:srgbClr val="E2E9F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640080" y="5421487"/>
            <a:ext cx="50292" cy="704599"/>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77824" y="5458063"/>
            <a:ext cx="4053535" cy="365760"/>
          </a:xfrm>
          <a:prstGeom prst="rect">
            <a:avLst/>
          </a:prstGeom>
          <a:noFill/>
        </p:spPr>
        <p:txBody>
          <a:bodyPr wrap="square" lIns="0" rIns="0" tIns="0" bIns="0" anchor="t">
            <a:spAutoFit/>
          </a:bodyPr>
          <a:lstStyle/>
          <a:p>
            <a:pPr algn="l">
              <a:lnSpc>
                <a:spcPct val="120000"/>
              </a:lnSpc>
              <a:spcAft>
                <a:spcPts val="0"/>
              </a:spcAft>
            </a:pPr>
            <a:r>
              <a:rPr sz="1700" b="1">
                <a:solidFill>
                  <a:srgbClr val="1F6FB2"/>
                </a:solidFill>
                <a:latin typeface="Calibri"/>
              </a:rPr>
              <a:t>Netto</a:t>
            </a:r>
          </a:p>
        </p:txBody>
      </p:sp>
      <p:sp>
        <p:nvSpPr>
          <p:cNvPr id="26" name="TextBox 25"/>
          <p:cNvSpPr txBox="1"/>
          <p:nvPr/>
        </p:nvSpPr>
        <p:spPr>
          <a:xfrm>
            <a:off x="877824" y="5787247"/>
            <a:ext cx="4053535" cy="219456"/>
          </a:xfrm>
          <a:prstGeom prst="rect">
            <a:avLst/>
          </a:prstGeom>
          <a:noFill/>
        </p:spPr>
        <p:txBody>
          <a:bodyPr wrap="square" lIns="0" rIns="0" tIns="0" bIns="0" anchor="t">
            <a:spAutoFit/>
          </a:bodyPr>
          <a:lstStyle/>
          <a:p>
            <a:pPr algn="l">
              <a:lnSpc>
                <a:spcPct val="120000"/>
              </a:lnSpc>
              <a:spcAft>
                <a:spcPts val="0"/>
              </a:spcAft>
            </a:pPr>
            <a:r>
              <a:rPr sz="1000" b="0">
                <a:solidFill>
                  <a:srgbClr val="55677C"/>
                </a:solidFill>
                <a:latin typeface="Calibri"/>
              </a:rPr>
              <a:t>bruto min afwezigheid</a:t>
            </a:r>
          </a:p>
        </p:txBody>
      </p:sp>
      <p:sp>
        <p:nvSpPr>
          <p:cNvPr id="27" name="TextBox 26"/>
          <p:cNvSpPr txBox="1"/>
          <p:nvPr/>
        </p:nvSpPr>
        <p:spPr>
          <a:xfrm>
            <a:off x="2864815" y="5439775"/>
            <a:ext cx="1828800" cy="402336"/>
          </a:xfrm>
          <a:prstGeom prst="rect">
            <a:avLst/>
          </a:prstGeom>
          <a:noFill/>
        </p:spPr>
        <p:txBody>
          <a:bodyPr wrap="square" lIns="0" rIns="0" tIns="0" bIns="0" anchor="t">
            <a:spAutoFit/>
          </a:bodyPr>
          <a:lstStyle/>
          <a:p>
            <a:pPr algn="r">
              <a:lnSpc>
                <a:spcPct val="120000"/>
              </a:lnSpc>
              <a:spcAft>
                <a:spcPts val="0"/>
              </a:spcAft>
            </a:pPr>
            <a:r>
              <a:rPr sz="2600" b="1">
                <a:solidFill>
                  <a:srgbClr val="1F6FB2"/>
                </a:solidFill>
                <a:latin typeface="Calibri"/>
              </a:rPr>
              <a:t>1.579</a:t>
            </a:r>
          </a:p>
        </p:txBody>
      </p:sp>
      <p:sp>
        <p:nvSpPr>
          <p:cNvPr id="28" name="TextBox 27"/>
          <p:cNvSpPr txBox="1"/>
          <p:nvPr/>
        </p:nvSpPr>
        <p:spPr>
          <a:xfrm>
            <a:off x="2864815" y="5823823"/>
            <a:ext cx="1828800" cy="201168"/>
          </a:xfrm>
          <a:prstGeom prst="rect">
            <a:avLst/>
          </a:prstGeom>
          <a:noFill/>
        </p:spPr>
        <p:txBody>
          <a:bodyPr wrap="square" lIns="0" rIns="0" tIns="0" bIns="0" anchor="t">
            <a:spAutoFit/>
          </a:bodyPr>
          <a:lstStyle/>
          <a:p>
            <a:pPr algn="r">
              <a:lnSpc>
                <a:spcPct val="120000"/>
              </a:lnSpc>
              <a:spcAft>
                <a:spcPts val="0"/>
              </a:spcAft>
            </a:pPr>
            <a:r>
              <a:rPr sz="850" b="1" spc="120">
                <a:solidFill>
                  <a:srgbClr val="8B9AAA"/>
                </a:solidFill>
                <a:latin typeface="Calibri"/>
              </a:rPr>
              <a:t>NETTO INZETBAAR · 84,1%</a:t>
            </a:r>
          </a:p>
        </p:txBody>
      </p:sp>
      <p:cxnSp>
        <p:nvCxnSpPr>
          <p:cNvPr id="29" name="Connector 28"/>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31" name="TextBox 30"/>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6B4BA8"/>
                </a:solidFill>
                <a:latin typeface="Calibri"/>
              </a:rPr>
              <a:t>PROCES  ·  STRATEGISCH CAPACITEITSJAARPLAN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Formatieberekening · 2</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Voorbeeld radiologie — van de benodigde uren naar de fte-(mis)match</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40080" y="1700784"/>
            <a:ext cx="5300319" cy="340679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640080" y="1700784"/>
            <a:ext cx="5300319" cy="50292"/>
          </a:xfrm>
          <a:prstGeom prst="roundRect">
            <a:avLst>
              <a:gd name="adj" fmla="val 50000"/>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59536" y="1865376"/>
            <a:ext cx="3197199" cy="274320"/>
          </a:xfrm>
          <a:prstGeom prst="rect">
            <a:avLst/>
          </a:prstGeom>
          <a:noFill/>
        </p:spPr>
        <p:txBody>
          <a:bodyPr wrap="square" lIns="0" rIns="0" tIns="0" bIns="0" anchor="t">
            <a:spAutoFit/>
          </a:bodyPr>
          <a:lstStyle/>
          <a:p>
            <a:pPr algn="l">
              <a:lnSpc>
                <a:spcPct val="120000"/>
              </a:lnSpc>
              <a:spcAft>
                <a:spcPts val="0"/>
              </a:spcAft>
            </a:pPr>
            <a:r>
              <a:rPr sz="1400" b="1">
                <a:solidFill>
                  <a:srgbClr val="6B4BA8"/>
                </a:solidFill>
                <a:latin typeface="Calibri"/>
              </a:rPr>
              <a:t>Benodigde uren</a:t>
            </a:r>
          </a:p>
        </p:txBody>
      </p:sp>
      <p:sp>
        <p:nvSpPr>
          <p:cNvPr id="10" name="TextBox 9"/>
          <p:cNvSpPr txBox="1"/>
          <p:nvPr/>
        </p:nvSpPr>
        <p:spPr>
          <a:xfrm>
            <a:off x="3983583" y="1883664"/>
            <a:ext cx="1737360" cy="237744"/>
          </a:xfrm>
          <a:prstGeom prst="rect">
            <a:avLst/>
          </a:prstGeom>
          <a:noFill/>
        </p:spPr>
        <p:txBody>
          <a:bodyPr wrap="square" lIns="0" rIns="0" tIns="0" bIns="0" anchor="t">
            <a:spAutoFit/>
          </a:bodyPr>
          <a:lstStyle/>
          <a:p>
            <a:pPr algn="r">
              <a:lnSpc>
                <a:spcPct val="120000"/>
              </a:lnSpc>
              <a:spcAft>
                <a:spcPts val="0"/>
              </a:spcAft>
            </a:pPr>
            <a:r>
              <a:rPr sz="950" b="0">
                <a:solidFill>
                  <a:srgbClr val="8B9AAA"/>
                </a:solidFill>
                <a:latin typeface="Calibri"/>
              </a:rPr>
              <a:t>vanuit BIC</a:t>
            </a:r>
          </a:p>
        </p:txBody>
      </p:sp>
      <p:pic>
        <p:nvPicPr>
          <p:cNvPr id="11" name="Picture 10" descr="4-benodigd.png"/>
          <p:cNvPicPr>
            <a:picLocks noChangeAspect="1"/>
          </p:cNvPicPr>
          <p:nvPr/>
        </p:nvPicPr>
        <p:blipFill>
          <a:blip r:embed="rId2"/>
          <a:stretch>
            <a:fillRect/>
          </a:stretch>
        </p:blipFill>
        <p:spPr>
          <a:xfrm>
            <a:off x="859536" y="2395728"/>
            <a:ext cx="4861407" cy="2492396"/>
          </a:xfrm>
          <a:prstGeom prst="rect">
            <a:avLst/>
          </a:prstGeom>
        </p:spPr>
      </p:pic>
      <p:sp>
        <p:nvSpPr>
          <p:cNvPr id="12" name="Rounded Rectangle 11"/>
          <p:cNvSpPr/>
          <p:nvPr/>
        </p:nvSpPr>
        <p:spPr>
          <a:xfrm>
            <a:off x="822959" y="2359152"/>
            <a:ext cx="4934559" cy="2565548"/>
          </a:xfrm>
          <a:prstGeom prst="roundRect">
            <a:avLst>
              <a:gd name="adj" fmla="val 2000"/>
            </a:avLst>
          </a:prstGeom>
          <a:noFill/>
          <a:ln w="12700">
            <a:solidFill>
              <a:srgbClr val="E2E9F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251295" y="1700784"/>
            <a:ext cx="5300319" cy="2185275"/>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251295" y="1700784"/>
            <a:ext cx="5300319" cy="50292"/>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70751" y="1865376"/>
            <a:ext cx="3197199" cy="274320"/>
          </a:xfrm>
          <a:prstGeom prst="rect">
            <a:avLst/>
          </a:prstGeom>
          <a:noFill/>
        </p:spPr>
        <p:txBody>
          <a:bodyPr wrap="square" lIns="0" rIns="0" tIns="0" bIns="0" anchor="t">
            <a:spAutoFit/>
          </a:bodyPr>
          <a:lstStyle/>
          <a:p>
            <a:pPr algn="l">
              <a:lnSpc>
                <a:spcPct val="120000"/>
              </a:lnSpc>
              <a:spcAft>
                <a:spcPts val="0"/>
              </a:spcAft>
            </a:pPr>
            <a:r>
              <a:rPr sz="1400" b="1">
                <a:solidFill>
                  <a:srgbClr val="C4392D"/>
                </a:solidFill>
                <a:latin typeface="Calibri"/>
              </a:rPr>
              <a:t>Personeelsformatie</a:t>
            </a:r>
          </a:p>
        </p:txBody>
      </p:sp>
      <p:sp>
        <p:nvSpPr>
          <p:cNvPr id="16" name="TextBox 15"/>
          <p:cNvSpPr txBox="1"/>
          <p:nvPr/>
        </p:nvSpPr>
        <p:spPr>
          <a:xfrm>
            <a:off x="9594799" y="1883664"/>
            <a:ext cx="1737360" cy="237744"/>
          </a:xfrm>
          <a:prstGeom prst="rect">
            <a:avLst/>
          </a:prstGeom>
          <a:noFill/>
        </p:spPr>
        <p:txBody>
          <a:bodyPr wrap="square" lIns="0" rIns="0" tIns="0" bIns="0" anchor="t">
            <a:spAutoFit/>
          </a:bodyPr>
          <a:lstStyle/>
          <a:p>
            <a:pPr algn="r">
              <a:lnSpc>
                <a:spcPct val="120000"/>
              </a:lnSpc>
              <a:spcAft>
                <a:spcPts val="0"/>
              </a:spcAft>
            </a:pPr>
            <a:r>
              <a:rPr sz="950" b="0">
                <a:solidFill>
                  <a:srgbClr val="8B9AAA"/>
                </a:solidFill>
                <a:latin typeface="Calibri"/>
              </a:rPr>
              <a:t>het resultaat</a:t>
            </a:r>
          </a:p>
        </p:txBody>
      </p:sp>
      <p:pic>
        <p:nvPicPr>
          <p:cNvPr id="17" name="Picture 16" descr="5-formatie.png"/>
          <p:cNvPicPr>
            <a:picLocks noChangeAspect="1"/>
          </p:cNvPicPr>
          <p:nvPr/>
        </p:nvPicPr>
        <p:blipFill>
          <a:blip r:embed="rId3"/>
          <a:stretch>
            <a:fillRect/>
          </a:stretch>
        </p:blipFill>
        <p:spPr>
          <a:xfrm>
            <a:off x="6470751" y="2395728"/>
            <a:ext cx="4861407" cy="1270875"/>
          </a:xfrm>
          <a:prstGeom prst="rect">
            <a:avLst/>
          </a:prstGeom>
        </p:spPr>
      </p:pic>
      <p:sp>
        <p:nvSpPr>
          <p:cNvPr id="18" name="Rounded Rectangle 17"/>
          <p:cNvSpPr/>
          <p:nvPr/>
        </p:nvSpPr>
        <p:spPr>
          <a:xfrm>
            <a:off x="6434175" y="2359152"/>
            <a:ext cx="4934559" cy="1344027"/>
          </a:xfrm>
          <a:prstGeom prst="roundRect">
            <a:avLst>
              <a:gd name="adj" fmla="val 2000"/>
            </a:avLst>
          </a:prstGeom>
          <a:noFill/>
          <a:ln w="12700">
            <a:solidFill>
              <a:srgbClr val="E2E9F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6251295" y="4050651"/>
            <a:ext cx="5300319" cy="2037212"/>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6251295" y="4050651"/>
            <a:ext cx="5300319" cy="50292"/>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70751" y="4215243"/>
            <a:ext cx="3197199" cy="274320"/>
          </a:xfrm>
          <a:prstGeom prst="rect">
            <a:avLst/>
          </a:prstGeom>
          <a:noFill/>
        </p:spPr>
        <p:txBody>
          <a:bodyPr wrap="square" lIns="0" rIns="0" tIns="0" bIns="0" anchor="t">
            <a:spAutoFit/>
          </a:bodyPr>
          <a:lstStyle/>
          <a:p>
            <a:pPr algn="l">
              <a:lnSpc>
                <a:spcPct val="120000"/>
              </a:lnSpc>
              <a:spcAft>
                <a:spcPts val="0"/>
              </a:spcAft>
            </a:pPr>
            <a:r>
              <a:rPr sz="1400" b="1">
                <a:solidFill>
                  <a:srgbClr val="C87E12"/>
                </a:solidFill>
                <a:latin typeface="Calibri"/>
              </a:rPr>
              <a:t>Overige afwijkingen</a:t>
            </a:r>
          </a:p>
        </p:txBody>
      </p:sp>
      <p:sp>
        <p:nvSpPr>
          <p:cNvPr id="22" name="TextBox 21"/>
          <p:cNvSpPr txBox="1"/>
          <p:nvPr/>
        </p:nvSpPr>
        <p:spPr>
          <a:xfrm>
            <a:off x="9594799" y="4233531"/>
            <a:ext cx="1737360" cy="237744"/>
          </a:xfrm>
          <a:prstGeom prst="rect">
            <a:avLst/>
          </a:prstGeom>
          <a:noFill/>
        </p:spPr>
        <p:txBody>
          <a:bodyPr wrap="square" lIns="0" rIns="0" tIns="0" bIns="0" anchor="t">
            <a:spAutoFit/>
          </a:bodyPr>
          <a:lstStyle/>
          <a:p>
            <a:pPr algn="r">
              <a:lnSpc>
                <a:spcPct val="120000"/>
              </a:lnSpc>
              <a:spcAft>
                <a:spcPts val="0"/>
              </a:spcAft>
            </a:pPr>
            <a:r>
              <a:rPr sz="950" b="0">
                <a:solidFill>
                  <a:srgbClr val="8B9AAA"/>
                </a:solidFill>
                <a:latin typeface="Calibri"/>
              </a:rPr>
              <a:t>bovenop de begroting</a:t>
            </a:r>
          </a:p>
        </p:txBody>
      </p:sp>
      <p:pic>
        <p:nvPicPr>
          <p:cNvPr id="23" name="Picture 22" descr="6-overig.png"/>
          <p:cNvPicPr>
            <a:picLocks noChangeAspect="1"/>
          </p:cNvPicPr>
          <p:nvPr/>
        </p:nvPicPr>
        <p:blipFill>
          <a:blip r:embed="rId4"/>
          <a:stretch>
            <a:fillRect/>
          </a:stretch>
        </p:blipFill>
        <p:spPr>
          <a:xfrm>
            <a:off x="6470751" y="4745595"/>
            <a:ext cx="4861407" cy="1122812"/>
          </a:xfrm>
          <a:prstGeom prst="rect">
            <a:avLst/>
          </a:prstGeom>
        </p:spPr>
      </p:pic>
      <p:sp>
        <p:nvSpPr>
          <p:cNvPr id="24" name="Rounded Rectangle 23"/>
          <p:cNvSpPr/>
          <p:nvPr/>
        </p:nvSpPr>
        <p:spPr>
          <a:xfrm>
            <a:off x="6434175" y="4709019"/>
            <a:ext cx="4934559" cy="1195964"/>
          </a:xfrm>
          <a:prstGeom prst="roundRect">
            <a:avLst>
              <a:gd name="adj" fmla="val 2000"/>
            </a:avLst>
          </a:prstGeom>
          <a:noFill/>
          <a:ln w="12700">
            <a:solidFill>
              <a:srgbClr val="E2E9F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40080" y="5272172"/>
            <a:ext cx="5300319" cy="872595"/>
          </a:xfrm>
          <a:prstGeom prst="roundRect">
            <a:avLst>
              <a:gd name="adj" fmla="val 3000"/>
            </a:avLst>
          </a:prstGeom>
          <a:solidFill>
            <a:srgbClr val="ECE3E7"/>
          </a:solidFill>
          <a:ln w="15875">
            <a:solidFill>
              <a:srgbClr val="E0AEA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640080" y="5272172"/>
            <a:ext cx="50292" cy="872595"/>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14400" y="5381900"/>
            <a:ext cx="4751679" cy="653139"/>
          </a:xfrm>
          <a:prstGeom prst="rect">
            <a:avLst/>
          </a:prstGeom>
          <a:noFill/>
        </p:spPr>
        <p:txBody>
          <a:bodyPr wrap="square" lIns="0" rIns="0" tIns="0" bIns="0" anchor="t">
            <a:spAutoFit/>
          </a:bodyPr>
          <a:lstStyle/>
          <a:p>
            <a:pPr algn="l">
              <a:lnSpc>
                <a:spcPct val="120000"/>
              </a:lnSpc>
              <a:spcAft>
                <a:spcPts val="300"/>
              </a:spcAft>
            </a:pPr>
            <a:r>
              <a:rPr sz="800" b="1" spc="160">
                <a:solidFill>
                  <a:srgbClr val="C4392D"/>
                </a:solidFill>
                <a:latin typeface="Calibri"/>
              </a:rPr>
              <a:t>DE FTE-(MIS)MATCH</a:t>
            </a:r>
          </a:p>
          <a:p>
            <a:pPr algn="l">
              <a:lnSpc>
                <a:spcPct val="122000"/>
              </a:lnSpc>
              <a:spcAft>
                <a:spcPts val="0"/>
              </a:spcAft>
            </a:pPr>
            <a:r>
              <a:rPr sz="1000" b="0">
                <a:solidFill>
                  <a:srgbClr val="0D1B2A"/>
                </a:solidFill>
                <a:latin typeface="Calibri"/>
              </a:rPr>
              <a:t>Benodigde capaciteit in uren tegenover de bruto beschikbare formatie. Het verschil is wat er aan fte bij moet of over is — dat is de uitkomst die naar de financiële begroting gaat.</a:t>
            </a:r>
          </a:p>
        </p:txBody>
      </p:sp>
      <p:cxnSp>
        <p:nvCxnSpPr>
          <p:cNvPr id="28" name="Connector 27"/>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30" name="TextBox 29"/>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03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